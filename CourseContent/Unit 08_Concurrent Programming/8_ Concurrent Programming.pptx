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y="5143500" cx="9144000"/>
  <p:notesSz cx="6858000" cy="9144000"/>
  <p:embeddedFontLst>
    <p:embeddedFont>
      <p:font typeface="Roboto"/>
      <p:regular r:id="rId60"/>
      <p:bold r:id="rId61"/>
      <p:italic r:id="rId62"/>
      <p:boldItalic r:id="rId63"/>
    </p:embeddedFont>
    <p:embeddedFont>
      <p:font typeface="Caveat"/>
      <p:regular r:id="rId64"/>
      <p:bold r:id="rId65"/>
    </p:embeddedFont>
    <p:embeddedFont>
      <p:font typeface="Shadows Into Light"/>
      <p:regular r:id="rId66"/>
    </p:embeddedFont>
    <p:embeddedFont>
      <p:font typeface="Merriweather"/>
      <p:regular r:id="rId67"/>
      <p:bold r:id="rId68"/>
      <p:italic r:id="rId69"/>
      <p:boldItalic r:id="rId7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7C2E57-52A4-4090-9760-2D5068A43A11}">
  <a:tblStyle styleId="{A07C2E57-52A4-4090-9760-2D5068A43A11}"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08F4506A-C2C8-4940-B2F5-69D01CD1594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70" Type="http://schemas.openxmlformats.org/officeDocument/2006/relationships/font" Target="fonts/Merriweather-bold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Roboto-italic.fntdata"/><Relationship Id="rId61" Type="http://schemas.openxmlformats.org/officeDocument/2006/relationships/font" Target="fonts/Roboto-bold.fntdata"/><Relationship Id="rId20" Type="http://schemas.openxmlformats.org/officeDocument/2006/relationships/slide" Target="slides/slide13.xml"/><Relationship Id="rId64" Type="http://schemas.openxmlformats.org/officeDocument/2006/relationships/font" Target="fonts/Caveat-regular.fntdata"/><Relationship Id="rId63" Type="http://schemas.openxmlformats.org/officeDocument/2006/relationships/font" Target="fonts/Roboto-boldItalic.fntdata"/><Relationship Id="rId22" Type="http://schemas.openxmlformats.org/officeDocument/2006/relationships/slide" Target="slides/slide15.xml"/><Relationship Id="rId66" Type="http://schemas.openxmlformats.org/officeDocument/2006/relationships/font" Target="fonts/ShadowsIntoLight-regular.fntdata"/><Relationship Id="rId21" Type="http://schemas.openxmlformats.org/officeDocument/2006/relationships/slide" Target="slides/slide14.xml"/><Relationship Id="rId65" Type="http://schemas.openxmlformats.org/officeDocument/2006/relationships/font" Target="fonts/Caveat-bold.fntdata"/><Relationship Id="rId24" Type="http://schemas.openxmlformats.org/officeDocument/2006/relationships/slide" Target="slides/slide17.xml"/><Relationship Id="rId68" Type="http://schemas.openxmlformats.org/officeDocument/2006/relationships/font" Target="fonts/Merriweather-bold.fntdata"/><Relationship Id="rId23" Type="http://schemas.openxmlformats.org/officeDocument/2006/relationships/slide" Target="slides/slide16.xml"/><Relationship Id="rId67" Type="http://schemas.openxmlformats.org/officeDocument/2006/relationships/font" Target="fonts/Merriweather-regular.fntdata"/><Relationship Id="rId60" Type="http://schemas.openxmlformats.org/officeDocument/2006/relationships/font" Target="fonts/Roboto-regular.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Merriweather-italic.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b3d365e4a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b3d365e4a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828c16636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c828c1663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c828c1663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3c828c1663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c973538050_1_1: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c973538050_1_1: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c9e90982c7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c9e90982c7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c973538050_1_48: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gc973538050_1_48: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c973538050_1_172: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c973538050_1_172: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1cc4f74f1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1cc4f74f1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21cc4f74f1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21cc4f74f1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c973538050_1_125: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3" name="Google Shape;333;gc973538050_1_125:notes"/>
          <p:cNvSpPr txBox="1"/>
          <p:nvPr>
            <p:ph idx="1" type="body"/>
          </p:nvPr>
        </p:nvSpPr>
        <p:spPr>
          <a:xfrm>
            <a:off x="686099" y="4401155"/>
            <a:ext cx="5485800" cy="35997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c973538050_1_220: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gc973538050_1_220: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cb022bd18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cb022bd18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1cc4f74f13_0_60: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g21cc4f74f13_0_60: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caa2d7e50f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caa2d7e50f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c973538050_1_246: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gc973538050_1_246: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21cc4f74f13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21cc4f74f13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1cc4f74f13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1cc4f74f13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c9e90982c7_0_5: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You'll notice using the interface also </a:t>
            </a:r>
            <a:r>
              <a:rPr lang="en"/>
              <a:t>eliminates</a:t>
            </a:r>
            <a:r>
              <a:rPr lang="en"/>
              <a:t> the name clash between racer.getName() and thread.getName().</a:t>
            </a:r>
            <a:endParaRPr/>
          </a:p>
          <a:p>
            <a:pPr indent="0" lvl="0" marL="0" rtl="0" algn="l">
              <a:spcBef>
                <a:spcPts val="0"/>
              </a:spcBef>
              <a:spcAft>
                <a:spcPts val="0"/>
              </a:spcAft>
              <a:buNone/>
            </a:pPr>
            <a:r>
              <a:rPr lang="en"/>
              <a:t>You can reuse the racer to run another race by creating a new Thread to run it in.</a:t>
            </a:r>
            <a:endParaRPr/>
          </a:p>
        </p:txBody>
      </p:sp>
      <p:sp>
        <p:nvSpPr>
          <p:cNvPr id="446" name="Google Shape;446;gc9e90982c7_0_5: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21cc4f74f13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21cc4f74f13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Whether your class "is a" thread may or may not make sense depending on the specific problem being solved. In many cases, this will be a code smell, specifically, a violation of the single responsibility SOLID design principle: the class has a specific job (e.g. print a bunch of numbers) but it is also responsible for being a thread. I better design (usually) separates these concerns into different classes.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1c6847f24b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1c6847f24b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c973538050_1_323: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Good chance to talk about why creating and starting threads at the same time is unfair for later threads.</a:t>
            </a:r>
            <a:endParaRPr/>
          </a:p>
        </p:txBody>
      </p:sp>
      <p:sp>
        <p:nvSpPr>
          <p:cNvPr id="479" name="Google Shape;479;gc973538050_1_323: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c828c1663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c828c1663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c828c16636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c828c16636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3c828c16636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3c828c16636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There are several other </a:t>
            </a:r>
            <a:r>
              <a:rPr lang="en"/>
              <a:t>variants</a:t>
            </a:r>
            <a:r>
              <a:rPr lang="en"/>
              <a:t> that we won't be covering in this class.</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c828c16636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c828c16636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using really high numbers of racers, the FixedPool may wind out being faster.</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caa2d7e5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caa2d7e5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c828c16636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c828c16636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3c828c16636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3c828c16636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3c828c16636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3c828c16636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21c6847f24b_0_58: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g21c6847f24b_0_58: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c828c16636_0_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c828c16636_0_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g3c828c16636_0_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7" name="Google Shape;647;g3c828c16636_0_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g3c828c16636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8" name="Google Shape;658;g3c828c16636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c828c16636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c828c16636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g3c866e35bf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8" name="Google Shape;688;g3c866e35bf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g3c866e35bf5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2" name="Google Shape;712;g3c866e35bf5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c866e35bf5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7" name="Google Shape;737;g3c866e35bf5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3c866e35bf5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3c866e35bf5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c068ee8d87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0" name="Google Shape;790;g3c068ee8d8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g3c866e35bf5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4" name="Google Shape;824;g3c866e35bf5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c866e35bf5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c866e35bf5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c828c16636_0_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3c828c16636_0_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21c6847f24b_0_36: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g21c6847f24b_0_36: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21c6847f24b_0_72: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g21c6847f24b_0_72: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3bee729c8a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3" name="Google Shape;923;g3bee729c8a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21c6847f24b_0_126: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g21c6847f24b_0_126: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21c6847f24b_0_140:notes"/>
          <p:cNvSpPr txBox="1"/>
          <p:nvPr>
            <p:ph idx="1" type="body"/>
          </p:nvPr>
        </p:nvSpPr>
        <p:spPr>
          <a:xfrm>
            <a:off x="686099" y="4401155"/>
            <a:ext cx="5485800" cy="35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g21c6847f24b_0_140: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1c6847f24b_0_151: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1" name="Google Shape;961;g21c6847f24b_0_151:notes"/>
          <p:cNvSpPr txBox="1"/>
          <p:nvPr>
            <p:ph idx="1" type="body"/>
          </p:nvPr>
        </p:nvSpPr>
        <p:spPr>
          <a:xfrm>
            <a:off x="686099" y="4401155"/>
            <a:ext cx="5485800" cy="35997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rPr lang="en"/>
              <a:t>1 Overwrite the same value or index out of bounds</a:t>
            </a:r>
            <a:endParaRPr/>
          </a:p>
          <a:p>
            <a:pPr indent="0" lvl="0" marL="0" rtl="0" algn="l">
              <a:spcBef>
                <a:spcPts val="0"/>
              </a:spcBef>
              <a:spcAft>
                <a:spcPts val="0"/>
              </a:spcAft>
              <a:buNone/>
            </a:pPr>
            <a:r>
              <a:rPr lang="en"/>
              <a:t>2 Might not have 10,000 values when done (some will overwrite)</a:t>
            </a:r>
            <a:endParaRPr/>
          </a:p>
        </p:txBody>
      </p:sp>
      <p:sp>
        <p:nvSpPr>
          <p:cNvPr id="962" name="Google Shape;962;g21c6847f24b_0_151:notes"/>
          <p:cNvSpPr txBox="1"/>
          <p:nvPr>
            <p:ph idx="12" type="sldNum"/>
          </p:nvPr>
        </p:nvSpPr>
        <p:spPr>
          <a:xfrm>
            <a:off x="3884415" y="8685894"/>
            <a:ext cx="2972100" cy="458100"/>
          </a:xfrm>
          <a:prstGeom prst="rect">
            <a:avLst/>
          </a:prstGeom>
          <a:noFill/>
          <a:ln>
            <a:noFill/>
          </a:ln>
        </p:spPr>
        <p:txBody>
          <a:bodyPr anchorCtr="0" anchor="b" bIns="43075" lIns="86175" spcFirstLastPara="1" rIns="86175" wrap="square" tIns="43075">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0" name="Shape 970"/>
        <p:cNvGrpSpPr/>
        <p:nvPr/>
      </p:nvGrpSpPr>
      <p:grpSpPr>
        <a:xfrm>
          <a:off x="0" y="0"/>
          <a:ext cx="0" cy="0"/>
          <a:chOff x="0" y="0"/>
          <a:chExt cx="0" cy="0"/>
        </a:xfrm>
      </p:grpSpPr>
      <p:sp>
        <p:nvSpPr>
          <p:cNvPr id="971" name="Google Shape;971;g229ff613d07_0_9: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2" name="Google Shape;972;g229ff613d07_0_9:notes"/>
          <p:cNvSpPr txBox="1"/>
          <p:nvPr>
            <p:ph idx="1" type="body"/>
          </p:nvPr>
        </p:nvSpPr>
        <p:spPr>
          <a:xfrm>
            <a:off x="686099" y="4401155"/>
            <a:ext cx="5485800" cy="3599700"/>
          </a:xfrm>
          <a:prstGeom prst="rect">
            <a:avLst/>
          </a:prstGeom>
          <a:noFill/>
          <a:ln>
            <a:noFill/>
          </a:ln>
        </p:spPr>
        <p:txBody>
          <a:bodyPr anchorCtr="0" anchor="t" bIns="43075" lIns="86175" spcFirstLastPara="1" rIns="86175" wrap="square" tIns="43075">
            <a:noAutofit/>
          </a:bodyPr>
          <a:lstStyle/>
          <a:p>
            <a:pPr indent="0" lvl="0" marL="0" rtl="0" algn="l">
              <a:spcBef>
                <a:spcPts val="0"/>
              </a:spcBef>
              <a:spcAft>
                <a:spcPts val="0"/>
              </a:spcAft>
              <a:buNone/>
            </a:pPr>
            <a:r>
              <a:rPr lang="en"/>
              <a:t>1 Overwrite the same value or index out of bounds</a:t>
            </a:r>
            <a:endParaRPr/>
          </a:p>
          <a:p>
            <a:pPr indent="0" lvl="0" marL="0" rtl="0" algn="l">
              <a:spcBef>
                <a:spcPts val="0"/>
              </a:spcBef>
              <a:spcAft>
                <a:spcPts val="0"/>
              </a:spcAft>
              <a:buNone/>
            </a:pPr>
            <a:r>
              <a:rPr lang="en"/>
              <a:t>2 Might not have 10,000 values when done (some will overwrite)</a:t>
            </a:r>
            <a:endParaRPr/>
          </a:p>
        </p:txBody>
      </p:sp>
      <p:sp>
        <p:nvSpPr>
          <p:cNvPr id="973" name="Google Shape;973;g229ff613d07_0_9:notes"/>
          <p:cNvSpPr txBox="1"/>
          <p:nvPr>
            <p:ph idx="12" type="sldNum"/>
          </p:nvPr>
        </p:nvSpPr>
        <p:spPr>
          <a:xfrm>
            <a:off x="3884415" y="8685894"/>
            <a:ext cx="2972100" cy="458100"/>
          </a:xfrm>
          <a:prstGeom prst="rect">
            <a:avLst/>
          </a:prstGeom>
          <a:noFill/>
          <a:ln>
            <a:noFill/>
          </a:ln>
        </p:spPr>
        <p:txBody>
          <a:bodyPr anchorCtr="0" anchor="b" bIns="43075" lIns="86175" spcFirstLastPara="1" rIns="86175" wrap="square" tIns="43075">
            <a:noAutofit/>
          </a:bodyPr>
          <a:lstStyle/>
          <a:p>
            <a:pPr indent="0" lvl="0" marL="0" rtl="0" algn="r">
              <a:spcBef>
                <a:spcPts val="0"/>
              </a:spcBef>
              <a:spcAft>
                <a:spcPts val="0"/>
              </a:spcAft>
              <a:buNone/>
            </a:pPr>
            <a:fld id="{00000000-1234-1234-1234-123412341234}" type="slidenum">
              <a:rPr lang="en" sz="1300"/>
              <a:t>‹#›</a:t>
            </a:fld>
            <a:endParaRPr sz="130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345bc571425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345bc571425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g8b6744271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3" name="Google Shape;993;g8b6744271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 name="Shape 14"/>
        <p:cNvGrpSpPr/>
        <p:nvPr/>
      </p:nvGrpSpPr>
      <p:grpSpPr>
        <a:xfrm>
          <a:off x="0" y="0"/>
          <a:ext cx="0" cy="0"/>
          <a:chOff x="0" y="0"/>
          <a:chExt cx="0" cy="0"/>
        </a:xfrm>
      </p:grpSpPr>
      <p:sp>
        <p:nvSpPr>
          <p:cNvPr id="15" name="Google Shape;15;p3"/>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7" name="Google Shape;17;p3"/>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8" name="Google Shape;18;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1" name="Google Shape;21;p4"/>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4"/>
          <p:cNvSpPr txBox="1"/>
          <p:nvPr>
            <p:ph type="title"/>
          </p:nvPr>
        </p:nvSpPr>
        <p:spPr>
          <a:xfrm>
            <a:off x="311725" y="500925"/>
            <a:ext cx="3706500" cy="6381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3" name="Google Shape;23;p4"/>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6" name="Google Shape;26;p4"/>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0" name="Google Shape;30;p5"/>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1" name="Google Shape;31;p5"/>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2" name="Google Shape;32;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36" name="Google Shape;36;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7" name="Shape 37"/>
        <p:cNvGrpSpPr/>
        <p:nvPr/>
      </p:nvGrpSpPr>
      <p:grpSpPr>
        <a:xfrm>
          <a:off x="0" y="0"/>
          <a:ext cx="0" cy="0"/>
          <a:chOff x="0" y="0"/>
          <a:chExt cx="0" cy="0"/>
        </a:xfrm>
      </p:grpSpPr>
      <p:sp>
        <p:nvSpPr>
          <p:cNvPr id="38" name="Google Shape;3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0" name="Google Shape;40;p7"/>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1" name="Google Shape;41;p7"/>
          <p:cNvSpPr txBox="1"/>
          <p:nvPr>
            <p:ph type="title"/>
          </p:nvPr>
        </p:nvSpPr>
        <p:spPr>
          <a:xfrm>
            <a:off x="5264725" y="500925"/>
            <a:ext cx="3706500" cy="6381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43" name="Google Shape;43;p7"/>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44" name="Google Shape;4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45" name="Shape 45"/>
        <p:cNvGrpSpPr/>
        <p:nvPr/>
      </p:nvGrpSpPr>
      <p:grpSpPr>
        <a:xfrm>
          <a:off x="0" y="0"/>
          <a:ext cx="0" cy="0"/>
          <a:chOff x="0" y="0"/>
          <a:chExt cx="0" cy="0"/>
        </a:xfrm>
      </p:grpSpPr>
      <p:sp>
        <p:nvSpPr>
          <p:cNvPr id="46" name="Google Shape;46;p8"/>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47" name="Google Shape;47;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9"/>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51" name="Google Shape;51;p9"/>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52" name="Google Shape;52;p9"/>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3" name="Google Shape;53;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4" name="Shape 54"/>
        <p:cNvGrpSpPr/>
        <p:nvPr/>
      </p:nvGrpSpPr>
      <p:grpSpPr>
        <a:xfrm>
          <a:off x="0" y="0"/>
          <a:ext cx="0" cy="0"/>
          <a:chOff x="0" y="0"/>
          <a:chExt cx="0" cy="0"/>
        </a:xfrm>
      </p:grpSpPr>
      <p:sp>
        <p:nvSpPr>
          <p:cNvPr id="55" name="Google Shape;55;p10"/>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0"/>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57" name="Google Shape;57;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58" name="Shape 58"/>
        <p:cNvGrpSpPr/>
        <p:nvPr/>
      </p:nvGrpSpPr>
      <p:grpSpPr>
        <a:xfrm>
          <a:off x="0" y="0"/>
          <a:ext cx="0" cy="0"/>
          <a:chOff x="0" y="0"/>
          <a:chExt cx="0" cy="0"/>
        </a:xfrm>
      </p:grpSpPr>
      <p:sp>
        <p:nvSpPr>
          <p:cNvPr id="59" name="Google Shape;59;p11"/>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60" name="Google Shape;60;p11"/>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61" name="Google Shape;61;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4" name="Shape 64"/>
        <p:cNvGrpSpPr/>
        <p:nvPr/>
      </p:nvGrpSpPr>
      <p:grpSpPr>
        <a:xfrm>
          <a:off x="0" y="0"/>
          <a:ext cx="0" cy="0"/>
          <a:chOff x="0" y="0"/>
          <a:chExt cx="0" cy="0"/>
        </a:xfrm>
      </p:grpSpPr>
      <p:sp>
        <p:nvSpPr>
          <p:cNvPr id="65" name="Google Shape;65;p13"/>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3"/>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13"/>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68" name="Google Shape;68;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69" name="Shape 69"/>
        <p:cNvGrpSpPr/>
        <p:nvPr/>
      </p:nvGrpSpPr>
      <p:grpSpPr>
        <a:xfrm>
          <a:off x="0" y="0"/>
          <a:ext cx="0" cy="0"/>
          <a:chOff x="0" y="0"/>
          <a:chExt cx="0" cy="0"/>
        </a:xfrm>
      </p:grpSpPr>
      <p:sp>
        <p:nvSpPr>
          <p:cNvPr id="70" name="Google Shape;70;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1" name="Google Shape;7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72" name="Google Shape;72;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bg>
      <p:bgPr>
        <a:solidFill>
          <a:srgbClr val="FFFFFF"/>
        </a:solidFill>
      </p:bgPr>
    </p:bg>
    <p:spTree>
      <p:nvGrpSpPr>
        <p:cNvPr id="73" name="Shape 73"/>
        <p:cNvGrpSpPr/>
        <p:nvPr/>
      </p:nvGrpSpPr>
      <p:grpSpPr>
        <a:xfrm>
          <a:off x="0" y="0"/>
          <a:ext cx="0" cy="0"/>
          <a:chOff x="0" y="0"/>
          <a:chExt cx="0" cy="0"/>
        </a:xfrm>
      </p:grpSpPr>
      <p:sp>
        <p:nvSpPr>
          <p:cNvPr id="74" name="Google Shape;74;p15"/>
          <p:cNvSpPr txBox="1"/>
          <p:nvPr>
            <p:ph type="title"/>
          </p:nvPr>
        </p:nvSpPr>
        <p:spPr>
          <a:xfrm>
            <a:off x="340660" y="30698"/>
            <a:ext cx="8449200" cy="636000"/>
          </a:xfrm>
          <a:prstGeom prst="rect">
            <a:avLst/>
          </a:prstGeom>
          <a:noFill/>
          <a:ln>
            <a:noFill/>
          </a:ln>
        </p:spPr>
        <p:txBody>
          <a:bodyPr anchorCtr="0" anchor="ctr" bIns="34275" lIns="68575" spcFirstLastPara="1" rIns="68575" wrap="square" tIns="34275">
            <a:normAutofit/>
          </a:bodyPr>
          <a:lstStyle>
            <a:lvl1pPr lvl="0" rtl="0" algn="l">
              <a:lnSpc>
                <a:spcPct val="9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5" name="Google Shape;75;p15"/>
          <p:cNvSpPr txBox="1"/>
          <p:nvPr>
            <p:ph idx="1" type="body"/>
          </p:nvPr>
        </p:nvSpPr>
        <p:spPr>
          <a:xfrm>
            <a:off x="340660" y="884286"/>
            <a:ext cx="8449200" cy="4156800"/>
          </a:xfrm>
          <a:prstGeom prst="rect">
            <a:avLst/>
          </a:prstGeom>
          <a:noFill/>
          <a:ln>
            <a:noFill/>
          </a:ln>
        </p:spPr>
        <p:txBody>
          <a:bodyPr anchorCtr="0" anchor="t" bIns="34275" lIns="68575" spcFirstLastPara="1" rIns="68575" wrap="square" tIns="34275">
            <a:normAutofit/>
          </a:bodyPr>
          <a:lstStyle>
            <a:lvl1pPr indent="-349250" lvl="0" marL="457200" rtl="0" algn="l">
              <a:lnSpc>
                <a:spcPct val="90000"/>
              </a:lnSpc>
              <a:spcBef>
                <a:spcPts val="800"/>
              </a:spcBef>
              <a:spcAft>
                <a:spcPts val="0"/>
              </a:spcAft>
              <a:buClr>
                <a:schemeClr val="dk1"/>
              </a:buClr>
              <a:buSzPts val="1900"/>
              <a:buFont typeface="Calibri"/>
              <a:buChar char="●"/>
              <a:defRPr sz="2100"/>
            </a:lvl1pPr>
            <a:lvl2pPr indent="-330200" lvl="1" marL="914400" rtl="0" algn="l">
              <a:lnSpc>
                <a:spcPct val="90000"/>
              </a:lnSpc>
              <a:spcBef>
                <a:spcPts val="1600"/>
              </a:spcBef>
              <a:spcAft>
                <a:spcPts val="0"/>
              </a:spcAft>
              <a:buClr>
                <a:schemeClr val="dk1"/>
              </a:buClr>
              <a:buSzPts val="1600"/>
              <a:buFont typeface="Courier New"/>
              <a:buChar char="o"/>
              <a:defRPr sz="1800"/>
            </a:lvl2pPr>
            <a:lvl3pPr indent="-323850" lvl="2" marL="1371600" rtl="0" algn="l">
              <a:lnSpc>
                <a:spcPct val="90000"/>
              </a:lnSpc>
              <a:spcBef>
                <a:spcPts val="1600"/>
              </a:spcBef>
              <a:spcAft>
                <a:spcPts val="0"/>
              </a:spcAft>
              <a:buClr>
                <a:schemeClr val="dk1"/>
              </a:buClr>
              <a:buSzPts val="1500"/>
              <a:buFont typeface="Noto Sans Symbols"/>
              <a:buChar char="▪"/>
              <a:defRPr sz="1500"/>
            </a:lvl3pPr>
            <a:lvl4pPr indent="-317500" lvl="3" marL="1828800" rtl="0" algn="l">
              <a:lnSpc>
                <a:spcPct val="90000"/>
              </a:lnSpc>
              <a:spcBef>
                <a:spcPts val="1600"/>
              </a:spcBef>
              <a:spcAft>
                <a:spcPts val="0"/>
              </a:spcAft>
              <a:buClr>
                <a:schemeClr val="dk1"/>
              </a:buClr>
              <a:buSzPts val="1400"/>
              <a:buFont typeface="Calibri"/>
              <a:buChar char="▫"/>
              <a:defRPr sz="1400"/>
            </a:lvl4pPr>
            <a:lvl5pPr indent="-298450" lvl="4" marL="2286000" rtl="0" algn="l">
              <a:lnSpc>
                <a:spcPct val="90000"/>
              </a:lnSpc>
              <a:spcBef>
                <a:spcPts val="1600"/>
              </a:spcBef>
              <a:spcAft>
                <a:spcPts val="0"/>
              </a:spcAft>
              <a:buClr>
                <a:schemeClr val="dk1"/>
              </a:buClr>
              <a:buSzPts val="1100"/>
              <a:buChar char="○"/>
              <a:defRPr sz="1100"/>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cxnSp>
        <p:nvCxnSpPr>
          <p:cNvPr id="76" name="Google Shape;76;p15"/>
          <p:cNvCxnSpPr/>
          <p:nvPr/>
        </p:nvCxnSpPr>
        <p:spPr>
          <a:xfrm>
            <a:off x="340660" y="690167"/>
            <a:ext cx="8449200" cy="0"/>
          </a:xfrm>
          <a:prstGeom prst="straightConnector1">
            <a:avLst/>
          </a:prstGeom>
          <a:noFill/>
          <a:ln cap="flat" cmpd="thickThin" w="63500">
            <a:solidFill>
              <a:schemeClr val="lt2"/>
            </a:solidFill>
            <a:prstDash val="solid"/>
            <a:miter lim="800000"/>
            <a:headEnd len="sm" w="sm" type="none"/>
            <a:tailEnd len="sm" w="sm" type="none"/>
          </a:ln>
        </p:spPr>
      </p:cxnSp>
      <p:sp>
        <p:nvSpPr>
          <p:cNvPr id="77" name="Google Shape;77;p15"/>
          <p:cNvSpPr txBox="1"/>
          <p:nvPr>
            <p:ph idx="2" type="body"/>
          </p:nvPr>
        </p:nvSpPr>
        <p:spPr>
          <a:xfrm>
            <a:off x="9155430" y="150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78" name="Google Shape;78;p15"/>
          <p:cNvSpPr txBox="1"/>
          <p:nvPr>
            <p:ph idx="3" type="body"/>
          </p:nvPr>
        </p:nvSpPr>
        <p:spPr>
          <a:xfrm>
            <a:off x="9155430" y="2189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79" name="Google Shape;79;p15"/>
          <p:cNvSpPr txBox="1"/>
          <p:nvPr>
            <p:ph idx="4" type="body"/>
          </p:nvPr>
        </p:nvSpPr>
        <p:spPr>
          <a:xfrm>
            <a:off x="9155430" y="44345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0" name="Google Shape;80;p15"/>
          <p:cNvSpPr txBox="1"/>
          <p:nvPr>
            <p:ph idx="5" type="body"/>
          </p:nvPr>
        </p:nvSpPr>
        <p:spPr>
          <a:xfrm>
            <a:off x="9155430" y="6668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1" name="Google Shape;81;p15"/>
          <p:cNvSpPr txBox="1"/>
          <p:nvPr>
            <p:ph idx="6" type="body"/>
          </p:nvPr>
        </p:nvSpPr>
        <p:spPr>
          <a:xfrm>
            <a:off x="9155430" y="88428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2" name="Google Shape;82;p15"/>
          <p:cNvSpPr txBox="1"/>
          <p:nvPr>
            <p:ph idx="7" type="body"/>
          </p:nvPr>
        </p:nvSpPr>
        <p:spPr>
          <a:xfrm>
            <a:off x="9155430" y="112836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3" name="Google Shape;83;p15"/>
          <p:cNvSpPr txBox="1"/>
          <p:nvPr>
            <p:ph idx="8" type="body"/>
          </p:nvPr>
        </p:nvSpPr>
        <p:spPr>
          <a:xfrm>
            <a:off x="9155430" y="136614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4" name="Google Shape;84;p15"/>
          <p:cNvSpPr txBox="1"/>
          <p:nvPr>
            <p:ph idx="9" type="body"/>
          </p:nvPr>
        </p:nvSpPr>
        <p:spPr>
          <a:xfrm>
            <a:off x="9155430" y="160379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5" name="Google Shape;85;p15"/>
          <p:cNvSpPr txBox="1"/>
          <p:nvPr>
            <p:ph idx="13" type="body"/>
          </p:nvPr>
        </p:nvSpPr>
        <p:spPr>
          <a:xfrm>
            <a:off x="9155430" y="18415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6" name="Google Shape;86;p15"/>
          <p:cNvSpPr txBox="1"/>
          <p:nvPr>
            <p:ph idx="14" type="body"/>
          </p:nvPr>
        </p:nvSpPr>
        <p:spPr>
          <a:xfrm>
            <a:off x="9155430" y="207252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7" name="Google Shape;87;p15"/>
          <p:cNvSpPr txBox="1"/>
          <p:nvPr>
            <p:ph idx="15" type="body"/>
          </p:nvPr>
        </p:nvSpPr>
        <p:spPr>
          <a:xfrm>
            <a:off x="9155430" y="230876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8" name="Google Shape;88;p15"/>
          <p:cNvSpPr txBox="1"/>
          <p:nvPr>
            <p:ph idx="16" type="body"/>
          </p:nvPr>
        </p:nvSpPr>
        <p:spPr>
          <a:xfrm>
            <a:off x="9155430" y="253444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89" name="Google Shape;89;p15"/>
          <p:cNvSpPr txBox="1"/>
          <p:nvPr>
            <p:ph idx="17" type="body"/>
          </p:nvPr>
        </p:nvSpPr>
        <p:spPr>
          <a:xfrm>
            <a:off x="9155430" y="27587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0" name="Google Shape;90;p15"/>
          <p:cNvSpPr txBox="1"/>
          <p:nvPr>
            <p:ph idx="18" type="body"/>
          </p:nvPr>
        </p:nvSpPr>
        <p:spPr>
          <a:xfrm>
            <a:off x="9155430" y="29817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1" name="Google Shape;91;p15"/>
          <p:cNvSpPr txBox="1"/>
          <p:nvPr>
            <p:ph idx="19" type="body"/>
          </p:nvPr>
        </p:nvSpPr>
        <p:spPr>
          <a:xfrm>
            <a:off x="9155430" y="32124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2" name="Google Shape;92;p15"/>
          <p:cNvSpPr txBox="1"/>
          <p:nvPr>
            <p:ph idx="20" type="body"/>
          </p:nvPr>
        </p:nvSpPr>
        <p:spPr>
          <a:xfrm>
            <a:off x="9155430" y="343674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3" name="Google Shape;93;p15"/>
          <p:cNvSpPr txBox="1"/>
          <p:nvPr>
            <p:ph idx="21" type="body"/>
          </p:nvPr>
        </p:nvSpPr>
        <p:spPr>
          <a:xfrm>
            <a:off x="9155430" y="366795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4" name="Google Shape;94;p15"/>
          <p:cNvSpPr txBox="1"/>
          <p:nvPr>
            <p:ph idx="22" type="body"/>
          </p:nvPr>
        </p:nvSpPr>
        <p:spPr>
          <a:xfrm>
            <a:off x="9155430" y="391172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5" name="Google Shape;95;p15"/>
          <p:cNvSpPr txBox="1"/>
          <p:nvPr>
            <p:ph idx="23" type="body"/>
          </p:nvPr>
        </p:nvSpPr>
        <p:spPr>
          <a:xfrm>
            <a:off x="9155430" y="41485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6" name="Google Shape;96;p15"/>
          <p:cNvSpPr txBox="1"/>
          <p:nvPr>
            <p:ph idx="24" type="body"/>
          </p:nvPr>
        </p:nvSpPr>
        <p:spPr>
          <a:xfrm>
            <a:off x="9155430" y="437292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7" name="Google Shape;97;p15"/>
          <p:cNvSpPr txBox="1"/>
          <p:nvPr>
            <p:ph idx="25" type="body"/>
          </p:nvPr>
        </p:nvSpPr>
        <p:spPr>
          <a:xfrm>
            <a:off x="9155430" y="459178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2"/>
              </a:buClr>
              <a:buSzPts val="2300"/>
              <a:buNone/>
              <a:defRPr b="1" sz="2300">
                <a:solidFill>
                  <a:schemeClr val="dk2"/>
                </a:solidFill>
                <a:latin typeface="Arial"/>
                <a:ea typeface="Arial"/>
                <a:cs typeface="Arial"/>
                <a:sym typeface="Arial"/>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8" name="Google Shape;98;p15"/>
          <p:cNvSpPr txBox="1"/>
          <p:nvPr>
            <p:ph idx="26" type="body"/>
          </p:nvPr>
        </p:nvSpPr>
        <p:spPr>
          <a:xfrm>
            <a:off x="-2811780" y="150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99" name="Google Shape;99;p15"/>
          <p:cNvSpPr txBox="1"/>
          <p:nvPr>
            <p:ph idx="27" type="body"/>
          </p:nvPr>
        </p:nvSpPr>
        <p:spPr>
          <a:xfrm>
            <a:off x="-2811780" y="2189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0" name="Google Shape;100;p15"/>
          <p:cNvSpPr txBox="1"/>
          <p:nvPr>
            <p:ph idx="28" type="body"/>
          </p:nvPr>
        </p:nvSpPr>
        <p:spPr>
          <a:xfrm>
            <a:off x="-2811780" y="44345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1" name="Google Shape;101;p15"/>
          <p:cNvSpPr txBox="1"/>
          <p:nvPr>
            <p:ph idx="29" type="body"/>
          </p:nvPr>
        </p:nvSpPr>
        <p:spPr>
          <a:xfrm>
            <a:off x="-2811780" y="6668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2" name="Google Shape;102;p15"/>
          <p:cNvSpPr txBox="1"/>
          <p:nvPr>
            <p:ph idx="30" type="body"/>
          </p:nvPr>
        </p:nvSpPr>
        <p:spPr>
          <a:xfrm>
            <a:off x="-2811780" y="88428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3" name="Google Shape;103;p15"/>
          <p:cNvSpPr txBox="1"/>
          <p:nvPr>
            <p:ph idx="31" type="body"/>
          </p:nvPr>
        </p:nvSpPr>
        <p:spPr>
          <a:xfrm>
            <a:off x="-2811780" y="112836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4" name="Google Shape;104;p15"/>
          <p:cNvSpPr txBox="1"/>
          <p:nvPr>
            <p:ph idx="32" type="body"/>
          </p:nvPr>
        </p:nvSpPr>
        <p:spPr>
          <a:xfrm>
            <a:off x="-2811780" y="136614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90000"/>
              </a:lnSpc>
              <a:spcBef>
                <a:spcPts val="80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5" name="Google Shape;105;p15"/>
          <p:cNvSpPr txBox="1"/>
          <p:nvPr>
            <p:ph idx="33" type="body"/>
          </p:nvPr>
        </p:nvSpPr>
        <p:spPr>
          <a:xfrm>
            <a:off x="-2811780" y="160379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6" name="Google Shape;106;p15"/>
          <p:cNvSpPr txBox="1"/>
          <p:nvPr>
            <p:ph idx="34" type="body"/>
          </p:nvPr>
        </p:nvSpPr>
        <p:spPr>
          <a:xfrm>
            <a:off x="-2811780" y="18415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7" name="Google Shape;107;p15"/>
          <p:cNvSpPr txBox="1"/>
          <p:nvPr>
            <p:ph idx="35" type="body"/>
          </p:nvPr>
        </p:nvSpPr>
        <p:spPr>
          <a:xfrm>
            <a:off x="-2811780" y="2072525"/>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8" name="Google Shape;108;p15"/>
          <p:cNvSpPr txBox="1"/>
          <p:nvPr>
            <p:ph idx="36" type="body"/>
          </p:nvPr>
        </p:nvSpPr>
        <p:spPr>
          <a:xfrm>
            <a:off x="-2811780" y="230876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09" name="Google Shape;109;p15"/>
          <p:cNvSpPr txBox="1"/>
          <p:nvPr>
            <p:ph idx="37" type="body"/>
          </p:nvPr>
        </p:nvSpPr>
        <p:spPr>
          <a:xfrm>
            <a:off x="-2811780" y="253444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0" name="Google Shape;110;p15"/>
          <p:cNvSpPr txBox="1"/>
          <p:nvPr>
            <p:ph idx="38" type="body"/>
          </p:nvPr>
        </p:nvSpPr>
        <p:spPr>
          <a:xfrm>
            <a:off x="-2811780" y="275877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1" name="Google Shape;111;p15"/>
          <p:cNvSpPr txBox="1"/>
          <p:nvPr>
            <p:ph idx="39" type="body"/>
          </p:nvPr>
        </p:nvSpPr>
        <p:spPr>
          <a:xfrm>
            <a:off x="-2811780" y="29817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2" name="Google Shape;112;p15"/>
          <p:cNvSpPr txBox="1"/>
          <p:nvPr>
            <p:ph idx="40" type="body"/>
          </p:nvPr>
        </p:nvSpPr>
        <p:spPr>
          <a:xfrm>
            <a:off x="-2811780" y="321240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3" name="Google Shape;113;p15"/>
          <p:cNvSpPr txBox="1"/>
          <p:nvPr>
            <p:ph idx="41" type="body"/>
          </p:nvPr>
        </p:nvSpPr>
        <p:spPr>
          <a:xfrm>
            <a:off x="-2811780" y="343674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4" name="Google Shape;114;p15"/>
          <p:cNvSpPr txBox="1"/>
          <p:nvPr>
            <p:ph idx="42" type="body"/>
          </p:nvPr>
        </p:nvSpPr>
        <p:spPr>
          <a:xfrm>
            <a:off x="-2811780" y="366795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5" name="Google Shape;115;p15"/>
          <p:cNvSpPr txBox="1"/>
          <p:nvPr>
            <p:ph idx="43" type="body"/>
          </p:nvPr>
        </p:nvSpPr>
        <p:spPr>
          <a:xfrm>
            <a:off x="-2811780" y="391172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6" name="Google Shape;116;p15"/>
          <p:cNvSpPr txBox="1"/>
          <p:nvPr>
            <p:ph idx="44" type="body"/>
          </p:nvPr>
        </p:nvSpPr>
        <p:spPr>
          <a:xfrm>
            <a:off x="-2811780" y="41485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7" name="Google Shape;117;p15"/>
          <p:cNvSpPr txBox="1"/>
          <p:nvPr>
            <p:ph idx="45" type="body"/>
          </p:nvPr>
        </p:nvSpPr>
        <p:spPr>
          <a:xfrm>
            <a:off x="-2811780" y="437292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18" name="Google Shape;118;p15"/>
          <p:cNvSpPr txBox="1"/>
          <p:nvPr>
            <p:ph idx="46" type="body"/>
          </p:nvPr>
        </p:nvSpPr>
        <p:spPr>
          <a:xfrm>
            <a:off x="-2811780" y="4591789"/>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dk1"/>
              </a:buClr>
              <a:buSzPts val="1800"/>
              <a:buNone/>
              <a:defRPr b="1" sz="1800">
                <a:solidFill>
                  <a:schemeClr val="dk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ctivity">
    <p:spTree>
      <p:nvGrpSpPr>
        <p:cNvPr id="119" name="Shape 119"/>
        <p:cNvGrpSpPr/>
        <p:nvPr/>
      </p:nvGrpSpPr>
      <p:grpSpPr>
        <a:xfrm>
          <a:off x="0" y="0"/>
          <a:ext cx="0" cy="0"/>
          <a:chOff x="0" y="0"/>
          <a:chExt cx="0" cy="0"/>
        </a:xfrm>
      </p:grpSpPr>
      <p:sp>
        <p:nvSpPr>
          <p:cNvPr id="120" name="Google Shape;120;p16"/>
          <p:cNvSpPr txBox="1"/>
          <p:nvPr>
            <p:ph type="title"/>
          </p:nvPr>
        </p:nvSpPr>
        <p:spPr>
          <a:xfrm>
            <a:off x="1039579" y="119975"/>
            <a:ext cx="7795200" cy="577200"/>
          </a:xfrm>
          <a:prstGeom prst="rect">
            <a:avLst/>
          </a:prstGeom>
          <a:noFill/>
          <a:ln>
            <a:noFill/>
          </a:ln>
        </p:spPr>
        <p:txBody>
          <a:bodyPr anchorCtr="0" anchor="ctr" bIns="34275" lIns="68575" spcFirstLastPara="1" rIns="68575" wrap="square" tIns="34275">
            <a:normAutofit/>
          </a:bodyPr>
          <a:lstStyle>
            <a:lvl1pPr lvl="0" rtl="0" algn="l">
              <a:lnSpc>
                <a:spcPct val="100000"/>
              </a:lnSpc>
              <a:spcBef>
                <a:spcPts val="0"/>
              </a:spcBef>
              <a:spcAft>
                <a:spcPts val="0"/>
              </a:spcAft>
              <a:buClr>
                <a:schemeClr val="dk2"/>
              </a:buClr>
              <a:buSzPts val="3300"/>
              <a:buFont typeface="Calibri"/>
              <a:buNone/>
              <a:defRPr b="1">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1" name="Google Shape;121;p16"/>
          <p:cNvSpPr txBox="1"/>
          <p:nvPr>
            <p:ph idx="1" type="body"/>
          </p:nvPr>
        </p:nvSpPr>
        <p:spPr>
          <a:xfrm>
            <a:off x="300382" y="768629"/>
            <a:ext cx="3399300" cy="3864300"/>
          </a:xfrm>
          <a:prstGeom prst="rect">
            <a:avLst/>
          </a:prstGeom>
          <a:noFill/>
          <a:ln>
            <a:noFill/>
          </a:ln>
        </p:spPr>
        <p:txBody>
          <a:bodyPr anchorCtr="0" anchor="t" bIns="34275" lIns="68575" spcFirstLastPara="1" rIns="68575" wrap="square" tIns="34275">
            <a:normAutofit/>
          </a:bodyPr>
          <a:lstStyle>
            <a:lvl1pPr indent="-228600" lvl="0" marL="457200" rtl="0" algn="l">
              <a:lnSpc>
                <a:spcPct val="90000"/>
              </a:lnSpc>
              <a:spcBef>
                <a:spcPts val="800"/>
              </a:spcBef>
              <a:spcAft>
                <a:spcPts val="0"/>
              </a:spcAft>
              <a:buClr>
                <a:schemeClr val="dk1"/>
              </a:buClr>
              <a:buSzPts val="1800"/>
              <a:buNone/>
              <a:defRPr sz="1800"/>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cxnSp>
        <p:nvCxnSpPr>
          <p:cNvPr id="122" name="Google Shape;122;p16"/>
          <p:cNvCxnSpPr/>
          <p:nvPr/>
        </p:nvCxnSpPr>
        <p:spPr>
          <a:xfrm>
            <a:off x="300382" y="736560"/>
            <a:ext cx="8534400" cy="0"/>
          </a:xfrm>
          <a:prstGeom prst="straightConnector1">
            <a:avLst/>
          </a:prstGeom>
          <a:noFill/>
          <a:ln cap="flat" cmpd="thickThin" w="63500">
            <a:solidFill>
              <a:schemeClr val="lt2"/>
            </a:solidFill>
            <a:prstDash val="solid"/>
            <a:miter lim="800000"/>
            <a:headEnd len="sm" w="sm" type="none"/>
            <a:tailEnd len="sm" w="sm" type="none"/>
          </a:ln>
        </p:spPr>
      </p:cxnSp>
      <p:sp>
        <p:nvSpPr>
          <p:cNvPr id="123" name="Google Shape;123;p16"/>
          <p:cNvSpPr txBox="1"/>
          <p:nvPr>
            <p:ph idx="2" type="body"/>
          </p:nvPr>
        </p:nvSpPr>
        <p:spPr>
          <a:xfrm>
            <a:off x="3699710" y="784668"/>
            <a:ext cx="5135100" cy="4258500"/>
          </a:xfrm>
          <a:prstGeom prst="rect">
            <a:avLst/>
          </a:prstGeom>
          <a:noFill/>
          <a:ln cap="flat" cmpd="sng" w="38100">
            <a:solidFill>
              <a:schemeClr val="dk1"/>
            </a:solidFill>
            <a:prstDash val="solid"/>
            <a:round/>
            <a:headEnd len="sm" w="sm" type="none"/>
            <a:tailEnd len="sm" w="sm" type="none"/>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SzPts val="1800"/>
              <a:buNone/>
              <a:defRPr b="1" sz="1800">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4" name="Google Shape;124;p16"/>
          <p:cNvSpPr txBox="1"/>
          <p:nvPr>
            <p:ph idx="3" type="body"/>
          </p:nvPr>
        </p:nvSpPr>
        <p:spPr>
          <a:xfrm>
            <a:off x="-2811780" y="230948"/>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5" name="Google Shape;125;p16"/>
          <p:cNvSpPr txBox="1"/>
          <p:nvPr>
            <p:ph idx="4" type="body"/>
          </p:nvPr>
        </p:nvSpPr>
        <p:spPr>
          <a:xfrm>
            <a:off x="-2811780" y="46719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6" name="Google Shape;126;p16"/>
          <p:cNvSpPr txBox="1"/>
          <p:nvPr>
            <p:ph idx="5" type="body"/>
          </p:nvPr>
        </p:nvSpPr>
        <p:spPr>
          <a:xfrm>
            <a:off x="-2811780" y="6928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7" name="Google Shape;127;p16"/>
          <p:cNvSpPr txBox="1"/>
          <p:nvPr>
            <p:ph idx="6" type="body"/>
          </p:nvPr>
        </p:nvSpPr>
        <p:spPr>
          <a:xfrm>
            <a:off x="-2811780" y="9172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8" name="Google Shape;128;p16"/>
          <p:cNvSpPr txBox="1"/>
          <p:nvPr>
            <p:ph idx="7" type="body"/>
          </p:nvPr>
        </p:nvSpPr>
        <p:spPr>
          <a:xfrm>
            <a:off x="-2811780" y="114021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29" name="Google Shape;129;p16"/>
          <p:cNvSpPr txBox="1"/>
          <p:nvPr>
            <p:ph idx="8" type="body"/>
          </p:nvPr>
        </p:nvSpPr>
        <p:spPr>
          <a:xfrm>
            <a:off x="-2811780" y="137082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0" name="Google Shape;130;p16"/>
          <p:cNvSpPr txBox="1"/>
          <p:nvPr>
            <p:ph idx="9" type="body"/>
          </p:nvPr>
        </p:nvSpPr>
        <p:spPr>
          <a:xfrm>
            <a:off x="-2811780" y="1595164"/>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1" name="Google Shape;131;p16"/>
          <p:cNvSpPr txBox="1"/>
          <p:nvPr>
            <p:ph idx="13" type="body"/>
          </p:nvPr>
        </p:nvSpPr>
        <p:spPr>
          <a:xfrm>
            <a:off x="-2811780" y="182638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2" name="Google Shape;132;p16"/>
          <p:cNvSpPr txBox="1"/>
          <p:nvPr>
            <p:ph idx="14" type="body"/>
          </p:nvPr>
        </p:nvSpPr>
        <p:spPr>
          <a:xfrm>
            <a:off x="-2811780" y="2070151"/>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3" name="Google Shape;133;p16"/>
          <p:cNvSpPr txBox="1"/>
          <p:nvPr>
            <p:ph idx="15" type="body"/>
          </p:nvPr>
        </p:nvSpPr>
        <p:spPr>
          <a:xfrm>
            <a:off x="-2811780" y="230701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4" name="Google Shape;134;p16"/>
          <p:cNvSpPr txBox="1"/>
          <p:nvPr>
            <p:ph idx="16" type="body"/>
          </p:nvPr>
        </p:nvSpPr>
        <p:spPr>
          <a:xfrm>
            <a:off x="-2811780" y="253135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5" name="Google Shape;135;p16"/>
          <p:cNvSpPr txBox="1"/>
          <p:nvPr>
            <p:ph idx="17" type="body"/>
          </p:nvPr>
        </p:nvSpPr>
        <p:spPr>
          <a:xfrm>
            <a:off x="-2811780" y="2750212"/>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6" name="Google Shape;136;p16"/>
          <p:cNvSpPr/>
          <p:nvPr/>
        </p:nvSpPr>
        <p:spPr>
          <a:xfrm>
            <a:off x="277239" y="109654"/>
            <a:ext cx="633000" cy="578700"/>
          </a:xfrm>
          <a:prstGeom prst="roundRect">
            <a:avLst>
              <a:gd fmla="val 16667" name="adj"/>
            </a:avLst>
          </a:prstGeom>
          <a:gradFill>
            <a:gsLst>
              <a:gs pos="0">
                <a:srgbClr val="FFFFFF"/>
              </a:gs>
              <a:gs pos="66000">
                <a:srgbClr val="FFFFFF"/>
              </a:gs>
              <a:gs pos="100000">
                <a:schemeClr val="dk2"/>
              </a:gs>
            </a:gsLst>
            <a:path path="circle">
              <a:fillToRect b="50%" l="50%" r="50%" t="50%"/>
            </a:path>
            <a:tileRect/>
          </a:gradFill>
          <a:ln cap="flat" cmpd="sng" w="12700">
            <a:solidFill>
              <a:srgbClr val="A246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37" name="Google Shape;137;p16"/>
          <p:cNvSpPr/>
          <p:nvPr/>
        </p:nvSpPr>
        <p:spPr>
          <a:xfrm>
            <a:off x="412441" y="97590"/>
            <a:ext cx="394800" cy="577200"/>
          </a:xfrm>
          <a:prstGeom prst="rect">
            <a:avLst/>
          </a:prstGeom>
          <a:no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rPr b="1" lang="en" sz="3300" cap="none">
                <a:solidFill>
                  <a:schemeClr val="dk2"/>
                </a:solidFill>
                <a:latin typeface="Calibri"/>
                <a:ea typeface="Calibri"/>
                <a:cs typeface="Calibri"/>
                <a:sym typeface="Calibri"/>
              </a:rPr>
              <a:t>A</a:t>
            </a:r>
            <a:endParaRPr sz="1100"/>
          </a:p>
        </p:txBody>
      </p:sp>
      <p:sp>
        <p:nvSpPr>
          <p:cNvPr id="138" name="Google Shape;138;p16"/>
          <p:cNvSpPr txBox="1"/>
          <p:nvPr>
            <p:ph idx="18" type="body"/>
          </p:nvPr>
        </p:nvSpPr>
        <p:spPr>
          <a:xfrm>
            <a:off x="-2811780" y="30367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39" name="Google Shape;139;p16"/>
          <p:cNvSpPr txBox="1"/>
          <p:nvPr>
            <p:ph idx="19" type="body"/>
          </p:nvPr>
        </p:nvSpPr>
        <p:spPr>
          <a:xfrm>
            <a:off x="-2811780" y="3267647"/>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0" name="Google Shape;140;p16"/>
          <p:cNvSpPr txBox="1"/>
          <p:nvPr>
            <p:ph idx="20" type="body"/>
          </p:nvPr>
        </p:nvSpPr>
        <p:spPr>
          <a:xfrm>
            <a:off x="-2811780" y="350389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1" name="Google Shape;141;p16"/>
          <p:cNvSpPr txBox="1"/>
          <p:nvPr>
            <p:ph idx="21" type="body"/>
          </p:nvPr>
        </p:nvSpPr>
        <p:spPr>
          <a:xfrm>
            <a:off x="-2811780" y="37295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2" name="Google Shape;142;p16"/>
          <p:cNvSpPr txBox="1"/>
          <p:nvPr>
            <p:ph idx="22" type="body"/>
          </p:nvPr>
        </p:nvSpPr>
        <p:spPr>
          <a:xfrm>
            <a:off x="-2811780" y="3953900"/>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3" name="Google Shape;143;p16"/>
          <p:cNvSpPr txBox="1"/>
          <p:nvPr>
            <p:ph idx="23" type="body"/>
          </p:nvPr>
        </p:nvSpPr>
        <p:spPr>
          <a:xfrm>
            <a:off x="-2811780" y="417691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4" name="Google Shape;144;p16"/>
          <p:cNvSpPr txBox="1"/>
          <p:nvPr>
            <p:ph idx="24" type="body"/>
          </p:nvPr>
        </p:nvSpPr>
        <p:spPr>
          <a:xfrm>
            <a:off x="-2811780" y="4407526"/>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
        <p:nvSpPr>
          <p:cNvPr id="145" name="Google Shape;145;p16"/>
          <p:cNvSpPr txBox="1"/>
          <p:nvPr>
            <p:ph idx="25" type="body"/>
          </p:nvPr>
        </p:nvSpPr>
        <p:spPr>
          <a:xfrm>
            <a:off x="-2811780" y="4631863"/>
            <a:ext cx="2811900" cy="411600"/>
          </a:xfrm>
          <a:prstGeom prst="rect">
            <a:avLst/>
          </a:prstGeom>
          <a:noFill/>
          <a:ln>
            <a:noFill/>
          </a:ln>
        </p:spPr>
        <p:txBody>
          <a:bodyPr anchorCtr="0" anchor="t" bIns="34275" lIns="68575" spcFirstLastPara="1" rIns="68575" wrap="square" tIns="34275">
            <a:noAutofit/>
          </a:bodyPr>
          <a:lstStyle>
            <a:lvl1pPr indent="-228600" lvl="0" marL="457200" rtl="0" algn="l">
              <a:lnSpc>
                <a:spcPct val="100000"/>
              </a:lnSpc>
              <a:spcBef>
                <a:spcPts val="0"/>
              </a:spcBef>
              <a:spcAft>
                <a:spcPts val="0"/>
              </a:spcAft>
              <a:buClr>
                <a:schemeClr val="lt1"/>
              </a:buClr>
              <a:buSzPts val="1800"/>
              <a:buNone/>
              <a:defRPr b="1" sz="1800">
                <a:solidFill>
                  <a:schemeClr val="lt1"/>
                </a:solidFill>
                <a:latin typeface="Consolas"/>
                <a:ea typeface="Consolas"/>
                <a:cs typeface="Consolas"/>
                <a:sym typeface="Consolas"/>
              </a:defRPr>
            </a:lvl1pPr>
            <a:lvl2pPr indent="-317500" lvl="1" marL="914400" rtl="0" algn="l">
              <a:lnSpc>
                <a:spcPct val="90000"/>
              </a:lnSpc>
              <a:spcBef>
                <a:spcPts val="1600"/>
              </a:spcBef>
              <a:spcAft>
                <a:spcPts val="0"/>
              </a:spcAft>
              <a:buClr>
                <a:schemeClr val="dk1"/>
              </a:buClr>
              <a:buSzPts val="1400"/>
              <a:buChar char="○"/>
              <a:defRPr/>
            </a:lvl2pPr>
            <a:lvl3pPr indent="-317500" lvl="2" marL="1371600" rtl="0" algn="l">
              <a:lnSpc>
                <a:spcPct val="90000"/>
              </a:lnSpc>
              <a:spcBef>
                <a:spcPts val="1600"/>
              </a:spcBef>
              <a:spcAft>
                <a:spcPts val="0"/>
              </a:spcAft>
              <a:buClr>
                <a:schemeClr val="dk1"/>
              </a:buClr>
              <a:buSzPts val="1400"/>
              <a:buChar char="■"/>
              <a:defRPr/>
            </a:lvl3pPr>
            <a:lvl4pPr indent="-317500" lvl="3" marL="1828800" rtl="0" algn="l">
              <a:lnSpc>
                <a:spcPct val="90000"/>
              </a:lnSpc>
              <a:spcBef>
                <a:spcPts val="1600"/>
              </a:spcBef>
              <a:spcAft>
                <a:spcPts val="0"/>
              </a:spcAft>
              <a:buClr>
                <a:schemeClr val="dk1"/>
              </a:buClr>
              <a:buSzPts val="1400"/>
              <a:buChar char="●"/>
              <a:defRPr/>
            </a:lvl4pPr>
            <a:lvl5pPr indent="-317500" lvl="4" marL="2286000" rtl="0" algn="l">
              <a:lnSpc>
                <a:spcPct val="90000"/>
              </a:lnSpc>
              <a:spcBef>
                <a:spcPts val="1600"/>
              </a:spcBef>
              <a:spcAft>
                <a:spcPts val="0"/>
              </a:spcAft>
              <a:buClr>
                <a:schemeClr val="dk1"/>
              </a:buClr>
              <a:buSzPts val="1400"/>
              <a:buChar char="○"/>
              <a:defRPr/>
            </a:lvl5pPr>
            <a:lvl6pPr indent="-317500" lvl="5" marL="2743200" rtl="0" algn="l">
              <a:lnSpc>
                <a:spcPct val="90000"/>
              </a:lnSpc>
              <a:spcBef>
                <a:spcPts val="1600"/>
              </a:spcBef>
              <a:spcAft>
                <a:spcPts val="0"/>
              </a:spcAft>
              <a:buClr>
                <a:schemeClr val="dk1"/>
              </a:buClr>
              <a:buSzPts val="1400"/>
              <a:buChar char="■"/>
              <a:defRPr/>
            </a:lvl6pPr>
            <a:lvl7pPr indent="-317500" lvl="6" marL="3200400" rtl="0" algn="l">
              <a:lnSpc>
                <a:spcPct val="90000"/>
              </a:lnSpc>
              <a:spcBef>
                <a:spcPts val="1600"/>
              </a:spcBef>
              <a:spcAft>
                <a:spcPts val="0"/>
              </a:spcAft>
              <a:buClr>
                <a:schemeClr val="dk1"/>
              </a:buClr>
              <a:buSzPts val="1400"/>
              <a:buChar char="●"/>
              <a:defRPr/>
            </a:lvl7pPr>
            <a:lvl8pPr indent="-317500" lvl="7" marL="3657600" rtl="0" algn="l">
              <a:lnSpc>
                <a:spcPct val="90000"/>
              </a:lnSpc>
              <a:spcBef>
                <a:spcPts val="1600"/>
              </a:spcBef>
              <a:spcAft>
                <a:spcPts val="0"/>
              </a:spcAft>
              <a:buClr>
                <a:schemeClr val="dk1"/>
              </a:buClr>
              <a:buSzPts val="1400"/>
              <a:buChar char="○"/>
              <a:defRPr/>
            </a:lvl8pPr>
            <a:lvl9pPr indent="-317500" lvl="8" marL="4114800" rtl="0" algn="l">
              <a:lnSpc>
                <a:spcPct val="90000"/>
              </a:lnSpc>
              <a:spcBef>
                <a:spcPts val="1600"/>
              </a:spcBef>
              <a:spcAft>
                <a:spcPts val="1600"/>
              </a:spcAft>
              <a:buClr>
                <a:schemeClr val="dk1"/>
              </a:buClr>
              <a:buSzPts val="1400"/>
              <a:buChar char="■"/>
              <a:defRPr/>
            </a:lvl9pPr>
          </a:lstStyle>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AUTOLAYOUT_1_1">
    <p:bg>
      <p:bgPr>
        <a:solidFill>
          <a:srgbClr val="FFFFFF"/>
        </a:solidFill>
      </p:bgPr>
    </p:bg>
    <p:spTree>
      <p:nvGrpSpPr>
        <p:cNvPr id="146" name="Shape 146"/>
        <p:cNvGrpSpPr/>
        <p:nvPr/>
      </p:nvGrpSpPr>
      <p:grpSpPr>
        <a:xfrm>
          <a:off x="0" y="0"/>
          <a:ext cx="0" cy="0"/>
          <a:chOff x="0" y="0"/>
          <a:chExt cx="0" cy="0"/>
        </a:xfrm>
      </p:grpSpPr>
      <p:sp>
        <p:nvSpPr>
          <p:cNvPr id="147" name="Google Shape;147;p17"/>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7"/>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49" name="Google Shape;149;p17"/>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50" name="Google Shape;150;p17"/>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51" name="Google Shape;151;p17"/>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7"/>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53" name="Google Shape;153;p17"/>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7"/>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55" name="Google Shape;155;p17"/>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60" name="Shape 160"/>
        <p:cNvGrpSpPr/>
        <p:nvPr/>
      </p:nvGrpSpPr>
      <p:grpSpPr>
        <a:xfrm>
          <a:off x="0" y="0"/>
          <a:ext cx="0" cy="0"/>
          <a:chOff x="0" y="0"/>
          <a:chExt cx="0" cy="0"/>
        </a:xfrm>
      </p:grpSpPr>
      <p:sp>
        <p:nvSpPr>
          <p:cNvPr id="161" name="Google Shape;161;p19"/>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2" name="Google Shape;162;p19"/>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3" name="Google Shape;163;p19"/>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164" name="Google Shape;164;p1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65" name="Shape 165"/>
        <p:cNvGrpSpPr/>
        <p:nvPr/>
      </p:nvGrpSpPr>
      <p:grpSpPr>
        <a:xfrm>
          <a:off x="0" y="0"/>
          <a:ext cx="0" cy="0"/>
          <a:chOff x="0" y="0"/>
          <a:chExt cx="0" cy="0"/>
        </a:xfrm>
      </p:grpSpPr>
      <p:sp>
        <p:nvSpPr>
          <p:cNvPr id="166" name="Google Shape;166;p20"/>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67" name="Google Shape;167;p20"/>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68" name="Google Shape;168;p20"/>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69" name="Google Shape;169;p2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0" name="Shape 170"/>
        <p:cNvGrpSpPr/>
        <p:nvPr/>
      </p:nvGrpSpPr>
      <p:grpSpPr>
        <a:xfrm>
          <a:off x="0" y="0"/>
          <a:ext cx="0" cy="0"/>
          <a:chOff x="0" y="0"/>
          <a:chExt cx="0" cy="0"/>
        </a:xfrm>
      </p:grpSpPr>
      <p:sp>
        <p:nvSpPr>
          <p:cNvPr id="171" name="Google Shape;171;p21"/>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72" name="Google Shape;172;p21"/>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1"/>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74" name="Google Shape;174;p21"/>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75" name="Google Shape;175;p2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21"/>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77" name="Google Shape;177;p21"/>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8" name="Shape 178"/>
        <p:cNvGrpSpPr/>
        <p:nvPr/>
      </p:nvGrpSpPr>
      <p:grpSpPr>
        <a:xfrm>
          <a:off x="0" y="0"/>
          <a:ext cx="0" cy="0"/>
          <a:chOff x="0" y="0"/>
          <a:chExt cx="0" cy="0"/>
        </a:xfrm>
      </p:grpSpPr>
      <p:sp>
        <p:nvSpPr>
          <p:cNvPr id="179" name="Google Shape;179;p2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2"/>
          <p:cNvSpPr txBox="1"/>
          <p:nvPr>
            <p:ph type="title"/>
          </p:nvPr>
        </p:nvSpPr>
        <p:spPr>
          <a:xfrm>
            <a:off x="311725" y="50092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2"/>
          <p:cNvSpPr txBox="1"/>
          <p:nvPr>
            <p:ph idx="1" type="body"/>
          </p:nvPr>
        </p:nvSpPr>
        <p:spPr>
          <a:xfrm>
            <a:off x="3117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2" name="Google Shape;182;p22"/>
          <p:cNvSpPr txBox="1"/>
          <p:nvPr>
            <p:ph idx="2" type="body"/>
          </p:nvPr>
        </p:nvSpPr>
        <p:spPr>
          <a:xfrm>
            <a:off x="48324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83" name="Google Shape;183;p2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23"/>
          <p:cNvSpPr/>
          <p:nvPr/>
        </p:nvSpPr>
        <p:spPr>
          <a:xfrm>
            <a:off x="0" y="0"/>
            <a:ext cx="9144000" cy="72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3"/>
          <p:cNvSpPr txBox="1"/>
          <p:nvPr>
            <p:ph type="title"/>
          </p:nvPr>
        </p:nvSpPr>
        <p:spPr>
          <a:xfrm>
            <a:off x="311700" y="10527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7" name="Google Shape;187;p2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8" name="Shape 188"/>
        <p:cNvGrpSpPr/>
        <p:nvPr/>
      </p:nvGrpSpPr>
      <p:grpSpPr>
        <a:xfrm>
          <a:off x="0" y="0"/>
          <a:ext cx="0" cy="0"/>
          <a:chOff x="0" y="0"/>
          <a:chExt cx="0" cy="0"/>
        </a:xfrm>
      </p:grpSpPr>
      <p:sp>
        <p:nvSpPr>
          <p:cNvPr id="189" name="Google Shape;189;p24"/>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24"/>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91" name="Google Shape;191;p24"/>
          <p:cNvSpPr txBox="1"/>
          <p:nvPr>
            <p:ph idx="12" type="sldNum"/>
          </p:nvPr>
        </p:nvSpPr>
        <p:spPr>
          <a:xfrm>
            <a:off x="90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24"/>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93" name="Google Shape;193;p24"/>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94" name="Google Shape;194;p24"/>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195" name="Google Shape;195;p24"/>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96" name="Shape 196"/>
        <p:cNvGrpSpPr/>
        <p:nvPr/>
      </p:nvGrpSpPr>
      <p:grpSpPr>
        <a:xfrm>
          <a:off x="0" y="0"/>
          <a:ext cx="0" cy="0"/>
          <a:chOff x="0" y="0"/>
          <a:chExt cx="0" cy="0"/>
        </a:xfrm>
      </p:grpSpPr>
      <p:sp>
        <p:nvSpPr>
          <p:cNvPr id="197" name="Google Shape;197;p25"/>
          <p:cNvSpPr txBox="1"/>
          <p:nvPr>
            <p:ph type="title"/>
          </p:nvPr>
        </p:nvSpPr>
        <p:spPr>
          <a:xfrm>
            <a:off x="311675" y="798600"/>
            <a:ext cx="6247800" cy="3546300"/>
          </a:xfrm>
          <a:prstGeom prst="rect">
            <a:avLst/>
          </a:prstGeom>
        </p:spPr>
        <p:txBody>
          <a:bodyPr anchorCtr="0" anchor="ctr"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98" name="Google Shape;198;p2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9" name="Shape 199"/>
        <p:cNvGrpSpPr/>
        <p:nvPr/>
      </p:nvGrpSpPr>
      <p:grpSpPr>
        <a:xfrm>
          <a:off x="0" y="0"/>
          <a:ext cx="0" cy="0"/>
          <a:chOff x="0" y="0"/>
          <a:chExt cx="0" cy="0"/>
        </a:xfrm>
      </p:grpSpPr>
      <p:sp>
        <p:nvSpPr>
          <p:cNvPr id="200" name="Google Shape;200;p26"/>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26"/>
          <p:cNvSpPr txBox="1"/>
          <p:nvPr>
            <p:ph type="title"/>
          </p:nvPr>
        </p:nvSpPr>
        <p:spPr>
          <a:xfrm>
            <a:off x="311300" y="500925"/>
            <a:ext cx="3704400" cy="2049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02" name="Google Shape;202;p26"/>
          <p:cNvSpPr txBox="1"/>
          <p:nvPr>
            <p:ph idx="1" type="subTitle"/>
          </p:nvPr>
        </p:nvSpPr>
        <p:spPr>
          <a:xfrm>
            <a:off x="304800" y="2626725"/>
            <a:ext cx="3704400" cy="9267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203" name="Google Shape;203;p26"/>
          <p:cNvSpPr txBox="1"/>
          <p:nvPr>
            <p:ph idx="2" type="body"/>
          </p:nvPr>
        </p:nvSpPr>
        <p:spPr>
          <a:xfrm>
            <a:off x="4879025" y="500925"/>
            <a:ext cx="3954000" cy="41115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04" name="Google Shape;204;p2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5" name="Shape 205"/>
        <p:cNvGrpSpPr/>
        <p:nvPr/>
      </p:nvGrpSpPr>
      <p:grpSpPr>
        <a:xfrm>
          <a:off x="0" y="0"/>
          <a:ext cx="0" cy="0"/>
          <a:chOff x="0" y="0"/>
          <a:chExt cx="0" cy="0"/>
        </a:xfrm>
      </p:grpSpPr>
      <p:sp>
        <p:nvSpPr>
          <p:cNvPr id="206" name="Google Shape;206;p27"/>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7"/>
          <p:cNvSpPr txBox="1"/>
          <p:nvPr>
            <p:ph idx="1" type="body"/>
          </p:nvPr>
        </p:nvSpPr>
        <p:spPr>
          <a:xfrm>
            <a:off x="311700" y="4521400"/>
            <a:ext cx="7979400" cy="4605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08" name="Google Shape;208;p2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09" name="Shape 209"/>
        <p:cNvGrpSpPr/>
        <p:nvPr/>
      </p:nvGrpSpPr>
      <p:grpSpPr>
        <a:xfrm>
          <a:off x="0" y="0"/>
          <a:ext cx="0" cy="0"/>
          <a:chOff x="0" y="0"/>
          <a:chExt cx="0" cy="0"/>
        </a:xfrm>
      </p:grpSpPr>
      <p:sp>
        <p:nvSpPr>
          <p:cNvPr id="210" name="Google Shape;210;p28"/>
          <p:cNvSpPr txBox="1"/>
          <p:nvPr>
            <p:ph hasCustomPrompt="1" type="title"/>
          </p:nvPr>
        </p:nvSpPr>
        <p:spPr>
          <a:xfrm>
            <a:off x="311750" y="831175"/>
            <a:ext cx="5334900" cy="12447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11" name="Google Shape;211;p28"/>
          <p:cNvSpPr txBox="1"/>
          <p:nvPr>
            <p:ph idx="1" type="body"/>
          </p:nvPr>
        </p:nvSpPr>
        <p:spPr>
          <a:xfrm>
            <a:off x="311700" y="2121425"/>
            <a:ext cx="5334900" cy="9426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212" name="Google Shape;212;p2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3" name="Shape 213"/>
        <p:cNvGrpSpPr/>
        <p:nvPr/>
      </p:nvGrpSpPr>
      <p:grpSpPr>
        <a:xfrm>
          <a:off x="0" y="0"/>
          <a:ext cx="0" cy="0"/>
          <a:chOff x="0" y="0"/>
          <a:chExt cx="0" cy="0"/>
        </a:xfrm>
      </p:grpSpPr>
      <p:sp>
        <p:nvSpPr>
          <p:cNvPr id="214" name="Google Shape;214;p2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15" name="Shape 215"/>
        <p:cNvGrpSpPr/>
        <p:nvPr/>
      </p:nvGrpSpPr>
      <p:grpSpPr>
        <a:xfrm>
          <a:off x="0" y="0"/>
          <a:ext cx="0" cy="0"/>
          <a:chOff x="0" y="0"/>
          <a:chExt cx="0" cy="0"/>
        </a:xfrm>
      </p:grpSpPr>
      <p:sp>
        <p:nvSpPr>
          <p:cNvPr id="216" name="Google Shape;216;p3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30"/>
          <p:cNvSpPr txBox="1"/>
          <p:nvPr>
            <p:ph type="title"/>
          </p:nvPr>
        </p:nvSpPr>
        <p:spPr>
          <a:xfrm>
            <a:off x="311700" y="315925"/>
            <a:ext cx="8520600" cy="8313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8" name="Google Shape;218;p30"/>
          <p:cNvSpPr txBox="1"/>
          <p:nvPr>
            <p:ph idx="1" type="body"/>
          </p:nvPr>
        </p:nvSpPr>
        <p:spPr>
          <a:xfrm>
            <a:off x="311700" y="1225225"/>
            <a:ext cx="8520600" cy="33540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19" name="Google Shape;219;p30"/>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20" name="Shape 220"/>
        <p:cNvGrpSpPr/>
        <p:nvPr/>
      </p:nvGrpSpPr>
      <p:grpSpPr>
        <a:xfrm>
          <a:off x="0" y="0"/>
          <a:ext cx="0" cy="0"/>
          <a:chOff x="0" y="0"/>
          <a:chExt cx="0" cy="0"/>
        </a:xfrm>
      </p:grpSpPr>
      <p:sp>
        <p:nvSpPr>
          <p:cNvPr id="221" name="Google Shape;221;p31"/>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2" name="Google Shape;222;p31"/>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23" name="Google Shape;223;p3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7.xml"/><Relationship Id="rId10" Type="http://schemas.openxmlformats.org/officeDocument/2006/relationships/slideLayout" Target="../slideLayouts/slideLayout26.xml"/><Relationship Id="rId13" Type="http://schemas.openxmlformats.org/officeDocument/2006/relationships/slideLayout" Target="../slideLayouts/slideLayout29.xml"/><Relationship Id="rId12" Type="http://schemas.openxmlformats.org/officeDocument/2006/relationships/slideLayout" Target="../slideLayouts/slideLayout28.xml"/><Relationship Id="rId1" Type="http://schemas.openxmlformats.org/officeDocument/2006/relationships/slideLayout" Target="../slideLayouts/slideLayout17.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 Id="rId5" Type="http://schemas.openxmlformats.org/officeDocument/2006/relationships/slideLayout" Target="../slideLayouts/slideLayout21.xml"/><Relationship Id="rId6" Type="http://schemas.openxmlformats.org/officeDocument/2006/relationships/slideLayout" Target="../slideLayouts/slideLayout22.xml"/><Relationship Id="rId7" Type="http://schemas.openxmlformats.org/officeDocument/2006/relationships/slideLayout" Target="../slideLayouts/slideLayout23.xml"/><Relationship Id="rId8"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156" name="Shape 156"/>
        <p:cNvGrpSpPr/>
        <p:nvPr/>
      </p:nvGrpSpPr>
      <p:grpSpPr>
        <a:xfrm>
          <a:off x="0" y="0"/>
          <a:ext cx="0" cy="0"/>
          <a:chOff x="0" y="0"/>
          <a:chExt cx="0" cy="0"/>
        </a:xfrm>
      </p:grpSpPr>
      <p:sp>
        <p:nvSpPr>
          <p:cNvPr id="157" name="Google Shape;157;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158" name="Google Shape;158;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159" name="Google Shape;159;p18"/>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hyperlink" Target="https://docs.oracle.com/en/java/javase/21/docs/api/java.base/java/util/concurrent/Executors.html#newCachedThreadPool()" TargetMode="External"/><Relationship Id="rId4" Type="http://schemas.openxmlformats.org/officeDocument/2006/relationships/hyperlink" Target="https://docs.oracle.com/en/java/javase/21/docs/api/java.base/java/util/concurrent/Executors.html#newFixedThreadPool(int)" TargetMode="External"/><Relationship Id="rId5" Type="http://schemas.openxmlformats.org/officeDocument/2006/relationships/hyperlink" Target="https://docs.oracle.com/en/java/javase/21/docs/api/java.base/java/util/concurrent/Executors.html#newSingleThreadExecutor()"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3.xml"/><Relationship Id="rId3"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1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3.png"/><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13.png"/><Relationship Id="rId4" Type="http://schemas.openxmlformats.org/officeDocument/2006/relationships/image" Target="../media/image1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11.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2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18.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20.png"/><Relationship Id="rId4" Type="http://schemas.openxmlformats.org/officeDocument/2006/relationships/image" Target="../media/image11.png"/><Relationship Id="rId5" Type="http://schemas.openxmlformats.org/officeDocument/2006/relationships/image" Target="../media/image13.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20.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1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6.xml"/><Relationship Id="rId3"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image" Target="../media/image1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51.xml"/><Relationship Id="rId3" Type="http://schemas.openxmlformats.org/officeDocument/2006/relationships/hyperlink" Target="https://docs.google.com/presentation/d/1lqcS1-2LFdoaMcKuy1yeikRurAKHLyyKb2KZ5a2rMdQ/edit#slide=id.gc973538050_1_172" TargetMode="External"/><Relationship Id="rId4" Type="http://schemas.openxmlformats.org/officeDocument/2006/relationships/hyperlink" Target="https://docs.google.com/presentation/d/1lqcS1-2LFdoaMcKuy1yeikRurAKHLyyKb2KZ5a2rMdQ/edit#slide=id.gc973538050_1_246" TargetMode="External"/><Relationship Id="rId5" Type="http://schemas.openxmlformats.org/officeDocument/2006/relationships/hyperlink" Target="https://docs.google.com/presentation/d/1lqcS1-2LFdoaMcKuy1yeikRurAKHLyyKb2KZ5a2rMdQ/edit#slide=id.g21cc4f74f13_0_60" TargetMode="External"/><Relationship Id="rId6" Type="http://schemas.openxmlformats.org/officeDocument/2006/relationships/hyperlink" Target="https://docs.google.com/presentation/d/1lqcS1-2LFdoaMcKuy1yeikRurAKHLyyKb2KZ5a2rMdQ/edit#slide=id.g21c6847f24b_0_36"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17.png"/><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2"/>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GCIS-124</a:t>
            </a:r>
            <a:endParaRPr/>
          </a:p>
          <a:p>
            <a:pPr indent="0" lvl="0" marL="0" rtl="0" algn="l">
              <a:spcBef>
                <a:spcPts val="0"/>
              </a:spcBef>
              <a:spcAft>
                <a:spcPts val="0"/>
              </a:spcAft>
              <a:buNone/>
            </a:pPr>
            <a:r>
              <a:rPr lang="en" sz="3100"/>
              <a:t>Software Development &amp; Problem Solving</a:t>
            </a:r>
            <a:endParaRPr sz="3100"/>
          </a:p>
        </p:txBody>
      </p:sp>
      <p:sp>
        <p:nvSpPr>
          <p:cNvPr id="229" name="Google Shape;229;p32"/>
          <p:cNvSpPr txBox="1"/>
          <p:nvPr>
            <p:ph idx="1" type="subTitle"/>
          </p:nvPr>
        </p:nvSpPr>
        <p:spPr>
          <a:xfrm>
            <a:off x="387900" y="1878550"/>
            <a:ext cx="4741200" cy="950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en" sz="2600"/>
              <a:t>8: Concurrent Programming</a:t>
            </a:r>
            <a:endParaRPr i="1" sz="2600">
              <a:solidFill>
                <a:srgbClr val="FF0000"/>
              </a:solidFill>
            </a:endParaRPr>
          </a:p>
        </p:txBody>
      </p:sp>
      <p:grpSp>
        <p:nvGrpSpPr>
          <p:cNvPr id="230" name="Google Shape;230;p32"/>
          <p:cNvGrpSpPr/>
          <p:nvPr/>
        </p:nvGrpSpPr>
        <p:grpSpPr>
          <a:xfrm>
            <a:off x="5001999" y="4264475"/>
            <a:ext cx="3908400" cy="738300"/>
            <a:chOff x="5001999" y="4264475"/>
            <a:chExt cx="3908400" cy="738300"/>
          </a:xfrm>
        </p:grpSpPr>
        <p:sp>
          <p:nvSpPr>
            <p:cNvPr id="231" name="Google Shape;231;p32"/>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32" name="Google Shape;232;p32"/>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3"/>
          <p:cNvSpPr txBox="1"/>
          <p:nvPr>
            <p:ph type="title"/>
          </p:nvPr>
        </p:nvSpPr>
        <p:spPr>
          <a:xfrm>
            <a:off x="311725" y="272325"/>
            <a:ext cx="3706500" cy="822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Threads</a:t>
            </a:r>
            <a:endParaRPr/>
          </a:p>
        </p:txBody>
      </p:sp>
      <p:sp>
        <p:nvSpPr>
          <p:cNvPr id="238" name="Google Shape;238;p33"/>
          <p:cNvSpPr txBox="1"/>
          <p:nvPr>
            <p:ph idx="1" type="body"/>
          </p:nvPr>
        </p:nvSpPr>
        <p:spPr>
          <a:xfrm>
            <a:off x="4644675" y="509600"/>
            <a:ext cx="4166400" cy="3491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all modern OS's, multiple tasks can be running at the same time. This week we will look at how to </a:t>
            </a:r>
            <a:r>
              <a:rPr lang="en"/>
              <a:t>allow our programs to run multiple simultaneous tasks using threads.</a:t>
            </a:r>
            <a:r>
              <a:rPr lang="en"/>
              <a:t> </a:t>
            </a:r>
            <a:endParaRPr/>
          </a:p>
          <a:p>
            <a:pPr indent="-311150" lvl="0" marL="457200" rtl="0" algn="l">
              <a:spcBef>
                <a:spcPts val="1000"/>
              </a:spcBef>
              <a:spcAft>
                <a:spcPts val="0"/>
              </a:spcAft>
              <a:buSzPts val="1300"/>
              <a:buChar char="●"/>
            </a:pPr>
            <a:r>
              <a:rPr lang="en"/>
              <a:t>We will be exploring </a:t>
            </a:r>
            <a:r>
              <a:rPr lang="en"/>
              <a:t>different</a:t>
            </a:r>
            <a:r>
              <a:rPr lang="en"/>
              <a:t> ways to create and control threads, including:</a:t>
            </a:r>
            <a:endParaRPr/>
          </a:p>
          <a:p>
            <a:pPr indent="-298450" lvl="1" marL="914400" rtl="0" algn="l">
              <a:spcBef>
                <a:spcPts val="0"/>
              </a:spcBef>
              <a:spcAft>
                <a:spcPts val="0"/>
              </a:spcAft>
              <a:buSzPts val="1100"/>
              <a:buChar char="○"/>
            </a:pPr>
            <a:r>
              <a:rPr lang="en">
                <a:latin typeface="Courier New"/>
                <a:ea typeface="Courier New"/>
                <a:cs typeface="Courier New"/>
                <a:sym typeface="Courier New"/>
              </a:rPr>
              <a:t>Thread</a:t>
            </a:r>
            <a:endParaRPr/>
          </a:p>
          <a:p>
            <a:pPr indent="-298450" lvl="1" marL="914400" rtl="0" algn="l">
              <a:spcBef>
                <a:spcPts val="0"/>
              </a:spcBef>
              <a:spcAft>
                <a:spcPts val="0"/>
              </a:spcAft>
              <a:buSzPts val="1100"/>
              <a:buChar char="○"/>
            </a:pPr>
            <a:r>
              <a:rPr lang="en">
                <a:latin typeface="Courier New"/>
                <a:ea typeface="Courier New"/>
                <a:cs typeface="Courier New"/>
                <a:sym typeface="Courier New"/>
              </a:rPr>
              <a:t>Runnable</a:t>
            </a:r>
            <a:endParaRPr/>
          </a:p>
          <a:p>
            <a:pPr indent="-298450" lvl="1" marL="914400" rtl="0" algn="l">
              <a:spcBef>
                <a:spcPts val="0"/>
              </a:spcBef>
              <a:spcAft>
                <a:spcPts val="0"/>
              </a:spcAft>
              <a:buSzPts val="1100"/>
              <a:buFont typeface="Courier New"/>
              <a:buChar char="○"/>
            </a:pPr>
            <a:r>
              <a:rPr lang="en">
                <a:latin typeface="Courier New"/>
                <a:ea typeface="Courier New"/>
                <a:cs typeface="Courier New"/>
                <a:sym typeface="Courier New"/>
              </a:rPr>
              <a:t>Sleep</a:t>
            </a:r>
            <a:endParaRPr>
              <a:latin typeface="Courier New"/>
              <a:ea typeface="Courier New"/>
              <a:cs typeface="Courier New"/>
              <a:sym typeface="Courier New"/>
            </a:endParaRPr>
          </a:p>
          <a:p>
            <a:pPr indent="-298450" lvl="1" marL="914400" rtl="0" algn="l">
              <a:spcBef>
                <a:spcPts val="0"/>
              </a:spcBef>
              <a:spcAft>
                <a:spcPts val="0"/>
              </a:spcAft>
              <a:buSzPts val="1100"/>
              <a:buFont typeface="Courier New"/>
              <a:buChar char="○"/>
            </a:pPr>
            <a:r>
              <a:rPr lang="en">
                <a:latin typeface="Courier New"/>
                <a:ea typeface="Courier New"/>
                <a:cs typeface="Courier New"/>
                <a:sym typeface="Courier New"/>
              </a:rPr>
              <a:t>Join</a:t>
            </a:r>
            <a:endParaRPr>
              <a:latin typeface="Courier New"/>
              <a:ea typeface="Courier New"/>
              <a:cs typeface="Courier New"/>
              <a:sym typeface="Courier New"/>
            </a:endParaRPr>
          </a:p>
          <a:p>
            <a:pPr indent="-311150" lvl="0" marL="457200" rtl="0" algn="l">
              <a:spcBef>
                <a:spcPts val="1000"/>
              </a:spcBef>
              <a:spcAft>
                <a:spcPts val="0"/>
              </a:spcAft>
              <a:buSzPts val="1300"/>
              <a:buChar char="●"/>
            </a:pPr>
            <a:r>
              <a:rPr lang="en"/>
              <a:t>Today we will specifically be focusing the creation of a thread. We will also briefly discuss how operating systems manage threads and some terminology associated with them.</a:t>
            </a:r>
            <a:endParaRPr/>
          </a:p>
        </p:txBody>
      </p:sp>
      <p:sp>
        <p:nvSpPr>
          <p:cNvPr id="239" name="Google Shape;239;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 name="Google Shape;240;p33"/>
          <p:cNvSpPr txBox="1"/>
          <p:nvPr>
            <p:ph idx="3" type="body"/>
          </p:nvPr>
        </p:nvSpPr>
        <p:spPr>
          <a:xfrm>
            <a:off x="234775" y="4221925"/>
            <a:ext cx="3757800" cy="581700"/>
          </a:xfrm>
          <a:prstGeom prst="rect">
            <a:avLst/>
          </a:prstGeom>
        </p:spPr>
        <p:txBody>
          <a:bodyPr anchorCtr="0" anchor="ctr" bIns="91425" lIns="91425" spcFirstLastPara="1" rIns="91425" wrap="square" tIns="91425">
            <a:spAutoFit/>
          </a:bodyPr>
          <a:lstStyle/>
          <a:p>
            <a:pPr indent="0" lvl="0" marL="0" rtl="0" algn="l">
              <a:lnSpc>
                <a:spcPct val="115000"/>
              </a:lnSpc>
              <a:spcBef>
                <a:spcPts val="0"/>
              </a:spcBef>
              <a:spcAft>
                <a:spcPts val="0"/>
              </a:spcAft>
              <a:buNone/>
            </a:pPr>
            <a:r>
              <a:rPr lang="en"/>
              <a:t>This week we will be discussing </a:t>
            </a:r>
            <a:r>
              <a:rPr b="1" i="1" lang="en">
                <a:solidFill>
                  <a:srgbClr val="FF0000"/>
                </a:solidFill>
              </a:rPr>
              <a:t>concurrency </a:t>
            </a:r>
            <a:r>
              <a:rPr lang="en"/>
              <a:t>and the tools by which we use it, mainly threads.</a:t>
            </a:r>
            <a:endParaRPr sz="1200"/>
          </a:p>
        </p:txBody>
      </p:sp>
      <p:pic>
        <p:nvPicPr>
          <p:cNvPr id="241" name="Google Shape;241;p33"/>
          <p:cNvPicPr preferRelativeResize="0"/>
          <p:nvPr/>
        </p:nvPicPr>
        <p:blipFill rotWithShape="1">
          <a:blip r:embed="rId3">
            <a:alphaModFix/>
          </a:blip>
          <a:srcRect b="15894" l="0" r="0" t="4558"/>
          <a:stretch/>
        </p:blipFill>
        <p:spPr>
          <a:xfrm>
            <a:off x="846464" y="1088250"/>
            <a:ext cx="2637016" cy="2966988"/>
          </a:xfrm>
          <a:prstGeom prst="rect">
            <a:avLst/>
          </a:prstGeom>
          <a:noFill/>
          <a:ln cap="flat" cmpd="sng" w="19050">
            <a:solidFill>
              <a:schemeClr val="accen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Let's Race</a:t>
            </a:r>
            <a:endParaRPr/>
          </a:p>
        </p:txBody>
      </p:sp>
      <p:sp>
        <p:nvSpPr>
          <p:cNvPr id="247" name="Google Shape;247;p34"/>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warm up today by creating a small racing game. To start, we'll make a racer that knows how to race some number of laps.</a:t>
            </a:r>
            <a:endParaRPr/>
          </a:p>
        </p:txBody>
      </p:sp>
      <p:sp>
        <p:nvSpPr>
          <p:cNvPr id="248" name="Google Shape;248;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9" name="Google Shape;249;p34"/>
          <p:cNvSpPr txBox="1"/>
          <p:nvPr>
            <p:ph idx="2" type="body"/>
          </p:nvPr>
        </p:nvSpPr>
        <p:spPr>
          <a:xfrm>
            <a:off x="3165300" y="1445925"/>
            <a:ext cx="5775900" cy="28674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package named </a:t>
            </a:r>
            <a:r>
              <a:rPr lang="en">
                <a:solidFill>
                  <a:srgbClr val="FF0000"/>
                </a:solidFill>
                <a:latin typeface="Courier New"/>
                <a:ea typeface="Courier New"/>
                <a:cs typeface="Courier New"/>
                <a:sym typeface="Courier New"/>
              </a:rPr>
              <a:t>racing</a:t>
            </a:r>
            <a:r>
              <a:rPr lang="en"/>
              <a:t>. Inside the package, make a new class using the UML on the left as a guide.</a:t>
            </a:r>
            <a:endParaRPr/>
          </a:p>
          <a:p>
            <a:pPr indent="-311150" lvl="0" marL="457200" rtl="0" algn="l">
              <a:spcBef>
                <a:spcPts val="0"/>
              </a:spcBef>
              <a:spcAft>
                <a:spcPts val="0"/>
              </a:spcAft>
              <a:buSzPts val="1300"/>
              <a:buChar char="●"/>
            </a:pPr>
            <a:r>
              <a:rPr lang="en"/>
              <a:t>For the </a:t>
            </a:r>
            <a:r>
              <a:rPr lang="en">
                <a:solidFill>
                  <a:srgbClr val="FF0000"/>
                </a:solidFill>
                <a:latin typeface="Courier New"/>
                <a:ea typeface="Courier New"/>
                <a:cs typeface="Courier New"/>
                <a:sym typeface="Courier New"/>
              </a:rPr>
              <a:t>race()</a:t>
            </a:r>
            <a:r>
              <a:rPr lang="en"/>
              <a:t> method:</a:t>
            </a:r>
            <a:endParaRPr/>
          </a:p>
          <a:p>
            <a:pPr indent="-298450" lvl="1" marL="914400" rtl="0" algn="l">
              <a:spcBef>
                <a:spcPts val="0"/>
              </a:spcBef>
              <a:spcAft>
                <a:spcPts val="0"/>
              </a:spcAft>
              <a:buSzPts val="1100"/>
              <a:buChar char="○"/>
            </a:pPr>
            <a:r>
              <a:rPr lang="en"/>
              <a:t>Store the starting time (</a:t>
            </a:r>
            <a:r>
              <a:rPr lang="en">
                <a:solidFill>
                  <a:srgbClr val="FF0000"/>
                </a:solidFill>
                <a:latin typeface="Courier New"/>
                <a:ea typeface="Courier New"/>
                <a:cs typeface="Courier New"/>
                <a:sym typeface="Courier New"/>
              </a:rPr>
              <a:t>System.nanoTime()</a:t>
            </a:r>
            <a:r>
              <a:rPr lang="en"/>
              <a:t>).</a:t>
            </a:r>
            <a:endParaRPr/>
          </a:p>
          <a:p>
            <a:pPr indent="-298450" lvl="1" marL="914400" rtl="0" algn="l">
              <a:spcBef>
                <a:spcPts val="0"/>
              </a:spcBef>
              <a:spcAft>
                <a:spcPts val="0"/>
              </a:spcAft>
              <a:buSzPts val="1100"/>
              <a:buChar char="○"/>
            </a:pPr>
            <a:r>
              <a:rPr lang="en"/>
              <a:t>For </a:t>
            </a:r>
            <a:r>
              <a:rPr lang="en">
                <a:solidFill>
                  <a:srgbClr val="FF0000"/>
                </a:solidFill>
                <a:latin typeface="Courier New"/>
                <a:ea typeface="Courier New"/>
                <a:cs typeface="Courier New"/>
                <a:sym typeface="Courier New"/>
              </a:rPr>
              <a:t>numLaps</a:t>
            </a:r>
            <a:r>
              <a:rPr lang="en"/>
              <a:t>, if </a:t>
            </a:r>
            <a:r>
              <a:rPr lang="en">
                <a:latin typeface="Courier New"/>
                <a:ea typeface="Courier New"/>
                <a:cs typeface="Courier New"/>
                <a:sym typeface="Courier New"/>
              </a:rPr>
              <a:t>debug</a:t>
            </a:r>
            <a:r>
              <a:rPr lang="en"/>
              <a:t> is </a:t>
            </a:r>
            <a:r>
              <a:rPr b="1" i="1" lang="en">
                <a:solidFill>
                  <a:srgbClr val="FF0000"/>
                </a:solidFill>
              </a:rPr>
              <a:t>enabled</a:t>
            </a:r>
            <a:r>
              <a:rPr lang="en"/>
              <a:t>, print a message in the format:</a:t>
            </a:r>
            <a:endParaRPr/>
          </a:p>
          <a:p>
            <a:pPr indent="0" lvl="0" marL="914400" rtl="0" algn="l">
              <a:spcBef>
                <a:spcPts val="0"/>
              </a:spcBef>
              <a:spcAft>
                <a:spcPts val="0"/>
              </a:spcAft>
              <a:buNone/>
            </a:pPr>
            <a:r>
              <a:rPr lang="en" sz="1100">
                <a:solidFill>
                  <a:srgbClr val="FF0000"/>
                </a:solidFill>
                <a:latin typeface="Courier New"/>
                <a:ea typeface="Courier New"/>
                <a:cs typeface="Courier New"/>
                <a:sym typeface="Courier New"/>
              </a:rPr>
              <a:t>&lt;name&gt; completed &lt;lap&gt;</a:t>
            </a:r>
            <a:endParaRPr sz="1100">
              <a:solidFill>
                <a:srgbClr val="FF0000"/>
              </a:solidFill>
              <a:latin typeface="Courier New"/>
              <a:ea typeface="Courier New"/>
              <a:cs typeface="Courier New"/>
              <a:sym typeface="Courier New"/>
            </a:endParaRPr>
          </a:p>
          <a:p>
            <a:pPr indent="-298450" lvl="1" marL="914400" rtl="0" algn="l">
              <a:spcBef>
                <a:spcPts val="0"/>
              </a:spcBef>
              <a:spcAft>
                <a:spcPts val="0"/>
              </a:spcAft>
              <a:buSzPts val="1100"/>
              <a:buChar char="○"/>
            </a:pPr>
            <a:r>
              <a:rPr lang="en"/>
              <a:t>Subtract</a:t>
            </a:r>
            <a:r>
              <a:rPr lang="en"/>
              <a:t> the starting time from the ending time and store that in </a:t>
            </a:r>
            <a:r>
              <a:rPr lang="en">
                <a:latin typeface="Courier New"/>
                <a:ea typeface="Courier New"/>
                <a:cs typeface="Courier New"/>
                <a:sym typeface="Courier New"/>
              </a:rPr>
              <a:t>time</a:t>
            </a:r>
            <a:r>
              <a:rPr lang="en"/>
              <a:t>.</a:t>
            </a:r>
            <a:endParaRPr/>
          </a:p>
          <a:p>
            <a:pPr indent="-311150" lvl="0" marL="457200" rtl="0" algn="l">
              <a:spcBef>
                <a:spcPts val="0"/>
              </a:spcBef>
              <a:spcAft>
                <a:spcPts val="0"/>
              </a:spcAft>
              <a:buSzPts val="1300"/>
              <a:buChar char="●"/>
            </a:pPr>
            <a:r>
              <a:rPr lang="en">
                <a:latin typeface="Courier New"/>
                <a:ea typeface="Courier New"/>
                <a:cs typeface="Courier New"/>
                <a:sym typeface="Courier New"/>
              </a:rPr>
              <a:t>getFinishTime()</a:t>
            </a:r>
            <a:r>
              <a:rPr lang="en"/>
              <a:t> should return the time in </a:t>
            </a:r>
            <a:r>
              <a:rPr b="1" i="1" lang="en">
                <a:solidFill>
                  <a:srgbClr val="FF0000"/>
                </a:solidFill>
              </a:rPr>
              <a:t>seconds</a:t>
            </a:r>
            <a:r>
              <a:rPr lang="en"/>
              <a:t> </a:t>
            </a:r>
            <a:r>
              <a:rPr lang="en"/>
              <a:t>instead of the nanoseconds (ns) </a:t>
            </a:r>
            <a:r>
              <a:rPr lang="en">
                <a:latin typeface="Courier New"/>
                <a:ea typeface="Courier New"/>
                <a:cs typeface="Courier New"/>
                <a:sym typeface="Courier New"/>
              </a:rPr>
              <a:t>nanoTime</a:t>
            </a:r>
            <a:r>
              <a:rPr lang="en"/>
              <a:t> returns. (1 second = </a:t>
            </a:r>
            <a:r>
              <a:rPr lang="en"/>
              <a:t>1,000,000</a:t>
            </a:r>
            <a:r>
              <a:rPr lang="en"/>
              <a:t>,000</a:t>
            </a:r>
            <a:r>
              <a:rPr lang="en"/>
              <a:t> ns)</a:t>
            </a:r>
            <a:endParaRPr/>
          </a:p>
          <a:p>
            <a:pPr indent="-298450" lvl="1" marL="914400" rtl="0" algn="l">
              <a:spcBef>
                <a:spcPts val="0"/>
              </a:spcBef>
              <a:spcAft>
                <a:spcPts val="0"/>
              </a:spcAft>
              <a:buSzPts val="1100"/>
              <a:buChar char="○"/>
            </a:pPr>
            <a:r>
              <a:rPr lang="en"/>
              <a:t>You can write this in code as </a:t>
            </a:r>
            <a:r>
              <a:rPr lang="en">
                <a:latin typeface="Courier New"/>
                <a:ea typeface="Courier New"/>
                <a:cs typeface="Courier New"/>
                <a:sym typeface="Courier New"/>
              </a:rPr>
              <a:t>1_000_000_000</a:t>
            </a:r>
            <a:r>
              <a:rPr lang="en"/>
              <a:t>.</a:t>
            </a:r>
            <a:endParaRPr/>
          </a:p>
          <a:p>
            <a:pPr indent="-311150" lvl="0" marL="457200" rtl="0" algn="l">
              <a:spcBef>
                <a:spcPts val="1000"/>
              </a:spcBef>
              <a:spcAft>
                <a:spcPts val="0"/>
              </a:spcAft>
              <a:buSzPts val="1300"/>
              <a:buChar char="●"/>
            </a:pPr>
            <a:r>
              <a:rPr lang="en"/>
              <a:t>In main, create a racer and have them race for 10 laps with debug enabled. Print out their finish time.</a:t>
            </a:r>
            <a:endParaRPr/>
          </a:p>
        </p:txBody>
      </p:sp>
      <p:sp>
        <p:nvSpPr>
          <p:cNvPr id="250" name="Google Shape;250;p3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8.1</a:t>
            </a:r>
            <a:endParaRPr/>
          </a:p>
        </p:txBody>
      </p:sp>
      <p:pic>
        <p:nvPicPr>
          <p:cNvPr id="251" name="Google Shape;251;p34"/>
          <p:cNvPicPr preferRelativeResize="0"/>
          <p:nvPr/>
        </p:nvPicPr>
        <p:blipFill>
          <a:blip r:embed="rId3">
            <a:alphaModFix/>
          </a:blip>
          <a:stretch>
            <a:fillRect/>
          </a:stretch>
        </p:blipFill>
        <p:spPr>
          <a:xfrm>
            <a:off x="172575" y="1530950"/>
            <a:ext cx="2849025" cy="3392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5"/>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race with only one racer isn't that exciting. Let's add a couple more racers and see what happens.</a:t>
            </a:r>
            <a:endParaRPr/>
          </a:p>
        </p:txBody>
      </p:sp>
      <p:sp>
        <p:nvSpPr>
          <p:cNvPr id="257" name="Google Shape;257;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35"/>
          <p:cNvSpPr txBox="1"/>
          <p:nvPr>
            <p:ph idx="2" type="body"/>
          </p:nvPr>
        </p:nvSpPr>
        <p:spPr>
          <a:xfrm>
            <a:off x="3015150" y="1485400"/>
            <a:ext cx="5926200" cy="2017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Start by creating a new class in racing named Race.</a:t>
            </a:r>
            <a:endParaRPr/>
          </a:p>
          <a:p>
            <a:pPr indent="-311150" lvl="0" marL="457200" rtl="0" algn="l">
              <a:spcBef>
                <a:spcPts val="0"/>
              </a:spcBef>
              <a:spcAft>
                <a:spcPts val="0"/>
              </a:spcAft>
              <a:buSzPts val="1300"/>
              <a:buChar char="●"/>
            </a:pPr>
            <a:r>
              <a:rPr lang="en"/>
              <a:t>In main:</a:t>
            </a:r>
            <a:endParaRPr/>
          </a:p>
          <a:p>
            <a:pPr indent="-298450" lvl="1" marL="914400" rtl="0" algn="l">
              <a:spcBef>
                <a:spcPts val="0"/>
              </a:spcBef>
              <a:spcAft>
                <a:spcPts val="0"/>
              </a:spcAft>
              <a:buSzPts val="1100"/>
              <a:buChar char="○"/>
            </a:pPr>
            <a:r>
              <a:rPr lang="en"/>
              <a:t>Create 3 racers that will race for 10 laps (with debug enabled)</a:t>
            </a:r>
            <a:endParaRPr/>
          </a:p>
          <a:p>
            <a:pPr indent="-298450" lvl="1" marL="914400" rtl="0" algn="l">
              <a:spcBef>
                <a:spcPts val="0"/>
              </a:spcBef>
              <a:spcAft>
                <a:spcPts val="0"/>
              </a:spcAft>
              <a:buSzPts val="1100"/>
              <a:buChar char="○"/>
            </a:pPr>
            <a:r>
              <a:rPr lang="en"/>
              <a:t>Have each racer race</a:t>
            </a:r>
            <a:endParaRPr/>
          </a:p>
          <a:p>
            <a:pPr indent="-298450" lvl="1" marL="914400" rtl="0" algn="l">
              <a:spcBef>
                <a:spcPts val="0"/>
              </a:spcBef>
              <a:spcAft>
                <a:spcPts val="0"/>
              </a:spcAft>
              <a:buSzPts val="1100"/>
              <a:buChar char="○"/>
            </a:pPr>
            <a:r>
              <a:rPr lang="en"/>
              <a:t>Print out the finish time for each racer</a:t>
            </a:r>
            <a:endParaRPr/>
          </a:p>
          <a:p>
            <a:pPr indent="-311150" lvl="0" marL="457200" rtl="0" algn="l">
              <a:spcBef>
                <a:spcPts val="1000"/>
              </a:spcBef>
              <a:spcAft>
                <a:spcPts val="0"/>
              </a:spcAft>
              <a:buSzPts val="1300"/>
              <a:buChar char="●"/>
            </a:pPr>
            <a:r>
              <a:rPr lang="en"/>
              <a:t>Run your program a few times and take a look at the results</a:t>
            </a:r>
            <a:endParaRPr/>
          </a:p>
          <a:p>
            <a:pPr indent="-311150" lvl="0" marL="457200" rtl="0" algn="l">
              <a:spcBef>
                <a:spcPts val="0"/>
              </a:spcBef>
              <a:spcAft>
                <a:spcPts val="0"/>
              </a:spcAft>
              <a:buSzPts val="1300"/>
              <a:buChar char="●"/>
            </a:pPr>
            <a:r>
              <a:rPr lang="en"/>
              <a:t>In a comment block, describe what you are seeing and any issues you feel would make this an unfair race.</a:t>
            </a:r>
            <a:endParaRPr/>
          </a:p>
        </p:txBody>
      </p:sp>
      <p:sp>
        <p:nvSpPr>
          <p:cNvPr id="259" name="Google Shape;259;p3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More Racers</a:t>
            </a:r>
            <a:endParaRPr/>
          </a:p>
        </p:txBody>
      </p:sp>
      <p:sp>
        <p:nvSpPr>
          <p:cNvPr id="260" name="Google Shape;260;p3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8.2</a:t>
            </a:r>
            <a:endParaRPr/>
          </a:p>
        </p:txBody>
      </p:sp>
      <p:sp>
        <p:nvSpPr>
          <p:cNvPr id="261" name="Google Shape;261;p35"/>
          <p:cNvSpPr txBox="1"/>
          <p:nvPr>
            <p:ph idx="4" type="body"/>
          </p:nvPr>
        </p:nvSpPr>
        <p:spPr>
          <a:xfrm>
            <a:off x="239754" y="4350900"/>
            <a:ext cx="27699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More racers means more fun but is this really a fair race?</a:t>
            </a:r>
            <a:endParaRPr/>
          </a:p>
        </p:txBody>
      </p:sp>
      <p:pic>
        <p:nvPicPr>
          <p:cNvPr id="262" name="Google Shape;262;p35"/>
          <p:cNvPicPr preferRelativeResize="0"/>
          <p:nvPr/>
        </p:nvPicPr>
        <p:blipFill>
          <a:blip r:embed="rId3">
            <a:alphaModFix/>
          </a:blip>
          <a:stretch>
            <a:fillRect/>
          </a:stretch>
        </p:blipFill>
        <p:spPr>
          <a:xfrm>
            <a:off x="256384" y="1527763"/>
            <a:ext cx="2741284" cy="2741312"/>
          </a:xfrm>
          <a:prstGeom prst="rect">
            <a:avLst/>
          </a:prstGeom>
          <a:noFill/>
          <a:ln cap="flat" cmpd="sng" w="19050">
            <a:solidFill>
              <a:schemeClr val="dk1"/>
            </a:solidFill>
            <a:prstDash val="solid"/>
            <a:round/>
            <a:headEnd len="sm" w="sm" type="none"/>
            <a:tailEnd len="sm" w="sm" type="none"/>
          </a:ln>
        </p:spPr>
      </p:pic>
      <p:sp>
        <p:nvSpPr>
          <p:cNvPr id="263" name="Google Shape;263;p35"/>
          <p:cNvSpPr/>
          <p:nvPr/>
        </p:nvSpPr>
        <p:spPr>
          <a:xfrm>
            <a:off x="759125" y="1816875"/>
            <a:ext cx="909000" cy="196500"/>
          </a:xfrm>
          <a:prstGeom prst="rect">
            <a:avLst/>
          </a:prstGeom>
          <a:solidFill>
            <a:srgbClr val="000000"/>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264" name="Google Shape;264;p35"/>
          <p:cNvSpPr/>
          <p:nvPr/>
        </p:nvSpPr>
        <p:spPr>
          <a:xfrm>
            <a:off x="702936" y="1810918"/>
            <a:ext cx="990106" cy="196500"/>
          </a:xfrm>
          <a:prstGeom prst="rect">
            <a:avLst/>
          </a:prstGeom>
        </p:spPr>
        <p:txBody>
          <a:bodyPr>
            <a:prstTxWarp prst="textPlain"/>
          </a:bodyPr>
          <a:lstStyle/>
          <a:p>
            <a:pPr lvl="0" algn="ctr"/>
            <a:r>
              <a:rPr b="1" i="1">
                <a:ln cap="flat" cmpd="sng" w="9525">
                  <a:solidFill>
                    <a:srgbClr val="000000"/>
                  </a:solidFill>
                  <a:prstDash val="solid"/>
                  <a:round/>
                  <a:headEnd len="sm" w="sm" type="none"/>
                  <a:tailEnd len="sm" w="sm" type="none"/>
                </a:ln>
                <a:gradFill>
                  <a:gsLst>
                    <a:gs pos="0">
                      <a:srgbClr val="FFFFFF"/>
                    </a:gs>
                    <a:gs pos="100000">
                      <a:srgbClr val="D0BDAB"/>
                    </a:gs>
                  </a:gsLst>
                  <a:path path="circle">
                    <a:fillToRect b="50%" l="50%" r="50%" t="50%"/>
                  </a:path>
                  <a:tileRect/>
                </a:gradFill>
                <a:latin typeface="Impact"/>
              </a:rPr>
              <a:t>GCIS</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6"/>
          <p:cNvSpPr txBox="1"/>
          <p:nvPr>
            <p:ph type="title"/>
          </p:nvPr>
        </p:nvSpPr>
        <p:spPr>
          <a:xfrm>
            <a:off x="5264725" y="500925"/>
            <a:ext cx="3706500" cy="63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Processes</a:t>
            </a:r>
            <a:endParaRPr/>
          </a:p>
        </p:txBody>
      </p:sp>
      <p:sp>
        <p:nvSpPr>
          <p:cNvPr id="270" name="Google Shape;270;p36"/>
          <p:cNvSpPr txBox="1"/>
          <p:nvPr>
            <p:ph idx="1" type="body"/>
          </p:nvPr>
        </p:nvSpPr>
        <p:spPr>
          <a:xfrm>
            <a:off x="377475" y="272325"/>
            <a:ext cx="4166400" cy="4738200"/>
          </a:xfrm>
          <a:prstGeom prst="rect">
            <a:avLst/>
          </a:prstGeom>
          <a:noFill/>
          <a:ln>
            <a:noFill/>
          </a:ln>
        </p:spPr>
        <p:txBody>
          <a:bodyPr anchorCtr="0" anchor="t" bIns="34275" lIns="68575" spcFirstLastPara="1" rIns="68575" wrap="square" tIns="34275">
            <a:normAutofit lnSpcReduction="20000"/>
          </a:bodyPr>
          <a:lstStyle/>
          <a:p>
            <a:pPr indent="-311150" lvl="0" marL="457200" rtl="0" algn="l">
              <a:lnSpc>
                <a:spcPct val="115000"/>
              </a:lnSpc>
              <a:spcBef>
                <a:spcPts val="0"/>
              </a:spcBef>
              <a:spcAft>
                <a:spcPts val="0"/>
              </a:spcAft>
              <a:buSzPts val="1300"/>
              <a:buChar char="●"/>
            </a:pPr>
            <a:r>
              <a:rPr lang="en"/>
              <a:t>Our race isn't very fair and has multiple issues </a:t>
            </a:r>
            <a:endParaRPr/>
          </a:p>
          <a:p>
            <a:pPr indent="-311150" lvl="0" marL="457200" rtl="0" algn="l">
              <a:lnSpc>
                <a:spcPct val="115000"/>
              </a:lnSpc>
              <a:spcBef>
                <a:spcPts val="0"/>
              </a:spcBef>
              <a:spcAft>
                <a:spcPts val="0"/>
              </a:spcAft>
              <a:buSzPts val="1300"/>
              <a:buChar char="●"/>
            </a:pPr>
            <a:r>
              <a:rPr lang="en"/>
              <a:t>Before we can solve them, we'll need to understand how programs run on computers.</a:t>
            </a:r>
            <a:endParaRPr/>
          </a:p>
          <a:p>
            <a:pPr indent="-311150" lvl="0" marL="457200" rtl="0" algn="l">
              <a:lnSpc>
                <a:spcPct val="115000"/>
              </a:lnSpc>
              <a:spcBef>
                <a:spcPts val="1000"/>
              </a:spcBef>
              <a:spcAft>
                <a:spcPts val="0"/>
              </a:spcAft>
              <a:buSzPts val="1300"/>
              <a:buChar char="●"/>
            </a:pPr>
            <a:r>
              <a:rPr lang="en"/>
              <a:t>A </a:t>
            </a:r>
            <a:r>
              <a:rPr b="1" i="1" lang="en">
                <a:solidFill>
                  <a:srgbClr val="FF0000"/>
                </a:solidFill>
              </a:rPr>
              <a:t>Process</a:t>
            </a:r>
            <a:r>
              <a:rPr b="1" i="1" lang="en">
                <a:solidFill>
                  <a:srgbClr val="FF0000"/>
                </a:solidFill>
              </a:rPr>
              <a:t> </a:t>
            </a:r>
            <a:r>
              <a:rPr lang="en"/>
              <a:t>is a instance of an application that is running on a system</a:t>
            </a:r>
            <a:endParaRPr/>
          </a:p>
          <a:p>
            <a:pPr indent="-298450" lvl="1" marL="914400" rtl="0" algn="l">
              <a:lnSpc>
                <a:spcPct val="115000"/>
              </a:lnSpc>
              <a:spcBef>
                <a:spcPts val="0"/>
              </a:spcBef>
              <a:spcAft>
                <a:spcPts val="0"/>
              </a:spcAft>
              <a:buSzPts val="1100"/>
              <a:buChar char="○"/>
            </a:pPr>
            <a:r>
              <a:rPr lang="en"/>
              <a:t>I.E. Running one instance of simple calculator creates one process</a:t>
            </a:r>
            <a:endParaRPr/>
          </a:p>
          <a:p>
            <a:pPr indent="-311150" lvl="0" marL="457200" rtl="0" algn="l">
              <a:lnSpc>
                <a:spcPct val="115000"/>
              </a:lnSpc>
              <a:spcBef>
                <a:spcPts val="1000"/>
              </a:spcBef>
              <a:spcAft>
                <a:spcPts val="0"/>
              </a:spcAft>
              <a:buSzPts val="1300"/>
              <a:buChar char="●"/>
            </a:pPr>
            <a:r>
              <a:rPr lang="en"/>
              <a:t>Each process has some amount of </a:t>
            </a:r>
            <a:r>
              <a:rPr b="1" i="1" lang="en">
                <a:solidFill>
                  <a:srgbClr val="FF0000"/>
                </a:solidFill>
              </a:rPr>
              <a:t>resources </a:t>
            </a:r>
            <a:r>
              <a:rPr lang="en"/>
              <a:t>reserved for its use</a:t>
            </a:r>
            <a:endParaRPr/>
          </a:p>
          <a:p>
            <a:pPr indent="-298450" lvl="1" marL="914400" rtl="0" algn="l">
              <a:lnSpc>
                <a:spcPct val="115000"/>
              </a:lnSpc>
              <a:spcBef>
                <a:spcPts val="0"/>
              </a:spcBef>
              <a:spcAft>
                <a:spcPts val="0"/>
              </a:spcAft>
              <a:buSzPts val="1100"/>
              <a:buChar char="○"/>
            </a:pPr>
            <a:r>
              <a:rPr lang="en"/>
              <a:t>This resource pool is predominantly memory, I.E. RAM</a:t>
            </a:r>
            <a:endParaRPr/>
          </a:p>
          <a:p>
            <a:pPr indent="-298450" lvl="1" marL="914400" rtl="0" algn="l">
              <a:lnSpc>
                <a:spcPct val="115000"/>
              </a:lnSpc>
              <a:spcBef>
                <a:spcPts val="0"/>
              </a:spcBef>
              <a:spcAft>
                <a:spcPts val="0"/>
              </a:spcAft>
              <a:buSzPts val="1100"/>
              <a:buChar char="○"/>
            </a:pPr>
            <a:r>
              <a:rPr lang="en"/>
              <a:t>A process will generate a segmentation fault if they try to use memory outside of that which has been allocated to the process</a:t>
            </a:r>
            <a:endParaRPr/>
          </a:p>
          <a:p>
            <a:pPr indent="-311150" lvl="0" marL="457200" rtl="0" algn="l">
              <a:lnSpc>
                <a:spcPct val="115000"/>
              </a:lnSpc>
              <a:spcBef>
                <a:spcPts val="1000"/>
              </a:spcBef>
              <a:spcAft>
                <a:spcPts val="0"/>
              </a:spcAft>
              <a:buSzPts val="1300"/>
              <a:buChar char="●"/>
            </a:pPr>
            <a:r>
              <a:rPr lang="en"/>
              <a:t>Each process can run one or more </a:t>
            </a:r>
            <a:r>
              <a:rPr b="1" i="1" lang="en">
                <a:solidFill>
                  <a:srgbClr val="FF0000"/>
                </a:solidFill>
              </a:rPr>
              <a:t>threads </a:t>
            </a:r>
            <a:r>
              <a:rPr lang="en"/>
              <a:t>of execution.</a:t>
            </a:r>
            <a:endParaRPr/>
          </a:p>
          <a:p>
            <a:pPr indent="-311150" lvl="0" marL="457200" rtl="0" algn="l">
              <a:lnSpc>
                <a:spcPct val="115000"/>
              </a:lnSpc>
              <a:spcBef>
                <a:spcPts val="0"/>
              </a:spcBef>
              <a:spcAft>
                <a:spcPts val="0"/>
              </a:spcAft>
              <a:buSzPts val="1300"/>
              <a:buChar char="●"/>
            </a:pPr>
            <a:r>
              <a:rPr lang="en"/>
              <a:t>Each core (or v-core) in your system can run </a:t>
            </a:r>
            <a:r>
              <a:rPr b="1" i="1" lang="en">
                <a:solidFill>
                  <a:srgbClr val="FF0000"/>
                </a:solidFill>
              </a:rPr>
              <a:t>one </a:t>
            </a:r>
            <a:r>
              <a:rPr lang="en"/>
              <a:t>thread at a time</a:t>
            </a:r>
            <a:endParaRPr/>
          </a:p>
          <a:p>
            <a:pPr indent="-311150" lvl="0" marL="457200" rtl="0" algn="l">
              <a:lnSpc>
                <a:spcPct val="115000"/>
              </a:lnSpc>
              <a:spcBef>
                <a:spcPts val="0"/>
              </a:spcBef>
              <a:spcAft>
                <a:spcPts val="0"/>
              </a:spcAft>
              <a:buSzPts val="1300"/>
              <a:buChar char="●"/>
            </a:pPr>
            <a:r>
              <a:rPr lang="en"/>
              <a:t>So how many processes/threads does your computer use?</a:t>
            </a:r>
            <a:endParaRPr/>
          </a:p>
          <a:p>
            <a:pPr indent="-311150" lvl="0" marL="457200" rtl="0" algn="l">
              <a:lnSpc>
                <a:spcPct val="115000"/>
              </a:lnSpc>
              <a:spcBef>
                <a:spcPts val="0"/>
              </a:spcBef>
              <a:spcAft>
                <a:spcPts val="0"/>
              </a:spcAft>
              <a:buSzPts val="1300"/>
              <a:buChar char="●"/>
            </a:pPr>
            <a:r>
              <a:rPr lang="en"/>
              <a:t>Since there are </a:t>
            </a:r>
            <a:r>
              <a:rPr b="1" i="1" lang="en">
                <a:solidFill>
                  <a:srgbClr val="FF0000"/>
                </a:solidFill>
              </a:rPr>
              <a:t>many more</a:t>
            </a:r>
            <a:r>
              <a:rPr lang="en"/>
              <a:t> processes than cores and each core can only execute one process how does a computer work?</a:t>
            </a:r>
            <a:endParaRPr/>
          </a:p>
        </p:txBody>
      </p:sp>
      <p:sp>
        <p:nvSpPr>
          <p:cNvPr id="271" name="Google Shape;271;p36"/>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2"/>
              </a:buClr>
              <a:buSzPts val="2300"/>
              <a:buNone/>
            </a:pPr>
            <a:r>
              <a:rPr lang="en" sz="1400"/>
              <a:t>Modern computers can run many </a:t>
            </a:r>
            <a:r>
              <a:rPr b="1" i="1" lang="en" sz="1400">
                <a:solidFill>
                  <a:srgbClr val="FF0000"/>
                </a:solidFill>
              </a:rPr>
              <a:t>processes</a:t>
            </a:r>
            <a:r>
              <a:rPr lang="en" sz="1400"/>
              <a:t> (or applications) at the same time.</a:t>
            </a:r>
            <a:endParaRPr sz="1400"/>
          </a:p>
        </p:txBody>
      </p:sp>
      <p:sp>
        <p:nvSpPr>
          <p:cNvPr id="272" name="Google Shape;272;p36"/>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73" name="Google Shape;273;p36"/>
          <p:cNvPicPr preferRelativeResize="0"/>
          <p:nvPr/>
        </p:nvPicPr>
        <p:blipFill>
          <a:blip r:embed="rId3">
            <a:alphaModFix/>
          </a:blip>
          <a:stretch>
            <a:fillRect/>
          </a:stretch>
        </p:blipFill>
        <p:spPr>
          <a:xfrm>
            <a:off x="5192225" y="1360875"/>
            <a:ext cx="3706501" cy="2464970"/>
          </a:xfrm>
          <a:prstGeom prst="rect">
            <a:avLst/>
          </a:prstGeom>
          <a:noFill/>
          <a:ln cap="flat" cmpd="sng" w="19050">
            <a:solidFill>
              <a:schemeClr val="accent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9" name="Google Shape;279;p3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How Many Threads!?</a:t>
            </a:r>
            <a:endParaRPr/>
          </a:p>
        </p:txBody>
      </p:sp>
      <p:sp>
        <p:nvSpPr>
          <p:cNvPr id="280" name="Google Shape;280;p37"/>
          <p:cNvSpPr txBox="1"/>
          <p:nvPr>
            <p:ph idx="1" type="body"/>
          </p:nvPr>
        </p:nvSpPr>
        <p:spPr>
          <a:xfrm>
            <a:off x="65250" y="6554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Every operating system provides a mechanism that </a:t>
            </a:r>
            <a:r>
              <a:rPr lang="en"/>
              <a:t>can be used to see a list of the processes that are running on your computer. Depending on your OS, you may also be able to see details about each process (including how much memory and processor time it is using). Follow the instructions for your operating system</a:t>
            </a:r>
            <a:r>
              <a:rPr lang="en"/>
              <a:t>. How many processes are you running right now?</a:t>
            </a:r>
            <a:endParaRPr/>
          </a:p>
        </p:txBody>
      </p:sp>
      <p:sp>
        <p:nvSpPr>
          <p:cNvPr id="281" name="Google Shape;281;p37"/>
          <p:cNvSpPr txBox="1"/>
          <p:nvPr>
            <p:ph idx="2" type="body"/>
          </p:nvPr>
        </p:nvSpPr>
        <p:spPr>
          <a:xfrm>
            <a:off x="3683650" y="1944950"/>
            <a:ext cx="5242200" cy="2792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Windows:</a:t>
            </a:r>
            <a:endParaRPr sz="1500"/>
          </a:p>
          <a:p>
            <a:pPr indent="-311150" lvl="1" marL="914400" rtl="0" algn="l">
              <a:spcBef>
                <a:spcPts val="0"/>
              </a:spcBef>
              <a:spcAft>
                <a:spcPts val="0"/>
              </a:spcAft>
              <a:buSzPts val="1300"/>
              <a:buChar char="○"/>
            </a:pPr>
            <a:r>
              <a:rPr lang="en" sz="1300"/>
              <a:t>CTRL+ALT+DEL</a:t>
            </a:r>
            <a:endParaRPr sz="1300"/>
          </a:p>
          <a:p>
            <a:pPr indent="-311150" lvl="1" marL="914400" rtl="0" algn="l">
              <a:spcBef>
                <a:spcPts val="0"/>
              </a:spcBef>
              <a:spcAft>
                <a:spcPts val="0"/>
              </a:spcAft>
              <a:buSzPts val="1300"/>
              <a:buChar char="○"/>
            </a:pPr>
            <a:r>
              <a:rPr lang="en" sz="1300"/>
              <a:t>Select Task Manager</a:t>
            </a:r>
            <a:endParaRPr sz="1300"/>
          </a:p>
          <a:p>
            <a:pPr indent="-311150" lvl="1" marL="914400" rtl="0" algn="l">
              <a:spcBef>
                <a:spcPts val="0"/>
              </a:spcBef>
              <a:spcAft>
                <a:spcPts val="0"/>
              </a:spcAft>
              <a:buSzPts val="1300"/>
              <a:buChar char="○"/>
            </a:pPr>
            <a:r>
              <a:rPr lang="en" sz="1300"/>
              <a:t>Performance Tab | CPU</a:t>
            </a:r>
            <a:endParaRPr sz="1300"/>
          </a:p>
          <a:p>
            <a:pPr indent="-323850" lvl="0" marL="457200" rtl="0" algn="l">
              <a:spcBef>
                <a:spcPts val="0"/>
              </a:spcBef>
              <a:spcAft>
                <a:spcPts val="0"/>
              </a:spcAft>
              <a:buSzPts val="1500"/>
              <a:buChar char="●"/>
            </a:pPr>
            <a:r>
              <a:rPr lang="en" sz="1500"/>
              <a:t>MacOS</a:t>
            </a:r>
            <a:r>
              <a:rPr lang="en" sz="1500"/>
              <a:t>:</a:t>
            </a:r>
            <a:endParaRPr sz="1500"/>
          </a:p>
          <a:p>
            <a:pPr indent="-311150" lvl="1" marL="914400" rtl="0" algn="l">
              <a:spcBef>
                <a:spcPts val="0"/>
              </a:spcBef>
              <a:spcAft>
                <a:spcPts val="0"/>
              </a:spcAft>
              <a:buSzPts val="1300"/>
              <a:buChar char="○"/>
            </a:pPr>
            <a:r>
              <a:rPr lang="en" sz="1300"/>
              <a:t>Search for and run Activity Monitor</a:t>
            </a:r>
            <a:endParaRPr sz="1300"/>
          </a:p>
          <a:p>
            <a:pPr indent="-311150" lvl="1" marL="914400" rtl="0" algn="l">
              <a:spcBef>
                <a:spcPts val="0"/>
              </a:spcBef>
              <a:spcAft>
                <a:spcPts val="0"/>
              </a:spcAft>
              <a:buSzPts val="1300"/>
              <a:buChar char="○"/>
            </a:pPr>
            <a:r>
              <a:rPr lang="en" sz="1300"/>
              <a:t>Choose the CPU tab</a:t>
            </a:r>
            <a:endParaRPr sz="1300"/>
          </a:p>
          <a:p>
            <a:pPr indent="-323850" lvl="0" marL="457200" rtl="0" algn="l">
              <a:spcBef>
                <a:spcPts val="0"/>
              </a:spcBef>
              <a:spcAft>
                <a:spcPts val="0"/>
              </a:spcAft>
              <a:buSzPts val="1500"/>
              <a:buChar char="●"/>
            </a:pPr>
            <a:r>
              <a:rPr lang="en" sz="1500"/>
              <a:t>Linux:</a:t>
            </a:r>
            <a:endParaRPr sz="1500"/>
          </a:p>
          <a:p>
            <a:pPr indent="-311150" lvl="1" marL="914400" rtl="0" algn="l">
              <a:spcBef>
                <a:spcPts val="0"/>
              </a:spcBef>
              <a:spcAft>
                <a:spcPts val="0"/>
              </a:spcAft>
              <a:buSzPts val="1300"/>
              <a:buChar char="○"/>
            </a:pPr>
            <a:r>
              <a:rPr lang="en" sz="1300"/>
              <a:t>Open the terminal window</a:t>
            </a:r>
            <a:endParaRPr sz="1300"/>
          </a:p>
          <a:p>
            <a:pPr indent="-311150" lvl="1" marL="914400" rtl="0" algn="l">
              <a:spcBef>
                <a:spcPts val="0"/>
              </a:spcBef>
              <a:spcAft>
                <a:spcPts val="0"/>
              </a:spcAft>
              <a:buSzPts val="1300"/>
              <a:buFont typeface="Courier New"/>
              <a:buChar char="○"/>
            </a:pPr>
            <a:r>
              <a:rPr lang="en" sz="1300">
                <a:latin typeface="Courier New"/>
                <a:ea typeface="Courier New"/>
                <a:cs typeface="Courier New"/>
                <a:sym typeface="Courier New"/>
              </a:rPr>
              <a:t>ps -eL | wc -l</a:t>
            </a:r>
            <a:br>
              <a:rPr lang="en" sz="1300">
                <a:latin typeface="Courier New"/>
                <a:ea typeface="Courier New"/>
                <a:cs typeface="Courier New"/>
                <a:sym typeface="Courier New"/>
              </a:rPr>
            </a:br>
            <a:r>
              <a:rPr lang="en" sz="1300">
                <a:latin typeface="Courier New"/>
                <a:ea typeface="Courier New"/>
                <a:cs typeface="Courier New"/>
                <a:sym typeface="Courier New"/>
              </a:rPr>
              <a:t>(or run htop in a terminal)</a:t>
            </a:r>
            <a:endParaRPr sz="1300">
              <a:latin typeface="Courier New"/>
              <a:ea typeface="Courier New"/>
              <a:cs typeface="Courier New"/>
              <a:sym typeface="Courier New"/>
            </a:endParaRPr>
          </a:p>
        </p:txBody>
      </p:sp>
      <p:sp>
        <p:nvSpPr>
          <p:cNvPr id="282" name="Google Shape;282;p3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8.3</a:t>
            </a:r>
            <a:endParaRPr/>
          </a:p>
        </p:txBody>
      </p:sp>
      <p:pic>
        <p:nvPicPr>
          <p:cNvPr id="283" name="Google Shape;283;p37"/>
          <p:cNvPicPr preferRelativeResize="0"/>
          <p:nvPr/>
        </p:nvPicPr>
        <p:blipFill>
          <a:blip r:embed="rId3">
            <a:alphaModFix/>
          </a:blip>
          <a:stretch>
            <a:fillRect/>
          </a:stretch>
        </p:blipFill>
        <p:spPr>
          <a:xfrm>
            <a:off x="170975" y="1944950"/>
            <a:ext cx="3368974" cy="29843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8"/>
          <p:cNvSpPr txBox="1"/>
          <p:nvPr>
            <p:ph type="title"/>
          </p:nvPr>
        </p:nvSpPr>
        <p:spPr>
          <a:xfrm>
            <a:off x="311725" y="500925"/>
            <a:ext cx="8520600" cy="623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Time Sharing</a:t>
            </a:r>
            <a:endParaRPr/>
          </a:p>
        </p:txBody>
      </p:sp>
      <p:sp>
        <p:nvSpPr>
          <p:cNvPr id="289" name="Google Shape;289;p38"/>
          <p:cNvSpPr txBox="1"/>
          <p:nvPr>
            <p:ph idx="1" type="body"/>
          </p:nvPr>
        </p:nvSpPr>
        <p:spPr>
          <a:xfrm>
            <a:off x="311700" y="1505700"/>
            <a:ext cx="8520600" cy="2072700"/>
          </a:xfrm>
          <a:prstGeom prst="rect">
            <a:avLst/>
          </a:prstGeom>
          <a:noFill/>
          <a:ln>
            <a:noFill/>
          </a:ln>
        </p:spPr>
        <p:txBody>
          <a:bodyPr anchorCtr="0" anchor="t" bIns="34275" lIns="68575" spcFirstLastPara="1" rIns="68575" wrap="square" tIns="34275">
            <a:normAutofit/>
          </a:bodyPr>
          <a:lstStyle/>
          <a:p>
            <a:pPr indent="-311150" lvl="0" marL="457200" rtl="0" algn="l">
              <a:lnSpc>
                <a:spcPct val="115000"/>
              </a:lnSpc>
              <a:spcBef>
                <a:spcPts val="0"/>
              </a:spcBef>
              <a:spcAft>
                <a:spcPts val="0"/>
              </a:spcAft>
              <a:buSzPts val="1300"/>
              <a:buChar char="●"/>
            </a:pPr>
            <a:r>
              <a:rPr lang="en"/>
              <a:t>Clearly, there are far more </a:t>
            </a:r>
            <a:r>
              <a:rPr i="1" lang="en"/>
              <a:t>processes </a:t>
            </a:r>
            <a:r>
              <a:rPr lang="en"/>
              <a:t>than </a:t>
            </a:r>
            <a:r>
              <a:rPr i="1" lang="en"/>
              <a:t>processors </a:t>
            </a:r>
            <a:r>
              <a:rPr lang="en"/>
              <a:t>(or </a:t>
            </a:r>
            <a:r>
              <a:rPr b="1" i="1" lang="en">
                <a:solidFill>
                  <a:srgbClr val="FF0000"/>
                </a:solidFill>
              </a:rPr>
              <a:t>cores</a:t>
            </a:r>
            <a:r>
              <a:rPr lang="en"/>
              <a:t>) </a:t>
            </a:r>
            <a:r>
              <a:rPr lang="en"/>
              <a:t>on your computer. This means that processes will have to </a:t>
            </a:r>
            <a:r>
              <a:rPr b="1" i="1" lang="en">
                <a:solidFill>
                  <a:srgbClr val="FF0000"/>
                </a:solidFill>
              </a:rPr>
              <a:t>share</a:t>
            </a:r>
            <a:r>
              <a:rPr lang="en"/>
              <a:t> hardware, but how to do this in a fair way that lets all processes make </a:t>
            </a:r>
            <a:r>
              <a:rPr b="1" i="1" lang="en">
                <a:solidFill>
                  <a:srgbClr val="FF0000"/>
                </a:solidFill>
              </a:rPr>
              <a:t>progress</a:t>
            </a:r>
            <a:r>
              <a:rPr lang="en"/>
              <a:t>?</a:t>
            </a:r>
            <a:endParaRPr/>
          </a:p>
          <a:p>
            <a:pPr indent="-311150" lvl="0" marL="457200" rtl="0" algn="l">
              <a:lnSpc>
                <a:spcPct val="115000"/>
              </a:lnSpc>
              <a:spcBef>
                <a:spcPts val="1000"/>
              </a:spcBef>
              <a:spcAft>
                <a:spcPts val="0"/>
              </a:spcAft>
              <a:buSzPts val="1300"/>
              <a:buChar char="●"/>
            </a:pPr>
            <a:r>
              <a:rPr lang="en"/>
              <a:t>Each process is given a small window of time, or </a:t>
            </a:r>
            <a:r>
              <a:rPr b="1" i="1" lang="en">
                <a:solidFill>
                  <a:srgbClr val="FF0000"/>
                </a:solidFill>
              </a:rPr>
              <a:t>time slice</a:t>
            </a:r>
            <a:r>
              <a:rPr lang="en"/>
              <a:t>, in which it is allowed to use a CPU core.</a:t>
            </a:r>
            <a:endParaRPr/>
          </a:p>
          <a:p>
            <a:pPr indent="-304800" lvl="1" marL="914400" rtl="0" algn="l">
              <a:lnSpc>
                <a:spcPct val="115000"/>
              </a:lnSpc>
              <a:spcBef>
                <a:spcPts val="0"/>
              </a:spcBef>
              <a:spcAft>
                <a:spcPts val="0"/>
              </a:spcAft>
              <a:buSzPts val="1200"/>
              <a:buChar char="○"/>
            </a:pPr>
            <a:r>
              <a:rPr lang="en" sz="1200"/>
              <a:t>The amount of time </a:t>
            </a:r>
            <a:r>
              <a:rPr b="1" i="1" lang="en" sz="1200">
                <a:solidFill>
                  <a:srgbClr val="FF0000"/>
                </a:solidFill>
              </a:rPr>
              <a:t>varies</a:t>
            </a:r>
            <a:r>
              <a:rPr lang="en" sz="1200"/>
              <a:t> </a:t>
            </a:r>
            <a:r>
              <a:rPr lang="en" sz="1200"/>
              <a:t>based on hardware and OS.</a:t>
            </a:r>
            <a:endParaRPr sz="1200"/>
          </a:p>
          <a:p>
            <a:pPr indent="-304800" lvl="1" marL="914400" rtl="0" algn="l">
              <a:lnSpc>
                <a:spcPct val="115000"/>
              </a:lnSpc>
              <a:spcBef>
                <a:spcPts val="400"/>
              </a:spcBef>
              <a:spcAft>
                <a:spcPts val="0"/>
              </a:spcAft>
              <a:buSzPts val="1200"/>
              <a:buChar char="○"/>
            </a:pPr>
            <a:r>
              <a:rPr lang="en" sz="1200"/>
              <a:t>For a specific system instance the time slice is normally a </a:t>
            </a:r>
            <a:r>
              <a:rPr b="1" i="1" lang="en" sz="1200">
                <a:solidFill>
                  <a:srgbClr val="FF0000"/>
                </a:solidFill>
              </a:rPr>
              <a:t>constant</a:t>
            </a:r>
            <a:r>
              <a:rPr lang="en" sz="1200"/>
              <a:t>.</a:t>
            </a:r>
            <a:endParaRPr b="1" i="1" sz="400">
              <a:solidFill>
                <a:srgbClr val="FF0000"/>
              </a:solidFill>
            </a:endParaRPr>
          </a:p>
          <a:p>
            <a:pPr indent="0" lvl="0" marL="0" rtl="0" algn="ctr">
              <a:lnSpc>
                <a:spcPct val="90000"/>
              </a:lnSpc>
              <a:spcBef>
                <a:spcPts val="1000"/>
              </a:spcBef>
              <a:spcAft>
                <a:spcPts val="1600"/>
              </a:spcAft>
              <a:buClr>
                <a:schemeClr val="dk1"/>
              </a:buClr>
              <a:buSzPts val="1900"/>
              <a:buNone/>
            </a:pPr>
            <a:r>
              <a:rPr lang="en" sz="2000">
                <a:solidFill>
                  <a:schemeClr val="accent1"/>
                </a:solidFill>
              </a:rPr>
              <a:t>Core</a:t>
            </a:r>
            <a:r>
              <a:rPr lang="en" sz="2000">
                <a:solidFill>
                  <a:schemeClr val="accent1"/>
                </a:solidFill>
              </a:rPr>
              <a:t> A</a:t>
            </a:r>
            <a:endParaRPr sz="2000">
              <a:solidFill>
                <a:schemeClr val="accent1"/>
              </a:solidFill>
            </a:endParaRPr>
          </a:p>
        </p:txBody>
      </p:sp>
      <p:graphicFrame>
        <p:nvGraphicFramePr>
          <p:cNvPr id="290" name="Google Shape;290;p38"/>
          <p:cNvGraphicFramePr/>
          <p:nvPr/>
        </p:nvGraphicFramePr>
        <p:xfrm>
          <a:off x="640080" y="3301648"/>
          <a:ext cx="3000000" cy="3000000"/>
        </p:xfrm>
        <a:graphic>
          <a:graphicData uri="http://schemas.openxmlformats.org/drawingml/2006/table">
            <a:tbl>
              <a:tblPr bandRow="1" firstRow="1">
                <a:noFill/>
                <a:tableStyleId>{A07C2E57-52A4-4090-9760-2D5068A43A11}</a:tableStyleId>
              </a:tblPr>
              <a:tblGrid>
                <a:gridCol w="876300"/>
                <a:gridCol w="876300"/>
                <a:gridCol w="876300"/>
                <a:gridCol w="876300"/>
                <a:gridCol w="876300"/>
                <a:gridCol w="876300"/>
                <a:gridCol w="876300"/>
                <a:gridCol w="876300"/>
                <a:gridCol w="876300"/>
              </a:tblGrid>
              <a:tr h="278150">
                <a:tc>
                  <a:txBody>
                    <a:bodyPr/>
                    <a:lstStyle/>
                    <a:p>
                      <a:pPr indent="0" lvl="0" marL="0" marR="0" rtl="0" algn="l">
                        <a:spcBef>
                          <a:spcPts val="0"/>
                        </a:spcBef>
                        <a:spcAft>
                          <a:spcPts val="0"/>
                        </a:spcAft>
                        <a:buNone/>
                      </a:pPr>
                      <a:r>
                        <a:rPr lang="en" sz="1500" u="none" cap="none" strike="noStrike"/>
                        <a:t>process1</a:t>
                      </a:r>
                      <a:endParaRPr sz="1100"/>
                    </a:p>
                  </a:txBody>
                  <a:tcPr marT="34300" marB="34300" marR="68600" marL="68600">
                    <a:lnR cap="flat" cmpd="sng" w="12700">
                      <a:solidFill>
                        <a:schemeClr val="dk1"/>
                      </a:solidFill>
                      <a:prstDash val="solid"/>
                      <a:round/>
                      <a:headEnd len="sm" w="sm" type="none"/>
                      <a:tailEnd len="sm" w="sm" type="none"/>
                    </a:lnR>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accent1"/>
                      </a:solidFill>
                      <a:prstDash val="solid"/>
                      <a:round/>
                      <a:headEnd len="sm" w="sm" type="none"/>
                      <a:tailEnd len="sm" w="sm" type="none"/>
                    </a:lnR>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accent1"/>
                      </a:solidFill>
                      <a:prstDash val="solid"/>
                      <a:round/>
                      <a:headEnd len="sm" w="sm" type="none"/>
                      <a:tailEnd len="sm" w="sm" type="none"/>
                    </a:lnR>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dk1"/>
                      </a:solidFill>
                      <a:prstDash val="solid"/>
                      <a:round/>
                      <a:headEnd len="sm" w="sm" type="none"/>
                      <a:tailEnd len="sm" w="sm" type="none"/>
                    </a:lnR>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chemeClr val="accent1"/>
                      </a:solidFill>
                      <a:prstDash val="solid"/>
                      <a:round/>
                      <a:headEnd len="sm" w="sm" type="none"/>
                      <a:tailEnd len="sm" w="sm" type="none"/>
                    </a:lnB>
                    <a:solidFill>
                      <a:schemeClr val="lt1"/>
                    </a:solidFill>
                  </a:tcPr>
                </a:tc>
              </a:tr>
              <a:tr h="278150">
                <a:tc>
                  <a:txBody>
                    <a:bodyPr/>
                    <a:lstStyle/>
                    <a:p>
                      <a:pPr indent="0" lvl="0" marL="0" marR="0" rtl="0" algn="l">
                        <a:spcBef>
                          <a:spcPts val="0"/>
                        </a:spcBef>
                        <a:spcAft>
                          <a:spcPts val="0"/>
                        </a:spcAft>
                        <a:buNone/>
                      </a:pPr>
                      <a:r>
                        <a:rPr lang="en" sz="1500"/>
                        <a:t>process2</a:t>
                      </a:r>
                      <a:endParaRPr sz="1100"/>
                    </a:p>
                  </a:txBody>
                  <a:tcPr marT="34300" marB="34300" marR="68600" marL="68600">
                    <a:lnR cap="flat" cmpd="sng" w="12700">
                      <a:solidFill>
                        <a:schemeClr val="accent1"/>
                      </a:solidFill>
                      <a:prstDash val="solid"/>
                      <a:round/>
                      <a:headEnd len="sm" w="sm" type="none"/>
                      <a:tailEnd len="sm" w="sm" type="none"/>
                    </a:lnR>
                  </a:tcPr>
                </a:tc>
                <a:tc>
                  <a:txBody>
                    <a:bodyPr/>
                    <a:lstStyle/>
                    <a:p>
                      <a:pPr indent="0" lvl="0" marL="0" marR="0" rtl="0" algn="l">
                        <a:spcBef>
                          <a:spcPts val="0"/>
                        </a:spcBef>
                        <a:spcAft>
                          <a:spcPts val="0"/>
                        </a:spcAft>
                        <a:buNone/>
                      </a:pPr>
                      <a:r>
                        <a:t/>
                      </a:r>
                      <a:endParaRPr sz="1800">
                        <a:solidFill>
                          <a:schemeClr val="accent1"/>
                        </a:solidFill>
                      </a:endParaRPr>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chemeClr val="accent1"/>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accent1"/>
                      </a:solidFill>
                      <a:prstDash val="solid"/>
                      <a:round/>
                      <a:headEnd len="sm" w="sm" type="none"/>
                      <a:tailEnd len="sm" w="sm" type="none"/>
                    </a:lnR>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chemeClr val="accent1"/>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accent1"/>
                      </a:solidFill>
                      <a:prstDash val="solid"/>
                      <a:round/>
                      <a:headEnd len="sm" w="sm" type="none"/>
                      <a:tailEnd len="sm" w="sm" type="none"/>
                    </a:lnR>
                    <a:lnB cap="flat" cmpd="sng" w="9525">
                      <a:solidFill>
                        <a:schemeClr val="accent1"/>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r>
              <a:tr h="278150">
                <a:tc>
                  <a:txBody>
                    <a:bodyPr/>
                    <a:lstStyle/>
                    <a:p>
                      <a:pPr indent="0" lvl="0" marL="0" marR="0" rtl="0" algn="l">
                        <a:spcBef>
                          <a:spcPts val="0"/>
                        </a:spcBef>
                        <a:spcAft>
                          <a:spcPts val="0"/>
                        </a:spcAft>
                        <a:buNone/>
                      </a:pPr>
                      <a:r>
                        <a:rPr lang="en" sz="1500"/>
                        <a:t>process3</a:t>
                      </a:r>
                      <a:endParaRPr sz="1100"/>
                    </a:p>
                  </a:txBody>
                  <a:tcPr marT="34300" marB="34300" marR="68600" marL="68600">
                    <a:lnR cap="flat" cmpd="sng" w="12700">
                      <a:solidFill>
                        <a:schemeClr val="dk1"/>
                      </a:solidFill>
                      <a:prstDash val="solid"/>
                      <a:round/>
                      <a:headEnd len="sm" w="sm" type="none"/>
                      <a:tailEnd len="sm" w="sm" type="none"/>
                    </a:lnR>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chemeClr val="accent1"/>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accent1"/>
                      </a:solidFill>
                      <a:prstDash val="solid"/>
                      <a:round/>
                      <a:headEnd len="sm" w="sm" type="none"/>
                      <a:tailEnd len="sm" w="sm" type="none"/>
                    </a:lnR>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chemeClr val="accent1"/>
                      </a:solidFill>
                      <a:prstDash val="solid"/>
                      <a:round/>
                      <a:headEnd len="sm" w="sm" type="none"/>
                      <a:tailEnd len="sm" w="sm" type="none"/>
                    </a:lnT>
                    <a:solidFill>
                      <a:schemeClr val="lt1"/>
                    </a:solidFill>
                  </a:tcPr>
                </a:tc>
              </a:tr>
            </a:tbl>
          </a:graphicData>
        </a:graphic>
      </p:graphicFrame>
      <p:sp>
        <p:nvSpPr>
          <p:cNvPr id="291" name="Google Shape;291;p38"/>
          <p:cNvSpPr/>
          <p:nvPr/>
        </p:nvSpPr>
        <p:spPr>
          <a:xfrm>
            <a:off x="4028551" y="4654374"/>
            <a:ext cx="1109700" cy="348900"/>
          </a:xfrm>
          <a:prstGeom prst="rect">
            <a:avLst/>
          </a:prstGeom>
          <a:solidFill>
            <a:srgbClr val="FFF2CC"/>
          </a:solidFill>
          <a:ln cap="flat" cmpd="sng" w="19050">
            <a:solidFill>
              <a:srgbClr val="FF0000"/>
            </a:solidFill>
            <a:prstDash val="solid"/>
            <a:miter lim="800000"/>
            <a:headEnd len="sm" w="sm" type="none"/>
            <a:tailEnd len="sm" w="sm" type="none"/>
          </a:ln>
          <a:effectLst>
            <a:outerShdw blurRad="50800" rotWithShape="0" algn="tl" dir="2700000" dist="38100">
              <a:srgbClr val="000000">
                <a:alpha val="400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rPr b="0" i="0" lang="en" u="none" cap="none" strike="noStrike">
                <a:solidFill>
                  <a:schemeClr val="dk1"/>
                </a:solidFill>
                <a:latin typeface="Arial"/>
                <a:ea typeface="Arial"/>
                <a:cs typeface="Arial"/>
                <a:sym typeface="Arial"/>
              </a:rPr>
              <a:t>Time Slice</a:t>
            </a:r>
            <a:endParaRPr/>
          </a:p>
        </p:txBody>
      </p:sp>
      <p:sp>
        <p:nvSpPr>
          <p:cNvPr id="292" name="Google Shape;292;p38"/>
          <p:cNvSpPr/>
          <p:nvPr/>
        </p:nvSpPr>
        <p:spPr>
          <a:xfrm rot="-5400000">
            <a:off x="4487047" y="4002800"/>
            <a:ext cx="187200" cy="882000"/>
          </a:xfrm>
          <a:prstGeom prst="leftBrace">
            <a:avLst>
              <a:gd fmla="val 56790" name="adj1"/>
              <a:gd fmla="val 50000" name="adj2"/>
            </a:avLst>
          </a:prstGeom>
          <a:noFill/>
          <a:ln cap="flat" cmpd="sng" w="28575">
            <a:solidFill>
              <a:schemeClr val="dk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3" name="Google Shape;293;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0" st="0"/>
                                            </p:txEl>
                                          </p:spTgt>
                                        </p:tgtEl>
                                        <p:attrNameLst>
                                          <p:attrName>style.visibility</p:attrName>
                                        </p:attrNameLst>
                                      </p:cBhvr>
                                      <p:to>
                                        <p:strVal val="visible"/>
                                      </p:to>
                                    </p:set>
                                    <p:animEffect filter="fade" transition="in">
                                      <p:cBhvr>
                                        <p:cTn dur="1000"/>
                                        <p:tgtEl>
                                          <p:spTgt spid="28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1" st="1"/>
                                            </p:txEl>
                                          </p:spTgt>
                                        </p:tgtEl>
                                        <p:attrNameLst>
                                          <p:attrName>style.visibility</p:attrName>
                                        </p:attrNameLst>
                                      </p:cBhvr>
                                      <p:to>
                                        <p:strVal val="visible"/>
                                      </p:to>
                                    </p:set>
                                    <p:animEffect filter="fade" transition="in">
                                      <p:cBhvr>
                                        <p:cTn dur="1000"/>
                                        <p:tgtEl>
                                          <p:spTgt spid="28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2" st="2"/>
                                            </p:txEl>
                                          </p:spTgt>
                                        </p:tgtEl>
                                        <p:attrNameLst>
                                          <p:attrName>style.visibility</p:attrName>
                                        </p:attrNameLst>
                                      </p:cBhvr>
                                      <p:to>
                                        <p:strVal val="visible"/>
                                      </p:to>
                                    </p:set>
                                    <p:animEffect filter="fade" transition="in">
                                      <p:cBhvr>
                                        <p:cTn dur="1000"/>
                                        <p:tgtEl>
                                          <p:spTgt spid="28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3" st="3"/>
                                            </p:txEl>
                                          </p:spTgt>
                                        </p:tgtEl>
                                        <p:attrNameLst>
                                          <p:attrName>style.visibility</p:attrName>
                                        </p:attrNameLst>
                                      </p:cBhvr>
                                      <p:to>
                                        <p:strVal val="visible"/>
                                      </p:to>
                                    </p:set>
                                    <p:animEffect filter="fade" transition="in">
                                      <p:cBhvr>
                                        <p:cTn dur="1000"/>
                                        <p:tgtEl>
                                          <p:spTgt spid="28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xEl>
                                              <p:pRg end="4" st="4"/>
                                            </p:txEl>
                                          </p:spTgt>
                                        </p:tgtEl>
                                        <p:attrNameLst>
                                          <p:attrName>style.visibility</p:attrName>
                                        </p:attrNameLst>
                                      </p:cBhvr>
                                      <p:to>
                                        <p:strVal val="visible"/>
                                      </p:to>
                                    </p:set>
                                    <p:animEffect filter="fade" transition="in">
                                      <p:cBhvr>
                                        <p:cTn dur="1000"/>
                                        <p:tgtEl>
                                          <p:spTgt spid="28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000"/>
                                        <p:tgtEl>
                                          <p:spTgt spid="29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txBox="1"/>
          <p:nvPr>
            <p:ph type="title"/>
          </p:nvPr>
        </p:nvSpPr>
        <p:spPr>
          <a:xfrm>
            <a:off x="5108158" y="342100"/>
            <a:ext cx="3817800" cy="996000"/>
          </a:xfrm>
          <a:prstGeom prst="rect">
            <a:avLst/>
          </a:prstGeom>
          <a:noFill/>
          <a:ln>
            <a:noFill/>
          </a:ln>
        </p:spPr>
        <p:txBody>
          <a:bodyPr anchorCtr="0" anchor="ctr" bIns="34275" lIns="68575" spcFirstLastPara="1" rIns="68575" wrap="square" tIns="34275">
            <a:spAutoFit/>
          </a:bodyPr>
          <a:lstStyle/>
          <a:p>
            <a:pPr indent="0" lvl="0" marL="0" rtl="0" algn="l">
              <a:lnSpc>
                <a:spcPct val="115000"/>
              </a:lnSpc>
              <a:spcBef>
                <a:spcPts val="0"/>
              </a:spcBef>
              <a:spcAft>
                <a:spcPts val="0"/>
              </a:spcAft>
              <a:buClr>
                <a:schemeClr val="dk2"/>
              </a:buClr>
              <a:buSzPts val="3300"/>
              <a:buFont typeface="Calibri"/>
              <a:buNone/>
            </a:pPr>
            <a:r>
              <a:rPr lang="en"/>
              <a:t>Extending </a:t>
            </a:r>
            <a:r>
              <a:rPr lang="en">
                <a:latin typeface="Courier New"/>
                <a:ea typeface="Courier New"/>
                <a:cs typeface="Courier New"/>
                <a:sym typeface="Courier New"/>
              </a:rPr>
              <a:t>java.lang.Thread</a:t>
            </a:r>
            <a:endParaRPr>
              <a:latin typeface="Courier New"/>
              <a:ea typeface="Courier New"/>
              <a:cs typeface="Courier New"/>
              <a:sym typeface="Courier New"/>
            </a:endParaRPr>
          </a:p>
        </p:txBody>
      </p:sp>
      <p:sp>
        <p:nvSpPr>
          <p:cNvPr id="299" name="Google Shape;299;p39"/>
          <p:cNvSpPr txBox="1"/>
          <p:nvPr>
            <p:ph idx="1" type="body"/>
          </p:nvPr>
        </p:nvSpPr>
        <p:spPr>
          <a:xfrm>
            <a:off x="166400" y="175675"/>
            <a:ext cx="4523400" cy="4784400"/>
          </a:xfrm>
          <a:prstGeom prst="rect">
            <a:avLst/>
          </a:prstGeom>
          <a:noFill/>
          <a:ln>
            <a:noFill/>
          </a:ln>
        </p:spPr>
        <p:txBody>
          <a:bodyPr anchorCtr="0" anchor="t" bIns="34275" lIns="68575" spcFirstLastPara="1" rIns="68575" wrap="square" tIns="34275">
            <a:spAutoFit/>
          </a:bodyPr>
          <a:lstStyle/>
          <a:p>
            <a:pPr indent="-311150" lvl="0" marL="457200" rtl="0" algn="l">
              <a:lnSpc>
                <a:spcPct val="100000"/>
              </a:lnSpc>
              <a:spcBef>
                <a:spcPts val="0"/>
              </a:spcBef>
              <a:spcAft>
                <a:spcPts val="0"/>
              </a:spcAft>
              <a:buSzPts val="1300"/>
              <a:buChar char="●"/>
            </a:pPr>
            <a:r>
              <a:rPr lang="en"/>
              <a:t>While processes are useful, their protected memory space makes </a:t>
            </a:r>
            <a:r>
              <a:rPr b="1" i="1" lang="en">
                <a:solidFill>
                  <a:srgbClr val="FF0000"/>
                </a:solidFill>
              </a:rPr>
              <a:t>communicating</a:t>
            </a:r>
            <a:r>
              <a:rPr b="1" i="1" lang="en">
                <a:solidFill>
                  <a:srgbClr val="FF0000"/>
                </a:solidFill>
              </a:rPr>
              <a:t> </a:t>
            </a:r>
            <a:r>
              <a:rPr lang="en"/>
              <a:t>between them more difficult/expensive</a:t>
            </a:r>
            <a:endParaRPr/>
          </a:p>
          <a:p>
            <a:pPr indent="-298450" lvl="1" marL="914400" rtl="0" algn="l">
              <a:lnSpc>
                <a:spcPct val="100000"/>
              </a:lnSpc>
              <a:spcBef>
                <a:spcPts val="0"/>
              </a:spcBef>
              <a:spcAft>
                <a:spcPts val="0"/>
              </a:spcAft>
              <a:buSzPts val="1100"/>
              <a:buChar char="○"/>
            </a:pPr>
            <a:r>
              <a:rPr lang="en"/>
              <a:t>Two different processes cannot read from or write to each other's memory</a:t>
            </a:r>
            <a:endParaRPr/>
          </a:p>
          <a:p>
            <a:pPr indent="-298450" lvl="1" marL="914400" rtl="0" algn="l">
              <a:lnSpc>
                <a:spcPct val="100000"/>
              </a:lnSpc>
              <a:spcBef>
                <a:spcPts val="0"/>
              </a:spcBef>
              <a:spcAft>
                <a:spcPts val="0"/>
              </a:spcAft>
              <a:buSzPts val="1100"/>
              <a:buChar char="○"/>
            </a:pPr>
            <a:r>
              <a:rPr lang="en"/>
              <a:t>This makes it difficult for two processes to work together to accomplish more than one task simultaneously</a:t>
            </a:r>
            <a:endParaRPr/>
          </a:p>
          <a:p>
            <a:pPr indent="-311150" lvl="0" marL="457200" rtl="0" algn="l">
              <a:lnSpc>
                <a:spcPct val="100000"/>
              </a:lnSpc>
              <a:spcBef>
                <a:spcPts val="1000"/>
              </a:spcBef>
              <a:spcAft>
                <a:spcPts val="0"/>
              </a:spcAft>
              <a:buSzPts val="1300"/>
              <a:buChar char="●"/>
            </a:pPr>
            <a:r>
              <a:rPr lang="en"/>
              <a:t>A lighter weight version of a process, called a </a:t>
            </a:r>
            <a:r>
              <a:rPr b="1" i="1" lang="en">
                <a:solidFill>
                  <a:srgbClr val="FF0000"/>
                </a:solidFill>
              </a:rPr>
              <a:t>Thread</a:t>
            </a:r>
            <a:r>
              <a:rPr lang="en"/>
              <a:t>, is more commonly used</a:t>
            </a:r>
            <a:endParaRPr/>
          </a:p>
          <a:p>
            <a:pPr indent="-292100" lvl="1" marL="914400" rtl="0" algn="l">
              <a:lnSpc>
                <a:spcPct val="100000"/>
              </a:lnSpc>
              <a:spcBef>
                <a:spcPts val="0"/>
              </a:spcBef>
              <a:spcAft>
                <a:spcPts val="0"/>
              </a:spcAft>
              <a:buSzPts val="1000"/>
              <a:buChar char="○"/>
            </a:pPr>
            <a:r>
              <a:rPr lang="en" sz="1000"/>
              <a:t>A single process may have two or more threads working together at the same time</a:t>
            </a:r>
            <a:endParaRPr sz="1000"/>
          </a:p>
          <a:p>
            <a:pPr indent="-292100" lvl="1" marL="914400" rtl="0" algn="l">
              <a:lnSpc>
                <a:spcPct val="100000"/>
              </a:lnSpc>
              <a:spcBef>
                <a:spcPts val="0"/>
              </a:spcBef>
              <a:spcAft>
                <a:spcPts val="0"/>
              </a:spcAft>
              <a:buSzPts val="1000"/>
              <a:buChar char="○"/>
            </a:pPr>
            <a:r>
              <a:rPr lang="en" sz="1000"/>
              <a:t>All threads created in a process </a:t>
            </a:r>
            <a:r>
              <a:rPr b="1" i="1" lang="en" sz="1000">
                <a:solidFill>
                  <a:srgbClr val="FF0000"/>
                </a:solidFill>
              </a:rPr>
              <a:t>share </a:t>
            </a:r>
            <a:r>
              <a:rPr lang="en" sz="1000"/>
              <a:t>the same memory space</a:t>
            </a:r>
            <a:endParaRPr sz="1000"/>
          </a:p>
          <a:p>
            <a:pPr indent="-311150" lvl="0" marL="457200" rtl="0" algn="l">
              <a:lnSpc>
                <a:spcPct val="100000"/>
              </a:lnSpc>
              <a:spcBef>
                <a:spcPts val="1000"/>
              </a:spcBef>
              <a:spcAft>
                <a:spcPts val="0"/>
              </a:spcAft>
              <a:buSzPts val="1300"/>
              <a:buChar char="●"/>
            </a:pPr>
            <a:r>
              <a:rPr lang="en"/>
              <a:t>All Java programs are executed in a </a:t>
            </a:r>
            <a:r>
              <a:rPr b="1" i="1" lang="en">
                <a:solidFill>
                  <a:srgbClr val="FF0000"/>
                </a:solidFill>
              </a:rPr>
              <a:t>main thread</a:t>
            </a:r>
            <a:endParaRPr/>
          </a:p>
          <a:p>
            <a:pPr indent="-298450" lvl="1" marL="914400" rtl="0" algn="l">
              <a:lnSpc>
                <a:spcPct val="100000"/>
              </a:lnSpc>
              <a:spcBef>
                <a:spcPts val="0"/>
              </a:spcBef>
              <a:spcAft>
                <a:spcPts val="0"/>
              </a:spcAft>
              <a:buSzPts val="1100"/>
              <a:buChar char="○"/>
            </a:pPr>
            <a:r>
              <a:rPr lang="en"/>
              <a:t>This is the thread that executes the code in the main method</a:t>
            </a:r>
            <a:endParaRPr/>
          </a:p>
          <a:p>
            <a:pPr indent="-311150" lvl="0" marL="457200" rtl="0" algn="l">
              <a:lnSpc>
                <a:spcPct val="100000"/>
              </a:lnSpc>
              <a:spcBef>
                <a:spcPts val="1000"/>
              </a:spcBef>
              <a:spcAft>
                <a:spcPts val="0"/>
              </a:spcAft>
              <a:buSzPts val="1300"/>
              <a:buChar char="●"/>
            </a:pPr>
            <a:r>
              <a:rPr lang="en"/>
              <a:t>One way to create additional threads in a Java program is by extending the </a:t>
            </a:r>
            <a:r>
              <a:rPr lang="en">
                <a:solidFill>
                  <a:srgbClr val="FF0000"/>
                </a:solidFill>
                <a:latin typeface="Courier New"/>
                <a:ea typeface="Courier New"/>
                <a:cs typeface="Courier New"/>
                <a:sym typeface="Courier New"/>
              </a:rPr>
              <a:t>java.lang.Thread</a:t>
            </a:r>
            <a:r>
              <a:rPr lang="en"/>
              <a:t> class</a:t>
            </a:r>
            <a:endParaRPr/>
          </a:p>
          <a:p>
            <a:pPr indent="-298450" lvl="1" marL="914400" rtl="0" algn="l">
              <a:lnSpc>
                <a:spcPct val="100000"/>
              </a:lnSpc>
              <a:spcBef>
                <a:spcPts val="0"/>
              </a:spcBef>
              <a:spcAft>
                <a:spcPts val="0"/>
              </a:spcAft>
              <a:buSzPts val="1100"/>
              <a:buChar char="○"/>
            </a:pPr>
            <a:r>
              <a:rPr lang="en"/>
              <a:t>Override its </a:t>
            </a:r>
            <a:r>
              <a:rPr lang="en">
                <a:solidFill>
                  <a:srgbClr val="FF0000"/>
                </a:solidFill>
                <a:latin typeface="Courier New"/>
                <a:ea typeface="Courier New"/>
                <a:cs typeface="Courier New"/>
                <a:sym typeface="Courier New"/>
              </a:rPr>
              <a:t>run</a:t>
            </a:r>
            <a:r>
              <a:rPr lang="en"/>
              <a:t> method in your subclass to include the code that you want the thread to execute</a:t>
            </a:r>
            <a:endParaRPr/>
          </a:p>
          <a:p>
            <a:pPr indent="-298450" lvl="1" marL="914400" rtl="0" algn="l">
              <a:lnSpc>
                <a:spcPct val="100000"/>
              </a:lnSpc>
              <a:spcBef>
                <a:spcPts val="400"/>
              </a:spcBef>
              <a:spcAft>
                <a:spcPts val="1000"/>
              </a:spcAft>
              <a:buSzPts val="1100"/>
              <a:buChar char="○"/>
            </a:pPr>
            <a:r>
              <a:rPr lang="en"/>
              <a:t>Call its </a:t>
            </a:r>
            <a:r>
              <a:rPr lang="en">
                <a:solidFill>
                  <a:srgbClr val="FF0000"/>
                </a:solidFill>
                <a:latin typeface="Courier New"/>
                <a:ea typeface="Courier New"/>
                <a:cs typeface="Courier New"/>
                <a:sym typeface="Courier New"/>
              </a:rPr>
              <a:t>start</a:t>
            </a:r>
            <a:r>
              <a:rPr lang="en"/>
              <a:t> method to execute as a thread that is separate from the main thread</a:t>
            </a:r>
            <a:endParaRPr/>
          </a:p>
        </p:txBody>
      </p:sp>
      <p:sp>
        <p:nvSpPr>
          <p:cNvPr id="300" name="Google Shape;300;p39"/>
          <p:cNvSpPr/>
          <p:nvPr/>
        </p:nvSpPr>
        <p:spPr>
          <a:xfrm>
            <a:off x="5108158" y="1444000"/>
            <a:ext cx="3817800" cy="30642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extends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2</a:t>
            </a:r>
            <a:r>
              <a:rPr lang="en" sz="1050">
                <a:solidFill>
                  <a:srgbClr val="008000"/>
                </a:solidFill>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3</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4</a:t>
            </a:r>
            <a:r>
              <a:rPr lang="en" sz="1050">
                <a:solidFill>
                  <a:srgbClr val="008000"/>
                </a:solidFill>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5</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6</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7</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8</a:t>
            </a:r>
            <a:r>
              <a:rPr lang="en" sz="1050">
                <a:solidFill>
                  <a:srgbClr val="008000"/>
                </a:solidFill>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9</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10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11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12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13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14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16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17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18 </a:t>
            </a:r>
            <a:r>
              <a:rPr lang="en" sz="1050">
                <a:latin typeface="Consolas"/>
                <a:ea typeface="Consolas"/>
                <a:cs typeface="Consolas"/>
                <a:sym typeface="Consolas"/>
              </a:rPr>
              <a:t>}</a:t>
            </a:r>
            <a:endParaRPr sz="1100">
              <a:solidFill>
                <a:schemeClr val="dk1"/>
              </a:solidFill>
              <a:latin typeface="Consolas"/>
              <a:ea typeface="Consolas"/>
              <a:cs typeface="Consolas"/>
              <a:sym typeface="Consolas"/>
            </a:endParaRPr>
          </a:p>
        </p:txBody>
      </p:sp>
      <p:sp>
        <p:nvSpPr>
          <p:cNvPr id="301" name="Google Shape;301;p39"/>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7" name="Google Shape;307;p4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Extending </a:t>
            </a:r>
            <a:r>
              <a:rPr lang="en">
                <a:latin typeface="Courier New"/>
                <a:ea typeface="Courier New"/>
                <a:cs typeface="Courier New"/>
                <a:sym typeface="Courier New"/>
              </a:rPr>
              <a:t>Thread</a:t>
            </a:r>
            <a:endParaRPr>
              <a:latin typeface="Courier New"/>
              <a:ea typeface="Courier New"/>
              <a:cs typeface="Courier New"/>
              <a:sym typeface="Courier New"/>
            </a:endParaRPr>
          </a:p>
        </p:txBody>
      </p:sp>
      <p:sp>
        <p:nvSpPr>
          <p:cNvPr id="308" name="Google Shape;308;p40"/>
          <p:cNvSpPr/>
          <p:nvPr/>
        </p:nvSpPr>
        <p:spPr>
          <a:xfrm>
            <a:off x="2608375" y="1527200"/>
            <a:ext cx="3927300" cy="3135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extends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2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3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4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5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6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7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8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9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10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11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12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13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14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16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17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18 </a:t>
            </a:r>
            <a:r>
              <a:rPr lang="en" sz="1050">
                <a:latin typeface="Consolas"/>
                <a:ea typeface="Consolas"/>
                <a:cs typeface="Consolas"/>
                <a:sym typeface="Consolas"/>
              </a:rPr>
              <a:t>}</a:t>
            </a:r>
            <a:endParaRPr sz="1100">
              <a:solidFill>
                <a:schemeClr val="dk1"/>
              </a:solidFill>
              <a:latin typeface="Consolas"/>
              <a:ea typeface="Consolas"/>
              <a:cs typeface="Consolas"/>
              <a:sym typeface="Consola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4" name="Google Shape;314;p4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Extending </a:t>
            </a:r>
            <a:r>
              <a:rPr lang="en">
                <a:latin typeface="Courier New"/>
                <a:ea typeface="Courier New"/>
                <a:cs typeface="Courier New"/>
                <a:sym typeface="Courier New"/>
              </a:rPr>
              <a:t>Thread</a:t>
            </a:r>
            <a:endParaRPr>
              <a:latin typeface="Courier New"/>
              <a:ea typeface="Courier New"/>
              <a:cs typeface="Courier New"/>
              <a:sym typeface="Courier New"/>
            </a:endParaRPr>
          </a:p>
        </p:txBody>
      </p:sp>
      <p:sp>
        <p:nvSpPr>
          <p:cNvPr id="315" name="Google Shape;315;p41"/>
          <p:cNvSpPr/>
          <p:nvPr/>
        </p:nvSpPr>
        <p:spPr>
          <a:xfrm>
            <a:off x="2608375" y="1527200"/>
            <a:ext cx="3927300" cy="3135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extends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2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3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4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5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6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7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8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9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10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11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12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13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14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16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17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18 </a:t>
            </a:r>
            <a:r>
              <a:rPr lang="en" sz="1050">
                <a:latin typeface="Consolas"/>
                <a:ea typeface="Consolas"/>
                <a:cs typeface="Consolas"/>
                <a:sym typeface="Consolas"/>
              </a:rPr>
              <a:t>}</a:t>
            </a:r>
            <a:endParaRPr sz="1100">
              <a:solidFill>
                <a:schemeClr val="dk1"/>
              </a:solidFill>
              <a:latin typeface="Consolas"/>
              <a:ea typeface="Consolas"/>
              <a:cs typeface="Consolas"/>
              <a:sym typeface="Consolas"/>
            </a:endParaRPr>
          </a:p>
        </p:txBody>
      </p:sp>
      <p:sp>
        <p:nvSpPr>
          <p:cNvPr id="316" name="Google Shape;316;p41"/>
          <p:cNvSpPr txBox="1"/>
          <p:nvPr/>
        </p:nvSpPr>
        <p:spPr>
          <a:xfrm>
            <a:off x="158850" y="1527200"/>
            <a:ext cx="2314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Start by creating a </a:t>
            </a:r>
            <a:r>
              <a:rPr b="1" i="1" lang="en" sz="1200">
                <a:solidFill>
                  <a:srgbClr val="FF0000"/>
                </a:solidFill>
                <a:latin typeface="Roboto"/>
                <a:ea typeface="Roboto"/>
                <a:cs typeface="Roboto"/>
                <a:sym typeface="Roboto"/>
              </a:rPr>
              <a:t>subclass</a:t>
            </a:r>
            <a:r>
              <a:rPr lang="en" sz="1200">
                <a:solidFill>
                  <a:srgbClr val="FF0000"/>
                </a:solidFill>
                <a:latin typeface="Roboto"/>
                <a:ea typeface="Roboto"/>
                <a:cs typeface="Roboto"/>
                <a:sym typeface="Roboto"/>
              </a:rPr>
              <a:t> </a:t>
            </a:r>
            <a:r>
              <a:rPr lang="en" sz="1200">
                <a:latin typeface="Roboto"/>
                <a:ea typeface="Roboto"/>
                <a:cs typeface="Roboto"/>
                <a:sym typeface="Roboto"/>
              </a:rPr>
              <a:t>by extending </a:t>
            </a:r>
            <a:r>
              <a:rPr lang="en" sz="1200">
                <a:solidFill>
                  <a:srgbClr val="FF0000"/>
                </a:solidFill>
                <a:latin typeface="Courier New"/>
                <a:ea typeface="Courier New"/>
                <a:cs typeface="Courier New"/>
                <a:sym typeface="Courier New"/>
              </a:rPr>
              <a:t>Thread</a:t>
            </a:r>
            <a:r>
              <a:rPr lang="en" sz="1200">
                <a:latin typeface="Roboto"/>
                <a:ea typeface="Roboto"/>
                <a:cs typeface="Roboto"/>
                <a:sym typeface="Roboto"/>
              </a:rPr>
              <a:t>.</a:t>
            </a:r>
            <a:endParaRPr sz="1200">
              <a:latin typeface="Roboto"/>
              <a:ea typeface="Roboto"/>
              <a:cs typeface="Roboto"/>
              <a:sym typeface="Roboto"/>
            </a:endParaRPr>
          </a:p>
        </p:txBody>
      </p:sp>
      <p:grpSp>
        <p:nvGrpSpPr>
          <p:cNvPr id="317" name="Google Shape;317;p41"/>
          <p:cNvGrpSpPr/>
          <p:nvPr/>
        </p:nvGrpSpPr>
        <p:grpSpPr>
          <a:xfrm>
            <a:off x="1316100" y="1527200"/>
            <a:ext cx="4674575" cy="288100"/>
            <a:chOff x="1316100" y="1527200"/>
            <a:chExt cx="4674575" cy="288100"/>
          </a:xfrm>
        </p:grpSpPr>
        <p:sp>
          <p:nvSpPr>
            <p:cNvPr id="318" name="Google Shape;318;p41"/>
            <p:cNvSpPr/>
            <p:nvPr/>
          </p:nvSpPr>
          <p:spPr>
            <a:xfrm>
              <a:off x="4856075" y="1596000"/>
              <a:ext cx="1134600" cy="219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19" name="Google Shape;319;p41"/>
            <p:cNvCxnSpPr>
              <a:stCxn id="316" idx="0"/>
              <a:endCxn id="318" idx="0"/>
            </p:cNvCxnSpPr>
            <p:nvPr/>
          </p:nvCxnSpPr>
          <p:spPr>
            <a:xfrm flipH="1" rot="-5400000">
              <a:off x="3335400" y="-492100"/>
              <a:ext cx="68700" cy="4107300"/>
            </a:xfrm>
            <a:prstGeom prst="bentConnector3">
              <a:avLst>
                <a:gd fmla="val -241157" name="adj1"/>
              </a:avLst>
            </a:prstGeom>
            <a:noFill/>
            <a:ln cap="flat" cmpd="sng" w="19050">
              <a:solidFill>
                <a:srgbClr val="FF0000"/>
              </a:solidFill>
              <a:prstDash val="solid"/>
              <a:round/>
              <a:headEnd len="med" w="med" type="none"/>
              <a:tailEnd len="med" w="med" type="none"/>
            </a:ln>
          </p:spPr>
        </p:cxnSp>
      </p:grpSp>
      <p:sp>
        <p:nvSpPr>
          <p:cNvPr id="320" name="Google Shape;320;p41"/>
          <p:cNvSpPr txBox="1"/>
          <p:nvPr/>
        </p:nvSpPr>
        <p:spPr>
          <a:xfrm>
            <a:off x="158850" y="2224225"/>
            <a:ext cx="23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Because </a:t>
            </a:r>
            <a:r>
              <a:rPr lang="en" sz="1200">
                <a:latin typeface="Courier New"/>
                <a:ea typeface="Courier New"/>
                <a:cs typeface="Courier New"/>
                <a:sym typeface="Courier New"/>
              </a:rPr>
              <a:t>Thread</a:t>
            </a:r>
            <a:r>
              <a:rPr lang="en" sz="1200">
                <a:latin typeface="Roboto"/>
                <a:ea typeface="Roboto"/>
                <a:cs typeface="Roboto"/>
                <a:sym typeface="Roboto"/>
              </a:rPr>
              <a:t> is in the </a:t>
            </a:r>
            <a:r>
              <a:rPr lang="en" sz="1200">
                <a:latin typeface="Courier New"/>
                <a:ea typeface="Courier New"/>
                <a:cs typeface="Courier New"/>
                <a:sym typeface="Courier New"/>
              </a:rPr>
              <a:t>java.lang</a:t>
            </a:r>
            <a:r>
              <a:rPr lang="en" sz="1200">
                <a:latin typeface="Roboto"/>
                <a:ea typeface="Roboto"/>
                <a:cs typeface="Roboto"/>
                <a:sym typeface="Roboto"/>
              </a:rPr>
              <a:t> package, you don't need to import it to use it.</a:t>
            </a:r>
            <a:endParaRPr sz="1200">
              <a:latin typeface="Roboto"/>
              <a:ea typeface="Roboto"/>
              <a:cs typeface="Roboto"/>
              <a:sym typeface="Roboto"/>
            </a:endParaRPr>
          </a:p>
        </p:txBody>
      </p:sp>
      <p:sp>
        <p:nvSpPr>
          <p:cNvPr id="321" name="Google Shape;321;p41"/>
          <p:cNvSpPr txBox="1"/>
          <p:nvPr/>
        </p:nvSpPr>
        <p:spPr>
          <a:xfrm>
            <a:off x="158850" y="3106050"/>
            <a:ext cx="2314500" cy="1477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default </a:t>
            </a:r>
            <a:r>
              <a:rPr lang="en" sz="1200">
                <a:solidFill>
                  <a:srgbClr val="FF0000"/>
                </a:solidFill>
                <a:latin typeface="Courier New"/>
                <a:ea typeface="Courier New"/>
                <a:cs typeface="Courier New"/>
                <a:sym typeface="Courier New"/>
              </a:rPr>
              <a:t>run()</a:t>
            </a:r>
            <a:r>
              <a:rPr lang="en" sz="1200">
                <a:latin typeface="Roboto"/>
                <a:ea typeface="Roboto"/>
                <a:cs typeface="Roboto"/>
                <a:sym typeface="Roboto"/>
              </a:rPr>
              <a:t> method provided by the </a:t>
            </a:r>
            <a:r>
              <a:rPr lang="en" sz="1200">
                <a:latin typeface="Courier New"/>
                <a:ea typeface="Courier New"/>
                <a:cs typeface="Courier New"/>
                <a:sym typeface="Courier New"/>
              </a:rPr>
              <a:t>Thread</a:t>
            </a:r>
            <a:r>
              <a:rPr lang="en" sz="1200">
                <a:latin typeface="Roboto"/>
                <a:ea typeface="Roboto"/>
                <a:cs typeface="Roboto"/>
                <a:sym typeface="Roboto"/>
              </a:rPr>
              <a:t> class doesn't actually </a:t>
            </a:r>
            <a:r>
              <a:rPr i="1" lang="en" sz="1200">
                <a:latin typeface="Roboto"/>
                <a:ea typeface="Roboto"/>
                <a:cs typeface="Roboto"/>
                <a:sym typeface="Roboto"/>
              </a:rPr>
              <a:t>do</a:t>
            </a:r>
            <a:r>
              <a:rPr lang="en" sz="1200">
                <a:latin typeface="Roboto"/>
                <a:ea typeface="Roboto"/>
                <a:cs typeface="Roboto"/>
                <a:sym typeface="Roboto"/>
              </a:rPr>
              <a:t> anything. You will need to </a:t>
            </a:r>
            <a:r>
              <a:rPr b="1" i="1" lang="en" sz="1200">
                <a:solidFill>
                  <a:srgbClr val="FF0000"/>
                </a:solidFill>
                <a:latin typeface="Roboto"/>
                <a:ea typeface="Roboto"/>
                <a:cs typeface="Roboto"/>
                <a:sym typeface="Roboto"/>
              </a:rPr>
              <a:t>override</a:t>
            </a:r>
            <a:r>
              <a:rPr lang="en" sz="1200">
                <a:solidFill>
                  <a:srgbClr val="FF0000"/>
                </a:solidFill>
                <a:latin typeface="Roboto"/>
                <a:ea typeface="Roboto"/>
                <a:cs typeface="Roboto"/>
                <a:sym typeface="Roboto"/>
              </a:rPr>
              <a:t> </a:t>
            </a:r>
            <a:r>
              <a:rPr lang="en" sz="1200">
                <a:latin typeface="Roboto"/>
                <a:ea typeface="Roboto"/>
                <a:cs typeface="Roboto"/>
                <a:sym typeface="Roboto"/>
              </a:rPr>
              <a:t>it to include the code that you would like to execute in the thread.</a:t>
            </a:r>
            <a:endParaRPr sz="1200">
              <a:latin typeface="Roboto"/>
              <a:ea typeface="Roboto"/>
              <a:cs typeface="Roboto"/>
              <a:sym typeface="Roboto"/>
            </a:endParaRPr>
          </a:p>
        </p:txBody>
      </p:sp>
      <p:grpSp>
        <p:nvGrpSpPr>
          <p:cNvPr id="322" name="Google Shape;322;p41"/>
          <p:cNvGrpSpPr/>
          <p:nvPr/>
        </p:nvGrpSpPr>
        <p:grpSpPr>
          <a:xfrm>
            <a:off x="2473350" y="2836500"/>
            <a:ext cx="2790625" cy="1008300"/>
            <a:chOff x="2473350" y="2836500"/>
            <a:chExt cx="2790625" cy="1008300"/>
          </a:xfrm>
        </p:grpSpPr>
        <p:sp>
          <p:nvSpPr>
            <p:cNvPr id="323" name="Google Shape;323;p41"/>
            <p:cNvSpPr/>
            <p:nvPr/>
          </p:nvSpPr>
          <p:spPr>
            <a:xfrm>
              <a:off x="3100675" y="2836500"/>
              <a:ext cx="2163300" cy="786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4" name="Google Shape;324;p41"/>
            <p:cNvCxnSpPr>
              <a:stCxn id="321" idx="3"/>
              <a:endCxn id="323" idx="1"/>
            </p:cNvCxnSpPr>
            <p:nvPr/>
          </p:nvCxnSpPr>
          <p:spPr>
            <a:xfrm flipH="1" rot="10800000">
              <a:off x="2473350" y="3229800"/>
              <a:ext cx="627300" cy="615000"/>
            </a:xfrm>
            <a:prstGeom prst="bentConnector3">
              <a:avLst>
                <a:gd fmla="val 50002" name="adj1"/>
              </a:avLst>
            </a:prstGeom>
            <a:noFill/>
            <a:ln cap="flat" cmpd="sng" w="19050">
              <a:solidFill>
                <a:srgbClr val="FF0000"/>
              </a:solidFill>
              <a:prstDash val="solid"/>
              <a:round/>
              <a:headEnd len="med" w="med" type="none"/>
              <a:tailEnd len="med" w="med" type="none"/>
            </a:ln>
          </p:spPr>
        </p:cxnSp>
      </p:grpSp>
      <p:sp>
        <p:nvSpPr>
          <p:cNvPr id="325" name="Google Shape;325;p41"/>
          <p:cNvSpPr txBox="1"/>
          <p:nvPr/>
        </p:nvSpPr>
        <p:spPr>
          <a:xfrm>
            <a:off x="6670700" y="1527200"/>
            <a:ext cx="2314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Simply calling the </a:t>
            </a:r>
            <a:r>
              <a:rPr lang="en" sz="1200">
                <a:latin typeface="Courier New"/>
                <a:ea typeface="Courier New"/>
                <a:cs typeface="Courier New"/>
                <a:sym typeface="Courier New"/>
              </a:rPr>
              <a:t>run()</a:t>
            </a:r>
            <a:r>
              <a:rPr lang="en" sz="1200">
                <a:latin typeface="Roboto"/>
                <a:ea typeface="Roboto"/>
                <a:cs typeface="Roboto"/>
                <a:sym typeface="Roboto"/>
              </a:rPr>
              <a:t> method on an instance of your new thread directly would execute it in the </a:t>
            </a:r>
            <a:r>
              <a:rPr b="1" i="1" lang="en" sz="1200">
                <a:solidFill>
                  <a:srgbClr val="FF0000"/>
                </a:solidFill>
                <a:latin typeface="Roboto"/>
                <a:ea typeface="Roboto"/>
                <a:cs typeface="Roboto"/>
                <a:sym typeface="Roboto"/>
              </a:rPr>
              <a:t>main</a:t>
            </a:r>
            <a:r>
              <a:rPr lang="en" sz="1200">
                <a:solidFill>
                  <a:srgbClr val="FF0000"/>
                </a:solidFill>
                <a:latin typeface="Roboto"/>
                <a:ea typeface="Roboto"/>
                <a:cs typeface="Roboto"/>
                <a:sym typeface="Roboto"/>
              </a:rPr>
              <a:t> </a:t>
            </a:r>
            <a:r>
              <a:rPr lang="en" sz="1200">
                <a:latin typeface="Roboto"/>
                <a:ea typeface="Roboto"/>
                <a:cs typeface="Roboto"/>
                <a:sym typeface="Roboto"/>
              </a:rPr>
              <a:t>thread.</a:t>
            </a:r>
            <a:endParaRPr sz="1200">
              <a:latin typeface="Roboto"/>
              <a:ea typeface="Roboto"/>
              <a:cs typeface="Roboto"/>
              <a:sym typeface="Roboto"/>
            </a:endParaRPr>
          </a:p>
        </p:txBody>
      </p:sp>
      <p:sp>
        <p:nvSpPr>
          <p:cNvPr id="326" name="Google Shape;326;p41"/>
          <p:cNvSpPr txBox="1"/>
          <p:nvPr/>
        </p:nvSpPr>
        <p:spPr>
          <a:xfrm>
            <a:off x="6670700" y="2633450"/>
            <a:ext cx="2314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If you want to execute your code in a separate thread, you will need to call the </a:t>
            </a:r>
            <a:r>
              <a:rPr lang="en" sz="1200">
                <a:solidFill>
                  <a:srgbClr val="FF0000"/>
                </a:solidFill>
                <a:latin typeface="Courier New"/>
                <a:ea typeface="Courier New"/>
                <a:cs typeface="Courier New"/>
                <a:sym typeface="Courier New"/>
              </a:rPr>
              <a:t>start()</a:t>
            </a:r>
            <a:r>
              <a:rPr lang="en" sz="1200">
                <a:latin typeface="Roboto"/>
                <a:ea typeface="Roboto"/>
                <a:cs typeface="Roboto"/>
                <a:sym typeface="Roboto"/>
              </a:rPr>
              <a:t> method instead.</a:t>
            </a:r>
            <a:endParaRPr sz="1200">
              <a:latin typeface="Roboto"/>
              <a:ea typeface="Roboto"/>
              <a:cs typeface="Roboto"/>
              <a:sym typeface="Roboto"/>
            </a:endParaRPr>
          </a:p>
        </p:txBody>
      </p:sp>
      <p:grpSp>
        <p:nvGrpSpPr>
          <p:cNvPr id="327" name="Google Shape;327;p41"/>
          <p:cNvGrpSpPr/>
          <p:nvPr/>
        </p:nvGrpSpPr>
        <p:grpSpPr>
          <a:xfrm>
            <a:off x="3452530" y="3095025"/>
            <a:ext cx="3218100" cy="1125600"/>
            <a:chOff x="3452530" y="3095025"/>
            <a:chExt cx="3218100" cy="1125600"/>
          </a:xfrm>
        </p:grpSpPr>
        <p:sp>
          <p:nvSpPr>
            <p:cNvPr id="328" name="Google Shape;328;p41"/>
            <p:cNvSpPr/>
            <p:nvPr/>
          </p:nvSpPr>
          <p:spPr>
            <a:xfrm>
              <a:off x="3452530" y="4010025"/>
              <a:ext cx="1259700" cy="210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9" name="Google Shape;329;p41"/>
            <p:cNvCxnSpPr>
              <a:endCxn id="328" idx="3"/>
            </p:cNvCxnSpPr>
            <p:nvPr/>
          </p:nvCxnSpPr>
          <p:spPr>
            <a:xfrm flipH="1">
              <a:off x="4712230" y="3095025"/>
              <a:ext cx="1958400" cy="1020300"/>
            </a:xfrm>
            <a:prstGeom prst="bentConnector3">
              <a:avLst>
                <a:gd fmla="val 16954" name="adj1"/>
              </a:avLst>
            </a:prstGeom>
            <a:noFill/>
            <a:ln cap="flat" cmpd="sng" w="19050">
              <a:solidFill>
                <a:srgbClr val="FF0000"/>
              </a:solidFill>
              <a:prstDash val="solid"/>
              <a:round/>
              <a:headEnd len="med" w="med" type="none"/>
              <a:tailEnd len="med" w="med" type="none"/>
            </a:ln>
          </p:spPr>
        </p:cxnSp>
      </p:grpSp>
      <p:sp>
        <p:nvSpPr>
          <p:cNvPr id="330" name="Google Shape;330;p41"/>
          <p:cNvSpPr txBox="1"/>
          <p:nvPr/>
        </p:nvSpPr>
        <p:spPr>
          <a:xfrm>
            <a:off x="6670700" y="3685975"/>
            <a:ext cx="23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 Java runtime will create a new thread and call the </a:t>
            </a:r>
            <a:r>
              <a:rPr lang="en" sz="1200">
                <a:latin typeface="Courier New"/>
                <a:ea typeface="Courier New"/>
                <a:cs typeface="Courier New"/>
                <a:sym typeface="Courier New"/>
              </a:rPr>
              <a:t>run()</a:t>
            </a:r>
            <a:r>
              <a:rPr lang="en" sz="1200">
                <a:latin typeface="Roboto"/>
                <a:ea typeface="Roboto"/>
                <a:cs typeface="Roboto"/>
                <a:sym typeface="Roboto"/>
              </a:rPr>
              <a:t> method in that thread.</a:t>
            </a:r>
            <a:endParaRPr sz="12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10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10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1000"/>
                                        <p:tgtEl>
                                          <p:spTgt spid="3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1000"/>
                                        <p:tgtEl>
                                          <p:spTgt spid="3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10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2"/>
          <p:cNvSpPr txBox="1"/>
          <p:nvPr>
            <p:ph type="title"/>
          </p:nvPr>
        </p:nvSpPr>
        <p:spPr>
          <a:xfrm>
            <a:off x="311725" y="500925"/>
            <a:ext cx="3706500" cy="6381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2"/>
              </a:buClr>
              <a:buSzPct val="117857"/>
              <a:buFont typeface="Calibri"/>
              <a:buNone/>
            </a:pPr>
            <a:r>
              <a:rPr lang="en"/>
              <a:t>The Thread Scheduler</a:t>
            </a:r>
            <a:endParaRPr/>
          </a:p>
        </p:txBody>
      </p:sp>
      <p:sp>
        <p:nvSpPr>
          <p:cNvPr id="336" name="Google Shape;336;p42"/>
          <p:cNvSpPr txBox="1"/>
          <p:nvPr>
            <p:ph idx="1" type="body"/>
          </p:nvPr>
        </p:nvSpPr>
        <p:spPr>
          <a:xfrm>
            <a:off x="4644675" y="272325"/>
            <a:ext cx="4166400" cy="4432200"/>
          </a:xfrm>
          <a:prstGeom prst="rect">
            <a:avLst/>
          </a:prstGeom>
          <a:noFill/>
          <a:ln>
            <a:noFill/>
          </a:ln>
        </p:spPr>
        <p:txBody>
          <a:bodyPr anchorCtr="0" anchor="t" bIns="34275" lIns="68575" spcFirstLastPara="1" rIns="68575" wrap="square" tIns="34275">
            <a:normAutofit/>
          </a:bodyPr>
          <a:lstStyle/>
          <a:p>
            <a:pPr indent="-317500" lvl="0" marL="457200" rtl="0" algn="l">
              <a:lnSpc>
                <a:spcPct val="115000"/>
              </a:lnSpc>
              <a:spcBef>
                <a:spcPts val="0"/>
              </a:spcBef>
              <a:spcAft>
                <a:spcPts val="0"/>
              </a:spcAft>
              <a:buSzPts val="1400"/>
              <a:buChar char="●"/>
            </a:pPr>
            <a:r>
              <a:rPr lang="en" sz="1400"/>
              <a:t>So who, or what, decides whether or not a thread is given time on one of the available processors?</a:t>
            </a:r>
            <a:endParaRPr sz="1400"/>
          </a:p>
          <a:p>
            <a:pPr indent="-317500" lvl="0" marL="457200" rtl="0" algn="l">
              <a:lnSpc>
                <a:spcPct val="115000"/>
              </a:lnSpc>
              <a:spcBef>
                <a:spcPts val="1000"/>
              </a:spcBef>
              <a:spcAft>
                <a:spcPts val="0"/>
              </a:spcAft>
              <a:buSzPts val="1400"/>
              <a:buChar char="●"/>
            </a:pPr>
            <a:r>
              <a:rPr lang="en" sz="1400"/>
              <a:t>A mysterious entity called the thread </a:t>
            </a:r>
            <a:r>
              <a:rPr b="1" i="1" lang="en" sz="1400">
                <a:solidFill>
                  <a:srgbClr val="FF0000"/>
                </a:solidFill>
              </a:rPr>
              <a:t>scheduler</a:t>
            </a:r>
            <a:endParaRPr b="1" i="1" sz="1400">
              <a:solidFill>
                <a:srgbClr val="FF0000"/>
              </a:solidFill>
            </a:endParaRPr>
          </a:p>
          <a:p>
            <a:pPr indent="-317500" lvl="0" marL="457200" rtl="0" algn="l">
              <a:lnSpc>
                <a:spcPct val="115000"/>
              </a:lnSpc>
              <a:spcBef>
                <a:spcPts val="1000"/>
              </a:spcBef>
              <a:spcAft>
                <a:spcPts val="0"/>
              </a:spcAft>
              <a:buSzPts val="1400"/>
              <a:buChar char="●"/>
            </a:pPr>
            <a:r>
              <a:rPr lang="en" sz="1400"/>
              <a:t>The thread scheduler works </a:t>
            </a:r>
            <a:r>
              <a:rPr b="1" i="1" lang="en" sz="1400">
                <a:solidFill>
                  <a:srgbClr val="FF0000"/>
                </a:solidFill>
              </a:rPr>
              <a:t>differently</a:t>
            </a:r>
            <a:r>
              <a:rPr b="1" i="1" lang="en" sz="1400">
                <a:solidFill>
                  <a:srgbClr val="FF0000"/>
                </a:solidFill>
              </a:rPr>
              <a:t> </a:t>
            </a:r>
            <a:r>
              <a:rPr lang="en" sz="1400"/>
              <a:t>on different architectures (operating systems, processors, etc.)</a:t>
            </a:r>
            <a:endParaRPr sz="1400"/>
          </a:p>
          <a:p>
            <a:pPr indent="-317500" lvl="0" marL="457200" rtl="0" algn="l">
              <a:lnSpc>
                <a:spcPct val="115000"/>
              </a:lnSpc>
              <a:spcBef>
                <a:spcPts val="1000"/>
              </a:spcBef>
              <a:spcAft>
                <a:spcPts val="0"/>
              </a:spcAft>
              <a:buSzPts val="1400"/>
              <a:buChar char="●"/>
            </a:pPr>
            <a:r>
              <a:rPr lang="en" sz="1400"/>
              <a:t>Its behavior is a black box, and somewhat </a:t>
            </a:r>
            <a:r>
              <a:rPr b="1" i="1" lang="en" sz="1400">
                <a:solidFill>
                  <a:srgbClr val="FF0000"/>
                </a:solidFill>
              </a:rPr>
              <a:t>unpredictable</a:t>
            </a:r>
            <a:endParaRPr b="1" i="1" sz="1400">
              <a:solidFill>
                <a:srgbClr val="FF0000"/>
              </a:solidFill>
            </a:endParaRPr>
          </a:p>
          <a:p>
            <a:pPr indent="-311150" lvl="1" marL="914400" rtl="0" algn="l">
              <a:lnSpc>
                <a:spcPct val="115000"/>
              </a:lnSpc>
              <a:spcBef>
                <a:spcPts val="1000"/>
              </a:spcBef>
              <a:spcAft>
                <a:spcPts val="0"/>
              </a:spcAft>
              <a:buSzPts val="1300"/>
              <a:buChar char="○"/>
            </a:pPr>
            <a:r>
              <a:rPr lang="en" sz="1300"/>
              <a:t>Your threads are in competition with all of the </a:t>
            </a:r>
            <a:r>
              <a:rPr b="1" i="1" lang="en" sz="1300">
                <a:solidFill>
                  <a:srgbClr val="FF0000"/>
                </a:solidFill>
              </a:rPr>
              <a:t>other</a:t>
            </a:r>
            <a:r>
              <a:rPr lang="en" sz="1300"/>
              <a:t> threads running on the computer</a:t>
            </a:r>
            <a:endParaRPr sz="1300"/>
          </a:p>
          <a:p>
            <a:pPr indent="-311150" lvl="1" marL="914400" rtl="0" algn="l">
              <a:lnSpc>
                <a:spcPct val="115000"/>
              </a:lnSpc>
              <a:spcBef>
                <a:spcPts val="1000"/>
              </a:spcBef>
              <a:spcAft>
                <a:spcPts val="1000"/>
              </a:spcAft>
              <a:buSzPts val="1300"/>
              <a:buChar char="○"/>
            </a:pPr>
            <a:r>
              <a:rPr lang="en" sz="1300"/>
              <a:t>There is no way to </a:t>
            </a:r>
            <a:r>
              <a:rPr b="1" i="1" lang="en" sz="1300">
                <a:solidFill>
                  <a:srgbClr val="FF0000"/>
                </a:solidFill>
              </a:rPr>
              <a:t>guarantee</a:t>
            </a:r>
            <a:r>
              <a:rPr b="1" i="1" lang="en" sz="1300">
                <a:solidFill>
                  <a:srgbClr val="FF0000"/>
                </a:solidFill>
              </a:rPr>
              <a:t> </a:t>
            </a:r>
            <a:r>
              <a:rPr lang="en" sz="1300"/>
              <a:t>that one of your threads gets time on the processor</a:t>
            </a:r>
            <a:endParaRPr sz="1300"/>
          </a:p>
        </p:txBody>
      </p:sp>
      <p:sp>
        <p:nvSpPr>
          <p:cNvPr id="337" name="Google Shape;337;p42"/>
          <p:cNvSpPr txBox="1"/>
          <p:nvPr>
            <p:ph idx="3" type="body"/>
          </p:nvPr>
        </p:nvSpPr>
        <p:spPr>
          <a:xfrm>
            <a:off x="168075" y="4089650"/>
            <a:ext cx="40026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68575" wrap="square" tIns="91425">
            <a:spAutoFit/>
          </a:bodyPr>
          <a:lstStyle/>
          <a:p>
            <a:pPr indent="0" lvl="0" marL="0" rtl="0" algn="l">
              <a:lnSpc>
                <a:spcPct val="100000"/>
              </a:lnSpc>
              <a:spcBef>
                <a:spcPts val="0"/>
              </a:spcBef>
              <a:spcAft>
                <a:spcPts val="0"/>
              </a:spcAft>
              <a:buClr>
                <a:schemeClr val="dk2"/>
              </a:buClr>
              <a:buSzPts val="2300"/>
              <a:buNone/>
            </a:pPr>
            <a:r>
              <a:rPr lang="en"/>
              <a:t>The </a:t>
            </a:r>
            <a:r>
              <a:rPr b="1" i="1" lang="en">
                <a:solidFill>
                  <a:srgbClr val="FF0000"/>
                </a:solidFill>
              </a:rPr>
              <a:t>thread scheduler</a:t>
            </a:r>
            <a:r>
              <a:rPr lang="en"/>
              <a:t> controls when, and if, a thread gets to run. You have </a:t>
            </a:r>
            <a:r>
              <a:rPr lang="en"/>
              <a:t>minimal</a:t>
            </a:r>
            <a:r>
              <a:rPr lang="en"/>
              <a:t> control over this process but normally it works the way you want it to.</a:t>
            </a:r>
            <a:endParaRPr/>
          </a:p>
        </p:txBody>
      </p:sp>
      <p:sp>
        <p:nvSpPr>
          <p:cNvPr id="338" name="Google Shape;338;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339" name="Google Shape;339;p42"/>
          <p:cNvGrpSpPr/>
          <p:nvPr/>
        </p:nvGrpSpPr>
        <p:grpSpPr>
          <a:xfrm>
            <a:off x="1138275" y="1894300"/>
            <a:ext cx="1933800" cy="1196100"/>
            <a:chOff x="1249550" y="1861075"/>
            <a:chExt cx="1933800" cy="1196100"/>
          </a:xfrm>
        </p:grpSpPr>
        <p:sp>
          <p:nvSpPr>
            <p:cNvPr id="340" name="Google Shape;340;p42"/>
            <p:cNvSpPr/>
            <p:nvPr/>
          </p:nvSpPr>
          <p:spPr>
            <a:xfrm>
              <a:off x="1249550" y="1861075"/>
              <a:ext cx="1933800" cy="1196100"/>
            </a:xfrm>
            <a:prstGeom prst="cube">
              <a:avLst>
                <a:gd fmla="val 25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42"/>
            <p:cNvSpPr txBox="1"/>
            <p:nvPr/>
          </p:nvSpPr>
          <p:spPr>
            <a:xfrm>
              <a:off x="1322645" y="2312952"/>
              <a:ext cx="14820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rgbClr val="FFFFFF"/>
                  </a:solidFill>
                  <a:latin typeface="Roboto"/>
                  <a:ea typeface="Roboto"/>
                  <a:cs typeface="Roboto"/>
                  <a:sym typeface="Roboto"/>
                </a:rPr>
                <a:t>Scheduler</a:t>
              </a:r>
              <a:endParaRPr sz="2300">
                <a:solidFill>
                  <a:srgbClr val="FFFFFF"/>
                </a:solidFill>
                <a:latin typeface="Roboto"/>
                <a:ea typeface="Roboto"/>
                <a:cs typeface="Roboto"/>
                <a:sym typeface="Roboto"/>
              </a:endParaRPr>
            </a:p>
          </p:txBody>
        </p:sp>
      </p:grpSp>
      <p:sp>
        <p:nvSpPr>
          <p:cNvPr id="342" name="Google Shape;342;p42"/>
          <p:cNvSpPr txBox="1"/>
          <p:nvPr/>
        </p:nvSpPr>
        <p:spPr>
          <a:xfrm>
            <a:off x="168075" y="1349400"/>
            <a:ext cx="970200" cy="677100"/>
          </a:xfrm>
          <a:prstGeom prst="rect">
            <a:avLst/>
          </a:prstGeom>
          <a:noFill/>
          <a:ln cap="flat" cmpd="sng" w="19050">
            <a:solidFill>
              <a:srgbClr val="FFFF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FFFF"/>
                </a:solidFill>
                <a:latin typeface="Roboto"/>
                <a:ea typeface="Roboto"/>
                <a:cs typeface="Roboto"/>
                <a:sym typeface="Roboto"/>
              </a:rPr>
              <a:t>Run a thread</a:t>
            </a:r>
            <a:endParaRPr sz="1600">
              <a:solidFill>
                <a:srgbClr val="FFFFFF"/>
              </a:solidFill>
              <a:latin typeface="Roboto"/>
              <a:ea typeface="Roboto"/>
              <a:cs typeface="Roboto"/>
              <a:sym typeface="Roboto"/>
            </a:endParaRPr>
          </a:p>
        </p:txBody>
      </p:sp>
      <p:cxnSp>
        <p:nvCxnSpPr>
          <p:cNvPr id="343" name="Google Shape;343;p42"/>
          <p:cNvCxnSpPr>
            <a:stCxn id="342" idx="2"/>
            <a:endCxn id="340" idx="2"/>
          </p:cNvCxnSpPr>
          <p:nvPr/>
        </p:nvCxnSpPr>
        <p:spPr>
          <a:xfrm flipH="1" rot="-5400000">
            <a:off x="588075" y="2091600"/>
            <a:ext cx="615300" cy="485100"/>
          </a:xfrm>
          <a:prstGeom prst="bentConnector2">
            <a:avLst/>
          </a:prstGeom>
          <a:noFill/>
          <a:ln cap="flat" cmpd="sng" w="19050">
            <a:solidFill>
              <a:srgbClr val="FFFFFF"/>
            </a:solidFill>
            <a:prstDash val="solid"/>
            <a:round/>
            <a:headEnd len="med" w="med" type="none"/>
            <a:tailEnd len="med" w="med" type="triangle"/>
          </a:ln>
        </p:spPr>
      </p:cxnSp>
      <p:sp>
        <p:nvSpPr>
          <p:cNvPr id="344" name="Google Shape;344;p42"/>
          <p:cNvSpPr txBox="1"/>
          <p:nvPr/>
        </p:nvSpPr>
        <p:spPr>
          <a:xfrm>
            <a:off x="2206475" y="3215135"/>
            <a:ext cx="1964100" cy="677100"/>
          </a:xfrm>
          <a:prstGeom prst="rect">
            <a:avLst/>
          </a:prstGeom>
          <a:noFill/>
          <a:ln cap="flat" cmpd="sng" w="19050">
            <a:solidFill>
              <a:srgbClr val="FFFFFF"/>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FFFF"/>
                </a:solidFill>
                <a:latin typeface="Roboto"/>
                <a:ea typeface="Roboto"/>
                <a:cs typeface="Roboto"/>
                <a:sym typeface="Roboto"/>
              </a:rPr>
              <a:t>Thread runs, for some time, maybe</a:t>
            </a:r>
            <a:endParaRPr sz="1600">
              <a:solidFill>
                <a:srgbClr val="FFFFFF"/>
              </a:solidFill>
              <a:latin typeface="Roboto"/>
              <a:ea typeface="Roboto"/>
              <a:cs typeface="Roboto"/>
              <a:sym typeface="Roboto"/>
            </a:endParaRPr>
          </a:p>
        </p:txBody>
      </p:sp>
      <p:cxnSp>
        <p:nvCxnSpPr>
          <p:cNvPr id="345" name="Google Shape;345;p42"/>
          <p:cNvCxnSpPr/>
          <p:nvPr/>
        </p:nvCxnSpPr>
        <p:spPr>
          <a:xfrm flipH="1" rot="-5400000">
            <a:off x="2936300" y="2597700"/>
            <a:ext cx="645000" cy="593100"/>
          </a:xfrm>
          <a:prstGeom prst="bentConnector3">
            <a:avLst>
              <a:gd fmla="val -2004" name="adj1"/>
            </a:avLst>
          </a:prstGeom>
          <a:noFill/>
          <a:ln cap="flat" cmpd="sng" w="19050">
            <a:solidFill>
              <a:srgbClr val="FFFFFF"/>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1000"/>
                                        <p:tgtEl>
                                          <p:spTgt spid="34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45"/>
                                        </p:tgtEl>
                                        <p:attrNameLst>
                                          <p:attrName>style.visibility</p:attrName>
                                        </p:attrNameLst>
                                      </p:cBhvr>
                                      <p:to>
                                        <p:strVal val="visible"/>
                                      </p:to>
                                    </p:set>
                                    <p:animEffect filter="fade" transition="in">
                                      <p:cBhvr>
                                        <p:cTn dur="1000"/>
                                        <p:tgtEl>
                                          <p:spTgt spid="34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44"/>
                                        </p:tgtEl>
                                        <p:attrNameLst>
                                          <p:attrName>style.visibility</p:attrName>
                                        </p:attrNameLst>
                                      </p:cBhvr>
                                      <p:to>
                                        <p:strVal val="visible"/>
                                      </p:to>
                                    </p:set>
                                    <p:animEffect filter="fade" transition="in">
                                      <p:cBhvr>
                                        <p:cTn dur="1000"/>
                                        <p:tgtEl>
                                          <p:spTgt spid="3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7"/>
                                        </p:tgtEl>
                                        <p:attrNameLst>
                                          <p:attrName>style.visibility</p:attrName>
                                        </p:attrNameLst>
                                      </p:cBhvr>
                                      <p:to>
                                        <p:strVal val="visible"/>
                                      </p:to>
                                    </p:set>
                                    <p:animEffect filter="fade" transition="in">
                                      <p:cBhvr>
                                        <p:cTn dur="1000"/>
                                        <p:tgtEl>
                                          <p:spTgt spid="3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3"/>
          <p:cNvSpPr txBox="1"/>
          <p:nvPr>
            <p:ph type="title"/>
          </p:nvPr>
        </p:nvSpPr>
        <p:spPr>
          <a:xfrm>
            <a:off x="1436850" y="100"/>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latin typeface="Courier New"/>
                <a:ea typeface="Courier New"/>
                <a:cs typeface="Courier New"/>
                <a:sym typeface="Courier New"/>
              </a:rPr>
              <a:t>Thread</a:t>
            </a:r>
            <a:r>
              <a:rPr lang="en">
                <a:latin typeface="Courier New"/>
                <a:ea typeface="Courier New"/>
                <a:cs typeface="Courier New"/>
                <a:sym typeface="Courier New"/>
              </a:rPr>
              <a:t>Racer</a:t>
            </a:r>
            <a:endParaRPr>
              <a:latin typeface="Courier New"/>
              <a:ea typeface="Courier New"/>
              <a:cs typeface="Courier New"/>
              <a:sym typeface="Courier New"/>
            </a:endParaRPr>
          </a:p>
        </p:txBody>
      </p:sp>
      <p:sp>
        <p:nvSpPr>
          <p:cNvPr id="351" name="Google Shape;351;p43"/>
          <p:cNvSpPr txBox="1"/>
          <p:nvPr>
            <p:ph idx="1" type="body"/>
          </p:nvPr>
        </p:nvSpPr>
        <p:spPr>
          <a:xfrm>
            <a:off x="65250" y="731625"/>
            <a:ext cx="8955900" cy="512400"/>
          </a:xfrm>
          <a:prstGeom prst="rect">
            <a:avLst/>
          </a:prstGeom>
          <a:noFill/>
          <a:ln>
            <a:noFill/>
          </a:ln>
        </p:spPr>
        <p:txBody>
          <a:bodyPr anchorCtr="0" anchor="t" bIns="34275" lIns="68575" spcFirstLastPara="1" rIns="68575" wrap="square" tIns="34275">
            <a:spAutoFit/>
          </a:bodyPr>
          <a:lstStyle/>
          <a:p>
            <a:pPr indent="0" lvl="0" marL="0" rtl="0" algn="l">
              <a:lnSpc>
                <a:spcPct val="90000"/>
              </a:lnSpc>
              <a:spcBef>
                <a:spcPts val="0"/>
              </a:spcBef>
              <a:spcAft>
                <a:spcPts val="1600"/>
              </a:spcAft>
              <a:buClr>
                <a:schemeClr val="dk1"/>
              </a:buClr>
              <a:buSzPts val="1800"/>
              <a:buNone/>
            </a:pPr>
            <a:r>
              <a:rPr lang="en"/>
              <a:t>To solve our racing problems, were going to need to have the racers race concurrently rather than in serial. To start, we'll create a racer that is also a thread.</a:t>
            </a:r>
            <a:endParaRPr/>
          </a:p>
        </p:txBody>
      </p:sp>
      <p:sp>
        <p:nvSpPr>
          <p:cNvPr id="352" name="Google Shape;352;p43"/>
          <p:cNvSpPr txBox="1"/>
          <p:nvPr>
            <p:ph idx="2" type="body"/>
          </p:nvPr>
        </p:nvSpPr>
        <p:spPr>
          <a:xfrm>
            <a:off x="3989250" y="1378850"/>
            <a:ext cx="4921200" cy="3413400"/>
          </a:xfrm>
          <a:prstGeom prst="rect">
            <a:avLst/>
          </a:prstGeom>
          <a:noFill/>
          <a:ln>
            <a:noFill/>
          </a:ln>
        </p:spPr>
        <p:txBody>
          <a:bodyPr anchorCtr="0" anchor="t" bIns="34275" lIns="68575" spcFirstLastPara="1" rIns="68575" wrap="square" tIns="34275">
            <a:spAutoFit/>
          </a:bodyPr>
          <a:lstStyle/>
          <a:p>
            <a:pPr indent="-311150" lvl="0" marL="457200" rtl="0" algn="l">
              <a:lnSpc>
                <a:spcPct val="115000"/>
              </a:lnSpc>
              <a:spcBef>
                <a:spcPts val="0"/>
              </a:spcBef>
              <a:spcAft>
                <a:spcPts val="0"/>
              </a:spcAft>
              <a:buSzPts val="1300"/>
              <a:buChar char="●"/>
            </a:pPr>
            <a:r>
              <a:rPr lang="en"/>
              <a:t>Make a </a:t>
            </a:r>
            <a:r>
              <a:rPr b="1" i="1" lang="en">
                <a:solidFill>
                  <a:srgbClr val="FF0000"/>
                </a:solidFill>
              </a:rPr>
              <a:t>copy</a:t>
            </a:r>
            <a:r>
              <a:rPr lang="en"/>
              <a:t> of the </a:t>
            </a:r>
            <a:r>
              <a:rPr lang="en">
                <a:latin typeface="Courier New"/>
                <a:ea typeface="Courier New"/>
                <a:cs typeface="Courier New"/>
                <a:sym typeface="Courier New"/>
              </a:rPr>
              <a:t>Racer</a:t>
            </a:r>
            <a:r>
              <a:rPr lang="en"/>
              <a:t> class named </a:t>
            </a:r>
            <a:r>
              <a:rPr lang="en">
                <a:latin typeface="Courier New"/>
                <a:ea typeface="Courier New"/>
                <a:cs typeface="Courier New"/>
                <a:sym typeface="Courier New"/>
              </a:rPr>
              <a:t>ThreadRacer</a:t>
            </a:r>
            <a:r>
              <a:rPr lang="en"/>
              <a:t>.</a:t>
            </a:r>
            <a:endParaRPr/>
          </a:p>
          <a:p>
            <a:pPr indent="-311150" lvl="0" marL="457200" rtl="0" algn="l">
              <a:lnSpc>
                <a:spcPct val="115000"/>
              </a:lnSpc>
              <a:spcBef>
                <a:spcPts val="0"/>
              </a:spcBef>
              <a:spcAft>
                <a:spcPts val="0"/>
              </a:spcAft>
              <a:buSzPts val="1300"/>
              <a:buChar char="●"/>
            </a:pPr>
            <a:r>
              <a:rPr lang="en"/>
              <a:t>In addition to the current functionality, extend the </a:t>
            </a:r>
            <a:r>
              <a:rPr b="1" i="1" lang="en">
                <a:solidFill>
                  <a:srgbClr val="FF0000"/>
                </a:solidFill>
              </a:rPr>
              <a:t>Thread</a:t>
            </a:r>
            <a:r>
              <a:rPr lang="en"/>
              <a:t> class.</a:t>
            </a:r>
            <a:endParaRPr/>
          </a:p>
          <a:p>
            <a:pPr indent="-311150" lvl="0" marL="457200" rtl="0" algn="l">
              <a:lnSpc>
                <a:spcPct val="115000"/>
              </a:lnSpc>
              <a:spcBef>
                <a:spcPts val="0"/>
              </a:spcBef>
              <a:spcAft>
                <a:spcPts val="0"/>
              </a:spcAft>
              <a:buSzPts val="1300"/>
              <a:buChar char="●"/>
            </a:pPr>
            <a:r>
              <a:rPr lang="en"/>
              <a:t>In </a:t>
            </a:r>
            <a:r>
              <a:rPr lang="en">
                <a:latin typeface="Courier New"/>
                <a:ea typeface="Courier New"/>
                <a:cs typeface="Courier New"/>
                <a:sym typeface="Courier New"/>
              </a:rPr>
              <a:t>main</a:t>
            </a:r>
            <a:r>
              <a:rPr lang="en"/>
              <a:t>, instead of calling </a:t>
            </a:r>
            <a:r>
              <a:rPr lang="en">
                <a:latin typeface="Courier New"/>
                <a:ea typeface="Courier New"/>
                <a:cs typeface="Courier New"/>
                <a:sym typeface="Courier New"/>
              </a:rPr>
              <a:t>racer.race()</a:t>
            </a:r>
            <a:r>
              <a:rPr lang="en"/>
              <a:t> call </a:t>
            </a:r>
            <a:r>
              <a:rPr lang="en">
                <a:solidFill>
                  <a:srgbClr val="FF0000"/>
                </a:solidFill>
                <a:latin typeface="Courier New"/>
                <a:ea typeface="Courier New"/>
                <a:cs typeface="Courier New"/>
                <a:sym typeface="Courier New"/>
              </a:rPr>
              <a:t>racer.start()</a:t>
            </a:r>
            <a:r>
              <a:rPr lang="en"/>
              <a:t> so it executes in its </a:t>
            </a:r>
            <a:r>
              <a:rPr b="1" i="1" lang="en">
                <a:solidFill>
                  <a:srgbClr val="FF0000"/>
                </a:solidFill>
              </a:rPr>
              <a:t>own thread</a:t>
            </a:r>
            <a:r>
              <a:rPr lang="en"/>
              <a:t>.</a:t>
            </a:r>
            <a:endParaRPr/>
          </a:p>
          <a:p>
            <a:pPr indent="-311150" lvl="0" marL="457200" rtl="0" algn="l">
              <a:lnSpc>
                <a:spcPct val="115000"/>
              </a:lnSpc>
              <a:spcBef>
                <a:spcPts val="1000"/>
              </a:spcBef>
              <a:spcAft>
                <a:spcPts val="0"/>
              </a:spcAft>
              <a:buSzPts val="1300"/>
              <a:buChar char="●"/>
            </a:pPr>
            <a:r>
              <a:rPr lang="en"/>
              <a:t>If you followed the directions closely, your racer only prints out the finish time of 0.0 seconds.</a:t>
            </a:r>
            <a:endParaRPr/>
          </a:p>
          <a:p>
            <a:pPr indent="-311150" lvl="0" marL="457200" rtl="0" algn="l">
              <a:lnSpc>
                <a:spcPct val="115000"/>
              </a:lnSpc>
              <a:spcBef>
                <a:spcPts val="0"/>
              </a:spcBef>
              <a:spcAft>
                <a:spcPts val="0"/>
              </a:spcAft>
              <a:buSzPts val="1300"/>
              <a:buChar char="●"/>
            </a:pPr>
            <a:r>
              <a:rPr lang="en"/>
              <a:t>This is because we didn't implement the </a:t>
            </a:r>
            <a:r>
              <a:rPr b="1" i="1" lang="en">
                <a:solidFill>
                  <a:srgbClr val="FF0000"/>
                </a:solidFill>
              </a:rPr>
              <a:t>run</a:t>
            </a:r>
            <a:r>
              <a:rPr lang="en"/>
              <a:t> method.</a:t>
            </a:r>
            <a:endParaRPr/>
          </a:p>
          <a:p>
            <a:pPr indent="-304800" lvl="1" marL="914400" rtl="0" algn="l">
              <a:lnSpc>
                <a:spcPct val="115000"/>
              </a:lnSpc>
              <a:spcBef>
                <a:spcPts val="0"/>
              </a:spcBef>
              <a:spcAft>
                <a:spcPts val="0"/>
              </a:spcAft>
              <a:buSzPts val="1200"/>
              <a:buChar char="○"/>
            </a:pPr>
            <a:r>
              <a:rPr lang="en" sz="1200"/>
              <a:t>It's not required but your code won't do much without it.</a:t>
            </a:r>
            <a:endParaRPr sz="1200"/>
          </a:p>
          <a:p>
            <a:pPr indent="-304800" lvl="1" marL="914400" rtl="0" algn="l">
              <a:lnSpc>
                <a:spcPct val="115000"/>
              </a:lnSpc>
              <a:spcBef>
                <a:spcPts val="0"/>
              </a:spcBef>
              <a:spcAft>
                <a:spcPts val="0"/>
              </a:spcAft>
              <a:buSzPts val="1200"/>
              <a:buChar char="○"/>
            </a:pPr>
            <a:r>
              <a:rPr lang="en" sz="1200"/>
              <a:t>Override the </a:t>
            </a:r>
            <a:r>
              <a:rPr lang="en" sz="1200">
                <a:solidFill>
                  <a:srgbClr val="FF0000"/>
                </a:solidFill>
                <a:latin typeface="Courier New"/>
                <a:ea typeface="Courier New"/>
                <a:cs typeface="Courier New"/>
                <a:sym typeface="Courier New"/>
              </a:rPr>
              <a:t>run</a:t>
            </a:r>
            <a:r>
              <a:rPr lang="en" sz="1200"/>
              <a:t> method and have it call the </a:t>
            </a:r>
            <a:r>
              <a:rPr lang="en" sz="1200">
                <a:latin typeface="Courier New"/>
                <a:ea typeface="Courier New"/>
                <a:cs typeface="Courier New"/>
                <a:sym typeface="Courier New"/>
              </a:rPr>
              <a:t>race</a:t>
            </a:r>
            <a:r>
              <a:rPr lang="en" sz="1200"/>
              <a:t> method.</a:t>
            </a:r>
            <a:endParaRPr sz="1200"/>
          </a:p>
          <a:p>
            <a:pPr indent="-304800" lvl="0" marL="457200" rtl="0" algn="l">
              <a:lnSpc>
                <a:spcPct val="115000"/>
              </a:lnSpc>
              <a:spcBef>
                <a:spcPts val="1000"/>
              </a:spcBef>
              <a:spcAft>
                <a:spcPts val="0"/>
              </a:spcAft>
              <a:buSzPts val="1200"/>
              <a:buChar char="●"/>
            </a:pPr>
            <a:r>
              <a:rPr b="1" i="1" lang="en" sz="1200">
                <a:solidFill>
                  <a:srgbClr val="FF0000"/>
                </a:solidFill>
              </a:rPr>
              <a:t>Rerun</a:t>
            </a:r>
            <a:r>
              <a:rPr lang="en" sz="1200"/>
              <a:t> the program. You should now see the laps. </a:t>
            </a:r>
            <a:endParaRPr sz="1200"/>
          </a:p>
          <a:p>
            <a:pPr indent="-304800" lvl="0" marL="457200" rtl="0" algn="l">
              <a:lnSpc>
                <a:spcPct val="115000"/>
              </a:lnSpc>
              <a:spcBef>
                <a:spcPts val="0"/>
              </a:spcBef>
              <a:spcAft>
                <a:spcPts val="0"/>
              </a:spcAft>
              <a:buSzPts val="1200"/>
              <a:buChar char="●"/>
            </a:pPr>
            <a:r>
              <a:rPr lang="en" sz="1200"/>
              <a:t>However, you'll notice that the finish time is wrong, and may be printed before the race ends!</a:t>
            </a:r>
            <a:endParaRPr sz="1200"/>
          </a:p>
        </p:txBody>
      </p:sp>
      <p:sp>
        <p:nvSpPr>
          <p:cNvPr id="353" name="Google Shape;353;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4" name="Google Shape;354;p4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8.4</a:t>
            </a:r>
            <a:endParaRPr sz="2400">
              <a:solidFill>
                <a:schemeClr val="lt1"/>
              </a:solidFill>
              <a:latin typeface="Roboto"/>
              <a:ea typeface="Roboto"/>
              <a:cs typeface="Roboto"/>
              <a:sym typeface="Roboto"/>
            </a:endParaRPr>
          </a:p>
        </p:txBody>
      </p:sp>
      <p:sp>
        <p:nvSpPr>
          <p:cNvPr id="355" name="Google Shape;355;p43"/>
          <p:cNvSpPr/>
          <p:nvPr/>
        </p:nvSpPr>
        <p:spPr>
          <a:xfrm>
            <a:off x="157625" y="1378850"/>
            <a:ext cx="3639600" cy="3135900"/>
          </a:xfrm>
          <a:prstGeom prst="rect">
            <a:avLst/>
          </a:prstGeom>
          <a:solidFill>
            <a:srgbClr val="FFFFFF"/>
          </a:solidFill>
          <a:ln cap="flat" cmpd="sng" w="28575">
            <a:solidFill>
              <a:srgbClr val="000000"/>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extends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Override</a:t>
            </a:r>
            <a:endParaRPr sz="1050">
              <a:solidFill>
                <a:srgbClr val="267F99"/>
              </a:solidFill>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latin typeface="Consolas"/>
                <a:ea typeface="Consolas"/>
                <a:cs typeface="Consolas"/>
                <a:sym typeface="Consolas"/>
              </a:rPr>
              <a:t>}</a:t>
            </a:r>
            <a:endParaRPr sz="1100">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4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Multithreading</a:t>
            </a:r>
            <a:endParaRPr/>
          </a:p>
        </p:txBody>
      </p:sp>
      <p:sp>
        <p:nvSpPr>
          <p:cNvPr id="361" name="Google Shape;361;p4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For now, we're going to ignore the finish time errors (don't worry, we'll solve it later in this unit). Instead, let's focus on getting our racers to race concurrently. It's time to have our racers race again, but this time as threads. </a:t>
            </a:r>
            <a:endParaRPr/>
          </a:p>
        </p:txBody>
      </p:sp>
      <p:sp>
        <p:nvSpPr>
          <p:cNvPr id="362" name="Google Shape;36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3" name="Google Shape;363;p44"/>
          <p:cNvSpPr txBox="1"/>
          <p:nvPr>
            <p:ph idx="2" type="body"/>
          </p:nvPr>
        </p:nvSpPr>
        <p:spPr>
          <a:xfrm>
            <a:off x="2998525" y="1779175"/>
            <a:ext cx="5813700" cy="3031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copy of the </a:t>
            </a:r>
            <a:r>
              <a:rPr lang="en">
                <a:latin typeface="Courier New"/>
                <a:ea typeface="Courier New"/>
                <a:cs typeface="Courier New"/>
                <a:sym typeface="Courier New"/>
              </a:rPr>
              <a:t>Race</a:t>
            </a:r>
            <a:r>
              <a:rPr lang="en"/>
              <a:t> class named </a:t>
            </a:r>
            <a:r>
              <a:rPr lang="en">
                <a:solidFill>
                  <a:srgbClr val="FF0000"/>
                </a:solidFill>
                <a:latin typeface="Courier New"/>
                <a:ea typeface="Courier New"/>
                <a:cs typeface="Courier New"/>
                <a:sym typeface="Courier New"/>
              </a:rPr>
              <a:t>ThreadRace</a:t>
            </a:r>
            <a:r>
              <a:rPr lang="en"/>
              <a:t>.</a:t>
            </a:r>
            <a:endParaRPr/>
          </a:p>
          <a:p>
            <a:pPr indent="-311150" lvl="0" marL="457200" rtl="0" algn="l">
              <a:spcBef>
                <a:spcPts val="0"/>
              </a:spcBef>
              <a:spcAft>
                <a:spcPts val="0"/>
              </a:spcAft>
              <a:buSzPts val="1300"/>
              <a:buChar char="●"/>
            </a:pPr>
            <a:r>
              <a:rPr lang="en"/>
              <a:t>Change all the </a:t>
            </a:r>
            <a:r>
              <a:rPr lang="en">
                <a:latin typeface="Courier New"/>
                <a:ea typeface="Courier New"/>
                <a:cs typeface="Courier New"/>
                <a:sym typeface="Courier New"/>
              </a:rPr>
              <a:t>Racer</a:t>
            </a:r>
            <a:r>
              <a:rPr lang="en"/>
              <a:t>s to be </a:t>
            </a:r>
            <a:r>
              <a:rPr lang="en">
                <a:solidFill>
                  <a:srgbClr val="FF0000"/>
                </a:solidFill>
                <a:latin typeface="Courier New"/>
                <a:ea typeface="Courier New"/>
                <a:cs typeface="Courier New"/>
                <a:sym typeface="Courier New"/>
              </a:rPr>
              <a:t>ThreadRacer</a:t>
            </a:r>
            <a:r>
              <a:rPr lang="en"/>
              <a:t>s.</a:t>
            </a:r>
            <a:endParaRPr/>
          </a:p>
          <a:p>
            <a:pPr indent="-311150" lvl="0" marL="457200" rtl="0" algn="l">
              <a:spcBef>
                <a:spcPts val="0"/>
              </a:spcBef>
              <a:spcAft>
                <a:spcPts val="0"/>
              </a:spcAft>
              <a:buSzPts val="1300"/>
              <a:buChar char="●"/>
            </a:pPr>
            <a:r>
              <a:rPr lang="en"/>
              <a:t>Instead of calling </a:t>
            </a:r>
            <a:r>
              <a:rPr lang="en">
                <a:latin typeface="Courier New"/>
                <a:ea typeface="Courier New"/>
                <a:cs typeface="Courier New"/>
                <a:sym typeface="Courier New"/>
              </a:rPr>
              <a:t>race()</a:t>
            </a:r>
            <a:r>
              <a:rPr lang="en"/>
              <a:t> for each racer, call </a:t>
            </a:r>
            <a:r>
              <a:rPr lang="en">
                <a:solidFill>
                  <a:srgbClr val="FF0000"/>
                </a:solidFill>
                <a:latin typeface="Courier New"/>
                <a:ea typeface="Courier New"/>
                <a:cs typeface="Courier New"/>
                <a:sym typeface="Courier New"/>
              </a:rPr>
              <a:t>start()</a:t>
            </a:r>
            <a:r>
              <a:rPr lang="en"/>
              <a:t>.</a:t>
            </a:r>
            <a:endParaRPr/>
          </a:p>
          <a:p>
            <a:pPr indent="-311150" lvl="0" marL="457200" rtl="0" algn="l">
              <a:spcBef>
                <a:spcPts val="0"/>
              </a:spcBef>
              <a:spcAft>
                <a:spcPts val="0"/>
              </a:spcAft>
              <a:buSzPts val="1300"/>
              <a:buChar char="●"/>
            </a:pPr>
            <a:r>
              <a:rPr lang="en"/>
              <a:t>For now, </a:t>
            </a:r>
            <a:r>
              <a:rPr b="1" i="1" lang="en">
                <a:solidFill>
                  <a:srgbClr val="FF0000"/>
                </a:solidFill>
              </a:rPr>
              <a:t>comment out</a:t>
            </a:r>
            <a:r>
              <a:rPr lang="en"/>
              <a:t> the finish times.</a:t>
            </a:r>
            <a:endParaRPr/>
          </a:p>
          <a:p>
            <a:pPr indent="-311150" lvl="0" marL="457200" rtl="0" algn="l">
              <a:spcBef>
                <a:spcPts val="0"/>
              </a:spcBef>
              <a:spcAft>
                <a:spcPts val="0"/>
              </a:spcAft>
              <a:buSzPts val="1300"/>
              <a:buChar char="●"/>
            </a:pPr>
            <a:r>
              <a:rPr lang="en"/>
              <a:t>Run your program a few times and see what happens.</a:t>
            </a:r>
            <a:endParaRPr/>
          </a:p>
          <a:p>
            <a:pPr indent="-298450" lvl="1" marL="914400" rtl="0" algn="l">
              <a:spcBef>
                <a:spcPts val="0"/>
              </a:spcBef>
              <a:spcAft>
                <a:spcPts val="0"/>
              </a:spcAft>
              <a:buSzPts val="1100"/>
              <a:buChar char="○"/>
            </a:pPr>
            <a:r>
              <a:rPr lang="en"/>
              <a:t>What does the output look like?</a:t>
            </a:r>
            <a:endParaRPr/>
          </a:p>
          <a:p>
            <a:pPr indent="-298450" lvl="1" marL="914400" rtl="0" algn="l">
              <a:spcBef>
                <a:spcPts val="0"/>
              </a:spcBef>
              <a:spcAft>
                <a:spcPts val="0"/>
              </a:spcAft>
              <a:buSzPts val="1100"/>
              <a:buChar char="○"/>
            </a:pPr>
            <a:r>
              <a:rPr lang="en"/>
              <a:t>Does the same racer finish the first lap each time?</a:t>
            </a:r>
            <a:endParaRPr/>
          </a:p>
          <a:p>
            <a:pPr indent="-298450" lvl="1" marL="914400" rtl="0" algn="l">
              <a:spcBef>
                <a:spcPts val="0"/>
              </a:spcBef>
              <a:spcAft>
                <a:spcPts val="0"/>
              </a:spcAft>
              <a:buSzPts val="1100"/>
              <a:buChar char="○"/>
            </a:pPr>
            <a:r>
              <a:rPr lang="en"/>
              <a:t>Does the same racer win each time?</a:t>
            </a:r>
            <a:endParaRPr/>
          </a:p>
          <a:p>
            <a:pPr indent="-298450" lvl="1" marL="914400" rtl="0" algn="l">
              <a:spcBef>
                <a:spcPts val="0"/>
              </a:spcBef>
              <a:spcAft>
                <a:spcPts val="0"/>
              </a:spcAft>
              <a:buSzPts val="1100"/>
              <a:buChar char="○"/>
            </a:pPr>
            <a:r>
              <a:rPr lang="en"/>
              <a:t>Does the same racer come in last each time?</a:t>
            </a:r>
            <a:endParaRPr/>
          </a:p>
          <a:p>
            <a:pPr indent="-298450" lvl="1" marL="914400" rtl="0" algn="l">
              <a:spcBef>
                <a:spcPts val="0"/>
              </a:spcBef>
              <a:spcAft>
                <a:spcPts val="0"/>
              </a:spcAft>
              <a:buSzPts val="1100"/>
              <a:buChar char="○"/>
            </a:pPr>
            <a:r>
              <a:rPr lang="en"/>
              <a:t>Does the racer that starts first, always </a:t>
            </a:r>
            <a:r>
              <a:rPr lang="en"/>
              <a:t>finish</a:t>
            </a:r>
            <a:r>
              <a:rPr lang="en"/>
              <a:t> first?</a:t>
            </a:r>
            <a:endParaRPr/>
          </a:p>
          <a:p>
            <a:pPr indent="-311150" lvl="0" marL="457200" rtl="0" algn="l">
              <a:spcBef>
                <a:spcPts val="1000"/>
              </a:spcBef>
              <a:spcAft>
                <a:spcPts val="0"/>
              </a:spcAft>
              <a:buSzPts val="1300"/>
              <a:buChar char="●"/>
            </a:pPr>
            <a:r>
              <a:rPr lang="en"/>
              <a:t>If all went according to plan, you </a:t>
            </a:r>
            <a:r>
              <a:rPr lang="en"/>
              <a:t>should</a:t>
            </a:r>
            <a:r>
              <a:rPr lang="en"/>
              <a:t> have a real race running now.</a:t>
            </a:r>
            <a:endParaRPr/>
          </a:p>
          <a:p>
            <a:pPr indent="-298450" lvl="1" marL="914400" rtl="0" algn="l">
              <a:spcBef>
                <a:spcPts val="0"/>
              </a:spcBef>
              <a:spcAft>
                <a:spcPts val="0"/>
              </a:spcAft>
              <a:buSzPts val="1100"/>
              <a:buChar char="○"/>
            </a:pPr>
            <a:r>
              <a:rPr lang="en"/>
              <a:t>Different </a:t>
            </a:r>
            <a:r>
              <a:rPr lang="en"/>
              <a:t>architectures</a:t>
            </a:r>
            <a:r>
              <a:rPr lang="en"/>
              <a:t> handle threads differently so your output may not match your neighbors or the instructors.</a:t>
            </a:r>
            <a:endParaRPr/>
          </a:p>
        </p:txBody>
      </p:sp>
      <p:sp>
        <p:nvSpPr>
          <p:cNvPr id="364" name="Google Shape;364;p4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8.5</a:t>
            </a:r>
            <a:endParaRPr/>
          </a:p>
        </p:txBody>
      </p:sp>
      <p:pic>
        <p:nvPicPr>
          <p:cNvPr id="365" name="Google Shape;365;p44"/>
          <p:cNvPicPr preferRelativeResize="0"/>
          <p:nvPr/>
        </p:nvPicPr>
        <p:blipFill>
          <a:blip r:embed="rId3">
            <a:alphaModFix/>
          </a:blip>
          <a:stretch>
            <a:fillRect/>
          </a:stretch>
        </p:blipFill>
        <p:spPr>
          <a:xfrm>
            <a:off x="249662" y="1757000"/>
            <a:ext cx="2457100" cy="1239125"/>
          </a:xfrm>
          <a:prstGeom prst="rect">
            <a:avLst/>
          </a:prstGeom>
          <a:noFill/>
          <a:ln cap="flat" cmpd="sng" w="19050">
            <a:solidFill>
              <a:schemeClr val="dk1"/>
            </a:solidFill>
            <a:prstDash val="solid"/>
            <a:round/>
            <a:headEnd len="sm" w="sm" type="none"/>
            <a:tailEnd len="sm" w="sm" type="none"/>
          </a:ln>
        </p:spPr>
      </p:pic>
      <p:sp>
        <p:nvSpPr>
          <p:cNvPr id="366" name="Google Shape;366;p44"/>
          <p:cNvSpPr txBox="1"/>
          <p:nvPr/>
        </p:nvSpPr>
        <p:spPr>
          <a:xfrm>
            <a:off x="249662" y="3137089"/>
            <a:ext cx="2457000" cy="1404300"/>
          </a:xfrm>
          <a:prstGeom prst="rect">
            <a:avLst/>
          </a:prstGeom>
          <a:no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latin typeface="Courier New"/>
                <a:ea typeface="Courier New"/>
                <a:cs typeface="Courier New"/>
                <a:sym typeface="Courier New"/>
              </a:rPr>
              <a:t>Peach completed Lap 1</a:t>
            </a:r>
            <a:endParaRPr sz="900">
              <a:latin typeface="Courier New"/>
              <a:ea typeface="Courier New"/>
              <a:cs typeface="Courier New"/>
              <a:sym typeface="Courier New"/>
            </a:endParaRPr>
          </a:p>
          <a:p>
            <a:pPr indent="0" lvl="0" marL="0" rtl="0" algn="l">
              <a:spcBef>
                <a:spcPts val="0"/>
              </a:spcBef>
              <a:spcAft>
                <a:spcPts val="0"/>
              </a:spcAft>
              <a:buNone/>
            </a:pPr>
            <a:r>
              <a:rPr lang="en" sz="900">
                <a:latin typeface="Courier New"/>
                <a:ea typeface="Courier New"/>
                <a:cs typeface="Courier New"/>
                <a:sym typeface="Courier New"/>
              </a:rPr>
              <a:t>Peach completed Lap 2</a:t>
            </a:r>
            <a:endParaRPr sz="900">
              <a:latin typeface="Courier New"/>
              <a:ea typeface="Courier New"/>
              <a:cs typeface="Courier New"/>
              <a:sym typeface="Courier New"/>
            </a:endParaRPr>
          </a:p>
          <a:p>
            <a:pPr indent="0" lvl="0" marL="0" rtl="0" algn="l">
              <a:spcBef>
                <a:spcPts val="0"/>
              </a:spcBef>
              <a:spcAft>
                <a:spcPts val="0"/>
              </a:spcAft>
              <a:buNone/>
            </a:pPr>
            <a:r>
              <a:rPr lang="en" sz="900">
                <a:latin typeface="Courier New"/>
                <a:ea typeface="Courier New"/>
                <a:cs typeface="Courier New"/>
                <a:sym typeface="Courier New"/>
              </a:rPr>
              <a:t>Luigi completed Lap 1</a:t>
            </a:r>
            <a:endParaRPr sz="900">
              <a:latin typeface="Courier New"/>
              <a:ea typeface="Courier New"/>
              <a:cs typeface="Courier New"/>
              <a:sym typeface="Courier New"/>
            </a:endParaRPr>
          </a:p>
          <a:p>
            <a:pPr indent="0" lvl="0" marL="0" rtl="0" algn="l">
              <a:spcBef>
                <a:spcPts val="0"/>
              </a:spcBef>
              <a:spcAft>
                <a:spcPts val="0"/>
              </a:spcAft>
              <a:buNone/>
            </a:pPr>
            <a:r>
              <a:rPr lang="en" sz="900">
                <a:latin typeface="Courier New"/>
                <a:ea typeface="Courier New"/>
                <a:cs typeface="Courier New"/>
                <a:sym typeface="Courier New"/>
              </a:rPr>
              <a:t>Mario completed Lap 1</a:t>
            </a:r>
            <a:endParaRPr sz="900">
              <a:latin typeface="Courier New"/>
              <a:ea typeface="Courier New"/>
              <a:cs typeface="Courier New"/>
              <a:sym typeface="Courier New"/>
            </a:endParaRPr>
          </a:p>
          <a:p>
            <a:pPr indent="0" lvl="0" marL="0" rtl="0" algn="l">
              <a:spcBef>
                <a:spcPts val="0"/>
              </a:spcBef>
              <a:spcAft>
                <a:spcPts val="0"/>
              </a:spcAft>
              <a:buNone/>
            </a:pPr>
            <a:r>
              <a:rPr lang="en" sz="900">
                <a:latin typeface="Courier New"/>
                <a:ea typeface="Courier New"/>
                <a:cs typeface="Courier New"/>
                <a:sym typeface="Courier New"/>
              </a:rPr>
              <a:t>Peach completed Lap 3</a:t>
            </a:r>
            <a:endParaRPr sz="900">
              <a:latin typeface="Courier New"/>
              <a:ea typeface="Courier New"/>
              <a:cs typeface="Courier New"/>
              <a:sym typeface="Courier New"/>
            </a:endParaRPr>
          </a:p>
          <a:p>
            <a:pPr indent="0" lvl="0" marL="0" rtl="0" algn="l">
              <a:spcBef>
                <a:spcPts val="0"/>
              </a:spcBef>
              <a:spcAft>
                <a:spcPts val="0"/>
              </a:spcAft>
              <a:buNone/>
            </a:pPr>
            <a:r>
              <a:rPr lang="en" sz="900">
                <a:latin typeface="Courier New"/>
                <a:ea typeface="Courier New"/>
                <a:cs typeface="Courier New"/>
                <a:sym typeface="Courier New"/>
              </a:rPr>
              <a:t>Luigi completed Lap 2</a:t>
            </a:r>
            <a:endParaRPr sz="900">
              <a:latin typeface="Courier New"/>
              <a:ea typeface="Courier New"/>
              <a:cs typeface="Courier New"/>
              <a:sym typeface="Courier New"/>
            </a:endParaRPr>
          </a:p>
          <a:p>
            <a:pPr indent="0" lvl="0" marL="0" rtl="0" algn="l">
              <a:spcBef>
                <a:spcPts val="0"/>
              </a:spcBef>
              <a:spcAft>
                <a:spcPts val="0"/>
              </a:spcAft>
              <a:buNone/>
            </a:pPr>
            <a:r>
              <a:rPr lang="en" sz="900">
                <a:latin typeface="Courier New"/>
                <a:ea typeface="Courier New"/>
                <a:cs typeface="Courier New"/>
                <a:sym typeface="Courier New"/>
              </a:rPr>
              <a:t>Mario completed Lap 2</a:t>
            </a:r>
            <a:endParaRPr sz="900">
              <a:latin typeface="Courier New"/>
              <a:ea typeface="Courier New"/>
              <a:cs typeface="Courier New"/>
              <a:sym typeface="Courier New"/>
            </a:endParaRPr>
          </a:p>
          <a:p>
            <a:pPr indent="0" lvl="0" marL="0" rtl="0" algn="l">
              <a:spcBef>
                <a:spcPts val="0"/>
              </a:spcBef>
              <a:spcAft>
                <a:spcPts val="0"/>
              </a:spcAft>
              <a:buNone/>
            </a:pPr>
            <a:r>
              <a:rPr lang="en" sz="900">
                <a:latin typeface="Courier New"/>
                <a:ea typeface="Courier New"/>
                <a:cs typeface="Courier New"/>
                <a:sym typeface="Courier New"/>
              </a:rPr>
              <a:t>Luigi completed Lap 3</a:t>
            </a:r>
            <a:endParaRPr sz="900">
              <a:latin typeface="Courier New"/>
              <a:ea typeface="Courier New"/>
              <a:cs typeface="Courier New"/>
              <a:sym typeface="Courier New"/>
            </a:endParaRPr>
          </a:p>
          <a:p>
            <a:pPr indent="0" lvl="0" marL="0" rtl="0" algn="l">
              <a:spcBef>
                <a:spcPts val="0"/>
              </a:spcBef>
              <a:spcAft>
                <a:spcPts val="0"/>
              </a:spcAft>
              <a:buNone/>
            </a:pPr>
            <a:r>
              <a:rPr lang="en" sz="900">
                <a:latin typeface="Courier New"/>
                <a:ea typeface="Courier New"/>
                <a:cs typeface="Courier New"/>
                <a:sym typeface="Courier New"/>
              </a:rPr>
              <a:t>Mario completed Lap 3</a:t>
            </a:r>
            <a:endParaRPr sz="900">
              <a:latin typeface="Courier New"/>
              <a:ea typeface="Courier New"/>
              <a:cs typeface="Courier New"/>
              <a:sym typeface="Courier New"/>
            </a:endParaRPr>
          </a:p>
        </p:txBody>
      </p:sp>
      <p:sp>
        <p:nvSpPr>
          <p:cNvPr id="367" name="Google Shape;367;p44"/>
          <p:cNvSpPr txBox="1"/>
          <p:nvPr>
            <p:ph idx="4" type="body"/>
          </p:nvPr>
        </p:nvSpPr>
        <p:spPr>
          <a:xfrm>
            <a:off x="249650" y="4611400"/>
            <a:ext cx="2457000" cy="369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Sample output for 3 laps.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5"/>
          <p:cNvSpPr txBox="1"/>
          <p:nvPr>
            <p:ph type="title"/>
          </p:nvPr>
        </p:nvSpPr>
        <p:spPr>
          <a:xfrm>
            <a:off x="5264725" y="272325"/>
            <a:ext cx="3706500" cy="63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Thread States I</a:t>
            </a:r>
            <a:endParaRPr/>
          </a:p>
        </p:txBody>
      </p:sp>
      <p:sp>
        <p:nvSpPr>
          <p:cNvPr id="373" name="Google Shape;373;p45"/>
          <p:cNvSpPr txBox="1"/>
          <p:nvPr>
            <p:ph idx="1" type="body"/>
          </p:nvPr>
        </p:nvSpPr>
        <p:spPr>
          <a:xfrm>
            <a:off x="331525" y="621950"/>
            <a:ext cx="4166400" cy="3690300"/>
          </a:xfrm>
          <a:prstGeom prst="rect">
            <a:avLst/>
          </a:prstGeom>
          <a:noFill/>
          <a:ln>
            <a:noFill/>
          </a:ln>
        </p:spPr>
        <p:txBody>
          <a:bodyPr anchorCtr="0" anchor="t" bIns="34275" lIns="68575" spcFirstLastPara="1" rIns="68575" wrap="square" tIns="34275">
            <a:spAutoFit/>
          </a:bodyPr>
          <a:lstStyle/>
          <a:p>
            <a:pPr indent="-311150" lvl="0" marL="457200" rtl="0" algn="l">
              <a:lnSpc>
                <a:spcPct val="95000"/>
              </a:lnSpc>
              <a:spcBef>
                <a:spcPts val="0"/>
              </a:spcBef>
              <a:spcAft>
                <a:spcPts val="0"/>
              </a:spcAft>
              <a:buSzPts val="1300"/>
              <a:buChar char="●"/>
            </a:pPr>
            <a:r>
              <a:rPr lang="en"/>
              <a:t>Each thread can be in one of several </a:t>
            </a:r>
            <a:r>
              <a:rPr b="1" i="1" lang="en">
                <a:solidFill>
                  <a:srgbClr val="FF0000"/>
                </a:solidFill>
              </a:rPr>
              <a:t>states</a:t>
            </a:r>
            <a:r>
              <a:rPr lang="en"/>
              <a:t> at any point in time</a:t>
            </a:r>
            <a:endParaRPr/>
          </a:p>
          <a:p>
            <a:pPr indent="-311150" lvl="0" marL="457200" rtl="0" algn="l">
              <a:lnSpc>
                <a:spcPct val="95000"/>
              </a:lnSpc>
              <a:spcBef>
                <a:spcPts val="1000"/>
              </a:spcBef>
              <a:spcAft>
                <a:spcPts val="0"/>
              </a:spcAft>
              <a:buSzPts val="1300"/>
              <a:buChar char="●"/>
            </a:pPr>
            <a:r>
              <a:rPr lang="en"/>
              <a:t>We'll start with the first states and add more as we introduce new functionality</a:t>
            </a:r>
            <a:endParaRPr/>
          </a:p>
          <a:p>
            <a:pPr indent="-311150" lvl="0" marL="457200" rtl="0" algn="l">
              <a:lnSpc>
                <a:spcPct val="95000"/>
              </a:lnSpc>
              <a:spcBef>
                <a:spcPts val="1000"/>
              </a:spcBef>
              <a:spcAft>
                <a:spcPts val="0"/>
              </a:spcAft>
              <a:buSzPts val="1300"/>
              <a:buChar char="●"/>
            </a:pPr>
            <a:r>
              <a:rPr b="1" i="1" lang="en">
                <a:solidFill>
                  <a:srgbClr val="FF0000"/>
                </a:solidFill>
              </a:rPr>
              <a:t>NEW</a:t>
            </a:r>
            <a:r>
              <a:rPr lang="en"/>
              <a:t> – A thread has been created but start has not been called</a:t>
            </a:r>
            <a:endParaRPr/>
          </a:p>
          <a:p>
            <a:pPr indent="-311150" lvl="0" marL="457200" rtl="0" algn="l">
              <a:lnSpc>
                <a:spcPct val="95000"/>
              </a:lnSpc>
              <a:spcBef>
                <a:spcPts val="1000"/>
              </a:spcBef>
              <a:spcAft>
                <a:spcPts val="0"/>
              </a:spcAft>
              <a:buSzPts val="1300"/>
              <a:buChar char="●"/>
            </a:pPr>
            <a:r>
              <a:rPr b="1" i="1" lang="en">
                <a:solidFill>
                  <a:srgbClr val="FF0000"/>
                </a:solidFill>
              </a:rPr>
              <a:t>RUNNABLE</a:t>
            </a:r>
            <a:r>
              <a:rPr lang="en"/>
              <a:t> – Start has been called and nothing is preventing the thread from running</a:t>
            </a:r>
            <a:endParaRPr/>
          </a:p>
          <a:p>
            <a:pPr indent="-311150" lvl="0" marL="457200" rtl="0" algn="l">
              <a:lnSpc>
                <a:spcPct val="95000"/>
              </a:lnSpc>
              <a:spcBef>
                <a:spcPts val="1000"/>
              </a:spcBef>
              <a:spcAft>
                <a:spcPts val="0"/>
              </a:spcAft>
              <a:buSzPts val="1300"/>
              <a:buChar char="●"/>
            </a:pPr>
            <a:r>
              <a:rPr b="1" i="1" lang="en">
                <a:solidFill>
                  <a:srgbClr val="FF0000"/>
                </a:solidFill>
              </a:rPr>
              <a:t>Running</a:t>
            </a:r>
            <a:r>
              <a:rPr lang="en"/>
              <a:t> – The thread is actively executing on a processor (not an official state)</a:t>
            </a:r>
            <a:endParaRPr/>
          </a:p>
          <a:p>
            <a:pPr indent="-311150" lvl="0" marL="457200" rtl="0" algn="l">
              <a:lnSpc>
                <a:spcPct val="95000"/>
              </a:lnSpc>
              <a:spcBef>
                <a:spcPts val="1000"/>
              </a:spcBef>
              <a:spcAft>
                <a:spcPts val="0"/>
              </a:spcAft>
              <a:buSzPts val="1300"/>
              <a:buChar char="●"/>
            </a:pPr>
            <a:r>
              <a:rPr lang="en"/>
              <a:t>When a thread has finished its execution, or has been terminated, it enters the </a:t>
            </a:r>
            <a:r>
              <a:rPr b="1" i="1" lang="en">
                <a:solidFill>
                  <a:srgbClr val="FF0000"/>
                </a:solidFill>
              </a:rPr>
              <a:t>DEAD </a:t>
            </a:r>
            <a:r>
              <a:rPr lang="en"/>
              <a:t>state</a:t>
            </a:r>
            <a:endParaRPr/>
          </a:p>
          <a:p>
            <a:pPr indent="-311150" lvl="0" marL="457200" rtl="0" algn="l">
              <a:lnSpc>
                <a:spcPct val="95000"/>
              </a:lnSpc>
              <a:spcBef>
                <a:spcPts val="1000"/>
              </a:spcBef>
              <a:spcAft>
                <a:spcPts val="1000"/>
              </a:spcAft>
              <a:buSzPts val="1300"/>
              <a:buChar char="●"/>
            </a:pPr>
            <a:r>
              <a:rPr lang="en"/>
              <a:t>We can check if a thread is in this state using the </a:t>
            </a:r>
            <a:r>
              <a:rPr lang="en">
                <a:solidFill>
                  <a:srgbClr val="FF0000"/>
                </a:solidFill>
                <a:latin typeface="Courier New"/>
                <a:ea typeface="Courier New"/>
                <a:cs typeface="Courier New"/>
                <a:sym typeface="Courier New"/>
              </a:rPr>
              <a:t>isAlive</a:t>
            </a:r>
            <a:r>
              <a:rPr lang="en">
                <a:latin typeface="Courier New"/>
                <a:ea typeface="Courier New"/>
                <a:cs typeface="Courier New"/>
                <a:sym typeface="Courier New"/>
              </a:rPr>
              <a:t>()</a:t>
            </a:r>
            <a:r>
              <a:rPr lang="en"/>
              <a:t> method - It returns </a:t>
            </a:r>
            <a:r>
              <a:rPr lang="en">
                <a:latin typeface="Courier New"/>
                <a:ea typeface="Courier New"/>
                <a:cs typeface="Courier New"/>
                <a:sym typeface="Courier New"/>
              </a:rPr>
              <a:t>true</a:t>
            </a:r>
            <a:r>
              <a:rPr lang="en"/>
              <a:t> if the thread is still </a:t>
            </a:r>
            <a:r>
              <a:rPr b="1" i="1" lang="en">
                <a:solidFill>
                  <a:srgbClr val="FF0000"/>
                </a:solidFill>
              </a:rPr>
              <a:t>active</a:t>
            </a:r>
            <a:r>
              <a:rPr lang="en"/>
              <a:t> or false if it has died</a:t>
            </a:r>
            <a:endParaRPr/>
          </a:p>
        </p:txBody>
      </p:sp>
      <p:sp>
        <p:nvSpPr>
          <p:cNvPr id="374" name="Google Shape;374;p45"/>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5" name="Google Shape;375;p45"/>
          <p:cNvSpPr/>
          <p:nvPr/>
        </p:nvSpPr>
        <p:spPr>
          <a:xfrm>
            <a:off x="6396448" y="986600"/>
            <a:ext cx="1115400" cy="478500"/>
          </a:xfrm>
          <a:prstGeom prst="roundRect">
            <a:avLst>
              <a:gd fmla="val 16667" name="adj"/>
            </a:avLst>
          </a:prstGeom>
          <a:solidFill>
            <a:srgbClr val="626B73"/>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grpSp>
        <p:nvGrpSpPr>
          <p:cNvPr id="376" name="Google Shape;376;p45"/>
          <p:cNvGrpSpPr/>
          <p:nvPr/>
        </p:nvGrpSpPr>
        <p:grpSpPr>
          <a:xfrm>
            <a:off x="5956919" y="1934734"/>
            <a:ext cx="1992951" cy="1728720"/>
            <a:chOff x="5956919" y="1858534"/>
            <a:chExt cx="1992951" cy="1728720"/>
          </a:xfrm>
        </p:grpSpPr>
        <p:sp>
          <p:nvSpPr>
            <p:cNvPr id="377" name="Google Shape;377;p45"/>
            <p:cNvSpPr/>
            <p:nvPr/>
          </p:nvSpPr>
          <p:spPr>
            <a:xfrm>
              <a:off x="5956919" y="1858534"/>
              <a:ext cx="1992951" cy="1728720"/>
            </a:xfrm>
            <a:prstGeom prst="roundRect">
              <a:avLst>
                <a:gd fmla="val 9698" name="adj"/>
              </a:avLst>
            </a:prstGeom>
            <a:solidFill>
              <a:srgbClr val="6AA84F"/>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45"/>
            <p:cNvSpPr/>
            <p:nvPr/>
          </p:nvSpPr>
          <p:spPr>
            <a:xfrm>
              <a:off x="6052559" y="1956718"/>
              <a:ext cx="1803107" cy="478485"/>
            </a:xfrm>
            <a:prstGeom prst="roundRect">
              <a:avLst>
                <a:gd fmla="val 16667" name="adj"/>
              </a:avLst>
            </a:prstGeom>
            <a:solidFill>
              <a:srgbClr val="626B73"/>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grpSp>
      <p:sp>
        <p:nvSpPr>
          <p:cNvPr id="379" name="Google Shape;379;p45"/>
          <p:cNvSpPr/>
          <p:nvPr/>
        </p:nvSpPr>
        <p:spPr>
          <a:xfrm>
            <a:off x="6052559" y="3079221"/>
            <a:ext cx="1803000" cy="478500"/>
          </a:xfrm>
          <a:prstGeom prst="roundRect">
            <a:avLst>
              <a:gd fmla="val 16667" name="adj"/>
            </a:avLst>
          </a:prstGeom>
          <a:solidFill>
            <a:srgbClr val="626B73"/>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380" name="Google Shape;380;p45"/>
          <p:cNvSpPr/>
          <p:nvPr/>
        </p:nvSpPr>
        <p:spPr>
          <a:xfrm>
            <a:off x="6080623" y="4133089"/>
            <a:ext cx="1745700" cy="478500"/>
          </a:xfrm>
          <a:prstGeom prst="roundRect">
            <a:avLst>
              <a:gd fmla="val 16667" name="adj"/>
            </a:avLst>
          </a:prstGeom>
          <a:solidFill>
            <a:srgbClr val="626B73"/>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grpSp>
        <p:nvGrpSpPr>
          <p:cNvPr id="381" name="Google Shape;381;p45"/>
          <p:cNvGrpSpPr/>
          <p:nvPr/>
        </p:nvGrpSpPr>
        <p:grpSpPr>
          <a:xfrm>
            <a:off x="6793311" y="3557721"/>
            <a:ext cx="1064400" cy="575400"/>
            <a:chOff x="6793311" y="3481521"/>
            <a:chExt cx="1064400" cy="575400"/>
          </a:xfrm>
        </p:grpSpPr>
        <p:cxnSp>
          <p:nvCxnSpPr>
            <p:cNvPr id="382" name="Google Shape;382;p45"/>
            <p:cNvCxnSpPr>
              <a:stCxn id="379" idx="2"/>
              <a:endCxn id="380" idx="0"/>
            </p:cNvCxnSpPr>
            <p:nvPr/>
          </p:nvCxnSpPr>
          <p:spPr>
            <a:xfrm flipH="1">
              <a:off x="6953459" y="3481521"/>
              <a:ext cx="600" cy="575400"/>
            </a:xfrm>
            <a:prstGeom prst="straightConnector1">
              <a:avLst/>
            </a:prstGeom>
            <a:noFill/>
            <a:ln cap="flat" cmpd="sng" w="19050">
              <a:solidFill>
                <a:srgbClr val="FFFFFF"/>
              </a:solidFill>
              <a:prstDash val="solid"/>
              <a:round/>
              <a:headEnd len="med" w="med" type="none"/>
              <a:tailEnd len="med" w="med" type="triangle"/>
            </a:ln>
          </p:spPr>
        </p:cxnSp>
        <p:sp>
          <p:nvSpPr>
            <p:cNvPr id="383" name="Google Shape;383;p45"/>
            <p:cNvSpPr txBox="1"/>
            <p:nvPr/>
          </p:nvSpPr>
          <p:spPr>
            <a:xfrm>
              <a:off x="6793311" y="3644544"/>
              <a:ext cx="1064400" cy="2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800">
                  <a:solidFill>
                    <a:srgbClr val="FFFFFF"/>
                  </a:solidFill>
                  <a:latin typeface="Consolas"/>
                  <a:ea typeface="Consolas"/>
                  <a:cs typeface="Consolas"/>
                  <a:sym typeface="Consolas"/>
                </a:rPr>
                <a:t>run()</a:t>
              </a:r>
              <a:r>
                <a:rPr lang="en" sz="800">
                  <a:solidFill>
                    <a:srgbClr val="FFFFFF"/>
                  </a:solidFill>
                </a:rPr>
                <a:t> returns</a:t>
              </a:r>
              <a:endParaRPr sz="800">
                <a:solidFill>
                  <a:srgbClr val="FFFFFF"/>
                </a:solidFill>
              </a:endParaRPr>
            </a:p>
          </p:txBody>
        </p:sp>
      </p:grpSp>
      <p:grpSp>
        <p:nvGrpSpPr>
          <p:cNvPr id="384" name="Google Shape;384;p45"/>
          <p:cNvGrpSpPr/>
          <p:nvPr/>
        </p:nvGrpSpPr>
        <p:grpSpPr>
          <a:xfrm>
            <a:off x="6935568" y="1465100"/>
            <a:ext cx="804900" cy="567900"/>
            <a:chOff x="6935568" y="1388900"/>
            <a:chExt cx="804900" cy="567900"/>
          </a:xfrm>
        </p:grpSpPr>
        <p:cxnSp>
          <p:nvCxnSpPr>
            <p:cNvPr id="385" name="Google Shape;385;p45"/>
            <p:cNvCxnSpPr>
              <a:stCxn id="375" idx="2"/>
              <a:endCxn id="378" idx="0"/>
            </p:cNvCxnSpPr>
            <p:nvPr/>
          </p:nvCxnSpPr>
          <p:spPr>
            <a:xfrm>
              <a:off x="6954148" y="1388900"/>
              <a:ext cx="0" cy="567900"/>
            </a:xfrm>
            <a:prstGeom prst="straightConnector1">
              <a:avLst/>
            </a:prstGeom>
            <a:noFill/>
            <a:ln cap="flat" cmpd="sng" w="19050">
              <a:solidFill>
                <a:srgbClr val="FFFFFF"/>
              </a:solidFill>
              <a:prstDash val="solid"/>
              <a:round/>
              <a:headEnd len="med" w="med" type="none"/>
              <a:tailEnd len="med" w="med" type="triangle"/>
            </a:ln>
          </p:spPr>
        </p:cxnSp>
        <p:sp>
          <p:nvSpPr>
            <p:cNvPr id="386" name="Google Shape;386;p45"/>
            <p:cNvSpPr txBox="1"/>
            <p:nvPr/>
          </p:nvSpPr>
          <p:spPr>
            <a:xfrm>
              <a:off x="6935568" y="1494655"/>
              <a:ext cx="804900" cy="2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latin typeface="Consolas"/>
                  <a:ea typeface="Consolas"/>
                  <a:cs typeface="Consolas"/>
                  <a:sym typeface="Consolas"/>
                </a:rPr>
                <a:t>start()</a:t>
              </a:r>
              <a:endParaRPr b="1" sz="800">
                <a:solidFill>
                  <a:srgbClr val="FFFFFF"/>
                </a:solidFill>
                <a:latin typeface="Consolas"/>
                <a:ea typeface="Consolas"/>
                <a:cs typeface="Consolas"/>
                <a:sym typeface="Consolas"/>
              </a:endParaRPr>
            </a:p>
          </p:txBody>
        </p:sp>
      </p:grpSp>
      <p:grpSp>
        <p:nvGrpSpPr>
          <p:cNvPr id="387" name="Google Shape;387;p45"/>
          <p:cNvGrpSpPr/>
          <p:nvPr/>
        </p:nvGrpSpPr>
        <p:grpSpPr>
          <a:xfrm>
            <a:off x="6889712" y="2517804"/>
            <a:ext cx="697800" cy="669167"/>
            <a:chOff x="6889712" y="2441604"/>
            <a:chExt cx="697800" cy="669167"/>
          </a:xfrm>
        </p:grpSpPr>
        <p:cxnSp>
          <p:nvCxnSpPr>
            <p:cNvPr id="388" name="Google Shape;388;p45"/>
            <p:cNvCxnSpPr/>
            <p:nvPr/>
          </p:nvCxnSpPr>
          <p:spPr>
            <a:xfrm rot="10800000">
              <a:off x="7479499" y="2441604"/>
              <a:ext cx="0" cy="575873"/>
            </a:xfrm>
            <a:prstGeom prst="straightConnector1">
              <a:avLst/>
            </a:prstGeom>
            <a:noFill/>
            <a:ln cap="flat" cmpd="sng" w="19050">
              <a:solidFill>
                <a:srgbClr val="FFFFFF"/>
              </a:solidFill>
              <a:prstDash val="solid"/>
              <a:round/>
              <a:headEnd len="med" w="med" type="none"/>
              <a:tailEnd len="med" w="med" type="triangle"/>
            </a:ln>
          </p:spPr>
        </p:cxnSp>
        <p:sp>
          <p:nvSpPr>
            <p:cNvPr id="389" name="Google Shape;389;p45"/>
            <p:cNvSpPr txBox="1"/>
            <p:nvPr/>
          </p:nvSpPr>
          <p:spPr>
            <a:xfrm>
              <a:off x="6889712" y="2701871"/>
              <a:ext cx="697800" cy="408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timeout</a:t>
              </a:r>
              <a:endParaRPr b="1" sz="800">
                <a:solidFill>
                  <a:srgbClr val="FFFFFF"/>
                </a:solidFill>
              </a:endParaRPr>
            </a:p>
          </p:txBody>
        </p:sp>
      </p:grpSp>
      <p:grpSp>
        <p:nvGrpSpPr>
          <p:cNvPr id="390" name="Google Shape;390;p45"/>
          <p:cNvGrpSpPr/>
          <p:nvPr/>
        </p:nvGrpSpPr>
        <p:grpSpPr>
          <a:xfrm>
            <a:off x="6334392" y="2481836"/>
            <a:ext cx="878700" cy="611687"/>
            <a:chOff x="6334392" y="2405636"/>
            <a:chExt cx="878700" cy="611687"/>
          </a:xfrm>
        </p:grpSpPr>
        <p:cxnSp>
          <p:nvCxnSpPr>
            <p:cNvPr id="391" name="Google Shape;391;p45"/>
            <p:cNvCxnSpPr/>
            <p:nvPr/>
          </p:nvCxnSpPr>
          <p:spPr>
            <a:xfrm>
              <a:off x="6459193" y="2441451"/>
              <a:ext cx="0" cy="575873"/>
            </a:xfrm>
            <a:prstGeom prst="straightConnector1">
              <a:avLst/>
            </a:prstGeom>
            <a:noFill/>
            <a:ln cap="flat" cmpd="sng" w="19050">
              <a:solidFill>
                <a:srgbClr val="FFFFFF"/>
              </a:solidFill>
              <a:prstDash val="solid"/>
              <a:round/>
              <a:headEnd len="med" w="med" type="none"/>
              <a:tailEnd len="med" w="med" type="triangle"/>
            </a:ln>
          </p:spPr>
        </p:cxnSp>
        <p:sp>
          <p:nvSpPr>
            <p:cNvPr id="392" name="Google Shape;392;p45"/>
            <p:cNvSpPr txBox="1"/>
            <p:nvPr/>
          </p:nvSpPr>
          <p:spPr>
            <a:xfrm>
              <a:off x="6334392" y="2405636"/>
              <a:ext cx="878700" cy="2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800">
                  <a:solidFill>
                    <a:srgbClr val="FFFFFF"/>
                  </a:solidFill>
                </a:rPr>
                <a:t>scheduled</a:t>
              </a:r>
              <a:endParaRPr b="1" sz="800">
                <a:solidFill>
                  <a:srgbClr val="FFFFFF"/>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5"/>
                                        </p:tgtEl>
                                        <p:attrNameLst>
                                          <p:attrName>style.visibility</p:attrName>
                                        </p:attrNameLst>
                                      </p:cBhvr>
                                      <p:to>
                                        <p:strVal val="visible"/>
                                      </p:to>
                                    </p:set>
                                    <p:animEffect filter="fade" transition="in">
                                      <p:cBhvr>
                                        <p:cTn dur="1000"/>
                                        <p:tgtEl>
                                          <p:spTgt spid="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4"/>
                                        </p:tgtEl>
                                        <p:attrNameLst>
                                          <p:attrName>style.visibility</p:attrName>
                                        </p:attrNameLst>
                                      </p:cBhvr>
                                      <p:to>
                                        <p:strVal val="visible"/>
                                      </p:to>
                                    </p:set>
                                    <p:animEffect filter="fade" transition="in">
                                      <p:cBhvr>
                                        <p:cTn dur="1000"/>
                                        <p:tgtEl>
                                          <p:spTgt spid="3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6"/>
                                        </p:tgtEl>
                                        <p:attrNameLst>
                                          <p:attrName>style.visibility</p:attrName>
                                        </p:attrNameLst>
                                      </p:cBhvr>
                                      <p:to>
                                        <p:strVal val="visible"/>
                                      </p:to>
                                    </p:set>
                                    <p:animEffect filter="fade" transition="in">
                                      <p:cBhvr>
                                        <p:cTn dur="1000"/>
                                        <p:tgtEl>
                                          <p:spTgt spid="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7"/>
                                        </p:tgtEl>
                                        <p:attrNameLst>
                                          <p:attrName>style.visibility</p:attrName>
                                        </p:attrNameLst>
                                      </p:cBhvr>
                                      <p:to>
                                        <p:strVal val="visible"/>
                                      </p:to>
                                    </p:set>
                                    <p:animEffect filter="fade" transition="in">
                                      <p:cBhvr>
                                        <p:cTn dur="1000"/>
                                        <p:tgtEl>
                                          <p:spTgt spid="3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1000"/>
                                        <p:tgtEl>
                                          <p:spTgt spid="38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000"/>
                                        <p:tgtEl>
                                          <p:spTgt spid="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4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It's Alive!</a:t>
            </a:r>
            <a:endParaRPr/>
          </a:p>
        </p:txBody>
      </p:sp>
      <p:sp>
        <p:nvSpPr>
          <p:cNvPr id="399" name="Google Shape;399;p46"/>
          <p:cNvSpPr txBox="1"/>
          <p:nvPr>
            <p:ph idx="1" type="body"/>
          </p:nvPr>
        </p:nvSpPr>
        <p:spPr>
          <a:xfrm>
            <a:off x="94050" y="860200"/>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 know about the isAlive method, we can use that to know when all the racers have finished. Let's use this to solve the issue with the finish times being incorrect.</a:t>
            </a:r>
            <a:endParaRPr/>
          </a:p>
        </p:txBody>
      </p:sp>
      <p:sp>
        <p:nvSpPr>
          <p:cNvPr id="400" name="Google Shape;400;p46"/>
          <p:cNvSpPr txBox="1"/>
          <p:nvPr>
            <p:ph idx="2" type="body"/>
          </p:nvPr>
        </p:nvSpPr>
        <p:spPr>
          <a:xfrm>
            <a:off x="3875800" y="1857700"/>
            <a:ext cx="4870500" cy="2641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a:t>
            </a:r>
            <a:r>
              <a:rPr lang="en">
                <a:solidFill>
                  <a:srgbClr val="FF0000"/>
                </a:solidFill>
                <a:latin typeface="Courier New"/>
                <a:ea typeface="Courier New"/>
                <a:cs typeface="Courier New"/>
                <a:sym typeface="Courier New"/>
              </a:rPr>
              <a:t>ThreadRace</a:t>
            </a:r>
            <a:r>
              <a:rPr lang="en"/>
              <a:t>, after starting each racer, </a:t>
            </a:r>
            <a:r>
              <a:rPr b="1" i="1" lang="en">
                <a:solidFill>
                  <a:srgbClr val="FF0000"/>
                </a:solidFill>
              </a:rPr>
              <a:t>loop until</a:t>
            </a:r>
            <a:r>
              <a:rPr lang="en"/>
              <a:t> all racers have </a:t>
            </a:r>
            <a:r>
              <a:rPr b="1" i="1" lang="en">
                <a:solidFill>
                  <a:srgbClr val="FF0000"/>
                </a:solidFill>
              </a:rPr>
              <a:t>finished</a:t>
            </a:r>
            <a:r>
              <a:rPr lang="en"/>
              <a:t>.</a:t>
            </a:r>
            <a:endParaRPr/>
          </a:p>
          <a:p>
            <a:pPr indent="-298450" lvl="1" marL="914400" rtl="0" algn="l">
              <a:spcBef>
                <a:spcPts val="0"/>
              </a:spcBef>
              <a:spcAft>
                <a:spcPts val="0"/>
              </a:spcAft>
              <a:buSzPts val="1100"/>
              <a:buChar char="○"/>
            </a:pPr>
            <a:r>
              <a:rPr lang="en"/>
              <a:t>i.e. their thread is no longer </a:t>
            </a:r>
            <a:r>
              <a:rPr b="1" i="1" lang="en">
                <a:solidFill>
                  <a:srgbClr val="FF0000"/>
                </a:solidFill>
              </a:rPr>
              <a:t>alive</a:t>
            </a:r>
            <a:endParaRPr b="1" i="1">
              <a:solidFill>
                <a:srgbClr val="FF0000"/>
              </a:solidFill>
            </a:endParaRPr>
          </a:p>
          <a:p>
            <a:pPr indent="-311150" lvl="0" marL="457200" rtl="0" algn="l">
              <a:spcBef>
                <a:spcPts val="0"/>
              </a:spcBef>
              <a:spcAft>
                <a:spcPts val="0"/>
              </a:spcAft>
              <a:buSzPts val="1300"/>
              <a:buChar char="●"/>
            </a:pPr>
            <a:r>
              <a:rPr lang="en"/>
              <a:t>After they have all </a:t>
            </a:r>
            <a:r>
              <a:rPr lang="en"/>
              <a:t>finished</a:t>
            </a:r>
            <a:r>
              <a:rPr lang="en"/>
              <a:t>, print out their finish tim</a:t>
            </a:r>
            <a:r>
              <a:rPr lang="en"/>
              <a:t>es.</a:t>
            </a:r>
            <a:endParaRPr/>
          </a:p>
          <a:p>
            <a:pPr indent="-311150" lvl="0" marL="457200" rtl="0" algn="l">
              <a:spcBef>
                <a:spcPts val="1000"/>
              </a:spcBef>
              <a:spcAft>
                <a:spcPts val="0"/>
              </a:spcAft>
              <a:buSzPts val="1300"/>
              <a:buChar char="●"/>
            </a:pPr>
            <a:r>
              <a:rPr lang="en"/>
              <a:t>Did you notice anything different about the times than when they were run serially?</a:t>
            </a:r>
            <a:endParaRPr/>
          </a:p>
          <a:p>
            <a:pPr indent="-298450" lvl="1" marL="914400" rtl="0" algn="l">
              <a:spcBef>
                <a:spcPts val="0"/>
              </a:spcBef>
              <a:spcAft>
                <a:spcPts val="0"/>
              </a:spcAft>
              <a:buSzPts val="1100"/>
              <a:buChar char="○"/>
            </a:pPr>
            <a:r>
              <a:rPr lang="en"/>
              <a:t>The first racer isn't slow anymore!</a:t>
            </a:r>
            <a:endParaRPr/>
          </a:p>
          <a:p>
            <a:pPr indent="-311150" lvl="0" marL="457200" rtl="0" algn="l">
              <a:spcBef>
                <a:spcPts val="1000"/>
              </a:spcBef>
              <a:spcAft>
                <a:spcPts val="0"/>
              </a:spcAft>
              <a:buSzPts val="1300"/>
              <a:buChar char="●"/>
            </a:pPr>
            <a:r>
              <a:rPr lang="en"/>
              <a:t>After you print out all the finish times, try having the racers run again by recalling their start methods.</a:t>
            </a:r>
            <a:endParaRPr/>
          </a:p>
          <a:p>
            <a:pPr indent="-311150" lvl="0" marL="457200" rtl="0" algn="l">
              <a:spcBef>
                <a:spcPts val="0"/>
              </a:spcBef>
              <a:spcAft>
                <a:spcPts val="0"/>
              </a:spcAft>
              <a:buSzPts val="1300"/>
              <a:buChar char="●"/>
            </a:pPr>
            <a:r>
              <a:rPr lang="en"/>
              <a:t>What happens?</a:t>
            </a:r>
            <a:endParaRPr/>
          </a:p>
        </p:txBody>
      </p:sp>
      <p:sp>
        <p:nvSpPr>
          <p:cNvPr id="401" name="Google Shape;401;p4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8.6</a:t>
            </a:r>
            <a:endParaRPr/>
          </a:p>
        </p:txBody>
      </p:sp>
      <p:pic>
        <p:nvPicPr>
          <p:cNvPr id="402" name="Google Shape;402;p46"/>
          <p:cNvPicPr preferRelativeResize="0"/>
          <p:nvPr/>
        </p:nvPicPr>
        <p:blipFill rotWithShape="1">
          <a:blip r:embed="rId3">
            <a:alphaModFix/>
          </a:blip>
          <a:srcRect b="0" l="19477" r="7300" t="0"/>
          <a:stretch/>
        </p:blipFill>
        <p:spPr>
          <a:xfrm>
            <a:off x="135575" y="1987625"/>
            <a:ext cx="3458550" cy="236165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47"/>
          <p:cNvSpPr txBox="1"/>
          <p:nvPr>
            <p:ph type="title"/>
          </p:nvPr>
        </p:nvSpPr>
        <p:spPr>
          <a:xfrm>
            <a:off x="102600" y="198350"/>
            <a:ext cx="4104000" cy="845100"/>
          </a:xfrm>
          <a:prstGeom prst="rect">
            <a:avLst/>
          </a:prstGeom>
          <a:noFill/>
          <a:ln>
            <a:noFill/>
          </a:ln>
        </p:spPr>
        <p:txBody>
          <a:bodyPr anchorCtr="0" anchor="ctr" bIns="34275" lIns="68575" spcFirstLastPara="1" rIns="68575" wrap="square" tIns="34275">
            <a:spAutoFit/>
          </a:bodyPr>
          <a:lstStyle/>
          <a:p>
            <a:pPr indent="0" lvl="0" marL="0" rtl="0" algn="l">
              <a:lnSpc>
                <a:spcPct val="90000"/>
              </a:lnSpc>
              <a:spcBef>
                <a:spcPts val="0"/>
              </a:spcBef>
              <a:spcAft>
                <a:spcPts val="0"/>
              </a:spcAft>
              <a:buClr>
                <a:schemeClr val="dk2"/>
              </a:buClr>
              <a:buSzPts val="3300"/>
              <a:buFont typeface="Calibri"/>
              <a:buNone/>
            </a:pPr>
            <a:r>
              <a:rPr lang="en"/>
              <a:t>Implementing </a:t>
            </a:r>
            <a:r>
              <a:rPr lang="en">
                <a:latin typeface="Courier New"/>
                <a:ea typeface="Courier New"/>
                <a:cs typeface="Courier New"/>
                <a:sym typeface="Courier New"/>
              </a:rPr>
              <a:t>java.lang.Runnable</a:t>
            </a:r>
            <a:endParaRPr>
              <a:latin typeface="Courier New"/>
              <a:ea typeface="Courier New"/>
              <a:cs typeface="Courier New"/>
              <a:sym typeface="Courier New"/>
            </a:endParaRPr>
          </a:p>
        </p:txBody>
      </p:sp>
      <p:sp>
        <p:nvSpPr>
          <p:cNvPr id="408" name="Google Shape;408;p47"/>
          <p:cNvSpPr txBox="1"/>
          <p:nvPr>
            <p:ph idx="1" type="body"/>
          </p:nvPr>
        </p:nvSpPr>
        <p:spPr>
          <a:xfrm>
            <a:off x="4644675" y="500925"/>
            <a:ext cx="4166400" cy="3488400"/>
          </a:xfrm>
          <a:prstGeom prst="rect">
            <a:avLst/>
          </a:prstGeom>
          <a:noFill/>
          <a:ln>
            <a:noFill/>
          </a:ln>
        </p:spPr>
        <p:txBody>
          <a:bodyPr anchorCtr="0" anchor="t" bIns="34275" lIns="68575" spcFirstLastPara="1" rIns="68575" wrap="square" tIns="34275">
            <a:spAutoFit/>
          </a:bodyPr>
          <a:lstStyle/>
          <a:p>
            <a:pPr indent="-317500" lvl="0" marL="457200" rtl="0" algn="l">
              <a:lnSpc>
                <a:spcPct val="115000"/>
              </a:lnSpc>
              <a:spcBef>
                <a:spcPts val="0"/>
              </a:spcBef>
              <a:spcAft>
                <a:spcPts val="0"/>
              </a:spcAft>
              <a:buSzPts val="1400"/>
              <a:buChar char="●"/>
            </a:pPr>
            <a:r>
              <a:rPr lang="en" sz="1400"/>
              <a:t>An alternate method is to implement the </a:t>
            </a:r>
            <a:r>
              <a:rPr lang="en" sz="1400">
                <a:solidFill>
                  <a:srgbClr val="FF0000"/>
                </a:solidFill>
                <a:latin typeface="Courier New"/>
                <a:ea typeface="Courier New"/>
                <a:cs typeface="Courier New"/>
                <a:sym typeface="Courier New"/>
              </a:rPr>
              <a:t>java.lang.Runnable</a:t>
            </a:r>
            <a:r>
              <a:rPr lang="en" sz="1400"/>
              <a:t> interface</a:t>
            </a:r>
            <a:endParaRPr sz="1400"/>
          </a:p>
          <a:p>
            <a:pPr indent="-311150" lvl="1" marL="914400" rtl="0" algn="l">
              <a:lnSpc>
                <a:spcPct val="115000"/>
              </a:lnSpc>
              <a:spcBef>
                <a:spcPts val="1000"/>
              </a:spcBef>
              <a:spcAft>
                <a:spcPts val="0"/>
              </a:spcAft>
              <a:buSzPts val="1300"/>
              <a:buChar char="○"/>
            </a:pPr>
            <a:r>
              <a:rPr lang="en" sz="1300"/>
              <a:t>This is the same interface that </a:t>
            </a:r>
            <a:r>
              <a:rPr lang="en" sz="1300">
                <a:latin typeface="Courier New"/>
                <a:ea typeface="Courier New"/>
                <a:cs typeface="Courier New"/>
                <a:sym typeface="Courier New"/>
              </a:rPr>
              <a:t>Thread</a:t>
            </a:r>
            <a:r>
              <a:rPr lang="en" sz="1300"/>
              <a:t> implements</a:t>
            </a:r>
            <a:endParaRPr sz="1300"/>
          </a:p>
          <a:p>
            <a:pPr indent="-317500" lvl="0" marL="457200" rtl="0" algn="l">
              <a:lnSpc>
                <a:spcPct val="115000"/>
              </a:lnSpc>
              <a:spcBef>
                <a:spcPts val="1000"/>
              </a:spcBef>
              <a:spcAft>
                <a:spcPts val="0"/>
              </a:spcAft>
              <a:buSzPts val="1400"/>
              <a:buChar char="●"/>
            </a:pPr>
            <a:r>
              <a:rPr lang="en" sz="1400"/>
              <a:t>If you call run directly on a </a:t>
            </a:r>
            <a:r>
              <a:rPr lang="en" sz="1400">
                <a:latin typeface="Courier New"/>
                <a:ea typeface="Courier New"/>
                <a:cs typeface="Courier New"/>
                <a:sym typeface="Courier New"/>
              </a:rPr>
              <a:t>Runnable</a:t>
            </a:r>
            <a:r>
              <a:rPr lang="en" sz="1400"/>
              <a:t> instance the code will execute but in the </a:t>
            </a:r>
            <a:r>
              <a:rPr b="1" i="1" lang="en" sz="1400">
                <a:solidFill>
                  <a:srgbClr val="FF0000"/>
                </a:solidFill>
              </a:rPr>
              <a:t>same</a:t>
            </a:r>
            <a:r>
              <a:rPr lang="en" sz="1400"/>
              <a:t> thread</a:t>
            </a:r>
            <a:endParaRPr sz="1400"/>
          </a:p>
          <a:p>
            <a:pPr indent="-317500" lvl="0" marL="457200" rtl="0" algn="l">
              <a:lnSpc>
                <a:spcPct val="115000"/>
              </a:lnSpc>
              <a:spcBef>
                <a:spcPts val="1000"/>
              </a:spcBef>
              <a:spcAft>
                <a:spcPts val="0"/>
              </a:spcAft>
              <a:buSzPts val="1400"/>
              <a:buChar char="●"/>
            </a:pPr>
            <a:r>
              <a:rPr lang="en" sz="1400"/>
              <a:t>To run it in a </a:t>
            </a:r>
            <a:r>
              <a:rPr b="1" i="1" lang="en" sz="1400">
                <a:solidFill>
                  <a:srgbClr val="FF0000"/>
                </a:solidFill>
              </a:rPr>
              <a:t>separate</a:t>
            </a:r>
            <a:r>
              <a:rPr b="1" i="1" lang="en" sz="1400">
                <a:solidFill>
                  <a:srgbClr val="FF0000"/>
                </a:solidFill>
              </a:rPr>
              <a:t> </a:t>
            </a:r>
            <a:r>
              <a:rPr lang="en" sz="1400"/>
              <a:t>thread you must create a new thread and pass the runnable </a:t>
            </a:r>
            <a:r>
              <a:rPr b="1" i="1" lang="en" sz="1400">
                <a:solidFill>
                  <a:srgbClr val="FF0000"/>
                </a:solidFill>
              </a:rPr>
              <a:t>instance</a:t>
            </a:r>
            <a:r>
              <a:rPr lang="en" sz="1400"/>
              <a:t> to its constructor</a:t>
            </a:r>
            <a:endParaRPr sz="1400"/>
          </a:p>
          <a:p>
            <a:pPr indent="-317500" lvl="0" marL="457200" rtl="0" algn="l">
              <a:lnSpc>
                <a:spcPct val="115000"/>
              </a:lnSpc>
              <a:spcBef>
                <a:spcPts val="1000"/>
              </a:spcBef>
              <a:spcAft>
                <a:spcPts val="1000"/>
              </a:spcAft>
              <a:buSzPts val="1400"/>
              <a:buChar char="●"/>
            </a:pPr>
            <a:r>
              <a:rPr lang="en" sz="1400"/>
              <a:t>Then call </a:t>
            </a:r>
            <a:r>
              <a:rPr lang="en" sz="1400">
                <a:solidFill>
                  <a:srgbClr val="FF0000"/>
                </a:solidFill>
                <a:latin typeface="Courier New"/>
                <a:ea typeface="Courier New"/>
                <a:cs typeface="Courier New"/>
                <a:sym typeface="Courier New"/>
              </a:rPr>
              <a:t>start</a:t>
            </a:r>
            <a:r>
              <a:rPr lang="en" sz="1400"/>
              <a:t> on the new thread as normal</a:t>
            </a:r>
            <a:endParaRPr sz="1400"/>
          </a:p>
        </p:txBody>
      </p:sp>
      <p:sp>
        <p:nvSpPr>
          <p:cNvPr id="409" name="Google Shape;409;p47"/>
          <p:cNvSpPr/>
          <p:nvPr/>
        </p:nvSpPr>
        <p:spPr>
          <a:xfrm>
            <a:off x="124200" y="1141425"/>
            <a:ext cx="4060800" cy="3574800"/>
          </a:xfrm>
          <a:prstGeom prst="rect">
            <a:avLst/>
          </a:prstGeom>
          <a:solidFill>
            <a:srgbClr val="FFFFFF"/>
          </a:solidFill>
          <a:ln cap="flat" cmpd="sng" w="28575">
            <a:solidFill>
              <a:schemeClr val="accent1"/>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implements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3</a:t>
            </a:r>
            <a:r>
              <a:rPr lang="en" sz="1050">
                <a:solidFill>
                  <a:srgbClr val="008000"/>
                </a:solidFill>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4</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RunnableExample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5</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6</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7</a:t>
            </a:r>
            <a:r>
              <a:rPr lang="en" sz="1050">
                <a:solidFill>
                  <a:srgbClr val="008000"/>
                </a:solidFill>
                <a:latin typeface="Consolas"/>
                <a:ea typeface="Consolas"/>
                <a:cs typeface="Consolas"/>
                <a:sym typeface="Consolas"/>
              </a:rPr>
              <a:t>  </a:t>
            </a:r>
            <a:endParaRPr sz="1050">
              <a:solidFill>
                <a:srgbClr val="008000"/>
              </a:solidFill>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8      </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Override</a:t>
            </a:r>
            <a:endParaRPr sz="105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9</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10</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11</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12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13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14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RunnableExample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16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17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exampleThread</a:t>
            </a:r>
            <a:r>
              <a:rPr lang="en" sz="1050">
                <a:latin typeface="Consolas"/>
                <a:ea typeface="Consolas"/>
                <a:cs typeface="Consolas"/>
                <a:sym typeface="Consolas"/>
              </a:rPr>
              <a:t> =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18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19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exampleThread</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20</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21</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a:t>
            </a:r>
            <a:endParaRPr sz="1050">
              <a:solidFill>
                <a:schemeClr val="dk1"/>
              </a:solidFill>
              <a:latin typeface="Consolas"/>
              <a:ea typeface="Consolas"/>
              <a:cs typeface="Consolas"/>
              <a:sym typeface="Consolas"/>
            </a:endParaRPr>
          </a:p>
        </p:txBody>
      </p:sp>
      <p:sp>
        <p:nvSpPr>
          <p:cNvPr id="410" name="Google Shape;410;p47"/>
          <p:cNvSpPr/>
          <p:nvPr/>
        </p:nvSpPr>
        <p:spPr>
          <a:xfrm>
            <a:off x="2748900" y="1934013"/>
            <a:ext cx="1292400" cy="622200"/>
          </a:xfrm>
          <a:prstGeom prst="rect">
            <a:avLst/>
          </a:prstGeom>
          <a:solidFill>
            <a:srgbClr val="FFF2CC"/>
          </a:solid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100">
                <a:solidFill>
                  <a:schemeClr val="dk1"/>
                </a:solidFill>
              </a:rPr>
              <a:t>You m</a:t>
            </a:r>
            <a:r>
              <a:rPr lang="en" sz="1100">
                <a:solidFill>
                  <a:schemeClr val="dk1"/>
                </a:solidFill>
                <a:latin typeface="Arial"/>
                <a:ea typeface="Arial"/>
                <a:cs typeface="Arial"/>
                <a:sym typeface="Arial"/>
              </a:rPr>
              <a:t>ust create a new </a:t>
            </a:r>
            <a:r>
              <a:rPr lang="en" sz="1100">
                <a:solidFill>
                  <a:schemeClr val="dk1"/>
                </a:solidFill>
                <a:latin typeface="Courier New"/>
                <a:ea typeface="Courier New"/>
                <a:cs typeface="Courier New"/>
                <a:sym typeface="Courier New"/>
              </a:rPr>
              <a:t>T</a:t>
            </a:r>
            <a:r>
              <a:rPr lang="en" sz="1100">
                <a:solidFill>
                  <a:schemeClr val="dk1"/>
                </a:solidFill>
                <a:latin typeface="Courier New"/>
                <a:ea typeface="Courier New"/>
                <a:cs typeface="Courier New"/>
                <a:sym typeface="Courier New"/>
              </a:rPr>
              <a:t>hread</a:t>
            </a:r>
            <a:r>
              <a:rPr lang="en" sz="1100">
                <a:solidFill>
                  <a:schemeClr val="dk1"/>
                </a:solidFill>
                <a:latin typeface="Arial"/>
                <a:ea typeface="Arial"/>
                <a:cs typeface="Arial"/>
                <a:sym typeface="Arial"/>
              </a:rPr>
              <a:t> that uses </a:t>
            </a:r>
            <a:r>
              <a:rPr lang="en" sz="1100">
                <a:solidFill>
                  <a:schemeClr val="dk1"/>
                </a:solidFill>
                <a:latin typeface="Courier New"/>
                <a:ea typeface="Courier New"/>
                <a:cs typeface="Courier New"/>
                <a:sym typeface="Courier New"/>
              </a:rPr>
              <a:t>Runnable</a:t>
            </a:r>
            <a:endParaRPr sz="1100">
              <a:latin typeface="Courier New"/>
              <a:ea typeface="Courier New"/>
              <a:cs typeface="Courier New"/>
              <a:sym typeface="Courier New"/>
            </a:endParaRPr>
          </a:p>
        </p:txBody>
      </p:sp>
      <p:sp>
        <p:nvSpPr>
          <p:cNvPr id="411" name="Google Shape;411;p47"/>
          <p:cNvSpPr/>
          <p:nvPr/>
        </p:nvSpPr>
        <p:spPr>
          <a:xfrm>
            <a:off x="900125" y="3759300"/>
            <a:ext cx="1989300" cy="552300"/>
          </a:xfrm>
          <a:prstGeom prst="rect">
            <a:avLst/>
          </a:prstGeom>
          <a:no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412" name="Google Shape;412;p47"/>
          <p:cNvCxnSpPr>
            <a:stCxn id="410" idx="2"/>
            <a:endCxn id="411" idx="3"/>
          </p:cNvCxnSpPr>
          <p:nvPr/>
        </p:nvCxnSpPr>
        <p:spPr>
          <a:xfrm rot="5400000">
            <a:off x="2402550" y="3042963"/>
            <a:ext cx="1479300" cy="505800"/>
          </a:xfrm>
          <a:prstGeom prst="bentConnector2">
            <a:avLst/>
          </a:prstGeom>
          <a:noFill/>
          <a:ln cap="flat" cmpd="sng" w="19050">
            <a:solidFill>
              <a:srgbClr val="FF0000"/>
            </a:solidFill>
            <a:prstDash val="solid"/>
            <a:miter lim="800000"/>
            <a:headEnd len="sm" w="sm" type="none"/>
            <a:tailEnd len="sm" w="sm" type="none"/>
          </a:ln>
        </p:spPr>
      </p:cxnSp>
      <p:sp>
        <p:nvSpPr>
          <p:cNvPr id="413" name="Google Shape;413;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4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Implementing </a:t>
            </a:r>
            <a:r>
              <a:rPr lang="en">
                <a:latin typeface="Courier New"/>
                <a:ea typeface="Courier New"/>
                <a:cs typeface="Courier New"/>
                <a:sym typeface="Courier New"/>
              </a:rPr>
              <a:t>Runnable</a:t>
            </a:r>
            <a:endParaRPr>
              <a:latin typeface="Courier New"/>
              <a:ea typeface="Courier New"/>
              <a:cs typeface="Courier New"/>
              <a:sym typeface="Courier New"/>
            </a:endParaRPr>
          </a:p>
        </p:txBody>
      </p:sp>
      <p:sp>
        <p:nvSpPr>
          <p:cNvPr id="419" name="Google Shape;419;p48"/>
          <p:cNvSpPr txBox="1"/>
          <p:nvPr>
            <p:ph idx="12" type="sldNum"/>
          </p:nvPr>
        </p:nvSpPr>
        <p:spPr>
          <a:xfrm>
            <a:off x="8525975" y="4854498"/>
            <a:ext cx="548700" cy="278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0" name="Google Shape;420;p48"/>
          <p:cNvSpPr/>
          <p:nvPr/>
        </p:nvSpPr>
        <p:spPr>
          <a:xfrm>
            <a:off x="2541600" y="1467250"/>
            <a:ext cx="4060800" cy="3574800"/>
          </a:xfrm>
          <a:prstGeom prst="rect">
            <a:avLst/>
          </a:prstGeom>
          <a:solidFill>
            <a:srgbClr val="FFFFFF"/>
          </a:solidFill>
          <a:ln cap="flat" cmpd="sng" w="19050">
            <a:solidFill>
              <a:schemeClr val="accent1"/>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implements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3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4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RunnableExample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5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6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7  </a:t>
            </a:r>
            <a:endParaRPr sz="1050">
              <a:solidFill>
                <a:srgbClr val="008000"/>
              </a:solidFill>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8      </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Override</a:t>
            </a:r>
            <a:endParaRPr sz="105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9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10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11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12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13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14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RunnableExample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16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17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exampleThread</a:t>
            </a:r>
            <a:r>
              <a:rPr lang="en" sz="1050">
                <a:latin typeface="Consolas"/>
                <a:ea typeface="Consolas"/>
                <a:cs typeface="Consolas"/>
                <a:sym typeface="Consolas"/>
              </a:rPr>
              <a:t> =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18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19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exampleThread</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20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21 </a:t>
            </a:r>
            <a:r>
              <a:rPr lang="en" sz="1050">
                <a:latin typeface="Consolas"/>
                <a:ea typeface="Consolas"/>
                <a:cs typeface="Consolas"/>
                <a:sym typeface="Consolas"/>
              </a:rPr>
              <a:t>}</a:t>
            </a:r>
            <a:endParaRPr sz="1050">
              <a:solidFill>
                <a:schemeClr val="dk1"/>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4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Closer Look at Implementing </a:t>
            </a:r>
            <a:r>
              <a:rPr lang="en">
                <a:latin typeface="Courier New"/>
                <a:ea typeface="Courier New"/>
                <a:cs typeface="Courier New"/>
                <a:sym typeface="Courier New"/>
              </a:rPr>
              <a:t>Runnable</a:t>
            </a:r>
            <a:endParaRPr>
              <a:latin typeface="Courier New"/>
              <a:ea typeface="Courier New"/>
              <a:cs typeface="Courier New"/>
              <a:sym typeface="Courier New"/>
            </a:endParaRPr>
          </a:p>
        </p:txBody>
      </p:sp>
      <p:sp>
        <p:nvSpPr>
          <p:cNvPr id="426" name="Google Shape;426;p49"/>
          <p:cNvSpPr txBox="1"/>
          <p:nvPr>
            <p:ph idx="12" type="sldNum"/>
          </p:nvPr>
        </p:nvSpPr>
        <p:spPr>
          <a:xfrm>
            <a:off x="8525975" y="4854498"/>
            <a:ext cx="548700" cy="2784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7" name="Google Shape;427;p49"/>
          <p:cNvSpPr/>
          <p:nvPr/>
        </p:nvSpPr>
        <p:spPr>
          <a:xfrm>
            <a:off x="2541600" y="1467250"/>
            <a:ext cx="4060800" cy="3574800"/>
          </a:xfrm>
          <a:prstGeom prst="rect">
            <a:avLst/>
          </a:prstGeom>
          <a:solidFill>
            <a:srgbClr val="FFFFFF"/>
          </a:solidFill>
          <a:ln cap="flat" cmpd="sng" w="19050">
            <a:solidFill>
              <a:schemeClr val="accent1"/>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RunnableExample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implements</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a:t>
            </a:r>
            <a:r>
              <a:rPr lang="en" sz="1050">
                <a:solidFill>
                  <a:srgbClr val="008000"/>
                </a:solidFill>
                <a:latin typeface="Consolas"/>
                <a:ea typeface="Consolas"/>
                <a:cs typeface="Consolas"/>
                <a:sym typeface="Consolas"/>
              </a:rPr>
              <a:t> </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private</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final</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3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4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RunnableExample</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int</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5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this</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 = </a:t>
            </a:r>
            <a:r>
              <a:rPr lang="en" sz="1050">
                <a:solidFill>
                  <a:srgbClr val="001080"/>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6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7  </a:t>
            </a:r>
            <a:endParaRPr sz="1050">
              <a:solidFill>
                <a:srgbClr val="008000"/>
              </a:solidFill>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8      </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Override</a:t>
            </a:r>
            <a:endParaRPr sz="105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9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10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System</a:t>
            </a:r>
            <a:r>
              <a:rPr lang="en" sz="1050">
                <a:latin typeface="Consolas"/>
                <a:ea typeface="Consolas"/>
                <a:cs typeface="Consolas"/>
                <a:sym typeface="Consolas"/>
              </a:rPr>
              <a:t>.</a:t>
            </a:r>
            <a:r>
              <a:rPr lang="en" sz="1050">
                <a:solidFill>
                  <a:srgbClr val="0070C1"/>
                </a:solidFill>
                <a:latin typeface="Consolas"/>
                <a:ea typeface="Consolas"/>
                <a:cs typeface="Consolas"/>
                <a:sym typeface="Consolas"/>
              </a:rPr>
              <a:t>out</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println</a:t>
            </a:r>
            <a:r>
              <a:rPr lang="en" sz="1050">
                <a:latin typeface="Consolas"/>
                <a:ea typeface="Consolas"/>
                <a:cs typeface="Consolas"/>
                <a:sym typeface="Consolas"/>
              </a:rPr>
              <a:t> (</a:t>
            </a:r>
            <a:r>
              <a:rPr lang="en" sz="1050">
                <a:solidFill>
                  <a:srgbClr val="0070C1"/>
                </a:solidFill>
                <a:latin typeface="Consolas"/>
                <a:ea typeface="Consolas"/>
                <a:cs typeface="Consolas"/>
                <a:sym typeface="Consolas"/>
              </a:rPr>
              <a:t>id</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11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12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13 </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latin typeface="Consolas"/>
                <a:ea typeface="Consolas"/>
                <a:cs typeface="Consolas"/>
                <a:sym typeface="Consolas"/>
              </a:rPr>
              <a:t> </a:t>
            </a:r>
            <a:r>
              <a:rPr lang="en" sz="1050">
                <a:solidFill>
                  <a:srgbClr val="0000FF"/>
                </a:solidFill>
                <a:latin typeface="Consolas"/>
                <a:ea typeface="Consolas"/>
                <a:cs typeface="Consolas"/>
                <a:sym typeface="Consolas"/>
              </a:rPr>
              <a:t>static</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void</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main</a:t>
            </a:r>
            <a:r>
              <a:rPr lang="en" sz="1050">
                <a:latin typeface="Consolas"/>
                <a:ea typeface="Consolas"/>
                <a:cs typeface="Consolas"/>
                <a:sym typeface="Consolas"/>
              </a:rPr>
              <a:t>(</a:t>
            </a:r>
            <a:r>
              <a:rPr lang="en" sz="1050">
                <a:solidFill>
                  <a:srgbClr val="267F99"/>
                </a:solidFill>
                <a:latin typeface="Consolas"/>
                <a:ea typeface="Consolas"/>
                <a:cs typeface="Consolas"/>
                <a:sym typeface="Consolas"/>
              </a:rPr>
              <a:t>String</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args</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14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Runnable</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 =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15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RunnableExample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spcBef>
                <a:spcPts val="0"/>
              </a:spcBef>
              <a:spcAft>
                <a:spcPts val="0"/>
              </a:spcAft>
              <a:buNone/>
            </a:pPr>
            <a:r>
              <a:rPr lang="en" sz="1050">
                <a:solidFill>
                  <a:srgbClr val="008000"/>
                </a:solidFill>
                <a:latin typeface="Consolas"/>
                <a:ea typeface="Consolas"/>
                <a:cs typeface="Consolas"/>
                <a:sym typeface="Consolas"/>
              </a:rPr>
              <a:t>16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17 </a:t>
            </a:r>
            <a:r>
              <a:rPr lang="en" sz="1050">
                <a:latin typeface="Consolas"/>
                <a:ea typeface="Consolas"/>
                <a:cs typeface="Consolas"/>
                <a:sym typeface="Consolas"/>
              </a:rPr>
              <a:t>        </a:t>
            </a:r>
            <a:r>
              <a:rPr lang="en" sz="1050">
                <a:solidFill>
                  <a:srgbClr val="267F99"/>
                </a:solidFill>
                <a:latin typeface="Consolas"/>
                <a:ea typeface="Consolas"/>
                <a:cs typeface="Consolas"/>
                <a:sym typeface="Consolas"/>
              </a:rPr>
              <a:t>Thread</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exampleThread</a:t>
            </a:r>
            <a:r>
              <a:rPr lang="en" sz="1050">
                <a:latin typeface="Consolas"/>
                <a:ea typeface="Consolas"/>
                <a:cs typeface="Consolas"/>
                <a:sym typeface="Consolas"/>
              </a:rPr>
              <a:t> =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18 </a:t>
            </a:r>
            <a:r>
              <a:rPr lang="en" sz="1050">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Thread</a:t>
            </a:r>
            <a:r>
              <a:rPr lang="en" sz="1050">
                <a:latin typeface="Consolas"/>
                <a:ea typeface="Consolas"/>
                <a:cs typeface="Consolas"/>
                <a:sym typeface="Consolas"/>
              </a:rPr>
              <a:t>(</a:t>
            </a:r>
            <a:r>
              <a:rPr lang="en" sz="1050">
                <a:solidFill>
                  <a:srgbClr val="001080"/>
                </a:solidFill>
                <a:latin typeface="Consolas"/>
                <a:ea typeface="Consolas"/>
                <a:cs typeface="Consolas"/>
                <a:sym typeface="Consolas"/>
              </a:rPr>
              <a:t>example</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19 </a:t>
            </a:r>
            <a:r>
              <a:rPr lang="en" sz="1050">
                <a:latin typeface="Consolas"/>
                <a:ea typeface="Consolas"/>
                <a:cs typeface="Consolas"/>
                <a:sym typeface="Consolas"/>
              </a:rPr>
              <a:t>        </a:t>
            </a:r>
            <a:r>
              <a:rPr lang="en" sz="1050">
                <a:solidFill>
                  <a:srgbClr val="001080"/>
                </a:solidFill>
                <a:latin typeface="Consolas"/>
                <a:ea typeface="Consolas"/>
                <a:cs typeface="Consolas"/>
                <a:sym typeface="Consolas"/>
              </a:rPr>
              <a:t>exampleThread</a:t>
            </a:r>
            <a:r>
              <a:rPr lang="en" sz="1050">
                <a:latin typeface="Consolas"/>
                <a:ea typeface="Consolas"/>
                <a:cs typeface="Consolas"/>
                <a:sym typeface="Consolas"/>
              </a:rPr>
              <a:t>.</a:t>
            </a:r>
            <a:r>
              <a:rPr lang="en" sz="1050">
                <a:solidFill>
                  <a:srgbClr val="795E26"/>
                </a:solidFill>
                <a:latin typeface="Consolas"/>
                <a:ea typeface="Consolas"/>
                <a:cs typeface="Consolas"/>
                <a:sym typeface="Consolas"/>
              </a:rPr>
              <a:t>start</a:t>
            </a:r>
            <a:r>
              <a:rPr lang="en" sz="1050">
                <a:latin typeface="Consolas"/>
                <a:ea typeface="Consolas"/>
                <a:cs typeface="Consolas"/>
                <a:sym typeface="Consolas"/>
              </a:rPr>
              <a:t>();</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20 </a:t>
            </a:r>
            <a:r>
              <a:rPr lang="en" sz="1050">
                <a:latin typeface="Consolas"/>
                <a:ea typeface="Consolas"/>
                <a:cs typeface="Consolas"/>
                <a:sym typeface="Consolas"/>
              </a:rPr>
              <a:t>    }</a:t>
            </a:r>
            <a:endParaRPr sz="1050">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8000"/>
                </a:solidFill>
                <a:latin typeface="Consolas"/>
                <a:ea typeface="Consolas"/>
                <a:cs typeface="Consolas"/>
                <a:sym typeface="Consolas"/>
              </a:rPr>
              <a:t>21 </a:t>
            </a:r>
            <a:r>
              <a:rPr lang="en" sz="1050">
                <a:latin typeface="Consolas"/>
                <a:ea typeface="Consolas"/>
                <a:cs typeface="Consolas"/>
                <a:sym typeface="Consolas"/>
              </a:rPr>
              <a:t>}</a:t>
            </a:r>
            <a:endParaRPr sz="1050">
              <a:solidFill>
                <a:schemeClr val="dk1"/>
              </a:solidFill>
              <a:latin typeface="Consolas"/>
              <a:ea typeface="Consolas"/>
              <a:cs typeface="Consolas"/>
              <a:sym typeface="Consolas"/>
            </a:endParaRPr>
          </a:p>
        </p:txBody>
      </p:sp>
      <p:sp>
        <p:nvSpPr>
          <p:cNvPr id="428" name="Google Shape;428;p49"/>
          <p:cNvSpPr txBox="1"/>
          <p:nvPr/>
        </p:nvSpPr>
        <p:spPr>
          <a:xfrm>
            <a:off x="121030" y="1458564"/>
            <a:ext cx="2314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Start by implementing the </a:t>
            </a:r>
            <a:r>
              <a:rPr lang="en" sz="1200">
                <a:solidFill>
                  <a:srgbClr val="FF0000"/>
                </a:solidFill>
                <a:latin typeface="Courier New"/>
                <a:ea typeface="Courier New"/>
                <a:cs typeface="Courier New"/>
                <a:sym typeface="Courier New"/>
              </a:rPr>
              <a:t>Runnable</a:t>
            </a:r>
            <a:r>
              <a:rPr lang="en" sz="1200">
                <a:latin typeface="Roboto"/>
                <a:ea typeface="Roboto"/>
                <a:cs typeface="Roboto"/>
                <a:sym typeface="Roboto"/>
              </a:rPr>
              <a:t> interface.</a:t>
            </a:r>
            <a:endParaRPr sz="1200">
              <a:latin typeface="Roboto"/>
              <a:ea typeface="Roboto"/>
              <a:cs typeface="Roboto"/>
              <a:sym typeface="Roboto"/>
            </a:endParaRPr>
          </a:p>
        </p:txBody>
      </p:sp>
      <p:grpSp>
        <p:nvGrpSpPr>
          <p:cNvPr id="429" name="Google Shape;429;p49"/>
          <p:cNvGrpSpPr/>
          <p:nvPr/>
        </p:nvGrpSpPr>
        <p:grpSpPr>
          <a:xfrm>
            <a:off x="1278280" y="1458564"/>
            <a:ext cx="5136095" cy="303886"/>
            <a:chOff x="1278280" y="1458564"/>
            <a:chExt cx="5136095" cy="303886"/>
          </a:xfrm>
        </p:grpSpPr>
        <p:sp>
          <p:nvSpPr>
            <p:cNvPr id="430" name="Google Shape;430;p49"/>
            <p:cNvSpPr/>
            <p:nvPr/>
          </p:nvSpPr>
          <p:spPr>
            <a:xfrm>
              <a:off x="4939275" y="1520350"/>
              <a:ext cx="1475100" cy="2421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1" name="Google Shape;431;p49"/>
            <p:cNvCxnSpPr>
              <a:stCxn id="428" idx="0"/>
              <a:endCxn id="430" idx="0"/>
            </p:cNvCxnSpPr>
            <p:nvPr/>
          </p:nvCxnSpPr>
          <p:spPr>
            <a:xfrm flipH="1" rot="-5400000">
              <a:off x="3446680" y="-709836"/>
              <a:ext cx="61800" cy="4398600"/>
            </a:xfrm>
            <a:prstGeom prst="bentConnector3">
              <a:avLst>
                <a:gd fmla="val -218226" name="adj1"/>
              </a:avLst>
            </a:prstGeom>
            <a:noFill/>
            <a:ln cap="flat" cmpd="sng" w="19050">
              <a:solidFill>
                <a:srgbClr val="FF0000"/>
              </a:solidFill>
              <a:prstDash val="solid"/>
              <a:round/>
              <a:headEnd len="med" w="med" type="none"/>
              <a:tailEnd len="med" w="med" type="none"/>
            </a:ln>
          </p:spPr>
        </p:cxnSp>
      </p:grpSp>
      <p:sp>
        <p:nvSpPr>
          <p:cNvPr id="432" name="Google Shape;432;p49"/>
          <p:cNvSpPr txBox="1"/>
          <p:nvPr/>
        </p:nvSpPr>
        <p:spPr>
          <a:xfrm>
            <a:off x="121030" y="2147989"/>
            <a:ext cx="23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Courier New"/>
                <a:ea typeface="Courier New"/>
                <a:cs typeface="Courier New"/>
                <a:sym typeface="Courier New"/>
              </a:rPr>
              <a:t>Runnable</a:t>
            </a:r>
            <a:r>
              <a:rPr lang="en" sz="1200">
                <a:latin typeface="Roboto"/>
                <a:ea typeface="Roboto"/>
                <a:cs typeface="Roboto"/>
                <a:sym typeface="Roboto"/>
              </a:rPr>
              <a:t> is also in the </a:t>
            </a:r>
            <a:r>
              <a:rPr lang="en" sz="1200">
                <a:solidFill>
                  <a:srgbClr val="FF0000"/>
                </a:solidFill>
                <a:latin typeface="Courier New"/>
                <a:ea typeface="Courier New"/>
                <a:cs typeface="Courier New"/>
                <a:sym typeface="Courier New"/>
              </a:rPr>
              <a:t>java.lang</a:t>
            </a:r>
            <a:r>
              <a:rPr lang="en" sz="1200">
                <a:latin typeface="Roboto"/>
                <a:ea typeface="Roboto"/>
                <a:cs typeface="Roboto"/>
                <a:sym typeface="Roboto"/>
              </a:rPr>
              <a:t> package and doesn't need to be imported.</a:t>
            </a:r>
            <a:endParaRPr sz="1200">
              <a:latin typeface="Roboto"/>
              <a:ea typeface="Roboto"/>
              <a:cs typeface="Roboto"/>
              <a:sym typeface="Roboto"/>
            </a:endParaRPr>
          </a:p>
        </p:txBody>
      </p:sp>
      <p:sp>
        <p:nvSpPr>
          <p:cNvPr id="433" name="Google Shape;433;p49"/>
          <p:cNvSpPr txBox="1"/>
          <p:nvPr/>
        </p:nvSpPr>
        <p:spPr>
          <a:xfrm>
            <a:off x="121030" y="3022214"/>
            <a:ext cx="2314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Courier New"/>
                <a:ea typeface="Courier New"/>
                <a:cs typeface="Courier New"/>
                <a:sym typeface="Courier New"/>
              </a:rPr>
              <a:t>Runnable</a:t>
            </a:r>
            <a:r>
              <a:rPr lang="en" sz="1200">
                <a:latin typeface="Roboto"/>
                <a:ea typeface="Roboto"/>
                <a:cs typeface="Roboto"/>
                <a:sym typeface="Roboto"/>
              </a:rPr>
              <a:t> defines a single </a:t>
            </a:r>
            <a:r>
              <a:rPr b="1" i="1" lang="en" sz="1200">
                <a:solidFill>
                  <a:srgbClr val="FF0000"/>
                </a:solidFill>
                <a:latin typeface="Roboto"/>
                <a:ea typeface="Roboto"/>
                <a:cs typeface="Roboto"/>
                <a:sym typeface="Roboto"/>
              </a:rPr>
              <a:t>abstract </a:t>
            </a:r>
            <a:r>
              <a:rPr lang="en" sz="1200">
                <a:latin typeface="Roboto"/>
                <a:ea typeface="Roboto"/>
                <a:cs typeface="Roboto"/>
                <a:sym typeface="Roboto"/>
              </a:rPr>
              <a:t>method: </a:t>
            </a:r>
            <a:r>
              <a:rPr lang="en" sz="1200">
                <a:solidFill>
                  <a:srgbClr val="FF0000"/>
                </a:solidFill>
                <a:latin typeface="Courier New"/>
                <a:ea typeface="Courier New"/>
                <a:cs typeface="Courier New"/>
                <a:sym typeface="Courier New"/>
              </a:rPr>
              <a:t>run()</a:t>
            </a:r>
            <a:r>
              <a:rPr lang="en" sz="1200">
                <a:latin typeface="Roboto"/>
                <a:ea typeface="Roboto"/>
                <a:cs typeface="Roboto"/>
                <a:sym typeface="Roboto"/>
              </a:rPr>
              <a:t>. Because it is abstract, you </a:t>
            </a:r>
            <a:r>
              <a:rPr b="1" i="1" lang="en" sz="1200">
                <a:solidFill>
                  <a:srgbClr val="FF0000"/>
                </a:solidFill>
                <a:latin typeface="Roboto"/>
                <a:ea typeface="Roboto"/>
                <a:cs typeface="Roboto"/>
                <a:sym typeface="Roboto"/>
              </a:rPr>
              <a:t>must</a:t>
            </a:r>
            <a:r>
              <a:rPr lang="en" sz="1200">
                <a:solidFill>
                  <a:srgbClr val="FF0000"/>
                </a:solidFill>
                <a:latin typeface="Roboto"/>
                <a:ea typeface="Roboto"/>
                <a:cs typeface="Roboto"/>
                <a:sym typeface="Roboto"/>
              </a:rPr>
              <a:t> </a:t>
            </a:r>
            <a:r>
              <a:rPr lang="en" sz="1200">
                <a:latin typeface="Roboto"/>
                <a:ea typeface="Roboto"/>
                <a:cs typeface="Roboto"/>
                <a:sym typeface="Roboto"/>
              </a:rPr>
              <a:t>override it in your class.</a:t>
            </a:r>
            <a:endParaRPr sz="1200">
              <a:latin typeface="Roboto"/>
              <a:ea typeface="Roboto"/>
              <a:cs typeface="Roboto"/>
              <a:sym typeface="Roboto"/>
            </a:endParaRPr>
          </a:p>
        </p:txBody>
      </p:sp>
      <p:grpSp>
        <p:nvGrpSpPr>
          <p:cNvPr id="434" name="Google Shape;434;p49"/>
          <p:cNvGrpSpPr/>
          <p:nvPr/>
        </p:nvGrpSpPr>
        <p:grpSpPr>
          <a:xfrm>
            <a:off x="2435530" y="2614500"/>
            <a:ext cx="2859395" cy="869414"/>
            <a:chOff x="2435530" y="2614500"/>
            <a:chExt cx="2859395" cy="869414"/>
          </a:xfrm>
        </p:grpSpPr>
        <p:sp>
          <p:nvSpPr>
            <p:cNvPr id="435" name="Google Shape;435;p49"/>
            <p:cNvSpPr/>
            <p:nvPr/>
          </p:nvSpPr>
          <p:spPr>
            <a:xfrm>
              <a:off x="3049425" y="2614500"/>
              <a:ext cx="2245500" cy="834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36" name="Google Shape;436;p49"/>
            <p:cNvCxnSpPr>
              <a:stCxn id="433" idx="3"/>
              <a:endCxn id="435" idx="1"/>
            </p:cNvCxnSpPr>
            <p:nvPr/>
          </p:nvCxnSpPr>
          <p:spPr>
            <a:xfrm flipH="1" rot="10800000">
              <a:off x="2435530" y="3031814"/>
              <a:ext cx="613800" cy="452100"/>
            </a:xfrm>
            <a:prstGeom prst="bentConnector3">
              <a:avLst>
                <a:gd fmla="val 50008" name="adj1"/>
              </a:avLst>
            </a:prstGeom>
            <a:noFill/>
            <a:ln cap="flat" cmpd="sng" w="19050">
              <a:solidFill>
                <a:srgbClr val="FF0000"/>
              </a:solidFill>
              <a:prstDash val="solid"/>
              <a:round/>
              <a:headEnd len="med" w="med" type="none"/>
              <a:tailEnd len="med" w="med" type="none"/>
            </a:ln>
          </p:spPr>
        </p:cxnSp>
      </p:grpSp>
      <p:sp>
        <p:nvSpPr>
          <p:cNvPr id="437" name="Google Shape;437;p49"/>
          <p:cNvSpPr txBox="1"/>
          <p:nvPr/>
        </p:nvSpPr>
        <p:spPr>
          <a:xfrm>
            <a:off x="121030" y="4080939"/>
            <a:ext cx="23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You should include any code that you want to execute in a separate thread in this method.</a:t>
            </a:r>
            <a:endParaRPr sz="1200">
              <a:latin typeface="Roboto"/>
              <a:ea typeface="Roboto"/>
              <a:cs typeface="Roboto"/>
              <a:sym typeface="Roboto"/>
            </a:endParaRPr>
          </a:p>
        </p:txBody>
      </p:sp>
      <p:sp>
        <p:nvSpPr>
          <p:cNvPr id="438" name="Google Shape;438;p49"/>
          <p:cNvSpPr txBox="1"/>
          <p:nvPr/>
        </p:nvSpPr>
        <p:spPr>
          <a:xfrm>
            <a:off x="6706650" y="1458564"/>
            <a:ext cx="2314500" cy="1293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Just like </a:t>
            </a:r>
            <a:r>
              <a:rPr lang="en" sz="1200">
                <a:latin typeface="Courier New"/>
                <a:ea typeface="Courier New"/>
                <a:cs typeface="Courier New"/>
                <a:sym typeface="Courier New"/>
              </a:rPr>
              <a:t>Thread</a:t>
            </a:r>
            <a:r>
              <a:rPr lang="en" sz="1200">
                <a:latin typeface="Roboto"/>
                <a:ea typeface="Roboto"/>
                <a:cs typeface="Roboto"/>
                <a:sym typeface="Roboto"/>
              </a:rPr>
              <a:t>, we don't want to call </a:t>
            </a:r>
            <a:r>
              <a:rPr lang="en" sz="1200">
                <a:latin typeface="Courier New"/>
                <a:ea typeface="Courier New"/>
                <a:cs typeface="Courier New"/>
                <a:sym typeface="Courier New"/>
              </a:rPr>
              <a:t>run()</a:t>
            </a:r>
            <a:r>
              <a:rPr lang="en" sz="1200">
                <a:latin typeface="Roboto"/>
                <a:ea typeface="Roboto"/>
                <a:cs typeface="Roboto"/>
                <a:sym typeface="Roboto"/>
              </a:rPr>
              <a:t> directly on a </a:t>
            </a:r>
            <a:r>
              <a:rPr lang="en" sz="1200">
                <a:latin typeface="Courier New"/>
                <a:ea typeface="Courier New"/>
                <a:cs typeface="Courier New"/>
                <a:sym typeface="Courier New"/>
              </a:rPr>
              <a:t>Runnable</a:t>
            </a:r>
            <a:r>
              <a:rPr lang="en" sz="1200">
                <a:latin typeface="Roboto"/>
                <a:ea typeface="Roboto"/>
                <a:cs typeface="Roboto"/>
                <a:sym typeface="Roboto"/>
              </a:rPr>
              <a:t> from the main thread, but </a:t>
            </a:r>
            <a:r>
              <a:rPr b="1" i="1" lang="en" sz="1200">
                <a:solidFill>
                  <a:srgbClr val="FF0000"/>
                </a:solidFill>
                <a:latin typeface="Roboto"/>
                <a:ea typeface="Roboto"/>
                <a:cs typeface="Roboto"/>
                <a:sym typeface="Roboto"/>
              </a:rPr>
              <a:t>unlike</a:t>
            </a:r>
            <a:r>
              <a:rPr lang="en" sz="1200">
                <a:solidFill>
                  <a:srgbClr val="FF0000"/>
                </a:solidFill>
                <a:latin typeface="Roboto"/>
                <a:ea typeface="Roboto"/>
                <a:cs typeface="Roboto"/>
                <a:sym typeface="Roboto"/>
              </a:rPr>
              <a:t> </a:t>
            </a:r>
            <a:r>
              <a:rPr lang="en" sz="1200">
                <a:latin typeface="Courier New"/>
                <a:ea typeface="Courier New"/>
                <a:cs typeface="Courier New"/>
                <a:sym typeface="Courier New"/>
              </a:rPr>
              <a:t>Thread</a:t>
            </a:r>
            <a:r>
              <a:rPr lang="en" sz="1200">
                <a:latin typeface="Roboto"/>
                <a:ea typeface="Roboto"/>
                <a:cs typeface="Roboto"/>
                <a:sym typeface="Roboto"/>
              </a:rPr>
              <a:t>, a </a:t>
            </a:r>
            <a:r>
              <a:rPr lang="en" sz="1200">
                <a:latin typeface="Courier New"/>
                <a:ea typeface="Courier New"/>
                <a:cs typeface="Courier New"/>
                <a:sym typeface="Courier New"/>
              </a:rPr>
              <a:t>Runnable</a:t>
            </a:r>
            <a:r>
              <a:rPr lang="en" sz="1200">
                <a:latin typeface="Roboto"/>
                <a:ea typeface="Roboto"/>
                <a:cs typeface="Roboto"/>
                <a:sym typeface="Roboto"/>
              </a:rPr>
              <a:t> cannot be started on its own.</a:t>
            </a:r>
            <a:endParaRPr sz="1200">
              <a:latin typeface="Roboto"/>
              <a:ea typeface="Roboto"/>
              <a:cs typeface="Roboto"/>
              <a:sym typeface="Roboto"/>
            </a:endParaRPr>
          </a:p>
        </p:txBody>
      </p:sp>
      <p:sp>
        <p:nvSpPr>
          <p:cNvPr id="439" name="Google Shape;439;p49"/>
          <p:cNvSpPr txBox="1"/>
          <p:nvPr/>
        </p:nvSpPr>
        <p:spPr>
          <a:xfrm>
            <a:off x="6708475" y="2885189"/>
            <a:ext cx="23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Instead, we create a new </a:t>
            </a:r>
            <a:r>
              <a:rPr lang="en" sz="1200">
                <a:latin typeface="Courier New"/>
                <a:ea typeface="Courier New"/>
                <a:cs typeface="Courier New"/>
                <a:sym typeface="Courier New"/>
              </a:rPr>
              <a:t>Thread</a:t>
            </a:r>
            <a:r>
              <a:rPr lang="en" sz="1200">
                <a:latin typeface="Roboto"/>
                <a:ea typeface="Roboto"/>
                <a:cs typeface="Roboto"/>
                <a:sym typeface="Roboto"/>
              </a:rPr>
              <a:t> by passing the </a:t>
            </a:r>
            <a:r>
              <a:rPr lang="en" sz="1200">
                <a:latin typeface="Courier New"/>
                <a:ea typeface="Courier New"/>
                <a:cs typeface="Courier New"/>
                <a:sym typeface="Courier New"/>
              </a:rPr>
              <a:t>Runnable</a:t>
            </a:r>
            <a:r>
              <a:rPr lang="en" sz="1200">
                <a:latin typeface="Roboto"/>
                <a:ea typeface="Roboto"/>
                <a:cs typeface="Roboto"/>
                <a:sym typeface="Roboto"/>
              </a:rPr>
              <a:t> into is constructor.</a:t>
            </a:r>
            <a:endParaRPr sz="1200">
              <a:latin typeface="Roboto"/>
              <a:ea typeface="Roboto"/>
              <a:cs typeface="Roboto"/>
              <a:sym typeface="Roboto"/>
            </a:endParaRPr>
          </a:p>
        </p:txBody>
      </p:sp>
      <p:sp>
        <p:nvSpPr>
          <p:cNvPr id="440" name="Google Shape;440;p49"/>
          <p:cNvSpPr txBox="1"/>
          <p:nvPr/>
        </p:nvSpPr>
        <p:spPr>
          <a:xfrm>
            <a:off x="6708475" y="3757726"/>
            <a:ext cx="2314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Then call </a:t>
            </a:r>
            <a:r>
              <a:rPr lang="en" sz="1200">
                <a:latin typeface="Courier New"/>
                <a:ea typeface="Courier New"/>
                <a:cs typeface="Courier New"/>
                <a:sym typeface="Courier New"/>
              </a:rPr>
              <a:t>start()</a:t>
            </a:r>
            <a:r>
              <a:rPr lang="en" sz="1200">
                <a:latin typeface="Roboto"/>
                <a:ea typeface="Roboto"/>
                <a:cs typeface="Roboto"/>
                <a:sym typeface="Roboto"/>
              </a:rPr>
              <a:t> on that thread to execute the runnable in a separate thread.</a:t>
            </a:r>
            <a:endParaRPr sz="1200">
              <a:latin typeface="Roboto"/>
              <a:ea typeface="Roboto"/>
              <a:cs typeface="Roboto"/>
              <a:sym typeface="Roboto"/>
            </a:endParaRPr>
          </a:p>
        </p:txBody>
      </p:sp>
      <p:grpSp>
        <p:nvGrpSpPr>
          <p:cNvPr id="441" name="Google Shape;441;p49"/>
          <p:cNvGrpSpPr/>
          <p:nvPr/>
        </p:nvGrpSpPr>
        <p:grpSpPr>
          <a:xfrm>
            <a:off x="3360675" y="3254639"/>
            <a:ext cx="3347800" cy="1450011"/>
            <a:chOff x="3360675" y="3254639"/>
            <a:chExt cx="3347800" cy="1450011"/>
          </a:xfrm>
        </p:grpSpPr>
        <p:sp>
          <p:nvSpPr>
            <p:cNvPr id="442" name="Google Shape;442;p49"/>
            <p:cNvSpPr/>
            <p:nvPr/>
          </p:nvSpPr>
          <p:spPr>
            <a:xfrm>
              <a:off x="3360675" y="4080950"/>
              <a:ext cx="1934100" cy="623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3" name="Google Shape;443;p49"/>
            <p:cNvCxnSpPr>
              <a:stCxn id="439" idx="1"/>
              <a:endCxn id="442" idx="3"/>
            </p:cNvCxnSpPr>
            <p:nvPr/>
          </p:nvCxnSpPr>
          <p:spPr>
            <a:xfrm flipH="1">
              <a:off x="5294875" y="3254639"/>
              <a:ext cx="1413600" cy="1138200"/>
            </a:xfrm>
            <a:prstGeom prst="bentConnector3">
              <a:avLst>
                <a:gd fmla="val 35261" name="adj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28"/>
                                        </p:tgtEl>
                                        <p:attrNameLst>
                                          <p:attrName>style.visibility</p:attrName>
                                        </p:attrNameLst>
                                      </p:cBhvr>
                                      <p:to>
                                        <p:strVal val="visible"/>
                                      </p:to>
                                    </p:set>
                                    <p:animEffect filter="fade" transition="in">
                                      <p:cBhvr>
                                        <p:cTn dur="1000"/>
                                        <p:tgtEl>
                                          <p:spTgt spid="4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29"/>
                                        </p:tgtEl>
                                        <p:attrNameLst>
                                          <p:attrName>style.visibility</p:attrName>
                                        </p:attrNameLst>
                                      </p:cBhvr>
                                      <p:to>
                                        <p:strVal val="visible"/>
                                      </p:to>
                                    </p:set>
                                    <p:animEffect filter="fade" transition="in">
                                      <p:cBhvr>
                                        <p:cTn dur="1000"/>
                                        <p:tgtEl>
                                          <p:spTgt spid="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2"/>
                                        </p:tgtEl>
                                        <p:attrNameLst>
                                          <p:attrName>style.visibility</p:attrName>
                                        </p:attrNameLst>
                                      </p:cBhvr>
                                      <p:to>
                                        <p:strVal val="visible"/>
                                      </p:to>
                                    </p:set>
                                    <p:animEffect filter="fade" transition="in">
                                      <p:cBhvr>
                                        <p:cTn dur="1000"/>
                                        <p:tgtEl>
                                          <p:spTgt spid="4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34"/>
                                        </p:tgtEl>
                                        <p:attrNameLst>
                                          <p:attrName>style.visibility</p:attrName>
                                        </p:attrNameLst>
                                      </p:cBhvr>
                                      <p:to>
                                        <p:strVal val="visible"/>
                                      </p:to>
                                    </p:set>
                                    <p:animEffect filter="fade" transition="in">
                                      <p:cBhvr>
                                        <p:cTn dur="1000"/>
                                        <p:tgtEl>
                                          <p:spTgt spid="4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7"/>
                                        </p:tgtEl>
                                        <p:attrNameLst>
                                          <p:attrName>style.visibility</p:attrName>
                                        </p:attrNameLst>
                                      </p:cBhvr>
                                      <p:to>
                                        <p:strVal val="visible"/>
                                      </p:to>
                                    </p:set>
                                    <p:animEffect filter="fade" transition="in">
                                      <p:cBhvr>
                                        <p:cTn dur="1000"/>
                                        <p:tgtEl>
                                          <p:spTgt spid="4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8"/>
                                        </p:tgtEl>
                                        <p:attrNameLst>
                                          <p:attrName>style.visibility</p:attrName>
                                        </p:attrNameLst>
                                      </p:cBhvr>
                                      <p:to>
                                        <p:strVal val="visible"/>
                                      </p:to>
                                    </p:set>
                                    <p:animEffect filter="fade" transition="in">
                                      <p:cBhvr>
                                        <p:cTn dur="1000"/>
                                        <p:tgtEl>
                                          <p:spTgt spid="4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9"/>
                                        </p:tgtEl>
                                        <p:attrNameLst>
                                          <p:attrName>style.visibility</p:attrName>
                                        </p:attrNameLst>
                                      </p:cBhvr>
                                      <p:to>
                                        <p:strVal val="visible"/>
                                      </p:to>
                                    </p:set>
                                    <p:animEffect filter="fade" transition="in">
                                      <p:cBhvr>
                                        <p:cTn dur="1000"/>
                                        <p:tgtEl>
                                          <p:spTgt spid="4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41"/>
                                        </p:tgtEl>
                                        <p:attrNameLst>
                                          <p:attrName>style.visibility</p:attrName>
                                        </p:attrNameLst>
                                      </p:cBhvr>
                                      <p:to>
                                        <p:strVal val="visible"/>
                                      </p:to>
                                    </p:set>
                                    <p:animEffect filter="fade" transition="in">
                                      <p:cBhvr>
                                        <p:cTn dur="1000"/>
                                        <p:tgtEl>
                                          <p:spTgt spid="4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0"/>
          <p:cNvSpPr txBox="1"/>
          <p:nvPr>
            <p:ph type="title"/>
          </p:nvPr>
        </p:nvSpPr>
        <p:spPr>
          <a:xfrm>
            <a:off x="1436850" y="100"/>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latin typeface="Courier New"/>
                <a:ea typeface="Courier New"/>
                <a:cs typeface="Courier New"/>
                <a:sym typeface="Courier New"/>
              </a:rPr>
              <a:t>RunnableRacer</a:t>
            </a:r>
            <a:endParaRPr>
              <a:latin typeface="Courier New"/>
              <a:ea typeface="Courier New"/>
              <a:cs typeface="Courier New"/>
              <a:sym typeface="Courier New"/>
            </a:endParaRPr>
          </a:p>
        </p:txBody>
      </p:sp>
      <p:sp>
        <p:nvSpPr>
          <p:cNvPr id="449" name="Google Shape;449;p50"/>
          <p:cNvSpPr txBox="1"/>
          <p:nvPr>
            <p:ph idx="1" type="body"/>
          </p:nvPr>
        </p:nvSpPr>
        <p:spPr>
          <a:xfrm>
            <a:off x="65250" y="731625"/>
            <a:ext cx="8955900" cy="734100"/>
          </a:xfrm>
          <a:prstGeom prst="rect">
            <a:avLst/>
          </a:prstGeom>
          <a:noFill/>
          <a:ln>
            <a:noFill/>
          </a:ln>
        </p:spPr>
        <p:txBody>
          <a:bodyPr anchorCtr="0" anchor="t" bIns="34275" lIns="68575" spcFirstLastPara="1" rIns="68575" wrap="square" tIns="34275">
            <a:spAutoFit/>
          </a:bodyPr>
          <a:lstStyle/>
          <a:p>
            <a:pPr indent="0" lvl="0" marL="0" rtl="0" algn="l">
              <a:lnSpc>
                <a:spcPct val="90000"/>
              </a:lnSpc>
              <a:spcBef>
                <a:spcPts val="0"/>
              </a:spcBef>
              <a:spcAft>
                <a:spcPts val="1600"/>
              </a:spcAft>
              <a:buClr>
                <a:schemeClr val="dk1"/>
              </a:buClr>
              <a:buSzPts val="1800"/>
              <a:buNone/>
            </a:pPr>
            <a:r>
              <a:rPr lang="en"/>
              <a:t>We now know that there are two different ways to create and run code in a separate thread in a Java program. Let's examine the similarities and differences between extending </a:t>
            </a:r>
            <a:r>
              <a:rPr lang="en">
                <a:latin typeface="Courier New"/>
                <a:ea typeface="Courier New"/>
                <a:cs typeface="Courier New"/>
                <a:sym typeface="Courier New"/>
              </a:rPr>
              <a:t>Thread</a:t>
            </a:r>
            <a:r>
              <a:rPr lang="en"/>
              <a:t> and </a:t>
            </a:r>
            <a:r>
              <a:rPr lang="en"/>
              <a:t>implementing</a:t>
            </a:r>
            <a:r>
              <a:rPr lang="en"/>
              <a:t> </a:t>
            </a:r>
            <a:r>
              <a:rPr lang="en">
                <a:latin typeface="Courier New"/>
                <a:ea typeface="Courier New"/>
                <a:cs typeface="Courier New"/>
                <a:sym typeface="Courier New"/>
              </a:rPr>
              <a:t>Runnable</a:t>
            </a:r>
            <a:r>
              <a:rPr lang="en"/>
              <a:t> by repeating some of the earlier activities.</a:t>
            </a:r>
            <a:endParaRPr/>
          </a:p>
        </p:txBody>
      </p:sp>
      <p:sp>
        <p:nvSpPr>
          <p:cNvPr id="450" name="Google Shape;450;p50"/>
          <p:cNvSpPr txBox="1"/>
          <p:nvPr>
            <p:ph idx="2" type="body"/>
          </p:nvPr>
        </p:nvSpPr>
        <p:spPr>
          <a:xfrm>
            <a:off x="3929675" y="1524350"/>
            <a:ext cx="5026200" cy="3493200"/>
          </a:xfrm>
          <a:prstGeom prst="rect">
            <a:avLst/>
          </a:prstGeom>
          <a:noFill/>
          <a:ln>
            <a:noFill/>
          </a:ln>
        </p:spPr>
        <p:txBody>
          <a:bodyPr anchorCtr="0" anchor="t" bIns="34275" lIns="68575" spcFirstLastPara="1" rIns="68575" wrap="square" tIns="34275">
            <a:spAutoFit/>
          </a:bodyPr>
          <a:lstStyle/>
          <a:p>
            <a:pPr indent="-311150" lvl="0" marL="457200" rtl="0" algn="l">
              <a:lnSpc>
                <a:spcPct val="115000"/>
              </a:lnSpc>
              <a:spcBef>
                <a:spcPts val="0"/>
              </a:spcBef>
              <a:spcAft>
                <a:spcPts val="0"/>
              </a:spcAft>
              <a:buSzPts val="1300"/>
              <a:buChar char="●"/>
            </a:pPr>
            <a:r>
              <a:rPr lang="en"/>
              <a:t>Create</a:t>
            </a:r>
            <a:r>
              <a:rPr lang="en"/>
              <a:t> a new Java class named </a:t>
            </a:r>
            <a:r>
              <a:rPr lang="en">
                <a:solidFill>
                  <a:srgbClr val="FF0000"/>
                </a:solidFill>
                <a:latin typeface="Courier New"/>
                <a:ea typeface="Courier New"/>
                <a:cs typeface="Courier New"/>
                <a:sym typeface="Courier New"/>
              </a:rPr>
              <a:t>RunnableRacer</a:t>
            </a:r>
            <a:r>
              <a:rPr lang="en"/>
              <a:t> i</a:t>
            </a:r>
            <a:r>
              <a:rPr lang="en"/>
              <a:t>n the </a:t>
            </a:r>
            <a:r>
              <a:rPr lang="en">
                <a:solidFill>
                  <a:srgbClr val="FF0000"/>
                </a:solidFill>
                <a:latin typeface="Courier New"/>
                <a:ea typeface="Courier New"/>
                <a:cs typeface="Courier New"/>
                <a:sym typeface="Courier New"/>
              </a:rPr>
              <a:t>racing</a:t>
            </a:r>
            <a:r>
              <a:rPr lang="en">
                <a:solidFill>
                  <a:srgbClr val="FF0000"/>
                </a:solidFill>
              </a:rPr>
              <a:t> </a:t>
            </a:r>
            <a:r>
              <a:rPr lang="en"/>
              <a:t>package.</a:t>
            </a:r>
            <a:endParaRPr/>
          </a:p>
          <a:p>
            <a:pPr indent="-304800" lvl="1" marL="914400" rtl="0" algn="l">
              <a:lnSpc>
                <a:spcPct val="115000"/>
              </a:lnSpc>
              <a:spcBef>
                <a:spcPts val="0"/>
              </a:spcBef>
              <a:spcAft>
                <a:spcPts val="0"/>
              </a:spcAft>
              <a:buSzPts val="1200"/>
              <a:buChar char="○"/>
            </a:pPr>
            <a:r>
              <a:rPr lang="en" sz="1200"/>
              <a:t>Since </a:t>
            </a:r>
            <a:r>
              <a:rPr lang="en" sz="1200">
                <a:latin typeface="Courier New"/>
                <a:ea typeface="Courier New"/>
                <a:cs typeface="Courier New"/>
                <a:sym typeface="Courier New"/>
              </a:rPr>
              <a:t>Runnable</a:t>
            </a:r>
            <a:r>
              <a:rPr lang="en" sz="1200"/>
              <a:t> is an </a:t>
            </a:r>
            <a:r>
              <a:rPr b="1" i="1" lang="en" sz="1200">
                <a:solidFill>
                  <a:srgbClr val="FF0000"/>
                </a:solidFill>
              </a:rPr>
              <a:t>interface</a:t>
            </a:r>
            <a:r>
              <a:rPr lang="en" sz="1200"/>
              <a:t>, we don't have to copy all the code again.</a:t>
            </a:r>
            <a:endParaRPr sz="1200"/>
          </a:p>
          <a:p>
            <a:pPr indent="-304800" lvl="1" marL="914400" rtl="0" algn="l">
              <a:lnSpc>
                <a:spcPct val="115000"/>
              </a:lnSpc>
              <a:spcBef>
                <a:spcPts val="0"/>
              </a:spcBef>
              <a:spcAft>
                <a:spcPts val="0"/>
              </a:spcAft>
              <a:buSzPts val="1200"/>
              <a:buChar char="○"/>
            </a:pPr>
            <a:r>
              <a:rPr lang="en" sz="1200"/>
              <a:t>Instead, have </a:t>
            </a:r>
            <a:r>
              <a:rPr lang="en" sz="1200">
                <a:latin typeface="Courier New"/>
                <a:ea typeface="Courier New"/>
                <a:cs typeface="Courier New"/>
                <a:sym typeface="Courier New"/>
              </a:rPr>
              <a:t>RunnableRacer</a:t>
            </a:r>
            <a:r>
              <a:rPr lang="en" sz="1200"/>
              <a:t> </a:t>
            </a:r>
            <a:r>
              <a:rPr b="1" i="1" lang="en" sz="1200">
                <a:solidFill>
                  <a:srgbClr val="FF0000"/>
                </a:solidFill>
              </a:rPr>
              <a:t>extend</a:t>
            </a:r>
            <a:r>
              <a:rPr lang="en" sz="1200"/>
              <a:t> </a:t>
            </a:r>
            <a:r>
              <a:rPr lang="en" sz="1200">
                <a:latin typeface="Courier New"/>
                <a:ea typeface="Courier New"/>
                <a:cs typeface="Courier New"/>
                <a:sym typeface="Courier New"/>
              </a:rPr>
              <a:t>Racer</a:t>
            </a:r>
            <a:r>
              <a:rPr lang="en" sz="1200"/>
              <a:t> and </a:t>
            </a:r>
            <a:r>
              <a:rPr b="1" i="1" lang="en" sz="1200">
                <a:solidFill>
                  <a:srgbClr val="FF0000"/>
                </a:solidFill>
              </a:rPr>
              <a:t>implement</a:t>
            </a:r>
            <a:r>
              <a:rPr lang="en" sz="1200"/>
              <a:t> </a:t>
            </a:r>
            <a:r>
              <a:rPr lang="en" sz="1200">
                <a:latin typeface="Courier New"/>
                <a:ea typeface="Courier New"/>
                <a:cs typeface="Courier New"/>
                <a:sym typeface="Courier New"/>
              </a:rPr>
              <a:t>Runnable</a:t>
            </a:r>
            <a:r>
              <a:rPr lang="en" sz="1200"/>
              <a:t>.</a:t>
            </a:r>
            <a:endParaRPr sz="1200"/>
          </a:p>
          <a:p>
            <a:pPr indent="-304800" lvl="1" marL="914400" rtl="0" algn="l">
              <a:lnSpc>
                <a:spcPct val="115000"/>
              </a:lnSpc>
              <a:spcBef>
                <a:spcPts val="0"/>
              </a:spcBef>
              <a:spcAft>
                <a:spcPts val="0"/>
              </a:spcAft>
              <a:buSzPts val="1200"/>
              <a:buChar char="○"/>
            </a:pPr>
            <a:r>
              <a:rPr lang="en" sz="1200"/>
              <a:t>Now you only need to provide the constructors and run method. </a:t>
            </a:r>
            <a:endParaRPr sz="1200"/>
          </a:p>
          <a:p>
            <a:pPr indent="-304800" lvl="1" marL="914400" rtl="0" algn="l">
              <a:lnSpc>
                <a:spcPct val="115000"/>
              </a:lnSpc>
              <a:spcBef>
                <a:spcPts val="0"/>
              </a:spcBef>
              <a:spcAft>
                <a:spcPts val="0"/>
              </a:spcAft>
              <a:buSzPts val="1200"/>
              <a:buChar char="○"/>
            </a:pPr>
            <a:r>
              <a:rPr lang="en" sz="1200"/>
              <a:t>Much cleaner (that's why interfaces are often preferred over base classes).</a:t>
            </a:r>
            <a:endParaRPr sz="1200"/>
          </a:p>
          <a:p>
            <a:pPr indent="-311150" lvl="0" marL="457200" rtl="0" algn="l">
              <a:lnSpc>
                <a:spcPct val="115000"/>
              </a:lnSpc>
              <a:spcBef>
                <a:spcPts val="0"/>
              </a:spcBef>
              <a:spcAft>
                <a:spcPts val="0"/>
              </a:spcAft>
              <a:buSzPts val="1300"/>
              <a:buChar char="●"/>
            </a:pPr>
            <a:r>
              <a:rPr b="1" i="1" lang="en">
                <a:solidFill>
                  <a:srgbClr val="FF0000"/>
                </a:solidFill>
              </a:rPr>
              <a:t>Copy </a:t>
            </a:r>
            <a:r>
              <a:rPr lang="en">
                <a:latin typeface="Courier New"/>
                <a:ea typeface="Courier New"/>
                <a:cs typeface="Courier New"/>
                <a:sym typeface="Courier New"/>
              </a:rPr>
              <a:t>ThreadRace</a:t>
            </a:r>
            <a:r>
              <a:rPr lang="en"/>
              <a:t> and name it </a:t>
            </a:r>
            <a:r>
              <a:rPr lang="en">
                <a:solidFill>
                  <a:srgbClr val="FF0000"/>
                </a:solidFill>
                <a:latin typeface="Courier New"/>
                <a:ea typeface="Courier New"/>
                <a:cs typeface="Courier New"/>
                <a:sym typeface="Courier New"/>
              </a:rPr>
              <a:t>RunnableRace</a:t>
            </a:r>
            <a:r>
              <a:rPr lang="en"/>
              <a:t>.</a:t>
            </a:r>
            <a:endParaRPr>
              <a:latin typeface="Courier New"/>
              <a:ea typeface="Courier New"/>
              <a:cs typeface="Courier New"/>
              <a:sym typeface="Courier New"/>
            </a:endParaRPr>
          </a:p>
          <a:p>
            <a:pPr indent="-304800" lvl="1" marL="914400" rtl="0" algn="l">
              <a:lnSpc>
                <a:spcPct val="115000"/>
              </a:lnSpc>
              <a:spcBef>
                <a:spcPts val="0"/>
              </a:spcBef>
              <a:spcAft>
                <a:spcPts val="0"/>
              </a:spcAft>
              <a:buSzPts val="1200"/>
              <a:buChar char="○"/>
            </a:pPr>
            <a:r>
              <a:rPr lang="en" sz="1200"/>
              <a:t>Change all the </a:t>
            </a:r>
            <a:r>
              <a:rPr lang="en" sz="1200">
                <a:latin typeface="Courier New"/>
                <a:ea typeface="Courier New"/>
                <a:cs typeface="Courier New"/>
                <a:sym typeface="Courier New"/>
              </a:rPr>
              <a:t>ThreadRacer</a:t>
            </a:r>
            <a:r>
              <a:rPr lang="en" sz="1200"/>
              <a:t>s to be </a:t>
            </a:r>
            <a:r>
              <a:rPr lang="en" sz="1200">
                <a:solidFill>
                  <a:srgbClr val="FF0000"/>
                </a:solidFill>
                <a:latin typeface="Courier New"/>
                <a:ea typeface="Courier New"/>
                <a:cs typeface="Courier New"/>
                <a:sym typeface="Courier New"/>
              </a:rPr>
              <a:t>RunnableRacer</a:t>
            </a:r>
            <a:r>
              <a:rPr lang="en" sz="1200"/>
              <a:t>s</a:t>
            </a:r>
            <a:endParaRPr sz="1200"/>
          </a:p>
          <a:p>
            <a:pPr indent="-304800" lvl="1" marL="914400" rtl="0" algn="l">
              <a:lnSpc>
                <a:spcPct val="115000"/>
              </a:lnSpc>
              <a:spcBef>
                <a:spcPts val="0"/>
              </a:spcBef>
              <a:spcAft>
                <a:spcPts val="0"/>
              </a:spcAft>
              <a:buSzPts val="1200"/>
              <a:buChar char="○"/>
            </a:pPr>
            <a:r>
              <a:rPr lang="en" sz="1200"/>
              <a:t>Instead of calling start on the racer, pass the racer into a </a:t>
            </a:r>
            <a:r>
              <a:rPr b="1" i="1" lang="en" sz="1200">
                <a:solidFill>
                  <a:srgbClr val="FF0000"/>
                </a:solidFill>
              </a:rPr>
              <a:t>new thread</a:t>
            </a:r>
            <a:r>
              <a:rPr lang="en" sz="1200"/>
              <a:t> and call </a:t>
            </a:r>
            <a:r>
              <a:rPr lang="en" sz="1200">
                <a:latin typeface="Courier New"/>
                <a:ea typeface="Courier New"/>
                <a:cs typeface="Courier New"/>
                <a:sym typeface="Courier New"/>
              </a:rPr>
              <a:t>start()</a:t>
            </a:r>
            <a:r>
              <a:rPr lang="en" sz="1200"/>
              <a:t> on the thread.</a:t>
            </a:r>
            <a:endParaRPr sz="1200"/>
          </a:p>
          <a:p>
            <a:pPr indent="-304800" lvl="1" marL="914400" rtl="0" algn="l">
              <a:lnSpc>
                <a:spcPct val="115000"/>
              </a:lnSpc>
              <a:spcBef>
                <a:spcPts val="0"/>
              </a:spcBef>
              <a:spcAft>
                <a:spcPts val="0"/>
              </a:spcAft>
              <a:buSzPts val="1200"/>
              <a:buChar char="○"/>
            </a:pPr>
            <a:r>
              <a:rPr lang="en" sz="1200"/>
              <a:t>You'll need to update the </a:t>
            </a:r>
            <a:r>
              <a:rPr lang="en" sz="1200">
                <a:latin typeface="Courier New"/>
                <a:ea typeface="Courier New"/>
                <a:cs typeface="Courier New"/>
                <a:sym typeface="Courier New"/>
              </a:rPr>
              <a:t>isAlive</a:t>
            </a:r>
            <a:r>
              <a:rPr lang="en" sz="1200"/>
              <a:t> calls to be on the </a:t>
            </a:r>
            <a:r>
              <a:rPr b="1" i="1" lang="en" sz="1200">
                <a:solidFill>
                  <a:srgbClr val="FF0000"/>
                </a:solidFill>
              </a:rPr>
              <a:t>threads</a:t>
            </a:r>
            <a:r>
              <a:rPr lang="en" sz="1200"/>
              <a:t> and not the racers.</a:t>
            </a:r>
            <a:endParaRPr sz="1200"/>
          </a:p>
        </p:txBody>
      </p:sp>
      <p:sp>
        <p:nvSpPr>
          <p:cNvPr id="451" name="Google Shape;451;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2" name="Google Shape;452;p5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8.7</a:t>
            </a:r>
            <a:endParaRPr/>
          </a:p>
        </p:txBody>
      </p:sp>
      <p:sp>
        <p:nvSpPr>
          <p:cNvPr id="453" name="Google Shape;453;p50"/>
          <p:cNvSpPr/>
          <p:nvPr/>
        </p:nvSpPr>
        <p:spPr>
          <a:xfrm>
            <a:off x="143825" y="1551575"/>
            <a:ext cx="3636300" cy="3493200"/>
          </a:xfrm>
          <a:prstGeom prst="rect">
            <a:avLst/>
          </a:prstGeom>
          <a:solidFill>
            <a:srgbClr val="FFFFFF"/>
          </a:solidFill>
          <a:ln cap="flat" cmpd="sng" w="19050">
            <a:solidFill>
              <a:schemeClr val="accent1"/>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1000">
                <a:solidFill>
                  <a:srgbClr val="0000FF"/>
                </a:solidFill>
                <a:latin typeface="Consolas"/>
                <a:ea typeface="Consolas"/>
                <a:cs typeface="Consolas"/>
                <a:sym typeface="Consolas"/>
              </a:rPr>
              <a:t>p</a:t>
            </a:r>
            <a:r>
              <a:rPr lang="en" sz="1000">
                <a:solidFill>
                  <a:srgbClr val="0000FF"/>
                </a:solidFill>
                <a:latin typeface="Consolas"/>
                <a:ea typeface="Consolas"/>
                <a:cs typeface="Consolas"/>
                <a:sym typeface="Consolas"/>
              </a:rPr>
              <a:t>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RunnableExample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implements</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Runnable</a:t>
            </a:r>
            <a:r>
              <a:rPr lang="en" sz="1000">
                <a:solidFill>
                  <a:srgbClr val="008000"/>
                </a:solidFill>
                <a:latin typeface="Consolas"/>
                <a:ea typeface="Consolas"/>
                <a:cs typeface="Consolas"/>
                <a:sym typeface="Consolas"/>
              </a:rPr>
              <a:t> </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final</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id</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solidFill>
                  <a:srgbClr val="008000"/>
                </a:solidFill>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RunnableExample</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int</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id</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id</a:t>
            </a:r>
            <a:r>
              <a:rPr lang="en" sz="1000">
                <a:latin typeface="Consolas"/>
                <a:ea typeface="Consolas"/>
                <a:cs typeface="Consolas"/>
                <a:sym typeface="Consolas"/>
              </a:rPr>
              <a:t> = </a:t>
            </a:r>
            <a:r>
              <a:rPr lang="en" sz="1000">
                <a:solidFill>
                  <a:srgbClr val="001080"/>
                </a:solidFill>
                <a:latin typeface="Consolas"/>
                <a:ea typeface="Consolas"/>
                <a:cs typeface="Consolas"/>
                <a:sym typeface="Consolas"/>
              </a:rPr>
              <a:t>id</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spcBef>
                <a:spcPts val="0"/>
              </a:spcBef>
              <a:spcAft>
                <a:spcPts val="0"/>
              </a:spcAft>
              <a:buNone/>
            </a:pPr>
            <a:r>
              <a:rPr lang="en" sz="1000">
                <a:solidFill>
                  <a:srgbClr val="008000"/>
                </a:solidFill>
                <a:latin typeface="Consolas"/>
                <a:ea typeface="Consolas"/>
                <a:cs typeface="Consolas"/>
                <a:sym typeface="Consolas"/>
              </a:rPr>
              <a:t>  </a:t>
            </a:r>
            <a:endParaRPr sz="1000">
              <a:solidFill>
                <a:srgbClr val="008000"/>
              </a:solidFill>
              <a:latin typeface="Consolas"/>
              <a:ea typeface="Consolas"/>
              <a:cs typeface="Consolas"/>
              <a:sym typeface="Consolas"/>
            </a:endParaRPr>
          </a:p>
          <a:p>
            <a:pPr indent="0" lvl="0" marL="0" rtl="0" algn="l">
              <a:spcBef>
                <a:spcPts val="0"/>
              </a:spcBef>
              <a:spcAft>
                <a:spcPts val="0"/>
              </a:spcAft>
              <a:buNone/>
            </a:pPr>
            <a:r>
              <a:rPr lang="en" sz="1000">
                <a:solidFill>
                  <a:srgbClr val="008000"/>
                </a:solidFill>
                <a:latin typeface="Consolas"/>
                <a:ea typeface="Consolas"/>
                <a:cs typeface="Consolas"/>
                <a:sym typeface="Consolas"/>
              </a:rPr>
              <a:t>    </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Override</a:t>
            </a:r>
            <a:endParaRPr sz="10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System</a:t>
            </a:r>
            <a:r>
              <a:rPr lang="en" sz="1000">
                <a:latin typeface="Consolas"/>
                <a:ea typeface="Consolas"/>
                <a:cs typeface="Consolas"/>
                <a:sym typeface="Consolas"/>
              </a:rPr>
              <a:t>.</a:t>
            </a:r>
            <a:r>
              <a:rPr lang="en" sz="1000">
                <a:solidFill>
                  <a:srgbClr val="0070C1"/>
                </a:solidFill>
                <a:latin typeface="Consolas"/>
                <a:ea typeface="Consolas"/>
                <a:cs typeface="Consolas"/>
                <a:sym typeface="Consolas"/>
              </a:rPr>
              <a:t>out</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println</a:t>
            </a:r>
            <a:r>
              <a:rPr lang="en" sz="1000">
                <a:latin typeface="Consolas"/>
                <a:ea typeface="Consolas"/>
                <a:cs typeface="Consolas"/>
                <a:sym typeface="Consolas"/>
              </a:rPr>
              <a:t> (</a:t>
            </a:r>
            <a:r>
              <a:rPr lang="en" sz="1000">
                <a:solidFill>
                  <a:srgbClr val="0070C1"/>
                </a:solidFill>
                <a:latin typeface="Consolas"/>
                <a:ea typeface="Consolas"/>
                <a:cs typeface="Consolas"/>
                <a:sym typeface="Consolas"/>
              </a:rPr>
              <a:t>id</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008000"/>
                </a:solidFill>
                <a:latin typeface="Consolas"/>
                <a:ea typeface="Consolas"/>
                <a:cs typeface="Consolas"/>
                <a:sym typeface="Consolas"/>
              </a:rPr>
              <a:t>  </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static</a:t>
            </a: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void</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main</a:t>
            </a:r>
            <a:r>
              <a:rPr lang="en" sz="1000">
                <a:latin typeface="Consolas"/>
                <a:ea typeface="Consolas"/>
                <a:cs typeface="Consolas"/>
                <a:sym typeface="Consolas"/>
              </a:rPr>
              <a:t>(</a:t>
            </a:r>
            <a:r>
              <a:rPr lang="en" sz="1000">
                <a:solidFill>
                  <a:srgbClr val="267F99"/>
                </a:solidFill>
                <a:latin typeface="Consolas"/>
                <a:ea typeface="Consolas"/>
                <a:cs typeface="Consolas"/>
                <a:sym typeface="Consolas"/>
              </a:rPr>
              <a:t>String</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args</a:t>
            </a: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Runnable</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example</a:t>
            </a:r>
            <a:r>
              <a:rPr lang="en" sz="1000">
                <a:latin typeface="Consolas"/>
                <a:ea typeface="Consolas"/>
                <a:cs typeface="Consolas"/>
                <a:sym typeface="Consolas"/>
              </a:rPr>
              <a:t> =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RunnableExample</a:t>
            </a:r>
            <a:r>
              <a:rPr lang="en" sz="1000">
                <a:latin typeface="Consolas"/>
                <a:ea typeface="Consolas"/>
                <a:cs typeface="Consolas"/>
                <a:sym typeface="Consolas"/>
              </a:rPr>
              <a:t>(</a:t>
            </a:r>
            <a:r>
              <a:rPr lang="en" sz="1000">
                <a:solidFill>
                  <a:srgbClr val="098658"/>
                </a:solidFill>
                <a:latin typeface="Consolas"/>
                <a:ea typeface="Consolas"/>
                <a:cs typeface="Consolas"/>
                <a:sym typeface="Consolas"/>
              </a:rPr>
              <a:t>1</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spcBef>
                <a:spcPts val="0"/>
              </a:spcBef>
              <a:spcAft>
                <a:spcPts val="0"/>
              </a:spcAft>
              <a:buNone/>
            </a:pPr>
            <a:r>
              <a:rPr lang="en" sz="1000">
                <a:solidFill>
                  <a:srgbClr val="008000"/>
                </a:solidFill>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267F99"/>
                </a:solidFill>
                <a:latin typeface="Consolas"/>
                <a:ea typeface="Consolas"/>
                <a:cs typeface="Consolas"/>
                <a:sym typeface="Consolas"/>
              </a:rPr>
              <a:t>Thread</a:t>
            </a: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exampleThread</a:t>
            </a:r>
            <a:r>
              <a:rPr lang="en" sz="1000">
                <a:latin typeface="Consolas"/>
                <a:ea typeface="Consolas"/>
                <a:cs typeface="Consolas"/>
                <a:sym typeface="Consolas"/>
              </a:rPr>
              <a:t> =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AF00DB"/>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795E26"/>
                </a:solidFill>
                <a:latin typeface="Consolas"/>
                <a:ea typeface="Consolas"/>
                <a:cs typeface="Consolas"/>
                <a:sym typeface="Consolas"/>
              </a:rPr>
              <a:t>Thread</a:t>
            </a:r>
            <a:r>
              <a:rPr lang="en" sz="1000">
                <a:latin typeface="Consolas"/>
                <a:ea typeface="Consolas"/>
                <a:cs typeface="Consolas"/>
                <a:sym typeface="Consolas"/>
              </a:rPr>
              <a:t>(</a:t>
            </a:r>
            <a:r>
              <a:rPr lang="en" sz="1000">
                <a:solidFill>
                  <a:srgbClr val="001080"/>
                </a:solidFill>
                <a:latin typeface="Consolas"/>
                <a:ea typeface="Consolas"/>
                <a:cs typeface="Consolas"/>
                <a:sym typeface="Consolas"/>
              </a:rPr>
              <a:t>example</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r>
              <a:rPr lang="en" sz="1000">
                <a:solidFill>
                  <a:srgbClr val="001080"/>
                </a:solidFill>
                <a:latin typeface="Consolas"/>
                <a:ea typeface="Consolas"/>
                <a:cs typeface="Consolas"/>
                <a:sym typeface="Consolas"/>
              </a:rPr>
              <a:t>exampleThread</a:t>
            </a:r>
            <a:r>
              <a:rPr lang="en" sz="1000">
                <a:latin typeface="Consolas"/>
                <a:ea typeface="Consolas"/>
                <a:cs typeface="Consolas"/>
                <a:sym typeface="Consolas"/>
              </a:rPr>
              <a:t>.</a:t>
            </a:r>
            <a:r>
              <a:rPr lang="en" sz="1000">
                <a:solidFill>
                  <a:srgbClr val="795E26"/>
                </a:solidFill>
                <a:latin typeface="Consolas"/>
                <a:ea typeface="Consolas"/>
                <a:cs typeface="Consolas"/>
                <a:sym typeface="Consolas"/>
              </a:rPr>
              <a:t>start</a:t>
            </a:r>
            <a:r>
              <a:rPr lang="en" sz="1000">
                <a:latin typeface="Consolas"/>
                <a:ea typeface="Consolas"/>
                <a:cs typeface="Consolas"/>
                <a:sym typeface="Consolas"/>
              </a:rPr>
              <a:t>();</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    }</a:t>
            </a:r>
            <a:endParaRPr sz="1000">
              <a:latin typeface="Consolas"/>
              <a:ea typeface="Consolas"/>
              <a:cs typeface="Consolas"/>
              <a:sym typeface="Consolas"/>
            </a:endParaRPr>
          </a:p>
          <a:p>
            <a:pPr indent="0" lvl="0" marL="0" rtl="0" algn="l">
              <a:lnSpc>
                <a:spcPct val="100000"/>
              </a:lnSpc>
              <a:spcBef>
                <a:spcPts val="0"/>
              </a:spcBef>
              <a:spcAft>
                <a:spcPts val="0"/>
              </a:spcAft>
              <a:buNone/>
            </a:pPr>
            <a:r>
              <a:rPr lang="en" sz="1000">
                <a:latin typeface="Consolas"/>
                <a:ea typeface="Consolas"/>
                <a:cs typeface="Consolas"/>
                <a:sym typeface="Consolas"/>
              </a:rPr>
              <a:t>}</a:t>
            </a:r>
            <a:endParaRPr sz="1000">
              <a:solidFill>
                <a:schemeClr val="dk1"/>
              </a:solidFill>
              <a:latin typeface="Consolas"/>
              <a:ea typeface="Consolas"/>
              <a:cs typeface="Consolas"/>
              <a:sym typeface="Consola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51"/>
          <p:cNvSpPr txBox="1"/>
          <p:nvPr/>
        </p:nvSpPr>
        <p:spPr>
          <a:xfrm>
            <a:off x="4699825" y="1490100"/>
            <a:ext cx="4255800" cy="3173100"/>
          </a:xfrm>
          <a:prstGeom prst="rect">
            <a:avLst/>
          </a:prstGeom>
          <a:solidFill>
            <a:srgbClr val="FFFFFF"/>
          </a:solidFill>
          <a:ln cap="flat" cmpd="sng" w="76200">
            <a:solidFill>
              <a:srgbClr val="783F0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0000FF"/>
                </a:solidFill>
                <a:latin typeface="Caveat"/>
                <a:ea typeface="Caveat"/>
                <a:cs typeface="Caveat"/>
                <a:sym typeface="Caveat"/>
              </a:rPr>
              <a:t>IMPLEMENTING RUNNABLE</a:t>
            </a:r>
            <a:endParaRPr b="1" sz="2400">
              <a:solidFill>
                <a:srgbClr val="0000FF"/>
              </a:solidFill>
              <a:latin typeface="Caveat"/>
              <a:ea typeface="Caveat"/>
              <a:cs typeface="Caveat"/>
              <a:sym typeface="Caveat"/>
            </a:endParaRPr>
          </a:p>
        </p:txBody>
      </p:sp>
      <p:sp>
        <p:nvSpPr>
          <p:cNvPr id="459" name="Google Shape;459;p5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5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ourier New"/>
                <a:ea typeface="Courier New"/>
                <a:cs typeface="Courier New"/>
                <a:sym typeface="Courier New"/>
              </a:rPr>
              <a:t>Thread</a:t>
            </a:r>
            <a:r>
              <a:rPr lang="en"/>
              <a:t> vs. </a:t>
            </a:r>
            <a:r>
              <a:rPr lang="en">
                <a:latin typeface="Courier New"/>
                <a:ea typeface="Courier New"/>
                <a:cs typeface="Courier New"/>
                <a:sym typeface="Courier New"/>
              </a:rPr>
              <a:t>Runnable</a:t>
            </a:r>
            <a:endParaRPr>
              <a:latin typeface="Courier New"/>
              <a:ea typeface="Courier New"/>
              <a:cs typeface="Courier New"/>
              <a:sym typeface="Courier New"/>
            </a:endParaRPr>
          </a:p>
        </p:txBody>
      </p:sp>
      <p:sp>
        <p:nvSpPr>
          <p:cNvPr id="461" name="Google Shape;461;p51"/>
          <p:cNvSpPr txBox="1"/>
          <p:nvPr/>
        </p:nvSpPr>
        <p:spPr>
          <a:xfrm>
            <a:off x="154575" y="1490100"/>
            <a:ext cx="4255800" cy="3173100"/>
          </a:xfrm>
          <a:prstGeom prst="rect">
            <a:avLst/>
          </a:prstGeom>
          <a:solidFill>
            <a:srgbClr val="FFFFFF"/>
          </a:solidFill>
          <a:ln cap="flat" cmpd="sng" w="76200">
            <a:solidFill>
              <a:srgbClr val="783F0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2400">
                <a:solidFill>
                  <a:srgbClr val="0000FF"/>
                </a:solidFill>
                <a:latin typeface="Caveat"/>
                <a:ea typeface="Caveat"/>
                <a:cs typeface="Caveat"/>
                <a:sym typeface="Caveat"/>
              </a:rPr>
              <a:t>EXTENDING THREAD</a:t>
            </a:r>
            <a:endParaRPr b="1" sz="2400">
              <a:solidFill>
                <a:srgbClr val="0000FF"/>
              </a:solidFill>
              <a:latin typeface="Caveat"/>
              <a:ea typeface="Caveat"/>
              <a:cs typeface="Caveat"/>
              <a:sym typeface="Caveat"/>
            </a:endParaRPr>
          </a:p>
        </p:txBody>
      </p:sp>
      <p:sp>
        <p:nvSpPr>
          <p:cNvPr id="462" name="Google Shape;462;p51"/>
          <p:cNvSpPr txBox="1"/>
          <p:nvPr/>
        </p:nvSpPr>
        <p:spPr>
          <a:xfrm>
            <a:off x="311725" y="2012000"/>
            <a:ext cx="3855900" cy="246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6AA84F"/>
                </a:solidFill>
                <a:latin typeface="Caveat"/>
                <a:ea typeface="Caveat"/>
                <a:cs typeface="Caveat"/>
                <a:sym typeface="Caveat"/>
              </a:rPr>
              <a:t>PROS</a:t>
            </a:r>
            <a:endParaRPr sz="2000">
              <a:solidFill>
                <a:srgbClr val="6AA84F"/>
              </a:solidFill>
              <a:latin typeface="Caveat"/>
              <a:ea typeface="Caveat"/>
              <a:cs typeface="Caveat"/>
              <a:sym typeface="Caveat"/>
            </a:endParaRPr>
          </a:p>
          <a:p>
            <a:pPr indent="0" lvl="0" marL="0" rtl="0" algn="l">
              <a:spcBef>
                <a:spcPts val="0"/>
              </a:spcBef>
              <a:spcAft>
                <a:spcPts val="0"/>
              </a:spcAft>
              <a:buNone/>
            </a:pPr>
            <a:r>
              <a:rPr lang="en" sz="2000">
                <a:solidFill>
                  <a:srgbClr val="6AA84F"/>
                </a:solidFill>
                <a:latin typeface="Caveat"/>
                <a:ea typeface="Caveat"/>
                <a:cs typeface="Caveat"/>
                <a:sym typeface="Caveat"/>
              </a:rPr>
              <a:t>+</a:t>
            </a:r>
            <a:r>
              <a:rPr lang="en" sz="2000">
                <a:solidFill>
                  <a:srgbClr val="6AA84F"/>
                </a:solidFill>
                <a:latin typeface="Caveat"/>
                <a:ea typeface="Caveat"/>
                <a:cs typeface="Caveat"/>
                <a:sym typeface="Caveat"/>
              </a:rPr>
              <a:t> (SLIGHTLY) LESS CODE</a:t>
            </a:r>
            <a:endParaRPr sz="2000">
              <a:solidFill>
                <a:srgbClr val="6AA84F"/>
              </a:solidFill>
              <a:latin typeface="Caveat"/>
              <a:ea typeface="Caveat"/>
              <a:cs typeface="Caveat"/>
              <a:sym typeface="Caveat"/>
            </a:endParaRPr>
          </a:p>
          <a:p>
            <a:pPr indent="0" lvl="0" marL="0" rtl="0" algn="l">
              <a:spcBef>
                <a:spcPts val="0"/>
              </a:spcBef>
              <a:spcAft>
                <a:spcPts val="0"/>
              </a:spcAft>
              <a:buNone/>
            </a:pPr>
            <a:r>
              <a:rPr lang="en" sz="2000">
                <a:solidFill>
                  <a:srgbClr val="6AA84F"/>
                </a:solidFill>
                <a:latin typeface="Caveat"/>
                <a:ea typeface="Caveat"/>
                <a:cs typeface="Caveat"/>
                <a:sym typeface="Caveat"/>
              </a:rPr>
              <a:t>+ SUBCLASS "IS A" THREAD (?)</a:t>
            </a:r>
            <a:endParaRPr sz="2000">
              <a:solidFill>
                <a:srgbClr val="6AA84F"/>
              </a:solidFill>
              <a:latin typeface="Caveat"/>
              <a:ea typeface="Caveat"/>
              <a:cs typeface="Caveat"/>
              <a:sym typeface="Caveat"/>
            </a:endParaRPr>
          </a:p>
          <a:p>
            <a:pPr indent="0" lvl="0" marL="0" rtl="0" algn="ctr">
              <a:spcBef>
                <a:spcPts val="1000"/>
              </a:spcBef>
              <a:spcAft>
                <a:spcPts val="0"/>
              </a:spcAft>
              <a:buNone/>
            </a:pPr>
            <a:r>
              <a:rPr lang="en" sz="2000">
                <a:solidFill>
                  <a:srgbClr val="FF0000"/>
                </a:solidFill>
                <a:latin typeface="Caveat"/>
                <a:ea typeface="Caveat"/>
                <a:cs typeface="Caveat"/>
                <a:sym typeface="Caveat"/>
              </a:rPr>
              <a:t>CONS</a:t>
            </a:r>
            <a:endParaRPr sz="2000">
              <a:solidFill>
                <a:srgbClr val="FF0000"/>
              </a:solidFill>
              <a:latin typeface="Caveat"/>
              <a:ea typeface="Caveat"/>
              <a:cs typeface="Caveat"/>
              <a:sym typeface="Caveat"/>
            </a:endParaRPr>
          </a:p>
          <a:p>
            <a:pPr indent="0" lvl="0" marL="0" rtl="0" algn="l">
              <a:spcBef>
                <a:spcPts val="0"/>
              </a:spcBef>
              <a:spcAft>
                <a:spcPts val="0"/>
              </a:spcAft>
              <a:buNone/>
            </a:pPr>
            <a:r>
              <a:rPr lang="en" sz="2000">
                <a:solidFill>
                  <a:srgbClr val="FF0000"/>
                </a:solidFill>
                <a:latin typeface="Caveat"/>
                <a:ea typeface="Caveat"/>
                <a:cs typeface="Caveat"/>
                <a:sym typeface="Caveat"/>
              </a:rPr>
              <a:t>- SINGLE INHERITANCE</a:t>
            </a:r>
            <a:endParaRPr sz="2000">
              <a:solidFill>
                <a:srgbClr val="FF0000"/>
              </a:solidFill>
              <a:latin typeface="Caveat"/>
              <a:ea typeface="Caveat"/>
              <a:cs typeface="Caveat"/>
              <a:sym typeface="Caveat"/>
            </a:endParaRPr>
          </a:p>
          <a:p>
            <a:pPr indent="0" lvl="0" marL="0" rtl="0" algn="l">
              <a:spcBef>
                <a:spcPts val="0"/>
              </a:spcBef>
              <a:spcAft>
                <a:spcPts val="0"/>
              </a:spcAft>
              <a:buNone/>
            </a:pPr>
            <a:r>
              <a:rPr lang="en" sz="2000">
                <a:solidFill>
                  <a:srgbClr val="FF0000"/>
                </a:solidFill>
                <a:latin typeface="Caveat"/>
                <a:ea typeface="Caveat"/>
                <a:cs typeface="Caveat"/>
                <a:sym typeface="Caveat"/>
              </a:rPr>
              <a:t>- RUN METHOD IS OPTIONAL</a:t>
            </a:r>
            <a:endParaRPr sz="2000">
              <a:solidFill>
                <a:srgbClr val="FF0000"/>
              </a:solidFill>
              <a:latin typeface="Caveat"/>
              <a:ea typeface="Caveat"/>
              <a:cs typeface="Caveat"/>
              <a:sym typeface="Caveat"/>
            </a:endParaRPr>
          </a:p>
          <a:p>
            <a:pPr indent="0" lvl="0" marL="0" rtl="0" algn="l">
              <a:spcBef>
                <a:spcPts val="0"/>
              </a:spcBef>
              <a:spcAft>
                <a:spcPts val="0"/>
              </a:spcAft>
              <a:buNone/>
            </a:pPr>
            <a:r>
              <a:rPr lang="en" sz="2000">
                <a:solidFill>
                  <a:srgbClr val="FF0000"/>
                </a:solidFill>
                <a:latin typeface="Caveat"/>
                <a:ea typeface="Caveat"/>
                <a:cs typeface="Caveat"/>
                <a:sym typeface="Caveat"/>
              </a:rPr>
              <a:t>- CANNOT BE RESTARTED</a:t>
            </a:r>
            <a:endParaRPr sz="2000">
              <a:solidFill>
                <a:srgbClr val="FF0000"/>
              </a:solidFill>
              <a:latin typeface="Caveat"/>
              <a:ea typeface="Caveat"/>
              <a:cs typeface="Caveat"/>
              <a:sym typeface="Caveat"/>
            </a:endParaRPr>
          </a:p>
        </p:txBody>
      </p:sp>
      <p:sp>
        <p:nvSpPr>
          <p:cNvPr id="463" name="Google Shape;463;p51"/>
          <p:cNvSpPr txBox="1"/>
          <p:nvPr/>
        </p:nvSpPr>
        <p:spPr>
          <a:xfrm>
            <a:off x="4899775" y="2012000"/>
            <a:ext cx="3855900" cy="246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rgbClr val="6AA84F"/>
                </a:solidFill>
                <a:latin typeface="Caveat"/>
                <a:ea typeface="Caveat"/>
                <a:cs typeface="Caveat"/>
                <a:sym typeface="Caveat"/>
              </a:rPr>
              <a:t>PROS</a:t>
            </a:r>
            <a:endParaRPr sz="2000">
              <a:solidFill>
                <a:srgbClr val="6AA84F"/>
              </a:solidFill>
              <a:latin typeface="Caveat"/>
              <a:ea typeface="Caveat"/>
              <a:cs typeface="Caveat"/>
              <a:sym typeface="Caveat"/>
            </a:endParaRPr>
          </a:p>
          <a:p>
            <a:pPr indent="0" lvl="0" marL="0" rtl="0" algn="l">
              <a:spcBef>
                <a:spcPts val="0"/>
              </a:spcBef>
              <a:spcAft>
                <a:spcPts val="0"/>
              </a:spcAft>
              <a:buNone/>
            </a:pPr>
            <a:r>
              <a:rPr lang="en" sz="2000">
                <a:solidFill>
                  <a:srgbClr val="6AA84F"/>
                </a:solidFill>
                <a:latin typeface="Caveat"/>
                <a:ea typeface="Caveat"/>
                <a:cs typeface="Caveat"/>
                <a:sym typeface="Caveat"/>
              </a:rPr>
              <a:t>+ MULTIPLE INHERITANCE</a:t>
            </a:r>
            <a:endParaRPr sz="2000">
              <a:solidFill>
                <a:srgbClr val="6AA84F"/>
              </a:solidFill>
              <a:latin typeface="Caveat"/>
              <a:ea typeface="Caveat"/>
              <a:cs typeface="Caveat"/>
              <a:sym typeface="Caveat"/>
            </a:endParaRPr>
          </a:p>
          <a:p>
            <a:pPr indent="0" lvl="0" marL="0" rtl="0" algn="l">
              <a:spcBef>
                <a:spcPts val="0"/>
              </a:spcBef>
              <a:spcAft>
                <a:spcPts val="0"/>
              </a:spcAft>
              <a:buNone/>
            </a:pPr>
            <a:r>
              <a:rPr lang="en" sz="2000">
                <a:solidFill>
                  <a:srgbClr val="6AA84F"/>
                </a:solidFill>
                <a:latin typeface="Caveat"/>
                <a:ea typeface="Caveat"/>
                <a:cs typeface="Caveat"/>
                <a:sym typeface="Caveat"/>
              </a:rPr>
              <a:t>+ </a:t>
            </a:r>
            <a:r>
              <a:rPr lang="en" sz="2000" u="sng">
                <a:solidFill>
                  <a:srgbClr val="6AA84F"/>
                </a:solidFill>
                <a:latin typeface="Caveat"/>
                <a:ea typeface="Caveat"/>
                <a:cs typeface="Caveat"/>
                <a:sym typeface="Caveat"/>
              </a:rPr>
              <a:t>MUST</a:t>
            </a:r>
            <a:r>
              <a:rPr lang="en" sz="2000">
                <a:solidFill>
                  <a:srgbClr val="6AA84F"/>
                </a:solidFill>
                <a:latin typeface="Caveat"/>
                <a:ea typeface="Caveat"/>
                <a:cs typeface="Caveat"/>
                <a:sym typeface="Caveat"/>
              </a:rPr>
              <a:t> OVERRIDE RUN</a:t>
            </a:r>
            <a:endParaRPr sz="2000">
              <a:solidFill>
                <a:srgbClr val="6AA84F"/>
              </a:solidFill>
              <a:latin typeface="Caveat"/>
              <a:ea typeface="Caveat"/>
              <a:cs typeface="Caveat"/>
              <a:sym typeface="Caveat"/>
            </a:endParaRPr>
          </a:p>
          <a:p>
            <a:pPr indent="0" lvl="0" marL="0" rtl="0" algn="l">
              <a:spcBef>
                <a:spcPts val="0"/>
              </a:spcBef>
              <a:spcAft>
                <a:spcPts val="0"/>
              </a:spcAft>
              <a:buNone/>
            </a:pPr>
            <a:r>
              <a:rPr lang="en" sz="2000">
                <a:solidFill>
                  <a:srgbClr val="6AA84F"/>
                </a:solidFill>
                <a:latin typeface="Caveat"/>
                <a:ea typeface="Caveat"/>
                <a:cs typeface="Caveat"/>
                <a:sym typeface="Caveat"/>
              </a:rPr>
              <a:t>+ CAN BE RESTARTED (NEW THREAD)</a:t>
            </a:r>
            <a:endParaRPr sz="2000">
              <a:solidFill>
                <a:srgbClr val="6AA84F"/>
              </a:solidFill>
              <a:latin typeface="Caveat"/>
              <a:ea typeface="Caveat"/>
              <a:cs typeface="Caveat"/>
              <a:sym typeface="Caveat"/>
            </a:endParaRPr>
          </a:p>
          <a:p>
            <a:pPr indent="0" lvl="0" marL="0" rtl="0" algn="l">
              <a:spcBef>
                <a:spcPts val="0"/>
              </a:spcBef>
              <a:spcAft>
                <a:spcPts val="0"/>
              </a:spcAft>
              <a:buNone/>
            </a:pPr>
            <a:r>
              <a:rPr lang="en" sz="2000">
                <a:solidFill>
                  <a:srgbClr val="6AA84F"/>
                </a:solidFill>
                <a:latin typeface="Caveat"/>
                <a:ea typeface="Caveat"/>
                <a:cs typeface="Caveat"/>
                <a:sym typeface="Caveat"/>
              </a:rPr>
              <a:t>+ CLASS "ISN'T A" THREAD (?)</a:t>
            </a:r>
            <a:endParaRPr sz="2000">
              <a:solidFill>
                <a:srgbClr val="6AA84F"/>
              </a:solidFill>
              <a:latin typeface="Caveat"/>
              <a:ea typeface="Caveat"/>
              <a:cs typeface="Caveat"/>
              <a:sym typeface="Caveat"/>
            </a:endParaRPr>
          </a:p>
          <a:p>
            <a:pPr indent="0" lvl="0" marL="0" rtl="0" algn="ctr">
              <a:spcBef>
                <a:spcPts val="1000"/>
              </a:spcBef>
              <a:spcAft>
                <a:spcPts val="0"/>
              </a:spcAft>
              <a:buNone/>
            </a:pPr>
            <a:r>
              <a:rPr lang="en" sz="2000">
                <a:solidFill>
                  <a:srgbClr val="FF0000"/>
                </a:solidFill>
                <a:latin typeface="Caveat"/>
                <a:ea typeface="Caveat"/>
                <a:cs typeface="Caveat"/>
                <a:sym typeface="Caveat"/>
              </a:rPr>
              <a:t>CONS</a:t>
            </a:r>
            <a:endParaRPr sz="2000">
              <a:solidFill>
                <a:srgbClr val="FF0000"/>
              </a:solidFill>
              <a:latin typeface="Caveat"/>
              <a:ea typeface="Caveat"/>
              <a:cs typeface="Caveat"/>
              <a:sym typeface="Caveat"/>
            </a:endParaRPr>
          </a:p>
          <a:p>
            <a:pPr indent="0" lvl="0" marL="0" rtl="0" algn="l">
              <a:spcBef>
                <a:spcPts val="0"/>
              </a:spcBef>
              <a:spcAft>
                <a:spcPts val="0"/>
              </a:spcAft>
              <a:buNone/>
            </a:pPr>
            <a:r>
              <a:rPr lang="en" sz="2000">
                <a:solidFill>
                  <a:srgbClr val="FF0000"/>
                </a:solidFill>
                <a:latin typeface="Caveat"/>
                <a:ea typeface="Caveat"/>
                <a:cs typeface="Caveat"/>
                <a:sym typeface="Caveat"/>
              </a:rPr>
              <a:t>- (SLIGHTLY) MORE CODE</a:t>
            </a:r>
            <a:endParaRPr sz="2000">
              <a:solidFill>
                <a:srgbClr val="FF0000"/>
              </a:solidFill>
              <a:latin typeface="Caveat"/>
              <a:ea typeface="Caveat"/>
              <a:cs typeface="Caveat"/>
              <a:sym typeface="Cave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0" st="0"/>
                                            </p:txEl>
                                          </p:spTgt>
                                        </p:tgtEl>
                                        <p:attrNameLst>
                                          <p:attrName>style.visibility</p:attrName>
                                        </p:attrNameLst>
                                      </p:cBhvr>
                                      <p:to>
                                        <p:strVal val="visible"/>
                                      </p:to>
                                    </p:set>
                                    <p:animEffect filter="fade" transition="in">
                                      <p:cBhvr>
                                        <p:cTn dur="1000"/>
                                        <p:tgtEl>
                                          <p:spTgt spid="46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1" st="1"/>
                                            </p:txEl>
                                          </p:spTgt>
                                        </p:tgtEl>
                                        <p:attrNameLst>
                                          <p:attrName>style.visibility</p:attrName>
                                        </p:attrNameLst>
                                      </p:cBhvr>
                                      <p:to>
                                        <p:strVal val="visible"/>
                                      </p:to>
                                    </p:set>
                                    <p:animEffect filter="fade" transition="in">
                                      <p:cBhvr>
                                        <p:cTn dur="1000"/>
                                        <p:tgtEl>
                                          <p:spTgt spid="46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2" st="2"/>
                                            </p:txEl>
                                          </p:spTgt>
                                        </p:tgtEl>
                                        <p:attrNameLst>
                                          <p:attrName>style.visibility</p:attrName>
                                        </p:attrNameLst>
                                      </p:cBhvr>
                                      <p:to>
                                        <p:strVal val="visible"/>
                                      </p:to>
                                    </p:set>
                                    <p:animEffect filter="fade" transition="in">
                                      <p:cBhvr>
                                        <p:cTn dur="1000"/>
                                        <p:tgtEl>
                                          <p:spTgt spid="46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3" st="3"/>
                                            </p:txEl>
                                          </p:spTgt>
                                        </p:tgtEl>
                                        <p:attrNameLst>
                                          <p:attrName>style.visibility</p:attrName>
                                        </p:attrNameLst>
                                      </p:cBhvr>
                                      <p:to>
                                        <p:strVal val="visible"/>
                                      </p:to>
                                    </p:set>
                                    <p:animEffect filter="fade" transition="in">
                                      <p:cBhvr>
                                        <p:cTn dur="1000"/>
                                        <p:tgtEl>
                                          <p:spTgt spid="46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4" st="4"/>
                                            </p:txEl>
                                          </p:spTgt>
                                        </p:tgtEl>
                                        <p:attrNameLst>
                                          <p:attrName>style.visibility</p:attrName>
                                        </p:attrNameLst>
                                      </p:cBhvr>
                                      <p:to>
                                        <p:strVal val="visible"/>
                                      </p:to>
                                    </p:set>
                                    <p:animEffect filter="fade" transition="in">
                                      <p:cBhvr>
                                        <p:cTn dur="1000"/>
                                        <p:tgtEl>
                                          <p:spTgt spid="46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5" st="5"/>
                                            </p:txEl>
                                          </p:spTgt>
                                        </p:tgtEl>
                                        <p:attrNameLst>
                                          <p:attrName>style.visibility</p:attrName>
                                        </p:attrNameLst>
                                      </p:cBhvr>
                                      <p:to>
                                        <p:strVal val="visible"/>
                                      </p:to>
                                    </p:set>
                                    <p:animEffect filter="fade" transition="in">
                                      <p:cBhvr>
                                        <p:cTn dur="1000"/>
                                        <p:tgtEl>
                                          <p:spTgt spid="46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2">
                                            <p:txEl>
                                              <p:pRg end="6" st="6"/>
                                            </p:txEl>
                                          </p:spTgt>
                                        </p:tgtEl>
                                        <p:attrNameLst>
                                          <p:attrName>style.visibility</p:attrName>
                                        </p:attrNameLst>
                                      </p:cBhvr>
                                      <p:to>
                                        <p:strVal val="visible"/>
                                      </p:to>
                                    </p:set>
                                    <p:animEffect filter="fade" transition="in">
                                      <p:cBhvr>
                                        <p:cTn dur="1000"/>
                                        <p:tgtEl>
                                          <p:spTgt spid="46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0" st="0"/>
                                            </p:txEl>
                                          </p:spTgt>
                                        </p:tgtEl>
                                        <p:attrNameLst>
                                          <p:attrName>style.visibility</p:attrName>
                                        </p:attrNameLst>
                                      </p:cBhvr>
                                      <p:to>
                                        <p:strVal val="visible"/>
                                      </p:to>
                                    </p:set>
                                    <p:animEffect filter="fade" transition="in">
                                      <p:cBhvr>
                                        <p:cTn dur="1000"/>
                                        <p:tgtEl>
                                          <p:spTgt spid="4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1" st="1"/>
                                            </p:txEl>
                                          </p:spTgt>
                                        </p:tgtEl>
                                        <p:attrNameLst>
                                          <p:attrName>style.visibility</p:attrName>
                                        </p:attrNameLst>
                                      </p:cBhvr>
                                      <p:to>
                                        <p:strVal val="visible"/>
                                      </p:to>
                                    </p:set>
                                    <p:animEffect filter="fade" transition="in">
                                      <p:cBhvr>
                                        <p:cTn dur="1000"/>
                                        <p:tgtEl>
                                          <p:spTgt spid="4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2" st="2"/>
                                            </p:txEl>
                                          </p:spTgt>
                                        </p:tgtEl>
                                        <p:attrNameLst>
                                          <p:attrName>style.visibility</p:attrName>
                                        </p:attrNameLst>
                                      </p:cBhvr>
                                      <p:to>
                                        <p:strVal val="visible"/>
                                      </p:to>
                                    </p:set>
                                    <p:animEffect filter="fade" transition="in">
                                      <p:cBhvr>
                                        <p:cTn dur="1000"/>
                                        <p:tgtEl>
                                          <p:spTgt spid="4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3" st="3"/>
                                            </p:txEl>
                                          </p:spTgt>
                                        </p:tgtEl>
                                        <p:attrNameLst>
                                          <p:attrName>style.visibility</p:attrName>
                                        </p:attrNameLst>
                                      </p:cBhvr>
                                      <p:to>
                                        <p:strVal val="visible"/>
                                      </p:to>
                                    </p:set>
                                    <p:animEffect filter="fade" transition="in">
                                      <p:cBhvr>
                                        <p:cTn dur="1000"/>
                                        <p:tgtEl>
                                          <p:spTgt spid="4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4" st="4"/>
                                            </p:txEl>
                                          </p:spTgt>
                                        </p:tgtEl>
                                        <p:attrNameLst>
                                          <p:attrName>style.visibility</p:attrName>
                                        </p:attrNameLst>
                                      </p:cBhvr>
                                      <p:to>
                                        <p:strVal val="visible"/>
                                      </p:to>
                                    </p:set>
                                    <p:animEffect filter="fade" transition="in">
                                      <p:cBhvr>
                                        <p:cTn dur="1000"/>
                                        <p:tgtEl>
                                          <p:spTgt spid="4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5" st="5"/>
                                            </p:txEl>
                                          </p:spTgt>
                                        </p:tgtEl>
                                        <p:attrNameLst>
                                          <p:attrName>style.visibility</p:attrName>
                                        </p:attrNameLst>
                                      </p:cBhvr>
                                      <p:to>
                                        <p:strVal val="visible"/>
                                      </p:to>
                                    </p:set>
                                    <p:animEffect filter="fade" transition="in">
                                      <p:cBhvr>
                                        <p:cTn dur="1000"/>
                                        <p:tgtEl>
                                          <p:spTgt spid="4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6" st="6"/>
                                            </p:txEl>
                                          </p:spTgt>
                                        </p:tgtEl>
                                        <p:attrNameLst>
                                          <p:attrName>style.visibility</p:attrName>
                                        </p:attrNameLst>
                                      </p:cBhvr>
                                      <p:to>
                                        <p:strVal val="visible"/>
                                      </p:to>
                                    </p:set>
                                    <p:animEffect filter="fade" transition="in">
                                      <p:cBhvr>
                                        <p:cTn dur="1000"/>
                                        <p:tgtEl>
                                          <p:spTgt spid="46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latin typeface="Courier New"/>
                <a:ea typeface="Courier New"/>
                <a:cs typeface="Courier New"/>
                <a:sym typeface="Courier New"/>
              </a:rPr>
              <a:t>LambdaRace</a:t>
            </a:r>
            <a:endParaRPr>
              <a:latin typeface="Courier New"/>
              <a:ea typeface="Courier New"/>
              <a:cs typeface="Courier New"/>
              <a:sym typeface="Courier New"/>
            </a:endParaRPr>
          </a:p>
        </p:txBody>
      </p:sp>
      <p:sp>
        <p:nvSpPr>
          <p:cNvPr id="469" name="Google Shape;469;p5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Runnable interface only defines a single method. Hey! That means that its a </a:t>
            </a:r>
            <a:r>
              <a:rPr i="1" lang="en"/>
              <a:t>functional interface</a:t>
            </a:r>
            <a:r>
              <a:rPr lang="en"/>
              <a:t> and can be implemented using a lambda! Let's create one final race using lambdas. We already have the racers so this should be fast. </a:t>
            </a:r>
            <a:endParaRPr/>
          </a:p>
        </p:txBody>
      </p:sp>
      <p:sp>
        <p:nvSpPr>
          <p:cNvPr id="470" name="Google Shape;470;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1" name="Google Shape;471;p52"/>
          <p:cNvSpPr txBox="1"/>
          <p:nvPr>
            <p:ph idx="2" type="body"/>
          </p:nvPr>
        </p:nvSpPr>
        <p:spPr>
          <a:xfrm>
            <a:off x="3480725" y="1814150"/>
            <a:ext cx="5460000" cy="2278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the </a:t>
            </a:r>
            <a:r>
              <a:rPr lang="en">
                <a:solidFill>
                  <a:srgbClr val="FF0000"/>
                </a:solidFill>
                <a:latin typeface="Courier New"/>
                <a:ea typeface="Courier New"/>
                <a:cs typeface="Courier New"/>
                <a:sym typeface="Courier New"/>
              </a:rPr>
              <a:t>racing</a:t>
            </a:r>
            <a:r>
              <a:rPr lang="en"/>
              <a:t> package</a:t>
            </a:r>
            <a:endParaRPr/>
          </a:p>
          <a:p>
            <a:pPr indent="-311150" lvl="0" marL="457200" rtl="0" algn="l">
              <a:spcBef>
                <a:spcPts val="1000"/>
              </a:spcBef>
              <a:spcAft>
                <a:spcPts val="0"/>
              </a:spcAft>
              <a:buSzPts val="1300"/>
              <a:buChar char="●"/>
            </a:pPr>
            <a:r>
              <a:rPr lang="en"/>
              <a:t>Make a copy of </a:t>
            </a:r>
            <a:r>
              <a:rPr lang="en"/>
              <a:t>either</a:t>
            </a:r>
            <a:r>
              <a:rPr lang="en"/>
              <a:t> your </a:t>
            </a:r>
            <a:r>
              <a:rPr lang="en">
                <a:latin typeface="Courier New"/>
                <a:ea typeface="Courier New"/>
                <a:cs typeface="Courier New"/>
                <a:sym typeface="Courier New"/>
              </a:rPr>
              <a:t>Race.java</a:t>
            </a:r>
            <a:r>
              <a:rPr lang="en"/>
              <a:t> or </a:t>
            </a:r>
            <a:r>
              <a:rPr lang="en">
                <a:latin typeface="Courier New"/>
                <a:ea typeface="Courier New"/>
                <a:cs typeface="Courier New"/>
                <a:sym typeface="Courier New"/>
              </a:rPr>
              <a:t>Runnable</a:t>
            </a:r>
            <a:r>
              <a:rPr lang="en">
                <a:latin typeface="Courier New"/>
                <a:ea typeface="Courier New"/>
                <a:cs typeface="Courier New"/>
                <a:sym typeface="Courier New"/>
              </a:rPr>
              <a:t>Racer</a:t>
            </a:r>
            <a:r>
              <a:rPr lang="en">
                <a:latin typeface="Courier New"/>
                <a:ea typeface="Courier New"/>
                <a:cs typeface="Courier New"/>
                <a:sym typeface="Courier New"/>
              </a:rPr>
              <a:t>.java</a:t>
            </a:r>
            <a:r>
              <a:rPr lang="en"/>
              <a:t> to a new class named </a:t>
            </a:r>
            <a:r>
              <a:rPr lang="en">
                <a:solidFill>
                  <a:srgbClr val="FF0000"/>
                </a:solidFill>
                <a:latin typeface="Courier New"/>
                <a:ea typeface="Courier New"/>
                <a:cs typeface="Courier New"/>
                <a:sym typeface="Courier New"/>
              </a:rPr>
              <a:t>LambdaRace</a:t>
            </a:r>
            <a:r>
              <a:rPr lang="en"/>
              <a:t>.</a:t>
            </a:r>
            <a:endParaRPr/>
          </a:p>
          <a:p>
            <a:pPr indent="-311150" lvl="0" marL="457200" rtl="0" algn="l">
              <a:spcBef>
                <a:spcPts val="1000"/>
              </a:spcBef>
              <a:spcAft>
                <a:spcPts val="0"/>
              </a:spcAft>
              <a:buSzPts val="1300"/>
              <a:buChar char="●"/>
            </a:pPr>
            <a:r>
              <a:rPr lang="en"/>
              <a:t>Modify the new class to use lambdas instead of the runnable interface.</a:t>
            </a:r>
            <a:endParaRPr/>
          </a:p>
          <a:p>
            <a:pPr indent="-311150" lvl="0" marL="457200" rtl="0" algn="l">
              <a:spcBef>
                <a:spcPts val="1000"/>
              </a:spcBef>
              <a:spcAft>
                <a:spcPts val="0"/>
              </a:spcAft>
              <a:buSzPts val="1300"/>
              <a:buChar char="●"/>
            </a:pPr>
            <a:r>
              <a:rPr lang="en"/>
              <a:t>You can use the example on the left as a guide.</a:t>
            </a:r>
            <a:endParaRPr/>
          </a:p>
          <a:p>
            <a:pPr indent="-311150" lvl="0" marL="457200" rtl="0" algn="l">
              <a:spcBef>
                <a:spcPts val="1000"/>
              </a:spcBef>
              <a:spcAft>
                <a:spcPts val="1000"/>
              </a:spcAft>
              <a:buSzPts val="1300"/>
              <a:buChar char="●"/>
            </a:pPr>
            <a:r>
              <a:rPr lang="en"/>
              <a:t>Run the class and verify everything works.</a:t>
            </a:r>
            <a:endParaRPr/>
          </a:p>
        </p:txBody>
      </p:sp>
      <p:sp>
        <p:nvSpPr>
          <p:cNvPr id="472" name="Google Shape;472;p5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8.8</a:t>
            </a:r>
            <a:endParaRPr/>
          </a:p>
        </p:txBody>
      </p:sp>
      <p:sp>
        <p:nvSpPr>
          <p:cNvPr id="473" name="Google Shape;473;p52"/>
          <p:cNvSpPr/>
          <p:nvPr/>
        </p:nvSpPr>
        <p:spPr>
          <a:xfrm>
            <a:off x="143825" y="1731012"/>
            <a:ext cx="3043200" cy="2886000"/>
          </a:xfrm>
          <a:prstGeom prst="rect">
            <a:avLst/>
          </a:prstGeom>
          <a:solidFill>
            <a:srgbClr val="FFFFFF"/>
          </a:solidFill>
          <a:ln cap="flat" cmpd="sng" w="19050">
            <a:solidFill>
              <a:schemeClr val="accent1"/>
            </a:solidFill>
            <a:prstDash val="solid"/>
            <a:miter lim="800000"/>
            <a:headEnd len="sm" w="sm" type="none"/>
            <a:tailEnd len="sm" w="sm" type="none"/>
          </a:ln>
        </p:spPr>
        <p:txBody>
          <a:bodyPr anchorCtr="0" anchor="t" bIns="91425" lIns="91425" spcFirstLastPara="1" rIns="68575" wrap="square" tIns="91425">
            <a:noAutofit/>
          </a:bodyPr>
          <a:lstStyle/>
          <a:p>
            <a:pPr indent="0" lvl="0" marL="0" rtl="0" algn="l">
              <a:lnSpc>
                <a:spcPct val="100000"/>
              </a:lnSpc>
              <a:spcBef>
                <a:spcPts val="0"/>
              </a:spcBef>
              <a:spcAft>
                <a:spcPts val="0"/>
              </a:spcAft>
              <a:buNone/>
            </a:pP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class</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Lambda</a:t>
            </a:r>
            <a:r>
              <a:rPr lang="en" sz="900">
                <a:solidFill>
                  <a:srgbClr val="267F99"/>
                </a:solidFill>
                <a:latin typeface="Consolas"/>
                <a:ea typeface="Consolas"/>
                <a:cs typeface="Consolas"/>
                <a:sym typeface="Consolas"/>
              </a:rPr>
              <a:t>Example</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private</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final</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id</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solidFill>
                  <a:srgbClr val="008000"/>
                </a:solidFill>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Lambda</a:t>
            </a:r>
            <a:r>
              <a:rPr lang="en" sz="900">
                <a:solidFill>
                  <a:srgbClr val="795E26"/>
                </a:solidFill>
                <a:latin typeface="Consolas"/>
                <a:ea typeface="Consolas"/>
                <a:cs typeface="Consolas"/>
                <a:sym typeface="Consolas"/>
              </a:rPr>
              <a:t>Example</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int</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id</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this</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id</a:t>
            </a:r>
            <a:r>
              <a:rPr lang="en" sz="900">
                <a:latin typeface="Consolas"/>
                <a:ea typeface="Consolas"/>
                <a:cs typeface="Consolas"/>
                <a:sym typeface="Consolas"/>
              </a:rPr>
              <a:t> = </a:t>
            </a:r>
            <a:r>
              <a:rPr lang="en" sz="900">
                <a:solidFill>
                  <a:srgbClr val="001080"/>
                </a:solidFill>
                <a:latin typeface="Consolas"/>
                <a:ea typeface="Consolas"/>
                <a:cs typeface="Consolas"/>
                <a:sym typeface="Consolas"/>
              </a:rPr>
              <a:t>id</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spcBef>
                <a:spcPts val="0"/>
              </a:spcBef>
              <a:spcAft>
                <a:spcPts val="0"/>
              </a:spcAft>
              <a:buNone/>
            </a:pPr>
            <a:r>
              <a:rPr lang="en" sz="900">
                <a:solidFill>
                  <a:srgbClr val="008000"/>
                </a:solidFill>
                <a:latin typeface="Consolas"/>
                <a:ea typeface="Consolas"/>
                <a:cs typeface="Consolas"/>
                <a:sym typeface="Consolas"/>
              </a:rPr>
              <a:t>  </a:t>
            </a:r>
            <a:endParaRPr sz="9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doStuff</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System</a:t>
            </a:r>
            <a:r>
              <a:rPr lang="en" sz="900">
                <a:latin typeface="Consolas"/>
                <a:ea typeface="Consolas"/>
                <a:cs typeface="Consolas"/>
                <a:sym typeface="Consolas"/>
              </a:rPr>
              <a:t>.</a:t>
            </a:r>
            <a:r>
              <a:rPr lang="en" sz="900">
                <a:solidFill>
                  <a:srgbClr val="0070C1"/>
                </a:solidFill>
                <a:latin typeface="Consolas"/>
                <a:ea typeface="Consolas"/>
                <a:cs typeface="Consolas"/>
                <a:sym typeface="Consolas"/>
              </a:rPr>
              <a:t>out</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println</a:t>
            </a:r>
            <a:r>
              <a:rPr lang="en" sz="900">
                <a:latin typeface="Consolas"/>
                <a:ea typeface="Consolas"/>
                <a:cs typeface="Consolas"/>
                <a:sym typeface="Consolas"/>
              </a:rPr>
              <a:t> (</a:t>
            </a:r>
            <a:r>
              <a:rPr lang="en" sz="900">
                <a:solidFill>
                  <a:srgbClr val="0070C1"/>
                </a:solidFill>
                <a:latin typeface="Consolas"/>
                <a:ea typeface="Consolas"/>
                <a:cs typeface="Consolas"/>
                <a:sym typeface="Consolas"/>
              </a:rPr>
              <a:t>id</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8000"/>
                </a:solidFill>
                <a:latin typeface="Consolas"/>
                <a:ea typeface="Consolas"/>
                <a:cs typeface="Consolas"/>
                <a:sym typeface="Consolas"/>
              </a:rPr>
              <a:t>  </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public</a:t>
            </a:r>
            <a:r>
              <a:rPr lang="en" sz="900">
                <a:latin typeface="Consolas"/>
                <a:ea typeface="Consolas"/>
                <a:cs typeface="Consolas"/>
                <a:sym typeface="Consolas"/>
              </a:rPr>
              <a:t> </a:t>
            </a:r>
            <a:r>
              <a:rPr lang="en" sz="900">
                <a:solidFill>
                  <a:srgbClr val="0000FF"/>
                </a:solidFill>
                <a:latin typeface="Consolas"/>
                <a:ea typeface="Consolas"/>
                <a:cs typeface="Consolas"/>
                <a:sym typeface="Consolas"/>
              </a:rPr>
              <a:t>static</a:t>
            </a: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void</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main</a:t>
            </a:r>
            <a:r>
              <a:rPr lang="en" sz="900">
                <a:latin typeface="Consolas"/>
                <a:ea typeface="Consolas"/>
                <a:cs typeface="Consolas"/>
                <a:sym typeface="Consolas"/>
              </a:rPr>
              <a:t>(</a:t>
            </a:r>
            <a:r>
              <a:rPr lang="en" sz="900">
                <a:solidFill>
                  <a:srgbClr val="267F99"/>
                </a:solidFill>
                <a:latin typeface="Consolas"/>
                <a:ea typeface="Consolas"/>
                <a:cs typeface="Consolas"/>
                <a:sym typeface="Consolas"/>
              </a:rPr>
              <a:t>String</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args</a:t>
            </a: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LambdaExample </a:t>
            </a:r>
            <a:r>
              <a:rPr lang="en" sz="900">
                <a:solidFill>
                  <a:srgbClr val="001080"/>
                </a:solidFill>
                <a:latin typeface="Consolas"/>
                <a:ea typeface="Consolas"/>
                <a:cs typeface="Consolas"/>
                <a:sym typeface="Consolas"/>
              </a:rPr>
              <a:t>example</a:t>
            </a: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new</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LambdaExample</a:t>
            </a:r>
            <a:r>
              <a:rPr lang="en" sz="900">
                <a:latin typeface="Consolas"/>
                <a:ea typeface="Consolas"/>
                <a:cs typeface="Consolas"/>
                <a:sym typeface="Consolas"/>
              </a:rPr>
              <a:t>(</a:t>
            </a:r>
            <a:r>
              <a:rPr lang="en" sz="900">
                <a:solidFill>
                  <a:srgbClr val="098658"/>
                </a:solidFill>
                <a:latin typeface="Consolas"/>
                <a:ea typeface="Consolas"/>
                <a:cs typeface="Consolas"/>
                <a:sym typeface="Consolas"/>
              </a:rPr>
              <a:t>1</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spcBef>
                <a:spcPts val="0"/>
              </a:spcBef>
              <a:spcAft>
                <a:spcPts val="0"/>
              </a:spcAft>
              <a:buNone/>
            </a:pPr>
            <a:r>
              <a:rPr lang="en" sz="900">
                <a:solidFill>
                  <a:srgbClr val="008000"/>
                </a:solidFill>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267F99"/>
                </a:solidFill>
                <a:latin typeface="Consolas"/>
                <a:ea typeface="Consolas"/>
                <a:cs typeface="Consolas"/>
                <a:sym typeface="Consolas"/>
              </a:rPr>
              <a:t>Thread</a:t>
            </a: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exampleThread</a:t>
            </a:r>
            <a:r>
              <a:rPr lang="en" sz="900">
                <a:latin typeface="Consolas"/>
                <a:ea typeface="Consolas"/>
                <a:cs typeface="Consolas"/>
                <a:sym typeface="Consolas"/>
              </a:rPr>
              <a:t> =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AF00DB"/>
                </a:solidFill>
                <a:latin typeface="Consolas"/>
                <a:ea typeface="Consolas"/>
                <a:cs typeface="Consolas"/>
                <a:sym typeface="Consolas"/>
              </a:rPr>
              <a:t>new</a:t>
            </a:r>
            <a:r>
              <a:rPr lang="en" sz="900">
                <a:latin typeface="Consolas"/>
                <a:ea typeface="Consolas"/>
                <a:cs typeface="Consolas"/>
                <a:sym typeface="Consolas"/>
              </a:rPr>
              <a:t> </a:t>
            </a:r>
            <a:r>
              <a:rPr lang="en" sz="900">
                <a:solidFill>
                  <a:srgbClr val="795E26"/>
                </a:solidFill>
                <a:latin typeface="Consolas"/>
                <a:ea typeface="Consolas"/>
                <a:cs typeface="Consolas"/>
                <a:sym typeface="Consolas"/>
              </a:rPr>
              <a:t>Thread</a:t>
            </a:r>
            <a:r>
              <a:rPr lang="en" sz="900">
                <a:latin typeface="Consolas"/>
                <a:ea typeface="Consolas"/>
                <a:cs typeface="Consolas"/>
                <a:sym typeface="Consolas"/>
              </a:rPr>
              <a:t>(</a:t>
            </a:r>
            <a:r>
              <a:rPr lang="en" sz="900">
                <a:solidFill>
                  <a:srgbClr val="001080"/>
                </a:solidFill>
                <a:latin typeface="Consolas"/>
                <a:ea typeface="Consolas"/>
                <a:cs typeface="Consolas"/>
                <a:sym typeface="Consolas"/>
              </a:rPr>
              <a:t>example::doStuff</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r>
              <a:rPr lang="en" sz="900">
                <a:solidFill>
                  <a:srgbClr val="001080"/>
                </a:solidFill>
                <a:latin typeface="Consolas"/>
                <a:ea typeface="Consolas"/>
                <a:cs typeface="Consolas"/>
                <a:sym typeface="Consolas"/>
              </a:rPr>
              <a:t>exampleThread</a:t>
            </a:r>
            <a:r>
              <a:rPr lang="en" sz="900">
                <a:latin typeface="Consolas"/>
                <a:ea typeface="Consolas"/>
                <a:cs typeface="Consolas"/>
                <a:sym typeface="Consolas"/>
              </a:rPr>
              <a:t>.</a:t>
            </a:r>
            <a:r>
              <a:rPr lang="en" sz="900">
                <a:solidFill>
                  <a:srgbClr val="795E26"/>
                </a:solidFill>
                <a:latin typeface="Consolas"/>
                <a:ea typeface="Consolas"/>
                <a:cs typeface="Consolas"/>
                <a:sym typeface="Consolas"/>
              </a:rPr>
              <a:t>start</a:t>
            </a:r>
            <a:r>
              <a:rPr lang="en" sz="900">
                <a:latin typeface="Consolas"/>
                <a:ea typeface="Consolas"/>
                <a:cs typeface="Consolas"/>
                <a:sym typeface="Consolas"/>
              </a:rPr>
              <a:t>();</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    }</a:t>
            </a:r>
            <a:endParaRPr sz="900">
              <a:latin typeface="Consolas"/>
              <a:ea typeface="Consolas"/>
              <a:cs typeface="Consolas"/>
              <a:sym typeface="Consolas"/>
            </a:endParaRPr>
          </a:p>
          <a:p>
            <a:pPr indent="0" lvl="0" marL="0" rtl="0" algn="l">
              <a:lnSpc>
                <a:spcPct val="100000"/>
              </a:lnSpc>
              <a:spcBef>
                <a:spcPts val="0"/>
              </a:spcBef>
              <a:spcAft>
                <a:spcPts val="0"/>
              </a:spcAft>
              <a:buNone/>
            </a:pPr>
            <a:r>
              <a:rPr lang="en" sz="900">
                <a:latin typeface="Consolas"/>
                <a:ea typeface="Consolas"/>
                <a:cs typeface="Consolas"/>
                <a:sym typeface="Consolas"/>
              </a:rPr>
              <a:t>}</a:t>
            </a:r>
            <a:endParaRPr sz="900">
              <a:solidFill>
                <a:schemeClr val="dk1"/>
              </a:solidFill>
              <a:latin typeface="Consolas"/>
              <a:ea typeface="Consolas"/>
              <a:cs typeface="Consolas"/>
              <a:sym typeface="Consolas"/>
            </a:endParaRPr>
          </a:p>
        </p:txBody>
      </p:sp>
      <p:sp>
        <p:nvSpPr>
          <p:cNvPr id="474" name="Google Shape;474;p52"/>
          <p:cNvSpPr txBox="1"/>
          <p:nvPr>
            <p:ph idx="4" type="body"/>
          </p:nvPr>
        </p:nvSpPr>
        <p:spPr>
          <a:xfrm>
            <a:off x="143825" y="4687525"/>
            <a:ext cx="3043200" cy="3693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Method reference example.</a:t>
            </a:r>
            <a:endParaRPr/>
          </a:p>
        </p:txBody>
      </p:sp>
      <p:sp>
        <p:nvSpPr>
          <p:cNvPr id="475" name="Google Shape;475;p52"/>
          <p:cNvSpPr/>
          <p:nvPr/>
        </p:nvSpPr>
        <p:spPr>
          <a:xfrm>
            <a:off x="1673857" y="4012809"/>
            <a:ext cx="1030800" cy="160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476" name="Google Shape;476;p52"/>
          <p:cNvCxnSpPr>
            <a:stCxn id="474" idx="3"/>
            <a:endCxn id="475" idx="2"/>
          </p:cNvCxnSpPr>
          <p:nvPr/>
        </p:nvCxnSpPr>
        <p:spPr>
          <a:xfrm rot="10800000">
            <a:off x="2189225" y="4173475"/>
            <a:ext cx="997800" cy="698700"/>
          </a:xfrm>
          <a:prstGeom prst="bentConnector4">
            <a:avLst>
              <a:gd fmla="val -23865" name="adj1"/>
              <a:gd fmla="val 63204" name="adj2"/>
            </a:avLst>
          </a:prstGeom>
          <a:noFill/>
          <a:ln cap="flat" cmpd="sng" w="19050">
            <a:solidFill>
              <a:srgbClr val="FF0000"/>
            </a:solidFill>
            <a:prstDash val="solid"/>
            <a:round/>
            <a:headEnd len="med" w="med" type="none"/>
            <a:tailEnd len="med" w="med"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3"/>
          <p:cNvSpPr txBox="1"/>
          <p:nvPr>
            <p:ph type="title"/>
          </p:nvPr>
        </p:nvSpPr>
        <p:spPr>
          <a:xfrm>
            <a:off x="1436850" y="100"/>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t>Lots of Racers</a:t>
            </a:r>
            <a:endParaRPr/>
          </a:p>
        </p:txBody>
      </p:sp>
      <p:sp>
        <p:nvSpPr>
          <p:cNvPr id="482" name="Google Shape;482;p53"/>
          <p:cNvSpPr txBox="1"/>
          <p:nvPr>
            <p:ph idx="1" type="body"/>
          </p:nvPr>
        </p:nvSpPr>
        <p:spPr>
          <a:xfrm>
            <a:off x="65250" y="731625"/>
            <a:ext cx="8955900" cy="512400"/>
          </a:xfrm>
          <a:prstGeom prst="rect">
            <a:avLst/>
          </a:prstGeom>
          <a:noFill/>
          <a:ln>
            <a:noFill/>
          </a:ln>
        </p:spPr>
        <p:txBody>
          <a:bodyPr anchorCtr="0" anchor="t" bIns="34275" lIns="68575" spcFirstLastPara="1" rIns="68575" wrap="square" tIns="34275">
            <a:spAutoFit/>
          </a:bodyPr>
          <a:lstStyle/>
          <a:p>
            <a:pPr indent="0" lvl="0" marL="0" rtl="0" algn="l">
              <a:lnSpc>
                <a:spcPct val="90000"/>
              </a:lnSpc>
              <a:spcBef>
                <a:spcPts val="0"/>
              </a:spcBef>
              <a:spcAft>
                <a:spcPts val="1600"/>
              </a:spcAft>
              <a:buClr>
                <a:schemeClr val="dk1"/>
              </a:buClr>
              <a:buSzPts val="1800"/>
              <a:buNone/>
            </a:pPr>
            <a:r>
              <a:rPr lang="en"/>
              <a:t>Up until this point, we've only run a few racers at a time. What would happen if we tried running lots of threads all at the same time? Let's try it out!</a:t>
            </a:r>
            <a:endParaRPr/>
          </a:p>
        </p:txBody>
      </p:sp>
      <p:sp>
        <p:nvSpPr>
          <p:cNvPr id="483" name="Google Shape;483;p53"/>
          <p:cNvSpPr txBox="1"/>
          <p:nvPr>
            <p:ph idx="2" type="body"/>
          </p:nvPr>
        </p:nvSpPr>
        <p:spPr>
          <a:xfrm>
            <a:off x="2871050" y="1435525"/>
            <a:ext cx="6032100" cy="3708000"/>
          </a:xfrm>
          <a:prstGeom prst="rect">
            <a:avLst/>
          </a:prstGeom>
          <a:noFill/>
          <a:ln>
            <a:noFill/>
          </a:ln>
        </p:spPr>
        <p:txBody>
          <a:bodyPr anchorCtr="0" anchor="t" bIns="34275" lIns="68575" spcFirstLastPara="1" rIns="68575" wrap="square" tIns="34275">
            <a:noAutofit/>
          </a:bodyPr>
          <a:lstStyle/>
          <a:p>
            <a:pPr indent="-311150" lvl="0" marL="457200" rtl="0" algn="l">
              <a:lnSpc>
                <a:spcPct val="115000"/>
              </a:lnSpc>
              <a:spcBef>
                <a:spcPts val="0"/>
              </a:spcBef>
              <a:spcAft>
                <a:spcPts val="0"/>
              </a:spcAft>
              <a:buSzPts val="1300"/>
              <a:buChar char="●"/>
            </a:pPr>
            <a:r>
              <a:rPr lang="en"/>
              <a:t>In the </a:t>
            </a:r>
            <a:r>
              <a:rPr lang="en">
                <a:latin typeface="Courier New"/>
                <a:ea typeface="Courier New"/>
                <a:cs typeface="Courier New"/>
                <a:sym typeface="Courier New"/>
              </a:rPr>
              <a:t>racing</a:t>
            </a:r>
            <a:r>
              <a:rPr lang="en"/>
              <a:t> package, create a new class named </a:t>
            </a:r>
            <a:r>
              <a:rPr lang="en">
                <a:solidFill>
                  <a:srgbClr val="FF0000"/>
                </a:solidFill>
                <a:latin typeface="Courier New"/>
                <a:ea typeface="Courier New"/>
                <a:cs typeface="Courier New"/>
                <a:sym typeface="Courier New"/>
              </a:rPr>
              <a:t>LotsORacers</a:t>
            </a:r>
            <a:r>
              <a:rPr lang="en"/>
              <a:t>.</a:t>
            </a:r>
            <a:endParaRPr/>
          </a:p>
          <a:p>
            <a:pPr indent="-311150" lvl="0" marL="457200" rtl="0" algn="l">
              <a:lnSpc>
                <a:spcPct val="115000"/>
              </a:lnSpc>
              <a:spcBef>
                <a:spcPts val="0"/>
              </a:spcBef>
              <a:spcAft>
                <a:spcPts val="0"/>
              </a:spcAft>
              <a:buSzPts val="1300"/>
              <a:buChar char="●"/>
            </a:pPr>
            <a:r>
              <a:rPr lang="en"/>
              <a:t>Add </a:t>
            </a:r>
            <a:r>
              <a:rPr lang="en"/>
              <a:t>constants for </a:t>
            </a:r>
            <a:r>
              <a:rPr lang="en">
                <a:latin typeface="Courier New"/>
                <a:ea typeface="Courier New"/>
                <a:cs typeface="Courier New"/>
                <a:sym typeface="Courier New"/>
              </a:rPr>
              <a:t>NUM_RACERS</a:t>
            </a:r>
            <a:r>
              <a:rPr lang="en"/>
              <a:t>, </a:t>
            </a:r>
            <a:r>
              <a:rPr lang="en">
                <a:latin typeface="Courier New"/>
                <a:ea typeface="Courier New"/>
                <a:cs typeface="Courier New"/>
                <a:sym typeface="Courier New"/>
              </a:rPr>
              <a:t>NUM_LAPS</a:t>
            </a:r>
            <a:r>
              <a:rPr lang="en"/>
              <a:t>, and </a:t>
            </a:r>
            <a:r>
              <a:rPr lang="en">
                <a:latin typeface="Courier New"/>
                <a:ea typeface="Courier New"/>
                <a:cs typeface="Courier New"/>
                <a:sym typeface="Courier New"/>
              </a:rPr>
              <a:t>DEBUG</a:t>
            </a:r>
            <a:r>
              <a:rPr lang="en"/>
              <a:t>.</a:t>
            </a:r>
            <a:endParaRPr/>
          </a:p>
          <a:p>
            <a:pPr indent="-311150" lvl="0" marL="457200" rtl="0" algn="l">
              <a:lnSpc>
                <a:spcPct val="115000"/>
              </a:lnSpc>
              <a:spcBef>
                <a:spcPts val="0"/>
              </a:spcBef>
              <a:spcAft>
                <a:spcPts val="0"/>
              </a:spcAft>
              <a:buSzPts val="1300"/>
              <a:buChar char="●"/>
            </a:pPr>
            <a:r>
              <a:rPr lang="en"/>
              <a:t>In </a:t>
            </a:r>
            <a:r>
              <a:rPr lang="en">
                <a:latin typeface="Courier New"/>
                <a:ea typeface="Courier New"/>
                <a:cs typeface="Courier New"/>
                <a:sym typeface="Courier New"/>
              </a:rPr>
              <a:t>main</a:t>
            </a:r>
            <a:r>
              <a:rPr lang="en"/>
              <a:t>, use a </a:t>
            </a:r>
            <a:r>
              <a:rPr b="1" i="1" lang="en">
                <a:solidFill>
                  <a:srgbClr val="FF0000"/>
                </a:solidFill>
              </a:rPr>
              <a:t>for loop</a:t>
            </a:r>
            <a:r>
              <a:rPr lang="en"/>
              <a:t> to create and start </a:t>
            </a:r>
            <a:r>
              <a:rPr b="1" i="1" lang="en">
                <a:solidFill>
                  <a:srgbClr val="FF0000"/>
                </a:solidFill>
              </a:rPr>
              <a:t>one million racer</a:t>
            </a:r>
            <a:r>
              <a:rPr b="1" i="1" lang="en">
                <a:solidFill>
                  <a:srgbClr val="FF0000"/>
                </a:solidFill>
              </a:rPr>
              <a:t>s</a:t>
            </a:r>
            <a:r>
              <a:rPr lang="en"/>
              <a:t> each in their own thread.</a:t>
            </a:r>
            <a:endParaRPr/>
          </a:p>
          <a:p>
            <a:pPr indent="-298450" lvl="1" marL="914400" rtl="0" algn="l">
              <a:lnSpc>
                <a:spcPct val="115000"/>
              </a:lnSpc>
              <a:spcBef>
                <a:spcPts val="0"/>
              </a:spcBef>
              <a:spcAft>
                <a:spcPts val="0"/>
              </a:spcAft>
              <a:buSzPts val="1100"/>
              <a:buChar char="○"/>
            </a:pPr>
            <a:r>
              <a:rPr lang="en"/>
              <a:t>You can create and start each racer/thread at the </a:t>
            </a:r>
            <a:r>
              <a:rPr b="1" i="1" lang="en">
                <a:solidFill>
                  <a:srgbClr val="FF0000"/>
                </a:solidFill>
              </a:rPr>
              <a:t>same</a:t>
            </a:r>
            <a:r>
              <a:rPr lang="en"/>
              <a:t> time.</a:t>
            </a:r>
            <a:endParaRPr/>
          </a:p>
          <a:p>
            <a:pPr indent="-298450" lvl="1" marL="914400" rtl="0" algn="l">
              <a:lnSpc>
                <a:spcPct val="115000"/>
              </a:lnSpc>
              <a:spcBef>
                <a:spcPts val="0"/>
              </a:spcBef>
              <a:spcAft>
                <a:spcPts val="0"/>
              </a:spcAft>
              <a:buSzPts val="1100"/>
              <a:buChar char="○"/>
            </a:pPr>
            <a:r>
              <a:rPr lang="en"/>
              <a:t>Each racer should run for 10 laps.</a:t>
            </a:r>
            <a:endParaRPr/>
          </a:p>
          <a:p>
            <a:pPr indent="-298450" lvl="1" marL="914400" rtl="0" algn="l">
              <a:lnSpc>
                <a:spcPct val="115000"/>
              </a:lnSpc>
              <a:spcBef>
                <a:spcPts val="0"/>
              </a:spcBef>
              <a:spcAft>
                <a:spcPts val="0"/>
              </a:spcAft>
              <a:buSzPts val="1100"/>
              <a:buChar char="○"/>
            </a:pPr>
            <a:r>
              <a:rPr lang="en"/>
              <a:t>I.E. We don't need to create all of them, then start all of them.</a:t>
            </a:r>
            <a:endParaRPr/>
          </a:p>
          <a:p>
            <a:pPr indent="-292100" lvl="2" marL="1371600" rtl="0" algn="l">
              <a:lnSpc>
                <a:spcPct val="115000"/>
              </a:lnSpc>
              <a:spcBef>
                <a:spcPts val="0"/>
              </a:spcBef>
              <a:spcAft>
                <a:spcPts val="0"/>
              </a:spcAft>
              <a:buSzPts val="1000"/>
              <a:buChar char="■"/>
            </a:pPr>
            <a:r>
              <a:rPr lang="en" sz="1000"/>
              <a:t>Yes this is </a:t>
            </a:r>
            <a:r>
              <a:rPr b="1" i="1" lang="en" sz="1000">
                <a:solidFill>
                  <a:srgbClr val="FF0000"/>
                </a:solidFill>
              </a:rPr>
              <a:t>unfair</a:t>
            </a:r>
            <a:r>
              <a:rPr lang="en" sz="1000"/>
              <a:t> but we'll deal with that later.</a:t>
            </a:r>
            <a:endParaRPr sz="1000"/>
          </a:p>
          <a:p>
            <a:pPr indent="-298450" lvl="1" marL="914400" rtl="0" algn="l">
              <a:lnSpc>
                <a:spcPct val="115000"/>
              </a:lnSpc>
              <a:spcBef>
                <a:spcPts val="0"/>
              </a:spcBef>
              <a:spcAft>
                <a:spcPts val="0"/>
              </a:spcAft>
              <a:buSzPts val="1100"/>
              <a:buChar char="○"/>
            </a:pPr>
            <a:r>
              <a:rPr lang="en"/>
              <a:t>Don't forget to call the </a:t>
            </a:r>
            <a:r>
              <a:rPr lang="en">
                <a:solidFill>
                  <a:srgbClr val="FF0000"/>
                </a:solidFill>
                <a:latin typeface="Courier New"/>
                <a:ea typeface="Courier New"/>
                <a:cs typeface="Courier New"/>
                <a:sym typeface="Courier New"/>
              </a:rPr>
              <a:t>start()</a:t>
            </a:r>
            <a:r>
              <a:rPr lang="en"/>
              <a:t> method on each thread.</a:t>
            </a:r>
            <a:endParaRPr/>
          </a:p>
          <a:p>
            <a:pPr indent="-311150" lvl="0" marL="457200" rtl="0" algn="l">
              <a:lnSpc>
                <a:spcPct val="115000"/>
              </a:lnSpc>
              <a:spcBef>
                <a:spcPts val="1000"/>
              </a:spcBef>
              <a:spcAft>
                <a:spcPts val="0"/>
              </a:spcAft>
              <a:buSzPts val="1300"/>
              <a:buChar char="●"/>
            </a:pPr>
            <a:r>
              <a:rPr lang="en"/>
              <a:t>While it appears to be quick, printing is actually pretty slow. When creating the racers, turn their </a:t>
            </a:r>
            <a:r>
              <a:rPr lang="en">
                <a:latin typeface="Courier New"/>
                <a:ea typeface="Courier New"/>
                <a:cs typeface="Courier New"/>
                <a:sym typeface="Courier New"/>
              </a:rPr>
              <a:t>debug</a:t>
            </a:r>
            <a:r>
              <a:rPr lang="en"/>
              <a:t> </a:t>
            </a:r>
            <a:r>
              <a:rPr b="1" i="1" lang="en">
                <a:solidFill>
                  <a:srgbClr val="FF0000"/>
                </a:solidFill>
              </a:rPr>
              <a:t>off</a:t>
            </a:r>
            <a:r>
              <a:rPr lang="en"/>
              <a:t>.</a:t>
            </a:r>
            <a:endParaRPr/>
          </a:p>
          <a:p>
            <a:pPr indent="-311150" lvl="0" marL="457200" rtl="0" algn="l">
              <a:lnSpc>
                <a:spcPct val="115000"/>
              </a:lnSpc>
              <a:spcBef>
                <a:spcPts val="0"/>
              </a:spcBef>
              <a:spcAft>
                <a:spcPts val="0"/>
              </a:spcAft>
              <a:buSzPts val="1300"/>
              <a:buChar char="●"/>
            </a:pPr>
            <a:r>
              <a:rPr lang="en"/>
              <a:t>Print that all the racers have started </a:t>
            </a:r>
            <a:r>
              <a:rPr b="1" i="1" lang="en">
                <a:solidFill>
                  <a:srgbClr val="FF0000"/>
                </a:solidFill>
              </a:rPr>
              <a:t>after</a:t>
            </a:r>
            <a:r>
              <a:rPr lang="en"/>
              <a:t> the for loop.</a:t>
            </a:r>
            <a:endParaRPr/>
          </a:p>
          <a:p>
            <a:pPr indent="-298450" lvl="1" marL="914400" rtl="0" algn="l">
              <a:lnSpc>
                <a:spcPct val="115000"/>
              </a:lnSpc>
              <a:spcBef>
                <a:spcPts val="0"/>
              </a:spcBef>
              <a:spcAft>
                <a:spcPts val="0"/>
              </a:spcAft>
              <a:buSzPts val="1100"/>
              <a:buChar char="○"/>
            </a:pPr>
            <a:r>
              <a:rPr lang="en"/>
              <a:t>This doesn't mean they all have finished but it's close enough for this activity.</a:t>
            </a:r>
            <a:endParaRPr/>
          </a:p>
          <a:p>
            <a:pPr indent="-298450" lvl="1" marL="914400" rtl="0" algn="l">
              <a:lnSpc>
                <a:spcPct val="115000"/>
              </a:lnSpc>
              <a:spcBef>
                <a:spcPts val="0"/>
              </a:spcBef>
              <a:spcAft>
                <a:spcPts val="0"/>
              </a:spcAft>
              <a:buSzPts val="1100"/>
              <a:buChar char="○"/>
            </a:pPr>
            <a:r>
              <a:rPr b="1" i="1" lang="en">
                <a:solidFill>
                  <a:srgbClr val="FF0000"/>
                </a:solidFill>
              </a:rPr>
              <a:t>Challenge</a:t>
            </a:r>
            <a:r>
              <a:rPr lang="en"/>
              <a:t>: Time how long it takes to run using </a:t>
            </a:r>
            <a:r>
              <a:rPr lang="en">
                <a:latin typeface="Courier New"/>
                <a:ea typeface="Courier New"/>
                <a:cs typeface="Courier New"/>
                <a:sym typeface="Courier New"/>
              </a:rPr>
              <a:t>System.nanoTime()</a:t>
            </a:r>
            <a:r>
              <a:rPr lang="en"/>
              <a:t>.</a:t>
            </a:r>
            <a:endParaRPr/>
          </a:p>
          <a:p>
            <a:pPr indent="-311150" lvl="0" marL="457200" rtl="0" algn="l">
              <a:lnSpc>
                <a:spcPct val="115000"/>
              </a:lnSpc>
              <a:spcBef>
                <a:spcPts val="1000"/>
              </a:spcBef>
              <a:spcAft>
                <a:spcPts val="0"/>
              </a:spcAft>
              <a:buSzPts val="1300"/>
              <a:buChar char="●"/>
            </a:pPr>
            <a:r>
              <a:rPr lang="en"/>
              <a:t>Execute your program and see how long it takes to finish.</a:t>
            </a:r>
            <a:endParaRPr/>
          </a:p>
          <a:p>
            <a:pPr indent="-298450" lvl="1" marL="914400" rtl="0" algn="l">
              <a:lnSpc>
                <a:spcPct val="115000"/>
              </a:lnSpc>
              <a:spcBef>
                <a:spcPts val="0"/>
              </a:spcBef>
              <a:spcAft>
                <a:spcPts val="0"/>
              </a:spcAft>
              <a:buSzPts val="1100"/>
              <a:buChar char="○"/>
            </a:pPr>
            <a:r>
              <a:rPr lang="en"/>
              <a:t>Warning: Your laptop fans might get a workout</a:t>
            </a:r>
            <a:endParaRPr/>
          </a:p>
        </p:txBody>
      </p:sp>
      <p:sp>
        <p:nvSpPr>
          <p:cNvPr id="484" name="Google Shape;484;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5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a:t>
            </a:r>
            <a:r>
              <a:rPr lang="en"/>
              <a:t>.9</a:t>
            </a:r>
            <a:endParaRPr/>
          </a:p>
        </p:txBody>
      </p:sp>
      <p:grpSp>
        <p:nvGrpSpPr>
          <p:cNvPr id="486" name="Google Shape;486;p53"/>
          <p:cNvGrpSpPr/>
          <p:nvPr/>
        </p:nvGrpSpPr>
        <p:grpSpPr>
          <a:xfrm>
            <a:off x="189000" y="2089525"/>
            <a:ext cx="2729426" cy="1535299"/>
            <a:chOff x="189000" y="1590700"/>
            <a:chExt cx="2729426" cy="1535299"/>
          </a:xfrm>
        </p:grpSpPr>
        <p:pic>
          <p:nvPicPr>
            <p:cNvPr id="487" name="Google Shape;487;p53"/>
            <p:cNvPicPr preferRelativeResize="0"/>
            <p:nvPr/>
          </p:nvPicPr>
          <p:blipFill>
            <a:blip r:embed="rId3">
              <a:alphaModFix/>
            </a:blip>
            <a:stretch>
              <a:fillRect/>
            </a:stretch>
          </p:blipFill>
          <p:spPr>
            <a:xfrm>
              <a:off x="189000" y="1590700"/>
              <a:ext cx="2729426" cy="1535299"/>
            </a:xfrm>
            <a:prstGeom prst="rect">
              <a:avLst/>
            </a:prstGeom>
            <a:noFill/>
            <a:ln cap="flat" cmpd="sng" w="19050">
              <a:solidFill>
                <a:schemeClr val="dk1"/>
              </a:solidFill>
              <a:prstDash val="solid"/>
              <a:round/>
              <a:headEnd len="sm" w="sm" type="none"/>
              <a:tailEnd len="sm" w="sm" type="none"/>
            </a:ln>
          </p:spPr>
        </p:pic>
        <p:sp>
          <p:nvSpPr>
            <p:cNvPr id="488" name="Google Shape;488;p53"/>
            <p:cNvSpPr/>
            <p:nvPr/>
          </p:nvSpPr>
          <p:spPr>
            <a:xfrm>
              <a:off x="2006400" y="1679400"/>
              <a:ext cx="626400" cy="670800"/>
            </a:xfrm>
            <a:prstGeom prst="rect">
              <a:avLst/>
            </a:prstGeom>
            <a:solidFill>
              <a:srgbClr val="AF199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489" name="Google Shape;489;p53"/>
            <p:cNvSpPr/>
            <p:nvPr/>
          </p:nvSpPr>
          <p:spPr>
            <a:xfrm>
              <a:off x="2009525" y="1685025"/>
              <a:ext cx="612100" cy="646501"/>
            </a:xfrm>
            <a:prstGeom prst="rect">
              <a:avLst/>
            </a:prstGeom>
          </p:spPr>
          <p:txBody>
            <a:bodyPr>
              <a:prstTxWarp prst="textPlain"/>
            </a:bodyPr>
            <a:lstStyle/>
            <a:p>
              <a:pPr lvl="0" algn="ctr"/>
              <a:r>
                <a:rPr b="1" i="0">
                  <a:ln cap="flat" cmpd="sng" w="9525">
                    <a:solidFill>
                      <a:srgbClr val="000000"/>
                    </a:solidFill>
                    <a:prstDash val="solid"/>
                    <a:round/>
                    <a:headEnd len="sm" w="sm" type="none"/>
                    <a:tailEnd len="sm" w="sm" type="none"/>
                  </a:ln>
                  <a:gradFill>
                    <a:gsLst>
                      <a:gs pos="0">
                        <a:srgbClr val="F7EDCD"/>
                      </a:gs>
                      <a:gs pos="100000">
                        <a:srgbClr val="F1C232"/>
                      </a:gs>
                    </a:gsLst>
                    <a:path path="circle">
                      <a:fillToRect b="100%" l="100%" r="0%" t="0%"/>
                    </a:path>
                    <a:tileRect b="0%" l="0%" r="-100%" t="-100%"/>
                  </a:gradFill>
                  <a:latin typeface="Impact"/>
                </a:rPr>
                <a:t>1M</a:t>
              </a: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4"/>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That took a while, but did it really need to?</a:t>
            </a:r>
            <a:endParaRPr/>
          </a:p>
          <a:p>
            <a:pPr indent="-298450" lvl="1" marL="914400" rtl="0" algn="l">
              <a:spcBef>
                <a:spcPts val="0"/>
              </a:spcBef>
              <a:spcAft>
                <a:spcPts val="0"/>
              </a:spcAft>
              <a:buSzPts val="1100"/>
              <a:buChar char="○"/>
            </a:pPr>
            <a:r>
              <a:rPr lang="en"/>
              <a:t>Most of the time in LotsORacers was from creating/tearing down the threads.</a:t>
            </a:r>
            <a:endParaRPr/>
          </a:p>
          <a:p>
            <a:pPr indent="-298450" lvl="1" marL="914400" rtl="0" algn="l">
              <a:spcBef>
                <a:spcPts val="0"/>
              </a:spcBef>
              <a:spcAft>
                <a:spcPts val="0"/>
              </a:spcAft>
              <a:buSzPts val="1100"/>
              <a:buChar char="○"/>
            </a:pPr>
            <a:r>
              <a:rPr lang="en"/>
              <a:t>Only a small amount was used for racing.</a:t>
            </a:r>
            <a:endParaRPr/>
          </a:p>
          <a:p>
            <a:pPr indent="-311150" lvl="0" marL="457200" rtl="0" algn="l">
              <a:spcBef>
                <a:spcPts val="1000"/>
              </a:spcBef>
              <a:spcAft>
                <a:spcPts val="0"/>
              </a:spcAft>
              <a:buSzPts val="1300"/>
              <a:buChar char="●"/>
            </a:pPr>
            <a:r>
              <a:rPr lang="en"/>
              <a:t>This is a common problem in Java which was fixed in Java 5 with Executors</a:t>
            </a:r>
            <a:endParaRPr/>
          </a:p>
          <a:p>
            <a:pPr indent="-311150" lvl="0" marL="457200" rtl="0" algn="l">
              <a:spcBef>
                <a:spcPts val="1000"/>
              </a:spcBef>
              <a:spcAft>
                <a:spcPts val="0"/>
              </a:spcAft>
              <a:buSzPts val="1300"/>
              <a:buChar char="●"/>
            </a:pPr>
            <a:r>
              <a:rPr lang="en"/>
              <a:t>An Executor is a construct for managing program execution via Threads.</a:t>
            </a:r>
            <a:endParaRPr/>
          </a:p>
          <a:p>
            <a:pPr indent="-311150" lvl="0" marL="457200" rtl="0" algn="l">
              <a:spcBef>
                <a:spcPts val="1000"/>
              </a:spcBef>
              <a:spcAft>
                <a:spcPts val="0"/>
              </a:spcAft>
              <a:buSzPts val="1300"/>
              <a:buChar char="●"/>
            </a:pPr>
            <a:r>
              <a:rPr lang="en"/>
              <a:t>Java provides a </a:t>
            </a:r>
            <a:r>
              <a:rPr lang="en"/>
              <a:t>convenient</a:t>
            </a:r>
            <a:r>
              <a:rPr lang="en"/>
              <a:t> ExecutorService class that allows for easy management of an Executor.</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submit</a:t>
            </a:r>
            <a:r>
              <a:rPr lang="en"/>
              <a:t> - Submits a task for execution.</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shutdown</a:t>
            </a:r>
            <a:r>
              <a:rPr lang="en"/>
              <a:t> -</a:t>
            </a:r>
            <a:r>
              <a:rPr lang="en"/>
              <a:t> stops the service after all </a:t>
            </a:r>
            <a:r>
              <a:rPr lang="en"/>
              <a:t>currently submitted tasks have finished.</a:t>
            </a:r>
            <a:r>
              <a:rPr lang="en"/>
              <a:t> New tasks cannot be submitted.</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shutdownNow</a:t>
            </a:r>
            <a:r>
              <a:rPr lang="en"/>
              <a:t> - Attempts to stop active tasks and stops the service.</a:t>
            </a:r>
            <a:endParaRPr/>
          </a:p>
          <a:p>
            <a:pPr indent="-298450" lvl="1" marL="914400" rtl="0" algn="l">
              <a:spcBef>
                <a:spcPts val="0"/>
              </a:spcBef>
              <a:spcAft>
                <a:spcPts val="0"/>
              </a:spcAft>
              <a:buSzPts val="1100"/>
              <a:buChar char="○"/>
            </a:pPr>
            <a:r>
              <a:rPr lang="en">
                <a:solidFill>
                  <a:srgbClr val="FF0000"/>
                </a:solidFill>
                <a:latin typeface="Courier New"/>
                <a:ea typeface="Courier New"/>
                <a:cs typeface="Courier New"/>
                <a:sym typeface="Courier New"/>
              </a:rPr>
              <a:t>awaitTermination</a:t>
            </a:r>
            <a:r>
              <a:rPr lang="en"/>
              <a:t> - blocks until the service has finished.</a:t>
            </a:r>
            <a:endParaRPr/>
          </a:p>
        </p:txBody>
      </p:sp>
      <p:sp>
        <p:nvSpPr>
          <p:cNvPr id="495" name="Google Shape;495;p5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6" name="Google Shape;496;p54"/>
          <p:cNvSpPr txBox="1"/>
          <p:nvPr>
            <p:ph idx="3" type="body"/>
          </p:nvPr>
        </p:nvSpPr>
        <p:spPr>
          <a:xfrm>
            <a:off x="5192225" y="3905116"/>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i="1" lang="en">
                <a:solidFill>
                  <a:srgbClr val="FF0000"/>
                </a:solidFill>
              </a:rPr>
              <a:t>Executors </a:t>
            </a:r>
            <a:r>
              <a:rPr lang="en"/>
              <a:t>and the </a:t>
            </a:r>
            <a:r>
              <a:rPr b="1" i="1" lang="en">
                <a:solidFill>
                  <a:srgbClr val="FF0000"/>
                </a:solidFill>
              </a:rPr>
              <a:t>ExcutorService </a:t>
            </a:r>
            <a:r>
              <a:rPr lang="en"/>
              <a:t>are the modern way to run tasks in Java.</a:t>
            </a:r>
            <a:endParaRPr/>
          </a:p>
        </p:txBody>
      </p:sp>
      <p:sp>
        <p:nvSpPr>
          <p:cNvPr id="497" name="Google Shape;497;p54"/>
          <p:cNvSpPr txBox="1"/>
          <p:nvPr>
            <p:ph type="title"/>
          </p:nvPr>
        </p:nvSpPr>
        <p:spPr>
          <a:xfrm>
            <a:off x="5264725" y="500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ExecutorService</a:t>
            </a:r>
            <a:endParaRPr/>
          </a:p>
        </p:txBody>
      </p:sp>
      <p:sp>
        <p:nvSpPr>
          <p:cNvPr id="498" name="Google Shape;498;p54"/>
          <p:cNvSpPr txBox="1"/>
          <p:nvPr>
            <p:ph idx="2" type="body"/>
          </p:nvPr>
        </p:nvSpPr>
        <p:spPr>
          <a:xfrm>
            <a:off x="5192225" y="1351636"/>
            <a:ext cx="3706500" cy="2340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1</a:t>
            </a:r>
            <a:r>
              <a:rPr lang="en" sz="1250">
                <a:solidFill>
                  <a:srgbClr val="267F99"/>
                </a:solidFill>
                <a:highlight>
                  <a:srgbClr val="FFFFFF"/>
                </a:highlight>
                <a:latin typeface="Consolas"/>
                <a:ea typeface="Consolas"/>
                <a:cs typeface="Consolas"/>
                <a:sym typeface="Consolas"/>
              </a:rPr>
              <a:t>  ExecutorService</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2</a:t>
            </a:r>
            <a:r>
              <a:rPr lang="en" sz="1250">
                <a:solidFill>
                  <a:srgbClr val="267F99"/>
                </a:solidFill>
                <a:highlight>
                  <a:srgbClr val="FFFFFF"/>
                </a:highlight>
                <a:latin typeface="Consolas"/>
                <a:ea typeface="Consolas"/>
                <a:cs typeface="Consolas"/>
                <a:sym typeface="Consolas"/>
              </a:rPr>
              <a:t>      Executors</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newCachedThreadPool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3</a:t>
            </a:r>
            <a:r>
              <a:rPr lang="en" sz="1250">
                <a:solidFill>
                  <a:srgbClr val="AF00DB"/>
                </a:solidFill>
                <a:highlight>
                  <a:srgbClr val="FFFFFF"/>
                </a:highlight>
                <a:latin typeface="Consolas"/>
                <a:ea typeface="Consolas"/>
                <a:cs typeface="Consolas"/>
                <a:sym typeface="Consolas"/>
              </a:rPr>
              <a:t>  for</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int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&lt;=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10</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4</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String</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A31515"/>
                </a:solidFill>
                <a:highlight>
                  <a:srgbClr val="FFFFFF"/>
                </a:highlight>
                <a:latin typeface="Consolas"/>
                <a:ea typeface="Consolas"/>
                <a:cs typeface="Consolas"/>
                <a:sym typeface="Consolas"/>
              </a:rPr>
              <a:t>"Task "</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submit</a:t>
            </a:r>
            <a:r>
              <a:rPr lang="en" sz="1250">
                <a:solidFill>
                  <a:srgbClr val="3B3B3B"/>
                </a:solidFill>
                <a:highlight>
                  <a:srgbClr val="FFFFFF"/>
                </a:highlight>
                <a:latin typeface="Consolas"/>
                <a:ea typeface="Consolas"/>
                <a:cs typeface="Consolas"/>
                <a:sym typeface="Consolas"/>
              </a:rPr>
              <a:t>(()</a:t>
            </a:r>
            <a:r>
              <a:rPr lang="en" sz="1250">
                <a:solidFill>
                  <a:srgbClr val="0000FF"/>
                </a:solidFill>
                <a:highlight>
                  <a:srgbClr val="FFFFFF"/>
                </a:highlight>
                <a:latin typeface="Consolas"/>
                <a:ea typeface="Consolas"/>
                <a:cs typeface="Consolas"/>
                <a:sym typeface="Consolas"/>
              </a:rPr>
              <a:t>-&gt;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6</a:t>
            </a:r>
            <a:r>
              <a:rPr lang="en" sz="1250">
                <a:solidFill>
                  <a:srgbClr val="267F99"/>
                </a:solidFill>
                <a:highlight>
                  <a:srgbClr val="FFFFFF"/>
                </a:highlight>
                <a:latin typeface="Consolas"/>
                <a:ea typeface="Consolas"/>
                <a:cs typeface="Consolas"/>
                <a:sym typeface="Consolas"/>
              </a:rPr>
              <a:t>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7</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8</a:t>
            </a:r>
            <a:r>
              <a:rPr lang="en" sz="1250">
                <a:solidFill>
                  <a:srgbClr val="001080"/>
                </a:solidFill>
                <a:highlight>
                  <a:srgbClr val="FFFFFF"/>
                </a:highlight>
                <a:latin typeface="Consolas"/>
                <a:ea typeface="Consolas"/>
                <a:cs typeface="Consolas"/>
                <a:sym typeface="Consolas"/>
              </a:rPr>
              <a:t>  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shutdown</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sz="1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04" name="Google Shape;504;p55"/>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ExecutorService in Detail</a:t>
            </a:r>
            <a:endParaRPr/>
          </a:p>
        </p:txBody>
      </p:sp>
      <p:sp>
        <p:nvSpPr>
          <p:cNvPr id="505" name="Google Shape;505;p55"/>
          <p:cNvSpPr txBox="1"/>
          <p:nvPr>
            <p:ph idx="4294967295" type="body"/>
          </p:nvPr>
        </p:nvSpPr>
        <p:spPr>
          <a:xfrm>
            <a:off x="2718750" y="1834886"/>
            <a:ext cx="3706500" cy="23409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1</a:t>
            </a:r>
            <a:r>
              <a:rPr lang="en" sz="1250">
                <a:solidFill>
                  <a:srgbClr val="267F99"/>
                </a:solidFill>
                <a:highlight>
                  <a:srgbClr val="FFFFFF"/>
                </a:highlight>
                <a:latin typeface="Consolas"/>
                <a:ea typeface="Consolas"/>
                <a:cs typeface="Consolas"/>
                <a:sym typeface="Consolas"/>
              </a:rPr>
              <a:t>  ExecutorService</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2</a:t>
            </a:r>
            <a:r>
              <a:rPr lang="en" sz="1250">
                <a:solidFill>
                  <a:srgbClr val="267F99"/>
                </a:solidFill>
                <a:highlight>
                  <a:srgbClr val="FFFFFF"/>
                </a:highlight>
                <a:latin typeface="Consolas"/>
                <a:ea typeface="Consolas"/>
                <a:cs typeface="Consolas"/>
                <a:sym typeface="Consolas"/>
              </a:rPr>
              <a:t>      Executors</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newCachedThreadPool</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3</a:t>
            </a:r>
            <a:r>
              <a:rPr lang="en" sz="1250">
                <a:solidFill>
                  <a:srgbClr val="AF00DB"/>
                </a:solidFill>
                <a:highlight>
                  <a:srgbClr val="FFFFFF"/>
                </a:highlight>
                <a:latin typeface="Consolas"/>
                <a:ea typeface="Consolas"/>
                <a:cs typeface="Consolas"/>
                <a:sym typeface="Consolas"/>
              </a:rPr>
              <a:t>  for</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int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&lt;=</a:t>
            </a:r>
            <a:r>
              <a:rPr lang="en" sz="1250">
                <a:solidFill>
                  <a:srgbClr val="3B3B3B"/>
                </a:solidFill>
                <a:highlight>
                  <a:srgbClr val="FFFFFF"/>
                </a:highlight>
                <a:latin typeface="Consolas"/>
                <a:ea typeface="Consolas"/>
                <a:cs typeface="Consolas"/>
                <a:sym typeface="Consolas"/>
              </a:rPr>
              <a:t> </a:t>
            </a:r>
            <a:r>
              <a:rPr lang="en" sz="1250">
                <a:solidFill>
                  <a:srgbClr val="098658"/>
                </a:solidFill>
                <a:highlight>
                  <a:srgbClr val="FFFFFF"/>
                </a:highlight>
                <a:latin typeface="Consolas"/>
                <a:ea typeface="Consolas"/>
                <a:cs typeface="Consolas"/>
                <a:sym typeface="Consolas"/>
              </a:rPr>
              <a:t>10</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4</a:t>
            </a:r>
            <a:r>
              <a:rPr lang="en" sz="1250">
                <a:solidFill>
                  <a:srgbClr val="3B3B3B"/>
                </a:solidFill>
                <a:highlight>
                  <a:srgbClr val="FFFFFF"/>
                </a:highlight>
                <a:latin typeface="Consolas"/>
                <a:ea typeface="Consolas"/>
                <a:cs typeface="Consolas"/>
                <a:sym typeface="Consolas"/>
              </a:rPr>
              <a:t>     </a:t>
            </a:r>
            <a:r>
              <a:rPr lang="en" sz="1250">
                <a:solidFill>
                  <a:srgbClr val="267F99"/>
                </a:solidFill>
                <a:highlight>
                  <a:srgbClr val="FFFFFF"/>
                </a:highlight>
                <a:latin typeface="Consolas"/>
                <a:ea typeface="Consolas"/>
                <a:cs typeface="Consolas"/>
                <a:sym typeface="Consolas"/>
              </a:rPr>
              <a:t>String</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A31515"/>
                </a:solidFill>
                <a:highlight>
                  <a:srgbClr val="FFFFFF"/>
                </a:highlight>
                <a:latin typeface="Consolas"/>
                <a:ea typeface="Consolas"/>
                <a:cs typeface="Consolas"/>
                <a:sym typeface="Consolas"/>
              </a:rPr>
              <a:t>"Task "</a:t>
            </a:r>
            <a:r>
              <a:rPr lang="en" sz="1250">
                <a:solidFill>
                  <a:srgbClr val="3B3B3B"/>
                </a:solidFill>
                <a:highlight>
                  <a:srgbClr val="FFFFFF"/>
                </a:highlight>
                <a:latin typeface="Consolas"/>
                <a:ea typeface="Consolas"/>
                <a:cs typeface="Consolas"/>
                <a:sym typeface="Consolas"/>
              </a:rPr>
              <a:t> </a:t>
            </a:r>
            <a:r>
              <a:rPr lang="en" sz="1250">
                <a:solidFill>
                  <a:srgbClr val="000000"/>
                </a:solidFill>
                <a:highlight>
                  <a:srgbClr val="FFFFFF"/>
                </a:highlight>
                <a:latin typeface="Consolas"/>
                <a:ea typeface="Consolas"/>
                <a:cs typeface="Consolas"/>
                <a:sym typeface="Consolas"/>
              </a:rPr>
              <a:t>+</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i</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5</a:t>
            </a:r>
            <a:r>
              <a:rPr lang="en" sz="1250">
                <a:solidFill>
                  <a:srgbClr val="3B3B3B"/>
                </a:solidFill>
                <a:highlight>
                  <a:srgbClr val="FFFFFF"/>
                </a:highlight>
                <a:latin typeface="Consolas"/>
                <a:ea typeface="Consolas"/>
                <a:cs typeface="Consolas"/>
                <a:sym typeface="Consolas"/>
              </a:rPr>
              <a:t>     </a:t>
            </a:r>
            <a:r>
              <a:rPr lang="en" sz="1250">
                <a:solidFill>
                  <a:srgbClr val="001080"/>
                </a:solidFill>
                <a:highlight>
                  <a:srgbClr val="FFFFFF"/>
                </a:highlight>
                <a:latin typeface="Consolas"/>
                <a:ea typeface="Consolas"/>
                <a:cs typeface="Consolas"/>
                <a:sym typeface="Consolas"/>
              </a:rPr>
              <a:t>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submit</a:t>
            </a:r>
            <a:r>
              <a:rPr lang="en" sz="1250">
                <a:solidFill>
                  <a:srgbClr val="3B3B3B"/>
                </a:solidFill>
                <a:highlight>
                  <a:srgbClr val="FFFFFF"/>
                </a:highlight>
                <a:latin typeface="Consolas"/>
                <a:ea typeface="Consolas"/>
                <a:cs typeface="Consolas"/>
                <a:sym typeface="Consolas"/>
              </a:rPr>
              <a:t>(()</a:t>
            </a:r>
            <a:r>
              <a:rPr lang="en" sz="1250">
                <a:solidFill>
                  <a:srgbClr val="0000FF"/>
                </a:solidFill>
                <a:highlight>
                  <a:srgbClr val="FFFFFF"/>
                </a:highlight>
                <a:latin typeface="Consolas"/>
                <a:ea typeface="Consolas"/>
                <a:cs typeface="Consolas"/>
                <a:sym typeface="Consolas"/>
              </a:rPr>
              <a:t>-&gt;</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6</a:t>
            </a:r>
            <a:r>
              <a:rPr lang="en" sz="1250">
                <a:solidFill>
                  <a:srgbClr val="267F99"/>
                </a:solidFill>
                <a:highlight>
                  <a:srgbClr val="FFFFFF"/>
                </a:highlight>
                <a:latin typeface="Consolas"/>
                <a:ea typeface="Consolas"/>
                <a:cs typeface="Consolas"/>
                <a:sym typeface="Consolas"/>
              </a:rPr>
              <a:t>         System</a:t>
            </a:r>
            <a:r>
              <a:rPr lang="en" sz="1250">
                <a:solidFill>
                  <a:srgbClr val="3B3B3B"/>
                </a:solidFill>
                <a:highlight>
                  <a:srgbClr val="FFFFFF"/>
                </a:highlight>
                <a:latin typeface="Consolas"/>
                <a:ea typeface="Consolas"/>
                <a:cs typeface="Consolas"/>
                <a:sym typeface="Consolas"/>
              </a:rPr>
              <a:t>.</a:t>
            </a:r>
            <a:r>
              <a:rPr lang="en" sz="1250">
                <a:solidFill>
                  <a:srgbClr val="0070C1"/>
                </a:solidFill>
                <a:highlight>
                  <a:srgbClr val="FFFFFF"/>
                </a:highlight>
                <a:latin typeface="Consolas"/>
                <a:ea typeface="Consolas"/>
                <a:cs typeface="Consolas"/>
                <a:sym typeface="Consolas"/>
              </a:rPr>
              <a:t>out</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println</a:t>
            </a:r>
            <a:r>
              <a:rPr lang="en" sz="1250">
                <a:solidFill>
                  <a:srgbClr val="3B3B3B"/>
                </a:solidFill>
                <a:highlight>
                  <a:srgbClr val="FFFFFF"/>
                </a:highlight>
                <a:latin typeface="Consolas"/>
                <a:ea typeface="Consolas"/>
                <a:cs typeface="Consolas"/>
                <a:sym typeface="Consolas"/>
              </a:rPr>
              <a:t>(</a:t>
            </a:r>
            <a:r>
              <a:rPr lang="en" sz="1250">
                <a:solidFill>
                  <a:srgbClr val="001080"/>
                </a:solidFill>
                <a:highlight>
                  <a:srgbClr val="FFFFFF"/>
                </a:highlight>
                <a:latin typeface="Consolas"/>
                <a:ea typeface="Consolas"/>
                <a:cs typeface="Consolas"/>
                <a:sym typeface="Consolas"/>
              </a:rPr>
              <a:t>name</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7</a:t>
            </a:r>
            <a:r>
              <a:rPr lang="en" sz="1250">
                <a:solidFill>
                  <a:srgbClr val="3B3B3B"/>
                </a:solidFill>
                <a:highlight>
                  <a:srgbClr val="FFFFFF"/>
                </a:highlight>
                <a:latin typeface="Consolas"/>
                <a:ea typeface="Consolas"/>
                <a:cs typeface="Consolas"/>
                <a:sym typeface="Consolas"/>
              </a:rPr>
              <a:t>  }</a:t>
            </a:r>
            <a:endParaRPr sz="125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250">
                <a:solidFill>
                  <a:srgbClr val="008000"/>
                </a:solidFill>
                <a:highlight>
                  <a:srgbClr val="FFFFFF"/>
                </a:highlight>
                <a:latin typeface="Consolas"/>
                <a:ea typeface="Consolas"/>
                <a:cs typeface="Consolas"/>
                <a:sym typeface="Consolas"/>
              </a:rPr>
              <a:t>8</a:t>
            </a:r>
            <a:r>
              <a:rPr lang="en" sz="1250">
                <a:solidFill>
                  <a:srgbClr val="001080"/>
                </a:solidFill>
                <a:highlight>
                  <a:srgbClr val="FFFFFF"/>
                </a:highlight>
                <a:latin typeface="Consolas"/>
                <a:ea typeface="Consolas"/>
                <a:cs typeface="Consolas"/>
                <a:sym typeface="Consolas"/>
              </a:rPr>
              <a:t>  exservice</a:t>
            </a:r>
            <a:r>
              <a:rPr lang="en" sz="1250">
                <a:solidFill>
                  <a:srgbClr val="3B3B3B"/>
                </a:solidFill>
                <a:highlight>
                  <a:srgbClr val="FFFFFF"/>
                </a:highlight>
                <a:latin typeface="Consolas"/>
                <a:ea typeface="Consolas"/>
                <a:cs typeface="Consolas"/>
                <a:sym typeface="Consolas"/>
              </a:rPr>
              <a:t>.</a:t>
            </a:r>
            <a:r>
              <a:rPr lang="en" sz="1250">
                <a:solidFill>
                  <a:srgbClr val="795E26"/>
                </a:solidFill>
                <a:highlight>
                  <a:srgbClr val="FFFFFF"/>
                </a:highlight>
                <a:latin typeface="Consolas"/>
                <a:ea typeface="Consolas"/>
                <a:cs typeface="Consolas"/>
                <a:sym typeface="Consolas"/>
              </a:rPr>
              <a:t>shutdown</a:t>
            </a:r>
            <a:r>
              <a:rPr lang="en" sz="1250">
                <a:solidFill>
                  <a:srgbClr val="3B3B3B"/>
                </a:solidFill>
                <a:highlight>
                  <a:srgbClr val="FFFFFF"/>
                </a:highlight>
                <a:latin typeface="Consolas"/>
                <a:ea typeface="Consolas"/>
                <a:cs typeface="Consolas"/>
                <a:sym typeface="Consolas"/>
              </a:rPr>
              <a:t>();</a:t>
            </a:r>
            <a:endParaRPr sz="1250">
              <a:solidFill>
                <a:srgbClr val="3B3B3B"/>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sz="1500"/>
          </a:p>
        </p:txBody>
      </p:sp>
      <p:sp>
        <p:nvSpPr>
          <p:cNvPr id="506" name="Google Shape;506;p55"/>
          <p:cNvSpPr txBox="1"/>
          <p:nvPr/>
        </p:nvSpPr>
        <p:spPr>
          <a:xfrm>
            <a:off x="121025" y="1458575"/>
            <a:ext cx="2423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Create an </a:t>
            </a:r>
            <a:r>
              <a:rPr b="1" i="1" lang="en" sz="1200">
                <a:solidFill>
                  <a:srgbClr val="FF0000"/>
                </a:solidFill>
                <a:latin typeface="Roboto"/>
                <a:ea typeface="Roboto"/>
                <a:cs typeface="Roboto"/>
                <a:sym typeface="Roboto"/>
              </a:rPr>
              <a:t>ExecutorService</a:t>
            </a:r>
            <a:r>
              <a:rPr lang="en" sz="1200">
                <a:latin typeface="Roboto"/>
                <a:ea typeface="Roboto"/>
                <a:cs typeface="Roboto"/>
                <a:sym typeface="Roboto"/>
              </a:rPr>
              <a:t> which has several </a:t>
            </a:r>
            <a:r>
              <a:rPr lang="en" sz="1200">
                <a:latin typeface="Roboto"/>
                <a:ea typeface="Roboto"/>
                <a:cs typeface="Roboto"/>
                <a:sym typeface="Roboto"/>
              </a:rPr>
              <a:t>implementations</a:t>
            </a:r>
            <a:r>
              <a:rPr lang="en" sz="1200">
                <a:latin typeface="Roboto"/>
                <a:ea typeface="Roboto"/>
                <a:cs typeface="Roboto"/>
                <a:sym typeface="Roboto"/>
              </a:rPr>
              <a:t>.</a:t>
            </a:r>
            <a:endParaRPr sz="1200">
              <a:latin typeface="Roboto"/>
              <a:ea typeface="Roboto"/>
              <a:cs typeface="Roboto"/>
              <a:sym typeface="Roboto"/>
            </a:endParaRPr>
          </a:p>
        </p:txBody>
      </p:sp>
      <p:sp>
        <p:nvSpPr>
          <p:cNvPr id="507" name="Google Shape;507;p55"/>
          <p:cNvSpPr/>
          <p:nvPr/>
        </p:nvSpPr>
        <p:spPr>
          <a:xfrm>
            <a:off x="3015150" y="1917736"/>
            <a:ext cx="3237000" cy="4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508" name="Google Shape;508;p55"/>
          <p:cNvCxnSpPr>
            <a:stCxn id="506" idx="3"/>
            <a:endCxn id="507" idx="0"/>
          </p:cNvCxnSpPr>
          <p:nvPr/>
        </p:nvCxnSpPr>
        <p:spPr>
          <a:xfrm>
            <a:off x="2544125" y="1735625"/>
            <a:ext cx="2089500" cy="182100"/>
          </a:xfrm>
          <a:prstGeom prst="bentConnector2">
            <a:avLst/>
          </a:prstGeom>
          <a:noFill/>
          <a:ln cap="flat" cmpd="sng" w="19050">
            <a:solidFill>
              <a:srgbClr val="FF0000"/>
            </a:solidFill>
            <a:prstDash val="solid"/>
            <a:round/>
            <a:headEnd len="med" w="med" type="none"/>
            <a:tailEnd len="med" w="med" type="none"/>
          </a:ln>
        </p:spPr>
      </p:cxnSp>
      <p:sp>
        <p:nvSpPr>
          <p:cNvPr id="509" name="Google Shape;509;p55"/>
          <p:cNvSpPr txBox="1"/>
          <p:nvPr/>
        </p:nvSpPr>
        <p:spPr>
          <a:xfrm>
            <a:off x="121025" y="2774900"/>
            <a:ext cx="2423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rgbClr val="FF0000"/>
                </a:solidFill>
                <a:latin typeface="Roboto"/>
                <a:ea typeface="Roboto"/>
                <a:cs typeface="Roboto"/>
                <a:sym typeface="Roboto"/>
              </a:rPr>
              <a:t>Submit tasks</a:t>
            </a:r>
            <a:r>
              <a:rPr lang="en" sz="1200">
                <a:latin typeface="Roboto"/>
                <a:ea typeface="Roboto"/>
                <a:cs typeface="Roboto"/>
                <a:sym typeface="Roboto"/>
              </a:rPr>
              <a:t> to the executor service.</a:t>
            </a:r>
            <a:endParaRPr sz="1200">
              <a:latin typeface="Roboto"/>
              <a:ea typeface="Roboto"/>
              <a:cs typeface="Roboto"/>
              <a:sym typeface="Roboto"/>
            </a:endParaRPr>
          </a:p>
        </p:txBody>
      </p:sp>
      <p:sp>
        <p:nvSpPr>
          <p:cNvPr id="510" name="Google Shape;510;p55"/>
          <p:cNvSpPr/>
          <p:nvPr/>
        </p:nvSpPr>
        <p:spPr>
          <a:xfrm>
            <a:off x="3015150" y="2951408"/>
            <a:ext cx="3237000" cy="487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511" name="Google Shape;511;p55"/>
          <p:cNvCxnSpPr>
            <a:stCxn id="509" idx="3"/>
            <a:endCxn id="510" idx="1"/>
          </p:cNvCxnSpPr>
          <p:nvPr/>
        </p:nvCxnSpPr>
        <p:spPr>
          <a:xfrm>
            <a:off x="2544125" y="3051950"/>
            <a:ext cx="471000" cy="143400"/>
          </a:xfrm>
          <a:prstGeom prst="bentConnector3">
            <a:avLst>
              <a:gd fmla="val 50003" name="adj1"/>
            </a:avLst>
          </a:prstGeom>
          <a:noFill/>
          <a:ln cap="flat" cmpd="sng" w="19050">
            <a:solidFill>
              <a:srgbClr val="FF0000"/>
            </a:solidFill>
            <a:prstDash val="solid"/>
            <a:round/>
            <a:headEnd len="med" w="med" type="none"/>
            <a:tailEnd len="med" w="med" type="none"/>
          </a:ln>
        </p:spPr>
      </p:cxnSp>
      <p:sp>
        <p:nvSpPr>
          <p:cNvPr id="512" name="Google Shape;512;p55"/>
          <p:cNvSpPr txBox="1"/>
          <p:nvPr/>
        </p:nvSpPr>
        <p:spPr>
          <a:xfrm>
            <a:off x="121025" y="4091225"/>
            <a:ext cx="2423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rgbClr val="FF0000"/>
                </a:solidFill>
                <a:latin typeface="Roboto"/>
                <a:ea typeface="Roboto"/>
                <a:cs typeface="Roboto"/>
                <a:sym typeface="Roboto"/>
              </a:rPr>
              <a:t>Stop</a:t>
            </a:r>
            <a:r>
              <a:rPr lang="en" sz="1200">
                <a:latin typeface="Roboto"/>
                <a:ea typeface="Roboto"/>
                <a:cs typeface="Roboto"/>
                <a:sym typeface="Roboto"/>
              </a:rPr>
              <a:t> the executor service after all tasks have started.</a:t>
            </a:r>
            <a:endParaRPr sz="1200">
              <a:latin typeface="Roboto"/>
              <a:ea typeface="Roboto"/>
              <a:cs typeface="Roboto"/>
              <a:sym typeface="Roboto"/>
            </a:endParaRPr>
          </a:p>
        </p:txBody>
      </p:sp>
      <p:sp>
        <p:nvSpPr>
          <p:cNvPr id="513" name="Google Shape;513;p55"/>
          <p:cNvSpPr/>
          <p:nvPr/>
        </p:nvSpPr>
        <p:spPr>
          <a:xfrm>
            <a:off x="3015150" y="3691308"/>
            <a:ext cx="3237000" cy="304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cxnSp>
        <p:nvCxnSpPr>
          <p:cNvPr id="514" name="Google Shape;514;p55"/>
          <p:cNvCxnSpPr>
            <a:stCxn id="512" idx="3"/>
            <a:endCxn id="513" idx="2"/>
          </p:cNvCxnSpPr>
          <p:nvPr/>
        </p:nvCxnSpPr>
        <p:spPr>
          <a:xfrm flipH="1" rot="10800000">
            <a:off x="2544125" y="3995975"/>
            <a:ext cx="2089500" cy="372300"/>
          </a:xfrm>
          <a:prstGeom prst="bentConnector2">
            <a:avLst/>
          </a:prstGeom>
          <a:noFill/>
          <a:ln cap="flat" cmpd="sng" w="19050">
            <a:solidFill>
              <a:srgbClr val="FF0000"/>
            </a:solidFill>
            <a:prstDash val="solid"/>
            <a:round/>
            <a:headEnd len="med" w="med" type="none"/>
            <a:tailEnd len="med" w="med" type="none"/>
          </a:ln>
        </p:spPr>
      </p:cxnSp>
      <p:sp>
        <p:nvSpPr>
          <p:cNvPr id="515" name="Google Shape;515;p55"/>
          <p:cNvSpPr txBox="1"/>
          <p:nvPr/>
        </p:nvSpPr>
        <p:spPr>
          <a:xfrm>
            <a:off x="6598050" y="2173525"/>
            <a:ext cx="2423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We're using a </a:t>
            </a:r>
            <a:r>
              <a:rPr b="1" i="1" lang="en" sz="1200">
                <a:solidFill>
                  <a:srgbClr val="FF0000"/>
                </a:solidFill>
                <a:latin typeface="Roboto"/>
                <a:ea typeface="Roboto"/>
                <a:cs typeface="Roboto"/>
                <a:sym typeface="Roboto"/>
              </a:rPr>
              <a:t>cached thread pool</a:t>
            </a:r>
            <a:r>
              <a:rPr lang="en" sz="1200">
                <a:latin typeface="Roboto"/>
                <a:ea typeface="Roboto"/>
                <a:cs typeface="Roboto"/>
                <a:sym typeface="Roboto"/>
              </a:rPr>
              <a:t> for our executor service.</a:t>
            </a:r>
            <a:endParaRPr sz="1200">
              <a:latin typeface="Roboto"/>
              <a:ea typeface="Roboto"/>
              <a:cs typeface="Roboto"/>
              <a:sym typeface="Roboto"/>
            </a:endParaRPr>
          </a:p>
        </p:txBody>
      </p:sp>
      <p:sp>
        <p:nvSpPr>
          <p:cNvPr id="516" name="Google Shape;516;p55"/>
          <p:cNvSpPr txBox="1"/>
          <p:nvPr/>
        </p:nvSpPr>
        <p:spPr>
          <a:xfrm>
            <a:off x="6598050" y="3395650"/>
            <a:ext cx="24231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Tasks can be submitted as </a:t>
            </a:r>
            <a:r>
              <a:rPr b="1" i="1" lang="en" sz="1200">
                <a:solidFill>
                  <a:srgbClr val="FF0000"/>
                </a:solidFill>
                <a:latin typeface="Roboto"/>
                <a:ea typeface="Roboto"/>
                <a:cs typeface="Roboto"/>
                <a:sym typeface="Roboto"/>
              </a:rPr>
              <a:t>lambdas</a:t>
            </a:r>
            <a:r>
              <a:rPr lang="en" sz="1200">
                <a:latin typeface="Roboto"/>
                <a:ea typeface="Roboto"/>
                <a:cs typeface="Roboto"/>
                <a:sym typeface="Roboto"/>
              </a:rPr>
              <a:t> or </a:t>
            </a:r>
            <a:r>
              <a:rPr b="1" i="1" lang="en" sz="1200">
                <a:solidFill>
                  <a:srgbClr val="FF0000"/>
                </a:solidFill>
                <a:latin typeface="Roboto"/>
                <a:ea typeface="Roboto"/>
                <a:cs typeface="Roboto"/>
                <a:sym typeface="Roboto"/>
              </a:rPr>
              <a:t>Runnables</a:t>
            </a:r>
            <a:r>
              <a:rPr lang="en" sz="1200">
                <a:latin typeface="Roboto"/>
                <a:ea typeface="Roboto"/>
                <a:cs typeface="Roboto"/>
                <a:sym typeface="Roboto"/>
              </a:rPr>
              <a:t>.</a:t>
            </a:r>
            <a:endParaRPr sz="12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08"/>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5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5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Executor Implementations</a:t>
            </a:r>
            <a:endParaRPr/>
          </a:p>
        </p:txBody>
      </p:sp>
      <p:sp>
        <p:nvSpPr>
          <p:cNvPr id="522" name="Google Shape;522;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3" name="Google Shape;523;p56"/>
          <p:cNvSpPr txBox="1"/>
          <p:nvPr/>
        </p:nvSpPr>
        <p:spPr>
          <a:xfrm>
            <a:off x="315925" y="1612875"/>
            <a:ext cx="3614700" cy="504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a:solidFill>
                  <a:srgbClr val="4A6782"/>
                </a:solidFill>
                <a:uFill>
                  <a:noFill/>
                </a:uFill>
                <a:latin typeface="Courier New"/>
                <a:ea typeface="Courier New"/>
                <a:cs typeface="Courier New"/>
                <a:sym typeface="Courier New"/>
                <a:hlinkClick r:id="rId3">
                  <a:extLst>
                    <a:ext uri="{A12FA001-AC4F-418D-AE19-62706E023703}">
                      <ahyp:hlinkClr val="tx"/>
                    </a:ext>
                  </a:extLst>
                </a:hlinkClick>
              </a:rPr>
              <a:t>newCachedThreadPool</a:t>
            </a:r>
            <a:r>
              <a:rPr lang="en">
                <a:solidFill>
                  <a:srgbClr val="353833"/>
                </a:solidFill>
                <a:latin typeface="Courier New"/>
                <a:ea typeface="Courier New"/>
                <a:cs typeface="Courier New"/>
                <a:sym typeface="Courier New"/>
              </a:rPr>
              <a:t>()</a:t>
            </a:r>
            <a:endParaRPr>
              <a:solidFill>
                <a:schemeClr val="dk2"/>
              </a:solidFill>
              <a:latin typeface="Roboto"/>
              <a:ea typeface="Roboto"/>
              <a:cs typeface="Roboto"/>
              <a:sym typeface="Roboto"/>
            </a:endParaRPr>
          </a:p>
        </p:txBody>
      </p:sp>
      <p:sp>
        <p:nvSpPr>
          <p:cNvPr id="524" name="Google Shape;524;p56"/>
          <p:cNvSpPr txBox="1"/>
          <p:nvPr/>
        </p:nvSpPr>
        <p:spPr>
          <a:xfrm>
            <a:off x="315925" y="2638900"/>
            <a:ext cx="3610500" cy="7389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a:solidFill>
                  <a:srgbClr val="4A6782"/>
                </a:solidFill>
                <a:uFill>
                  <a:noFill/>
                </a:uFill>
                <a:latin typeface="Courier New"/>
                <a:ea typeface="Courier New"/>
                <a:cs typeface="Courier New"/>
                <a:sym typeface="Courier New"/>
                <a:hlinkClick r:id="rId4">
                  <a:extLst>
                    <a:ext uri="{A12FA001-AC4F-418D-AE19-62706E023703}">
                      <ahyp:hlinkClr val="tx"/>
                    </a:ext>
                  </a:extLst>
                </a:hlinkClick>
              </a:rPr>
              <a:t>newFixedThreadPool</a:t>
            </a:r>
            <a:r>
              <a:rPr lang="en">
                <a:solidFill>
                  <a:srgbClr val="353833"/>
                </a:solidFill>
                <a:latin typeface="Courier New"/>
                <a:ea typeface="Courier New"/>
                <a:cs typeface="Courier New"/>
                <a:sym typeface="Courier New"/>
              </a:rPr>
              <a:t>(int nThreads)</a:t>
            </a:r>
            <a:endParaRPr b="1">
              <a:solidFill>
                <a:schemeClr val="dk2"/>
              </a:solidFill>
              <a:highlight>
                <a:srgbClr val="EEEEEF"/>
              </a:highlight>
              <a:latin typeface="Courier New"/>
              <a:ea typeface="Courier New"/>
              <a:cs typeface="Courier New"/>
              <a:sym typeface="Courier New"/>
            </a:endParaRPr>
          </a:p>
        </p:txBody>
      </p:sp>
      <p:sp>
        <p:nvSpPr>
          <p:cNvPr id="525" name="Google Shape;525;p56"/>
          <p:cNvSpPr txBox="1"/>
          <p:nvPr/>
        </p:nvSpPr>
        <p:spPr>
          <a:xfrm>
            <a:off x="315925" y="3899525"/>
            <a:ext cx="3610500" cy="5043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b="1" lang="en">
                <a:solidFill>
                  <a:srgbClr val="4A6782"/>
                </a:solidFill>
                <a:uFill>
                  <a:noFill/>
                </a:uFill>
                <a:latin typeface="Courier New"/>
                <a:ea typeface="Courier New"/>
                <a:cs typeface="Courier New"/>
                <a:sym typeface="Courier New"/>
                <a:hlinkClick r:id="rId5">
                  <a:extLst>
                    <a:ext uri="{A12FA001-AC4F-418D-AE19-62706E023703}">
                      <ahyp:hlinkClr val="tx"/>
                    </a:ext>
                  </a:extLst>
                </a:hlinkClick>
              </a:rPr>
              <a:t>newSingleThreadExecutor</a:t>
            </a:r>
            <a:r>
              <a:rPr lang="en">
                <a:solidFill>
                  <a:srgbClr val="353833"/>
                </a:solidFill>
                <a:latin typeface="Courier New"/>
                <a:ea typeface="Courier New"/>
                <a:cs typeface="Courier New"/>
                <a:sym typeface="Courier New"/>
              </a:rPr>
              <a:t>()</a:t>
            </a:r>
            <a:endParaRPr b="1">
              <a:solidFill>
                <a:schemeClr val="dk2"/>
              </a:solidFill>
              <a:highlight>
                <a:srgbClr val="EEEEEF"/>
              </a:highlight>
              <a:latin typeface="Courier New"/>
              <a:ea typeface="Courier New"/>
              <a:cs typeface="Courier New"/>
              <a:sym typeface="Courier New"/>
            </a:endParaRPr>
          </a:p>
        </p:txBody>
      </p:sp>
      <p:sp>
        <p:nvSpPr>
          <p:cNvPr id="526" name="Google Shape;526;p56"/>
          <p:cNvSpPr txBox="1"/>
          <p:nvPr/>
        </p:nvSpPr>
        <p:spPr>
          <a:xfrm>
            <a:off x="3926525" y="1587975"/>
            <a:ext cx="45459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Adds threads to </a:t>
            </a:r>
            <a:r>
              <a:rPr b="1" i="1" lang="en" sz="1200">
                <a:solidFill>
                  <a:srgbClr val="FF0000"/>
                </a:solidFill>
                <a:latin typeface="Roboto"/>
                <a:ea typeface="Roboto"/>
                <a:cs typeface="Roboto"/>
                <a:sym typeface="Roboto"/>
              </a:rPr>
              <a:t>manage all current tasks</a:t>
            </a:r>
            <a:r>
              <a:rPr lang="en" sz="1200">
                <a:latin typeface="Roboto"/>
                <a:ea typeface="Roboto"/>
                <a:cs typeface="Roboto"/>
                <a:sym typeface="Roboto"/>
              </a:rPr>
              <a:t> but </a:t>
            </a:r>
            <a:r>
              <a:rPr b="1" i="1" lang="en" sz="1200">
                <a:solidFill>
                  <a:srgbClr val="FF0000"/>
                </a:solidFill>
                <a:latin typeface="Roboto"/>
                <a:ea typeface="Roboto"/>
                <a:cs typeface="Roboto"/>
                <a:sym typeface="Roboto"/>
              </a:rPr>
              <a:t>reuses threads</a:t>
            </a:r>
            <a:r>
              <a:rPr lang="en" sz="1200">
                <a:latin typeface="Roboto"/>
                <a:ea typeface="Roboto"/>
                <a:cs typeface="Roboto"/>
                <a:sym typeface="Roboto"/>
              </a:rPr>
              <a:t> after a task finishes rather than </a:t>
            </a:r>
            <a:r>
              <a:rPr lang="en" sz="1200">
                <a:latin typeface="Roboto"/>
                <a:ea typeface="Roboto"/>
                <a:cs typeface="Roboto"/>
                <a:sym typeface="Roboto"/>
              </a:rPr>
              <a:t>deleting the old thread</a:t>
            </a:r>
            <a:r>
              <a:rPr lang="en" sz="1200">
                <a:latin typeface="Roboto"/>
                <a:ea typeface="Roboto"/>
                <a:cs typeface="Roboto"/>
                <a:sym typeface="Roboto"/>
              </a:rPr>
              <a:t>.</a:t>
            </a:r>
            <a:endParaRPr sz="1200">
              <a:latin typeface="Roboto"/>
              <a:ea typeface="Roboto"/>
              <a:cs typeface="Roboto"/>
              <a:sym typeface="Roboto"/>
            </a:endParaRPr>
          </a:p>
        </p:txBody>
      </p:sp>
      <p:sp>
        <p:nvSpPr>
          <p:cNvPr id="527" name="Google Shape;527;p56"/>
          <p:cNvSpPr txBox="1"/>
          <p:nvPr/>
        </p:nvSpPr>
        <p:spPr>
          <a:xfrm>
            <a:off x="3930725" y="2638900"/>
            <a:ext cx="45459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rgbClr val="FF0000"/>
                </a:solidFill>
                <a:latin typeface="Roboto"/>
                <a:ea typeface="Roboto"/>
                <a:cs typeface="Roboto"/>
                <a:sym typeface="Roboto"/>
              </a:rPr>
              <a:t>Creates</a:t>
            </a:r>
            <a:r>
              <a:rPr lang="en" sz="1200">
                <a:latin typeface="Roboto"/>
                <a:ea typeface="Roboto"/>
                <a:cs typeface="Roboto"/>
                <a:sym typeface="Roboto"/>
              </a:rPr>
              <a:t> </a:t>
            </a:r>
            <a:r>
              <a:rPr lang="en" sz="1200">
                <a:solidFill>
                  <a:srgbClr val="FF0000"/>
                </a:solidFill>
                <a:latin typeface="Courier New"/>
                <a:ea typeface="Courier New"/>
                <a:cs typeface="Courier New"/>
                <a:sym typeface="Courier New"/>
              </a:rPr>
              <a:t>nThreads</a:t>
            </a:r>
            <a:r>
              <a:rPr lang="en" sz="1200">
                <a:latin typeface="Roboto"/>
                <a:ea typeface="Roboto"/>
                <a:cs typeface="Roboto"/>
                <a:sym typeface="Roboto"/>
              </a:rPr>
              <a:t> </a:t>
            </a:r>
            <a:r>
              <a:rPr b="1" i="1" lang="en" sz="1200">
                <a:solidFill>
                  <a:srgbClr val="FF0000"/>
                </a:solidFill>
                <a:latin typeface="Roboto"/>
                <a:ea typeface="Roboto"/>
                <a:cs typeface="Roboto"/>
                <a:sym typeface="Roboto"/>
              </a:rPr>
              <a:t>threads</a:t>
            </a:r>
            <a:r>
              <a:rPr lang="en" sz="1200">
                <a:latin typeface="Roboto"/>
                <a:ea typeface="Roboto"/>
                <a:cs typeface="Roboto"/>
                <a:sym typeface="Roboto"/>
              </a:rPr>
              <a:t> and services tasks on those threads. When all threads are in use, </a:t>
            </a:r>
            <a:r>
              <a:rPr b="1" i="1" lang="en" sz="1200">
                <a:solidFill>
                  <a:srgbClr val="FF0000"/>
                </a:solidFill>
                <a:latin typeface="Roboto"/>
                <a:ea typeface="Roboto"/>
                <a:cs typeface="Roboto"/>
                <a:sym typeface="Roboto"/>
              </a:rPr>
              <a:t>newer tasks wait</a:t>
            </a:r>
            <a:r>
              <a:rPr lang="en" sz="1200">
                <a:latin typeface="Roboto"/>
                <a:ea typeface="Roboto"/>
                <a:cs typeface="Roboto"/>
                <a:sym typeface="Roboto"/>
              </a:rPr>
              <a:t> to be started until a thread is free.</a:t>
            </a:r>
            <a:endParaRPr sz="1200">
              <a:latin typeface="Roboto"/>
              <a:ea typeface="Roboto"/>
              <a:cs typeface="Roboto"/>
              <a:sym typeface="Roboto"/>
            </a:endParaRPr>
          </a:p>
        </p:txBody>
      </p:sp>
      <p:sp>
        <p:nvSpPr>
          <p:cNvPr id="528" name="Google Shape;528;p56"/>
          <p:cNvSpPr txBox="1"/>
          <p:nvPr/>
        </p:nvSpPr>
        <p:spPr>
          <a:xfrm>
            <a:off x="3930725" y="3899525"/>
            <a:ext cx="45459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 sz="1200">
                <a:latin typeface="Roboto"/>
                <a:ea typeface="Roboto"/>
                <a:cs typeface="Roboto"/>
                <a:sym typeface="Roboto"/>
              </a:rPr>
              <a:t>Creates a </a:t>
            </a:r>
            <a:r>
              <a:rPr b="1" i="1" lang="en" sz="1200">
                <a:solidFill>
                  <a:srgbClr val="FF0000"/>
                </a:solidFill>
                <a:latin typeface="Roboto"/>
                <a:ea typeface="Roboto"/>
                <a:cs typeface="Roboto"/>
                <a:sym typeface="Roboto"/>
              </a:rPr>
              <a:t>single thread</a:t>
            </a:r>
            <a:r>
              <a:rPr lang="en" sz="1200">
                <a:latin typeface="Roboto"/>
                <a:ea typeface="Roboto"/>
                <a:cs typeface="Roboto"/>
                <a:sym typeface="Roboto"/>
              </a:rPr>
              <a:t> and executes all tasks on it. Tasks will be </a:t>
            </a:r>
            <a:r>
              <a:rPr b="1" i="1" lang="en" sz="1200">
                <a:solidFill>
                  <a:srgbClr val="FF0000"/>
                </a:solidFill>
                <a:latin typeface="Roboto"/>
                <a:ea typeface="Roboto"/>
                <a:cs typeface="Roboto"/>
                <a:sym typeface="Roboto"/>
              </a:rPr>
              <a:t>completed in the order</a:t>
            </a:r>
            <a:r>
              <a:rPr lang="en" sz="1200">
                <a:latin typeface="Roboto"/>
                <a:ea typeface="Roboto"/>
                <a:cs typeface="Roboto"/>
                <a:sym typeface="Roboto"/>
              </a:rPr>
              <a:t> they are submitted.</a:t>
            </a:r>
            <a:endParaRPr sz="12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5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Lots of Fast Racers</a:t>
            </a:r>
            <a:endParaRPr/>
          </a:p>
        </p:txBody>
      </p:sp>
      <p:sp>
        <p:nvSpPr>
          <p:cNvPr id="534" name="Google Shape;534;p5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5" name="Google Shape;535;p57"/>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Let's try using the executor service to race our one million racers. You can use either the Cached Pool or Fixed Pool executor services. If you use a fixed pool, what should the size be?</a:t>
            </a:r>
            <a:endParaRPr/>
          </a:p>
        </p:txBody>
      </p:sp>
      <p:sp>
        <p:nvSpPr>
          <p:cNvPr id="536" name="Google Shape;536;p57"/>
          <p:cNvSpPr txBox="1"/>
          <p:nvPr>
            <p:ph idx="2" type="body"/>
          </p:nvPr>
        </p:nvSpPr>
        <p:spPr>
          <a:xfrm>
            <a:off x="3226250" y="1534075"/>
            <a:ext cx="5715000" cy="2938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b="1" i="1" lang="en">
                <a:solidFill>
                  <a:srgbClr val="FF0000"/>
                </a:solidFill>
              </a:rPr>
              <a:t>Modify </a:t>
            </a:r>
            <a:r>
              <a:rPr lang="en"/>
              <a:t>your </a:t>
            </a:r>
            <a:r>
              <a:rPr lang="en"/>
              <a:t>existing</a:t>
            </a:r>
            <a:r>
              <a:rPr lang="en"/>
              <a:t> </a:t>
            </a:r>
            <a:r>
              <a:rPr lang="en">
                <a:latin typeface="Courier New"/>
                <a:ea typeface="Courier New"/>
                <a:cs typeface="Courier New"/>
                <a:sym typeface="Courier New"/>
              </a:rPr>
              <a:t>LotsORacers</a:t>
            </a:r>
            <a:r>
              <a:rPr lang="en"/>
              <a:t> class to use an </a:t>
            </a:r>
            <a:r>
              <a:rPr lang="en">
                <a:solidFill>
                  <a:srgbClr val="FF0000"/>
                </a:solidFill>
                <a:latin typeface="Courier New"/>
                <a:ea typeface="Courier New"/>
                <a:cs typeface="Courier New"/>
                <a:sym typeface="Courier New"/>
              </a:rPr>
              <a:t>ExecutorService</a:t>
            </a:r>
            <a:r>
              <a:rPr lang="en"/>
              <a:t> for managing the threads/tasks.</a:t>
            </a:r>
            <a:endParaRPr/>
          </a:p>
          <a:p>
            <a:pPr indent="-298450" lvl="1" marL="914400" rtl="0" algn="l">
              <a:spcBef>
                <a:spcPts val="0"/>
              </a:spcBef>
              <a:spcAft>
                <a:spcPts val="0"/>
              </a:spcAft>
              <a:buSzPts val="1100"/>
              <a:buChar char="○"/>
            </a:pPr>
            <a:r>
              <a:rPr lang="en"/>
              <a:t>Using the </a:t>
            </a:r>
            <a:r>
              <a:rPr lang="en"/>
              <a:t>lambda</a:t>
            </a:r>
            <a:r>
              <a:rPr lang="en"/>
              <a:t> implementation</a:t>
            </a:r>
            <a:r>
              <a:rPr lang="en"/>
              <a:t>, submit the lambdas directly to the executor service.</a:t>
            </a:r>
            <a:endParaRPr/>
          </a:p>
          <a:p>
            <a:pPr indent="-311150" lvl="0" marL="457200" rtl="0" algn="l">
              <a:spcBef>
                <a:spcPts val="0"/>
              </a:spcBef>
              <a:spcAft>
                <a:spcPts val="0"/>
              </a:spcAft>
              <a:buSzPts val="1300"/>
              <a:buChar char="●"/>
            </a:pPr>
            <a:r>
              <a:rPr lang="en"/>
              <a:t>If you use the Fixed Thread Pool, set the size to the number of virtual cores your machine has. </a:t>
            </a:r>
            <a:endParaRPr/>
          </a:p>
          <a:p>
            <a:pPr indent="-298450" lvl="1" marL="914400" rtl="0" algn="l">
              <a:spcBef>
                <a:spcPts val="0"/>
              </a:spcBef>
              <a:spcAft>
                <a:spcPts val="0"/>
              </a:spcAft>
              <a:buSzPts val="1100"/>
              <a:buChar char="○"/>
            </a:pPr>
            <a:r>
              <a:rPr lang="en"/>
              <a:t>If you don't know, 12 is a reasonable average for most systems.</a:t>
            </a:r>
            <a:endParaRPr/>
          </a:p>
          <a:p>
            <a:pPr indent="-311150" lvl="0" marL="457200" rtl="0" algn="l">
              <a:spcBef>
                <a:spcPts val="0"/>
              </a:spcBef>
              <a:spcAft>
                <a:spcPts val="0"/>
              </a:spcAft>
              <a:buSzPts val="1300"/>
              <a:buChar char="●"/>
            </a:pPr>
            <a:r>
              <a:rPr lang="en"/>
              <a:t>Don't forget to </a:t>
            </a:r>
            <a:r>
              <a:rPr b="1" i="1" lang="en">
                <a:solidFill>
                  <a:srgbClr val="FF0000"/>
                </a:solidFill>
              </a:rPr>
              <a:t>shutdown </a:t>
            </a:r>
            <a:r>
              <a:rPr lang="en"/>
              <a:t>your executor service after you submit all the tasks or it will cause your program to hang at the end.</a:t>
            </a:r>
            <a:endParaRPr/>
          </a:p>
          <a:p>
            <a:pPr indent="-311150" lvl="0" marL="457200" rtl="0" algn="l">
              <a:spcBef>
                <a:spcPts val="0"/>
              </a:spcBef>
              <a:spcAft>
                <a:spcPts val="0"/>
              </a:spcAft>
              <a:buSzPts val="1300"/>
              <a:buChar char="●"/>
            </a:pPr>
            <a:r>
              <a:rPr lang="en"/>
              <a:t>Run the program again and see how long it takes to complete.</a:t>
            </a:r>
            <a:endParaRPr/>
          </a:p>
          <a:p>
            <a:pPr indent="-298450" lvl="1" marL="914400" rtl="0" algn="l">
              <a:spcBef>
                <a:spcPts val="0"/>
              </a:spcBef>
              <a:spcAft>
                <a:spcPts val="0"/>
              </a:spcAft>
              <a:buSzPts val="1100"/>
              <a:buChar char="○"/>
            </a:pPr>
            <a:r>
              <a:rPr lang="en"/>
              <a:t>Like last time, print something at the end so you know it's completed.</a:t>
            </a:r>
            <a:endParaRPr/>
          </a:p>
          <a:p>
            <a:pPr indent="-298450" lvl="1" marL="914400" rtl="0" algn="l">
              <a:spcBef>
                <a:spcPts val="0"/>
              </a:spcBef>
              <a:spcAft>
                <a:spcPts val="0"/>
              </a:spcAft>
              <a:buSzPts val="1100"/>
              <a:buChar char="○"/>
            </a:pPr>
            <a:r>
              <a:rPr lang="en"/>
              <a:t>If you have time, try running with the other executor service you didn't use and see if there is much of a difference.</a:t>
            </a:r>
            <a:endParaRPr/>
          </a:p>
        </p:txBody>
      </p:sp>
      <p:sp>
        <p:nvSpPr>
          <p:cNvPr id="537" name="Google Shape;537;p5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8.10</a:t>
            </a:r>
            <a:endParaRPr/>
          </a:p>
        </p:txBody>
      </p:sp>
      <p:sp>
        <p:nvSpPr>
          <p:cNvPr id="538" name="Google Shape;538;p57"/>
          <p:cNvSpPr txBox="1"/>
          <p:nvPr>
            <p:ph idx="4" type="body"/>
          </p:nvPr>
        </p:nvSpPr>
        <p:spPr>
          <a:xfrm>
            <a:off x="202550" y="3652526"/>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While the example uses lambdas, you can also submit Runnables.</a:t>
            </a:r>
            <a:endParaRPr/>
          </a:p>
        </p:txBody>
      </p:sp>
      <p:sp>
        <p:nvSpPr>
          <p:cNvPr id="539" name="Google Shape;539;p57"/>
          <p:cNvSpPr txBox="1"/>
          <p:nvPr>
            <p:ph idx="4" type="body"/>
          </p:nvPr>
        </p:nvSpPr>
        <p:spPr>
          <a:xfrm>
            <a:off x="202550" y="1534076"/>
            <a:ext cx="3023700" cy="20097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ExecutorService</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    Executors</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newCachedThreadPool</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AF00DB"/>
                </a:solidFill>
                <a:highlight>
                  <a:srgbClr val="FFFFFF"/>
                </a:highlight>
                <a:latin typeface="Consolas"/>
                <a:ea typeface="Consolas"/>
                <a:cs typeface="Consolas"/>
                <a:sym typeface="Consolas"/>
              </a:rPr>
              <a:t>for</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&lt;=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10</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"Task "</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submit</a:t>
            </a:r>
            <a:r>
              <a:rPr lang="en" sz="1000">
                <a:solidFill>
                  <a:srgbClr val="3B3B3B"/>
                </a:solidFill>
                <a:highlight>
                  <a:srgbClr val="FFFFFF"/>
                </a:highlight>
                <a:latin typeface="Consolas"/>
                <a:ea typeface="Consolas"/>
                <a:cs typeface="Consolas"/>
                <a:sym typeface="Consolas"/>
              </a:rPr>
              <a:t>(()</a:t>
            </a:r>
            <a:r>
              <a:rPr lang="en" sz="1000">
                <a:solidFill>
                  <a:srgbClr val="0000FF"/>
                </a:solidFill>
                <a:highlight>
                  <a:srgbClr val="FFFFFF"/>
                </a:highlight>
                <a:latin typeface="Consolas"/>
                <a:ea typeface="Consolas"/>
                <a:cs typeface="Consolas"/>
                <a:sym typeface="Consolas"/>
              </a:rPr>
              <a:t>-&gt;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       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shutdown</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spcBef>
                <a:spcPts val="0"/>
              </a:spcBef>
              <a:spcAft>
                <a:spcPts val="0"/>
              </a:spcAft>
              <a:buNone/>
            </a:pPr>
            <a:r>
              <a:t/>
            </a:r>
            <a:endParaRPr sz="1000"/>
          </a:p>
        </p:txBody>
      </p:sp>
      <p:sp>
        <p:nvSpPr>
          <p:cNvPr id="540" name="Google Shape;540;p57"/>
          <p:cNvSpPr txBox="1"/>
          <p:nvPr>
            <p:ph idx="4" type="body"/>
          </p:nvPr>
        </p:nvSpPr>
        <p:spPr>
          <a:xfrm>
            <a:off x="202550" y="4315376"/>
            <a:ext cx="3023700" cy="5580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00">
                <a:solidFill>
                  <a:srgbClr val="267F99"/>
                </a:solidFill>
                <a:highlight>
                  <a:schemeClr val="lt1"/>
                </a:highlight>
                <a:latin typeface="Consolas"/>
                <a:ea typeface="Consolas"/>
                <a:cs typeface="Consolas"/>
                <a:sym typeface="Consolas"/>
              </a:rPr>
              <a:t>MyRunnable</a:t>
            </a:r>
            <a:r>
              <a:rPr lang="en" sz="1000">
                <a:solidFill>
                  <a:srgbClr val="3B3B3B"/>
                </a:solidFill>
                <a:highlight>
                  <a:schemeClr val="lt1"/>
                </a:highlight>
                <a:latin typeface="Consolas"/>
                <a:ea typeface="Consolas"/>
                <a:cs typeface="Consolas"/>
                <a:sym typeface="Consolas"/>
              </a:rPr>
              <a:t> </a:t>
            </a:r>
            <a:r>
              <a:rPr lang="en" sz="1000">
                <a:solidFill>
                  <a:srgbClr val="001080"/>
                </a:solidFill>
                <a:highlight>
                  <a:schemeClr val="lt1"/>
                </a:highlight>
                <a:latin typeface="Consolas"/>
                <a:ea typeface="Consolas"/>
                <a:cs typeface="Consolas"/>
                <a:sym typeface="Consolas"/>
              </a:rPr>
              <a:t>runner</a:t>
            </a:r>
            <a:r>
              <a:rPr lang="en" sz="1000">
                <a:solidFill>
                  <a:srgbClr val="3B3B3B"/>
                </a:solidFill>
                <a:highlight>
                  <a:schemeClr val="lt1"/>
                </a:highlight>
                <a:latin typeface="Consolas"/>
                <a:ea typeface="Consolas"/>
                <a:cs typeface="Consolas"/>
                <a:sym typeface="Consolas"/>
              </a:rPr>
              <a:t> </a:t>
            </a:r>
            <a:r>
              <a:rPr lang="en" sz="1000">
                <a:highlight>
                  <a:schemeClr val="lt1"/>
                </a:highlight>
                <a:latin typeface="Consolas"/>
                <a:ea typeface="Consolas"/>
                <a:cs typeface="Consolas"/>
                <a:sym typeface="Consolas"/>
              </a:rPr>
              <a:t>= </a:t>
            </a:r>
            <a:r>
              <a:rPr lang="en" sz="1050">
                <a:solidFill>
                  <a:srgbClr val="AF00DB"/>
                </a:solidFill>
                <a:latin typeface="Consolas"/>
                <a:ea typeface="Consolas"/>
                <a:cs typeface="Consolas"/>
                <a:sym typeface="Consolas"/>
              </a:rPr>
              <a:t>new</a:t>
            </a:r>
            <a:r>
              <a:rPr lang="en" sz="1050">
                <a:latin typeface="Consolas"/>
                <a:ea typeface="Consolas"/>
                <a:cs typeface="Consolas"/>
                <a:sym typeface="Consolas"/>
              </a:rPr>
              <a:t> </a:t>
            </a:r>
            <a:r>
              <a:rPr lang="en" sz="1050">
                <a:solidFill>
                  <a:srgbClr val="795E26"/>
                </a:solidFill>
                <a:latin typeface="Consolas"/>
                <a:ea typeface="Consolas"/>
                <a:cs typeface="Consolas"/>
                <a:sym typeface="Consolas"/>
              </a:rPr>
              <a:t>MyRunnable</a:t>
            </a:r>
            <a:r>
              <a:rPr lang="en" sz="1050">
                <a:latin typeface="Consolas"/>
                <a:ea typeface="Consolas"/>
                <a:cs typeface="Consolas"/>
                <a:sym typeface="Consolas"/>
              </a:rPr>
              <a:t>(</a:t>
            </a:r>
            <a:r>
              <a:rPr lang="en" sz="1050">
                <a:solidFill>
                  <a:srgbClr val="098658"/>
                </a:solidFill>
                <a:latin typeface="Consolas"/>
                <a:ea typeface="Consolas"/>
                <a:cs typeface="Consolas"/>
                <a:sym typeface="Consolas"/>
              </a:rPr>
              <a:t>1</a:t>
            </a:r>
            <a:r>
              <a:rPr lang="en" sz="1050">
                <a:latin typeface="Consolas"/>
                <a:ea typeface="Consolas"/>
                <a:cs typeface="Consolas"/>
                <a:sym typeface="Consolas"/>
              </a:rPr>
              <a:t>)</a:t>
            </a:r>
            <a:r>
              <a:rPr lang="en" sz="1000">
                <a:solidFill>
                  <a:srgbClr val="3B3B3B"/>
                </a:solidFill>
                <a:highlight>
                  <a:schemeClr val="lt1"/>
                </a:highlight>
                <a:latin typeface="Consolas"/>
                <a:ea typeface="Consolas"/>
                <a:cs typeface="Consolas"/>
                <a:sym typeface="Consolas"/>
              </a:rPr>
              <a:t> </a:t>
            </a:r>
            <a:endParaRPr sz="1000">
              <a:solidFill>
                <a:srgbClr val="3B3B3B"/>
              </a:solidFill>
              <a:highlight>
                <a:schemeClr val="lt1"/>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submit</a:t>
            </a:r>
            <a:r>
              <a:rPr lang="en" sz="1000">
                <a:solidFill>
                  <a:srgbClr val="3B3B3B"/>
                </a:solidFill>
                <a:highlight>
                  <a:srgbClr val="FFFFFF"/>
                </a:highlight>
                <a:latin typeface="Consolas"/>
                <a:ea typeface="Consolas"/>
                <a:cs typeface="Consolas"/>
                <a:sym typeface="Consolas"/>
              </a:rPr>
              <a:t>(runner);</a:t>
            </a:r>
            <a:endParaRPr sz="1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8"/>
          <p:cNvSpPr txBox="1"/>
          <p:nvPr>
            <p:ph type="title"/>
          </p:nvPr>
        </p:nvSpPr>
        <p:spPr>
          <a:xfrm>
            <a:off x="5188525" y="437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Analysis</a:t>
            </a:r>
            <a:endParaRPr/>
          </a:p>
        </p:txBody>
      </p:sp>
      <p:sp>
        <p:nvSpPr>
          <p:cNvPr id="546" name="Google Shape;546;p58"/>
          <p:cNvSpPr txBox="1"/>
          <p:nvPr>
            <p:ph idx="1" type="body"/>
          </p:nvPr>
        </p:nvSpPr>
        <p:spPr>
          <a:xfrm>
            <a:off x="377475" y="119925"/>
            <a:ext cx="4166400" cy="4372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Over the last several activities, we've seen what happens when multiple threads are running at the same time</a:t>
            </a:r>
            <a:endParaRPr/>
          </a:p>
          <a:p>
            <a:pPr indent="-311150" lvl="0" marL="457200" rtl="0" algn="l">
              <a:spcBef>
                <a:spcPts val="0"/>
              </a:spcBef>
              <a:spcAft>
                <a:spcPts val="0"/>
              </a:spcAft>
              <a:buSzPts val="1300"/>
              <a:buChar char="●"/>
            </a:pPr>
            <a:r>
              <a:rPr lang="en"/>
              <a:t>All of their output is </a:t>
            </a:r>
            <a:r>
              <a:rPr b="1" i="1" lang="en">
                <a:solidFill>
                  <a:srgbClr val="FF0000"/>
                </a:solidFill>
              </a:rPr>
              <a:t>interleaved</a:t>
            </a:r>
            <a:endParaRPr b="1" i="1">
              <a:solidFill>
                <a:srgbClr val="FF0000"/>
              </a:solidFill>
            </a:endParaRPr>
          </a:p>
          <a:p>
            <a:pPr indent="-298450" lvl="1" marL="914400" rtl="0" algn="l">
              <a:spcBef>
                <a:spcPts val="0"/>
              </a:spcBef>
              <a:spcAft>
                <a:spcPts val="0"/>
              </a:spcAft>
              <a:buSzPts val="1100"/>
              <a:buChar char="○"/>
            </a:pPr>
            <a:r>
              <a:rPr lang="en"/>
              <a:t>Meaning some portion of the output from some threads occurs </a:t>
            </a:r>
            <a:r>
              <a:rPr lang="en"/>
              <a:t>in between</a:t>
            </a:r>
            <a:r>
              <a:rPr lang="en"/>
              <a:t> the output of the other threads</a:t>
            </a:r>
            <a:endParaRPr/>
          </a:p>
          <a:p>
            <a:pPr indent="-311150" lvl="0" marL="457200" rtl="0" algn="l">
              <a:spcBef>
                <a:spcPts val="0"/>
              </a:spcBef>
              <a:spcAft>
                <a:spcPts val="0"/>
              </a:spcAft>
              <a:buSzPts val="1300"/>
              <a:buChar char="●"/>
            </a:pPr>
            <a:r>
              <a:rPr lang="en"/>
              <a:t>Some of the threads may be running on the </a:t>
            </a:r>
            <a:r>
              <a:rPr b="1" i="1" lang="en">
                <a:solidFill>
                  <a:srgbClr val="FF0000"/>
                </a:solidFill>
              </a:rPr>
              <a:t>same core</a:t>
            </a:r>
            <a:r>
              <a:rPr lang="en"/>
              <a:t> in your system, others may be running on </a:t>
            </a:r>
            <a:r>
              <a:rPr b="1" i="1" lang="en">
                <a:solidFill>
                  <a:srgbClr val="FF0000"/>
                </a:solidFill>
              </a:rPr>
              <a:t>different cores</a:t>
            </a:r>
            <a:endParaRPr b="1" i="1">
              <a:solidFill>
                <a:srgbClr val="FF0000"/>
              </a:solidFill>
            </a:endParaRPr>
          </a:p>
          <a:p>
            <a:pPr indent="-298450" lvl="1" marL="914400" rtl="0" algn="l">
              <a:spcBef>
                <a:spcPts val="0"/>
              </a:spcBef>
              <a:spcAft>
                <a:spcPts val="0"/>
              </a:spcAft>
              <a:buSzPts val="1100"/>
              <a:buChar char="○"/>
            </a:pPr>
            <a:r>
              <a:rPr lang="en"/>
              <a:t>You have </a:t>
            </a:r>
            <a:r>
              <a:rPr b="1" i="1" lang="en">
                <a:solidFill>
                  <a:srgbClr val="FF0000"/>
                </a:solidFill>
              </a:rPr>
              <a:t>no control</a:t>
            </a:r>
            <a:r>
              <a:rPr lang="en"/>
              <a:t> over how your OS decides which core to run a process/thread on</a:t>
            </a:r>
            <a:endParaRPr/>
          </a:p>
          <a:p>
            <a:pPr indent="-311150" lvl="0" marL="457200" rtl="0" algn="l">
              <a:spcBef>
                <a:spcPts val="0"/>
              </a:spcBef>
              <a:spcAft>
                <a:spcPts val="0"/>
              </a:spcAft>
              <a:buSzPts val="1300"/>
              <a:buChar char="●"/>
            </a:pPr>
            <a:r>
              <a:rPr lang="en"/>
              <a:t>In the </a:t>
            </a:r>
            <a:r>
              <a:rPr lang="en">
                <a:latin typeface="Courier New"/>
                <a:ea typeface="Courier New"/>
                <a:cs typeface="Courier New"/>
                <a:sym typeface="Courier New"/>
              </a:rPr>
              <a:t>Racer</a:t>
            </a:r>
            <a:r>
              <a:rPr lang="en"/>
              <a:t> activities, we eventually added a level of </a:t>
            </a:r>
            <a:r>
              <a:rPr lang="en"/>
              <a:t>control</a:t>
            </a:r>
            <a:r>
              <a:rPr lang="en"/>
              <a:t> using a loop and </a:t>
            </a:r>
            <a:r>
              <a:rPr lang="en">
                <a:latin typeface="Courier New"/>
                <a:ea typeface="Courier New"/>
                <a:cs typeface="Courier New"/>
                <a:sym typeface="Courier New"/>
              </a:rPr>
              <a:t>isAlive()</a:t>
            </a:r>
            <a:endParaRPr>
              <a:latin typeface="Courier New"/>
              <a:ea typeface="Courier New"/>
              <a:cs typeface="Courier New"/>
              <a:sym typeface="Courier New"/>
            </a:endParaRPr>
          </a:p>
          <a:p>
            <a:pPr indent="-298450" lvl="1" marL="914400" rtl="0" algn="l">
              <a:spcBef>
                <a:spcPts val="0"/>
              </a:spcBef>
              <a:spcAft>
                <a:spcPts val="0"/>
              </a:spcAft>
              <a:buSzPts val="1100"/>
              <a:buChar char="○"/>
            </a:pPr>
            <a:r>
              <a:rPr lang="en"/>
              <a:t>This is known as a </a:t>
            </a:r>
            <a:r>
              <a:rPr b="1" i="1" lang="en">
                <a:solidFill>
                  <a:srgbClr val="FF0000"/>
                </a:solidFill>
              </a:rPr>
              <a:t>busy wait</a:t>
            </a:r>
            <a:r>
              <a:rPr lang="en"/>
              <a:t> because the CPU is in use while waiting for some event to occur</a:t>
            </a:r>
            <a:endParaRPr/>
          </a:p>
          <a:p>
            <a:pPr indent="-298450" lvl="1" marL="914400" rtl="0" algn="l">
              <a:spcBef>
                <a:spcPts val="0"/>
              </a:spcBef>
              <a:spcAft>
                <a:spcPts val="0"/>
              </a:spcAft>
              <a:buSzPts val="1100"/>
              <a:buChar char="○"/>
            </a:pPr>
            <a:r>
              <a:rPr lang="en"/>
              <a:t>In general, this is a </a:t>
            </a:r>
            <a:r>
              <a:rPr b="1" i="1" lang="en">
                <a:solidFill>
                  <a:srgbClr val="FF0000"/>
                </a:solidFill>
              </a:rPr>
              <a:t>bad idea</a:t>
            </a:r>
            <a:r>
              <a:rPr lang="en"/>
              <a:t> because it wastes a lot of CPU cycles but accomplishes no work</a:t>
            </a:r>
            <a:endParaRPr/>
          </a:p>
          <a:p>
            <a:pPr indent="-298450" lvl="1" marL="914400" rtl="0" algn="l">
              <a:spcBef>
                <a:spcPts val="0"/>
              </a:spcBef>
              <a:spcAft>
                <a:spcPts val="0"/>
              </a:spcAft>
              <a:buSzPts val="1100"/>
              <a:buChar char="○"/>
            </a:pPr>
            <a:r>
              <a:rPr lang="en"/>
              <a:t>Imagine trying to do this for the 1 million racers race!</a:t>
            </a:r>
            <a:endParaRPr/>
          </a:p>
        </p:txBody>
      </p:sp>
      <p:sp>
        <p:nvSpPr>
          <p:cNvPr id="547" name="Google Shape;547;p58"/>
          <p:cNvSpPr txBox="1"/>
          <p:nvPr>
            <p:ph idx="12" type="sldNum"/>
          </p:nvPr>
        </p:nvSpPr>
        <p:spPr>
          <a:xfrm>
            <a:off x="142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48" name="Google Shape;548;p58"/>
          <p:cNvSpPr txBox="1"/>
          <p:nvPr>
            <p:ph idx="3" type="body"/>
          </p:nvPr>
        </p:nvSpPr>
        <p:spPr>
          <a:xfrm>
            <a:off x="5518250" y="4221675"/>
            <a:ext cx="30471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a:t>
            </a:r>
            <a:r>
              <a:rPr b="1" i="1" lang="en">
                <a:solidFill>
                  <a:srgbClr val="FF0000"/>
                </a:solidFill>
              </a:rPr>
              <a:t>busy wait</a:t>
            </a:r>
            <a:r>
              <a:rPr lang="en"/>
              <a:t> is a waste of time and resources that could be used to run other processes.</a:t>
            </a:r>
            <a:endParaRPr/>
          </a:p>
        </p:txBody>
      </p:sp>
      <p:pic>
        <p:nvPicPr>
          <p:cNvPr id="549" name="Google Shape;549;p58"/>
          <p:cNvPicPr preferRelativeResize="0"/>
          <p:nvPr/>
        </p:nvPicPr>
        <p:blipFill>
          <a:blip r:embed="rId3">
            <a:alphaModFix/>
          </a:blip>
          <a:stretch>
            <a:fillRect/>
          </a:stretch>
        </p:blipFill>
        <p:spPr>
          <a:xfrm>
            <a:off x="5518250" y="986625"/>
            <a:ext cx="3047047" cy="3158848"/>
          </a:xfrm>
          <a:prstGeom prst="rect">
            <a:avLst/>
          </a:prstGeom>
          <a:noFill/>
          <a:ln>
            <a:noFill/>
          </a:ln>
        </p:spPr>
      </p:pic>
      <p:grpSp>
        <p:nvGrpSpPr>
          <p:cNvPr id="550" name="Google Shape;550;p58"/>
          <p:cNvGrpSpPr/>
          <p:nvPr/>
        </p:nvGrpSpPr>
        <p:grpSpPr>
          <a:xfrm>
            <a:off x="5734625" y="681825"/>
            <a:ext cx="1209000" cy="1194050"/>
            <a:chOff x="5734625" y="681825"/>
            <a:chExt cx="1209000" cy="1194050"/>
          </a:xfrm>
        </p:grpSpPr>
        <p:sp>
          <p:nvSpPr>
            <p:cNvPr id="551" name="Google Shape;551;p58"/>
            <p:cNvSpPr/>
            <p:nvPr/>
          </p:nvSpPr>
          <p:spPr>
            <a:xfrm>
              <a:off x="5734625" y="681825"/>
              <a:ext cx="1209000" cy="5976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Are you done yet?</a:t>
              </a:r>
              <a:endParaRPr sz="1200">
                <a:latin typeface="Roboto"/>
                <a:ea typeface="Roboto"/>
                <a:cs typeface="Roboto"/>
                <a:sym typeface="Roboto"/>
              </a:endParaRPr>
            </a:p>
          </p:txBody>
        </p:sp>
        <p:sp>
          <p:nvSpPr>
            <p:cNvPr id="552" name="Google Shape;552;p58"/>
            <p:cNvSpPr/>
            <p:nvPr/>
          </p:nvSpPr>
          <p:spPr>
            <a:xfrm>
              <a:off x="6285650" y="1217800"/>
              <a:ext cx="204225" cy="658075"/>
            </a:xfrm>
            <a:custGeom>
              <a:rect b="b" l="l" r="r" t="t"/>
              <a:pathLst>
                <a:path extrusionOk="0" h="26323" w="8169">
                  <a:moveTo>
                    <a:pt x="8169" y="303"/>
                  </a:moveTo>
                  <a:lnTo>
                    <a:pt x="908" y="26323"/>
                  </a:lnTo>
                  <a:lnTo>
                    <a:pt x="0" y="0"/>
                  </a:lnTo>
                </a:path>
              </a:pathLst>
            </a:custGeom>
            <a:solidFill>
              <a:schemeClr val="lt1"/>
            </a:solidFill>
            <a:ln cap="flat" cmpd="sng" w="9525">
              <a:solidFill>
                <a:srgbClr val="FFFFFF"/>
              </a:solidFill>
              <a:prstDash val="solid"/>
              <a:round/>
              <a:headEnd len="med" w="med" type="none"/>
              <a:tailEnd len="med" w="med" type="none"/>
            </a:ln>
          </p:spPr>
        </p:sp>
      </p:grpSp>
      <p:grpSp>
        <p:nvGrpSpPr>
          <p:cNvPr id="553" name="Google Shape;553;p58"/>
          <p:cNvGrpSpPr/>
          <p:nvPr/>
        </p:nvGrpSpPr>
        <p:grpSpPr>
          <a:xfrm>
            <a:off x="4955700" y="1385825"/>
            <a:ext cx="1209000" cy="733125"/>
            <a:chOff x="4955700" y="1385825"/>
            <a:chExt cx="1209000" cy="733125"/>
          </a:xfrm>
        </p:grpSpPr>
        <p:sp>
          <p:nvSpPr>
            <p:cNvPr id="554" name="Google Shape;554;p58"/>
            <p:cNvSpPr/>
            <p:nvPr/>
          </p:nvSpPr>
          <p:spPr>
            <a:xfrm>
              <a:off x="4955700" y="1385825"/>
              <a:ext cx="1209000" cy="5976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Are you done yet?</a:t>
              </a:r>
              <a:endParaRPr sz="1200">
                <a:latin typeface="Roboto"/>
                <a:ea typeface="Roboto"/>
                <a:cs typeface="Roboto"/>
                <a:sym typeface="Roboto"/>
              </a:endParaRPr>
            </a:p>
          </p:txBody>
        </p:sp>
        <p:sp>
          <p:nvSpPr>
            <p:cNvPr id="555" name="Google Shape;555;p58"/>
            <p:cNvSpPr/>
            <p:nvPr/>
          </p:nvSpPr>
          <p:spPr>
            <a:xfrm>
              <a:off x="5642725" y="1883425"/>
              <a:ext cx="290025" cy="235525"/>
            </a:xfrm>
            <a:custGeom>
              <a:rect b="b" l="l" r="r" t="t"/>
              <a:pathLst>
                <a:path extrusionOk="0" h="9421" w="11601">
                  <a:moveTo>
                    <a:pt x="0" y="2723"/>
                  </a:moveTo>
                  <a:lnTo>
                    <a:pt x="11601" y="9421"/>
                  </a:lnTo>
                  <a:lnTo>
                    <a:pt x="7564" y="0"/>
                  </a:lnTo>
                </a:path>
              </a:pathLst>
            </a:custGeom>
            <a:solidFill>
              <a:schemeClr val="lt1"/>
            </a:solidFill>
            <a:ln cap="flat" cmpd="sng" w="9525">
              <a:solidFill>
                <a:srgbClr val="FFFFFF"/>
              </a:solidFill>
              <a:prstDash val="solid"/>
              <a:round/>
              <a:headEnd len="med" w="med" type="none"/>
              <a:tailEnd len="med" w="med" type="none"/>
            </a:ln>
          </p:spPr>
        </p:sp>
      </p:grpSp>
      <p:grpSp>
        <p:nvGrpSpPr>
          <p:cNvPr id="556" name="Google Shape;556;p58"/>
          <p:cNvGrpSpPr/>
          <p:nvPr/>
        </p:nvGrpSpPr>
        <p:grpSpPr>
          <a:xfrm>
            <a:off x="4893900" y="2420975"/>
            <a:ext cx="1346375" cy="597600"/>
            <a:chOff x="4893900" y="2420975"/>
            <a:chExt cx="1346375" cy="597600"/>
          </a:xfrm>
        </p:grpSpPr>
        <p:sp>
          <p:nvSpPr>
            <p:cNvPr id="557" name="Google Shape;557;p58"/>
            <p:cNvSpPr/>
            <p:nvPr/>
          </p:nvSpPr>
          <p:spPr>
            <a:xfrm>
              <a:off x="4893900" y="2420975"/>
              <a:ext cx="1209000" cy="5976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Are you done yet?</a:t>
              </a:r>
              <a:endParaRPr sz="1200">
                <a:latin typeface="Roboto"/>
                <a:ea typeface="Roboto"/>
                <a:cs typeface="Roboto"/>
                <a:sym typeface="Roboto"/>
              </a:endParaRPr>
            </a:p>
          </p:txBody>
        </p:sp>
        <p:sp>
          <p:nvSpPr>
            <p:cNvPr id="558" name="Google Shape;558;p58"/>
            <p:cNvSpPr/>
            <p:nvPr/>
          </p:nvSpPr>
          <p:spPr>
            <a:xfrm>
              <a:off x="5967975" y="2617125"/>
              <a:ext cx="272300" cy="204225"/>
            </a:xfrm>
            <a:custGeom>
              <a:rect b="b" l="l" r="r" t="t"/>
              <a:pathLst>
                <a:path extrusionOk="0" h="8169" w="10892">
                  <a:moveTo>
                    <a:pt x="0" y="8169"/>
                  </a:moveTo>
                  <a:lnTo>
                    <a:pt x="10892" y="0"/>
                  </a:lnTo>
                  <a:lnTo>
                    <a:pt x="1210" y="908"/>
                  </a:lnTo>
                </a:path>
              </a:pathLst>
            </a:custGeom>
            <a:solidFill>
              <a:schemeClr val="lt1"/>
            </a:solidFill>
            <a:ln cap="flat" cmpd="sng" w="9525">
              <a:solidFill>
                <a:srgbClr val="FFFFFF"/>
              </a:solidFill>
              <a:prstDash val="solid"/>
              <a:round/>
              <a:headEnd len="med" w="med" type="none"/>
              <a:tailEnd len="med" w="med" type="none"/>
            </a:ln>
          </p:spPr>
        </p:sp>
      </p:grpSp>
      <p:grpSp>
        <p:nvGrpSpPr>
          <p:cNvPr id="559" name="Google Shape;559;p58"/>
          <p:cNvGrpSpPr/>
          <p:nvPr/>
        </p:nvGrpSpPr>
        <p:grpSpPr>
          <a:xfrm>
            <a:off x="4955700" y="2821350"/>
            <a:ext cx="1390475" cy="948950"/>
            <a:chOff x="4955700" y="2821350"/>
            <a:chExt cx="1390475" cy="948950"/>
          </a:xfrm>
        </p:grpSpPr>
        <p:sp>
          <p:nvSpPr>
            <p:cNvPr id="560" name="Google Shape;560;p58"/>
            <p:cNvSpPr/>
            <p:nvPr/>
          </p:nvSpPr>
          <p:spPr>
            <a:xfrm>
              <a:off x="4955700" y="3172700"/>
              <a:ext cx="1209000" cy="5976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latin typeface="Roboto"/>
                  <a:ea typeface="Roboto"/>
                  <a:cs typeface="Roboto"/>
                  <a:sym typeface="Roboto"/>
                </a:rPr>
                <a:t>Are you done yet?</a:t>
              </a:r>
              <a:endParaRPr sz="1200">
                <a:latin typeface="Roboto"/>
                <a:ea typeface="Roboto"/>
                <a:cs typeface="Roboto"/>
                <a:sym typeface="Roboto"/>
              </a:endParaRPr>
            </a:p>
          </p:txBody>
        </p:sp>
        <p:sp>
          <p:nvSpPr>
            <p:cNvPr id="561" name="Google Shape;561;p58"/>
            <p:cNvSpPr/>
            <p:nvPr/>
          </p:nvSpPr>
          <p:spPr>
            <a:xfrm>
              <a:off x="5930150" y="2821350"/>
              <a:ext cx="416025" cy="665650"/>
            </a:xfrm>
            <a:custGeom>
              <a:rect b="b" l="l" r="r" t="t"/>
              <a:pathLst>
                <a:path extrusionOk="0" h="26626" w="16641">
                  <a:moveTo>
                    <a:pt x="6354" y="26626"/>
                  </a:moveTo>
                  <a:lnTo>
                    <a:pt x="16641" y="0"/>
                  </a:lnTo>
                  <a:lnTo>
                    <a:pt x="0" y="20574"/>
                  </a:lnTo>
                </a:path>
              </a:pathLst>
            </a:custGeom>
            <a:solidFill>
              <a:schemeClr val="lt1"/>
            </a:solidFill>
            <a:ln cap="flat" cmpd="sng" w="9525">
              <a:solidFill>
                <a:srgbClr val="FFFFFF"/>
              </a:solidFill>
              <a:prstDash val="solid"/>
              <a:round/>
              <a:headEnd len="med" w="med" type="none"/>
              <a:tailEnd len="med" w="med" type="none"/>
            </a:ln>
          </p:spPr>
        </p:sp>
      </p:grpSp>
      <p:grpSp>
        <p:nvGrpSpPr>
          <p:cNvPr id="562" name="Google Shape;562;p58"/>
          <p:cNvGrpSpPr/>
          <p:nvPr/>
        </p:nvGrpSpPr>
        <p:grpSpPr>
          <a:xfrm>
            <a:off x="7329500" y="620250"/>
            <a:ext cx="681600" cy="1157275"/>
            <a:chOff x="7329500" y="620250"/>
            <a:chExt cx="681600" cy="1157275"/>
          </a:xfrm>
        </p:grpSpPr>
        <p:sp>
          <p:nvSpPr>
            <p:cNvPr id="563" name="Google Shape;563;p58"/>
            <p:cNvSpPr/>
            <p:nvPr/>
          </p:nvSpPr>
          <p:spPr>
            <a:xfrm>
              <a:off x="7329500" y="620250"/>
              <a:ext cx="681600" cy="5976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No.</a:t>
              </a:r>
              <a:endParaRPr>
                <a:latin typeface="Roboto"/>
                <a:ea typeface="Roboto"/>
                <a:cs typeface="Roboto"/>
                <a:sym typeface="Roboto"/>
              </a:endParaRPr>
            </a:p>
          </p:txBody>
        </p:sp>
        <p:sp>
          <p:nvSpPr>
            <p:cNvPr id="564" name="Google Shape;564;p58"/>
            <p:cNvSpPr/>
            <p:nvPr/>
          </p:nvSpPr>
          <p:spPr>
            <a:xfrm>
              <a:off x="7518575" y="1111900"/>
              <a:ext cx="204250" cy="665625"/>
            </a:xfrm>
            <a:custGeom>
              <a:rect b="b" l="l" r="r" t="t"/>
              <a:pathLst>
                <a:path extrusionOk="0" h="26625" w="8170">
                  <a:moveTo>
                    <a:pt x="8170" y="1816"/>
                  </a:moveTo>
                  <a:lnTo>
                    <a:pt x="0" y="26625"/>
                  </a:lnTo>
                  <a:lnTo>
                    <a:pt x="1816" y="0"/>
                  </a:lnTo>
                </a:path>
              </a:pathLst>
            </a:custGeom>
            <a:solidFill>
              <a:schemeClr val="lt1"/>
            </a:solidFill>
            <a:ln cap="flat" cmpd="sng" w="9525">
              <a:solidFill>
                <a:srgbClr val="FFFFFF"/>
              </a:solidFill>
              <a:prstDash val="solid"/>
              <a:round/>
              <a:headEnd len="med" w="med" type="none"/>
              <a:tailEnd len="med" w="med" type="none"/>
            </a:ln>
          </p:spPr>
        </p:sp>
      </p:grpSp>
      <p:grpSp>
        <p:nvGrpSpPr>
          <p:cNvPr id="565" name="Google Shape;565;p58"/>
          <p:cNvGrpSpPr/>
          <p:nvPr/>
        </p:nvGrpSpPr>
        <p:grpSpPr>
          <a:xfrm>
            <a:off x="7700125" y="1113025"/>
            <a:ext cx="947475" cy="868725"/>
            <a:chOff x="7700125" y="1113025"/>
            <a:chExt cx="947475" cy="868725"/>
          </a:xfrm>
        </p:grpSpPr>
        <p:sp>
          <p:nvSpPr>
            <p:cNvPr id="566" name="Google Shape;566;p58"/>
            <p:cNvSpPr/>
            <p:nvPr/>
          </p:nvSpPr>
          <p:spPr>
            <a:xfrm>
              <a:off x="7966000" y="1113025"/>
              <a:ext cx="681600" cy="5976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No.</a:t>
              </a:r>
              <a:endParaRPr>
                <a:latin typeface="Roboto"/>
                <a:ea typeface="Roboto"/>
                <a:cs typeface="Roboto"/>
                <a:sym typeface="Roboto"/>
              </a:endParaRPr>
            </a:p>
          </p:txBody>
        </p:sp>
        <p:sp>
          <p:nvSpPr>
            <p:cNvPr id="567" name="Google Shape;567;p58"/>
            <p:cNvSpPr/>
            <p:nvPr/>
          </p:nvSpPr>
          <p:spPr>
            <a:xfrm>
              <a:off x="7700125" y="1535475"/>
              <a:ext cx="521900" cy="446275"/>
            </a:xfrm>
            <a:custGeom>
              <a:rect b="b" l="l" r="r" t="t"/>
              <a:pathLst>
                <a:path extrusionOk="0" h="17851" w="20876">
                  <a:moveTo>
                    <a:pt x="20876" y="5447"/>
                  </a:moveTo>
                  <a:lnTo>
                    <a:pt x="0" y="17851"/>
                  </a:lnTo>
                  <a:lnTo>
                    <a:pt x="14825" y="0"/>
                  </a:lnTo>
                </a:path>
              </a:pathLst>
            </a:custGeom>
            <a:solidFill>
              <a:schemeClr val="lt1"/>
            </a:solidFill>
            <a:ln cap="flat" cmpd="sng" w="9525">
              <a:solidFill>
                <a:srgbClr val="FFFFFF"/>
              </a:solidFill>
              <a:prstDash val="solid"/>
              <a:round/>
              <a:headEnd len="med" w="med" type="none"/>
              <a:tailEnd len="med" w="med" type="none"/>
            </a:ln>
          </p:spPr>
        </p:sp>
      </p:grpSp>
      <p:grpSp>
        <p:nvGrpSpPr>
          <p:cNvPr id="568" name="Google Shape;568;p58"/>
          <p:cNvGrpSpPr/>
          <p:nvPr/>
        </p:nvGrpSpPr>
        <p:grpSpPr>
          <a:xfrm>
            <a:off x="7817050" y="1915925"/>
            <a:ext cx="1126650" cy="597600"/>
            <a:chOff x="7817050" y="1915925"/>
            <a:chExt cx="1126650" cy="597600"/>
          </a:xfrm>
        </p:grpSpPr>
        <p:sp>
          <p:nvSpPr>
            <p:cNvPr id="569" name="Google Shape;569;p58"/>
            <p:cNvSpPr/>
            <p:nvPr/>
          </p:nvSpPr>
          <p:spPr>
            <a:xfrm>
              <a:off x="8262100" y="1915925"/>
              <a:ext cx="681600" cy="5976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No.</a:t>
              </a:r>
              <a:endParaRPr>
                <a:latin typeface="Roboto"/>
                <a:ea typeface="Roboto"/>
                <a:cs typeface="Roboto"/>
                <a:sym typeface="Roboto"/>
              </a:endParaRPr>
            </a:p>
          </p:txBody>
        </p:sp>
        <p:sp>
          <p:nvSpPr>
            <p:cNvPr id="570" name="Google Shape;570;p58"/>
            <p:cNvSpPr/>
            <p:nvPr/>
          </p:nvSpPr>
          <p:spPr>
            <a:xfrm>
              <a:off x="7817050" y="2208675"/>
              <a:ext cx="548703" cy="158850"/>
            </a:xfrm>
            <a:custGeom>
              <a:rect b="b" l="l" r="r" t="t"/>
              <a:pathLst>
                <a:path extrusionOk="0" h="6354" w="26323">
                  <a:moveTo>
                    <a:pt x="26323" y="6354"/>
                  </a:moveTo>
                  <a:lnTo>
                    <a:pt x="0" y="2118"/>
                  </a:lnTo>
                  <a:lnTo>
                    <a:pt x="25113" y="0"/>
                  </a:lnTo>
                </a:path>
              </a:pathLst>
            </a:custGeom>
            <a:solidFill>
              <a:schemeClr val="lt1"/>
            </a:solidFill>
            <a:ln cap="flat" cmpd="sng" w="9525">
              <a:solidFill>
                <a:srgbClr val="FFFFFF"/>
              </a:solidFill>
              <a:prstDash val="solid"/>
              <a:round/>
              <a:headEnd len="med" w="med" type="none"/>
              <a:tailEnd len="med" w="med" type="none"/>
            </a:ln>
          </p:spPr>
        </p:sp>
      </p:grpSp>
      <p:grpSp>
        <p:nvGrpSpPr>
          <p:cNvPr id="571" name="Google Shape;571;p58"/>
          <p:cNvGrpSpPr/>
          <p:nvPr/>
        </p:nvGrpSpPr>
        <p:grpSpPr>
          <a:xfrm>
            <a:off x="7737950" y="2700350"/>
            <a:ext cx="1237125" cy="616075"/>
            <a:chOff x="7737950" y="2700350"/>
            <a:chExt cx="1237125" cy="616075"/>
          </a:xfrm>
        </p:grpSpPr>
        <p:sp>
          <p:nvSpPr>
            <p:cNvPr id="572" name="Google Shape;572;p58"/>
            <p:cNvSpPr/>
            <p:nvPr/>
          </p:nvSpPr>
          <p:spPr>
            <a:xfrm>
              <a:off x="8293475" y="2718825"/>
              <a:ext cx="681600" cy="597600"/>
            </a:xfrm>
            <a:prstGeom prst="ellipse">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Roboto"/>
                  <a:ea typeface="Roboto"/>
                  <a:cs typeface="Roboto"/>
                  <a:sym typeface="Roboto"/>
                </a:rPr>
                <a:t>No.</a:t>
              </a:r>
              <a:endParaRPr>
                <a:latin typeface="Roboto"/>
                <a:ea typeface="Roboto"/>
                <a:cs typeface="Roboto"/>
                <a:sym typeface="Roboto"/>
              </a:endParaRPr>
            </a:p>
          </p:txBody>
        </p:sp>
        <p:sp>
          <p:nvSpPr>
            <p:cNvPr id="573" name="Google Shape;573;p58"/>
            <p:cNvSpPr/>
            <p:nvPr/>
          </p:nvSpPr>
          <p:spPr>
            <a:xfrm>
              <a:off x="7737950" y="2700350"/>
              <a:ext cx="680750" cy="385750"/>
            </a:xfrm>
            <a:custGeom>
              <a:rect b="b" l="l" r="r" t="t"/>
              <a:pathLst>
                <a:path extrusionOk="0" h="15430" w="27230">
                  <a:moveTo>
                    <a:pt x="27230" y="9379"/>
                  </a:moveTo>
                  <a:lnTo>
                    <a:pt x="0" y="0"/>
                  </a:lnTo>
                  <a:lnTo>
                    <a:pt x="25415" y="15430"/>
                  </a:lnTo>
                </a:path>
              </a:pathLst>
            </a:custGeom>
            <a:solidFill>
              <a:schemeClr val="lt1"/>
            </a:solidFill>
            <a:ln cap="flat" cmpd="sng" w="9525">
              <a:solidFill>
                <a:srgbClr val="FFFFFF"/>
              </a:solidFill>
              <a:prstDash val="solid"/>
              <a:round/>
              <a:headEnd len="med" w="med" type="none"/>
              <a:tailEnd len="med" w="med" type="none"/>
            </a:ln>
          </p:spPr>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1000"/>
                                        <p:tgtEl>
                                          <p:spTgt spid="548"/>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62"/>
                                        </p:tgtEl>
                                        <p:attrNameLst>
                                          <p:attrName>style.visibility</p:attrName>
                                        </p:attrNameLst>
                                      </p:cBhvr>
                                      <p:to>
                                        <p:strVal val="visible"/>
                                      </p:to>
                                    </p:set>
                                    <p:animEffect filter="fade" transition="in">
                                      <p:cBhvr>
                                        <p:cTn dur="1000"/>
                                        <p:tgtEl>
                                          <p:spTgt spid="56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1000"/>
                                        <p:tgtEl>
                                          <p:spTgt spid="55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65"/>
                                        </p:tgtEl>
                                        <p:attrNameLst>
                                          <p:attrName>style.visibility</p:attrName>
                                        </p:attrNameLst>
                                      </p:cBhvr>
                                      <p:to>
                                        <p:strVal val="visible"/>
                                      </p:to>
                                    </p:set>
                                    <p:animEffect filter="fade" transition="in">
                                      <p:cBhvr>
                                        <p:cTn dur="1000"/>
                                        <p:tgtEl>
                                          <p:spTgt spid="565"/>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000"/>
                                        <p:tgtEl>
                                          <p:spTgt spid="556"/>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568"/>
                                        </p:tgtEl>
                                        <p:attrNameLst>
                                          <p:attrName>style.visibility</p:attrName>
                                        </p:attrNameLst>
                                      </p:cBhvr>
                                      <p:to>
                                        <p:strVal val="visible"/>
                                      </p:to>
                                    </p:set>
                                    <p:animEffect filter="fade" transition="in">
                                      <p:cBhvr>
                                        <p:cTn dur="1000"/>
                                        <p:tgtEl>
                                          <p:spTgt spid="568"/>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571"/>
                                        </p:tgtEl>
                                        <p:attrNameLst>
                                          <p:attrName>style.visibility</p:attrName>
                                        </p:attrNameLst>
                                      </p:cBhvr>
                                      <p:to>
                                        <p:strVal val="visible"/>
                                      </p:to>
                                    </p:set>
                                    <p:animEffect filter="fade" transition="in">
                                      <p:cBhvr>
                                        <p:cTn dur="1000"/>
                                        <p:tgtEl>
                                          <p:spTgt spid="5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5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9" name="Google Shape;579;p59"/>
          <p:cNvSpPr txBox="1"/>
          <p:nvPr>
            <p:ph type="title"/>
          </p:nvPr>
        </p:nvSpPr>
        <p:spPr>
          <a:xfrm>
            <a:off x="311725" y="500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AwaitTermination</a:t>
            </a:r>
            <a:endParaRPr/>
          </a:p>
        </p:txBody>
      </p:sp>
      <p:sp>
        <p:nvSpPr>
          <p:cNvPr id="580" name="Google Shape;580;p59"/>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We need some better way than </a:t>
            </a:r>
            <a:r>
              <a:rPr lang="en">
                <a:latin typeface="Courier New"/>
                <a:ea typeface="Courier New"/>
                <a:cs typeface="Courier New"/>
                <a:sym typeface="Courier New"/>
              </a:rPr>
              <a:t>isAlive</a:t>
            </a:r>
            <a:r>
              <a:rPr lang="en"/>
              <a:t> to know when all of our threads have finished.</a:t>
            </a:r>
            <a:endParaRPr/>
          </a:p>
          <a:p>
            <a:pPr indent="-311150" lvl="0" marL="457200" rtl="0" algn="l">
              <a:spcBef>
                <a:spcPts val="1000"/>
              </a:spcBef>
              <a:spcAft>
                <a:spcPts val="0"/>
              </a:spcAft>
              <a:buSzPts val="1300"/>
              <a:buChar char="●"/>
            </a:pPr>
            <a:r>
              <a:rPr lang="en"/>
              <a:t>While there are </a:t>
            </a:r>
            <a:r>
              <a:rPr lang="en"/>
              <a:t>several</a:t>
            </a:r>
            <a:r>
              <a:rPr lang="en"/>
              <a:t> mechanisms, </a:t>
            </a:r>
            <a:r>
              <a:rPr lang="en">
                <a:latin typeface="Courier New"/>
                <a:ea typeface="Courier New"/>
                <a:cs typeface="Courier New"/>
                <a:sym typeface="Courier New"/>
              </a:rPr>
              <a:t>ExecutorService</a:t>
            </a:r>
            <a:r>
              <a:rPr lang="en"/>
              <a:t>'s </a:t>
            </a:r>
            <a:r>
              <a:rPr lang="en">
                <a:latin typeface="Courier New"/>
                <a:ea typeface="Courier New"/>
                <a:cs typeface="Courier New"/>
                <a:sym typeface="Courier New"/>
              </a:rPr>
              <a:t>awaitTermination</a:t>
            </a:r>
            <a:r>
              <a:rPr lang="en"/>
              <a:t> is a </a:t>
            </a:r>
            <a:r>
              <a:rPr lang="en"/>
              <a:t>convenient</a:t>
            </a:r>
            <a:r>
              <a:rPr lang="en"/>
              <a:t> one that works with the service.</a:t>
            </a:r>
            <a:endParaRPr/>
          </a:p>
          <a:p>
            <a:pPr indent="-311150" lvl="0" marL="457200" rtl="0" algn="l">
              <a:spcBef>
                <a:spcPts val="1000"/>
              </a:spcBef>
              <a:spcAft>
                <a:spcPts val="0"/>
              </a:spcAft>
              <a:buSzPts val="1300"/>
              <a:buChar char="●"/>
            </a:pPr>
            <a:r>
              <a:rPr lang="en"/>
              <a:t>It takes two parameters:</a:t>
            </a:r>
            <a:endParaRPr/>
          </a:p>
          <a:p>
            <a:pPr indent="-311150" lvl="0" marL="457200" rtl="0" algn="l">
              <a:spcBef>
                <a:spcPts val="1000"/>
              </a:spcBef>
              <a:spcAft>
                <a:spcPts val="0"/>
              </a:spcAft>
              <a:buSzPts val="1300"/>
              <a:buChar char="●"/>
            </a:pPr>
            <a:r>
              <a:rPr lang="en">
                <a:solidFill>
                  <a:srgbClr val="FF0000"/>
                </a:solidFill>
                <a:latin typeface="Courier New"/>
                <a:ea typeface="Courier New"/>
                <a:cs typeface="Courier New"/>
                <a:sym typeface="Courier New"/>
              </a:rPr>
              <a:t>timeout</a:t>
            </a:r>
            <a:r>
              <a:rPr lang="en"/>
              <a:t> - a </a:t>
            </a:r>
            <a:r>
              <a:rPr lang="en">
                <a:latin typeface="Courier New"/>
                <a:ea typeface="Courier New"/>
                <a:cs typeface="Courier New"/>
                <a:sym typeface="Courier New"/>
              </a:rPr>
              <a:t>long</a:t>
            </a:r>
            <a:r>
              <a:rPr lang="en"/>
              <a:t> integer (64 bits) that stores the number of time units to wait.</a:t>
            </a:r>
            <a:endParaRPr/>
          </a:p>
          <a:p>
            <a:pPr indent="-311150" lvl="0" marL="457200" rtl="0" algn="l">
              <a:spcBef>
                <a:spcPts val="1000"/>
              </a:spcBef>
              <a:spcAft>
                <a:spcPts val="0"/>
              </a:spcAft>
              <a:buSzPts val="1300"/>
              <a:buChar char="●"/>
            </a:pPr>
            <a:r>
              <a:rPr lang="en">
                <a:solidFill>
                  <a:srgbClr val="FF0000"/>
                </a:solidFill>
                <a:latin typeface="Courier New"/>
                <a:ea typeface="Courier New"/>
                <a:cs typeface="Courier New"/>
                <a:sym typeface="Courier New"/>
              </a:rPr>
              <a:t>unit</a:t>
            </a:r>
            <a:r>
              <a:rPr lang="en"/>
              <a:t> - a </a:t>
            </a:r>
            <a:r>
              <a:rPr lang="en">
                <a:latin typeface="Courier New"/>
                <a:ea typeface="Courier New"/>
                <a:cs typeface="Courier New"/>
                <a:sym typeface="Courier New"/>
              </a:rPr>
              <a:t>TimeUnit</a:t>
            </a:r>
            <a:r>
              <a:rPr lang="en"/>
              <a:t> that </a:t>
            </a:r>
            <a:r>
              <a:rPr lang="en"/>
              <a:t>indicates how time is counted. Options include:</a:t>
            </a:r>
            <a:endParaRPr/>
          </a:p>
          <a:p>
            <a:pPr indent="-298450" lvl="1" marL="914400" rtl="0" algn="l">
              <a:spcBef>
                <a:spcPts val="0"/>
              </a:spcBef>
              <a:spcAft>
                <a:spcPts val="0"/>
              </a:spcAft>
              <a:buSzPts val="1100"/>
              <a:buChar char="○"/>
            </a:pPr>
            <a:r>
              <a:rPr lang="en"/>
              <a:t>NANOSECONDS - 1 billion per second</a:t>
            </a:r>
            <a:endParaRPr/>
          </a:p>
          <a:p>
            <a:pPr indent="-298450" lvl="1" marL="914400" rtl="0" algn="l">
              <a:spcBef>
                <a:spcPts val="0"/>
              </a:spcBef>
              <a:spcAft>
                <a:spcPts val="0"/>
              </a:spcAft>
              <a:buSzPts val="1100"/>
              <a:buChar char="○"/>
            </a:pPr>
            <a:r>
              <a:rPr lang="en"/>
              <a:t>MICROSECONDS - 1 million per second</a:t>
            </a:r>
            <a:endParaRPr/>
          </a:p>
          <a:p>
            <a:pPr indent="-298450" lvl="1" marL="914400" rtl="0" algn="l">
              <a:spcBef>
                <a:spcPts val="0"/>
              </a:spcBef>
              <a:spcAft>
                <a:spcPts val="0"/>
              </a:spcAft>
              <a:buSzPts val="1100"/>
              <a:buChar char="○"/>
            </a:pPr>
            <a:r>
              <a:rPr lang="en"/>
              <a:t>MILLISECONDS - 1 thousand per second</a:t>
            </a:r>
            <a:endParaRPr/>
          </a:p>
          <a:p>
            <a:pPr indent="-298450" lvl="1" marL="914400" rtl="0" algn="l">
              <a:spcBef>
                <a:spcPts val="0"/>
              </a:spcBef>
              <a:spcAft>
                <a:spcPts val="0"/>
              </a:spcAft>
              <a:buSzPts val="1100"/>
              <a:buChar char="○"/>
            </a:pPr>
            <a:r>
              <a:rPr lang="en"/>
              <a:t>SECONDS - 1 per second</a:t>
            </a:r>
            <a:endParaRPr/>
          </a:p>
          <a:p>
            <a:pPr indent="-298450" lvl="1" marL="914400" rtl="0" algn="l">
              <a:spcBef>
                <a:spcPts val="0"/>
              </a:spcBef>
              <a:spcAft>
                <a:spcPts val="0"/>
              </a:spcAft>
              <a:buSzPts val="1100"/>
              <a:buChar char="○"/>
            </a:pPr>
            <a:r>
              <a:rPr lang="en"/>
              <a:t>MINUTES - 1/60th per second</a:t>
            </a:r>
            <a:endParaRPr/>
          </a:p>
          <a:p>
            <a:pPr indent="-298450" lvl="1" marL="914400" rtl="0" algn="l">
              <a:spcBef>
                <a:spcPts val="0"/>
              </a:spcBef>
              <a:spcAft>
                <a:spcPts val="0"/>
              </a:spcAft>
              <a:buSzPts val="1100"/>
              <a:buChar char="○"/>
            </a:pPr>
            <a:r>
              <a:rPr lang="en"/>
              <a:t>HOURS - 1/3600th per second</a:t>
            </a:r>
            <a:endParaRPr/>
          </a:p>
          <a:p>
            <a:pPr indent="-298450" lvl="1" marL="914400" rtl="0" algn="l">
              <a:spcBef>
                <a:spcPts val="0"/>
              </a:spcBef>
              <a:spcAft>
                <a:spcPts val="0"/>
              </a:spcAft>
              <a:buSzPts val="1100"/>
              <a:buChar char="○"/>
            </a:pPr>
            <a:r>
              <a:rPr lang="en"/>
              <a:t>DAYS - 1/86,400th per second</a:t>
            </a:r>
            <a:endParaRPr/>
          </a:p>
        </p:txBody>
      </p:sp>
      <p:sp>
        <p:nvSpPr>
          <p:cNvPr id="581" name="Google Shape;581;p59"/>
          <p:cNvSpPr txBox="1"/>
          <p:nvPr>
            <p:ph idx="3" type="body"/>
          </p:nvPr>
        </p:nvSpPr>
        <p:spPr>
          <a:xfrm>
            <a:off x="315425" y="3690591"/>
            <a:ext cx="3706500" cy="6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The </a:t>
            </a:r>
            <a:r>
              <a:rPr lang="en">
                <a:latin typeface="Courier New"/>
                <a:ea typeface="Courier New"/>
                <a:cs typeface="Courier New"/>
                <a:sym typeface="Courier New"/>
              </a:rPr>
              <a:t>awaitTermination</a:t>
            </a:r>
            <a:r>
              <a:rPr lang="en"/>
              <a:t> requires you specify how long you're willing to wait. It returns true if all task completed and false otherwise.</a:t>
            </a:r>
            <a:endParaRPr/>
          </a:p>
        </p:txBody>
      </p:sp>
      <p:sp>
        <p:nvSpPr>
          <p:cNvPr id="582" name="Google Shape;582;p59"/>
          <p:cNvSpPr txBox="1"/>
          <p:nvPr>
            <p:ph idx="2" type="body"/>
          </p:nvPr>
        </p:nvSpPr>
        <p:spPr>
          <a:xfrm>
            <a:off x="315425" y="1246298"/>
            <a:ext cx="3706500" cy="23121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1</a:t>
            </a:r>
            <a:r>
              <a:rPr lang="en" sz="1000">
                <a:solidFill>
                  <a:srgbClr val="267F99"/>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ExecutorService</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2</a:t>
            </a:r>
            <a:r>
              <a:rPr lang="en" sz="1000">
                <a:solidFill>
                  <a:srgbClr val="267F99"/>
                </a:solidFill>
                <a:highlight>
                  <a:srgbClr val="FFFFFF"/>
                </a:highlight>
                <a:latin typeface="Consolas"/>
                <a:ea typeface="Consolas"/>
                <a:cs typeface="Consolas"/>
                <a:sym typeface="Consolas"/>
              </a:rPr>
              <a:t>      Executors</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newCachedThreadPool</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3</a:t>
            </a:r>
            <a:r>
              <a:rPr lang="en" sz="1000">
                <a:solidFill>
                  <a:srgbClr val="AF00DB"/>
                </a:solidFill>
                <a:highlight>
                  <a:srgbClr val="FFFFFF"/>
                </a:highlight>
                <a:latin typeface="Consolas"/>
                <a:ea typeface="Consolas"/>
                <a:cs typeface="Consolas"/>
                <a:sym typeface="Consolas"/>
              </a:rPr>
              <a:t>  for</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&lt;=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10</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4</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"Task "</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5</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submit</a:t>
            </a:r>
            <a:r>
              <a:rPr lang="en" sz="1000">
                <a:solidFill>
                  <a:srgbClr val="3B3B3B"/>
                </a:solidFill>
                <a:highlight>
                  <a:srgbClr val="FFFFFF"/>
                </a:highlight>
                <a:latin typeface="Consolas"/>
                <a:ea typeface="Consolas"/>
                <a:cs typeface="Consolas"/>
                <a:sym typeface="Consolas"/>
              </a:rPr>
              <a:t>(()</a:t>
            </a:r>
            <a:r>
              <a:rPr lang="en" sz="1000">
                <a:solidFill>
                  <a:srgbClr val="0000FF"/>
                </a:solidFill>
                <a:highlight>
                  <a:srgbClr val="FFFFFF"/>
                </a:highlight>
                <a:latin typeface="Consolas"/>
                <a:ea typeface="Consolas"/>
                <a:cs typeface="Consolas"/>
                <a:sym typeface="Consolas"/>
              </a:rPr>
              <a:t>-&gt;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6</a:t>
            </a:r>
            <a:r>
              <a:rPr lang="en" sz="1000">
                <a:solidFill>
                  <a:srgbClr val="267F99"/>
                </a:solidFill>
                <a:highlight>
                  <a:srgbClr val="FFFFFF"/>
                </a:highlight>
                <a:latin typeface="Consolas"/>
                <a:ea typeface="Consolas"/>
                <a:cs typeface="Consolas"/>
                <a:sym typeface="Consolas"/>
              </a:rPr>
              <a:t>         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7</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8</a:t>
            </a:r>
            <a:r>
              <a:rPr lang="en" sz="1000">
                <a:solidFill>
                  <a:srgbClr val="001080"/>
                </a:solidFill>
                <a:highlight>
                  <a:srgbClr val="FFFFFF"/>
                </a:highlight>
                <a:latin typeface="Consolas"/>
                <a:ea typeface="Consolas"/>
                <a:cs typeface="Consolas"/>
                <a:sym typeface="Consolas"/>
              </a:rPr>
              <a:t>  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shutdown</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9</a:t>
            </a:r>
            <a:r>
              <a:rPr lang="en" sz="1000">
                <a:solidFill>
                  <a:srgbClr val="001080"/>
                </a:solidFill>
                <a:highlight>
                  <a:srgbClr val="FFFFFF"/>
                </a:highlight>
                <a:latin typeface="Consolas"/>
                <a:ea typeface="Consolas"/>
                <a:cs typeface="Consolas"/>
                <a:sym typeface="Consolas"/>
              </a:rPr>
              <a:t>  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awaitTermination</a:t>
            </a:r>
            <a:r>
              <a:rPr lang="en" sz="1000">
                <a:solidFill>
                  <a:srgbClr val="3B3B3B"/>
                </a:solidFill>
                <a:highlight>
                  <a:srgbClr val="FFFFFF"/>
                </a:highlight>
                <a:latin typeface="Consolas"/>
                <a:ea typeface="Consolas"/>
                <a:cs typeface="Consolas"/>
                <a:sym typeface="Consolas"/>
              </a:rPr>
              <a:t>(</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TimeUnit</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SECONDS</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8000"/>
                </a:solidFill>
                <a:highlight>
                  <a:srgbClr val="FFFFFF"/>
                </a:highlight>
                <a:latin typeface="Consolas"/>
                <a:ea typeface="Consolas"/>
                <a:cs typeface="Consolas"/>
                <a:sym typeface="Consolas"/>
              </a:rPr>
              <a:t>10</a:t>
            </a:r>
            <a:r>
              <a:rPr lang="en" sz="1000">
                <a:solidFill>
                  <a:srgbClr val="267F99"/>
                </a:solidFill>
                <a:highlight>
                  <a:srgbClr val="FFFFFF"/>
                </a:highlight>
                <a:latin typeface="Consolas"/>
                <a:ea typeface="Consolas"/>
                <a:cs typeface="Consolas"/>
                <a:sym typeface="Consolas"/>
              </a:rPr>
              <a:t> 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"All tasks completed."</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t/>
            </a:r>
            <a:endParaRPr sz="1000">
              <a:solidFill>
                <a:srgbClr val="3B3B3B"/>
              </a:solidFill>
              <a:highlight>
                <a:srgbClr val="FFFFFF"/>
              </a:highlight>
              <a:latin typeface="Consolas"/>
              <a:ea typeface="Consolas"/>
              <a:cs typeface="Consolas"/>
              <a:sym typeface="Consolas"/>
            </a:endParaRPr>
          </a:p>
          <a:p>
            <a:pPr indent="0" lvl="0" marL="0" rtl="0" algn="l">
              <a:spcBef>
                <a:spcPts val="0"/>
              </a:spcBef>
              <a:spcAft>
                <a:spcPts val="1600"/>
              </a:spcAft>
              <a:buNone/>
            </a:pPr>
            <a:r>
              <a:t/>
            </a:r>
            <a:endParaRPr sz="1000"/>
          </a:p>
        </p:txBody>
      </p:sp>
      <p:sp>
        <p:nvSpPr>
          <p:cNvPr id="583" name="Google Shape;583;p59"/>
          <p:cNvSpPr txBox="1"/>
          <p:nvPr>
            <p:ph idx="3" type="body"/>
          </p:nvPr>
        </p:nvSpPr>
        <p:spPr>
          <a:xfrm>
            <a:off x="311725" y="4491467"/>
            <a:ext cx="3706500" cy="515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This time bounds the method but has not impact on the running tasks.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6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Terminated!</a:t>
            </a:r>
            <a:endParaRPr/>
          </a:p>
        </p:txBody>
      </p:sp>
      <p:sp>
        <p:nvSpPr>
          <p:cNvPr id="589" name="Google Shape;589;p60"/>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Update one of your smaller races to use an ExecutorService. After every racer has finished, print out their finish time. </a:t>
            </a:r>
            <a:endParaRPr/>
          </a:p>
        </p:txBody>
      </p:sp>
      <p:sp>
        <p:nvSpPr>
          <p:cNvPr id="590" name="Google Shape;590;p6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1" name="Google Shape;591;p60"/>
          <p:cNvSpPr txBox="1"/>
          <p:nvPr>
            <p:ph idx="4" type="body"/>
          </p:nvPr>
        </p:nvSpPr>
        <p:spPr>
          <a:xfrm>
            <a:off x="141600" y="3869900"/>
            <a:ext cx="34098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The </a:t>
            </a:r>
            <a:r>
              <a:rPr lang="en">
                <a:latin typeface="Courier New"/>
                <a:ea typeface="Courier New"/>
                <a:cs typeface="Courier New"/>
                <a:sym typeface="Courier New"/>
              </a:rPr>
              <a:t>awaitTermination</a:t>
            </a:r>
            <a:r>
              <a:rPr lang="en"/>
              <a:t> method requires a </a:t>
            </a:r>
            <a:r>
              <a:rPr b="1" i="1" lang="en">
                <a:solidFill>
                  <a:srgbClr val="FF0000"/>
                </a:solidFill>
              </a:rPr>
              <a:t>timeout</a:t>
            </a:r>
            <a:r>
              <a:rPr lang="en"/>
              <a:t> to ensure you aren't stuck waiting forever.</a:t>
            </a:r>
            <a:endParaRPr/>
          </a:p>
        </p:txBody>
      </p:sp>
      <p:sp>
        <p:nvSpPr>
          <p:cNvPr id="592" name="Google Shape;592;p60"/>
          <p:cNvSpPr txBox="1"/>
          <p:nvPr>
            <p:ph idx="2" type="body"/>
          </p:nvPr>
        </p:nvSpPr>
        <p:spPr>
          <a:xfrm>
            <a:off x="3808625" y="1465325"/>
            <a:ext cx="5212500" cy="24780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your </a:t>
            </a:r>
            <a:r>
              <a:rPr lang="en">
                <a:latin typeface="Courier New"/>
                <a:ea typeface="Courier New"/>
                <a:cs typeface="Courier New"/>
                <a:sym typeface="Courier New"/>
              </a:rPr>
              <a:t>LambdaRace</a:t>
            </a:r>
            <a:r>
              <a:rPr lang="en"/>
              <a:t> </a:t>
            </a:r>
            <a:r>
              <a:rPr lang="en"/>
              <a:t>class.</a:t>
            </a:r>
            <a:endParaRPr/>
          </a:p>
          <a:p>
            <a:pPr indent="-311150" lvl="0" marL="457200" rtl="0" algn="l">
              <a:spcBef>
                <a:spcPts val="1000"/>
              </a:spcBef>
              <a:spcAft>
                <a:spcPts val="0"/>
              </a:spcAft>
              <a:buSzPts val="1300"/>
              <a:buChar char="●"/>
            </a:pPr>
            <a:r>
              <a:rPr lang="en"/>
              <a:t>Update the race to use an </a:t>
            </a:r>
            <a:r>
              <a:rPr lang="en">
                <a:solidFill>
                  <a:srgbClr val="FF0000"/>
                </a:solidFill>
                <a:latin typeface="Courier New"/>
                <a:ea typeface="Courier New"/>
                <a:cs typeface="Courier New"/>
                <a:sym typeface="Courier New"/>
              </a:rPr>
              <a:t>ExecutorService</a:t>
            </a:r>
            <a:r>
              <a:rPr lang="en"/>
              <a:t> to run tasks rather than a </a:t>
            </a:r>
            <a:r>
              <a:rPr lang="en">
                <a:latin typeface="Courier New"/>
                <a:ea typeface="Courier New"/>
                <a:cs typeface="Courier New"/>
                <a:sym typeface="Courier New"/>
              </a:rPr>
              <a:t>Thread</a:t>
            </a:r>
            <a:r>
              <a:rPr lang="en"/>
              <a:t>.</a:t>
            </a:r>
            <a:endParaRPr/>
          </a:p>
          <a:p>
            <a:pPr indent="-311150" lvl="0" marL="457200" rtl="0" algn="l">
              <a:spcBef>
                <a:spcPts val="1000"/>
              </a:spcBef>
              <a:spcAft>
                <a:spcPts val="0"/>
              </a:spcAft>
              <a:buSzPts val="1300"/>
              <a:buChar char="●"/>
            </a:pPr>
            <a:r>
              <a:rPr lang="en"/>
              <a:t>After all of the tasks have been started, wait for the service to terminate using </a:t>
            </a:r>
            <a:r>
              <a:rPr lang="en">
                <a:solidFill>
                  <a:srgbClr val="FF0000"/>
                </a:solidFill>
                <a:latin typeface="Courier New"/>
                <a:ea typeface="Courier New"/>
                <a:cs typeface="Courier New"/>
                <a:sym typeface="Courier New"/>
              </a:rPr>
              <a:t>awaitTermination</a:t>
            </a:r>
            <a:r>
              <a:rPr lang="en"/>
              <a:t>.</a:t>
            </a:r>
            <a:endParaRPr/>
          </a:p>
          <a:p>
            <a:pPr indent="-311150" lvl="0" marL="457200" rtl="0" algn="l">
              <a:spcBef>
                <a:spcPts val="1000"/>
              </a:spcBef>
              <a:spcAft>
                <a:spcPts val="0"/>
              </a:spcAft>
              <a:buSzPts val="1300"/>
              <a:buChar char="●"/>
            </a:pPr>
            <a:r>
              <a:rPr lang="en"/>
              <a:t>Print the finish times for each racer after the </a:t>
            </a:r>
            <a:r>
              <a:rPr b="1" i="1" lang="en">
                <a:solidFill>
                  <a:srgbClr val="FF0000"/>
                </a:solidFill>
              </a:rPr>
              <a:t>race is over</a:t>
            </a:r>
            <a:r>
              <a:rPr lang="en"/>
              <a:t>.</a:t>
            </a:r>
            <a:endParaRPr/>
          </a:p>
          <a:p>
            <a:pPr indent="-311150" lvl="0" marL="457200" rtl="0" algn="l">
              <a:spcBef>
                <a:spcPts val="1000"/>
              </a:spcBef>
              <a:spcAft>
                <a:spcPts val="0"/>
              </a:spcAft>
              <a:buSzPts val="1300"/>
              <a:buChar char="●"/>
            </a:pPr>
            <a:r>
              <a:rPr lang="en"/>
              <a:t>What happens when you try to run this code?</a:t>
            </a:r>
            <a:endParaRPr/>
          </a:p>
          <a:p>
            <a:pPr indent="-298450" lvl="1" marL="914400" rtl="0" algn="l">
              <a:spcBef>
                <a:spcPts val="0"/>
              </a:spcBef>
              <a:spcAft>
                <a:spcPts val="0"/>
              </a:spcAft>
              <a:buSzPts val="1100"/>
              <a:buChar char="○"/>
            </a:pPr>
            <a:r>
              <a:rPr lang="en"/>
              <a:t>You </a:t>
            </a:r>
            <a:r>
              <a:rPr b="1" lang="en"/>
              <a:t>don't</a:t>
            </a:r>
            <a:r>
              <a:rPr lang="en"/>
              <a:t> need to fix it, we're going to talk about it on the next slide</a:t>
            </a:r>
            <a:endParaRPr/>
          </a:p>
        </p:txBody>
      </p:sp>
      <p:sp>
        <p:nvSpPr>
          <p:cNvPr id="593" name="Google Shape;593;p6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8.11</a:t>
            </a:r>
            <a:endParaRPr/>
          </a:p>
        </p:txBody>
      </p:sp>
      <p:sp>
        <p:nvSpPr>
          <p:cNvPr id="594" name="Google Shape;594;p60"/>
          <p:cNvSpPr txBox="1"/>
          <p:nvPr>
            <p:ph idx="4" type="body"/>
          </p:nvPr>
        </p:nvSpPr>
        <p:spPr>
          <a:xfrm>
            <a:off x="141600" y="1465325"/>
            <a:ext cx="3409800" cy="2218800"/>
          </a:xfrm>
          <a:prstGeom prst="rect">
            <a:avLst/>
          </a:prstGeom>
          <a:solidFill>
            <a:schemeClr val="lt1"/>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ExecutorService</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    Executors</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newCachedThreadPool</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AF00DB"/>
                </a:solidFill>
                <a:highlight>
                  <a:srgbClr val="FFFFFF"/>
                </a:highlight>
                <a:latin typeface="Consolas"/>
                <a:ea typeface="Consolas"/>
                <a:cs typeface="Consolas"/>
                <a:sym typeface="Consolas"/>
              </a:rPr>
              <a:t>for</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int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&lt;=</a:t>
            </a:r>
            <a:r>
              <a:rPr lang="en" sz="1000">
                <a:solidFill>
                  <a:srgbClr val="3B3B3B"/>
                </a:solidFill>
                <a:highlight>
                  <a:srgbClr val="FFFFFF"/>
                </a:highlight>
                <a:latin typeface="Consolas"/>
                <a:ea typeface="Consolas"/>
                <a:cs typeface="Consolas"/>
                <a:sym typeface="Consolas"/>
              </a:rPr>
              <a:t> </a:t>
            </a:r>
            <a:r>
              <a:rPr lang="en" sz="1000">
                <a:solidFill>
                  <a:srgbClr val="098658"/>
                </a:solidFill>
                <a:highlight>
                  <a:srgbClr val="FFFFFF"/>
                </a:highlight>
                <a:latin typeface="Consolas"/>
                <a:ea typeface="Consolas"/>
                <a:cs typeface="Consolas"/>
                <a:sym typeface="Consolas"/>
              </a:rPr>
              <a:t>10</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String</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A31515"/>
                </a:solidFill>
                <a:highlight>
                  <a:srgbClr val="FFFFFF"/>
                </a:highlight>
                <a:latin typeface="Consolas"/>
                <a:ea typeface="Consolas"/>
                <a:cs typeface="Consolas"/>
                <a:sym typeface="Consolas"/>
              </a:rPr>
              <a:t>"Task "</a:t>
            </a:r>
            <a:r>
              <a:rPr lang="en" sz="1000">
                <a:solidFill>
                  <a:srgbClr val="3B3B3B"/>
                </a:solidFill>
                <a:highlight>
                  <a:srgbClr val="FFFFFF"/>
                </a:highlight>
                <a:latin typeface="Consolas"/>
                <a:ea typeface="Consolas"/>
                <a:cs typeface="Consolas"/>
                <a:sym typeface="Consolas"/>
              </a:rPr>
              <a:t> </a:t>
            </a:r>
            <a:r>
              <a:rPr lang="en" sz="1000">
                <a:solidFill>
                  <a:srgbClr val="000000"/>
                </a:solidFill>
                <a:highlight>
                  <a:srgbClr val="FFFFFF"/>
                </a:highlight>
                <a:latin typeface="Consolas"/>
                <a:ea typeface="Consolas"/>
                <a:cs typeface="Consolas"/>
                <a:sym typeface="Consolas"/>
              </a:rPr>
              <a:t>+</a:t>
            </a: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i</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   </a:t>
            </a: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submit</a:t>
            </a:r>
            <a:r>
              <a:rPr lang="en" sz="1000">
                <a:solidFill>
                  <a:srgbClr val="3B3B3B"/>
                </a:solidFill>
                <a:highlight>
                  <a:srgbClr val="FFFFFF"/>
                </a:highlight>
                <a:latin typeface="Consolas"/>
                <a:ea typeface="Consolas"/>
                <a:cs typeface="Consolas"/>
                <a:sym typeface="Consolas"/>
              </a:rPr>
              <a:t>(()</a:t>
            </a:r>
            <a:r>
              <a:rPr lang="en" sz="1000">
                <a:solidFill>
                  <a:srgbClr val="0000FF"/>
                </a:solidFill>
                <a:highlight>
                  <a:srgbClr val="FFFFFF"/>
                </a:highlight>
                <a:latin typeface="Consolas"/>
                <a:ea typeface="Consolas"/>
                <a:cs typeface="Consolas"/>
                <a:sym typeface="Consolas"/>
              </a:rPr>
              <a:t>-&gt;</a:t>
            </a:r>
            <a:r>
              <a:rPr lang="en" sz="1000">
                <a:solidFill>
                  <a:srgbClr val="3B3B3B"/>
                </a:solidFill>
                <a:highlight>
                  <a:srgbClr val="FFFFFF"/>
                </a:highlight>
                <a:latin typeface="Consolas"/>
                <a:ea typeface="Consolas"/>
                <a:cs typeface="Consolas"/>
                <a:sym typeface="Consolas"/>
              </a:rPr>
              <a:t> </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       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001080"/>
                </a:solidFill>
                <a:highlight>
                  <a:srgbClr val="FFFFFF"/>
                </a:highlight>
                <a:latin typeface="Consolas"/>
                <a:ea typeface="Consolas"/>
                <a:cs typeface="Consolas"/>
                <a:sym typeface="Consolas"/>
              </a:rPr>
              <a:t>name</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exservice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shutdown</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001080"/>
                </a:solidFill>
                <a:highlight>
                  <a:srgbClr val="FFFFFF"/>
                </a:highlight>
                <a:latin typeface="Consolas"/>
                <a:ea typeface="Consolas"/>
                <a:cs typeface="Consolas"/>
                <a:sym typeface="Consolas"/>
              </a:rPr>
              <a:t>service</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awaitTermination</a:t>
            </a:r>
            <a:r>
              <a:rPr lang="en" sz="1000">
                <a:solidFill>
                  <a:srgbClr val="3B3B3B"/>
                </a:solidFill>
                <a:highlight>
                  <a:srgbClr val="FFFFFF"/>
                </a:highlight>
                <a:latin typeface="Consolas"/>
                <a:ea typeface="Consolas"/>
                <a:cs typeface="Consolas"/>
                <a:sym typeface="Consolas"/>
              </a:rPr>
              <a:t>(</a:t>
            </a:r>
            <a:r>
              <a:rPr lang="en" sz="1000">
                <a:solidFill>
                  <a:srgbClr val="098658"/>
                </a:solidFill>
                <a:highlight>
                  <a:srgbClr val="FFFFFF"/>
                </a:highlight>
                <a:latin typeface="Consolas"/>
                <a:ea typeface="Consolas"/>
                <a:cs typeface="Consolas"/>
                <a:sym typeface="Consolas"/>
              </a:rPr>
              <a:t>1</a:t>
            </a:r>
            <a:r>
              <a:rPr lang="en" sz="1000">
                <a:solidFill>
                  <a:srgbClr val="3B3B3B"/>
                </a:solidFill>
                <a:highlight>
                  <a:srgbClr val="FFFFFF"/>
                </a:highlight>
                <a:latin typeface="Consolas"/>
                <a:ea typeface="Consolas"/>
                <a:cs typeface="Consolas"/>
                <a:sym typeface="Consolas"/>
              </a:rPr>
              <a:t>, </a:t>
            </a:r>
            <a:r>
              <a:rPr lang="en" sz="1000">
                <a:solidFill>
                  <a:srgbClr val="267F99"/>
                </a:solidFill>
                <a:highlight>
                  <a:srgbClr val="FFFFFF"/>
                </a:highlight>
                <a:latin typeface="Consolas"/>
                <a:ea typeface="Consolas"/>
                <a:cs typeface="Consolas"/>
                <a:sym typeface="Consolas"/>
              </a:rPr>
              <a:t>TimeUnit</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SECONDS</a:t>
            </a:r>
            <a:r>
              <a:rPr lang="en" sz="1000">
                <a:solidFill>
                  <a:srgbClr val="3B3B3B"/>
                </a:solidFill>
                <a:highlight>
                  <a:srgbClr val="FFFFFF"/>
                </a:highlight>
                <a:latin typeface="Consolas"/>
                <a:ea typeface="Consolas"/>
                <a:cs typeface="Consolas"/>
                <a:sym typeface="Consolas"/>
              </a:rPr>
              <a:t>);</a:t>
            </a:r>
            <a:endParaRPr sz="1000">
              <a:solidFill>
                <a:srgbClr val="3B3B3B"/>
              </a:solidFill>
              <a:highlight>
                <a:srgbClr val="FFFFFF"/>
              </a:highlight>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267F99"/>
                </a:solidFill>
                <a:highlight>
                  <a:srgbClr val="FFFFFF"/>
                </a:highlight>
                <a:latin typeface="Consolas"/>
                <a:ea typeface="Consolas"/>
                <a:cs typeface="Consolas"/>
                <a:sym typeface="Consolas"/>
              </a:rPr>
              <a:t>System</a:t>
            </a:r>
            <a:r>
              <a:rPr lang="en" sz="1000">
                <a:solidFill>
                  <a:srgbClr val="3B3B3B"/>
                </a:solidFill>
                <a:highlight>
                  <a:srgbClr val="FFFFFF"/>
                </a:highlight>
                <a:latin typeface="Consolas"/>
                <a:ea typeface="Consolas"/>
                <a:cs typeface="Consolas"/>
                <a:sym typeface="Consolas"/>
              </a:rPr>
              <a:t>.</a:t>
            </a:r>
            <a:r>
              <a:rPr lang="en" sz="1000">
                <a:solidFill>
                  <a:srgbClr val="0070C1"/>
                </a:solidFill>
                <a:highlight>
                  <a:srgbClr val="FFFFFF"/>
                </a:highlight>
                <a:latin typeface="Consolas"/>
                <a:ea typeface="Consolas"/>
                <a:cs typeface="Consolas"/>
                <a:sym typeface="Consolas"/>
              </a:rPr>
              <a:t>out</a:t>
            </a:r>
            <a:r>
              <a:rPr lang="en" sz="1000">
                <a:solidFill>
                  <a:srgbClr val="3B3B3B"/>
                </a:solidFill>
                <a:highlight>
                  <a:srgbClr val="FFFFFF"/>
                </a:highlight>
                <a:latin typeface="Consolas"/>
                <a:ea typeface="Consolas"/>
                <a:cs typeface="Consolas"/>
                <a:sym typeface="Consolas"/>
              </a:rPr>
              <a:t>.</a:t>
            </a:r>
            <a:r>
              <a:rPr lang="en" sz="1000">
                <a:solidFill>
                  <a:srgbClr val="795E26"/>
                </a:solidFill>
                <a:highlight>
                  <a:srgbClr val="FFFFFF"/>
                </a:highlight>
                <a:latin typeface="Consolas"/>
                <a:ea typeface="Consolas"/>
                <a:cs typeface="Consolas"/>
                <a:sym typeface="Consolas"/>
              </a:rPr>
              <a:t>println</a:t>
            </a:r>
            <a:r>
              <a:rPr lang="en" sz="1000">
                <a:solidFill>
                  <a:srgbClr val="3B3B3B"/>
                </a:solidFill>
                <a:highlight>
                  <a:srgbClr val="FFFFFF"/>
                </a:highlight>
                <a:latin typeface="Consolas"/>
                <a:ea typeface="Consolas"/>
                <a:cs typeface="Consolas"/>
                <a:sym typeface="Consolas"/>
              </a:rPr>
              <a:t>(</a:t>
            </a:r>
            <a:r>
              <a:rPr lang="en" sz="1000">
                <a:solidFill>
                  <a:srgbClr val="A31515"/>
                </a:solidFill>
                <a:highlight>
                  <a:srgbClr val="FFFFFF"/>
                </a:highlight>
                <a:latin typeface="Consolas"/>
                <a:ea typeface="Consolas"/>
                <a:cs typeface="Consolas"/>
                <a:sym typeface="Consolas"/>
              </a:rPr>
              <a:t>"All tasks completed."</a:t>
            </a:r>
            <a:r>
              <a:rPr lang="en" sz="1000">
                <a:solidFill>
                  <a:srgbClr val="3B3B3B"/>
                </a:solidFill>
                <a:highlight>
                  <a:srgbClr val="FFFFFF"/>
                </a:highlight>
                <a:latin typeface="Consolas"/>
                <a:ea typeface="Consolas"/>
                <a:cs typeface="Consolas"/>
                <a:sym typeface="Consolas"/>
              </a:rPr>
              <a:t>);</a:t>
            </a:r>
            <a:endParaRPr sz="10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1"/>
          <p:cNvSpPr txBox="1"/>
          <p:nvPr>
            <p:ph idx="12" type="sldNum"/>
          </p:nvPr>
        </p:nvSpPr>
        <p:spPr>
          <a:xfrm>
            <a:off x="1950" y="4745575"/>
            <a:ext cx="3621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00" name="Google Shape;600;p61"/>
          <p:cNvSpPr txBox="1"/>
          <p:nvPr>
            <p:ph type="title"/>
          </p:nvPr>
        </p:nvSpPr>
        <p:spPr>
          <a:xfrm>
            <a:off x="5192225" y="1961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700"/>
              <a:t>Thread States II</a:t>
            </a:r>
            <a:endParaRPr sz="2700"/>
          </a:p>
        </p:txBody>
      </p:sp>
      <p:sp>
        <p:nvSpPr>
          <p:cNvPr id="601" name="Google Shape;601;p61"/>
          <p:cNvSpPr txBox="1"/>
          <p:nvPr>
            <p:ph idx="1" type="body"/>
          </p:nvPr>
        </p:nvSpPr>
        <p:spPr>
          <a:xfrm>
            <a:off x="34600" y="157775"/>
            <a:ext cx="4682400" cy="4576500"/>
          </a:xfrm>
          <a:prstGeom prst="rect">
            <a:avLst/>
          </a:prstGeom>
        </p:spPr>
        <p:txBody>
          <a:bodyPr anchorCtr="0" anchor="ctr"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The </a:t>
            </a:r>
            <a:r>
              <a:rPr lang="en" sz="1200">
                <a:latin typeface="Courier New"/>
                <a:ea typeface="Courier New"/>
                <a:cs typeface="Courier New"/>
                <a:sym typeface="Courier New"/>
              </a:rPr>
              <a:t>ExecutorService</a:t>
            </a:r>
            <a:r>
              <a:rPr lang="en" sz="1200"/>
              <a:t> also runs in a </a:t>
            </a:r>
            <a:r>
              <a:rPr lang="en" sz="1200">
                <a:latin typeface="Courier New"/>
                <a:ea typeface="Courier New"/>
                <a:cs typeface="Courier New"/>
                <a:sym typeface="Courier New"/>
              </a:rPr>
              <a:t>Thread</a:t>
            </a:r>
            <a:r>
              <a:rPr lang="en" sz="1200"/>
              <a:t>. In our case the </a:t>
            </a:r>
            <a:r>
              <a:rPr lang="en" sz="1200">
                <a:latin typeface="Courier New"/>
                <a:ea typeface="Courier New"/>
                <a:cs typeface="Courier New"/>
                <a:sym typeface="Courier New"/>
              </a:rPr>
              <a:t>main</a:t>
            </a:r>
            <a:r>
              <a:rPr lang="en" sz="1200"/>
              <a:t> thread.</a:t>
            </a:r>
            <a:endParaRPr sz="1200"/>
          </a:p>
          <a:p>
            <a:pPr indent="-304800" lvl="0" marL="457200" rtl="0" algn="l">
              <a:lnSpc>
                <a:spcPct val="100000"/>
              </a:lnSpc>
              <a:spcBef>
                <a:spcPts val="1000"/>
              </a:spcBef>
              <a:spcAft>
                <a:spcPts val="0"/>
              </a:spcAft>
              <a:buSzPts val="1200"/>
              <a:buChar char="●"/>
            </a:pPr>
            <a:r>
              <a:rPr lang="en" sz="1200"/>
              <a:t>S</a:t>
            </a:r>
            <a:r>
              <a:rPr lang="en" sz="1200"/>
              <a:t>ometimes a thread needs to </a:t>
            </a:r>
            <a:r>
              <a:rPr b="1" i="1" lang="en" sz="1200">
                <a:solidFill>
                  <a:srgbClr val="FF0000"/>
                </a:solidFill>
              </a:rPr>
              <a:t>wait</a:t>
            </a:r>
            <a:r>
              <a:rPr lang="en" sz="1200">
                <a:solidFill>
                  <a:srgbClr val="FF0000"/>
                </a:solidFill>
              </a:rPr>
              <a:t> </a:t>
            </a:r>
            <a:r>
              <a:rPr lang="en" sz="1200"/>
              <a:t>for some </a:t>
            </a:r>
            <a:r>
              <a:rPr b="1" i="1" lang="en" sz="1200">
                <a:solidFill>
                  <a:srgbClr val="FF0000"/>
                </a:solidFill>
              </a:rPr>
              <a:t>important event</a:t>
            </a:r>
            <a:r>
              <a:rPr lang="en" sz="1200"/>
              <a:t> to occur before it continues doing its work.</a:t>
            </a:r>
            <a:endParaRPr sz="1200"/>
          </a:p>
          <a:p>
            <a:pPr indent="-304800" lvl="0" marL="457200" rtl="0" algn="l">
              <a:lnSpc>
                <a:spcPct val="100000"/>
              </a:lnSpc>
              <a:spcBef>
                <a:spcPts val="1000"/>
              </a:spcBef>
              <a:spcAft>
                <a:spcPts val="0"/>
              </a:spcAft>
              <a:buSzPts val="1200"/>
              <a:buChar char="●"/>
            </a:pPr>
            <a:r>
              <a:rPr lang="en" sz="1200"/>
              <a:t>One example of this is the </a:t>
            </a:r>
            <a:r>
              <a:rPr lang="en" sz="1200">
                <a:latin typeface="Courier New"/>
                <a:ea typeface="Courier New"/>
                <a:cs typeface="Courier New"/>
                <a:sym typeface="Courier New"/>
              </a:rPr>
              <a:t>awaitTermination</a:t>
            </a:r>
            <a:r>
              <a:rPr lang="en" sz="1200"/>
              <a:t> method which waits:</a:t>
            </a:r>
            <a:endParaRPr sz="1200"/>
          </a:p>
          <a:p>
            <a:pPr indent="-304800" lvl="1" marL="914400" rtl="0" algn="l">
              <a:lnSpc>
                <a:spcPct val="100000"/>
              </a:lnSpc>
              <a:spcBef>
                <a:spcPts val="0"/>
              </a:spcBef>
              <a:spcAft>
                <a:spcPts val="0"/>
              </a:spcAft>
              <a:buSzPts val="1200"/>
              <a:buChar char="○"/>
            </a:pPr>
            <a:r>
              <a:rPr lang="en" sz="1200"/>
              <a:t>Until all the tasks have </a:t>
            </a:r>
            <a:r>
              <a:rPr b="1" i="1" lang="en" sz="1200">
                <a:solidFill>
                  <a:srgbClr val="FF0000"/>
                </a:solidFill>
              </a:rPr>
              <a:t>completed</a:t>
            </a:r>
            <a:endParaRPr b="1" i="1" sz="1200">
              <a:solidFill>
                <a:srgbClr val="FF0000"/>
              </a:solidFill>
            </a:endParaRPr>
          </a:p>
          <a:p>
            <a:pPr indent="-304800" lvl="1" marL="914400" rtl="0" algn="l">
              <a:lnSpc>
                <a:spcPct val="100000"/>
              </a:lnSpc>
              <a:spcBef>
                <a:spcPts val="0"/>
              </a:spcBef>
              <a:spcAft>
                <a:spcPts val="0"/>
              </a:spcAft>
              <a:buSzPts val="1200"/>
              <a:buChar char="○"/>
            </a:pPr>
            <a:r>
              <a:rPr lang="en" sz="1200"/>
              <a:t>The </a:t>
            </a:r>
            <a:r>
              <a:rPr b="1" i="1" lang="en" sz="1200">
                <a:solidFill>
                  <a:srgbClr val="FF0000"/>
                </a:solidFill>
              </a:rPr>
              <a:t>timeout </a:t>
            </a:r>
            <a:r>
              <a:rPr lang="en" sz="1200"/>
              <a:t>is reached</a:t>
            </a:r>
            <a:endParaRPr sz="1200"/>
          </a:p>
          <a:p>
            <a:pPr indent="0" lvl="0" marL="914400" rtl="0" algn="l">
              <a:lnSpc>
                <a:spcPct val="100000"/>
              </a:lnSpc>
              <a:spcBef>
                <a:spcPts val="0"/>
              </a:spcBef>
              <a:spcAft>
                <a:spcPts val="0"/>
              </a:spcAft>
              <a:buNone/>
            </a:pPr>
            <a:r>
              <a:t/>
            </a:r>
            <a:endParaRPr sz="1200"/>
          </a:p>
          <a:p>
            <a:pPr indent="-304800" lvl="0" marL="457200" rtl="0" algn="l">
              <a:lnSpc>
                <a:spcPct val="100000"/>
              </a:lnSpc>
              <a:spcBef>
                <a:spcPts val="0"/>
              </a:spcBef>
              <a:spcAft>
                <a:spcPts val="0"/>
              </a:spcAft>
              <a:buSzPts val="1200"/>
              <a:buChar char="●"/>
            </a:pPr>
            <a:r>
              <a:rPr lang="en" sz="1200"/>
              <a:t>While awaiting termination the thread enters </a:t>
            </a:r>
            <a:r>
              <a:rPr lang="en" sz="1200"/>
              <a:t>the</a:t>
            </a:r>
            <a:r>
              <a:rPr lang="en" sz="1200"/>
              <a:t> WAITING state. In this state the thread </a:t>
            </a:r>
            <a:r>
              <a:rPr b="1" i="1" lang="en" sz="1200">
                <a:solidFill>
                  <a:srgbClr val="FF0000"/>
                </a:solidFill>
              </a:rPr>
              <a:t>will not</a:t>
            </a:r>
            <a:r>
              <a:rPr lang="en" sz="1200"/>
              <a:t> be scheduled to run on the CPU.</a:t>
            </a:r>
            <a:endParaRPr sz="1200"/>
          </a:p>
          <a:p>
            <a:pPr indent="0" lvl="0" marL="457200" rtl="0" algn="l">
              <a:lnSpc>
                <a:spcPct val="100000"/>
              </a:lnSpc>
              <a:spcBef>
                <a:spcPts val="0"/>
              </a:spcBef>
              <a:spcAft>
                <a:spcPts val="0"/>
              </a:spcAft>
              <a:buNone/>
            </a:pPr>
            <a:r>
              <a:t/>
            </a:r>
            <a:endParaRPr sz="1200"/>
          </a:p>
          <a:p>
            <a:pPr indent="-304800" lvl="0" marL="457200" rtl="0" algn="l">
              <a:lnSpc>
                <a:spcPct val="100000"/>
              </a:lnSpc>
              <a:spcBef>
                <a:spcPts val="0"/>
              </a:spcBef>
              <a:spcAft>
                <a:spcPts val="0"/>
              </a:spcAft>
              <a:buSzPts val="1200"/>
              <a:buChar char="●"/>
            </a:pPr>
            <a:r>
              <a:rPr lang="en" sz="1200"/>
              <a:t>When a thread </a:t>
            </a:r>
            <a:r>
              <a:rPr b="1" i="1" lang="en" sz="1200">
                <a:solidFill>
                  <a:srgbClr val="FF0000"/>
                </a:solidFill>
              </a:rPr>
              <a:t>leaves the waiting state</a:t>
            </a:r>
            <a:r>
              <a:rPr lang="en" sz="1200"/>
              <a:t> it </a:t>
            </a:r>
            <a:r>
              <a:rPr b="1" lang="en" sz="1200"/>
              <a:t>does not</a:t>
            </a:r>
            <a:r>
              <a:rPr lang="en" sz="1200"/>
              <a:t> </a:t>
            </a:r>
            <a:r>
              <a:rPr lang="en" sz="1200"/>
              <a:t>immediately</a:t>
            </a:r>
            <a:r>
              <a:rPr lang="en" sz="1200"/>
              <a:t> start executing. Instead, it is </a:t>
            </a:r>
            <a:r>
              <a:rPr b="1" i="1" lang="en" sz="1200">
                <a:solidFill>
                  <a:srgbClr val="FF0000"/>
                </a:solidFill>
              </a:rPr>
              <a:t>scheduled for </a:t>
            </a:r>
            <a:r>
              <a:rPr b="1" i="1" lang="en" sz="1200">
                <a:solidFill>
                  <a:srgbClr val="FF0000"/>
                </a:solidFill>
              </a:rPr>
              <a:t>execution</a:t>
            </a:r>
            <a:r>
              <a:rPr lang="en" sz="1200"/>
              <a:t> at some point of time in the future by the Java scheduler.</a:t>
            </a:r>
            <a:endParaRPr sz="1200"/>
          </a:p>
          <a:p>
            <a:pPr indent="-304800" lvl="0" marL="457200" rtl="0" algn="l">
              <a:lnSpc>
                <a:spcPct val="100000"/>
              </a:lnSpc>
              <a:spcBef>
                <a:spcPts val="1000"/>
              </a:spcBef>
              <a:spcAft>
                <a:spcPts val="0"/>
              </a:spcAft>
              <a:buSzPts val="1200"/>
              <a:buChar char="●"/>
            </a:pPr>
            <a:r>
              <a:rPr lang="en" sz="1200"/>
              <a:t>Anytime a </a:t>
            </a:r>
            <a:r>
              <a:rPr lang="en" sz="1200"/>
              <a:t>thread</a:t>
            </a:r>
            <a:r>
              <a:rPr lang="en" sz="1200"/>
              <a:t> is waiting, it could generate the </a:t>
            </a:r>
            <a:r>
              <a:rPr lang="en" sz="1200">
                <a:solidFill>
                  <a:srgbClr val="FF0000"/>
                </a:solidFill>
                <a:latin typeface="Courier New"/>
                <a:ea typeface="Courier New"/>
                <a:cs typeface="Courier New"/>
                <a:sym typeface="Courier New"/>
              </a:rPr>
              <a:t>InterruptedException</a:t>
            </a:r>
            <a:r>
              <a:rPr lang="en" sz="1200"/>
              <a:t> checked exception.</a:t>
            </a:r>
            <a:endParaRPr sz="1200"/>
          </a:p>
          <a:p>
            <a:pPr indent="-304800" lvl="0" marL="457200" rtl="0" algn="l">
              <a:lnSpc>
                <a:spcPct val="100000"/>
              </a:lnSpc>
              <a:spcBef>
                <a:spcPts val="1000"/>
              </a:spcBef>
              <a:spcAft>
                <a:spcPts val="0"/>
              </a:spcAft>
              <a:buSzPts val="1200"/>
              <a:buChar char="●"/>
            </a:pPr>
            <a:r>
              <a:rPr lang="en" sz="1200"/>
              <a:t>We'll learn about other events that will cause a thread to wait later in this unit.</a:t>
            </a:r>
            <a:endParaRPr sz="1200"/>
          </a:p>
        </p:txBody>
      </p:sp>
      <p:sp>
        <p:nvSpPr>
          <p:cNvPr id="602" name="Google Shape;602;p61"/>
          <p:cNvSpPr txBox="1"/>
          <p:nvPr>
            <p:ph idx="3" type="body"/>
          </p:nvPr>
        </p:nvSpPr>
        <p:spPr>
          <a:xfrm>
            <a:off x="5192225" y="4089650"/>
            <a:ext cx="3706500" cy="9234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a:t>
            </a:r>
            <a:r>
              <a:rPr b="1" i="1" lang="en">
                <a:solidFill>
                  <a:srgbClr val="FF0000"/>
                </a:solidFill>
              </a:rPr>
              <a:t>thread</a:t>
            </a:r>
            <a:r>
              <a:rPr lang="en">
                <a:solidFill>
                  <a:srgbClr val="FF0000"/>
                </a:solidFill>
              </a:rPr>
              <a:t> </a:t>
            </a:r>
            <a:r>
              <a:rPr lang="en"/>
              <a:t>may exist in </a:t>
            </a:r>
            <a:r>
              <a:rPr b="1" i="1" lang="en">
                <a:solidFill>
                  <a:srgbClr val="FF0000"/>
                </a:solidFill>
              </a:rPr>
              <a:t>exactly one</a:t>
            </a:r>
            <a:r>
              <a:rPr lang="en"/>
              <a:t> of several possible states at any given time. A thread that calls </a:t>
            </a:r>
            <a:r>
              <a:rPr lang="en">
                <a:latin typeface="Courier New"/>
                <a:ea typeface="Courier New"/>
                <a:cs typeface="Courier New"/>
                <a:sym typeface="Courier New"/>
              </a:rPr>
              <a:t>ExecutorService.awaitTermination</a:t>
            </a:r>
            <a:r>
              <a:rPr lang="en"/>
              <a:t> is in the </a:t>
            </a:r>
            <a:r>
              <a:rPr b="1" i="1" lang="en">
                <a:solidFill>
                  <a:srgbClr val="FF0000"/>
                </a:solidFill>
              </a:rPr>
              <a:t>waiting</a:t>
            </a:r>
            <a:r>
              <a:rPr lang="en">
                <a:solidFill>
                  <a:srgbClr val="FF0000"/>
                </a:solidFill>
              </a:rPr>
              <a:t> </a:t>
            </a:r>
            <a:r>
              <a:rPr lang="en"/>
              <a:t>state.</a:t>
            </a:r>
            <a:endParaRPr/>
          </a:p>
        </p:txBody>
      </p:sp>
      <p:grpSp>
        <p:nvGrpSpPr>
          <p:cNvPr id="603" name="Google Shape;603;p61"/>
          <p:cNvGrpSpPr/>
          <p:nvPr/>
        </p:nvGrpSpPr>
        <p:grpSpPr>
          <a:xfrm>
            <a:off x="7110814" y="966713"/>
            <a:ext cx="1486500" cy="2952988"/>
            <a:chOff x="6958414" y="1195313"/>
            <a:chExt cx="1486500" cy="2952988"/>
          </a:xfrm>
        </p:grpSpPr>
        <p:sp>
          <p:nvSpPr>
            <p:cNvPr id="604" name="Google Shape;604;p61"/>
            <p:cNvSpPr/>
            <p:nvPr/>
          </p:nvSpPr>
          <p:spPr>
            <a:xfrm>
              <a:off x="6958414" y="1969300"/>
              <a:ext cx="1486500" cy="1411200"/>
            </a:xfrm>
            <a:prstGeom prst="roundRect">
              <a:avLst>
                <a:gd fmla="val 9698" name="adj"/>
              </a:avLst>
            </a:prstGeom>
            <a:solidFill>
              <a:srgbClr val="38761D"/>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61"/>
            <p:cNvSpPr/>
            <p:nvPr/>
          </p:nvSpPr>
          <p:spPr>
            <a:xfrm>
              <a:off x="7286250" y="1195313"/>
              <a:ext cx="831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NEW</a:t>
              </a:r>
              <a:endParaRPr>
                <a:solidFill>
                  <a:srgbClr val="FFFFFF"/>
                </a:solidFill>
              </a:endParaRPr>
            </a:p>
          </p:txBody>
        </p:sp>
        <p:sp>
          <p:nvSpPr>
            <p:cNvPr id="606" name="Google Shape;606;p61"/>
            <p:cNvSpPr/>
            <p:nvPr/>
          </p:nvSpPr>
          <p:spPr>
            <a:xfrm>
              <a:off x="7029750" y="2049450"/>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RUNNABLE</a:t>
              </a:r>
              <a:endParaRPr>
                <a:solidFill>
                  <a:srgbClr val="FFFFFF"/>
                </a:solidFill>
              </a:endParaRPr>
            </a:p>
          </p:txBody>
        </p:sp>
        <p:sp>
          <p:nvSpPr>
            <p:cNvPr id="607" name="Google Shape;607;p61"/>
            <p:cNvSpPr/>
            <p:nvPr/>
          </p:nvSpPr>
          <p:spPr>
            <a:xfrm>
              <a:off x="7029750" y="29035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i="1" lang="en">
                  <a:solidFill>
                    <a:srgbClr val="FFFFFF"/>
                  </a:solidFill>
                </a:rPr>
                <a:t>RUNNING</a:t>
              </a:r>
              <a:endParaRPr i="1">
                <a:solidFill>
                  <a:srgbClr val="FFFFFF"/>
                </a:solidFill>
              </a:endParaRPr>
            </a:p>
          </p:txBody>
        </p:sp>
        <p:sp>
          <p:nvSpPr>
            <p:cNvPr id="608" name="Google Shape;608;p61"/>
            <p:cNvSpPr/>
            <p:nvPr/>
          </p:nvSpPr>
          <p:spPr>
            <a:xfrm>
              <a:off x="7057607" y="3757700"/>
              <a:ext cx="13020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rPr>
                <a:t>DEAD</a:t>
              </a:r>
              <a:endParaRPr sz="1300">
                <a:solidFill>
                  <a:srgbClr val="FFFFFF"/>
                </a:solidFill>
              </a:endParaRPr>
            </a:p>
          </p:txBody>
        </p:sp>
        <p:cxnSp>
          <p:nvCxnSpPr>
            <p:cNvPr id="609" name="Google Shape;609;p61"/>
            <p:cNvCxnSpPr>
              <a:stCxn id="605" idx="2"/>
              <a:endCxn id="606" idx="0"/>
            </p:cNvCxnSpPr>
            <p:nvPr/>
          </p:nvCxnSpPr>
          <p:spPr>
            <a:xfrm>
              <a:off x="7702200" y="1585913"/>
              <a:ext cx="0" cy="463500"/>
            </a:xfrm>
            <a:prstGeom prst="straightConnector1">
              <a:avLst/>
            </a:prstGeom>
            <a:noFill/>
            <a:ln cap="flat" cmpd="sng" w="9525">
              <a:solidFill>
                <a:srgbClr val="FFFFFF"/>
              </a:solidFill>
              <a:prstDash val="solid"/>
              <a:round/>
              <a:headEnd len="med" w="med" type="none"/>
              <a:tailEnd len="med" w="med" type="triangle"/>
            </a:ln>
          </p:spPr>
        </p:cxnSp>
        <p:cxnSp>
          <p:nvCxnSpPr>
            <p:cNvPr id="610" name="Google Shape;610;p61"/>
            <p:cNvCxnSpPr>
              <a:stCxn id="607" idx="2"/>
              <a:endCxn id="608" idx="0"/>
            </p:cNvCxnSpPr>
            <p:nvPr/>
          </p:nvCxnSpPr>
          <p:spPr>
            <a:xfrm>
              <a:off x="7702200" y="3294175"/>
              <a:ext cx="6300" cy="463500"/>
            </a:xfrm>
            <a:prstGeom prst="straightConnector1">
              <a:avLst/>
            </a:prstGeom>
            <a:noFill/>
            <a:ln cap="flat" cmpd="sng" w="9525">
              <a:solidFill>
                <a:srgbClr val="FFFFFF"/>
              </a:solidFill>
              <a:prstDash val="solid"/>
              <a:round/>
              <a:headEnd len="med" w="med" type="none"/>
              <a:tailEnd len="med" w="med" type="triangle"/>
            </a:ln>
          </p:spPr>
        </p:cxnSp>
        <p:cxnSp>
          <p:nvCxnSpPr>
            <p:cNvPr id="611" name="Google Shape;611;p61"/>
            <p:cNvCxnSpPr/>
            <p:nvPr/>
          </p:nvCxnSpPr>
          <p:spPr>
            <a:xfrm>
              <a:off x="7333050" y="2445150"/>
              <a:ext cx="0" cy="470100"/>
            </a:xfrm>
            <a:prstGeom prst="straightConnector1">
              <a:avLst/>
            </a:prstGeom>
            <a:noFill/>
            <a:ln cap="flat" cmpd="sng" w="9525">
              <a:solidFill>
                <a:srgbClr val="FFFFFF"/>
              </a:solidFill>
              <a:prstDash val="solid"/>
              <a:round/>
              <a:headEnd len="med" w="med" type="none"/>
              <a:tailEnd len="med" w="med" type="triangle"/>
            </a:ln>
          </p:spPr>
        </p:cxnSp>
        <p:cxnSp>
          <p:nvCxnSpPr>
            <p:cNvPr id="612" name="Google Shape;612;p61"/>
            <p:cNvCxnSpPr/>
            <p:nvPr/>
          </p:nvCxnSpPr>
          <p:spPr>
            <a:xfrm rot="10800000">
              <a:off x="8094075" y="2445275"/>
              <a:ext cx="0" cy="470100"/>
            </a:xfrm>
            <a:prstGeom prst="straightConnector1">
              <a:avLst/>
            </a:prstGeom>
            <a:noFill/>
            <a:ln cap="flat" cmpd="sng" w="9525">
              <a:solidFill>
                <a:srgbClr val="FFFFFF"/>
              </a:solidFill>
              <a:prstDash val="solid"/>
              <a:round/>
              <a:headEnd len="med" w="med" type="none"/>
              <a:tailEnd len="med" w="med" type="triangle"/>
            </a:ln>
          </p:spPr>
        </p:cxnSp>
      </p:grpSp>
      <p:sp>
        <p:nvSpPr>
          <p:cNvPr id="613" name="Google Shape;613;p61"/>
          <p:cNvSpPr/>
          <p:nvPr/>
        </p:nvSpPr>
        <p:spPr>
          <a:xfrm>
            <a:off x="5347625" y="2284375"/>
            <a:ext cx="1344900" cy="390600"/>
          </a:xfrm>
          <a:prstGeom prst="roundRect">
            <a:avLst>
              <a:gd fmla="val 16667" name="adj"/>
            </a:avLst>
          </a:prstGeom>
          <a:solidFill>
            <a:srgbClr val="CCA677"/>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rPr>
              <a:t>WAITING</a:t>
            </a:r>
            <a:endParaRPr>
              <a:solidFill>
                <a:srgbClr val="FFFFFF"/>
              </a:solidFill>
            </a:endParaRPr>
          </a:p>
        </p:txBody>
      </p:sp>
      <p:cxnSp>
        <p:nvCxnSpPr>
          <p:cNvPr id="614" name="Google Shape;614;p61"/>
          <p:cNvCxnSpPr>
            <a:stCxn id="607" idx="1"/>
            <a:endCxn id="613" idx="2"/>
          </p:cNvCxnSpPr>
          <p:nvPr/>
        </p:nvCxnSpPr>
        <p:spPr>
          <a:xfrm rot="10800000">
            <a:off x="6019950" y="2674975"/>
            <a:ext cx="1162200" cy="195300"/>
          </a:xfrm>
          <a:prstGeom prst="curvedConnector2">
            <a:avLst/>
          </a:prstGeom>
          <a:noFill/>
          <a:ln cap="flat" cmpd="sng" w="9525">
            <a:solidFill>
              <a:srgbClr val="FFFFFF"/>
            </a:solidFill>
            <a:prstDash val="solid"/>
            <a:round/>
            <a:headEnd len="med" w="med" type="none"/>
            <a:tailEnd len="med" w="med" type="triangle"/>
          </a:ln>
        </p:spPr>
      </p:cxnSp>
      <p:cxnSp>
        <p:nvCxnSpPr>
          <p:cNvPr id="615" name="Google Shape;615;p61"/>
          <p:cNvCxnSpPr>
            <a:stCxn id="613" idx="0"/>
            <a:endCxn id="606" idx="1"/>
          </p:cNvCxnSpPr>
          <p:nvPr/>
        </p:nvCxnSpPr>
        <p:spPr>
          <a:xfrm rot="-5400000">
            <a:off x="6467075" y="1569175"/>
            <a:ext cx="268200" cy="1162200"/>
          </a:xfrm>
          <a:prstGeom prst="curvedConnector2">
            <a:avLst/>
          </a:prstGeom>
          <a:noFill/>
          <a:ln cap="flat" cmpd="sng" w="9525">
            <a:solidFill>
              <a:srgbClr val="FFFFFF"/>
            </a:solidFill>
            <a:prstDash val="solid"/>
            <a:round/>
            <a:headEnd len="med" w="med" type="none"/>
            <a:tailEnd len="med" w="med" type="triangle"/>
          </a:ln>
        </p:spPr>
      </p:cxnSp>
      <p:sp>
        <p:nvSpPr>
          <p:cNvPr id="616" name="Google Shape;616;p61"/>
          <p:cNvSpPr txBox="1"/>
          <p:nvPr/>
        </p:nvSpPr>
        <p:spPr>
          <a:xfrm>
            <a:off x="5451175" y="2853125"/>
            <a:ext cx="1635300" cy="721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100">
                <a:solidFill>
                  <a:srgbClr val="FFFFFF"/>
                </a:solidFill>
                <a:latin typeface="Consolas"/>
                <a:ea typeface="Consolas"/>
                <a:cs typeface="Consolas"/>
                <a:sym typeface="Consolas"/>
              </a:rPr>
              <a:t>awaitTermination</a:t>
            </a:r>
            <a:endParaRPr sz="1100">
              <a:solidFill>
                <a:srgbClr val="FFFFFF"/>
              </a:solidFill>
              <a:latin typeface="Consolas"/>
              <a:ea typeface="Consolas"/>
              <a:cs typeface="Consolas"/>
              <a:sym typeface="Consolas"/>
            </a:endParaRPr>
          </a:p>
        </p:txBody>
      </p:sp>
      <p:sp>
        <p:nvSpPr>
          <p:cNvPr id="617" name="Google Shape;617;p61"/>
          <p:cNvSpPr txBox="1"/>
          <p:nvPr/>
        </p:nvSpPr>
        <p:spPr>
          <a:xfrm>
            <a:off x="5905921" y="1464308"/>
            <a:ext cx="1073100" cy="53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FFFFFF"/>
                </a:solidFill>
              </a:rPr>
              <a:t>event occurs</a:t>
            </a:r>
            <a:endParaRPr sz="1100">
              <a:solidFill>
                <a:srgbClr val="FFFFFF"/>
              </a:solidFill>
            </a:endParaRPr>
          </a:p>
          <a:p>
            <a:pPr indent="0" lvl="0" marL="0" rtl="0" algn="ctr">
              <a:spcBef>
                <a:spcPts val="0"/>
              </a:spcBef>
              <a:spcAft>
                <a:spcPts val="0"/>
              </a:spcAft>
              <a:buNone/>
            </a:pPr>
            <a:r>
              <a:rPr i="1" lang="en" sz="1100">
                <a:solidFill>
                  <a:srgbClr val="FFFFFF"/>
                </a:solidFill>
              </a:rPr>
              <a:t>or</a:t>
            </a:r>
            <a:endParaRPr sz="1100">
              <a:solidFill>
                <a:srgbClr val="FFFFFF"/>
              </a:solidFill>
            </a:endParaRPr>
          </a:p>
          <a:p>
            <a:pPr indent="0" lvl="0" marL="0" rtl="0" algn="ctr">
              <a:spcBef>
                <a:spcPts val="0"/>
              </a:spcBef>
              <a:spcAft>
                <a:spcPts val="0"/>
              </a:spcAft>
              <a:buNone/>
            </a:pPr>
            <a:r>
              <a:rPr lang="en" sz="1100">
                <a:solidFill>
                  <a:srgbClr val="FFFFFF"/>
                </a:solidFill>
              </a:rPr>
              <a:t>interruption</a:t>
            </a:r>
            <a:endParaRPr sz="1100">
              <a:solidFill>
                <a:srgbClr val="FFFF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2"/>
                                        </p:tgtEl>
                                        <p:attrNameLst>
                                          <p:attrName>style.visibility</p:attrName>
                                        </p:attrNameLst>
                                      </p:cBhvr>
                                      <p:to>
                                        <p:strVal val="visible"/>
                                      </p:to>
                                    </p:set>
                                    <p:animEffect filter="fade" transition="in">
                                      <p:cBhvr>
                                        <p:cTn dur="1000"/>
                                        <p:tgtEl>
                                          <p:spTgt spid="6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p62"/>
          <p:cNvSpPr txBox="1"/>
          <p:nvPr>
            <p:ph type="title"/>
          </p:nvPr>
        </p:nvSpPr>
        <p:spPr>
          <a:xfrm>
            <a:off x="5037600" y="500925"/>
            <a:ext cx="4031700" cy="63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2970"/>
              <a:buFont typeface="Calibri"/>
              <a:buNone/>
            </a:pPr>
            <a:r>
              <a:rPr lang="en" sz="2420">
                <a:latin typeface="Courier New"/>
                <a:ea typeface="Courier New"/>
                <a:cs typeface="Courier New"/>
                <a:sym typeface="Courier New"/>
              </a:rPr>
              <a:t>InterruptedException</a:t>
            </a:r>
            <a:endParaRPr sz="2420">
              <a:latin typeface="Courier New"/>
              <a:ea typeface="Courier New"/>
              <a:cs typeface="Courier New"/>
              <a:sym typeface="Courier New"/>
            </a:endParaRPr>
          </a:p>
        </p:txBody>
      </p:sp>
      <p:sp>
        <p:nvSpPr>
          <p:cNvPr id="623" name="Google Shape;623;p62"/>
          <p:cNvSpPr txBox="1"/>
          <p:nvPr>
            <p:ph idx="1" type="body"/>
          </p:nvPr>
        </p:nvSpPr>
        <p:spPr>
          <a:xfrm>
            <a:off x="341400" y="196125"/>
            <a:ext cx="4230900" cy="4655700"/>
          </a:xfrm>
          <a:prstGeom prst="rect">
            <a:avLst/>
          </a:prstGeom>
          <a:noFill/>
          <a:ln>
            <a:noFill/>
          </a:ln>
        </p:spPr>
        <p:txBody>
          <a:bodyPr anchorCtr="0" anchor="t" bIns="34275" lIns="68575" spcFirstLastPara="1" rIns="68575" wrap="square" tIns="34275">
            <a:noAutofit/>
          </a:bodyPr>
          <a:lstStyle/>
          <a:p>
            <a:pPr indent="-304800" lvl="0" marL="457200" rtl="0" algn="l">
              <a:lnSpc>
                <a:spcPct val="115000"/>
              </a:lnSpc>
              <a:spcBef>
                <a:spcPts val="0"/>
              </a:spcBef>
              <a:spcAft>
                <a:spcPts val="0"/>
              </a:spcAft>
              <a:buSzPts val="1200"/>
              <a:buChar char="●"/>
            </a:pPr>
            <a:r>
              <a:rPr lang="en" sz="1200"/>
              <a:t>The full signature for </a:t>
            </a:r>
            <a:r>
              <a:rPr lang="en" sz="1200">
                <a:latin typeface="Courier New"/>
                <a:ea typeface="Courier New"/>
                <a:cs typeface="Courier New"/>
                <a:sym typeface="Courier New"/>
              </a:rPr>
              <a:t>awaitTermination</a:t>
            </a:r>
            <a:r>
              <a:rPr lang="en" sz="1200"/>
              <a:t> is</a:t>
            </a:r>
            <a:endParaRPr sz="1200"/>
          </a:p>
          <a:p>
            <a:pPr indent="457200" lvl="0" marL="0" rtl="0" algn="l">
              <a:lnSpc>
                <a:spcPct val="115000"/>
              </a:lnSpc>
              <a:spcBef>
                <a:spcPts val="1000"/>
              </a:spcBef>
              <a:spcAft>
                <a:spcPts val="0"/>
              </a:spcAft>
              <a:buNone/>
            </a:pPr>
            <a:r>
              <a:rPr lang="en" sz="1200">
                <a:solidFill>
                  <a:srgbClr val="FF0000"/>
                </a:solidFill>
                <a:latin typeface="Courier New"/>
                <a:ea typeface="Courier New"/>
                <a:cs typeface="Courier New"/>
                <a:sym typeface="Courier New"/>
              </a:rPr>
              <a:t>public boolean awaitTermination </a:t>
            </a:r>
            <a:endParaRPr sz="1200">
              <a:solidFill>
                <a:srgbClr val="FF0000"/>
              </a:solidFill>
              <a:latin typeface="Courier New"/>
              <a:ea typeface="Courier New"/>
              <a:cs typeface="Courier New"/>
              <a:sym typeface="Courier New"/>
            </a:endParaRPr>
          </a:p>
          <a:p>
            <a:pPr indent="0" lvl="0" marL="0" rtl="0" algn="l">
              <a:lnSpc>
                <a:spcPct val="115000"/>
              </a:lnSpc>
              <a:spcBef>
                <a:spcPts val="0"/>
              </a:spcBef>
              <a:spcAft>
                <a:spcPts val="0"/>
              </a:spcAft>
              <a:buNone/>
            </a:pPr>
            <a:r>
              <a:rPr lang="en" sz="1200">
                <a:solidFill>
                  <a:srgbClr val="FF0000"/>
                </a:solidFill>
                <a:latin typeface="Courier New"/>
                <a:ea typeface="Courier New"/>
                <a:cs typeface="Courier New"/>
                <a:sym typeface="Courier New"/>
              </a:rPr>
              <a:t>     	(long timeout, TimeUnit unit) </a:t>
            </a:r>
            <a:endParaRPr sz="1200">
              <a:solidFill>
                <a:srgbClr val="FF0000"/>
              </a:solidFill>
              <a:latin typeface="Courier New"/>
              <a:ea typeface="Courier New"/>
              <a:cs typeface="Courier New"/>
              <a:sym typeface="Courier New"/>
            </a:endParaRPr>
          </a:p>
          <a:p>
            <a:pPr indent="457200" lvl="0" marL="0" rtl="0" algn="l">
              <a:lnSpc>
                <a:spcPct val="115000"/>
              </a:lnSpc>
              <a:spcBef>
                <a:spcPts val="0"/>
              </a:spcBef>
              <a:spcAft>
                <a:spcPts val="0"/>
              </a:spcAft>
              <a:buNone/>
            </a:pPr>
            <a:r>
              <a:rPr lang="en" sz="1200">
                <a:solidFill>
                  <a:srgbClr val="FF0000"/>
                </a:solidFill>
                <a:latin typeface="Courier New"/>
                <a:ea typeface="Courier New"/>
                <a:cs typeface="Courier New"/>
                <a:sym typeface="Courier New"/>
              </a:rPr>
              <a:t>     throws InterruptedException</a:t>
            </a: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304800" lvl="0" marL="457200" rtl="0" algn="l">
              <a:lnSpc>
                <a:spcPct val="115000"/>
              </a:lnSpc>
              <a:spcBef>
                <a:spcPts val="1000"/>
              </a:spcBef>
              <a:spcAft>
                <a:spcPts val="0"/>
              </a:spcAft>
              <a:buSzPts val="1200"/>
              <a:buChar char="●"/>
            </a:pPr>
            <a:r>
              <a:rPr lang="en" sz="1200"/>
              <a:t>The </a:t>
            </a:r>
            <a:r>
              <a:rPr b="1" i="1" lang="en" sz="1200">
                <a:solidFill>
                  <a:srgbClr val="FF0000"/>
                </a:solidFill>
              </a:rPr>
              <a:t>calling</a:t>
            </a:r>
            <a:r>
              <a:rPr lang="en" sz="1200">
                <a:solidFill>
                  <a:srgbClr val="FF0000"/>
                </a:solidFill>
              </a:rPr>
              <a:t> </a:t>
            </a:r>
            <a:r>
              <a:rPr lang="en" sz="1200"/>
              <a:t>thread is </a:t>
            </a:r>
            <a:r>
              <a:rPr b="1" i="1" lang="en" sz="1200">
                <a:solidFill>
                  <a:srgbClr val="FF0000"/>
                </a:solidFill>
              </a:rPr>
              <a:t>always</a:t>
            </a:r>
            <a:r>
              <a:rPr lang="en" sz="1200">
                <a:solidFill>
                  <a:srgbClr val="FF0000"/>
                </a:solidFill>
              </a:rPr>
              <a:t> </a:t>
            </a:r>
            <a:r>
              <a:rPr lang="en" sz="1200"/>
              <a:t>the one that awaits - </a:t>
            </a:r>
            <a:r>
              <a:rPr i="1" lang="en" sz="1200"/>
              <a:t>one thread cannot tell another thread to wait!</a:t>
            </a:r>
            <a:endParaRPr sz="1200"/>
          </a:p>
          <a:p>
            <a:pPr indent="-304800" lvl="0" marL="457200" rtl="0" algn="l">
              <a:lnSpc>
                <a:spcPct val="115000"/>
              </a:lnSpc>
              <a:spcBef>
                <a:spcPts val="1000"/>
              </a:spcBef>
              <a:spcAft>
                <a:spcPts val="0"/>
              </a:spcAft>
              <a:buSzPts val="1200"/>
              <a:buChar char="●"/>
            </a:pPr>
            <a:r>
              <a:rPr lang="en" sz="1200"/>
              <a:t>The exception occurs if a sleeping thread is ever </a:t>
            </a:r>
            <a:r>
              <a:rPr b="1" i="1" lang="en" sz="1200">
                <a:solidFill>
                  <a:srgbClr val="FF0000"/>
                </a:solidFill>
              </a:rPr>
              <a:t>interrupted</a:t>
            </a:r>
            <a:endParaRPr b="1" i="1" sz="1200">
              <a:solidFill>
                <a:srgbClr val="FF0000"/>
              </a:solidFill>
            </a:endParaRPr>
          </a:p>
          <a:p>
            <a:pPr indent="-298450" lvl="1" marL="914400" rtl="0" algn="l">
              <a:lnSpc>
                <a:spcPct val="115000"/>
              </a:lnSpc>
              <a:spcBef>
                <a:spcPts val="0"/>
              </a:spcBef>
              <a:spcAft>
                <a:spcPts val="0"/>
              </a:spcAft>
              <a:buClr>
                <a:srgbClr val="666666"/>
              </a:buClr>
              <a:buSzPts val="1100"/>
              <a:buChar char="○"/>
            </a:pPr>
            <a:r>
              <a:rPr lang="en">
                <a:solidFill>
                  <a:srgbClr val="666666"/>
                </a:solidFill>
              </a:rPr>
              <a:t>A thread is only interrupted if </a:t>
            </a:r>
            <a:r>
              <a:rPr lang="en">
                <a:solidFill>
                  <a:srgbClr val="FF0000"/>
                </a:solidFill>
                <a:latin typeface="Courier New"/>
                <a:ea typeface="Courier New"/>
                <a:cs typeface="Courier New"/>
                <a:sym typeface="Courier New"/>
              </a:rPr>
              <a:t>Thread.interrupt</a:t>
            </a:r>
            <a:r>
              <a:rPr lang="en">
                <a:solidFill>
                  <a:srgbClr val="666666"/>
                </a:solidFill>
              </a:rPr>
              <a:t> is called on it while it is waiting.</a:t>
            </a:r>
            <a:endParaRPr>
              <a:solidFill>
                <a:srgbClr val="666666"/>
              </a:solidFill>
            </a:endParaRPr>
          </a:p>
          <a:p>
            <a:pPr indent="-298450" lvl="1" marL="914400" rtl="0" algn="l">
              <a:lnSpc>
                <a:spcPct val="115000"/>
              </a:lnSpc>
              <a:spcBef>
                <a:spcPts val="0"/>
              </a:spcBef>
              <a:spcAft>
                <a:spcPts val="0"/>
              </a:spcAft>
              <a:buClr>
                <a:srgbClr val="666666"/>
              </a:buClr>
              <a:buSzPts val="1100"/>
              <a:buChar char="○"/>
            </a:pPr>
            <a:r>
              <a:rPr lang="en">
                <a:solidFill>
                  <a:srgbClr val="666666"/>
                </a:solidFill>
              </a:rPr>
              <a:t>Normal exceptions will cause the thread to terminate.</a:t>
            </a:r>
            <a:endParaRPr>
              <a:solidFill>
                <a:srgbClr val="666666"/>
              </a:solidFill>
            </a:endParaRPr>
          </a:p>
          <a:p>
            <a:pPr indent="-304800" lvl="0" marL="457200" rtl="0" algn="l">
              <a:lnSpc>
                <a:spcPct val="115000"/>
              </a:lnSpc>
              <a:spcBef>
                <a:spcPts val="1000"/>
              </a:spcBef>
              <a:spcAft>
                <a:spcPts val="0"/>
              </a:spcAft>
              <a:buSzPts val="1200"/>
              <a:buChar char="●"/>
            </a:pPr>
            <a:r>
              <a:rPr lang="en" sz="1200"/>
              <a:t>It is a </a:t>
            </a:r>
            <a:r>
              <a:rPr b="1" i="1" lang="en" sz="1200">
                <a:solidFill>
                  <a:srgbClr val="FF0000"/>
                </a:solidFill>
                <a:latin typeface="Arial"/>
                <a:ea typeface="Arial"/>
                <a:cs typeface="Arial"/>
                <a:sym typeface="Arial"/>
              </a:rPr>
              <a:t>checked</a:t>
            </a:r>
            <a:r>
              <a:rPr b="1" i="1" lang="en" sz="1200">
                <a:solidFill>
                  <a:srgbClr val="FF0000"/>
                </a:solidFill>
              </a:rPr>
              <a:t> </a:t>
            </a:r>
            <a:r>
              <a:rPr lang="en" sz="1200"/>
              <a:t>exception, which means it must be handled in order to compile</a:t>
            </a:r>
            <a:endParaRPr sz="1200"/>
          </a:p>
          <a:p>
            <a:pPr indent="-304800" lvl="0" marL="457200" rtl="0" algn="l">
              <a:lnSpc>
                <a:spcPct val="115000"/>
              </a:lnSpc>
              <a:spcBef>
                <a:spcPts val="1000"/>
              </a:spcBef>
              <a:spcAft>
                <a:spcPts val="0"/>
              </a:spcAft>
              <a:buSzPts val="1200"/>
              <a:buChar char="●"/>
            </a:pPr>
            <a:r>
              <a:rPr i="1" lang="en" sz="1200"/>
              <a:t>(Refresher)</a:t>
            </a:r>
            <a:r>
              <a:rPr lang="en" sz="1200"/>
              <a:t> The two ways to handle an exception are:</a:t>
            </a:r>
            <a:endParaRPr sz="1200"/>
          </a:p>
          <a:p>
            <a:pPr indent="-304800" lvl="1" marL="914400" rtl="0" algn="l">
              <a:lnSpc>
                <a:spcPct val="90000"/>
              </a:lnSpc>
              <a:spcBef>
                <a:spcPts val="0"/>
              </a:spcBef>
              <a:spcAft>
                <a:spcPts val="0"/>
              </a:spcAft>
              <a:buSzPts val="1200"/>
              <a:buChar char="○"/>
            </a:pPr>
            <a:r>
              <a:rPr b="1" i="1" lang="en" sz="1200">
                <a:solidFill>
                  <a:srgbClr val="FF0000"/>
                </a:solidFill>
              </a:rPr>
              <a:t>Try-Catch</a:t>
            </a:r>
            <a:r>
              <a:rPr lang="en" sz="1200"/>
              <a:t> block</a:t>
            </a:r>
            <a:endParaRPr sz="1200"/>
          </a:p>
          <a:p>
            <a:pPr indent="-304800" lvl="1" marL="914400" rtl="0" algn="l">
              <a:lnSpc>
                <a:spcPct val="115000"/>
              </a:lnSpc>
              <a:spcBef>
                <a:spcPts val="800"/>
              </a:spcBef>
              <a:spcAft>
                <a:spcPts val="0"/>
              </a:spcAft>
              <a:buSzPts val="1200"/>
              <a:buChar char="○"/>
            </a:pPr>
            <a:r>
              <a:rPr lang="en" sz="1200"/>
              <a:t>Method is marked with </a:t>
            </a:r>
            <a:r>
              <a:rPr b="1" i="1" lang="en" sz="1200">
                <a:solidFill>
                  <a:srgbClr val="FF0000"/>
                </a:solidFill>
              </a:rPr>
              <a:t>throws exception</a:t>
            </a:r>
            <a:endParaRPr b="1" i="1" sz="1200">
              <a:solidFill>
                <a:srgbClr val="FF0000"/>
              </a:solidFill>
            </a:endParaRPr>
          </a:p>
        </p:txBody>
      </p:sp>
      <p:sp>
        <p:nvSpPr>
          <p:cNvPr id="624" name="Google Shape;624;p62"/>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2"/>
              </a:buClr>
              <a:buSzPts val="2300"/>
              <a:buNone/>
            </a:pPr>
            <a:r>
              <a:rPr lang="en"/>
              <a:t>You will have to handle the checked </a:t>
            </a:r>
            <a:r>
              <a:rPr lang="en">
                <a:latin typeface="Courier New"/>
                <a:ea typeface="Courier New"/>
                <a:cs typeface="Courier New"/>
                <a:sym typeface="Courier New"/>
              </a:rPr>
              <a:t>InterruptedException</a:t>
            </a:r>
            <a:r>
              <a:rPr lang="en"/>
              <a:t>. Unlike many other exceptions you will often </a:t>
            </a:r>
            <a:r>
              <a:rPr b="1" i="1" lang="en">
                <a:solidFill>
                  <a:srgbClr val="FF0000"/>
                </a:solidFill>
              </a:rPr>
              <a:t>ignore</a:t>
            </a:r>
            <a:r>
              <a:rPr lang="en"/>
              <a:t> this one. </a:t>
            </a:r>
            <a:endParaRPr/>
          </a:p>
        </p:txBody>
      </p:sp>
      <p:sp>
        <p:nvSpPr>
          <p:cNvPr id="625" name="Google Shape;625;p62"/>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6" name="Google Shape;626;p62"/>
          <p:cNvSpPr txBox="1"/>
          <p:nvPr/>
        </p:nvSpPr>
        <p:spPr>
          <a:xfrm>
            <a:off x="5264725" y="1928238"/>
            <a:ext cx="3633900" cy="13722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rgbClr val="0000FF"/>
                </a:solidFill>
                <a:latin typeface="Consolas"/>
                <a:ea typeface="Consolas"/>
                <a:cs typeface="Consolas"/>
                <a:sym typeface="Consolas"/>
              </a:rPr>
              <a:t>  try</a:t>
            </a:r>
            <a:r>
              <a:rPr lang="en" sz="1200">
                <a:latin typeface="Consolas"/>
                <a:ea typeface="Consolas"/>
                <a:cs typeface="Consolas"/>
                <a:sym typeface="Consolas"/>
              </a:rPr>
              <a:t> {</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service</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awaitTermination</a:t>
            </a:r>
            <a:r>
              <a:rPr lang="en" sz="1200">
                <a:solidFill>
                  <a:srgbClr val="3B3B3B"/>
                </a:solidFill>
                <a:highlight>
                  <a:srgbClr val="FFFFFF"/>
                </a:highlight>
                <a:latin typeface="Consolas"/>
                <a:ea typeface="Consolas"/>
                <a:cs typeface="Consolas"/>
                <a:sym typeface="Consolas"/>
              </a:rPr>
              <a:t>(</a:t>
            </a:r>
            <a:r>
              <a:rPr lang="en" sz="1200">
                <a:solidFill>
                  <a:srgbClr val="098658"/>
                </a:solidFill>
                <a:highlight>
                  <a:srgbClr val="FFFFFF"/>
                </a:highlight>
                <a:latin typeface="Consolas"/>
                <a:ea typeface="Consolas"/>
                <a:cs typeface="Consolas"/>
                <a:sym typeface="Consolas"/>
              </a:rPr>
              <a:t>1</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SECONDS</a:t>
            </a:r>
            <a:r>
              <a:rPr lang="en" sz="1200">
                <a:solidFill>
                  <a:srgbClr val="3B3B3B"/>
                </a:solidFill>
                <a:highlight>
                  <a:srgbClr val="FFFFFF"/>
                </a:highlight>
                <a:latin typeface="Consolas"/>
                <a:ea typeface="Consolas"/>
                <a:cs typeface="Consolas"/>
                <a:sym typeface="Consolas"/>
              </a:rPr>
              <a:t>)</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 </a:t>
            </a:r>
            <a:r>
              <a:rPr lang="en" sz="1200">
                <a:solidFill>
                  <a:srgbClr val="0000FF"/>
                </a:solidFill>
                <a:latin typeface="Consolas"/>
                <a:ea typeface="Consolas"/>
                <a:cs typeface="Consolas"/>
                <a:sym typeface="Consolas"/>
              </a:rPr>
              <a:t>catch</a:t>
            </a:r>
            <a:r>
              <a:rPr lang="en" sz="1200">
                <a:latin typeface="Consolas"/>
                <a:ea typeface="Consolas"/>
                <a:cs typeface="Consolas"/>
                <a:sym typeface="Consolas"/>
              </a:rPr>
              <a:t>(</a:t>
            </a:r>
            <a:r>
              <a:rPr lang="en" sz="1200">
                <a:solidFill>
                  <a:srgbClr val="0000FF"/>
                </a:solidFill>
                <a:latin typeface="Consolas"/>
                <a:ea typeface="Consolas"/>
                <a:cs typeface="Consolas"/>
                <a:sym typeface="Consolas"/>
              </a:rPr>
              <a:t>InterruptedException</a:t>
            </a:r>
            <a:r>
              <a:rPr lang="en" sz="1200">
                <a:latin typeface="Consolas"/>
                <a:ea typeface="Consolas"/>
                <a:cs typeface="Consolas"/>
                <a:sym typeface="Consolas"/>
              </a:rPr>
              <a:t> e) {</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System.out.println(</a:t>
            </a:r>
            <a:r>
              <a:rPr lang="en" sz="1200">
                <a:solidFill>
                  <a:srgbClr val="A31515"/>
                </a:solidFill>
                <a:latin typeface="Consolas"/>
                <a:ea typeface="Consolas"/>
                <a:cs typeface="Consolas"/>
                <a:sym typeface="Consolas"/>
              </a:rPr>
              <a:t>"Interrupted!"</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a:t>
            </a:r>
            <a:endParaRPr sz="1200">
              <a:latin typeface="Consolas"/>
              <a:ea typeface="Consolas"/>
              <a:cs typeface="Consolas"/>
              <a:sym typeface="Consolas"/>
            </a:endParaRPr>
          </a:p>
        </p:txBody>
      </p:sp>
      <p:sp>
        <p:nvSpPr>
          <p:cNvPr id="627" name="Google Shape;627;p62"/>
          <p:cNvSpPr/>
          <p:nvPr/>
        </p:nvSpPr>
        <p:spPr>
          <a:xfrm>
            <a:off x="7012950" y="1259575"/>
            <a:ext cx="1886100" cy="549900"/>
          </a:xfrm>
          <a:prstGeom prst="rect">
            <a:avLst/>
          </a:prstGeom>
          <a:solidFill>
            <a:srgbClr val="FFF2CC"/>
          </a:solid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000">
                <a:solidFill>
                  <a:srgbClr val="31394D"/>
                </a:solidFill>
              </a:rPr>
              <a:t>When calling </a:t>
            </a:r>
            <a:r>
              <a:rPr lang="en" sz="1000">
                <a:solidFill>
                  <a:srgbClr val="31394D"/>
                </a:solidFill>
                <a:latin typeface="Courier New"/>
                <a:ea typeface="Courier New"/>
                <a:cs typeface="Courier New"/>
                <a:sym typeface="Courier New"/>
              </a:rPr>
              <a:t>awaitTermination</a:t>
            </a:r>
            <a:endParaRPr sz="1000">
              <a:latin typeface="Courier New"/>
              <a:ea typeface="Courier New"/>
              <a:cs typeface="Courier New"/>
              <a:sym typeface="Courier New"/>
            </a:endParaRPr>
          </a:p>
        </p:txBody>
      </p:sp>
      <p:sp>
        <p:nvSpPr>
          <p:cNvPr id="628" name="Google Shape;628;p62"/>
          <p:cNvSpPr/>
          <p:nvPr/>
        </p:nvSpPr>
        <p:spPr>
          <a:xfrm>
            <a:off x="6424350" y="2235625"/>
            <a:ext cx="2278200" cy="256200"/>
          </a:xfrm>
          <a:prstGeom prst="rect">
            <a:avLst/>
          </a:prstGeom>
          <a:no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cxnSp>
        <p:nvCxnSpPr>
          <p:cNvPr id="629" name="Google Shape;629;p62"/>
          <p:cNvCxnSpPr>
            <a:stCxn id="627" idx="2"/>
            <a:endCxn id="628" idx="0"/>
          </p:cNvCxnSpPr>
          <p:nvPr/>
        </p:nvCxnSpPr>
        <p:spPr>
          <a:xfrm rot="5400000">
            <a:off x="7546650" y="1826425"/>
            <a:ext cx="426300" cy="392400"/>
          </a:xfrm>
          <a:prstGeom prst="bentConnector3">
            <a:avLst>
              <a:gd fmla="val 49982" name="adj1"/>
            </a:avLst>
          </a:prstGeom>
          <a:noFill/>
          <a:ln cap="flat" cmpd="sng" w="19050">
            <a:solidFill>
              <a:srgbClr val="FF0000"/>
            </a:solidFill>
            <a:prstDash val="solid"/>
            <a:miter lim="800000"/>
            <a:headEnd len="sm" w="sm" type="none"/>
            <a:tailEnd len="sm" w="sm" type="triangle"/>
          </a:ln>
        </p:spPr>
      </p:cxnSp>
      <p:sp>
        <p:nvSpPr>
          <p:cNvPr id="630" name="Google Shape;630;p62"/>
          <p:cNvSpPr/>
          <p:nvPr/>
        </p:nvSpPr>
        <p:spPr>
          <a:xfrm>
            <a:off x="5984375" y="3420100"/>
            <a:ext cx="1971600" cy="417300"/>
          </a:xfrm>
          <a:prstGeom prst="rect">
            <a:avLst/>
          </a:prstGeom>
          <a:solidFill>
            <a:srgbClr val="FFF2CC"/>
          </a:solid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l">
              <a:spcBef>
                <a:spcPts val="0"/>
              </a:spcBef>
              <a:spcAft>
                <a:spcPts val="0"/>
              </a:spcAft>
              <a:buNone/>
            </a:pPr>
            <a:r>
              <a:rPr lang="en" sz="1000">
                <a:solidFill>
                  <a:srgbClr val="31394D"/>
                </a:solidFill>
              </a:rPr>
              <a:t>Catch the checked exception</a:t>
            </a:r>
            <a:endParaRPr sz="1000">
              <a:latin typeface="Courier New"/>
              <a:ea typeface="Courier New"/>
              <a:cs typeface="Courier New"/>
              <a:sym typeface="Courier New"/>
            </a:endParaRPr>
          </a:p>
        </p:txBody>
      </p:sp>
      <p:sp>
        <p:nvSpPr>
          <p:cNvPr id="631" name="Google Shape;631;p62"/>
          <p:cNvSpPr/>
          <p:nvPr/>
        </p:nvSpPr>
        <p:spPr>
          <a:xfrm>
            <a:off x="6192278" y="2500639"/>
            <a:ext cx="1863300" cy="229500"/>
          </a:xfrm>
          <a:prstGeom prst="rect">
            <a:avLst/>
          </a:prstGeom>
          <a:no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FFFFFF"/>
              </a:solidFill>
              <a:latin typeface="Calibri"/>
              <a:ea typeface="Calibri"/>
              <a:cs typeface="Calibri"/>
              <a:sym typeface="Calibri"/>
            </a:endParaRPr>
          </a:p>
        </p:txBody>
      </p:sp>
      <p:cxnSp>
        <p:nvCxnSpPr>
          <p:cNvPr id="632" name="Google Shape;632;p62"/>
          <p:cNvCxnSpPr>
            <a:stCxn id="630" idx="3"/>
            <a:endCxn id="631" idx="3"/>
          </p:cNvCxnSpPr>
          <p:nvPr/>
        </p:nvCxnSpPr>
        <p:spPr>
          <a:xfrm flipH="1" rot="10800000">
            <a:off x="7955975" y="2615350"/>
            <a:ext cx="99600" cy="1013400"/>
          </a:xfrm>
          <a:prstGeom prst="bentConnector3">
            <a:avLst>
              <a:gd fmla="val 977786" name="adj1"/>
            </a:avLst>
          </a:prstGeom>
          <a:noFill/>
          <a:ln cap="flat" cmpd="sng" w="19050">
            <a:solidFill>
              <a:srgbClr val="FF0000"/>
            </a:solidFill>
            <a:prstDash val="solid"/>
            <a:miter lim="800000"/>
            <a:headEnd len="sm" w="sm" type="none"/>
            <a:tailEnd len="sm" w="sm"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7"/>
                                        </p:tgtEl>
                                        <p:attrNameLst>
                                          <p:attrName>style.visibility</p:attrName>
                                        </p:attrNameLst>
                                      </p:cBhvr>
                                      <p:to>
                                        <p:strVal val="visible"/>
                                      </p:to>
                                    </p:set>
                                    <p:animEffect filter="fade" transition="in">
                                      <p:cBhvr>
                                        <p:cTn dur="1000"/>
                                        <p:tgtEl>
                                          <p:spTgt spid="62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29"/>
                                        </p:tgtEl>
                                        <p:attrNameLst>
                                          <p:attrName>style.visibility</p:attrName>
                                        </p:attrNameLst>
                                      </p:cBhvr>
                                      <p:to>
                                        <p:strVal val="visible"/>
                                      </p:to>
                                    </p:set>
                                    <p:animEffect filter="fade" transition="in">
                                      <p:cBhvr>
                                        <p:cTn dur="1000"/>
                                        <p:tgtEl>
                                          <p:spTgt spid="62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28"/>
                                        </p:tgtEl>
                                        <p:attrNameLst>
                                          <p:attrName>style.visibility</p:attrName>
                                        </p:attrNameLst>
                                      </p:cBhvr>
                                      <p:to>
                                        <p:strVal val="visible"/>
                                      </p:to>
                                    </p:set>
                                    <p:animEffect filter="fade" transition="in">
                                      <p:cBhvr>
                                        <p:cTn dur="1000"/>
                                        <p:tgtEl>
                                          <p:spTgt spid="6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0"/>
                                        </p:tgtEl>
                                        <p:attrNameLst>
                                          <p:attrName>style.visibility</p:attrName>
                                        </p:attrNameLst>
                                      </p:cBhvr>
                                      <p:to>
                                        <p:strVal val="visible"/>
                                      </p:to>
                                    </p:set>
                                    <p:animEffect filter="fade" transition="in">
                                      <p:cBhvr>
                                        <p:cTn dur="1000"/>
                                        <p:tgtEl>
                                          <p:spTgt spid="6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32"/>
                                        </p:tgtEl>
                                        <p:attrNameLst>
                                          <p:attrName>style.visibility</p:attrName>
                                        </p:attrNameLst>
                                      </p:cBhvr>
                                      <p:to>
                                        <p:strVal val="visible"/>
                                      </p:to>
                                    </p:set>
                                    <p:animEffect filter="fade" transition="in">
                                      <p:cBhvr>
                                        <p:cTn dur="1100"/>
                                        <p:tgtEl>
                                          <p:spTgt spid="632"/>
                                        </p:tgtEl>
                                      </p:cBhvr>
                                    </p:animEffect>
                                  </p:childTnLst>
                                </p:cTn>
                              </p:par>
                            </p:childTnLst>
                          </p:cTn>
                        </p:par>
                        <p:par>
                          <p:cTn fill="hold">
                            <p:stCondLst>
                              <p:cond delay="2100"/>
                            </p:stCondLst>
                            <p:childTnLst>
                              <p:par>
                                <p:cTn fill="hold" nodeType="after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1000"/>
                                        <p:tgtEl>
                                          <p:spTgt spid="6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8" name="Google Shape;638;p6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Fix Issue</a:t>
            </a:r>
            <a:endParaRPr/>
          </a:p>
        </p:txBody>
      </p:sp>
      <p:sp>
        <p:nvSpPr>
          <p:cNvPr id="639" name="Google Shape;639;p63"/>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 understand what causes an InterruptedException, let's protect against it and get or race back on track. </a:t>
            </a:r>
            <a:r>
              <a:rPr lang="en" sz="1400"/>
              <a:t>(</a:t>
            </a:r>
            <a:r>
              <a:rPr i="1" lang="en" sz="1400"/>
              <a:t>See what I did there</a:t>
            </a:r>
            <a:r>
              <a:rPr lang="en" sz="1400"/>
              <a:t>)</a:t>
            </a:r>
            <a:endParaRPr sz="1400"/>
          </a:p>
        </p:txBody>
      </p:sp>
      <p:sp>
        <p:nvSpPr>
          <p:cNvPr id="640" name="Google Shape;640;p63"/>
          <p:cNvSpPr txBox="1"/>
          <p:nvPr>
            <p:ph idx="4" type="body"/>
          </p:nvPr>
        </p:nvSpPr>
        <p:spPr>
          <a:xfrm>
            <a:off x="141600" y="3348744"/>
            <a:ext cx="36339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InterruptedException is one of the few checked exceptions that you can ignore.</a:t>
            </a:r>
            <a:endParaRPr/>
          </a:p>
        </p:txBody>
      </p:sp>
      <p:sp>
        <p:nvSpPr>
          <p:cNvPr id="641" name="Google Shape;641;p63"/>
          <p:cNvSpPr txBox="1"/>
          <p:nvPr>
            <p:ph idx="2" type="body"/>
          </p:nvPr>
        </p:nvSpPr>
        <p:spPr>
          <a:xfrm>
            <a:off x="3883675" y="1814950"/>
            <a:ext cx="5057400" cy="2800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Update your race file to handle the </a:t>
            </a:r>
            <a:r>
              <a:rPr lang="en">
                <a:latin typeface="Courier New"/>
                <a:ea typeface="Courier New"/>
                <a:cs typeface="Courier New"/>
                <a:sym typeface="Courier New"/>
              </a:rPr>
              <a:t>InterruptedExecption</a:t>
            </a:r>
            <a:r>
              <a:rPr lang="en"/>
              <a:t> c</a:t>
            </a:r>
            <a:r>
              <a:rPr lang="en"/>
              <a:t>ase.</a:t>
            </a:r>
            <a:endParaRPr/>
          </a:p>
          <a:p>
            <a:pPr indent="-311150" lvl="0" marL="457200" rtl="0" algn="l">
              <a:spcBef>
                <a:spcPts val="1000"/>
              </a:spcBef>
              <a:spcAft>
                <a:spcPts val="0"/>
              </a:spcAft>
              <a:buSzPts val="1300"/>
              <a:buChar char="●"/>
            </a:pPr>
            <a:r>
              <a:rPr lang="en"/>
              <a:t>Since interrupting exceptions has to be explicitly called by the </a:t>
            </a:r>
            <a:r>
              <a:rPr lang="en"/>
              <a:t>user</a:t>
            </a:r>
            <a:r>
              <a:rPr lang="en"/>
              <a:t> application, they are safe to ignore.</a:t>
            </a:r>
            <a:endParaRPr/>
          </a:p>
          <a:p>
            <a:pPr indent="-298450" lvl="1" marL="914400" rtl="0" algn="l">
              <a:spcBef>
                <a:spcPts val="0"/>
              </a:spcBef>
              <a:spcAft>
                <a:spcPts val="0"/>
              </a:spcAft>
              <a:buSzPts val="1100"/>
              <a:buChar char="○"/>
            </a:pPr>
            <a:r>
              <a:rPr lang="en"/>
              <a:t>Unless you are calling </a:t>
            </a:r>
            <a:r>
              <a:rPr lang="en">
                <a:latin typeface="Courier New"/>
                <a:ea typeface="Courier New"/>
                <a:cs typeface="Courier New"/>
                <a:sym typeface="Courier New"/>
              </a:rPr>
              <a:t>Thread.interrupt()</a:t>
            </a:r>
            <a:r>
              <a:rPr lang="en"/>
              <a:t>, in which case you'd need to handle it.</a:t>
            </a:r>
            <a:endParaRPr/>
          </a:p>
          <a:p>
            <a:pPr indent="-298450" lvl="1" marL="914400" rtl="0" algn="l">
              <a:spcBef>
                <a:spcPts val="0"/>
              </a:spcBef>
              <a:spcAft>
                <a:spcPts val="0"/>
              </a:spcAft>
              <a:buSzPts val="1100"/>
              <a:buChar char="○"/>
            </a:pPr>
            <a:r>
              <a:rPr lang="en"/>
              <a:t>Or you call </a:t>
            </a:r>
            <a:r>
              <a:rPr lang="en">
                <a:latin typeface="Courier New"/>
                <a:ea typeface="Courier New"/>
                <a:cs typeface="Courier New"/>
                <a:sym typeface="Courier New"/>
              </a:rPr>
              <a:t>ExecutorService.shutdownNow()</a:t>
            </a:r>
            <a:r>
              <a:rPr lang="en"/>
              <a:t>, which you shouldn't be for our code.</a:t>
            </a:r>
            <a:endParaRPr/>
          </a:p>
          <a:p>
            <a:pPr indent="-311150" lvl="0" marL="457200" rtl="0" algn="l">
              <a:spcBef>
                <a:spcPts val="1000"/>
              </a:spcBef>
              <a:spcAft>
                <a:spcPts val="0"/>
              </a:spcAft>
              <a:buSzPts val="1300"/>
              <a:buChar char="●"/>
            </a:pPr>
            <a:r>
              <a:rPr lang="en"/>
              <a:t>Run your race and see that the finish times all print out correctly. Verify the winner was the first one to print the final lap message.</a:t>
            </a:r>
            <a:endParaRPr/>
          </a:p>
        </p:txBody>
      </p:sp>
      <p:sp>
        <p:nvSpPr>
          <p:cNvPr id="642" name="Google Shape;642;p6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8.12</a:t>
            </a:r>
            <a:endParaRPr/>
          </a:p>
        </p:txBody>
      </p:sp>
      <p:sp>
        <p:nvSpPr>
          <p:cNvPr id="643" name="Google Shape;643;p63"/>
          <p:cNvSpPr txBox="1"/>
          <p:nvPr/>
        </p:nvSpPr>
        <p:spPr>
          <a:xfrm>
            <a:off x="141600" y="1814938"/>
            <a:ext cx="3633900" cy="13722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rgbClr val="0000FF"/>
                </a:solidFill>
                <a:latin typeface="Consolas"/>
                <a:ea typeface="Consolas"/>
                <a:cs typeface="Consolas"/>
                <a:sym typeface="Consolas"/>
              </a:rPr>
              <a:t>  try</a:t>
            </a:r>
            <a:r>
              <a:rPr lang="en" sz="1200">
                <a:latin typeface="Consolas"/>
                <a:ea typeface="Consolas"/>
                <a:cs typeface="Consolas"/>
                <a:sym typeface="Consolas"/>
              </a:rPr>
              <a:t> {</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service</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awaitTermination</a:t>
            </a:r>
            <a:r>
              <a:rPr lang="en" sz="1200">
                <a:solidFill>
                  <a:srgbClr val="3B3B3B"/>
                </a:solidFill>
                <a:highlight>
                  <a:srgbClr val="FFFFFF"/>
                </a:highlight>
                <a:latin typeface="Consolas"/>
                <a:ea typeface="Consolas"/>
                <a:cs typeface="Consolas"/>
                <a:sym typeface="Consolas"/>
              </a:rPr>
              <a:t>(</a:t>
            </a:r>
            <a:r>
              <a:rPr lang="en" sz="1200">
                <a:solidFill>
                  <a:srgbClr val="098658"/>
                </a:solidFill>
                <a:highlight>
                  <a:srgbClr val="FFFFFF"/>
                </a:highlight>
                <a:latin typeface="Consolas"/>
                <a:ea typeface="Consolas"/>
                <a:cs typeface="Consolas"/>
                <a:sym typeface="Consolas"/>
              </a:rPr>
              <a:t>1</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SECONDS</a:t>
            </a:r>
            <a:r>
              <a:rPr lang="en" sz="1200">
                <a:solidFill>
                  <a:srgbClr val="3B3B3B"/>
                </a:solidFill>
                <a:highlight>
                  <a:srgbClr val="FFFFFF"/>
                </a:highlight>
                <a:latin typeface="Consolas"/>
                <a:ea typeface="Consolas"/>
                <a:cs typeface="Consolas"/>
                <a:sym typeface="Consolas"/>
              </a:rPr>
              <a:t>)</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 </a:t>
            </a:r>
            <a:r>
              <a:rPr lang="en" sz="1200">
                <a:solidFill>
                  <a:srgbClr val="0000FF"/>
                </a:solidFill>
                <a:latin typeface="Consolas"/>
                <a:ea typeface="Consolas"/>
                <a:cs typeface="Consolas"/>
                <a:sym typeface="Consolas"/>
              </a:rPr>
              <a:t>catch</a:t>
            </a:r>
            <a:r>
              <a:rPr lang="en" sz="1200">
                <a:latin typeface="Consolas"/>
                <a:ea typeface="Consolas"/>
                <a:cs typeface="Consolas"/>
                <a:sym typeface="Consolas"/>
              </a:rPr>
              <a:t>(</a:t>
            </a:r>
            <a:r>
              <a:rPr lang="en" sz="1200">
                <a:solidFill>
                  <a:srgbClr val="0000FF"/>
                </a:solidFill>
                <a:latin typeface="Consolas"/>
                <a:ea typeface="Consolas"/>
                <a:cs typeface="Consolas"/>
                <a:sym typeface="Consolas"/>
              </a:rPr>
              <a:t>InterruptedException</a:t>
            </a:r>
            <a:r>
              <a:rPr lang="en" sz="1200">
                <a:latin typeface="Consolas"/>
                <a:ea typeface="Consolas"/>
                <a:cs typeface="Consolas"/>
                <a:sym typeface="Consolas"/>
              </a:rPr>
              <a:t> e) {</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System.out.println(</a:t>
            </a:r>
            <a:r>
              <a:rPr lang="en" sz="1200">
                <a:solidFill>
                  <a:srgbClr val="A31515"/>
                </a:solidFill>
                <a:latin typeface="Consolas"/>
                <a:ea typeface="Consolas"/>
                <a:cs typeface="Consolas"/>
                <a:sym typeface="Consolas"/>
              </a:rPr>
              <a:t>"Interrupted!"</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a:t>
            </a:r>
            <a:endParaRPr sz="1200">
              <a:latin typeface="Consolas"/>
              <a:ea typeface="Consolas"/>
              <a:cs typeface="Consolas"/>
              <a:sym typeface="Consolas"/>
            </a:endParaRPr>
          </a:p>
        </p:txBody>
      </p:sp>
      <p:sp>
        <p:nvSpPr>
          <p:cNvPr id="644" name="Google Shape;644;p63"/>
          <p:cNvSpPr txBox="1"/>
          <p:nvPr/>
        </p:nvSpPr>
        <p:spPr>
          <a:xfrm>
            <a:off x="141600" y="4044388"/>
            <a:ext cx="3633900" cy="870600"/>
          </a:xfrm>
          <a:prstGeom prst="rect">
            <a:avLst/>
          </a:prstGeom>
          <a:solidFill>
            <a:srgbClr val="FFFFFF"/>
          </a:solidFill>
          <a:ln cap="flat" cmpd="sng" w="19050">
            <a:solidFill>
              <a:schemeClr val="accent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rgbClr val="0000FF"/>
                </a:solidFill>
                <a:latin typeface="Consolas"/>
                <a:ea typeface="Consolas"/>
                <a:cs typeface="Consolas"/>
                <a:sym typeface="Consolas"/>
              </a:rPr>
              <a:t>  try</a:t>
            </a:r>
            <a:r>
              <a:rPr lang="en" sz="1200">
                <a:latin typeface="Consolas"/>
                <a:ea typeface="Consolas"/>
                <a:cs typeface="Consolas"/>
                <a:sym typeface="Consolas"/>
              </a:rPr>
              <a:t> {</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a:t>
            </a:r>
            <a:r>
              <a:rPr lang="en" sz="1200">
                <a:solidFill>
                  <a:srgbClr val="001080"/>
                </a:solidFill>
                <a:highlight>
                  <a:srgbClr val="FFFFFF"/>
                </a:highlight>
                <a:latin typeface="Consolas"/>
                <a:ea typeface="Consolas"/>
                <a:cs typeface="Consolas"/>
                <a:sym typeface="Consolas"/>
              </a:rPr>
              <a:t>service</a:t>
            </a:r>
            <a:r>
              <a:rPr lang="en" sz="1200">
                <a:solidFill>
                  <a:srgbClr val="3B3B3B"/>
                </a:solidFill>
                <a:highlight>
                  <a:srgbClr val="FFFFFF"/>
                </a:highlight>
                <a:latin typeface="Consolas"/>
                <a:ea typeface="Consolas"/>
                <a:cs typeface="Consolas"/>
                <a:sym typeface="Consolas"/>
              </a:rPr>
              <a:t>.</a:t>
            </a:r>
            <a:r>
              <a:rPr lang="en" sz="1200">
                <a:solidFill>
                  <a:srgbClr val="795E26"/>
                </a:solidFill>
                <a:highlight>
                  <a:srgbClr val="FFFFFF"/>
                </a:highlight>
                <a:latin typeface="Consolas"/>
                <a:ea typeface="Consolas"/>
                <a:cs typeface="Consolas"/>
                <a:sym typeface="Consolas"/>
              </a:rPr>
              <a:t>awaitTermination</a:t>
            </a:r>
            <a:r>
              <a:rPr lang="en" sz="1200">
                <a:solidFill>
                  <a:srgbClr val="3B3B3B"/>
                </a:solidFill>
                <a:highlight>
                  <a:srgbClr val="FFFFFF"/>
                </a:highlight>
                <a:latin typeface="Consolas"/>
                <a:ea typeface="Consolas"/>
                <a:cs typeface="Consolas"/>
                <a:sym typeface="Consolas"/>
              </a:rPr>
              <a:t>(</a:t>
            </a:r>
            <a:r>
              <a:rPr lang="en" sz="1200">
                <a:solidFill>
                  <a:srgbClr val="098658"/>
                </a:solidFill>
                <a:highlight>
                  <a:srgbClr val="FFFFFF"/>
                </a:highlight>
                <a:latin typeface="Consolas"/>
                <a:ea typeface="Consolas"/>
                <a:cs typeface="Consolas"/>
                <a:sym typeface="Consolas"/>
              </a:rPr>
              <a:t>1</a:t>
            </a:r>
            <a:r>
              <a:rPr lang="en" sz="1200">
                <a:solidFill>
                  <a:srgbClr val="3B3B3B"/>
                </a:solidFill>
                <a:highlight>
                  <a:srgbClr val="FFFFFF"/>
                </a:highlight>
                <a:latin typeface="Consolas"/>
                <a:ea typeface="Consolas"/>
                <a:cs typeface="Consolas"/>
                <a:sym typeface="Consolas"/>
              </a:rPr>
              <a:t>,</a:t>
            </a:r>
            <a:r>
              <a:rPr lang="en" sz="1200">
                <a:solidFill>
                  <a:srgbClr val="0070C1"/>
                </a:solidFill>
                <a:highlight>
                  <a:srgbClr val="FFFFFF"/>
                </a:highlight>
                <a:latin typeface="Consolas"/>
                <a:ea typeface="Consolas"/>
                <a:cs typeface="Consolas"/>
                <a:sym typeface="Consolas"/>
              </a:rPr>
              <a:t>SECONDS</a:t>
            </a:r>
            <a:r>
              <a:rPr lang="en" sz="1200">
                <a:solidFill>
                  <a:srgbClr val="3B3B3B"/>
                </a:solidFill>
                <a:highlight>
                  <a:srgbClr val="FFFFFF"/>
                </a:highlight>
                <a:latin typeface="Consolas"/>
                <a:ea typeface="Consolas"/>
                <a:cs typeface="Consolas"/>
                <a:sym typeface="Consolas"/>
              </a:rPr>
              <a:t>)</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 </a:t>
            </a:r>
            <a:r>
              <a:rPr lang="en" sz="1200">
                <a:solidFill>
                  <a:srgbClr val="0000FF"/>
                </a:solidFill>
                <a:latin typeface="Consolas"/>
                <a:ea typeface="Consolas"/>
                <a:cs typeface="Consolas"/>
                <a:sym typeface="Consolas"/>
              </a:rPr>
              <a:t>catch</a:t>
            </a:r>
            <a:r>
              <a:rPr lang="en" sz="1200">
                <a:latin typeface="Consolas"/>
                <a:ea typeface="Consolas"/>
                <a:cs typeface="Consolas"/>
                <a:sym typeface="Consolas"/>
              </a:rPr>
              <a:t>(</a:t>
            </a:r>
            <a:r>
              <a:rPr lang="en" sz="1200">
                <a:solidFill>
                  <a:srgbClr val="0000FF"/>
                </a:solidFill>
                <a:latin typeface="Consolas"/>
                <a:ea typeface="Consolas"/>
                <a:cs typeface="Consolas"/>
                <a:sym typeface="Consolas"/>
              </a:rPr>
              <a:t>InterruptedException</a:t>
            </a:r>
            <a:r>
              <a:rPr lang="en" sz="1200">
                <a:latin typeface="Consolas"/>
                <a:ea typeface="Consolas"/>
                <a:cs typeface="Consolas"/>
                <a:sym typeface="Consolas"/>
              </a:rPr>
              <a:t> e) {}</a:t>
            </a:r>
            <a:endParaRPr sz="1200">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4"/>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If you look at the output from your various races closely, you may notice some level of "unfairness". Let's see if we can find some examples.</a:t>
            </a:r>
            <a:endParaRPr/>
          </a:p>
        </p:txBody>
      </p:sp>
      <p:sp>
        <p:nvSpPr>
          <p:cNvPr id="650" name="Google Shape;650;p6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1" name="Google Shape;651;p64"/>
          <p:cNvSpPr txBox="1"/>
          <p:nvPr>
            <p:ph idx="2" type="body"/>
          </p:nvPr>
        </p:nvSpPr>
        <p:spPr>
          <a:xfrm>
            <a:off x="3165300" y="1506050"/>
            <a:ext cx="5775900" cy="29601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LotsORacers, t</a:t>
            </a:r>
            <a:r>
              <a:rPr lang="en"/>
              <a:t>ry running a short race with only a few laps</a:t>
            </a:r>
            <a:r>
              <a:rPr lang="en"/>
              <a:t>. For example, </a:t>
            </a:r>
            <a:r>
              <a:rPr b="1" i="1" lang="en">
                <a:solidFill>
                  <a:srgbClr val="FF0000"/>
                </a:solidFill>
              </a:rPr>
              <a:t>3 racers</a:t>
            </a:r>
            <a:r>
              <a:rPr lang="en"/>
              <a:t> with </a:t>
            </a:r>
            <a:r>
              <a:rPr b="1" i="1" lang="en">
                <a:solidFill>
                  <a:srgbClr val="FF0000"/>
                </a:solidFill>
              </a:rPr>
              <a:t>3 laps</a:t>
            </a:r>
            <a:r>
              <a:rPr lang="en"/>
              <a:t>.</a:t>
            </a:r>
            <a:endParaRPr/>
          </a:p>
          <a:p>
            <a:pPr indent="-298450" lvl="1" marL="914400" rtl="0" algn="l">
              <a:spcBef>
                <a:spcPts val="0"/>
              </a:spcBef>
              <a:spcAft>
                <a:spcPts val="0"/>
              </a:spcAft>
              <a:buSzPts val="1100"/>
              <a:buChar char="○"/>
            </a:pPr>
            <a:r>
              <a:rPr lang="en"/>
              <a:t>How does the order in which the racers started impact the winner?</a:t>
            </a:r>
            <a:endParaRPr/>
          </a:p>
          <a:p>
            <a:pPr indent="-298450" lvl="1" marL="914400" rtl="0" algn="l">
              <a:spcBef>
                <a:spcPts val="0"/>
              </a:spcBef>
              <a:spcAft>
                <a:spcPts val="0"/>
              </a:spcAft>
              <a:buSzPts val="1100"/>
              <a:buChar char="○"/>
            </a:pPr>
            <a:r>
              <a:rPr lang="en"/>
              <a:t>You may need to run the race several times to start to see a pattern</a:t>
            </a:r>
            <a:endParaRPr/>
          </a:p>
          <a:p>
            <a:pPr indent="-311150" lvl="0" marL="457200" rtl="0" algn="l">
              <a:spcBef>
                <a:spcPts val="1000"/>
              </a:spcBef>
              <a:spcAft>
                <a:spcPts val="0"/>
              </a:spcAft>
              <a:buSzPts val="1300"/>
              <a:buChar char="●"/>
            </a:pPr>
            <a:r>
              <a:rPr lang="en"/>
              <a:t>Now try running a big race. Say </a:t>
            </a:r>
            <a:r>
              <a:rPr b="1" i="1" lang="en">
                <a:solidFill>
                  <a:srgbClr val="FF0000"/>
                </a:solidFill>
              </a:rPr>
              <a:t>1000 racers for 10 laps</a:t>
            </a:r>
            <a:r>
              <a:rPr lang="en"/>
              <a:t>. Make sure you have </a:t>
            </a:r>
            <a:r>
              <a:rPr b="1" i="1" lang="en">
                <a:solidFill>
                  <a:srgbClr val="FF0000"/>
                </a:solidFill>
              </a:rPr>
              <a:t>debug enabled</a:t>
            </a:r>
            <a:r>
              <a:rPr lang="en"/>
              <a:t> so you can see the output.</a:t>
            </a:r>
            <a:endParaRPr/>
          </a:p>
          <a:p>
            <a:pPr indent="-298450" lvl="1" marL="914400" rtl="0" algn="l">
              <a:spcBef>
                <a:spcPts val="0"/>
              </a:spcBef>
              <a:spcAft>
                <a:spcPts val="0"/>
              </a:spcAft>
              <a:buSzPts val="1100"/>
              <a:buChar char="○"/>
            </a:pPr>
            <a:r>
              <a:rPr lang="en"/>
              <a:t>On average, can you make any assertions about the order in which a task is submitted and the order in which it finishes?</a:t>
            </a:r>
            <a:endParaRPr/>
          </a:p>
          <a:p>
            <a:pPr indent="-298450" lvl="1" marL="914400" rtl="0" algn="l">
              <a:spcBef>
                <a:spcPts val="0"/>
              </a:spcBef>
              <a:spcAft>
                <a:spcPts val="0"/>
              </a:spcAft>
              <a:buSzPts val="1100"/>
              <a:buChar char="○"/>
            </a:pPr>
            <a:r>
              <a:rPr lang="en"/>
              <a:t>It may be easier to see if you </a:t>
            </a:r>
            <a:r>
              <a:rPr b="1" lang="en"/>
              <a:t>redirect your output</a:t>
            </a:r>
            <a:r>
              <a:rPr lang="en"/>
              <a:t> to a file (preferably in the </a:t>
            </a:r>
            <a:r>
              <a:rPr lang="en">
                <a:latin typeface="Courier New"/>
                <a:ea typeface="Courier New"/>
                <a:cs typeface="Courier New"/>
                <a:sym typeface="Courier New"/>
              </a:rPr>
              <a:t>target</a:t>
            </a:r>
            <a:r>
              <a:rPr lang="en"/>
              <a:t> directory)</a:t>
            </a:r>
            <a:endParaRPr/>
          </a:p>
          <a:p>
            <a:pPr indent="-311150" lvl="0" marL="457200" rtl="0" algn="l">
              <a:spcBef>
                <a:spcPts val="1000"/>
              </a:spcBef>
              <a:spcAft>
                <a:spcPts val="0"/>
              </a:spcAft>
              <a:buSzPts val="1300"/>
              <a:buChar char="●"/>
            </a:pPr>
            <a:r>
              <a:rPr b="1" i="1" lang="en">
                <a:solidFill>
                  <a:srgbClr val="FF0000"/>
                </a:solidFill>
              </a:rPr>
              <a:t>Why</a:t>
            </a:r>
            <a:r>
              <a:rPr lang="en"/>
              <a:t> do you think this is happening?</a:t>
            </a:r>
            <a:endParaRPr/>
          </a:p>
          <a:p>
            <a:pPr indent="-311150" lvl="0" marL="457200" rtl="0" algn="l">
              <a:spcBef>
                <a:spcPts val="0"/>
              </a:spcBef>
              <a:spcAft>
                <a:spcPts val="0"/>
              </a:spcAft>
              <a:buSzPts val="1300"/>
              <a:buChar char="●"/>
            </a:pPr>
            <a:r>
              <a:rPr lang="en"/>
              <a:t>Write your answer as a </a:t>
            </a:r>
            <a:r>
              <a:rPr b="1" i="1" lang="en">
                <a:solidFill>
                  <a:srgbClr val="FF0000"/>
                </a:solidFill>
              </a:rPr>
              <a:t>comment</a:t>
            </a:r>
            <a:r>
              <a:rPr lang="en"/>
              <a:t> in the last file you tested.</a:t>
            </a:r>
            <a:endParaRPr/>
          </a:p>
        </p:txBody>
      </p:sp>
      <p:sp>
        <p:nvSpPr>
          <p:cNvPr id="652" name="Google Shape;652;p6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Uns</a:t>
            </a:r>
            <a:r>
              <a:rPr lang="en"/>
              <a:t>portspersonlike</a:t>
            </a:r>
            <a:r>
              <a:rPr lang="en"/>
              <a:t> Conduct</a:t>
            </a:r>
            <a:endParaRPr/>
          </a:p>
        </p:txBody>
      </p:sp>
      <p:sp>
        <p:nvSpPr>
          <p:cNvPr id="653" name="Google Shape;653;p6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8.13</a:t>
            </a:r>
            <a:endParaRPr/>
          </a:p>
        </p:txBody>
      </p:sp>
      <p:sp>
        <p:nvSpPr>
          <p:cNvPr id="654" name="Google Shape;654;p64"/>
          <p:cNvSpPr txBox="1"/>
          <p:nvPr>
            <p:ph idx="4" type="body"/>
          </p:nvPr>
        </p:nvSpPr>
        <p:spPr>
          <a:xfrm>
            <a:off x="141600" y="4285299"/>
            <a:ext cx="30237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We want our race to be fair no matter which position you started in.</a:t>
            </a:r>
            <a:endParaRPr/>
          </a:p>
        </p:txBody>
      </p:sp>
      <p:pic>
        <p:nvPicPr>
          <p:cNvPr id="655" name="Google Shape;655;p64"/>
          <p:cNvPicPr preferRelativeResize="0"/>
          <p:nvPr/>
        </p:nvPicPr>
        <p:blipFill rotWithShape="1">
          <a:blip r:embed="rId3">
            <a:alphaModFix/>
          </a:blip>
          <a:srcRect b="0" l="16638" r="19124" t="0"/>
          <a:stretch/>
        </p:blipFill>
        <p:spPr>
          <a:xfrm>
            <a:off x="141600" y="1534575"/>
            <a:ext cx="3001808" cy="2622325"/>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9" name="Shape 659"/>
        <p:cNvGrpSpPr/>
        <p:nvPr/>
      </p:nvGrpSpPr>
      <p:grpSpPr>
        <a:xfrm>
          <a:off x="0" y="0"/>
          <a:ext cx="0" cy="0"/>
          <a:chOff x="0" y="0"/>
          <a:chExt cx="0" cy="0"/>
        </a:xfrm>
      </p:grpSpPr>
      <p:sp>
        <p:nvSpPr>
          <p:cNvPr id="660" name="Google Shape;660;p65"/>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Creation and starting takes time, so the later you start the race the later you finish, in general.</a:t>
            </a:r>
            <a:endParaRPr/>
          </a:p>
          <a:p>
            <a:pPr indent="-298450" lvl="1" marL="914400" rtl="0" algn="l">
              <a:spcBef>
                <a:spcPts val="0"/>
              </a:spcBef>
              <a:spcAft>
                <a:spcPts val="0"/>
              </a:spcAft>
              <a:buSzPts val="1100"/>
              <a:buChar char="○"/>
            </a:pPr>
            <a:r>
              <a:rPr lang="en"/>
              <a:t>Because of the way the scheduler works, this isn't uniform but trends are apparent.</a:t>
            </a:r>
            <a:endParaRPr/>
          </a:p>
          <a:p>
            <a:pPr indent="-311150" lvl="0" marL="457200" rtl="0" algn="l">
              <a:spcBef>
                <a:spcPts val="1000"/>
              </a:spcBef>
              <a:spcAft>
                <a:spcPts val="0"/>
              </a:spcAft>
              <a:buSzPts val="1300"/>
              <a:buChar char="●"/>
            </a:pPr>
            <a:r>
              <a:rPr lang="en"/>
              <a:t>To stop this we need some way to ensure all of our threads are started but they don't actually start racing until told to.</a:t>
            </a:r>
            <a:endParaRPr/>
          </a:p>
          <a:p>
            <a:pPr indent="-298450" lvl="1" marL="914400" rtl="0" algn="l">
              <a:spcBef>
                <a:spcPts val="0"/>
              </a:spcBef>
              <a:spcAft>
                <a:spcPts val="0"/>
              </a:spcAft>
              <a:buSzPts val="1100"/>
              <a:buChar char="○"/>
            </a:pPr>
            <a:r>
              <a:rPr lang="en"/>
              <a:t>Think of it like the starting pistol for a foot race.</a:t>
            </a:r>
            <a:endParaRPr/>
          </a:p>
          <a:p>
            <a:pPr indent="-311150" lvl="0" marL="457200" rtl="0" algn="l">
              <a:spcBef>
                <a:spcPts val="1000"/>
              </a:spcBef>
              <a:spcAft>
                <a:spcPts val="0"/>
              </a:spcAft>
              <a:buSzPts val="1300"/>
              <a:buChar char="●"/>
            </a:pPr>
            <a:r>
              <a:rPr lang="en"/>
              <a:t>This is known as </a:t>
            </a:r>
            <a:r>
              <a:rPr b="1" i="1" lang="en">
                <a:solidFill>
                  <a:srgbClr val="FF0000"/>
                </a:solidFill>
              </a:rPr>
              <a:t>thread synchronization</a:t>
            </a:r>
            <a:r>
              <a:rPr lang="en"/>
              <a:t>.</a:t>
            </a:r>
            <a:endParaRPr/>
          </a:p>
          <a:p>
            <a:pPr indent="-311150" lvl="0" marL="457200" rtl="0" algn="l">
              <a:spcBef>
                <a:spcPts val="1000"/>
              </a:spcBef>
              <a:spcAft>
                <a:spcPts val="0"/>
              </a:spcAft>
              <a:buSzPts val="1300"/>
              <a:buChar char="●"/>
            </a:pPr>
            <a:r>
              <a:rPr lang="en">
                <a:latin typeface="Courier New"/>
                <a:ea typeface="Courier New"/>
                <a:cs typeface="Courier New"/>
                <a:sym typeface="Courier New"/>
              </a:rPr>
              <a:t>CountDownLatch</a:t>
            </a:r>
            <a:r>
              <a:rPr lang="en"/>
              <a:t> is one of Java's thread synchronizers.</a:t>
            </a:r>
            <a:endParaRPr/>
          </a:p>
          <a:p>
            <a:pPr indent="-311150" lvl="0" marL="457200" rtl="0" algn="l">
              <a:spcBef>
                <a:spcPts val="1000"/>
              </a:spcBef>
              <a:spcAft>
                <a:spcPts val="0"/>
              </a:spcAft>
              <a:buSzPts val="1300"/>
              <a:buChar char="●"/>
            </a:pPr>
            <a:r>
              <a:rPr lang="en"/>
              <a:t>Upon </a:t>
            </a:r>
            <a:r>
              <a:rPr lang="en"/>
              <a:t>construction</a:t>
            </a:r>
            <a:r>
              <a:rPr lang="en"/>
              <a:t> you specify a </a:t>
            </a:r>
            <a:r>
              <a:rPr b="1" i="1" lang="en">
                <a:solidFill>
                  <a:srgbClr val="FF0000"/>
                </a:solidFill>
              </a:rPr>
              <a:t>starting</a:t>
            </a:r>
            <a:r>
              <a:rPr lang="en"/>
              <a:t> latch </a:t>
            </a:r>
            <a:r>
              <a:rPr b="1" i="1" lang="en">
                <a:solidFill>
                  <a:srgbClr val="FF0000"/>
                </a:solidFill>
              </a:rPr>
              <a:t>count</a:t>
            </a:r>
            <a:r>
              <a:rPr lang="en"/>
              <a:t>.</a:t>
            </a:r>
            <a:endParaRPr/>
          </a:p>
          <a:p>
            <a:pPr indent="-311150" lvl="0" marL="457200" rtl="0" algn="l">
              <a:spcBef>
                <a:spcPts val="1000"/>
              </a:spcBef>
              <a:spcAft>
                <a:spcPts val="0"/>
              </a:spcAft>
              <a:buSzPts val="1300"/>
              <a:buChar char="●"/>
            </a:pPr>
            <a:r>
              <a:rPr lang="en"/>
              <a:t>Participating</a:t>
            </a:r>
            <a:r>
              <a:rPr lang="en"/>
              <a:t> threads </a:t>
            </a:r>
            <a:r>
              <a:rPr b="1" i="1" lang="en">
                <a:solidFill>
                  <a:srgbClr val="FF0000"/>
                </a:solidFill>
              </a:rPr>
              <a:t>wait until</a:t>
            </a:r>
            <a:r>
              <a:rPr lang="en"/>
              <a:t> the latch </a:t>
            </a:r>
            <a:r>
              <a:rPr b="1" i="1" lang="en">
                <a:solidFill>
                  <a:srgbClr val="FF0000"/>
                </a:solidFill>
              </a:rPr>
              <a:t>count reaches 0</a:t>
            </a:r>
            <a:r>
              <a:rPr lang="en"/>
              <a:t>, then they start running again. </a:t>
            </a:r>
            <a:endParaRPr/>
          </a:p>
        </p:txBody>
      </p:sp>
      <p:sp>
        <p:nvSpPr>
          <p:cNvPr id="661" name="Google Shape;661;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2" name="Google Shape;662;p65"/>
          <p:cNvSpPr txBox="1"/>
          <p:nvPr>
            <p:ph type="title"/>
          </p:nvPr>
        </p:nvSpPr>
        <p:spPr>
          <a:xfrm>
            <a:off x="311725" y="500925"/>
            <a:ext cx="3706500" cy="638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Synchronization</a:t>
            </a:r>
            <a:endParaRPr/>
          </a:p>
        </p:txBody>
      </p:sp>
      <p:sp>
        <p:nvSpPr>
          <p:cNvPr id="663" name="Google Shape;663;p65"/>
          <p:cNvSpPr txBox="1"/>
          <p:nvPr>
            <p:ph idx="2" type="body"/>
          </p:nvPr>
        </p:nvSpPr>
        <p:spPr>
          <a:xfrm>
            <a:off x="315425" y="1286175"/>
            <a:ext cx="3706500" cy="2697300"/>
          </a:xfrm>
          <a:prstGeom prst="rect">
            <a:avLst/>
          </a:prstGeom>
          <a:solidFill>
            <a:schemeClr val="lt1"/>
          </a:solidFill>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CountDownLatch</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new</a:t>
            </a:r>
            <a:r>
              <a:rPr lang="en" sz="1050">
                <a:solidFill>
                  <a:srgbClr val="3B3B3B"/>
                </a:solidFill>
                <a:highlight>
                  <a:srgbClr val="FFFFFF"/>
                </a:highlight>
                <a:latin typeface="Consolas"/>
                <a:ea typeface="Consolas"/>
                <a:cs typeface="Consolas"/>
                <a:sym typeface="Consolas"/>
              </a:rPr>
              <a:t> </a:t>
            </a:r>
            <a:r>
              <a:rPr lang="en" sz="1050">
                <a:solidFill>
                  <a:srgbClr val="795E26"/>
                </a:solidFill>
                <a:highlight>
                  <a:srgbClr val="FFFFFF"/>
                </a:highlight>
                <a:latin typeface="Consolas"/>
                <a:ea typeface="Consolas"/>
                <a:cs typeface="Consolas"/>
                <a:sym typeface="Consolas"/>
              </a:rPr>
              <a:t>CountDownLatch</a:t>
            </a:r>
            <a:r>
              <a:rPr lang="en" sz="1050">
                <a:solidFill>
                  <a:srgbClr val="3B3B3B"/>
                </a:solidFill>
                <a:highlight>
                  <a:srgbClr val="FFFFFF"/>
                </a:highlight>
                <a:latin typeface="Consolas"/>
                <a:ea typeface="Consolas"/>
                <a:cs typeface="Consolas"/>
                <a:sym typeface="Consolas"/>
              </a:rPr>
              <a:t>(</a:t>
            </a:r>
            <a:r>
              <a:rPr lang="en" sz="1050">
                <a:solidFill>
                  <a:srgbClr val="098658"/>
                </a:solidFill>
                <a:highlight>
                  <a:srgbClr val="FFFFFF"/>
                </a:highlight>
                <a:latin typeface="Consolas"/>
                <a:ea typeface="Consolas"/>
                <a:cs typeface="Consolas"/>
                <a:sym typeface="Consolas"/>
              </a:rPr>
              <a:t>1</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AF00DB"/>
                </a:solidFill>
                <a:highlight>
                  <a:srgbClr val="FFFFFF"/>
                </a:highlight>
                <a:latin typeface="Consolas"/>
                <a:ea typeface="Consolas"/>
                <a:cs typeface="Consolas"/>
                <a:sym typeface="Consolas"/>
              </a:rPr>
              <a:t>for</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98658"/>
                </a:solidFill>
                <a:highlight>
                  <a:srgbClr val="FFFFFF"/>
                </a:highlight>
                <a:latin typeface="Consolas"/>
                <a:ea typeface="Consolas"/>
                <a:cs typeface="Consolas"/>
                <a:sym typeface="Consolas"/>
              </a:rPr>
              <a:t>0</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&lt;</a:t>
            </a:r>
            <a:r>
              <a:rPr lang="en" sz="1050">
                <a:solidFill>
                  <a:srgbClr val="3B3B3B"/>
                </a:solidFill>
                <a:highlight>
                  <a:srgbClr val="FFFFFF"/>
                </a:highlight>
                <a:latin typeface="Consolas"/>
                <a:ea typeface="Consolas"/>
                <a:cs typeface="Consolas"/>
                <a:sym typeface="Consolas"/>
              </a:rPr>
              <a:t> </a:t>
            </a:r>
            <a:r>
              <a:rPr lang="en" sz="1050">
                <a:solidFill>
                  <a:srgbClr val="098658"/>
                </a:solidFill>
                <a:highlight>
                  <a:srgbClr val="FFFFFF"/>
                </a:highlight>
                <a:latin typeface="Consolas"/>
                <a:ea typeface="Consolas"/>
                <a:cs typeface="Consolas"/>
                <a:sym typeface="Consolas"/>
              </a:rPr>
              <a:t>3</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id</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98658"/>
                </a:solidFill>
                <a:highlight>
                  <a:srgbClr val="FFFFFF"/>
                </a:highlight>
                <a:latin typeface="Consolas"/>
                <a:ea typeface="Consolas"/>
                <a:cs typeface="Consolas"/>
                <a:sym typeface="Consolas"/>
              </a:rPr>
              <a:t>1</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executor</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submit</a:t>
            </a:r>
            <a:r>
              <a:rPr lang="en" sz="1050">
                <a:solidFill>
                  <a:srgbClr val="3B3B3B"/>
                </a:solidFill>
                <a:highlight>
                  <a:srgbClr val="FFFFFF"/>
                </a:highlight>
                <a:latin typeface="Consolas"/>
                <a:ea typeface="Consolas"/>
                <a:cs typeface="Consolas"/>
                <a:sym typeface="Consolas"/>
              </a:rPr>
              <a:t> ( () </a:t>
            </a:r>
            <a:r>
              <a:rPr lang="en" sz="1050">
                <a:solidFill>
                  <a:srgbClr val="0000FF"/>
                </a:solidFill>
                <a:highlight>
                  <a:srgbClr val="FFFFFF"/>
                </a:highlight>
                <a:latin typeface="Consolas"/>
                <a:ea typeface="Consolas"/>
                <a:cs typeface="Consolas"/>
                <a:sym typeface="Consolas"/>
              </a:rPr>
              <a:t>-&gt;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"Goat "</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id</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 waits."</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try</a:t>
            </a:r>
            <a:r>
              <a:rPr lang="en" sz="1050">
                <a:solidFill>
                  <a:srgbClr val="3B3B3B"/>
                </a:solidFill>
                <a:highlight>
                  <a:srgbClr val="FFFFFF"/>
                </a:highlight>
                <a:latin typeface="Consolas"/>
                <a:ea typeface="Consolas"/>
                <a:cs typeface="Consolas"/>
                <a:sym typeface="Consolas"/>
              </a:rPr>
              <a:t> {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1080"/>
                </a:solidFill>
                <a:highlight>
                  <a:srgbClr val="FFFFFF"/>
                </a:highlight>
                <a:latin typeface="Consolas"/>
                <a:ea typeface="Consolas"/>
                <a:cs typeface="Consolas"/>
                <a:sym typeface="Consolas"/>
              </a:rPr>
              <a:t>      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await</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AF00DB"/>
                </a:solidFill>
                <a:highlight>
                  <a:srgbClr val="FFFFFF"/>
                </a:highlight>
                <a:latin typeface="Consolas"/>
                <a:ea typeface="Consolas"/>
                <a:cs typeface="Consolas"/>
                <a:sym typeface="Consolas"/>
              </a:rPr>
              <a:t>catch</a:t>
            </a: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InterruptedException</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e</a:t>
            </a: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"Goat "</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001080"/>
                </a:solidFill>
                <a:highlight>
                  <a:srgbClr val="FFFFFF"/>
                </a:highlight>
                <a:latin typeface="Consolas"/>
                <a:ea typeface="Consolas"/>
                <a:cs typeface="Consolas"/>
                <a:sym typeface="Consolas"/>
              </a:rPr>
              <a:t>id</a:t>
            </a:r>
            <a:r>
              <a:rPr lang="en" sz="1050">
                <a:solidFill>
                  <a:srgbClr val="3B3B3B"/>
                </a:solidFill>
                <a:highlight>
                  <a:srgbClr val="FFFFFF"/>
                </a:highlight>
                <a:latin typeface="Consolas"/>
                <a:ea typeface="Consolas"/>
                <a:cs typeface="Consolas"/>
                <a:sym typeface="Consolas"/>
              </a:rPr>
              <a:t> </a:t>
            </a:r>
            <a:r>
              <a:rPr lang="en" sz="1050">
                <a:solidFill>
                  <a:srgbClr val="000000"/>
                </a:solidFill>
                <a:highlight>
                  <a:srgbClr val="FFFFFF"/>
                </a:highlight>
                <a:latin typeface="Consolas"/>
                <a:ea typeface="Consolas"/>
                <a:cs typeface="Consolas"/>
                <a:sym typeface="Consolas"/>
              </a:rPr>
              <a:t>+</a:t>
            </a:r>
            <a:r>
              <a:rPr lang="en" sz="1050">
                <a:solidFill>
                  <a:srgbClr val="3B3B3B"/>
                </a:solidFill>
                <a:highlight>
                  <a:srgbClr val="FFFFFF"/>
                </a:highlight>
                <a:latin typeface="Consolas"/>
                <a:ea typeface="Consolas"/>
                <a:cs typeface="Consolas"/>
                <a:sym typeface="Consolas"/>
              </a:rPr>
              <a:t> </a:t>
            </a:r>
            <a:r>
              <a:rPr lang="en" sz="1050">
                <a:solidFill>
                  <a:srgbClr val="A31515"/>
                </a:solidFill>
                <a:highlight>
                  <a:srgbClr val="FFFFFF"/>
                </a:highlight>
                <a:latin typeface="Consolas"/>
                <a:ea typeface="Consolas"/>
                <a:cs typeface="Consolas"/>
                <a:sym typeface="Consolas"/>
              </a:rPr>
              <a:t>" left."</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267F99"/>
                </a:solidFill>
                <a:highlight>
                  <a:srgbClr val="FFFFFF"/>
                </a:highlight>
                <a:latin typeface="Consolas"/>
                <a:ea typeface="Consolas"/>
                <a:cs typeface="Consolas"/>
                <a:sym typeface="Consolas"/>
              </a:rPr>
              <a:t>System</a:t>
            </a:r>
            <a:r>
              <a:rPr lang="en" sz="1050">
                <a:solidFill>
                  <a:srgbClr val="3B3B3B"/>
                </a:solidFill>
                <a:highlight>
                  <a:srgbClr val="FFFFFF"/>
                </a:highlight>
                <a:latin typeface="Consolas"/>
                <a:ea typeface="Consolas"/>
                <a:cs typeface="Consolas"/>
                <a:sym typeface="Consolas"/>
              </a:rPr>
              <a:t>.</a:t>
            </a:r>
            <a:r>
              <a:rPr lang="en" sz="1050">
                <a:solidFill>
                  <a:srgbClr val="0070C1"/>
                </a:solidFill>
                <a:highlight>
                  <a:srgbClr val="FFFFFF"/>
                </a:highlight>
                <a:latin typeface="Consolas"/>
                <a:ea typeface="Consolas"/>
                <a:cs typeface="Consolas"/>
                <a:sym typeface="Consolas"/>
              </a:rPr>
              <a:t>out</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println</a:t>
            </a:r>
            <a:r>
              <a:rPr lang="en" sz="1050">
                <a:solidFill>
                  <a:srgbClr val="3B3B3B"/>
                </a:solidFill>
                <a:highlight>
                  <a:srgbClr val="FFFFFF"/>
                </a:highlight>
                <a:latin typeface="Consolas"/>
                <a:ea typeface="Consolas"/>
                <a:cs typeface="Consolas"/>
                <a:sym typeface="Consolas"/>
              </a:rPr>
              <a:t>(</a:t>
            </a:r>
            <a:r>
              <a:rPr lang="en" sz="1050">
                <a:solidFill>
                  <a:srgbClr val="A31515"/>
                </a:solidFill>
                <a:highlight>
                  <a:srgbClr val="FFFFFF"/>
                </a:highlight>
                <a:latin typeface="Consolas"/>
                <a:ea typeface="Consolas"/>
                <a:cs typeface="Consolas"/>
                <a:sym typeface="Consolas"/>
              </a:rPr>
              <a:t>"Opening the gate..."</a:t>
            </a:r>
            <a:r>
              <a:rPr lang="en" sz="1050">
                <a:solidFill>
                  <a:srgbClr val="3B3B3B"/>
                </a:solidFill>
                <a:highlight>
                  <a:srgbClr val="FFFFFF"/>
                </a:highlight>
                <a:latin typeface="Consolas"/>
                <a:ea typeface="Consolas"/>
                <a:cs typeface="Consolas"/>
                <a:sym typeface="Consolas"/>
              </a:rPr>
              <a:t>);</a:t>
            </a:r>
            <a:endParaRPr sz="105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1050">
                <a:solidFill>
                  <a:srgbClr val="001080"/>
                </a:solidFill>
                <a:highlight>
                  <a:srgbClr val="FFFFFF"/>
                </a:highlight>
                <a:latin typeface="Consolas"/>
                <a:ea typeface="Consolas"/>
                <a:cs typeface="Consolas"/>
                <a:sym typeface="Consolas"/>
              </a:rPr>
              <a:t>gate</a:t>
            </a:r>
            <a:r>
              <a:rPr lang="en" sz="1050">
                <a:solidFill>
                  <a:srgbClr val="3B3B3B"/>
                </a:solidFill>
                <a:highlight>
                  <a:srgbClr val="FFFFFF"/>
                </a:highlight>
                <a:latin typeface="Consolas"/>
                <a:ea typeface="Consolas"/>
                <a:cs typeface="Consolas"/>
                <a:sym typeface="Consolas"/>
              </a:rPr>
              <a:t>.</a:t>
            </a:r>
            <a:r>
              <a:rPr lang="en" sz="1050">
                <a:solidFill>
                  <a:srgbClr val="795E26"/>
                </a:solidFill>
                <a:highlight>
                  <a:srgbClr val="FFFFFF"/>
                </a:highlight>
                <a:latin typeface="Consolas"/>
                <a:ea typeface="Consolas"/>
                <a:cs typeface="Consolas"/>
                <a:sym typeface="Consolas"/>
              </a:rPr>
              <a:t>countDown</a:t>
            </a:r>
            <a:r>
              <a:rPr lang="en" sz="1050">
                <a:solidFill>
                  <a:srgbClr val="3B3B3B"/>
                </a:solidFill>
                <a:highlight>
                  <a:srgbClr val="FFFFFF"/>
                </a:highlight>
                <a:latin typeface="Consolas"/>
                <a:ea typeface="Consolas"/>
                <a:cs typeface="Consolas"/>
                <a:sym typeface="Consolas"/>
              </a:rPr>
              <a:t>();</a:t>
            </a:r>
            <a:endParaRPr sz="1050">
              <a:solidFill>
                <a:srgbClr val="008000"/>
              </a:solidFill>
              <a:highlight>
                <a:srgbClr val="FFFFFF"/>
              </a:highlight>
              <a:latin typeface="Consolas"/>
              <a:ea typeface="Consolas"/>
              <a:cs typeface="Consolas"/>
              <a:sym typeface="Consolas"/>
            </a:endParaRPr>
          </a:p>
          <a:p>
            <a:pPr indent="0" lvl="0" marL="0" rtl="0" algn="l">
              <a:lnSpc>
                <a:spcPct val="100000"/>
              </a:lnSpc>
              <a:spcBef>
                <a:spcPts val="0"/>
              </a:spcBef>
              <a:spcAft>
                <a:spcPts val="1600"/>
              </a:spcAft>
              <a:buNone/>
            </a:pPr>
            <a:r>
              <a:t/>
            </a:r>
            <a:endParaRPr/>
          </a:p>
        </p:txBody>
      </p:sp>
      <p:sp>
        <p:nvSpPr>
          <p:cNvPr id="664" name="Google Shape;664;p65"/>
          <p:cNvSpPr txBox="1"/>
          <p:nvPr>
            <p:ph idx="3" type="body"/>
          </p:nvPr>
        </p:nvSpPr>
        <p:spPr>
          <a:xfrm>
            <a:off x="315425" y="4089650"/>
            <a:ext cx="3706500" cy="80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This example uses a count of 1 but the </a:t>
            </a:r>
            <a:r>
              <a:rPr b="1" i="1" lang="en">
                <a:solidFill>
                  <a:srgbClr val="FF0000"/>
                </a:solidFill>
              </a:rPr>
              <a:t>CountDownLatch </a:t>
            </a:r>
            <a:r>
              <a:rPr lang="en"/>
              <a:t>can start </a:t>
            </a:r>
            <a:r>
              <a:rPr lang="en"/>
              <a:t>with any count.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66"/>
          <p:cNvSpPr/>
          <p:nvPr/>
        </p:nvSpPr>
        <p:spPr>
          <a:xfrm rot="10800000">
            <a:off x="5635950" y="1474175"/>
            <a:ext cx="3385200" cy="2839500"/>
          </a:xfrm>
          <a:prstGeom prst="rtTriangle">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670" name="Google Shape;670;p66"/>
          <p:cNvSpPr txBox="1"/>
          <p:nvPr>
            <p:ph idx="4294967295" type="body"/>
          </p:nvPr>
        </p:nvSpPr>
        <p:spPr>
          <a:xfrm>
            <a:off x="6528500" y="1426950"/>
            <a:ext cx="2551500" cy="896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Arial"/>
                <a:ea typeface="Arial"/>
                <a:cs typeface="Arial"/>
                <a:sym typeface="Arial"/>
              </a:rPr>
              <a:t>Imagine the </a:t>
            </a:r>
            <a:r>
              <a:rPr b="1" i="1" lang="en">
                <a:solidFill>
                  <a:srgbClr val="FF0000"/>
                </a:solidFill>
                <a:latin typeface="Arial"/>
                <a:ea typeface="Arial"/>
                <a:cs typeface="Arial"/>
                <a:sym typeface="Arial"/>
              </a:rPr>
              <a:t>CountDownLatch </a:t>
            </a:r>
            <a:r>
              <a:rPr lang="en">
                <a:solidFill>
                  <a:srgbClr val="000000"/>
                </a:solidFill>
                <a:latin typeface="Arial"/>
                <a:ea typeface="Arial"/>
                <a:cs typeface="Arial"/>
                <a:sym typeface="Arial"/>
              </a:rPr>
              <a:t>as a troll guarding the pass to a green </a:t>
            </a:r>
            <a:r>
              <a:rPr lang="en">
                <a:solidFill>
                  <a:srgbClr val="000000"/>
                </a:solidFill>
                <a:latin typeface="Arial"/>
                <a:ea typeface="Arial"/>
                <a:cs typeface="Arial"/>
                <a:sym typeface="Arial"/>
              </a:rPr>
              <a:t>meadow</a:t>
            </a:r>
            <a:r>
              <a:rPr lang="en">
                <a:solidFill>
                  <a:srgbClr val="000000"/>
                </a:solidFill>
                <a:latin typeface="Arial"/>
                <a:ea typeface="Arial"/>
                <a:cs typeface="Arial"/>
                <a:sym typeface="Arial"/>
              </a:rPr>
              <a:t>. </a:t>
            </a:r>
            <a:endParaRPr>
              <a:solidFill>
                <a:srgbClr val="000000"/>
              </a:solidFill>
              <a:latin typeface="Arial"/>
              <a:ea typeface="Arial"/>
              <a:cs typeface="Arial"/>
              <a:sym typeface="Arial"/>
            </a:endParaRPr>
          </a:p>
        </p:txBody>
      </p:sp>
      <p:sp>
        <p:nvSpPr>
          <p:cNvPr id="671" name="Google Shape;671;p6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672" name="Google Shape;672;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673" name="Google Shape;673;p66"/>
          <p:cNvGrpSpPr/>
          <p:nvPr/>
        </p:nvGrpSpPr>
        <p:grpSpPr>
          <a:xfrm>
            <a:off x="3420088" y="1507775"/>
            <a:ext cx="2303825" cy="1971200"/>
            <a:chOff x="3386250" y="1770500"/>
            <a:chExt cx="2303825" cy="1971200"/>
          </a:xfrm>
        </p:grpSpPr>
        <p:cxnSp>
          <p:nvCxnSpPr>
            <p:cNvPr id="674" name="Google Shape;674;p66"/>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675" name="Google Shape;675;p66"/>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676" name="Google Shape;676;p66"/>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677" name="Google Shape;677;p66"/>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pic>
        <p:nvPicPr>
          <p:cNvPr id="678" name="Google Shape;678;p66"/>
          <p:cNvPicPr preferRelativeResize="0"/>
          <p:nvPr/>
        </p:nvPicPr>
        <p:blipFill>
          <a:blip r:embed="rId3">
            <a:alphaModFix/>
          </a:blip>
          <a:stretch>
            <a:fillRect/>
          </a:stretch>
        </p:blipFill>
        <p:spPr>
          <a:xfrm>
            <a:off x="4450725" y="1426938"/>
            <a:ext cx="2397175" cy="2638626"/>
          </a:xfrm>
          <a:prstGeom prst="rect">
            <a:avLst/>
          </a:prstGeom>
          <a:noFill/>
          <a:ln>
            <a:noFill/>
          </a:ln>
        </p:spPr>
      </p:pic>
      <p:grpSp>
        <p:nvGrpSpPr>
          <p:cNvPr id="679" name="Google Shape;679;p66"/>
          <p:cNvGrpSpPr/>
          <p:nvPr/>
        </p:nvGrpSpPr>
        <p:grpSpPr>
          <a:xfrm flipH="1" rot="3781804">
            <a:off x="6428110" y="3019319"/>
            <a:ext cx="2303709" cy="1971101"/>
            <a:chOff x="3386250" y="1770500"/>
            <a:chExt cx="2303825" cy="1971200"/>
          </a:xfrm>
        </p:grpSpPr>
        <p:cxnSp>
          <p:nvCxnSpPr>
            <p:cNvPr id="680" name="Google Shape;680;p66"/>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681" name="Google Shape;681;p66"/>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682" name="Google Shape;682;p66"/>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683" name="Google Shape;683;p66"/>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sp>
        <p:nvSpPr>
          <p:cNvPr id="684" name="Google Shape;684;p66"/>
          <p:cNvSpPr txBox="1"/>
          <p:nvPr/>
        </p:nvSpPr>
        <p:spPr>
          <a:xfrm>
            <a:off x="4517513" y="3963300"/>
            <a:ext cx="20817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674EA7"/>
                </a:solidFill>
                <a:latin typeface="Merriweather"/>
                <a:ea typeface="Merriweather"/>
                <a:cs typeface="Merriweather"/>
                <a:sym typeface="Merriweather"/>
              </a:rPr>
              <a:t>CountDownLatch (5)</a:t>
            </a:r>
            <a:endParaRPr b="1">
              <a:solidFill>
                <a:srgbClr val="674EA7"/>
              </a:solidFill>
              <a:latin typeface="Merriweather"/>
              <a:ea typeface="Merriweather"/>
              <a:cs typeface="Merriweather"/>
              <a:sym typeface="Merriweather"/>
            </a:endParaRPr>
          </a:p>
        </p:txBody>
      </p:sp>
      <p:sp>
        <p:nvSpPr>
          <p:cNvPr id="685" name="Google Shape;685;p66"/>
          <p:cNvSpPr txBox="1"/>
          <p:nvPr>
            <p:ph idx="4294967295" type="body"/>
          </p:nvPr>
        </p:nvSpPr>
        <p:spPr>
          <a:xfrm>
            <a:off x="4559225" y="4367900"/>
            <a:ext cx="1998300" cy="39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1600"/>
              </a:spcAft>
              <a:buNone/>
            </a:pPr>
            <a:r>
              <a:rPr lang="en">
                <a:solidFill>
                  <a:srgbClr val="000000"/>
                </a:solidFill>
                <a:latin typeface="Arial"/>
                <a:ea typeface="Arial"/>
                <a:cs typeface="Arial"/>
                <a:sym typeface="Arial"/>
              </a:rPr>
              <a:t>With a </a:t>
            </a:r>
            <a:r>
              <a:rPr lang="en">
                <a:solidFill>
                  <a:srgbClr val="000000"/>
                </a:solidFill>
                <a:latin typeface="Arial"/>
                <a:ea typeface="Arial"/>
                <a:cs typeface="Arial"/>
                <a:sym typeface="Arial"/>
              </a:rPr>
              <a:t>strength</a:t>
            </a:r>
            <a:r>
              <a:rPr lang="en">
                <a:solidFill>
                  <a:srgbClr val="000000"/>
                </a:solidFill>
                <a:latin typeface="Arial"/>
                <a:ea typeface="Arial"/>
                <a:cs typeface="Arial"/>
                <a:sym typeface="Arial"/>
              </a:rPr>
              <a:t> of </a:t>
            </a:r>
            <a:r>
              <a:rPr b="1" i="1" lang="en">
                <a:solidFill>
                  <a:srgbClr val="FF0000"/>
                </a:solidFill>
                <a:latin typeface="Arial"/>
                <a:ea typeface="Arial"/>
                <a:cs typeface="Arial"/>
                <a:sym typeface="Arial"/>
              </a:rPr>
              <a:t>5</a:t>
            </a:r>
            <a:endParaRPr b="1" i="1">
              <a:solidFill>
                <a:srgbClr val="FF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67"/>
          <p:cNvSpPr/>
          <p:nvPr/>
        </p:nvSpPr>
        <p:spPr>
          <a:xfrm rot="10800000">
            <a:off x="5635950" y="1474175"/>
            <a:ext cx="3385200" cy="2839500"/>
          </a:xfrm>
          <a:prstGeom prst="rtTriangle">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691" name="Google Shape;691;p67"/>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692" name="Google Shape;692;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93" name="Google Shape;693;p67"/>
          <p:cNvPicPr preferRelativeResize="0"/>
          <p:nvPr/>
        </p:nvPicPr>
        <p:blipFill>
          <a:blip r:embed="rId3">
            <a:alphaModFix/>
          </a:blip>
          <a:stretch>
            <a:fillRect/>
          </a:stretch>
        </p:blipFill>
        <p:spPr>
          <a:xfrm flipH="1">
            <a:off x="1738147" y="2783150"/>
            <a:ext cx="1438877" cy="1423898"/>
          </a:xfrm>
          <a:prstGeom prst="rect">
            <a:avLst/>
          </a:prstGeom>
          <a:noFill/>
          <a:ln>
            <a:noFill/>
          </a:ln>
        </p:spPr>
      </p:pic>
      <p:grpSp>
        <p:nvGrpSpPr>
          <p:cNvPr id="694" name="Google Shape;694;p67"/>
          <p:cNvGrpSpPr/>
          <p:nvPr/>
        </p:nvGrpSpPr>
        <p:grpSpPr>
          <a:xfrm>
            <a:off x="3420088" y="1507775"/>
            <a:ext cx="2303825" cy="1971200"/>
            <a:chOff x="3386250" y="1770500"/>
            <a:chExt cx="2303825" cy="1971200"/>
          </a:xfrm>
        </p:grpSpPr>
        <p:cxnSp>
          <p:nvCxnSpPr>
            <p:cNvPr id="695" name="Google Shape;695;p67"/>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696" name="Google Shape;696;p67"/>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697" name="Google Shape;697;p67"/>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698" name="Google Shape;698;p67"/>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pic>
        <p:nvPicPr>
          <p:cNvPr id="699" name="Google Shape;699;p67"/>
          <p:cNvPicPr preferRelativeResize="0"/>
          <p:nvPr/>
        </p:nvPicPr>
        <p:blipFill>
          <a:blip r:embed="rId4">
            <a:alphaModFix/>
          </a:blip>
          <a:stretch>
            <a:fillRect/>
          </a:stretch>
        </p:blipFill>
        <p:spPr>
          <a:xfrm>
            <a:off x="4450725" y="1426938"/>
            <a:ext cx="2397175" cy="2638626"/>
          </a:xfrm>
          <a:prstGeom prst="rect">
            <a:avLst/>
          </a:prstGeom>
          <a:noFill/>
          <a:ln>
            <a:noFill/>
          </a:ln>
        </p:spPr>
      </p:pic>
      <p:grpSp>
        <p:nvGrpSpPr>
          <p:cNvPr id="700" name="Google Shape;700;p67"/>
          <p:cNvGrpSpPr/>
          <p:nvPr/>
        </p:nvGrpSpPr>
        <p:grpSpPr>
          <a:xfrm flipH="1" rot="3781804">
            <a:off x="6428110" y="3019319"/>
            <a:ext cx="2303709" cy="1971101"/>
            <a:chOff x="3386250" y="1770500"/>
            <a:chExt cx="2303825" cy="1971200"/>
          </a:xfrm>
        </p:grpSpPr>
        <p:cxnSp>
          <p:nvCxnSpPr>
            <p:cNvPr id="701" name="Google Shape;701;p67"/>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702" name="Google Shape;702;p67"/>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703" name="Google Shape;703;p67"/>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704" name="Google Shape;704;p67"/>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sp>
        <p:nvSpPr>
          <p:cNvPr id="705" name="Google Shape;705;p67"/>
          <p:cNvSpPr txBox="1"/>
          <p:nvPr/>
        </p:nvSpPr>
        <p:spPr>
          <a:xfrm>
            <a:off x="4517513" y="3963300"/>
            <a:ext cx="2081700" cy="4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rgbClr val="674EA7"/>
                </a:solidFill>
                <a:latin typeface="Merriweather"/>
                <a:ea typeface="Merriweather"/>
                <a:cs typeface="Merriweather"/>
                <a:sym typeface="Merriweather"/>
              </a:rPr>
              <a:t>CountdownLatch (5)</a:t>
            </a:r>
            <a:endParaRPr b="1">
              <a:solidFill>
                <a:srgbClr val="674EA7"/>
              </a:solidFill>
              <a:latin typeface="Merriweather"/>
              <a:ea typeface="Merriweather"/>
              <a:cs typeface="Merriweather"/>
              <a:sym typeface="Merriweather"/>
            </a:endParaRPr>
          </a:p>
        </p:txBody>
      </p:sp>
      <p:sp>
        <p:nvSpPr>
          <p:cNvPr id="706" name="Google Shape;706;p67"/>
          <p:cNvSpPr/>
          <p:nvPr/>
        </p:nvSpPr>
        <p:spPr>
          <a:xfrm>
            <a:off x="2315100" y="226565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Can I pass?</a:t>
            </a:r>
            <a:endParaRPr>
              <a:solidFill>
                <a:schemeClr val="dk1"/>
              </a:solidFill>
              <a:latin typeface="Caveat"/>
              <a:ea typeface="Caveat"/>
              <a:cs typeface="Caveat"/>
              <a:sym typeface="Caveat"/>
            </a:endParaRPr>
          </a:p>
        </p:txBody>
      </p:sp>
      <p:sp>
        <p:nvSpPr>
          <p:cNvPr id="707" name="Google Shape;707;p67"/>
          <p:cNvSpPr/>
          <p:nvPr/>
        </p:nvSpPr>
        <p:spPr>
          <a:xfrm>
            <a:off x="6267025" y="1255950"/>
            <a:ext cx="1090500" cy="676200"/>
          </a:xfrm>
          <a:prstGeom prst="wedgeEllipseCallout">
            <a:avLst>
              <a:gd fmla="val -68106" name="adj1"/>
              <a:gd fmla="val 35738" name="adj2"/>
            </a:avLst>
          </a:prstGeom>
          <a:solidFill>
            <a:schemeClr val="lt1"/>
          </a:solidFill>
          <a:ln cap="flat" cmpd="sng" w="1905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51C75"/>
                </a:solidFill>
                <a:latin typeface="Impact"/>
                <a:ea typeface="Impact"/>
                <a:cs typeface="Impact"/>
                <a:sym typeface="Impact"/>
              </a:rPr>
              <a:t>NO!</a:t>
            </a:r>
            <a:endParaRPr sz="1900">
              <a:solidFill>
                <a:srgbClr val="351C75"/>
              </a:solidFill>
              <a:latin typeface="Impact"/>
              <a:ea typeface="Impact"/>
              <a:cs typeface="Impact"/>
              <a:sym typeface="Impact"/>
            </a:endParaRPr>
          </a:p>
        </p:txBody>
      </p:sp>
      <p:sp>
        <p:nvSpPr>
          <p:cNvPr id="708" name="Google Shape;708;p67"/>
          <p:cNvSpPr txBox="1"/>
          <p:nvPr>
            <p:ph idx="4294967295" type="body"/>
          </p:nvPr>
        </p:nvSpPr>
        <p:spPr>
          <a:xfrm>
            <a:off x="1249300" y="4207050"/>
            <a:ext cx="2170800" cy="39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1600"/>
              </a:spcAft>
              <a:buNone/>
            </a:pPr>
            <a:r>
              <a:rPr lang="en">
                <a:solidFill>
                  <a:srgbClr val="000000"/>
                </a:solidFill>
                <a:latin typeface="Arial"/>
                <a:ea typeface="Arial"/>
                <a:cs typeface="Arial"/>
                <a:sym typeface="Arial"/>
              </a:rPr>
              <a:t>Goats have a strength of </a:t>
            </a:r>
            <a:r>
              <a:rPr b="1" i="1" lang="en">
                <a:solidFill>
                  <a:srgbClr val="FF0000"/>
                </a:solidFill>
                <a:latin typeface="Arial"/>
                <a:ea typeface="Arial"/>
                <a:cs typeface="Arial"/>
                <a:sym typeface="Arial"/>
              </a:rPr>
              <a:t>1</a:t>
            </a:r>
            <a:endParaRPr b="1" i="1">
              <a:solidFill>
                <a:srgbClr val="FF0000"/>
              </a:solidFill>
              <a:latin typeface="Arial"/>
              <a:ea typeface="Arial"/>
              <a:cs typeface="Arial"/>
              <a:sym typeface="Arial"/>
            </a:endParaRPr>
          </a:p>
        </p:txBody>
      </p:sp>
      <p:sp>
        <p:nvSpPr>
          <p:cNvPr id="709" name="Google Shape;709;p67"/>
          <p:cNvSpPr txBox="1"/>
          <p:nvPr>
            <p:ph idx="4294967295" type="body"/>
          </p:nvPr>
        </p:nvSpPr>
        <p:spPr>
          <a:xfrm>
            <a:off x="199200" y="1426957"/>
            <a:ext cx="29172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Arial"/>
                <a:ea typeface="Arial"/>
                <a:cs typeface="Arial"/>
                <a:sym typeface="Arial"/>
              </a:rPr>
              <a:t>Goats trying to get to the meadow need to get past the troll.</a:t>
            </a:r>
            <a:endParaRPr b="1" i="1">
              <a:solidFill>
                <a:srgbClr val="FF0000"/>
              </a:solidFill>
              <a:latin typeface="Arial"/>
              <a:ea typeface="Arial"/>
              <a:cs typeface="Arial"/>
              <a:sym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68"/>
          <p:cNvSpPr/>
          <p:nvPr/>
        </p:nvSpPr>
        <p:spPr>
          <a:xfrm rot="10800000">
            <a:off x="5635950" y="1474175"/>
            <a:ext cx="3385200" cy="2839500"/>
          </a:xfrm>
          <a:prstGeom prst="rtTriangle">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15" name="Google Shape;715;p68"/>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716" name="Google Shape;716;p6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717" name="Google Shape;717;p68"/>
          <p:cNvPicPr preferRelativeResize="0"/>
          <p:nvPr/>
        </p:nvPicPr>
        <p:blipFill>
          <a:blip r:embed="rId3">
            <a:alphaModFix/>
          </a:blip>
          <a:stretch>
            <a:fillRect/>
          </a:stretch>
        </p:blipFill>
        <p:spPr>
          <a:xfrm flipH="1">
            <a:off x="1738147" y="2783150"/>
            <a:ext cx="1438877" cy="1423898"/>
          </a:xfrm>
          <a:prstGeom prst="rect">
            <a:avLst/>
          </a:prstGeom>
          <a:noFill/>
          <a:ln>
            <a:noFill/>
          </a:ln>
        </p:spPr>
      </p:pic>
      <p:grpSp>
        <p:nvGrpSpPr>
          <p:cNvPr id="718" name="Google Shape;718;p68"/>
          <p:cNvGrpSpPr/>
          <p:nvPr/>
        </p:nvGrpSpPr>
        <p:grpSpPr>
          <a:xfrm>
            <a:off x="3420088" y="1507775"/>
            <a:ext cx="2303825" cy="1971200"/>
            <a:chOff x="3386250" y="1770500"/>
            <a:chExt cx="2303825" cy="1971200"/>
          </a:xfrm>
        </p:grpSpPr>
        <p:cxnSp>
          <p:nvCxnSpPr>
            <p:cNvPr id="719" name="Google Shape;719;p68"/>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720" name="Google Shape;720;p68"/>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721" name="Google Shape;721;p68"/>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722" name="Google Shape;722;p68"/>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grpSp>
        <p:nvGrpSpPr>
          <p:cNvPr id="723" name="Google Shape;723;p68"/>
          <p:cNvGrpSpPr/>
          <p:nvPr/>
        </p:nvGrpSpPr>
        <p:grpSpPr>
          <a:xfrm flipH="1" rot="3781804">
            <a:off x="6428110" y="3019319"/>
            <a:ext cx="2303709" cy="1971101"/>
            <a:chOff x="3386250" y="1770500"/>
            <a:chExt cx="2303825" cy="1971200"/>
          </a:xfrm>
        </p:grpSpPr>
        <p:cxnSp>
          <p:nvCxnSpPr>
            <p:cNvPr id="724" name="Google Shape;724;p68"/>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725" name="Google Shape;725;p68"/>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726" name="Google Shape;726;p68"/>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727" name="Google Shape;727;p68"/>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sp>
        <p:nvSpPr>
          <p:cNvPr id="728" name="Google Shape;728;p68"/>
          <p:cNvSpPr txBox="1"/>
          <p:nvPr/>
        </p:nvSpPr>
        <p:spPr>
          <a:xfrm>
            <a:off x="4517513" y="3963300"/>
            <a:ext cx="20817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sp>
        <p:nvSpPr>
          <p:cNvPr id="729" name="Google Shape;729;p68"/>
          <p:cNvSpPr/>
          <p:nvPr/>
        </p:nvSpPr>
        <p:spPr>
          <a:xfrm>
            <a:off x="2315100" y="226565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a:t>
            </a:r>
            <a:r>
              <a:rPr lang="en">
                <a:solidFill>
                  <a:schemeClr val="dk1"/>
                </a:solidFill>
                <a:latin typeface="Caveat"/>
                <a:ea typeface="Caveat"/>
                <a:cs typeface="Caveat"/>
                <a:sym typeface="Caveat"/>
              </a:rPr>
              <a:t> zzz…</a:t>
            </a:r>
            <a:endParaRPr>
              <a:solidFill>
                <a:schemeClr val="dk1"/>
              </a:solidFill>
              <a:latin typeface="Caveat"/>
              <a:ea typeface="Caveat"/>
              <a:cs typeface="Caveat"/>
              <a:sym typeface="Caveat"/>
            </a:endParaRPr>
          </a:p>
        </p:txBody>
      </p:sp>
      <p:sp>
        <p:nvSpPr>
          <p:cNvPr id="730" name="Google Shape;730;p68"/>
          <p:cNvSpPr txBox="1"/>
          <p:nvPr>
            <p:ph idx="4294967295" type="body"/>
          </p:nvPr>
        </p:nvSpPr>
        <p:spPr>
          <a:xfrm>
            <a:off x="199200" y="1426957"/>
            <a:ext cx="29172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Arial"/>
                <a:ea typeface="Arial"/>
                <a:cs typeface="Arial"/>
                <a:sym typeface="Arial"/>
              </a:rPr>
              <a:t>One goat isn't strong enough, so it </a:t>
            </a:r>
            <a:r>
              <a:rPr lang="en">
                <a:solidFill>
                  <a:srgbClr val="000000"/>
                </a:solidFill>
                <a:latin typeface="Arial"/>
                <a:ea typeface="Arial"/>
                <a:cs typeface="Arial"/>
                <a:sym typeface="Arial"/>
              </a:rPr>
              <a:t>will</a:t>
            </a:r>
            <a:r>
              <a:rPr lang="en">
                <a:solidFill>
                  <a:srgbClr val="000000"/>
                </a:solidFill>
                <a:latin typeface="Arial"/>
                <a:ea typeface="Arial"/>
                <a:cs typeface="Arial"/>
                <a:sym typeface="Arial"/>
              </a:rPr>
              <a:t> have to wait for more goats.</a:t>
            </a:r>
            <a:endParaRPr b="1" i="1">
              <a:solidFill>
                <a:srgbClr val="FF0000"/>
              </a:solidFill>
              <a:latin typeface="Arial"/>
              <a:ea typeface="Arial"/>
              <a:cs typeface="Arial"/>
              <a:sym typeface="Arial"/>
            </a:endParaRPr>
          </a:p>
        </p:txBody>
      </p:sp>
      <p:sp>
        <p:nvSpPr>
          <p:cNvPr id="731" name="Google Shape;731;p68"/>
          <p:cNvSpPr txBox="1"/>
          <p:nvPr/>
        </p:nvSpPr>
        <p:spPr>
          <a:xfrm>
            <a:off x="1586025" y="4139075"/>
            <a:ext cx="14775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sp>
        <p:nvSpPr>
          <p:cNvPr id="732" name="Google Shape;732;p68"/>
          <p:cNvSpPr/>
          <p:nvPr/>
        </p:nvSpPr>
        <p:spPr>
          <a:xfrm>
            <a:off x="6267025" y="1255950"/>
            <a:ext cx="1090500" cy="676200"/>
          </a:xfrm>
          <a:prstGeom prst="wedgeEllipseCallout">
            <a:avLst>
              <a:gd fmla="val -68106" name="adj1"/>
              <a:gd fmla="val 35738" name="adj2"/>
            </a:avLst>
          </a:prstGeom>
          <a:solidFill>
            <a:schemeClr val="lt1"/>
          </a:solidFill>
          <a:ln cap="flat" cmpd="sng" w="1905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51C75"/>
                </a:solidFill>
                <a:latin typeface="Impact"/>
                <a:ea typeface="Impact"/>
                <a:cs typeface="Impact"/>
                <a:sym typeface="Impact"/>
              </a:rPr>
              <a:t>4</a:t>
            </a:r>
            <a:endParaRPr sz="1900">
              <a:solidFill>
                <a:srgbClr val="351C75"/>
              </a:solidFill>
              <a:latin typeface="Impact"/>
              <a:ea typeface="Impact"/>
              <a:cs typeface="Impact"/>
              <a:sym typeface="Impact"/>
            </a:endParaRPr>
          </a:p>
        </p:txBody>
      </p:sp>
      <p:sp>
        <p:nvSpPr>
          <p:cNvPr id="733" name="Google Shape;733;p68"/>
          <p:cNvSpPr txBox="1"/>
          <p:nvPr>
            <p:ph idx="4294967295" type="body"/>
          </p:nvPr>
        </p:nvSpPr>
        <p:spPr>
          <a:xfrm>
            <a:off x="6671325" y="2181525"/>
            <a:ext cx="23973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Arial"/>
                <a:ea typeface="Arial"/>
                <a:cs typeface="Arial"/>
                <a:sym typeface="Arial"/>
              </a:rPr>
              <a:t>Each time a goat shows up the troll </a:t>
            </a:r>
            <a:r>
              <a:rPr b="1" i="1" lang="en">
                <a:solidFill>
                  <a:srgbClr val="FF0000"/>
                </a:solidFill>
                <a:latin typeface="Arial"/>
                <a:ea typeface="Arial"/>
                <a:cs typeface="Arial"/>
                <a:sym typeface="Arial"/>
              </a:rPr>
              <a:t>counts down</a:t>
            </a:r>
            <a:r>
              <a:rPr lang="en">
                <a:solidFill>
                  <a:srgbClr val="000000"/>
                </a:solidFill>
                <a:latin typeface="Arial"/>
                <a:ea typeface="Arial"/>
                <a:cs typeface="Arial"/>
                <a:sym typeface="Arial"/>
              </a:rPr>
              <a:t>.</a:t>
            </a:r>
            <a:endParaRPr b="1" i="1">
              <a:solidFill>
                <a:srgbClr val="FF0000"/>
              </a:solidFill>
              <a:latin typeface="Arial"/>
              <a:ea typeface="Arial"/>
              <a:cs typeface="Arial"/>
              <a:sym typeface="Arial"/>
            </a:endParaRPr>
          </a:p>
        </p:txBody>
      </p:sp>
      <p:pic>
        <p:nvPicPr>
          <p:cNvPr id="734" name="Google Shape;734;p68"/>
          <p:cNvPicPr preferRelativeResize="0"/>
          <p:nvPr/>
        </p:nvPicPr>
        <p:blipFill>
          <a:blip r:embed="rId4">
            <a:alphaModFix/>
          </a:blip>
          <a:stretch>
            <a:fillRect/>
          </a:stretch>
        </p:blipFill>
        <p:spPr>
          <a:xfrm>
            <a:off x="4450725" y="1426938"/>
            <a:ext cx="2397175" cy="2638626"/>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p69"/>
          <p:cNvSpPr/>
          <p:nvPr/>
        </p:nvSpPr>
        <p:spPr>
          <a:xfrm rot="10800000">
            <a:off x="5635950" y="1474175"/>
            <a:ext cx="3385200" cy="2839500"/>
          </a:xfrm>
          <a:prstGeom prst="rtTriangle">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40" name="Google Shape;740;p69"/>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741" name="Google Shape;741;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742" name="Google Shape;742;p69"/>
          <p:cNvGrpSpPr/>
          <p:nvPr/>
        </p:nvGrpSpPr>
        <p:grpSpPr>
          <a:xfrm>
            <a:off x="3420088" y="1507775"/>
            <a:ext cx="2303825" cy="1971200"/>
            <a:chOff x="3386250" y="1770500"/>
            <a:chExt cx="2303825" cy="1971200"/>
          </a:xfrm>
        </p:grpSpPr>
        <p:cxnSp>
          <p:nvCxnSpPr>
            <p:cNvPr id="743" name="Google Shape;743;p69"/>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744" name="Google Shape;744;p69"/>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745" name="Google Shape;745;p69"/>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746" name="Google Shape;746;p69"/>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pic>
        <p:nvPicPr>
          <p:cNvPr id="747" name="Google Shape;747;p69"/>
          <p:cNvPicPr preferRelativeResize="0"/>
          <p:nvPr/>
        </p:nvPicPr>
        <p:blipFill>
          <a:blip r:embed="rId3">
            <a:alphaModFix/>
          </a:blip>
          <a:stretch>
            <a:fillRect/>
          </a:stretch>
        </p:blipFill>
        <p:spPr>
          <a:xfrm>
            <a:off x="4450725" y="1426938"/>
            <a:ext cx="2397175" cy="2638626"/>
          </a:xfrm>
          <a:prstGeom prst="rect">
            <a:avLst/>
          </a:prstGeom>
          <a:noFill/>
          <a:ln>
            <a:noFill/>
          </a:ln>
        </p:spPr>
      </p:pic>
      <p:grpSp>
        <p:nvGrpSpPr>
          <p:cNvPr id="748" name="Google Shape;748;p69"/>
          <p:cNvGrpSpPr/>
          <p:nvPr/>
        </p:nvGrpSpPr>
        <p:grpSpPr>
          <a:xfrm flipH="1" rot="3781804">
            <a:off x="6428110" y="3019319"/>
            <a:ext cx="2303709" cy="1971101"/>
            <a:chOff x="3386250" y="1770500"/>
            <a:chExt cx="2303825" cy="1971200"/>
          </a:xfrm>
        </p:grpSpPr>
        <p:cxnSp>
          <p:nvCxnSpPr>
            <p:cNvPr id="749" name="Google Shape;749;p69"/>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750" name="Google Shape;750;p69"/>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751" name="Google Shape;751;p69"/>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752" name="Google Shape;752;p69"/>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sp>
        <p:nvSpPr>
          <p:cNvPr id="753" name="Google Shape;753;p69"/>
          <p:cNvSpPr txBox="1"/>
          <p:nvPr/>
        </p:nvSpPr>
        <p:spPr>
          <a:xfrm>
            <a:off x="4517513" y="3963300"/>
            <a:ext cx="20817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grpSp>
        <p:nvGrpSpPr>
          <p:cNvPr id="754" name="Google Shape;754;p69"/>
          <p:cNvGrpSpPr/>
          <p:nvPr/>
        </p:nvGrpSpPr>
        <p:grpSpPr>
          <a:xfrm>
            <a:off x="1738147" y="2265650"/>
            <a:ext cx="1920953" cy="1941398"/>
            <a:chOff x="1738147" y="2265650"/>
            <a:chExt cx="1920953" cy="1941398"/>
          </a:xfrm>
        </p:grpSpPr>
        <p:pic>
          <p:nvPicPr>
            <p:cNvPr id="755" name="Google Shape;755;p69"/>
            <p:cNvPicPr preferRelativeResize="0"/>
            <p:nvPr/>
          </p:nvPicPr>
          <p:blipFill>
            <a:blip r:embed="rId4">
              <a:alphaModFix/>
            </a:blip>
            <a:stretch>
              <a:fillRect/>
            </a:stretch>
          </p:blipFill>
          <p:spPr>
            <a:xfrm flipH="1">
              <a:off x="1738147" y="2783150"/>
              <a:ext cx="1438877" cy="1423898"/>
            </a:xfrm>
            <a:prstGeom prst="rect">
              <a:avLst/>
            </a:prstGeom>
            <a:noFill/>
            <a:ln>
              <a:noFill/>
            </a:ln>
          </p:spPr>
        </p:pic>
        <p:sp>
          <p:nvSpPr>
            <p:cNvPr id="756" name="Google Shape;756;p69"/>
            <p:cNvSpPr/>
            <p:nvPr/>
          </p:nvSpPr>
          <p:spPr>
            <a:xfrm>
              <a:off x="2315100" y="226565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grpSp>
      <p:pic>
        <p:nvPicPr>
          <p:cNvPr id="757" name="Google Shape;757;p69"/>
          <p:cNvPicPr preferRelativeResize="0"/>
          <p:nvPr/>
        </p:nvPicPr>
        <p:blipFill>
          <a:blip r:embed="rId5">
            <a:alphaModFix/>
          </a:blip>
          <a:stretch>
            <a:fillRect/>
          </a:stretch>
        </p:blipFill>
        <p:spPr>
          <a:xfrm flipH="1">
            <a:off x="422897" y="2118550"/>
            <a:ext cx="1438877" cy="1423898"/>
          </a:xfrm>
          <a:prstGeom prst="rect">
            <a:avLst/>
          </a:prstGeom>
          <a:noFill/>
          <a:ln>
            <a:noFill/>
          </a:ln>
        </p:spPr>
      </p:pic>
      <p:sp>
        <p:nvSpPr>
          <p:cNvPr id="758" name="Google Shape;758;p69"/>
          <p:cNvSpPr/>
          <p:nvPr/>
        </p:nvSpPr>
        <p:spPr>
          <a:xfrm>
            <a:off x="999850" y="160105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759" name="Google Shape;759;p69"/>
          <p:cNvSpPr txBox="1"/>
          <p:nvPr/>
        </p:nvSpPr>
        <p:spPr>
          <a:xfrm>
            <a:off x="260650" y="3429100"/>
            <a:ext cx="14775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sp>
        <p:nvSpPr>
          <p:cNvPr id="760" name="Google Shape;760;p69"/>
          <p:cNvSpPr/>
          <p:nvPr/>
        </p:nvSpPr>
        <p:spPr>
          <a:xfrm>
            <a:off x="6267025" y="1255950"/>
            <a:ext cx="1090500" cy="676200"/>
          </a:xfrm>
          <a:prstGeom prst="wedgeEllipseCallout">
            <a:avLst>
              <a:gd fmla="val -68106" name="adj1"/>
              <a:gd fmla="val 35738" name="adj2"/>
            </a:avLst>
          </a:prstGeom>
          <a:solidFill>
            <a:schemeClr val="lt1"/>
          </a:solidFill>
          <a:ln cap="flat" cmpd="sng" w="1905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51C75"/>
                </a:solidFill>
                <a:latin typeface="Impact"/>
                <a:ea typeface="Impact"/>
                <a:cs typeface="Impact"/>
                <a:sym typeface="Impact"/>
              </a:rPr>
              <a:t>3</a:t>
            </a:r>
            <a:endParaRPr sz="1900">
              <a:solidFill>
                <a:srgbClr val="351C75"/>
              </a:solidFill>
              <a:latin typeface="Impact"/>
              <a:ea typeface="Impact"/>
              <a:cs typeface="Impact"/>
              <a:sym typeface="Impact"/>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70"/>
          <p:cNvSpPr/>
          <p:nvPr/>
        </p:nvSpPr>
        <p:spPr>
          <a:xfrm rot="10800000">
            <a:off x="5635950" y="1474175"/>
            <a:ext cx="3385200" cy="2839500"/>
          </a:xfrm>
          <a:prstGeom prst="rtTriangle">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766" name="Google Shape;766;p70"/>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767" name="Google Shape;767;p7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768" name="Google Shape;768;p70"/>
          <p:cNvGrpSpPr/>
          <p:nvPr/>
        </p:nvGrpSpPr>
        <p:grpSpPr>
          <a:xfrm>
            <a:off x="3420088" y="1507775"/>
            <a:ext cx="2303825" cy="1971200"/>
            <a:chOff x="3386250" y="1770500"/>
            <a:chExt cx="2303825" cy="1971200"/>
          </a:xfrm>
        </p:grpSpPr>
        <p:cxnSp>
          <p:nvCxnSpPr>
            <p:cNvPr id="769" name="Google Shape;769;p70"/>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770" name="Google Shape;770;p70"/>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771" name="Google Shape;771;p70"/>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772" name="Google Shape;772;p70"/>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pic>
        <p:nvPicPr>
          <p:cNvPr id="773" name="Google Shape;773;p70"/>
          <p:cNvPicPr preferRelativeResize="0"/>
          <p:nvPr/>
        </p:nvPicPr>
        <p:blipFill>
          <a:blip r:embed="rId3">
            <a:alphaModFix/>
          </a:blip>
          <a:stretch>
            <a:fillRect/>
          </a:stretch>
        </p:blipFill>
        <p:spPr>
          <a:xfrm>
            <a:off x="4450725" y="1426938"/>
            <a:ext cx="2397175" cy="2638626"/>
          </a:xfrm>
          <a:prstGeom prst="rect">
            <a:avLst/>
          </a:prstGeom>
          <a:noFill/>
          <a:ln>
            <a:noFill/>
          </a:ln>
        </p:spPr>
      </p:pic>
      <p:grpSp>
        <p:nvGrpSpPr>
          <p:cNvPr id="774" name="Google Shape;774;p70"/>
          <p:cNvGrpSpPr/>
          <p:nvPr/>
        </p:nvGrpSpPr>
        <p:grpSpPr>
          <a:xfrm flipH="1" rot="3781804">
            <a:off x="6428110" y="3019319"/>
            <a:ext cx="2303709" cy="1971101"/>
            <a:chOff x="3386250" y="1770500"/>
            <a:chExt cx="2303825" cy="1971200"/>
          </a:xfrm>
        </p:grpSpPr>
        <p:cxnSp>
          <p:nvCxnSpPr>
            <p:cNvPr id="775" name="Google Shape;775;p70"/>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776" name="Google Shape;776;p70"/>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777" name="Google Shape;777;p70"/>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778" name="Google Shape;778;p70"/>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sp>
        <p:nvSpPr>
          <p:cNvPr id="779" name="Google Shape;779;p70"/>
          <p:cNvSpPr txBox="1"/>
          <p:nvPr/>
        </p:nvSpPr>
        <p:spPr>
          <a:xfrm>
            <a:off x="4517513" y="3963300"/>
            <a:ext cx="20817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pic>
        <p:nvPicPr>
          <p:cNvPr id="780" name="Google Shape;780;p70"/>
          <p:cNvPicPr preferRelativeResize="0"/>
          <p:nvPr/>
        </p:nvPicPr>
        <p:blipFill>
          <a:blip r:embed="rId4">
            <a:alphaModFix/>
          </a:blip>
          <a:stretch>
            <a:fillRect/>
          </a:stretch>
        </p:blipFill>
        <p:spPr>
          <a:xfrm flipH="1">
            <a:off x="1738147" y="2783150"/>
            <a:ext cx="1438877" cy="1423898"/>
          </a:xfrm>
          <a:prstGeom prst="rect">
            <a:avLst/>
          </a:prstGeom>
          <a:noFill/>
          <a:ln>
            <a:noFill/>
          </a:ln>
        </p:spPr>
      </p:pic>
      <p:sp>
        <p:nvSpPr>
          <p:cNvPr id="781" name="Google Shape;781;p70"/>
          <p:cNvSpPr/>
          <p:nvPr/>
        </p:nvSpPr>
        <p:spPr>
          <a:xfrm>
            <a:off x="2315100" y="226565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pic>
        <p:nvPicPr>
          <p:cNvPr id="782" name="Google Shape;782;p70"/>
          <p:cNvPicPr preferRelativeResize="0"/>
          <p:nvPr/>
        </p:nvPicPr>
        <p:blipFill>
          <a:blip r:embed="rId5">
            <a:alphaModFix/>
          </a:blip>
          <a:stretch>
            <a:fillRect/>
          </a:stretch>
        </p:blipFill>
        <p:spPr>
          <a:xfrm flipH="1">
            <a:off x="422897" y="2118550"/>
            <a:ext cx="1438877" cy="1423898"/>
          </a:xfrm>
          <a:prstGeom prst="rect">
            <a:avLst/>
          </a:prstGeom>
          <a:noFill/>
          <a:ln>
            <a:noFill/>
          </a:ln>
        </p:spPr>
      </p:pic>
      <p:sp>
        <p:nvSpPr>
          <p:cNvPr id="783" name="Google Shape;783;p70"/>
          <p:cNvSpPr/>
          <p:nvPr/>
        </p:nvSpPr>
        <p:spPr>
          <a:xfrm>
            <a:off x="999850" y="160105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pic>
        <p:nvPicPr>
          <p:cNvPr id="784" name="Google Shape;784;p70"/>
          <p:cNvPicPr preferRelativeResize="0"/>
          <p:nvPr/>
        </p:nvPicPr>
        <p:blipFill>
          <a:blip r:embed="rId6">
            <a:alphaModFix/>
          </a:blip>
          <a:stretch>
            <a:fillRect/>
          </a:stretch>
        </p:blipFill>
        <p:spPr>
          <a:xfrm flipH="1">
            <a:off x="382447" y="3451656"/>
            <a:ext cx="1438877" cy="1423898"/>
          </a:xfrm>
          <a:prstGeom prst="rect">
            <a:avLst/>
          </a:prstGeom>
          <a:noFill/>
          <a:ln>
            <a:noFill/>
          </a:ln>
        </p:spPr>
      </p:pic>
      <p:sp>
        <p:nvSpPr>
          <p:cNvPr id="785" name="Google Shape;785;p70"/>
          <p:cNvSpPr/>
          <p:nvPr/>
        </p:nvSpPr>
        <p:spPr>
          <a:xfrm>
            <a:off x="959400" y="2934156"/>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786" name="Google Shape;786;p70"/>
          <p:cNvSpPr txBox="1"/>
          <p:nvPr/>
        </p:nvSpPr>
        <p:spPr>
          <a:xfrm>
            <a:off x="188750" y="4791175"/>
            <a:ext cx="14775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sp>
        <p:nvSpPr>
          <p:cNvPr id="787" name="Google Shape;787;p70"/>
          <p:cNvSpPr/>
          <p:nvPr/>
        </p:nvSpPr>
        <p:spPr>
          <a:xfrm>
            <a:off x="6267025" y="1255950"/>
            <a:ext cx="1090500" cy="676200"/>
          </a:xfrm>
          <a:prstGeom prst="wedgeEllipseCallout">
            <a:avLst>
              <a:gd fmla="val -68106" name="adj1"/>
              <a:gd fmla="val 35738" name="adj2"/>
            </a:avLst>
          </a:prstGeom>
          <a:solidFill>
            <a:schemeClr val="lt1"/>
          </a:solidFill>
          <a:ln cap="flat" cmpd="sng" w="1905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51C75"/>
                </a:solidFill>
                <a:latin typeface="Impact"/>
                <a:ea typeface="Impact"/>
                <a:cs typeface="Impact"/>
                <a:sym typeface="Impact"/>
              </a:rPr>
              <a:t>2</a:t>
            </a:r>
            <a:endParaRPr sz="1900">
              <a:solidFill>
                <a:srgbClr val="351C75"/>
              </a:solidFill>
              <a:latin typeface="Impact"/>
              <a:ea typeface="Impact"/>
              <a:cs typeface="Impact"/>
              <a:sym typeface="Impact"/>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grpSp>
        <p:nvGrpSpPr>
          <p:cNvPr id="792" name="Google Shape;792;p71"/>
          <p:cNvGrpSpPr/>
          <p:nvPr/>
        </p:nvGrpSpPr>
        <p:grpSpPr>
          <a:xfrm flipH="1" rot="3781804">
            <a:off x="6428110" y="3019319"/>
            <a:ext cx="2303709" cy="1971101"/>
            <a:chOff x="3386250" y="1770500"/>
            <a:chExt cx="2303825" cy="1971200"/>
          </a:xfrm>
        </p:grpSpPr>
        <p:cxnSp>
          <p:nvCxnSpPr>
            <p:cNvPr id="793" name="Google Shape;793;p71"/>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794" name="Google Shape;794;p71"/>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795" name="Google Shape;795;p71"/>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796" name="Google Shape;796;p71"/>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sp>
        <p:nvSpPr>
          <p:cNvPr id="797" name="Google Shape;797;p71"/>
          <p:cNvSpPr/>
          <p:nvPr/>
        </p:nvSpPr>
        <p:spPr>
          <a:xfrm rot="10800000">
            <a:off x="5635950" y="1474175"/>
            <a:ext cx="3385200" cy="2839500"/>
          </a:xfrm>
          <a:prstGeom prst="rtTriangle">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pic>
        <p:nvPicPr>
          <p:cNvPr id="798" name="Google Shape;798;p71"/>
          <p:cNvPicPr preferRelativeResize="0"/>
          <p:nvPr/>
        </p:nvPicPr>
        <p:blipFill>
          <a:blip r:embed="rId3">
            <a:alphaModFix/>
          </a:blip>
          <a:stretch>
            <a:fillRect/>
          </a:stretch>
        </p:blipFill>
        <p:spPr>
          <a:xfrm flipH="1">
            <a:off x="1136872" y="1339750"/>
            <a:ext cx="1438877" cy="1423898"/>
          </a:xfrm>
          <a:prstGeom prst="rect">
            <a:avLst/>
          </a:prstGeom>
          <a:noFill/>
          <a:ln>
            <a:noFill/>
          </a:ln>
        </p:spPr>
      </p:pic>
      <p:sp>
        <p:nvSpPr>
          <p:cNvPr id="799" name="Google Shape;799;p7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800" name="Google Shape;800;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801" name="Google Shape;801;p71"/>
          <p:cNvGrpSpPr/>
          <p:nvPr/>
        </p:nvGrpSpPr>
        <p:grpSpPr>
          <a:xfrm>
            <a:off x="3420088" y="1507775"/>
            <a:ext cx="2303825" cy="1971200"/>
            <a:chOff x="3386250" y="1770500"/>
            <a:chExt cx="2303825" cy="1971200"/>
          </a:xfrm>
        </p:grpSpPr>
        <p:cxnSp>
          <p:nvCxnSpPr>
            <p:cNvPr id="802" name="Google Shape;802;p71"/>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803" name="Google Shape;803;p71"/>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804" name="Google Shape;804;p71"/>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805" name="Google Shape;805;p71"/>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pic>
        <p:nvPicPr>
          <p:cNvPr id="806" name="Google Shape;806;p71"/>
          <p:cNvPicPr preferRelativeResize="0"/>
          <p:nvPr/>
        </p:nvPicPr>
        <p:blipFill>
          <a:blip r:embed="rId4">
            <a:alphaModFix/>
          </a:blip>
          <a:stretch>
            <a:fillRect/>
          </a:stretch>
        </p:blipFill>
        <p:spPr>
          <a:xfrm>
            <a:off x="4450725" y="1426938"/>
            <a:ext cx="2397175" cy="2638626"/>
          </a:xfrm>
          <a:prstGeom prst="rect">
            <a:avLst/>
          </a:prstGeom>
          <a:noFill/>
          <a:ln>
            <a:noFill/>
          </a:ln>
        </p:spPr>
      </p:pic>
      <p:pic>
        <p:nvPicPr>
          <p:cNvPr id="807" name="Google Shape;807;p71"/>
          <p:cNvPicPr preferRelativeResize="0"/>
          <p:nvPr/>
        </p:nvPicPr>
        <p:blipFill>
          <a:blip r:embed="rId5">
            <a:alphaModFix/>
          </a:blip>
          <a:stretch>
            <a:fillRect/>
          </a:stretch>
        </p:blipFill>
        <p:spPr>
          <a:xfrm flipH="1">
            <a:off x="1738147" y="2783150"/>
            <a:ext cx="1438877" cy="1423898"/>
          </a:xfrm>
          <a:prstGeom prst="rect">
            <a:avLst/>
          </a:prstGeom>
          <a:noFill/>
          <a:ln>
            <a:noFill/>
          </a:ln>
        </p:spPr>
      </p:pic>
      <p:pic>
        <p:nvPicPr>
          <p:cNvPr id="808" name="Google Shape;808;p71"/>
          <p:cNvPicPr preferRelativeResize="0"/>
          <p:nvPr/>
        </p:nvPicPr>
        <p:blipFill>
          <a:blip r:embed="rId6">
            <a:alphaModFix/>
          </a:blip>
          <a:stretch>
            <a:fillRect/>
          </a:stretch>
        </p:blipFill>
        <p:spPr>
          <a:xfrm flipH="1">
            <a:off x="382447" y="3632925"/>
            <a:ext cx="1438877" cy="1423898"/>
          </a:xfrm>
          <a:prstGeom prst="rect">
            <a:avLst/>
          </a:prstGeom>
          <a:noFill/>
          <a:ln>
            <a:noFill/>
          </a:ln>
        </p:spPr>
      </p:pic>
      <p:pic>
        <p:nvPicPr>
          <p:cNvPr id="809" name="Google Shape;809;p71"/>
          <p:cNvPicPr preferRelativeResize="0"/>
          <p:nvPr/>
        </p:nvPicPr>
        <p:blipFill>
          <a:blip r:embed="rId7">
            <a:alphaModFix/>
          </a:blip>
          <a:stretch>
            <a:fillRect/>
          </a:stretch>
        </p:blipFill>
        <p:spPr>
          <a:xfrm flipH="1">
            <a:off x="2193397" y="3493900"/>
            <a:ext cx="1438877" cy="1423898"/>
          </a:xfrm>
          <a:prstGeom prst="rect">
            <a:avLst/>
          </a:prstGeom>
          <a:noFill/>
          <a:ln>
            <a:noFill/>
          </a:ln>
        </p:spPr>
      </p:pic>
      <p:sp>
        <p:nvSpPr>
          <p:cNvPr id="810" name="Google Shape;810;p71"/>
          <p:cNvSpPr txBox="1"/>
          <p:nvPr/>
        </p:nvSpPr>
        <p:spPr>
          <a:xfrm>
            <a:off x="2064113" y="4798725"/>
            <a:ext cx="14775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sp>
        <p:nvSpPr>
          <p:cNvPr id="811" name="Google Shape;811;p71"/>
          <p:cNvSpPr txBox="1"/>
          <p:nvPr/>
        </p:nvSpPr>
        <p:spPr>
          <a:xfrm>
            <a:off x="1051119" y="2595503"/>
            <a:ext cx="14775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await()</a:t>
            </a:r>
            <a:endParaRPr b="1">
              <a:solidFill>
                <a:srgbClr val="674EA7"/>
              </a:solidFill>
              <a:latin typeface="Merriweather"/>
              <a:ea typeface="Merriweather"/>
              <a:cs typeface="Merriweather"/>
              <a:sym typeface="Merriweather"/>
            </a:endParaRPr>
          </a:p>
        </p:txBody>
      </p:sp>
      <p:pic>
        <p:nvPicPr>
          <p:cNvPr id="812" name="Google Shape;812;p71"/>
          <p:cNvPicPr preferRelativeResize="0"/>
          <p:nvPr/>
        </p:nvPicPr>
        <p:blipFill>
          <a:blip r:embed="rId8">
            <a:alphaModFix/>
          </a:blip>
          <a:stretch>
            <a:fillRect/>
          </a:stretch>
        </p:blipFill>
        <p:spPr>
          <a:xfrm flipH="1">
            <a:off x="422897" y="2118550"/>
            <a:ext cx="1438877" cy="1423898"/>
          </a:xfrm>
          <a:prstGeom prst="rect">
            <a:avLst/>
          </a:prstGeom>
          <a:noFill/>
          <a:ln>
            <a:noFill/>
          </a:ln>
        </p:spPr>
      </p:pic>
      <p:sp>
        <p:nvSpPr>
          <p:cNvPr id="813" name="Google Shape;813;p71"/>
          <p:cNvSpPr/>
          <p:nvPr/>
        </p:nvSpPr>
        <p:spPr>
          <a:xfrm>
            <a:off x="2315100" y="226565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4" name="Google Shape;814;p71"/>
          <p:cNvSpPr/>
          <p:nvPr/>
        </p:nvSpPr>
        <p:spPr>
          <a:xfrm>
            <a:off x="999850" y="160105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5" name="Google Shape;815;p71"/>
          <p:cNvSpPr/>
          <p:nvPr/>
        </p:nvSpPr>
        <p:spPr>
          <a:xfrm>
            <a:off x="959400" y="2934156"/>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6" name="Google Shape;816;p71"/>
          <p:cNvSpPr/>
          <p:nvPr/>
        </p:nvSpPr>
        <p:spPr>
          <a:xfrm>
            <a:off x="2884200" y="3080600"/>
            <a:ext cx="1344000" cy="623700"/>
          </a:xfrm>
          <a:prstGeom prst="wedgeEllipseCallout">
            <a:avLst>
              <a:gd fmla="val -20833" name="adj1"/>
              <a:gd fmla="val 62500"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7" name="Google Shape;817;p71"/>
          <p:cNvSpPr/>
          <p:nvPr/>
        </p:nvSpPr>
        <p:spPr>
          <a:xfrm>
            <a:off x="2130875" y="1288875"/>
            <a:ext cx="1344000" cy="623700"/>
          </a:xfrm>
          <a:prstGeom prst="wedgeEllipseCallout">
            <a:avLst>
              <a:gd fmla="val -33516" name="adj1"/>
              <a:gd fmla="val 53964" name="adj2"/>
            </a:avLst>
          </a:prstGeom>
          <a:no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Caveat"/>
                <a:ea typeface="Caveat"/>
                <a:cs typeface="Caveat"/>
                <a:sym typeface="Caveat"/>
              </a:rPr>
              <a:t>waiting zzz…</a:t>
            </a:r>
            <a:endParaRPr>
              <a:solidFill>
                <a:schemeClr val="dk1"/>
              </a:solidFill>
              <a:latin typeface="Caveat"/>
              <a:ea typeface="Caveat"/>
              <a:cs typeface="Caveat"/>
              <a:sym typeface="Caveat"/>
            </a:endParaRPr>
          </a:p>
        </p:txBody>
      </p:sp>
      <p:sp>
        <p:nvSpPr>
          <p:cNvPr id="818" name="Google Shape;818;p71"/>
          <p:cNvSpPr/>
          <p:nvPr/>
        </p:nvSpPr>
        <p:spPr>
          <a:xfrm>
            <a:off x="6267025" y="1255950"/>
            <a:ext cx="1090500" cy="676200"/>
          </a:xfrm>
          <a:prstGeom prst="wedgeEllipseCallout">
            <a:avLst>
              <a:gd fmla="val -68106" name="adj1"/>
              <a:gd fmla="val 35738" name="adj2"/>
            </a:avLst>
          </a:prstGeom>
          <a:solidFill>
            <a:schemeClr val="lt1"/>
          </a:solidFill>
          <a:ln cap="flat" cmpd="sng" w="1905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51C75"/>
                </a:solidFill>
                <a:latin typeface="Impact"/>
                <a:ea typeface="Impact"/>
                <a:cs typeface="Impact"/>
                <a:sym typeface="Impact"/>
              </a:rPr>
              <a:t>1</a:t>
            </a:r>
            <a:endParaRPr sz="1900">
              <a:solidFill>
                <a:srgbClr val="351C75"/>
              </a:solidFill>
              <a:latin typeface="Impact"/>
              <a:ea typeface="Impact"/>
              <a:cs typeface="Impact"/>
              <a:sym typeface="Impact"/>
            </a:endParaRPr>
          </a:p>
        </p:txBody>
      </p:sp>
      <p:sp>
        <p:nvSpPr>
          <p:cNvPr id="819" name="Google Shape;819;p71"/>
          <p:cNvSpPr/>
          <p:nvPr/>
        </p:nvSpPr>
        <p:spPr>
          <a:xfrm>
            <a:off x="6502525" y="1793550"/>
            <a:ext cx="1090500" cy="676200"/>
          </a:xfrm>
          <a:prstGeom prst="wedgeEllipseCallout">
            <a:avLst>
              <a:gd fmla="val -83755" name="adj1"/>
              <a:gd fmla="val -26619" name="adj2"/>
            </a:avLst>
          </a:prstGeom>
          <a:solidFill>
            <a:schemeClr val="lt1"/>
          </a:solidFill>
          <a:ln cap="flat" cmpd="sng" w="1905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51C75"/>
                </a:solidFill>
                <a:latin typeface="Impact"/>
                <a:ea typeface="Impact"/>
                <a:cs typeface="Impact"/>
                <a:sym typeface="Impact"/>
              </a:rPr>
              <a:t>0</a:t>
            </a:r>
            <a:endParaRPr sz="1900">
              <a:solidFill>
                <a:srgbClr val="351C75"/>
              </a:solidFill>
              <a:latin typeface="Impact"/>
              <a:ea typeface="Impact"/>
              <a:cs typeface="Impact"/>
              <a:sym typeface="Impact"/>
            </a:endParaRPr>
          </a:p>
        </p:txBody>
      </p:sp>
      <p:sp>
        <p:nvSpPr>
          <p:cNvPr id="820" name="Google Shape;820;p71"/>
          <p:cNvSpPr txBox="1"/>
          <p:nvPr/>
        </p:nvSpPr>
        <p:spPr>
          <a:xfrm>
            <a:off x="4517513" y="3963300"/>
            <a:ext cx="20817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sp>
        <p:nvSpPr>
          <p:cNvPr id="821" name="Google Shape;821;p71"/>
          <p:cNvSpPr txBox="1"/>
          <p:nvPr/>
        </p:nvSpPr>
        <p:spPr>
          <a:xfrm>
            <a:off x="4517525" y="4207050"/>
            <a:ext cx="2081700" cy="485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rgbClr val="674EA7"/>
                </a:solidFill>
                <a:latin typeface="Merriweather"/>
                <a:ea typeface="Merriweather"/>
                <a:cs typeface="Merriweather"/>
                <a:sym typeface="Merriweather"/>
              </a:rPr>
              <a:t>CountDown()</a:t>
            </a:r>
            <a:endParaRPr b="1">
              <a:solidFill>
                <a:srgbClr val="674EA7"/>
              </a:solidFill>
              <a:latin typeface="Merriweather"/>
              <a:ea typeface="Merriweather"/>
              <a:cs typeface="Merriweather"/>
              <a:sym typeface="Merriweather"/>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5" name="Shape 825"/>
        <p:cNvGrpSpPr/>
        <p:nvPr/>
      </p:nvGrpSpPr>
      <p:grpSpPr>
        <a:xfrm>
          <a:off x="0" y="0"/>
          <a:ext cx="0" cy="0"/>
          <a:chOff x="0" y="0"/>
          <a:chExt cx="0" cy="0"/>
        </a:xfrm>
      </p:grpSpPr>
      <p:grpSp>
        <p:nvGrpSpPr>
          <p:cNvPr id="826" name="Google Shape;826;p72"/>
          <p:cNvGrpSpPr/>
          <p:nvPr/>
        </p:nvGrpSpPr>
        <p:grpSpPr>
          <a:xfrm flipH="1" rot="3781804">
            <a:off x="6428110" y="3019319"/>
            <a:ext cx="2303709" cy="1971101"/>
            <a:chOff x="3386250" y="1770500"/>
            <a:chExt cx="2303825" cy="1971200"/>
          </a:xfrm>
        </p:grpSpPr>
        <p:cxnSp>
          <p:nvCxnSpPr>
            <p:cNvPr id="827" name="Google Shape;827;p72"/>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828" name="Google Shape;828;p72"/>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829" name="Google Shape;829;p72"/>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830" name="Google Shape;830;p72"/>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sp>
        <p:nvSpPr>
          <p:cNvPr id="831" name="Google Shape;831;p72"/>
          <p:cNvSpPr/>
          <p:nvPr/>
        </p:nvSpPr>
        <p:spPr>
          <a:xfrm rot="10800000">
            <a:off x="5635950" y="1474175"/>
            <a:ext cx="3385200" cy="2839500"/>
          </a:xfrm>
          <a:prstGeom prst="rtTriangle">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32" name="Google Shape;832;p72"/>
          <p:cNvSpPr txBox="1"/>
          <p:nvPr>
            <p:ph idx="4294967295" type="body"/>
          </p:nvPr>
        </p:nvSpPr>
        <p:spPr>
          <a:xfrm>
            <a:off x="6606000" y="1507775"/>
            <a:ext cx="2484300" cy="1029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latin typeface="Arial"/>
                <a:ea typeface="Arial"/>
                <a:cs typeface="Arial"/>
                <a:sym typeface="Arial"/>
              </a:rPr>
              <a:t>Once the troll has counted down to 0, the troll is overpowered by the goats. </a:t>
            </a:r>
            <a:endParaRPr>
              <a:solidFill>
                <a:srgbClr val="000000"/>
              </a:solidFill>
              <a:latin typeface="Arial"/>
              <a:ea typeface="Arial"/>
              <a:cs typeface="Arial"/>
              <a:sym typeface="Arial"/>
            </a:endParaRPr>
          </a:p>
          <a:p>
            <a:pPr indent="0" lvl="0" marL="0" rtl="0" algn="l">
              <a:spcBef>
                <a:spcPts val="0"/>
              </a:spcBef>
              <a:spcAft>
                <a:spcPts val="1600"/>
              </a:spcAft>
              <a:buNone/>
            </a:pPr>
            <a:r>
              <a:rPr lang="en">
                <a:solidFill>
                  <a:srgbClr val="000000"/>
                </a:solidFill>
                <a:latin typeface="Arial"/>
                <a:ea typeface="Arial"/>
                <a:cs typeface="Arial"/>
                <a:sym typeface="Arial"/>
              </a:rPr>
              <a:t>I.E. the latch is </a:t>
            </a:r>
            <a:r>
              <a:rPr b="1" i="1" lang="en">
                <a:solidFill>
                  <a:srgbClr val="FF0000"/>
                </a:solidFill>
                <a:latin typeface="Arial"/>
                <a:ea typeface="Arial"/>
                <a:cs typeface="Arial"/>
                <a:sym typeface="Arial"/>
              </a:rPr>
              <a:t>open</a:t>
            </a:r>
            <a:endParaRPr b="1" i="1">
              <a:solidFill>
                <a:srgbClr val="FF0000"/>
              </a:solidFill>
              <a:latin typeface="Arial"/>
              <a:ea typeface="Arial"/>
              <a:cs typeface="Arial"/>
              <a:sym typeface="Arial"/>
            </a:endParaRPr>
          </a:p>
        </p:txBody>
      </p:sp>
      <p:pic>
        <p:nvPicPr>
          <p:cNvPr id="833" name="Google Shape;833;p72"/>
          <p:cNvPicPr preferRelativeResize="0"/>
          <p:nvPr/>
        </p:nvPicPr>
        <p:blipFill>
          <a:blip r:embed="rId3">
            <a:alphaModFix/>
          </a:blip>
          <a:stretch>
            <a:fillRect/>
          </a:stretch>
        </p:blipFill>
        <p:spPr>
          <a:xfrm flipH="1">
            <a:off x="1136872" y="1339750"/>
            <a:ext cx="1438877" cy="1423898"/>
          </a:xfrm>
          <a:prstGeom prst="rect">
            <a:avLst/>
          </a:prstGeom>
          <a:noFill/>
          <a:ln>
            <a:noFill/>
          </a:ln>
        </p:spPr>
      </p:pic>
      <p:sp>
        <p:nvSpPr>
          <p:cNvPr id="834" name="Google Shape;834;p7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835" name="Google Shape;835;p7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836" name="Google Shape;836;p72"/>
          <p:cNvGrpSpPr/>
          <p:nvPr/>
        </p:nvGrpSpPr>
        <p:grpSpPr>
          <a:xfrm>
            <a:off x="3420088" y="1507775"/>
            <a:ext cx="2303825" cy="1971200"/>
            <a:chOff x="3386250" y="1770500"/>
            <a:chExt cx="2303825" cy="1971200"/>
          </a:xfrm>
        </p:grpSpPr>
        <p:cxnSp>
          <p:nvCxnSpPr>
            <p:cNvPr id="837" name="Google Shape;837;p72"/>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838" name="Google Shape;838;p72"/>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839" name="Google Shape;839;p72"/>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840" name="Google Shape;840;p72"/>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pic>
        <p:nvPicPr>
          <p:cNvPr id="841" name="Google Shape;841;p72"/>
          <p:cNvPicPr preferRelativeResize="0"/>
          <p:nvPr/>
        </p:nvPicPr>
        <p:blipFill>
          <a:blip r:embed="rId4">
            <a:alphaModFix/>
          </a:blip>
          <a:stretch>
            <a:fillRect/>
          </a:stretch>
        </p:blipFill>
        <p:spPr>
          <a:xfrm>
            <a:off x="4450725" y="1426938"/>
            <a:ext cx="2397175" cy="2638626"/>
          </a:xfrm>
          <a:prstGeom prst="rect">
            <a:avLst/>
          </a:prstGeom>
          <a:noFill/>
          <a:ln>
            <a:noFill/>
          </a:ln>
        </p:spPr>
      </p:pic>
      <p:pic>
        <p:nvPicPr>
          <p:cNvPr id="842" name="Google Shape;842;p72"/>
          <p:cNvPicPr preferRelativeResize="0"/>
          <p:nvPr/>
        </p:nvPicPr>
        <p:blipFill>
          <a:blip r:embed="rId5">
            <a:alphaModFix/>
          </a:blip>
          <a:stretch>
            <a:fillRect/>
          </a:stretch>
        </p:blipFill>
        <p:spPr>
          <a:xfrm flipH="1">
            <a:off x="1738147" y="2783150"/>
            <a:ext cx="1438877" cy="1423898"/>
          </a:xfrm>
          <a:prstGeom prst="rect">
            <a:avLst/>
          </a:prstGeom>
          <a:noFill/>
          <a:ln>
            <a:noFill/>
          </a:ln>
        </p:spPr>
      </p:pic>
      <p:pic>
        <p:nvPicPr>
          <p:cNvPr id="843" name="Google Shape;843;p72"/>
          <p:cNvPicPr preferRelativeResize="0"/>
          <p:nvPr/>
        </p:nvPicPr>
        <p:blipFill>
          <a:blip r:embed="rId6">
            <a:alphaModFix/>
          </a:blip>
          <a:stretch>
            <a:fillRect/>
          </a:stretch>
        </p:blipFill>
        <p:spPr>
          <a:xfrm flipH="1">
            <a:off x="382447" y="3632925"/>
            <a:ext cx="1438877" cy="1423898"/>
          </a:xfrm>
          <a:prstGeom prst="rect">
            <a:avLst/>
          </a:prstGeom>
          <a:noFill/>
          <a:ln>
            <a:noFill/>
          </a:ln>
        </p:spPr>
      </p:pic>
      <p:pic>
        <p:nvPicPr>
          <p:cNvPr id="844" name="Google Shape;844;p72"/>
          <p:cNvPicPr preferRelativeResize="0"/>
          <p:nvPr/>
        </p:nvPicPr>
        <p:blipFill>
          <a:blip r:embed="rId7">
            <a:alphaModFix/>
          </a:blip>
          <a:stretch>
            <a:fillRect/>
          </a:stretch>
        </p:blipFill>
        <p:spPr>
          <a:xfrm flipH="1">
            <a:off x="2193397" y="3493900"/>
            <a:ext cx="1438877" cy="1423898"/>
          </a:xfrm>
          <a:prstGeom prst="rect">
            <a:avLst/>
          </a:prstGeom>
          <a:noFill/>
          <a:ln>
            <a:noFill/>
          </a:ln>
        </p:spPr>
      </p:pic>
      <p:sp>
        <p:nvSpPr>
          <p:cNvPr id="845" name="Google Shape;845;p72"/>
          <p:cNvSpPr/>
          <p:nvPr/>
        </p:nvSpPr>
        <p:spPr>
          <a:xfrm>
            <a:off x="2717225" y="1507775"/>
            <a:ext cx="1344000" cy="623700"/>
          </a:xfrm>
          <a:prstGeom prst="wedgeEllipseCallout">
            <a:avLst>
              <a:gd fmla="val -55108" name="adj1"/>
              <a:gd fmla="val 102293" name="adj2"/>
            </a:avLst>
          </a:prstGeom>
          <a:solidFill>
            <a:schemeClr val="lt1"/>
          </a:solid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Caveat"/>
                <a:ea typeface="Caveat"/>
                <a:cs typeface="Caveat"/>
                <a:sym typeface="Caveat"/>
              </a:rPr>
              <a:t>CHARGE!!</a:t>
            </a:r>
            <a:endParaRPr b="1">
              <a:solidFill>
                <a:schemeClr val="dk1"/>
              </a:solidFill>
              <a:latin typeface="Caveat"/>
              <a:ea typeface="Caveat"/>
              <a:cs typeface="Caveat"/>
              <a:sym typeface="Caveat"/>
            </a:endParaRPr>
          </a:p>
        </p:txBody>
      </p:sp>
      <p:sp>
        <p:nvSpPr>
          <p:cNvPr id="846" name="Google Shape;846;p72"/>
          <p:cNvSpPr/>
          <p:nvPr/>
        </p:nvSpPr>
        <p:spPr>
          <a:xfrm>
            <a:off x="3437438" y="2855700"/>
            <a:ext cx="1586100" cy="1107600"/>
          </a:xfrm>
          <a:prstGeom prst="wedgeEllipseCallout">
            <a:avLst>
              <a:gd fmla="val 62527" name="adj1"/>
              <a:gd fmla="val -56252" name="adj2"/>
            </a:avLst>
          </a:prstGeom>
          <a:solidFill>
            <a:schemeClr val="lt1"/>
          </a:solidFill>
          <a:ln cap="flat" cmpd="sng" w="19050">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351C75"/>
                </a:solidFill>
                <a:latin typeface="Impact"/>
                <a:ea typeface="Impact"/>
                <a:cs typeface="Impact"/>
                <a:sym typeface="Impact"/>
              </a:rPr>
              <a:t>Uh Oh!</a:t>
            </a:r>
            <a:endParaRPr sz="1800">
              <a:solidFill>
                <a:srgbClr val="351C75"/>
              </a:solidFill>
              <a:latin typeface="Impact"/>
              <a:ea typeface="Impact"/>
              <a:cs typeface="Impact"/>
              <a:sym typeface="Impact"/>
            </a:endParaRPr>
          </a:p>
          <a:p>
            <a:pPr indent="0" lvl="0" marL="0" rtl="0" algn="ctr">
              <a:spcBef>
                <a:spcPts val="0"/>
              </a:spcBef>
              <a:spcAft>
                <a:spcPts val="0"/>
              </a:spcAft>
              <a:buNone/>
            </a:pPr>
            <a:r>
              <a:rPr lang="en" sz="1800">
                <a:solidFill>
                  <a:srgbClr val="351C75"/>
                </a:solidFill>
                <a:latin typeface="Impact"/>
                <a:ea typeface="Impact"/>
                <a:cs typeface="Impact"/>
                <a:sym typeface="Impact"/>
              </a:rPr>
              <a:t>Too Many Goats!!</a:t>
            </a:r>
            <a:endParaRPr sz="1800">
              <a:solidFill>
                <a:srgbClr val="351C75"/>
              </a:solidFill>
              <a:latin typeface="Impact"/>
              <a:ea typeface="Impact"/>
              <a:cs typeface="Impact"/>
              <a:sym typeface="Impact"/>
            </a:endParaRPr>
          </a:p>
        </p:txBody>
      </p:sp>
      <p:pic>
        <p:nvPicPr>
          <p:cNvPr id="847" name="Google Shape;847;p72"/>
          <p:cNvPicPr preferRelativeResize="0"/>
          <p:nvPr/>
        </p:nvPicPr>
        <p:blipFill>
          <a:blip r:embed="rId8">
            <a:alphaModFix/>
          </a:blip>
          <a:stretch>
            <a:fillRect/>
          </a:stretch>
        </p:blipFill>
        <p:spPr>
          <a:xfrm flipH="1">
            <a:off x="422897" y="2118550"/>
            <a:ext cx="1438877" cy="1423898"/>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73"/>
          <p:cNvSpPr/>
          <p:nvPr/>
        </p:nvSpPr>
        <p:spPr>
          <a:xfrm rot="10800000">
            <a:off x="5635950" y="1474175"/>
            <a:ext cx="3385200" cy="2839500"/>
          </a:xfrm>
          <a:prstGeom prst="rtTriangle">
            <a:avLst/>
          </a:prstGeom>
          <a:solidFill>
            <a:srgbClr val="6AA84F"/>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Roboto"/>
              <a:ea typeface="Roboto"/>
              <a:cs typeface="Roboto"/>
              <a:sym typeface="Roboto"/>
            </a:endParaRPr>
          </a:p>
        </p:txBody>
      </p:sp>
      <p:sp>
        <p:nvSpPr>
          <p:cNvPr id="853" name="Google Shape;853;p73"/>
          <p:cNvSpPr txBox="1"/>
          <p:nvPr>
            <p:ph idx="4294967295" type="body"/>
          </p:nvPr>
        </p:nvSpPr>
        <p:spPr>
          <a:xfrm>
            <a:off x="425288" y="3656375"/>
            <a:ext cx="2551500" cy="896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Arial"/>
                <a:ea typeface="Arial"/>
                <a:cs typeface="Arial"/>
                <a:sym typeface="Arial"/>
              </a:rPr>
              <a:t>Goats that show up </a:t>
            </a:r>
            <a:r>
              <a:rPr b="1" i="1" lang="en">
                <a:solidFill>
                  <a:srgbClr val="FF0000"/>
                </a:solidFill>
                <a:latin typeface="Arial"/>
                <a:ea typeface="Arial"/>
                <a:cs typeface="Arial"/>
                <a:sym typeface="Arial"/>
              </a:rPr>
              <a:t>after</a:t>
            </a:r>
            <a:r>
              <a:rPr lang="en">
                <a:solidFill>
                  <a:srgbClr val="000000"/>
                </a:solidFill>
                <a:latin typeface="Arial"/>
                <a:ea typeface="Arial"/>
                <a:cs typeface="Arial"/>
                <a:sym typeface="Arial"/>
              </a:rPr>
              <a:t> the troll is vanquished can freely </a:t>
            </a:r>
            <a:r>
              <a:rPr b="1" i="1" lang="en">
                <a:solidFill>
                  <a:srgbClr val="FF0000"/>
                </a:solidFill>
                <a:latin typeface="Arial"/>
                <a:ea typeface="Arial"/>
                <a:cs typeface="Arial"/>
                <a:sym typeface="Arial"/>
              </a:rPr>
              <a:t>pass through</a:t>
            </a:r>
            <a:r>
              <a:rPr lang="en">
                <a:solidFill>
                  <a:srgbClr val="000000"/>
                </a:solidFill>
                <a:latin typeface="Arial"/>
                <a:ea typeface="Arial"/>
                <a:cs typeface="Arial"/>
                <a:sym typeface="Arial"/>
              </a:rPr>
              <a:t> to the meadow.</a:t>
            </a:r>
            <a:endParaRPr>
              <a:solidFill>
                <a:srgbClr val="000000"/>
              </a:solidFill>
              <a:latin typeface="Arial"/>
              <a:ea typeface="Arial"/>
              <a:cs typeface="Arial"/>
              <a:sym typeface="Arial"/>
            </a:endParaRPr>
          </a:p>
        </p:txBody>
      </p:sp>
      <p:pic>
        <p:nvPicPr>
          <p:cNvPr id="854" name="Google Shape;854;p73"/>
          <p:cNvPicPr preferRelativeResize="0"/>
          <p:nvPr/>
        </p:nvPicPr>
        <p:blipFill>
          <a:blip r:embed="rId3">
            <a:alphaModFix/>
          </a:blip>
          <a:stretch>
            <a:fillRect/>
          </a:stretch>
        </p:blipFill>
        <p:spPr>
          <a:xfrm flipH="1">
            <a:off x="7942336" y="1507774"/>
            <a:ext cx="890011" cy="880745"/>
          </a:xfrm>
          <a:prstGeom prst="rect">
            <a:avLst/>
          </a:prstGeom>
          <a:noFill/>
          <a:ln>
            <a:noFill/>
          </a:ln>
        </p:spPr>
      </p:pic>
      <p:sp>
        <p:nvSpPr>
          <p:cNvPr id="855" name="Google Shape;855;p73"/>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Story Time (or how </a:t>
            </a:r>
            <a:r>
              <a:rPr lang="en">
                <a:latin typeface="Courier New"/>
                <a:ea typeface="Courier New"/>
                <a:cs typeface="Courier New"/>
                <a:sym typeface="Courier New"/>
              </a:rPr>
              <a:t>CountDownLatch</a:t>
            </a:r>
            <a:r>
              <a:rPr lang="en"/>
              <a:t> works)</a:t>
            </a:r>
            <a:endParaRPr/>
          </a:p>
        </p:txBody>
      </p:sp>
      <p:sp>
        <p:nvSpPr>
          <p:cNvPr id="856" name="Google Shape;856;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857" name="Google Shape;857;p73"/>
          <p:cNvGrpSpPr/>
          <p:nvPr/>
        </p:nvGrpSpPr>
        <p:grpSpPr>
          <a:xfrm>
            <a:off x="3420088" y="1507775"/>
            <a:ext cx="2303825" cy="1971200"/>
            <a:chOff x="3386250" y="1770500"/>
            <a:chExt cx="2303825" cy="1971200"/>
          </a:xfrm>
        </p:grpSpPr>
        <p:cxnSp>
          <p:nvCxnSpPr>
            <p:cNvPr id="858" name="Google Shape;858;p73"/>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859" name="Google Shape;859;p73"/>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860" name="Google Shape;860;p73"/>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861" name="Google Shape;861;p73"/>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grpSp>
        <p:nvGrpSpPr>
          <p:cNvPr id="862" name="Google Shape;862;p73"/>
          <p:cNvGrpSpPr/>
          <p:nvPr/>
        </p:nvGrpSpPr>
        <p:grpSpPr>
          <a:xfrm flipH="1" rot="3781804">
            <a:off x="6428110" y="3019319"/>
            <a:ext cx="2303709" cy="1971101"/>
            <a:chOff x="3386250" y="1770500"/>
            <a:chExt cx="2303825" cy="1971200"/>
          </a:xfrm>
        </p:grpSpPr>
        <p:cxnSp>
          <p:nvCxnSpPr>
            <p:cNvPr id="863" name="Google Shape;863;p73"/>
            <p:cNvCxnSpPr/>
            <p:nvPr/>
          </p:nvCxnSpPr>
          <p:spPr>
            <a:xfrm>
              <a:off x="3659075" y="1770500"/>
              <a:ext cx="2031000" cy="1364400"/>
            </a:xfrm>
            <a:prstGeom prst="straightConnector1">
              <a:avLst/>
            </a:prstGeom>
            <a:noFill/>
            <a:ln cap="flat" cmpd="sng" w="152400">
              <a:solidFill>
                <a:srgbClr val="795E26"/>
              </a:solidFill>
              <a:prstDash val="solid"/>
              <a:round/>
              <a:headEnd len="med" w="med" type="none"/>
              <a:tailEnd len="med" w="med" type="none"/>
            </a:ln>
          </p:spPr>
        </p:cxnSp>
        <p:cxnSp>
          <p:nvCxnSpPr>
            <p:cNvPr id="864" name="Google Shape;864;p73"/>
            <p:cNvCxnSpPr/>
            <p:nvPr/>
          </p:nvCxnSpPr>
          <p:spPr>
            <a:xfrm>
              <a:off x="3386250" y="2336375"/>
              <a:ext cx="1930800" cy="1250700"/>
            </a:xfrm>
            <a:prstGeom prst="straightConnector1">
              <a:avLst/>
            </a:prstGeom>
            <a:noFill/>
            <a:ln cap="flat" cmpd="sng" w="152400">
              <a:solidFill>
                <a:srgbClr val="795E26"/>
              </a:solidFill>
              <a:prstDash val="solid"/>
              <a:round/>
              <a:headEnd len="med" w="med" type="none"/>
              <a:tailEnd len="med" w="med" type="none"/>
            </a:ln>
          </p:spPr>
        </p:cxnSp>
        <p:cxnSp>
          <p:nvCxnSpPr>
            <p:cNvPr id="865" name="Google Shape;865;p73"/>
            <p:cNvCxnSpPr/>
            <p:nvPr/>
          </p:nvCxnSpPr>
          <p:spPr>
            <a:xfrm flipH="1">
              <a:off x="4063150" y="2386900"/>
              <a:ext cx="525600" cy="818400"/>
            </a:xfrm>
            <a:prstGeom prst="straightConnector1">
              <a:avLst/>
            </a:prstGeom>
            <a:noFill/>
            <a:ln cap="flat" cmpd="sng" w="152400">
              <a:solidFill>
                <a:srgbClr val="795E26"/>
              </a:solidFill>
              <a:prstDash val="solid"/>
              <a:round/>
              <a:headEnd len="med" w="med" type="none"/>
              <a:tailEnd len="med" w="med" type="none"/>
            </a:ln>
          </p:spPr>
        </p:cxnSp>
        <p:cxnSp>
          <p:nvCxnSpPr>
            <p:cNvPr id="866" name="Google Shape;866;p73"/>
            <p:cNvCxnSpPr/>
            <p:nvPr/>
          </p:nvCxnSpPr>
          <p:spPr>
            <a:xfrm flipH="1">
              <a:off x="4892575" y="2923300"/>
              <a:ext cx="525600" cy="818400"/>
            </a:xfrm>
            <a:prstGeom prst="straightConnector1">
              <a:avLst/>
            </a:prstGeom>
            <a:noFill/>
            <a:ln cap="flat" cmpd="sng" w="152400">
              <a:solidFill>
                <a:srgbClr val="795E26"/>
              </a:solidFill>
              <a:prstDash val="solid"/>
              <a:round/>
              <a:headEnd len="med" w="med" type="none"/>
              <a:tailEnd len="med" w="med" type="none"/>
            </a:ln>
          </p:spPr>
        </p:cxnSp>
      </p:grpSp>
      <p:pic>
        <p:nvPicPr>
          <p:cNvPr id="867" name="Google Shape;867;p73"/>
          <p:cNvPicPr preferRelativeResize="0"/>
          <p:nvPr/>
        </p:nvPicPr>
        <p:blipFill>
          <a:blip r:embed="rId4">
            <a:alphaModFix/>
          </a:blip>
          <a:stretch>
            <a:fillRect/>
          </a:stretch>
        </p:blipFill>
        <p:spPr>
          <a:xfrm flipH="1">
            <a:off x="7438216" y="2053006"/>
            <a:ext cx="890011" cy="880745"/>
          </a:xfrm>
          <a:prstGeom prst="rect">
            <a:avLst/>
          </a:prstGeom>
          <a:noFill/>
          <a:ln>
            <a:noFill/>
          </a:ln>
        </p:spPr>
      </p:pic>
      <p:pic>
        <p:nvPicPr>
          <p:cNvPr id="868" name="Google Shape;868;p73"/>
          <p:cNvPicPr preferRelativeResize="0"/>
          <p:nvPr/>
        </p:nvPicPr>
        <p:blipFill>
          <a:blip r:embed="rId5">
            <a:alphaModFix/>
          </a:blip>
          <a:stretch>
            <a:fillRect/>
          </a:stretch>
        </p:blipFill>
        <p:spPr>
          <a:xfrm flipH="1">
            <a:off x="6883547" y="1250722"/>
            <a:ext cx="890011" cy="880745"/>
          </a:xfrm>
          <a:prstGeom prst="rect">
            <a:avLst/>
          </a:prstGeom>
          <a:noFill/>
          <a:ln>
            <a:noFill/>
          </a:ln>
        </p:spPr>
      </p:pic>
      <p:pic>
        <p:nvPicPr>
          <p:cNvPr id="869" name="Google Shape;869;p73"/>
          <p:cNvPicPr preferRelativeResize="0"/>
          <p:nvPr/>
        </p:nvPicPr>
        <p:blipFill>
          <a:blip r:embed="rId6">
            <a:alphaModFix/>
          </a:blip>
          <a:stretch>
            <a:fillRect/>
          </a:stretch>
        </p:blipFill>
        <p:spPr>
          <a:xfrm flipH="1">
            <a:off x="6388114" y="1731430"/>
            <a:ext cx="890011" cy="880745"/>
          </a:xfrm>
          <a:prstGeom prst="rect">
            <a:avLst/>
          </a:prstGeom>
          <a:noFill/>
          <a:ln>
            <a:noFill/>
          </a:ln>
        </p:spPr>
      </p:pic>
      <p:pic>
        <p:nvPicPr>
          <p:cNvPr id="870" name="Google Shape;870;p73"/>
          <p:cNvPicPr preferRelativeResize="0"/>
          <p:nvPr/>
        </p:nvPicPr>
        <p:blipFill>
          <a:blip r:embed="rId7">
            <a:alphaModFix/>
          </a:blip>
          <a:stretch>
            <a:fillRect/>
          </a:stretch>
        </p:blipFill>
        <p:spPr>
          <a:xfrm flipH="1">
            <a:off x="7942313" y="2571755"/>
            <a:ext cx="890011" cy="880745"/>
          </a:xfrm>
          <a:prstGeom prst="rect">
            <a:avLst/>
          </a:prstGeom>
          <a:noFill/>
          <a:ln>
            <a:noFill/>
          </a:ln>
        </p:spPr>
      </p:pic>
      <p:sp>
        <p:nvSpPr>
          <p:cNvPr id="871" name="Google Shape;871;p73"/>
          <p:cNvSpPr/>
          <p:nvPr/>
        </p:nvSpPr>
        <p:spPr>
          <a:xfrm>
            <a:off x="5723925" y="2582075"/>
            <a:ext cx="1344000" cy="623700"/>
          </a:xfrm>
          <a:prstGeom prst="wedgeEllipseCallout">
            <a:avLst>
              <a:gd fmla="val 73052" name="adj1"/>
              <a:gd fmla="val -27826" name="adj2"/>
            </a:avLst>
          </a:prstGeom>
          <a:solidFill>
            <a:schemeClr val="lt1"/>
          </a:solid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Caveat"/>
                <a:ea typeface="Caveat"/>
                <a:cs typeface="Caveat"/>
                <a:sym typeface="Caveat"/>
              </a:rPr>
              <a:t>nom nom …</a:t>
            </a:r>
            <a:endParaRPr b="1">
              <a:solidFill>
                <a:schemeClr val="dk1"/>
              </a:solidFill>
              <a:latin typeface="Caveat"/>
              <a:ea typeface="Caveat"/>
              <a:cs typeface="Caveat"/>
              <a:sym typeface="Caveat"/>
            </a:endParaRPr>
          </a:p>
        </p:txBody>
      </p:sp>
      <p:pic>
        <p:nvPicPr>
          <p:cNvPr id="872" name="Google Shape;872;p73"/>
          <p:cNvPicPr preferRelativeResize="0"/>
          <p:nvPr/>
        </p:nvPicPr>
        <p:blipFill>
          <a:blip r:embed="rId8">
            <a:alphaModFix/>
          </a:blip>
          <a:stretch>
            <a:fillRect/>
          </a:stretch>
        </p:blipFill>
        <p:spPr>
          <a:xfrm flipH="1">
            <a:off x="778147" y="2181975"/>
            <a:ext cx="1438877" cy="1423898"/>
          </a:xfrm>
          <a:prstGeom prst="rect">
            <a:avLst/>
          </a:prstGeom>
          <a:noFill/>
          <a:ln>
            <a:noFill/>
          </a:ln>
        </p:spPr>
      </p:pic>
      <p:sp>
        <p:nvSpPr>
          <p:cNvPr id="873" name="Google Shape;873;p73"/>
          <p:cNvSpPr/>
          <p:nvPr/>
        </p:nvSpPr>
        <p:spPr>
          <a:xfrm>
            <a:off x="1925225" y="1507775"/>
            <a:ext cx="1344000" cy="623700"/>
          </a:xfrm>
          <a:prstGeom prst="wedgeEllipseCallout">
            <a:avLst>
              <a:gd fmla="val -51066" name="adj1"/>
              <a:gd fmla="val 84472" name="adj2"/>
            </a:avLst>
          </a:prstGeom>
          <a:solidFill>
            <a:schemeClr val="lt1"/>
          </a:solidFill>
          <a:ln cap="flat" cmpd="sng" w="19050">
            <a:solidFill>
              <a:srgbClr val="795E2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Caveat"/>
                <a:ea typeface="Caveat"/>
                <a:cs typeface="Caveat"/>
                <a:sym typeface="Caveat"/>
              </a:rPr>
              <a:t>wait for me!</a:t>
            </a:r>
            <a:endParaRPr b="1">
              <a:solidFill>
                <a:schemeClr val="dk1"/>
              </a:solidFill>
              <a:latin typeface="Caveat"/>
              <a:ea typeface="Caveat"/>
              <a:cs typeface="Caveat"/>
              <a:sym typeface="Caveat"/>
            </a:endParaRPr>
          </a:p>
        </p:txBody>
      </p:sp>
      <p:sp>
        <p:nvSpPr>
          <p:cNvPr id="874" name="Google Shape;874;p73"/>
          <p:cNvSpPr txBox="1"/>
          <p:nvPr>
            <p:ph idx="4294967295" type="body"/>
          </p:nvPr>
        </p:nvSpPr>
        <p:spPr>
          <a:xfrm>
            <a:off x="3269213" y="4041200"/>
            <a:ext cx="2551500" cy="896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1600"/>
              </a:spcAft>
              <a:buNone/>
            </a:pPr>
            <a:r>
              <a:rPr lang="en">
                <a:solidFill>
                  <a:srgbClr val="000000"/>
                </a:solidFill>
                <a:latin typeface="Arial"/>
                <a:ea typeface="Arial"/>
                <a:cs typeface="Arial"/>
                <a:sym typeface="Arial"/>
              </a:rPr>
              <a:t>The Troll is permanently vanquished. </a:t>
            </a:r>
            <a:r>
              <a:rPr lang="en">
                <a:solidFill>
                  <a:srgbClr val="000000"/>
                </a:solidFill>
                <a:latin typeface="Courier New"/>
                <a:ea typeface="Courier New"/>
                <a:cs typeface="Courier New"/>
                <a:sym typeface="Courier New"/>
              </a:rPr>
              <a:t>CountdownLatch</a:t>
            </a:r>
            <a:r>
              <a:rPr lang="en">
                <a:solidFill>
                  <a:srgbClr val="000000"/>
                </a:solidFill>
                <a:latin typeface="Arial"/>
                <a:ea typeface="Arial"/>
                <a:cs typeface="Arial"/>
                <a:sym typeface="Arial"/>
              </a:rPr>
              <a:t> </a:t>
            </a:r>
            <a:r>
              <a:rPr b="1" i="1" lang="en">
                <a:solidFill>
                  <a:srgbClr val="FF0000"/>
                </a:solidFill>
                <a:latin typeface="Arial"/>
                <a:ea typeface="Arial"/>
                <a:cs typeface="Arial"/>
                <a:sym typeface="Arial"/>
              </a:rPr>
              <a:t>cannot be restarted</a:t>
            </a:r>
            <a:r>
              <a:rPr lang="en">
                <a:solidFill>
                  <a:srgbClr val="000000"/>
                </a:solidFill>
                <a:latin typeface="Arial"/>
                <a:ea typeface="Arial"/>
                <a:cs typeface="Arial"/>
                <a:sym typeface="Arial"/>
              </a:rPr>
              <a:t>.</a:t>
            </a:r>
            <a:endParaRPr>
              <a:solidFill>
                <a:srgbClr val="000000"/>
              </a:solidFill>
              <a:latin typeface="Arial"/>
              <a:ea typeface="Arial"/>
              <a:cs typeface="Arial"/>
              <a:sym typeface="Arial"/>
            </a:endParaRPr>
          </a:p>
        </p:txBody>
      </p:sp>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7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Fair Start</a:t>
            </a:r>
            <a:endParaRPr/>
          </a:p>
        </p:txBody>
      </p:sp>
      <p:sp>
        <p:nvSpPr>
          <p:cNvPr id="880" name="Google Shape;880;p7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81" name="Google Shape;881;p7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 know about CountDownLatch, let's try using it. To ensure every racer gets a fair start have each of them wait on a latch. Once the main thread has created and started all the racers, the racers can be released to run by decrementing the latch.</a:t>
            </a:r>
            <a:endParaRPr/>
          </a:p>
        </p:txBody>
      </p:sp>
      <p:sp>
        <p:nvSpPr>
          <p:cNvPr id="882" name="Google Shape;882;p74"/>
          <p:cNvSpPr txBox="1"/>
          <p:nvPr>
            <p:ph idx="2" type="body"/>
          </p:nvPr>
        </p:nvSpPr>
        <p:spPr>
          <a:xfrm>
            <a:off x="3345900" y="1671352"/>
            <a:ext cx="5595300" cy="34872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your </a:t>
            </a:r>
            <a:r>
              <a:rPr lang="en">
                <a:latin typeface="Courier New"/>
                <a:ea typeface="Courier New"/>
                <a:cs typeface="Courier New"/>
                <a:sym typeface="Courier New"/>
              </a:rPr>
              <a:t>LotsORacers</a:t>
            </a:r>
            <a:r>
              <a:rPr lang="en"/>
              <a:t> class's </a:t>
            </a:r>
            <a:r>
              <a:rPr lang="en">
                <a:latin typeface="Courier New"/>
                <a:ea typeface="Courier New"/>
                <a:cs typeface="Courier New"/>
                <a:sym typeface="Courier New"/>
              </a:rPr>
              <a:t>main</a:t>
            </a:r>
            <a:r>
              <a:rPr lang="en"/>
              <a:t>, create a </a:t>
            </a:r>
            <a:r>
              <a:rPr lang="en">
                <a:solidFill>
                  <a:srgbClr val="FF0000"/>
                </a:solidFill>
                <a:latin typeface="Courier New"/>
                <a:ea typeface="Courier New"/>
                <a:cs typeface="Courier New"/>
                <a:sym typeface="Courier New"/>
              </a:rPr>
              <a:t>CountDownLatch</a:t>
            </a:r>
            <a:r>
              <a:rPr lang="en"/>
              <a:t>.</a:t>
            </a:r>
            <a:endParaRPr/>
          </a:p>
          <a:p>
            <a:pPr indent="-298450" lvl="1" marL="914400" rtl="0" algn="l">
              <a:spcBef>
                <a:spcPts val="0"/>
              </a:spcBef>
              <a:spcAft>
                <a:spcPts val="0"/>
              </a:spcAft>
              <a:buSzPts val="1100"/>
              <a:buChar char="○"/>
            </a:pPr>
            <a:r>
              <a:rPr lang="en"/>
              <a:t>What should the initial count be set to?</a:t>
            </a:r>
            <a:endParaRPr/>
          </a:p>
          <a:p>
            <a:pPr indent="-298450" lvl="1" marL="914400" rtl="0" algn="l">
              <a:spcBef>
                <a:spcPts val="0"/>
              </a:spcBef>
              <a:spcAft>
                <a:spcPts val="0"/>
              </a:spcAft>
              <a:buSzPts val="1100"/>
              <a:buChar char="○"/>
            </a:pPr>
            <a:r>
              <a:rPr lang="en"/>
              <a:t>Think about how many entities will be </a:t>
            </a:r>
            <a:r>
              <a:rPr lang="en"/>
              <a:t>performing</a:t>
            </a:r>
            <a:r>
              <a:rPr lang="en"/>
              <a:t> the count down and not the number waiting.</a:t>
            </a:r>
            <a:endParaRPr/>
          </a:p>
          <a:p>
            <a:pPr indent="-311150" lvl="0" marL="457200" rtl="0" algn="l">
              <a:spcBef>
                <a:spcPts val="0"/>
              </a:spcBef>
              <a:spcAft>
                <a:spcPts val="0"/>
              </a:spcAft>
              <a:buSzPts val="1300"/>
              <a:buChar char="●"/>
            </a:pPr>
            <a:r>
              <a:rPr lang="en"/>
              <a:t>For </a:t>
            </a:r>
            <a:r>
              <a:rPr b="1" i="1" lang="en">
                <a:solidFill>
                  <a:srgbClr val="FF0000"/>
                </a:solidFill>
              </a:rPr>
              <a:t>each racer</a:t>
            </a:r>
            <a:r>
              <a:rPr lang="en"/>
              <a:t>, have them </a:t>
            </a:r>
            <a:r>
              <a:rPr b="1" i="1" lang="en">
                <a:solidFill>
                  <a:srgbClr val="FF0000"/>
                </a:solidFill>
              </a:rPr>
              <a:t>await</a:t>
            </a:r>
            <a:r>
              <a:rPr lang="en"/>
              <a:t> on the </a:t>
            </a:r>
            <a:r>
              <a:rPr lang="en">
                <a:latin typeface="Courier New"/>
                <a:ea typeface="Courier New"/>
                <a:cs typeface="Courier New"/>
                <a:sym typeface="Courier New"/>
              </a:rPr>
              <a:t>CountDownLatch</a:t>
            </a:r>
            <a:r>
              <a:rPr lang="en"/>
              <a:t> before they start the race</a:t>
            </a:r>
            <a:r>
              <a:rPr lang="en"/>
              <a:t>.</a:t>
            </a:r>
            <a:endParaRPr/>
          </a:p>
          <a:p>
            <a:pPr indent="-298450" lvl="1" marL="914400" rtl="0" algn="l">
              <a:spcBef>
                <a:spcPts val="0"/>
              </a:spcBef>
              <a:spcAft>
                <a:spcPts val="0"/>
              </a:spcAft>
              <a:buSzPts val="1100"/>
              <a:buChar char="○"/>
            </a:pPr>
            <a:r>
              <a:rPr lang="en"/>
              <a:t>Either pass the latch in during construction (dependency injection)</a:t>
            </a:r>
            <a:endParaRPr/>
          </a:p>
          <a:p>
            <a:pPr indent="-298450" lvl="1" marL="914400" rtl="0" algn="l">
              <a:spcBef>
                <a:spcPts val="0"/>
              </a:spcBef>
              <a:spcAft>
                <a:spcPts val="0"/>
              </a:spcAft>
              <a:buSzPts val="1100"/>
              <a:buChar char="○"/>
            </a:pPr>
            <a:r>
              <a:rPr lang="en"/>
              <a:t>Or add it into the lambda (if you are using them)</a:t>
            </a:r>
            <a:endParaRPr/>
          </a:p>
          <a:p>
            <a:pPr indent="-311150" lvl="0" marL="457200" rtl="0" algn="l">
              <a:spcBef>
                <a:spcPts val="0"/>
              </a:spcBef>
              <a:spcAft>
                <a:spcPts val="0"/>
              </a:spcAft>
              <a:buSzPts val="1300"/>
              <a:buChar char="●"/>
            </a:pPr>
            <a:r>
              <a:rPr lang="en"/>
              <a:t>Back in main, once all the racers have been started, perform a </a:t>
            </a:r>
            <a:r>
              <a:rPr lang="en">
                <a:solidFill>
                  <a:srgbClr val="FF0000"/>
                </a:solidFill>
                <a:latin typeface="Courier New"/>
                <a:ea typeface="Courier New"/>
                <a:cs typeface="Courier New"/>
                <a:sym typeface="Courier New"/>
              </a:rPr>
              <a:t>countDown</a:t>
            </a:r>
            <a:r>
              <a:rPr lang="en"/>
              <a:t> on the latch.</a:t>
            </a:r>
            <a:endParaRPr/>
          </a:p>
          <a:p>
            <a:pPr indent="-311150" lvl="0" marL="457200" rtl="0" algn="l">
              <a:spcBef>
                <a:spcPts val="0"/>
              </a:spcBef>
              <a:spcAft>
                <a:spcPts val="0"/>
              </a:spcAft>
              <a:buSzPts val="1300"/>
              <a:buChar char="●"/>
            </a:pPr>
            <a:r>
              <a:rPr lang="en"/>
              <a:t>Verify the racers are running in a </a:t>
            </a:r>
            <a:r>
              <a:rPr b="1" i="1" lang="en">
                <a:solidFill>
                  <a:srgbClr val="FF0000"/>
                </a:solidFill>
              </a:rPr>
              <a:t>random order</a:t>
            </a:r>
            <a:r>
              <a:rPr lang="en"/>
              <a:t>.</a:t>
            </a:r>
            <a:endParaRPr/>
          </a:p>
          <a:p>
            <a:pPr indent="-298450" lvl="1" marL="914400" rtl="0" algn="l">
              <a:spcBef>
                <a:spcPts val="0"/>
              </a:spcBef>
              <a:spcAft>
                <a:spcPts val="0"/>
              </a:spcAft>
              <a:buSzPts val="1100"/>
              <a:buChar char="○"/>
            </a:pPr>
            <a:r>
              <a:rPr lang="en"/>
              <a:t>Make sure </a:t>
            </a:r>
            <a:r>
              <a:rPr lang="en"/>
              <a:t>debugging</a:t>
            </a:r>
            <a:r>
              <a:rPr lang="en"/>
              <a:t> is turned on so you can see the racers</a:t>
            </a:r>
            <a:endParaRPr/>
          </a:p>
          <a:p>
            <a:pPr indent="-298450" lvl="1" marL="914400" rtl="0" algn="l">
              <a:spcBef>
                <a:spcPts val="0"/>
              </a:spcBef>
              <a:spcAft>
                <a:spcPts val="0"/>
              </a:spcAft>
              <a:buSzPts val="1100"/>
              <a:buChar char="○"/>
            </a:pPr>
            <a:r>
              <a:rPr lang="en"/>
              <a:t>If you are using a lot of racers, verify they</a:t>
            </a:r>
            <a:r>
              <a:rPr b="1" lang="en"/>
              <a:t> </a:t>
            </a:r>
            <a:r>
              <a:rPr b="1" i="1" lang="en">
                <a:solidFill>
                  <a:srgbClr val="FF0000"/>
                </a:solidFill>
              </a:rPr>
              <a:t>don't </a:t>
            </a:r>
            <a:r>
              <a:rPr lang="en"/>
              <a:t>generally follow the order in which they were created</a:t>
            </a:r>
            <a:endParaRPr/>
          </a:p>
          <a:p>
            <a:pPr indent="-298450" lvl="1" marL="914400" rtl="0" algn="l">
              <a:spcBef>
                <a:spcPts val="0"/>
              </a:spcBef>
              <a:spcAft>
                <a:spcPts val="0"/>
              </a:spcAft>
              <a:buSzPts val="1100"/>
              <a:buChar char="○"/>
            </a:pPr>
            <a:r>
              <a:rPr lang="en"/>
              <a:t>For only a few racers with low lap count (3, 3), verify the one that stars first </a:t>
            </a:r>
            <a:r>
              <a:rPr b="1" i="1" lang="en">
                <a:solidFill>
                  <a:srgbClr val="FF0000"/>
                </a:solidFill>
              </a:rPr>
              <a:t>isn't </a:t>
            </a:r>
            <a:r>
              <a:rPr lang="en"/>
              <a:t>always the one that wins.</a:t>
            </a:r>
            <a:endParaRPr/>
          </a:p>
        </p:txBody>
      </p:sp>
      <p:sp>
        <p:nvSpPr>
          <p:cNvPr id="883" name="Google Shape;883;p7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8.14</a:t>
            </a:r>
            <a:endParaRPr/>
          </a:p>
        </p:txBody>
      </p:sp>
      <p:sp>
        <p:nvSpPr>
          <p:cNvPr id="884" name="Google Shape;884;p74"/>
          <p:cNvSpPr txBox="1"/>
          <p:nvPr>
            <p:ph idx="4" type="body"/>
          </p:nvPr>
        </p:nvSpPr>
        <p:spPr>
          <a:xfrm>
            <a:off x="141600" y="4110375"/>
            <a:ext cx="32043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Since await cause a thread to enter the </a:t>
            </a:r>
            <a:r>
              <a:rPr b="1" i="1" lang="en">
                <a:solidFill>
                  <a:srgbClr val="FF0000"/>
                </a:solidFill>
              </a:rPr>
              <a:t>waiting state</a:t>
            </a:r>
            <a:r>
              <a:rPr lang="en"/>
              <a:t>, it can throw an </a:t>
            </a:r>
            <a:r>
              <a:rPr lang="en">
                <a:latin typeface="Courier New"/>
                <a:ea typeface="Courier New"/>
                <a:cs typeface="Courier New"/>
                <a:sym typeface="Courier New"/>
              </a:rPr>
              <a:t>InterruptedException</a:t>
            </a:r>
            <a:r>
              <a:rPr lang="en"/>
              <a:t>.</a:t>
            </a:r>
            <a:endParaRPr/>
          </a:p>
        </p:txBody>
      </p:sp>
      <p:sp>
        <p:nvSpPr>
          <p:cNvPr id="885" name="Google Shape;885;p74"/>
          <p:cNvSpPr txBox="1"/>
          <p:nvPr>
            <p:ph idx="4" type="body"/>
          </p:nvPr>
        </p:nvSpPr>
        <p:spPr>
          <a:xfrm>
            <a:off x="141600" y="1857750"/>
            <a:ext cx="3204300" cy="21240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lang="en" sz="900">
                <a:solidFill>
                  <a:srgbClr val="267F99"/>
                </a:solidFill>
                <a:highlight>
                  <a:srgbClr val="FFFFFF"/>
                </a:highlight>
                <a:latin typeface="Consolas"/>
                <a:ea typeface="Consolas"/>
                <a:cs typeface="Consolas"/>
                <a:sym typeface="Consolas"/>
              </a:rPr>
              <a:t>CountDownLatch</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gate</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new</a:t>
            </a:r>
            <a:r>
              <a:rPr lang="en" sz="900">
                <a:solidFill>
                  <a:srgbClr val="3B3B3B"/>
                </a:solidFill>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CountDownLatch</a:t>
            </a:r>
            <a:r>
              <a:rPr lang="en" sz="900">
                <a:solidFill>
                  <a:srgbClr val="3B3B3B"/>
                </a:solidFill>
                <a:highlight>
                  <a:srgbClr val="FFFFFF"/>
                </a:highlight>
                <a:latin typeface="Consolas"/>
                <a:ea typeface="Consolas"/>
                <a:cs typeface="Consolas"/>
                <a:sym typeface="Consolas"/>
              </a:rPr>
              <a:t>(</a:t>
            </a:r>
            <a:r>
              <a:rPr lang="en" sz="900">
                <a:solidFill>
                  <a:srgbClr val="098658"/>
                </a:solidFill>
                <a:highlight>
                  <a:srgbClr val="FFFFFF"/>
                </a:highlight>
                <a:latin typeface="Consolas"/>
                <a:ea typeface="Consolas"/>
                <a:cs typeface="Consolas"/>
                <a:sym typeface="Consolas"/>
              </a:rPr>
              <a:t>1</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AF00DB"/>
                </a:solidFill>
                <a:highlight>
                  <a:srgbClr val="FFFFFF"/>
                </a:highlight>
                <a:latin typeface="Consolas"/>
                <a:ea typeface="Consolas"/>
                <a:cs typeface="Consolas"/>
                <a:sym typeface="Consolas"/>
              </a:rPr>
              <a:t>for</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0</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&lt;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3</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id</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98658"/>
                </a:solidFill>
                <a:highlight>
                  <a:srgbClr val="FFFFFF"/>
                </a:highlight>
                <a:latin typeface="Consolas"/>
                <a:ea typeface="Consolas"/>
                <a:cs typeface="Consolas"/>
                <a:sym typeface="Consolas"/>
              </a:rPr>
              <a:t>1</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executor</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submit</a:t>
            </a:r>
            <a:r>
              <a:rPr lang="en" sz="900">
                <a:solidFill>
                  <a:srgbClr val="3B3B3B"/>
                </a:solidFill>
                <a:highlight>
                  <a:srgbClr val="FFFFFF"/>
                </a:highlight>
                <a:latin typeface="Consolas"/>
                <a:ea typeface="Consolas"/>
                <a:cs typeface="Consolas"/>
                <a:sym typeface="Consolas"/>
              </a:rPr>
              <a:t> ( () </a:t>
            </a:r>
            <a:r>
              <a:rPr lang="en" sz="900">
                <a:solidFill>
                  <a:srgbClr val="0000FF"/>
                </a:solidFill>
                <a:highlight>
                  <a:srgbClr val="FFFFFF"/>
                </a:highlight>
                <a:latin typeface="Consolas"/>
                <a:ea typeface="Consolas"/>
                <a:cs typeface="Consolas"/>
                <a:sym typeface="Consolas"/>
              </a:rPr>
              <a:t>-&gt;</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System</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3B3B3B"/>
                </a:solidFill>
                <a:highlight>
                  <a:srgbClr val="FFFFFF"/>
                </a:highlight>
                <a:latin typeface="Consolas"/>
                <a:ea typeface="Consolas"/>
                <a:cs typeface="Consolas"/>
                <a:sym typeface="Consolas"/>
              </a:rPr>
              <a:t>(</a:t>
            </a:r>
            <a:r>
              <a:rPr lang="en" sz="900">
                <a:solidFill>
                  <a:srgbClr val="A31515"/>
                </a:solidFill>
                <a:highlight>
                  <a:srgbClr val="FFFFFF"/>
                </a:highlight>
                <a:latin typeface="Consolas"/>
                <a:ea typeface="Consolas"/>
                <a:cs typeface="Consolas"/>
                <a:sym typeface="Consolas"/>
              </a:rPr>
              <a:t>"Goat "</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id</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31515"/>
                </a:solidFill>
                <a:highlight>
                  <a:srgbClr val="FFFFFF"/>
                </a:highlight>
                <a:latin typeface="Consolas"/>
                <a:ea typeface="Consolas"/>
                <a:cs typeface="Consolas"/>
                <a:sym typeface="Consolas"/>
              </a:rPr>
              <a:t>" waits."</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try</a:t>
            </a:r>
            <a:r>
              <a:rPr lang="en" sz="900">
                <a:solidFill>
                  <a:srgbClr val="3B3B3B"/>
                </a:solidFill>
                <a:highlight>
                  <a:srgbClr val="FFFFFF"/>
                </a:highlight>
                <a:latin typeface="Consolas"/>
                <a:ea typeface="Consolas"/>
                <a:cs typeface="Consolas"/>
                <a:sym typeface="Consolas"/>
              </a:rPr>
              <a:t> {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1080"/>
                </a:solidFill>
                <a:highlight>
                  <a:srgbClr val="FFFFFF"/>
                </a:highlight>
                <a:latin typeface="Consolas"/>
                <a:ea typeface="Consolas"/>
                <a:cs typeface="Consolas"/>
                <a:sym typeface="Consolas"/>
              </a:rPr>
              <a:t>      gate</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await</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AF00DB"/>
                </a:solidFill>
                <a:highlight>
                  <a:srgbClr val="FFFFFF"/>
                </a:highlight>
                <a:latin typeface="Consolas"/>
                <a:ea typeface="Consolas"/>
                <a:cs typeface="Consolas"/>
                <a:sym typeface="Consolas"/>
              </a:rPr>
              <a:t>catch</a:t>
            </a: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InterruptedException</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a:t>
            </a: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System</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3B3B3B"/>
                </a:solidFill>
                <a:highlight>
                  <a:srgbClr val="FFFFFF"/>
                </a:highlight>
                <a:latin typeface="Consolas"/>
                <a:ea typeface="Consolas"/>
                <a:cs typeface="Consolas"/>
                <a:sym typeface="Consolas"/>
              </a:rPr>
              <a:t>(</a:t>
            </a:r>
            <a:r>
              <a:rPr lang="en" sz="900">
                <a:solidFill>
                  <a:srgbClr val="A31515"/>
                </a:solidFill>
                <a:highlight>
                  <a:srgbClr val="FFFFFF"/>
                </a:highlight>
                <a:latin typeface="Consolas"/>
                <a:ea typeface="Consolas"/>
                <a:cs typeface="Consolas"/>
                <a:sym typeface="Consolas"/>
              </a:rPr>
              <a:t>"Goat "</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id</a:t>
            </a:r>
            <a:r>
              <a:rPr lang="en" sz="900">
                <a:solidFill>
                  <a:srgbClr val="3B3B3B"/>
                </a:solidFill>
                <a:highlight>
                  <a:srgbClr val="FFFFFF"/>
                </a:highlight>
                <a:latin typeface="Consolas"/>
                <a:ea typeface="Consolas"/>
                <a:cs typeface="Consolas"/>
                <a:sym typeface="Consolas"/>
              </a:rPr>
              <a:t> </a:t>
            </a:r>
            <a:r>
              <a:rPr lang="en" sz="900">
                <a:solidFill>
                  <a:srgbClr val="000000"/>
                </a:solidFill>
                <a:highlight>
                  <a:srgbClr val="FFFFFF"/>
                </a:highlight>
                <a:latin typeface="Consolas"/>
                <a:ea typeface="Consolas"/>
                <a:cs typeface="Consolas"/>
                <a:sym typeface="Consolas"/>
              </a:rPr>
              <a:t>+</a:t>
            </a:r>
            <a:r>
              <a:rPr lang="en" sz="900">
                <a:solidFill>
                  <a:srgbClr val="3B3B3B"/>
                </a:solidFill>
                <a:highlight>
                  <a:srgbClr val="FFFFFF"/>
                </a:highlight>
                <a:latin typeface="Consolas"/>
                <a:ea typeface="Consolas"/>
                <a:cs typeface="Consolas"/>
                <a:sym typeface="Consolas"/>
              </a:rPr>
              <a:t> </a:t>
            </a:r>
            <a:r>
              <a:rPr lang="en" sz="900">
                <a:solidFill>
                  <a:srgbClr val="A31515"/>
                </a:solidFill>
                <a:highlight>
                  <a:srgbClr val="FFFFFF"/>
                </a:highlight>
                <a:latin typeface="Consolas"/>
                <a:ea typeface="Consolas"/>
                <a:cs typeface="Consolas"/>
                <a:sym typeface="Consolas"/>
              </a:rPr>
              <a:t>" left."</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267F99"/>
                </a:solidFill>
                <a:highlight>
                  <a:srgbClr val="FFFFFF"/>
                </a:highlight>
                <a:latin typeface="Consolas"/>
                <a:ea typeface="Consolas"/>
                <a:cs typeface="Consolas"/>
                <a:sym typeface="Consolas"/>
              </a:rPr>
              <a:t>System</a:t>
            </a:r>
            <a:r>
              <a:rPr lang="en" sz="900">
                <a:solidFill>
                  <a:srgbClr val="3B3B3B"/>
                </a:solidFill>
                <a:highlight>
                  <a:srgbClr val="FFFFFF"/>
                </a:highlight>
                <a:latin typeface="Consolas"/>
                <a:ea typeface="Consolas"/>
                <a:cs typeface="Consolas"/>
                <a:sym typeface="Consolas"/>
              </a:rPr>
              <a:t>.</a:t>
            </a:r>
            <a:r>
              <a:rPr lang="en" sz="900">
                <a:solidFill>
                  <a:srgbClr val="0070C1"/>
                </a:solidFill>
                <a:highlight>
                  <a:srgbClr val="FFFFFF"/>
                </a:highlight>
                <a:latin typeface="Consolas"/>
                <a:ea typeface="Consolas"/>
                <a:cs typeface="Consolas"/>
                <a:sym typeface="Consolas"/>
              </a:rPr>
              <a:t>out</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println</a:t>
            </a:r>
            <a:r>
              <a:rPr lang="en" sz="900">
                <a:solidFill>
                  <a:srgbClr val="3B3B3B"/>
                </a:solidFill>
                <a:highlight>
                  <a:srgbClr val="FFFFFF"/>
                </a:highlight>
                <a:latin typeface="Consolas"/>
                <a:ea typeface="Consolas"/>
                <a:cs typeface="Consolas"/>
                <a:sym typeface="Consolas"/>
              </a:rPr>
              <a:t>(</a:t>
            </a:r>
            <a:r>
              <a:rPr lang="en" sz="900">
                <a:solidFill>
                  <a:srgbClr val="A31515"/>
                </a:solidFill>
                <a:highlight>
                  <a:srgbClr val="FFFFFF"/>
                </a:highlight>
                <a:latin typeface="Consolas"/>
                <a:ea typeface="Consolas"/>
                <a:cs typeface="Consolas"/>
                <a:sym typeface="Consolas"/>
              </a:rPr>
              <a:t>"Opening the gate..."</a:t>
            </a:r>
            <a:r>
              <a:rPr lang="en" sz="900">
                <a:solidFill>
                  <a:srgbClr val="3B3B3B"/>
                </a:solidFill>
                <a:highlight>
                  <a:srgbClr val="FFFFFF"/>
                </a:highlight>
                <a:latin typeface="Consolas"/>
                <a:ea typeface="Consolas"/>
                <a:cs typeface="Consolas"/>
                <a:sym typeface="Consolas"/>
              </a:rPr>
              <a:t>);</a:t>
            </a:r>
            <a:endParaRPr sz="900">
              <a:solidFill>
                <a:srgbClr val="3B3B3B"/>
              </a:solidFill>
              <a:highlight>
                <a:srgbClr val="FFFFFF"/>
              </a:highlight>
              <a:latin typeface="Consolas"/>
              <a:ea typeface="Consolas"/>
              <a:cs typeface="Consolas"/>
              <a:sym typeface="Consolas"/>
            </a:endParaRPr>
          </a:p>
          <a:p>
            <a:pPr indent="0" lvl="0" marL="0" rtl="0" algn="l">
              <a:lnSpc>
                <a:spcPct val="100000"/>
              </a:lnSpc>
              <a:spcBef>
                <a:spcPts val="0"/>
              </a:spcBef>
              <a:spcAft>
                <a:spcPts val="0"/>
              </a:spcAft>
              <a:buNone/>
            </a:pPr>
            <a:r>
              <a:rPr lang="en" sz="900">
                <a:solidFill>
                  <a:srgbClr val="001080"/>
                </a:solidFill>
                <a:highlight>
                  <a:srgbClr val="FFFFFF"/>
                </a:highlight>
                <a:latin typeface="Consolas"/>
                <a:ea typeface="Consolas"/>
                <a:cs typeface="Consolas"/>
                <a:sym typeface="Consolas"/>
              </a:rPr>
              <a:t>gate</a:t>
            </a:r>
            <a:r>
              <a:rPr lang="en" sz="900">
                <a:solidFill>
                  <a:srgbClr val="3B3B3B"/>
                </a:solidFill>
                <a:highlight>
                  <a:srgbClr val="FFFFFF"/>
                </a:highlight>
                <a:latin typeface="Consolas"/>
                <a:ea typeface="Consolas"/>
                <a:cs typeface="Consolas"/>
                <a:sym typeface="Consolas"/>
              </a:rPr>
              <a:t>.</a:t>
            </a:r>
            <a:r>
              <a:rPr lang="en" sz="900">
                <a:solidFill>
                  <a:srgbClr val="795E26"/>
                </a:solidFill>
                <a:highlight>
                  <a:srgbClr val="FFFFFF"/>
                </a:highlight>
                <a:latin typeface="Consolas"/>
                <a:ea typeface="Consolas"/>
                <a:cs typeface="Consolas"/>
                <a:sym typeface="Consolas"/>
              </a:rPr>
              <a:t>countDown</a:t>
            </a:r>
            <a:r>
              <a:rPr lang="en" sz="900">
                <a:solidFill>
                  <a:srgbClr val="3B3B3B"/>
                </a:solidFill>
                <a:highlight>
                  <a:srgbClr val="FFFFFF"/>
                </a:highlight>
                <a:latin typeface="Consolas"/>
                <a:ea typeface="Consolas"/>
                <a:cs typeface="Consolas"/>
                <a:sym typeface="Consolas"/>
              </a:rPr>
              <a:t>();</a:t>
            </a:r>
            <a:endParaRPr sz="9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75"/>
          <p:cNvSpPr txBox="1"/>
          <p:nvPr>
            <p:ph type="title"/>
          </p:nvPr>
        </p:nvSpPr>
        <p:spPr>
          <a:xfrm>
            <a:off x="311725" y="500925"/>
            <a:ext cx="8520600" cy="6237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Sleep</a:t>
            </a:r>
            <a:endParaRPr/>
          </a:p>
        </p:txBody>
      </p:sp>
      <p:sp>
        <p:nvSpPr>
          <p:cNvPr id="891" name="Google Shape;891;p75"/>
          <p:cNvSpPr txBox="1"/>
          <p:nvPr>
            <p:ph idx="1" type="body"/>
          </p:nvPr>
        </p:nvSpPr>
        <p:spPr>
          <a:xfrm>
            <a:off x="311700" y="1402575"/>
            <a:ext cx="8651400" cy="1827900"/>
          </a:xfrm>
          <a:prstGeom prst="rect">
            <a:avLst/>
          </a:prstGeom>
          <a:noFill/>
          <a:ln>
            <a:noFill/>
          </a:ln>
        </p:spPr>
        <p:txBody>
          <a:bodyPr anchorCtr="0" anchor="t" bIns="34275" lIns="68575" spcFirstLastPara="1" rIns="68575" wrap="square" tIns="34275">
            <a:normAutofit/>
          </a:bodyPr>
          <a:lstStyle/>
          <a:p>
            <a:pPr indent="-317500" lvl="0" marL="457200" rtl="0" algn="l">
              <a:lnSpc>
                <a:spcPct val="115000"/>
              </a:lnSpc>
              <a:spcBef>
                <a:spcPts val="0"/>
              </a:spcBef>
              <a:spcAft>
                <a:spcPts val="0"/>
              </a:spcAft>
              <a:buSzPts val="1400"/>
              <a:buChar char="●"/>
            </a:pPr>
            <a:r>
              <a:rPr lang="en" sz="1400"/>
              <a:t>Sometimes a thread has </a:t>
            </a:r>
            <a:r>
              <a:rPr b="1" i="1" lang="en" sz="1400">
                <a:solidFill>
                  <a:srgbClr val="FF0000"/>
                </a:solidFill>
              </a:rPr>
              <a:t>nothing to do</a:t>
            </a:r>
            <a:r>
              <a:rPr lang="en" sz="1400"/>
              <a:t> for some period of time</a:t>
            </a:r>
            <a:endParaRPr sz="1400"/>
          </a:p>
          <a:p>
            <a:pPr indent="-317500" lvl="0" marL="457200" rtl="0" algn="l">
              <a:lnSpc>
                <a:spcPct val="115000"/>
              </a:lnSpc>
              <a:spcBef>
                <a:spcPts val="0"/>
              </a:spcBef>
              <a:spcAft>
                <a:spcPts val="0"/>
              </a:spcAft>
              <a:buSzPts val="1400"/>
              <a:buChar char="●"/>
            </a:pPr>
            <a:r>
              <a:rPr lang="en" sz="1400"/>
              <a:t>It can relinquish its time on a processor by using </a:t>
            </a:r>
            <a:r>
              <a:rPr lang="en" sz="1400">
                <a:latin typeface="Courier New"/>
                <a:ea typeface="Courier New"/>
                <a:cs typeface="Courier New"/>
                <a:sym typeface="Courier New"/>
              </a:rPr>
              <a:t>sleep(ms)</a:t>
            </a:r>
            <a:endParaRPr sz="1400">
              <a:latin typeface="Courier New"/>
              <a:ea typeface="Courier New"/>
              <a:cs typeface="Courier New"/>
              <a:sym typeface="Courier New"/>
            </a:endParaRPr>
          </a:p>
          <a:p>
            <a:pPr indent="-317500" lvl="0" marL="457200" rtl="0" algn="l">
              <a:lnSpc>
                <a:spcPct val="115000"/>
              </a:lnSpc>
              <a:spcBef>
                <a:spcPts val="0"/>
              </a:spcBef>
              <a:spcAft>
                <a:spcPts val="0"/>
              </a:spcAft>
              <a:buSzPts val="1400"/>
              <a:buChar char="●"/>
            </a:pPr>
            <a:r>
              <a:rPr lang="en" sz="1400"/>
              <a:t>This can be useful:</a:t>
            </a:r>
            <a:endParaRPr sz="1400"/>
          </a:p>
          <a:p>
            <a:pPr indent="-311150" lvl="1" marL="914400" rtl="0" algn="l">
              <a:lnSpc>
                <a:spcPct val="115000"/>
              </a:lnSpc>
              <a:spcBef>
                <a:spcPts val="0"/>
              </a:spcBef>
              <a:spcAft>
                <a:spcPts val="0"/>
              </a:spcAft>
              <a:buSzPts val="1300"/>
              <a:buChar char="○"/>
            </a:pPr>
            <a:r>
              <a:rPr lang="en" sz="1300"/>
              <a:t>to </a:t>
            </a:r>
            <a:r>
              <a:rPr b="1" i="1" lang="en" sz="1300">
                <a:solidFill>
                  <a:srgbClr val="FF0000"/>
                </a:solidFill>
              </a:rPr>
              <a:t>simulate </a:t>
            </a:r>
            <a:r>
              <a:rPr lang="en" sz="1300"/>
              <a:t>the passage of time</a:t>
            </a:r>
            <a:endParaRPr sz="1300"/>
          </a:p>
          <a:p>
            <a:pPr indent="-311150" lvl="1" marL="914400" rtl="0" algn="l">
              <a:lnSpc>
                <a:spcPct val="115000"/>
              </a:lnSpc>
              <a:spcBef>
                <a:spcPts val="0"/>
              </a:spcBef>
              <a:spcAft>
                <a:spcPts val="0"/>
              </a:spcAft>
              <a:buSzPts val="1300"/>
              <a:buChar char="○"/>
            </a:pPr>
            <a:r>
              <a:rPr lang="en" sz="1300"/>
              <a:t>to let other processes </a:t>
            </a:r>
            <a:r>
              <a:rPr b="1" i="1" lang="en" sz="1300">
                <a:solidFill>
                  <a:srgbClr val="FF0000"/>
                </a:solidFill>
              </a:rPr>
              <a:t>work</a:t>
            </a:r>
            <a:r>
              <a:rPr lang="en" sz="1300"/>
              <a:t> while this process waits</a:t>
            </a:r>
            <a:endParaRPr sz="1300"/>
          </a:p>
          <a:p>
            <a:pPr indent="-317500" lvl="0" marL="457200" rtl="0" algn="l">
              <a:lnSpc>
                <a:spcPct val="115000"/>
              </a:lnSpc>
              <a:spcBef>
                <a:spcPts val="0"/>
              </a:spcBef>
              <a:spcAft>
                <a:spcPts val="0"/>
              </a:spcAft>
              <a:buSzPts val="1400"/>
              <a:buChar char="●"/>
            </a:pPr>
            <a:r>
              <a:rPr lang="en" sz="1400"/>
              <a:t>Upon waking, the process </a:t>
            </a:r>
            <a:r>
              <a:rPr b="1" i="1" lang="en" sz="1400">
                <a:solidFill>
                  <a:srgbClr val="FF0000"/>
                </a:solidFill>
              </a:rPr>
              <a:t>must be </a:t>
            </a:r>
            <a:r>
              <a:rPr b="1" i="1" lang="en">
                <a:solidFill>
                  <a:srgbClr val="FF0000"/>
                </a:solidFill>
              </a:rPr>
              <a:t>scheduled</a:t>
            </a:r>
            <a:r>
              <a:rPr lang="en" sz="1400"/>
              <a:t> before it can run again</a:t>
            </a:r>
            <a:endParaRPr sz="1400"/>
          </a:p>
        </p:txBody>
      </p:sp>
      <p:graphicFrame>
        <p:nvGraphicFramePr>
          <p:cNvPr id="892" name="Google Shape;892;p75"/>
          <p:cNvGraphicFramePr/>
          <p:nvPr/>
        </p:nvGraphicFramePr>
        <p:xfrm>
          <a:off x="640080" y="3294509"/>
          <a:ext cx="3000000" cy="3000000"/>
        </p:xfrm>
        <a:graphic>
          <a:graphicData uri="http://schemas.openxmlformats.org/drawingml/2006/table">
            <a:tbl>
              <a:tblPr bandRow="1" firstRow="1">
                <a:noFill/>
                <a:tableStyleId>{A07C2E57-52A4-4090-9760-2D5068A43A11}</a:tableStyleId>
              </a:tblPr>
              <a:tblGrid>
                <a:gridCol w="876300"/>
                <a:gridCol w="876300"/>
                <a:gridCol w="876300"/>
                <a:gridCol w="876300"/>
                <a:gridCol w="876300"/>
                <a:gridCol w="876300"/>
                <a:gridCol w="876300"/>
                <a:gridCol w="876300"/>
                <a:gridCol w="876300"/>
              </a:tblGrid>
              <a:tr h="278150">
                <a:tc>
                  <a:txBody>
                    <a:bodyPr/>
                    <a:lstStyle/>
                    <a:p>
                      <a:pPr indent="0" lvl="0" marL="0" marR="0" rtl="0" algn="l">
                        <a:spcBef>
                          <a:spcPts val="0"/>
                        </a:spcBef>
                        <a:spcAft>
                          <a:spcPts val="0"/>
                        </a:spcAft>
                        <a:buNone/>
                      </a:pPr>
                      <a:r>
                        <a:rPr lang="en" sz="1500"/>
                        <a:t>thread1</a:t>
                      </a:r>
                      <a:endParaRPr sz="1100"/>
                    </a:p>
                  </a:txBody>
                  <a:tcPr marT="34300" marB="34300" marR="68600" marL="68600">
                    <a:lnR cap="flat" cmpd="sng" w="12700">
                      <a:solidFill>
                        <a:schemeClr val="dk1"/>
                      </a:solidFill>
                      <a:prstDash val="solid"/>
                      <a:round/>
                      <a:headEnd len="sm" w="sm" type="none"/>
                      <a:tailEnd len="sm" w="sm" type="none"/>
                    </a:lnR>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t/>
                      </a:r>
                      <a:endParaRPr sz="12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chemeClr val="accent1"/>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B cap="flat" cmpd="sng" w="9525">
                      <a:solidFill>
                        <a:srgbClr val="000000">
                          <a:alpha val="0"/>
                        </a:srgbClr>
                      </a:solidFill>
                      <a:prstDash val="solid"/>
                      <a:round/>
                      <a:headEnd len="sm" w="sm" type="none"/>
                      <a:tailEnd len="sm" w="sm" type="none"/>
                    </a:lnB>
                    <a:solidFill>
                      <a:schemeClr val="lt1"/>
                    </a:solidFill>
                  </a:tcPr>
                </a:tc>
              </a:tr>
              <a:tr h="278150">
                <a:tc>
                  <a:txBody>
                    <a:bodyPr/>
                    <a:lstStyle/>
                    <a:p>
                      <a:pPr indent="0" lvl="0" marL="0" marR="0" rtl="0" algn="l">
                        <a:spcBef>
                          <a:spcPts val="0"/>
                        </a:spcBef>
                        <a:spcAft>
                          <a:spcPts val="0"/>
                        </a:spcAft>
                        <a:buNone/>
                      </a:pPr>
                      <a:r>
                        <a:rPr lang="en" sz="1500"/>
                        <a:t>thread2</a:t>
                      </a:r>
                      <a:endParaRPr sz="1100"/>
                    </a:p>
                  </a:txBody>
                  <a:tcPr marT="34300" marB="34300" marR="68600" marL="68600">
                    <a:lnR cap="flat" cmpd="sng" w="12700">
                      <a:solidFill>
                        <a:schemeClr val="accent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solidFill>
                          <a:schemeClr val="accent1"/>
                        </a:solidFill>
                      </a:endParaRPr>
                    </a:p>
                  </a:txBody>
                  <a:tcPr marT="34300" marB="34300" marR="68600" marL="68600">
                    <a:lnL cap="flat" cmpd="sng" w="12700">
                      <a:solidFill>
                        <a:schemeClr val="accent1"/>
                      </a:solidFill>
                      <a:prstDash val="solid"/>
                      <a:round/>
                      <a:headEnd len="sm" w="sm" type="none"/>
                      <a:tailEnd len="sm" w="sm" type="none"/>
                    </a:lnL>
                    <a:lnR cap="flat" cmpd="sng" w="12700">
                      <a:solidFill>
                        <a:schemeClr val="accent1"/>
                      </a:solidFill>
                      <a:prstDash val="solid"/>
                      <a:round/>
                      <a:headEnd len="sm" w="sm" type="none"/>
                      <a:tailEnd len="sm" w="sm" type="none"/>
                    </a:lnR>
                    <a:lnT cap="flat" cmpd="sng" w="9525">
                      <a:solidFill>
                        <a:schemeClr val="accent1"/>
                      </a:solidFill>
                      <a:prstDash val="solid"/>
                      <a:round/>
                      <a:headEnd len="sm" w="sm" type="none"/>
                      <a:tailEnd len="sm" w="sm" type="none"/>
                    </a:lnT>
                    <a:lnB cap="flat" cmpd="sng" w="9525">
                      <a:solidFill>
                        <a:schemeClr val="accent1"/>
                      </a:solidFill>
                      <a:prstDash val="solid"/>
                      <a:round/>
                      <a:headEnd len="sm" w="sm" type="none"/>
                      <a:tailEnd len="sm" w="sm" type="none"/>
                    </a:lnB>
                    <a:solidFill>
                      <a:srgbClr val="4A86E8"/>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accent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278150">
                <a:tc>
                  <a:txBody>
                    <a:bodyPr/>
                    <a:lstStyle/>
                    <a:p>
                      <a:pPr indent="0" lvl="0" marL="0" marR="0" rtl="0" algn="l">
                        <a:spcBef>
                          <a:spcPts val="0"/>
                        </a:spcBef>
                        <a:spcAft>
                          <a:spcPts val="0"/>
                        </a:spcAft>
                        <a:buNone/>
                      </a:pPr>
                      <a:r>
                        <a:rPr lang="en" sz="1500"/>
                        <a:t>thread3</a:t>
                      </a:r>
                      <a:endParaRPr sz="1100"/>
                    </a:p>
                  </a:txBody>
                  <a:tcPr marT="34300" marB="34300" marR="68600" marL="68600">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chemeClr val="accent1"/>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solidFill>
                      <a:schemeClr val="lt1"/>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solidFill>
                      <a:schemeClr val="lt1"/>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solidFill>
                      <a:schemeClr val="lt1"/>
                    </a:solidFill>
                  </a:tcPr>
                </a:tc>
                <a:tc>
                  <a:txBody>
                    <a:bodyPr/>
                    <a:lstStyle/>
                    <a:p>
                      <a:pPr indent="0" lvl="0" marL="0" marR="0" rtl="0" algn="l">
                        <a:spcBef>
                          <a:spcPts val="0"/>
                        </a:spcBef>
                        <a:spcAft>
                          <a:spcPts val="0"/>
                        </a:spcAft>
                        <a:buNone/>
                      </a:pPr>
                      <a:r>
                        <a:t/>
                      </a:r>
                      <a:endParaRPr sz="1800"/>
                    </a:p>
                  </a:txBody>
                  <a:tcPr marT="34300" marB="34300" marR="68600" marL="686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solidFill>
                      <a:schemeClr val="lt1"/>
                    </a:solidFill>
                  </a:tcPr>
                </a:tc>
              </a:tr>
            </a:tbl>
          </a:graphicData>
        </a:graphic>
      </p:graphicFrame>
      <p:sp>
        <p:nvSpPr>
          <p:cNvPr id="893" name="Google Shape;893;p75"/>
          <p:cNvSpPr/>
          <p:nvPr/>
        </p:nvSpPr>
        <p:spPr>
          <a:xfrm>
            <a:off x="549650" y="4407086"/>
            <a:ext cx="942600" cy="276900"/>
          </a:xfrm>
          <a:prstGeom prst="rect">
            <a:avLst/>
          </a:prstGeom>
          <a:solidFill>
            <a:srgbClr val="FFF2CC"/>
          </a:solidFill>
          <a:ln cap="flat" cmpd="sng" w="2857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latin typeface="Arial"/>
                <a:ea typeface="Arial"/>
                <a:cs typeface="Arial"/>
                <a:sym typeface="Arial"/>
              </a:rPr>
              <a:t>500 µs slice</a:t>
            </a:r>
            <a:endParaRPr sz="800"/>
          </a:p>
        </p:txBody>
      </p:sp>
      <p:sp>
        <p:nvSpPr>
          <p:cNvPr id="894" name="Google Shape;894;p75"/>
          <p:cNvSpPr/>
          <p:nvPr/>
        </p:nvSpPr>
        <p:spPr>
          <a:xfrm>
            <a:off x="2822204" y="3973789"/>
            <a:ext cx="872400" cy="349800"/>
          </a:xfrm>
          <a:prstGeom prst="rect">
            <a:avLst/>
          </a:prstGeom>
          <a:solidFill>
            <a:srgbClr val="4A86E8"/>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95" name="Google Shape;895;p75"/>
          <p:cNvSpPr/>
          <p:nvPr/>
        </p:nvSpPr>
        <p:spPr>
          <a:xfrm>
            <a:off x="2393775" y="3291400"/>
            <a:ext cx="421800" cy="349800"/>
          </a:xfrm>
          <a:prstGeom prst="rect">
            <a:avLst/>
          </a:prstGeom>
          <a:solidFill>
            <a:srgbClr val="4A86E8"/>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96" name="Google Shape;896;p75"/>
          <p:cNvSpPr/>
          <p:nvPr/>
        </p:nvSpPr>
        <p:spPr>
          <a:xfrm>
            <a:off x="6334486" y="3973789"/>
            <a:ext cx="872400" cy="349800"/>
          </a:xfrm>
          <a:prstGeom prst="rect">
            <a:avLst/>
          </a:prstGeom>
          <a:solidFill>
            <a:srgbClr val="4A86E8"/>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97" name="Google Shape;897;p75"/>
          <p:cNvSpPr/>
          <p:nvPr/>
        </p:nvSpPr>
        <p:spPr>
          <a:xfrm>
            <a:off x="3699961" y="3629251"/>
            <a:ext cx="872400" cy="349800"/>
          </a:xfrm>
          <a:prstGeom prst="rect">
            <a:avLst/>
          </a:prstGeom>
          <a:solidFill>
            <a:srgbClr val="4A86E8"/>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98" name="Google Shape;898;p75"/>
          <p:cNvSpPr/>
          <p:nvPr/>
        </p:nvSpPr>
        <p:spPr>
          <a:xfrm>
            <a:off x="4578387" y="3973789"/>
            <a:ext cx="872400" cy="349800"/>
          </a:xfrm>
          <a:prstGeom prst="rect">
            <a:avLst/>
          </a:prstGeom>
          <a:solidFill>
            <a:srgbClr val="4A86E8"/>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899" name="Google Shape;899;p75"/>
          <p:cNvSpPr/>
          <p:nvPr/>
        </p:nvSpPr>
        <p:spPr>
          <a:xfrm>
            <a:off x="5460851" y="3632721"/>
            <a:ext cx="872400" cy="349800"/>
          </a:xfrm>
          <a:prstGeom prst="rect">
            <a:avLst/>
          </a:prstGeom>
          <a:solidFill>
            <a:srgbClr val="4A86E8"/>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00" name="Google Shape;900;p75"/>
          <p:cNvSpPr/>
          <p:nvPr/>
        </p:nvSpPr>
        <p:spPr>
          <a:xfrm>
            <a:off x="7209736" y="3273365"/>
            <a:ext cx="872400" cy="349800"/>
          </a:xfrm>
          <a:prstGeom prst="rect">
            <a:avLst/>
          </a:prstGeom>
          <a:solidFill>
            <a:srgbClr val="4A86E8"/>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01" name="Google Shape;901;p75"/>
          <p:cNvSpPr/>
          <p:nvPr/>
        </p:nvSpPr>
        <p:spPr>
          <a:xfrm>
            <a:off x="8090590" y="3629251"/>
            <a:ext cx="872400" cy="349800"/>
          </a:xfrm>
          <a:prstGeom prst="rect">
            <a:avLst/>
          </a:prstGeom>
          <a:solidFill>
            <a:srgbClr val="4A86E8"/>
          </a:solidFill>
          <a:ln cap="flat" cmpd="sng" w="12700">
            <a:solidFill>
              <a:schemeClr val="accent1"/>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02" name="Google Shape;902;p75"/>
          <p:cNvSpPr/>
          <p:nvPr/>
        </p:nvSpPr>
        <p:spPr>
          <a:xfrm>
            <a:off x="2203997" y="4407125"/>
            <a:ext cx="1231500" cy="276900"/>
          </a:xfrm>
          <a:prstGeom prst="rect">
            <a:avLst/>
          </a:prstGeom>
          <a:solidFill>
            <a:srgbClr val="FFF2CC"/>
          </a:solidFill>
          <a:ln cap="flat" cmpd="sng" w="2857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t>Thread.s</a:t>
            </a:r>
            <a:r>
              <a:rPr lang="en" sz="1100">
                <a:latin typeface="Arial"/>
                <a:ea typeface="Arial"/>
                <a:cs typeface="Arial"/>
                <a:sym typeface="Arial"/>
              </a:rPr>
              <a:t>leep (1)</a:t>
            </a:r>
            <a:endParaRPr sz="800"/>
          </a:p>
        </p:txBody>
      </p:sp>
      <p:sp>
        <p:nvSpPr>
          <p:cNvPr id="903" name="Google Shape;903;p75"/>
          <p:cNvSpPr/>
          <p:nvPr/>
        </p:nvSpPr>
        <p:spPr>
          <a:xfrm>
            <a:off x="4112111" y="4407086"/>
            <a:ext cx="942600" cy="276900"/>
          </a:xfrm>
          <a:prstGeom prst="rect">
            <a:avLst/>
          </a:prstGeom>
          <a:solidFill>
            <a:srgbClr val="FFF2CC"/>
          </a:solidFill>
          <a:ln cap="flat" cmpd="sng" w="2857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latin typeface="Arial"/>
                <a:ea typeface="Arial"/>
                <a:cs typeface="Arial"/>
                <a:sym typeface="Arial"/>
              </a:rPr>
              <a:t>Sleep Over</a:t>
            </a:r>
            <a:endParaRPr sz="800"/>
          </a:p>
        </p:txBody>
      </p:sp>
      <p:cxnSp>
        <p:nvCxnSpPr>
          <p:cNvPr id="904" name="Google Shape;904;p75"/>
          <p:cNvCxnSpPr>
            <a:stCxn id="902" idx="0"/>
          </p:cNvCxnSpPr>
          <p:nvPr/>
        </p:nvCxnSpPr>
        <p:spPr>
          <a:xfrm flipH="1" rot="10800000">
            <a:off x="2819747" y="3256625"/>
            <a:ext cx="12600" cy="1150500"/>
          </a:xfrm>
          <a:prstGeom prst="straightConnector1">
            <a:avLst/>
          </a:prstGeom>
          <a:noFill/>
          <a:ln cap="flat" cmpd="sng" w="28575">
            <a:solidFill>
              <a:srgbClr val="FF0000"/>
            </a:solidFill>
            <a:prstDash val="dash"/>
            <a:miter lim="800000"/>
            <a:headEnd len="sm" w="sm" type="none"/>
            <a:tailEnd len="sm" w="sm" type="none"/>
          </a:ln>
        </p:spPr>
      </p:cxnSp>
      <p:cxnSp>
        <p:nvCxnSpPr>
          <p:cNvPr id="905" name="Google Shape;905;p75"/>
          <p:cNvCxnSpPr/>
          <p:nvPr/>
        </p:nvCxnSpPr>
        <p:spPr>
          <a:xfrm flipH="1" rot="10800000">
            <a:off x="4568309" y="3294398"/>
            <a:ext cx="15000" cy="1095600"/>
          </a:xfrm>
          <a:prstGeom prst="straightConnector1">
            <a:avLst/>
          </a:prstGeom>
          <a:noFill/>
          <a:ln cap="flat" cmpd="sng" w="28575">
            <a:solidFill>
              <a:srgbClr val="FF0000"/>
            </a:solidFill>
            <a:prstDash val="dash"/>
            <a:miter lim="800000"/>
            <a:headEnd len="sm" w="sm" type="none"/>
            <a:tailEnd len="sm" w="sm" type="none"/>
          </a:ln>
        </p:spPr>
      </p:cxnSp>
      <p:sp>
        <p:nvSpPr>
          <p:cNvPr id="906" name="Google Shape;906;p75"/>
          <p:cNvSpPr/>
          <p:nvPr/>
        </p:nvSpPr>
        <p:spPr>
          <a:xfrm>
            <a:off x="6363807" y="4420138"/>
            <a:ext cx="1737600" cy="276900"/>
          </a:xfrm>
          <a:prstGeom prst="rect">
            <a:avLst/>
          </a:prstGeom>
          <a:solidFill>
            <a:srgbClr val="FFF2CC"/>
          </a:solidFill>
          <a:ln cap="flat" cmpd="sng" w="28575">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100">
                <a:latin typeface="Arial"/>
                <a:ea typeface="Arial"/>
                <a:cs typeface="Arial"/>
                <a:sym typeface="Arial"/>
              </a:rPr>
              <a:t>Scheduler Assigns </a:t>
            </a:r>
            <a:r>
              <a:rPr lang="en" sz="1100">
                <a:latin typeface="Arial"/>
                <a:ea typeface="Arial"/>
                <a:cs typeface="Arial"/>
                <a:sym typeface="Arial"/>
              </a:rPr>
              <a:t>Slice</a:t>
            </a:r>
            <a:endParaRPr sz="800"/>
          </a:p>
        </p:txBody>
      </p:sp>
      <p:cxnSp>
        <p:nvCxnSpPr>
          <p:cNvPr id="907" name="Google Shape;907;p75"/>
          <p:cNvCxnSpPr/>
          <p:nvPr/>
        </p:nvCxnSpPr>
        <p:spPr>
          <a:xfrm flipH="1" rot="10800000">
            <a:off x="7204885" y="3313419"/>
            <a:ext cx="15000" cy="1095600"/>
          </a:xfrm>
          <a:prstGeom prst="straightConnector1">
            <a:avLst/>
          </a:prstGeom>
          <a:noFill/>
          <a:ln cap="flat" cmpd="sng" w="28575">
            <a:solidFill>
              <a:srgbClr val="FF0000"/>
            </a:solidFill>
            <a:prstDash val="dash"/>
            <a:miter lim="800000"/>
            <a:headEnd len="sm" w="sm" type="none"/>
            <a:tailEnd len="sm" w="sm" type="none"/>
          </a:ln>
        </p:spPr>
      </p:cxnSp>
      <p:sp>
        <p:nvSpPr>
          <p:cNvPr id="908" name="Google Shape;908;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0" st="0"/>
                                            </p:txEl>
                                          </p:spTgt>
                                        </p:tgtEl>
                                        <p:attrNameLst>
                                          <p:attrName>style.visibility</p:attrName>
                                        </p:attrNameLst>
                                      </p:cBhvr>
                                      <p:to>
                                        <p:strVal val="visible"/>
                                      </p:to>
                                    </p:set>
                                    <p:animEffect filter="fade" transition="in">
                                      <p:cBhvr>
                                        <p:cTn dur="1000"/>
                                        <p:tgtEl>
                                          <p:spTgt spid="8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1" st="1"/>
                                            </p:txEl>
                                          </p:spTgt>
                                        </p:tgtEl>
                                        <p:attrNameLst>
                                          <p:attrName>style.visibility</p:attrName>
                                        </p:attrNameLst>
                                      </p:cBhvr>
                                      <p:to>
                                        <p:strVal val="visible"/>
                                      </p:to>
                                    </p:set>
                                    <p:animEffect filter="fade" transition="in">
                                      <p:cBhvr>
                                        <p:cTn dur="1000"/>
                                        <p:tgtEl>
                                          <p:spTgt spid="8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2" st="2"/>
                                            </p:txEl>
                                          </p:spTgt>
                                        </p:tgtEl>
                                        <p:attrNameLst>
                                          <p:attrName>style.visibility</p:attrName>
                                        </p:attrNameLst>
                                      </p:cBhvr>
                                      <p:to>
                                        <p:strVal val="visible"/>
                                      </p:to>
                                    </p:set>
                                    <p:animEffect filter="fade" transition="in">
                                      <p:cBhvr>
                                        <p:cTn dur="1000"/>
                                        <p:tgtEl>
                                          <p:spTgt spid="8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3" st="3"/>
                                            </p:txEl>
                                          </p:spTgt>
                                        </p:tgtEl>
                                        <p:attrNameLst>
                                          <p:attrName>style.visibility</p:attrName>
                                        </p:attrNameLst>
                                      </p:cBhvr>
                                      <p:to>
                                        <p:strVal val="visible"/>
                                      </p:to>
                                    </p:set>
                                    <p:animEffect filter="fade" transition="in">
                                      <p:cBhvr>
                                        <p:cTn dur="1000"/>
                                        <p:tgtEl>
                                          <p:spTgt spid="8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4" st="4"/>
                                            </p:txEl>
                                          </p:spTgt>
                                        </p:tgtEl>
                                        <p:attrNameLst>
                                          <p:attrName>style.visibility</p:attrName>
                                        </p:attrNameLst>
                                      </p:cBhvr>
                                      <p:to>
                                        <p:strVal val="visible"/>
                                      </p:to>
                                    </p:set>
                                    <p:animEffect filter="fade" transition="in">
                                      <p:cBhvr>
                                        <p:cTn dur="1000"/>
                                        <p:tgtEl>
                                          <p:spTgt spid="8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5" st="5"/>
                                            </p:txEl>
                                          </p:spTgt>
                                        </p:tgtEl>
                                        <p:attrNameLst>
                                          <p:attrName>style.visibility</p:attrName>
                                        </p:attrNameLst>
                                      </p:cBhvr>
                                      <p:to>
                                        <p:strVal val="visible"/>
                                      </p:to>
                                    </p:set>
                                    <p:animEffect filter="fade" transition="in">
                                      <p:cBhvr>
                                        <p:cTn dur="1000"/>
                                        <p:tgtEl>
                                          <p:spTgt spid="8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1000"/>
                                        <p:tgtEl>
                                          <p:spTgt spid="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2"/>
                                        </p:tgtEl>
                                        <p:attrNameLst>
                                          <p:attrName>style.visibility</p:attrName>
                                        </p:attrNameLst>
                                      </p:cBhvr>
                                      <p:to>
                                        <p:strVal val="visible"/>
                                      </p:to>
                                    </p:set>
                                    <p:animEffect filter="fade" transition="in">
                                      <p:cBhvr>
                                        <p:cTn dur="1000"/>
                                        <p:tgtEl>
                                          <p:spTgt spid="902"/>
                                        </p:tgtEl>
                                      </p:cBhvr>
                                    </p:animEffect>
                                  </p:childTnLst>
                                </p:cTn>
                              </p:par>
                              <p:par>
                                <p:cTn fill="hold" nodeType="withEffect" presetClass="entr" presetID="10" presetSubtype="0">
                                  <p:stCondLst>
                                    <p:cond delay="0"/>
                                  </p:stCondLst>
                                  <p:childTnLst>
                                    <p:set>
                                      <p:cBhvr>
                                        <p:cTn dur="1" fill="hold">
                                          <p:stCondLst>
                                            <p:cond delay="0"/>
                                          </p:stCondLst>
                                        </p:cTn>
                                        <p:tgtEl>
                                          <p:spTgt spid="904"/>
                                        </p:tgtEl>
                                        <p:attrNameLst>
                                          <p:attrName>style.visibility</p:attrName>
                                        </p:attrNameLst>
                                      </p:cBhvr>
                                      <p:to>
                                        <p:strVal val="visible"/>
                                      </p:to>
                                    </p:set>
                                    <p:animEffect filter="fade" transition="in">
                                      <p:cBhvr>
                                        <p:cTn dur="1000"/>
                                        <p:tgtEl>
                                          <p:spTgt spid="9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3"/>
                                        </p:tgtEl>
                                        <p:attrNameLst>
                                          <p:attrName>style.visibility</p:attrName>
                                        </p:attrNameLst>
                                      </p:cBhvr>
                                      <p:to>
                                        <p:strVal val="visible"/>
                                      </p:to>
                                    </p:set>
                                    <p:animEffect filter="fade" transition="in">
                                      <p:cBhvr>
                                        <p:cTn dur="1000"/>
                                        <p:tgtEl>
                                          <p:spTgt spid="903"/>
                                        </p:tgtEl>
                                      </p:cBhvr>
                                    </p:animEffect>
                                  </p:childTnLst>
                                </p:cTn>
                              </p:par>
                              <p:par>
                                <p:cTn fill="hold" nodeType="withEffect" presetClass="entr" presetID="10" presetSubtype="0">
                                  <p:stCondLst>
                                    <p:cond delay="0"/>
                                  </p:stCondLst>
                                  <p:childTnLst>
                                    <p:set>
                                      <p:cBhvr>
                                        <p:cTn dur="1" fill="hold">
                                          <p:stCondLst>
                                            <p:cond delay="0"/>
                                          </p:stCondLst>
                                        </p:cTn>
                                        <p:tgtEl>
                                          <p:spTgt spid="905"/>
                                        </p:tgtEl>
                                        <p:attrNameLst>
                                          <p:attrName>style.visibility</p:attrName>
                                        </p:attrNameLst>
                                      </p:cBhvr>
                                      <p:to>
                                        <p:strVal val="visible"/>
                                      </p:to>
                                    </p:set>
                                    <p:animEffect filter="fade" transition="in">
                                      <p:cBhvr>
                                        <p:cTn dur="1000"/>
                                        <p:tgtEl>
                                          <p:spTgt spid="9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06"/>
                                        </p:tgtEl>
                                        <p:attrNameLst>
                                          <p:attrName>style.visibility</p:attrName>
                                        </p:attrNameLst>
                                      </p:cBhvr>
                                      <p:to>
                                        <p:strVal val="visible"/>
                                      </p:to>
                                    </p:set>
                                    <p:animEffect filter="fade" transition="in">
                                      <p:cBhvr>
                                        <p:cTn dur="1000"/>
                                        <p:tgtEl>
                                          <p:spTgt spid="906"/>
                                        </p:tgtEl>
                                      </p:cBhvr>
                                    </p:animEffect>
                                  </p:childTnLst>
                                </p:cTn>
                              </p:par>
                              <p:par>
                                <p:cTn fill="hold" nodeType="withEffect" presetClass="entr" presetID="10" presetSubtype="0">
                                  <p:stCondLst>
                                    <p:cond delay="0"/>
                                  </p:stCondLst>
                                  <p:childTnLst>
                                    <p:set>
                                      <p:cBhvr>
                                        <p:cTn dur="1" fill="hold">
                                          <p:stCondLst>
                                            <p:cond delay="0"/>
                                          </p:stCondLst>
                                        </p:cTn>
                                        <p:tgtEl>
                                          <p:spTgt spid="907"/>
                                        </p:tgtEl>
                                        <p:attrNameLst>
                                          <p:attrName>style.visibility</p:attrName>
                                        </p:attrNameLst>
                                      </p:cBhvr>
                                      <p:to>
                                        <p:strVal val="visible"/>
                                      </p:to>
                                    </p:set>
                                    <p:animEffect filter="fade" transition="in">
                                      <p:cBhvr>
                                        <p:cTn dur="1000"/>
                                        <p:tgtEl>
                                          <p:spTgt spid="9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76"/>
          <p:cNvSpPr txBox="1"/>
          <p:nvPr>
            <p:ph type="title"/>
          </p:nvPr>
        </p:nvSpPr>
        <p:spPr>
          <a:xfrm>
            <a:off x="1436850" y="100"/>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t>Using Sleep to Simulate Time Passing</a:t>
            </a:r>
            <a:endParaRPr/>
          </a:p>
        </p:txBody>
      </p:sp>
      <p:sp>
        <p:nvSpPr>
          <p:cNvPr id="914" name="Google Shape;914;p76"/>
          <p:cNvSpPr txBox="1"/>
          <p:nvPr>
            <p:ph idx="1" type="body"/>
          </p:nvPr>
        </p:nvSpPr>
        <p:spPr>
          <a:xfrm>
            <a:off x="65250" y="731625"/>
            <a:ext cx="8955900" cy="734100"/>
          </a:xfrm>
          <a:prstGeom prst="rect">
            <a:avLst/>
          </a:prstGeom>
          <a:noFill/>
          <a:ln>
            <a:noFill/>
          </a:ln>
        </p:spPr>
        <p:txBody>
          <a:bodyPr anchorCtr="0" anchor="t" bIns="34275" lIns="68575" spcFirstLastPara="1" rIns="68575" wrap="square" tIns="34275">
            <a:spAutoFit/>
          </a:bodyPr>
          <a:lstStyle/>
          <a:p>
            <a:pPr indent="0" lvl="0" marL="0" rtl="0" algn="l">
              <a:lnSpc>
                <a:spcPct val="90000"/>
              </a:lnSpc>
              <a:spcBef>
                <a:spcPts val="0"/>
              </a:spcBef>
              <a:spcAft>
                <a:spcPts val="1600"/>
              </a:spcAft>
              <a:buClr>
                <a:schemeClr val="dk1"/>
              </a:buClr>
              <a:buSzPts val="1800"/>
              <a:buNone/>
            </a:pPr>
            <a:r>
              <a:rPr lang="en"/>
              <a:t>Currently, if you ran the racers and viewed their finish times with debugging off, you'd notice they had incredibly small race time. (10</a:t>
            </a:r>
            <a:r>
              <a:rPr baseline="30000" lang="en"/>
              <a:t>-7</a:t>
            </a:r>
            <a:r>
              <a:rPr lang="en"/>
              <a:t> or less). Instead of relying solely on the scheduler for </a:t>
            </a:r>
            <a:r>
              <a:rPr lang="en"/>
              <a:t>determining</a:t>
            </a:r>
            <a:r>
              <a:rPr lang="en"/>
              <a:t> who wins let's add some small amount of variable time to each lap.</a:t>
            </a:r>
            <a:endParaRPr/>
          </a:p>
        </p:txBody>
      </p:sp>
      <p:sp>
        <p:nvSpPr>
          <p:cNvPr id="915" name="Google Shape;915;p76"/>
          <p:cNvSpPr txBox="1"/>
          <p:nvPr>
            <p:ph idx="2" type="body"/>
          </p:nvPr>
        </p:nvSpPr>
        <p:spPr>
          <a:xfrm>
            <a:off x="3477200" y="1600550"/>
            <a:ext cx="5456400" cy="3050400"/>
          </a:xfrm>
          <a:prstGeom prst="rect">
            <a:avLst/>
          </a:prstGeom>
          <a:noFill/>
          <a:ln>
            <a:noFill/>
          </a:ln>
        </p:spPr>
        <p:txBody>
          <a:bodyPr anchorCtr="0" anchor="t" bIns="34275" lIns="68575" spcFirstLastPara="1" rIns="68575" wrap="square" tIns="34275">
            <a:noAutofit/>
          </a:bodyPr>
          <a:lstStyle/>
          <a:p>
            <a:pPr indent="-317500" lvl="0" marL="457200" rtl="0" algn="l">
              <a:lnSpc>
                <a:spcPct val="115000"/>
              </a:lnSpc>
              <a:spcBef>
                <a:spcPts val="0"/>
              </a:spcBef>
              <a:spcAft>
                <a:spcPts val="0"/>
              </a:spcAft>
              <a:buSzPts val="1400"/>
              <a:buChar char="●"/>
            </a:pPr>
            <a:r>
              <a:rPr lang="en" sz="1400"/>
              <a:t>Inside R</a:t>
            </a:r>
            <a:r>
              <a:rPr lang="en" sz="1400"/>
              <a:t>acer </a:t>
            </a:r>
            <a:r>
              <a:rPr lang="en" sz="1400"/>
              <a:t> add a Sleep at the start of each lap.</a:t>
            </a:r>
            <a:endParaRPr sz="1400"/>
          </a:p>
          <a:p>
            <a:pPr indent="-304800" lvl="1" marL="914400" rtl="0" algn="l">
              <a:lnSpc>
                <a:spcPct val="115000"/>
              </a:lnSpc>
              <a:spcBef>
                <a:spcPts val="0"/>
              </a:spcBef>
              <a:spcAft>
                <a:spcPts val="0"/>
              </a:spcAft>
              <a:buSzPts val="1200"/>
              <a:buChar char="○"/>
            </a:pPr>
            <a:r>
              <a:rPr lang="en" sz="1200"/>
              <a:t>Sleep a random time between 20 and 100 milliseconds.</a:t>
            </a:r>
            <a:endParaRPr sz="1200"/>
          </a:p>
          <a:p>
            <a:pPr indent="-304800" lvl="1" marL="914400" rtl="0" algn="l">
              <a:lnSpc>
                <a:spcPct val="115000"/>
              </a:lnSpc>
              <a:spcBef>
                <a:spcPts val="0"/>
              </a:spcBef>
              <a:spcAft>
                <a:spcPts val="0"/>
              </a:spcAft>
              <a:buSzPts val="1200"/>
              <a:buChar char="○"/>
            </a:pPr>
            <a:r>
              <a:rPr lang="en" sz="1200"/>
              <a:t>Longer sleep times would result in large races taking forever to finish.</a:t>
            </a:r>
            <a:endParaRPr sz="1200"/>
          </a:p>
          <a:p>
            <a:pPr indent="-317500" lvl="0" marL="457200" rtl="0" algn="l">
              <a:lnSpc>
                <a:spcPct val="115000"/>
              </a:lnSpc>
              <a:spcBef>
                <a:spcPts val="1000"/>
              </a:spcBef>
              <a:spcAft>
                <a:spcPts val="0"/>
              </a:spcAft>
              <a:buSzPts val="1400"/>
              <a:buChar char="●"/>
            </a:pPr>
            <a:r>
              <a:rPr lang="en" sz="1400"/>
              <a:t>Run</a:t>
            </a:r>
            <a:r>
              <a:rPr lang="en" sz="1400"/>
              <a:t> your race again with 10 racers, 10 laps, and debug enabled. </a:t>
            </a:r>
            <a:endParaRPr sz="1400"/>
          </a:p>
          <a:p>
            <a:pPr indent="-304800" lvl="1" marL="914400" rtl="0" algn="l">
              <a:lnSpc>
                <a:spcPct val="115000"/>
              </a:lnSpc>
              <a:spcBef>
                <a:spcPts val="0"/>
              </a:spcBef>
              <a:spcAft>
                <a:spcPts val="0"/>
              </a:spcAft>
              <a:buSzPts val="1200"/>
              <a:buChar char="○"/>
            </a:pPr>
            <a:r>
              <a:rPr lang="en" sz="1200"/>
              <a:t>You should see very few instances of racers completing multiple laps before another racer does.</a:t>
            </a:r>
            <a:endParaRPr sz="1200"/>
          </a:p>
          <a:p>
            <a:pPr indent="-304800" lvl="1" marL="914400" rtl="0" algn="l">
              <a:lnSpc>
                <a:spcPct val="115000"/>
              </a:lnSpc>
              <a:spcBef>
                <a:spcPts val="0"/>
              </a:spcBef>
              <a:spcAft>
                <a:spcPts val="0"/>
              </a:spcAft>
              <a:buSzPts val="1200"/>
              <a:buChar char="○"/>
            </a:pPr>
            <a:r>
              <a:rPr lang="en" sz="1200"/>
              <a:t>When you run a lot of racers (1000+) it may seem like we've gone backwards with the later racers </a:t>
            </a:r>
            <a:r>
              <a:rPr lang="en" sz="1200"/>
              <a:t>finishing</a:t>
            </a:r>
            <a:r>
              <a:rPr lang="en" sz="1200"/>
              <a:t> last. Try running it a few times to see if that is always the case.</a:t>
            </a:r>
            <a:endParaRPr sz="1200"/>
          </a:p>
        </p:txBody>
      </p:sp>
      <p:sp>
        <p:nvSpPr>
          <p:cNvPr id="916" name="Google Shape;916;p7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17" name="Google Shape;917;p7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8.15</a:t>
            </a:r>
            <a:endParaRPr/>
          </a:p>
        </p:txBody>
      </p:sp>
      <p:sp>
        <p:nvSpPr>
          <p:cNvPr id="918" name="Google Shape;918;p76"/>
          <p:cNvSpPr txBox="1"/>
          <p:nvPr/>
        </p:nvSpPr>
        <p:spPr>
          <a:xfrm>
            <a:off x="151125" y="1885650"/>
            <a:ext cx="3371400" cy="13722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200">
                <a:solidFill>
                  <a:srgbClr val="0000FF"/>
                </a:solidFill>
                <a:latin typeface="Consolas"/>
                <a:ea typeface="Consolas"/>
                <a:cs typeface="Consolas"/>
                <a:sym typeface="Consolas"/>
              </a:rPr>
              <a:t>try</a:t>
            </a:r>
            <a:r>
              <a:rPr lang="en" sz="1200">
                <a:latin typeface="Consolas"/>
                <a:ea typeface="Consolas"/>
                <a:cs typeface="Consolas"/>
                <a:sym typeface="Consolas"/>
              </a:rPr>
              <a:t> {</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Thread.sleep(</a:t>
            </a:r>
            <a:r>
              <a:rPr lang="en" sz="1200">
                <a:solidFill>
                  <a:srgbClr val="098658"/>
                </a:solidFill>
                <a:latin typeface="Consolas"/>
                <a:ea typeface="Consolas"/>
                <a:cs typeface="Consolas"/>
                <a:sym typeface="Consolas"/>
              </a:rPr>
              <a:t>500</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a:t>
            </a:r>
            <a:r>
              <a:rPr lang="en" sz="1200">
                <a:solidFill>
                  <a:srgbClr val="0000FF"/>
                </a:solidFill>
                <a:latin typeface="Consolas"/>
                <a:ea typeface="Consolas"/>
                <a:cs typeface="Consolas"/>
                <a:sym typeface="Consolas"/>
              </a:rPr>
              <a:t>catch</a:t>
            </a:r>
            <a:r>
              <a:rPr lang="en" sz="1200">
                <a:latin typeface="Consolas"/>
                <a:ea typeface="Consolas"/>
                <a:cs typeface="Consolas"/>
                <a:sym typeface="Consolas"/>
              </a:rPr>
              <a:t>(</a:t>
            </a:r>
            <a:r>
              <a:rPr lang="en" sz="1200">
                <a:solidFill>
                  <a:srgbClr val="0000FF"/>
                </a:solidFill>
                <a:latin typeface="Consolas"/>
                <a:ea typeface="Consolas"/>
                <a:cs typeface="Consolas"/>
                <a:sym typeface="Consolas"/>
              </a:rPr>
              <a:t>InterruptedException</a:t>
            </a:r>
            <a:r>
              <a:rPr lang="en" sz="1200">
                <a:latin typeface="Consolas"/>
                <a:ea typeface="Consolas"/>
                <a:cs typeface="Consolas"/>
                <a:sym typeface="Consolas"/>
              </a:rPr>
              <a:t> e) {</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   System.out.println(</a:t>
            </a:r>
            <a:r>
              <a:rPr lang="en" sz="1200">
                <a:solidFill>
                  <a:srgbClr val="A31515"/>
                </a:solidFill>
                <a:latin typeface="Consolas"/>
                <a:ea typeface="Consolas"/>
                <a:cs typeface="Consolas"/>
                <a:sym typeface="Consolas"/>
              </a:rPr>
              <a:t>"Interrupted!"</a:t>
            </a:r>
            <a:r>
              <a:rPr lang="en" sz="1200">
                <a:latin typeface="Consolas"/>
                <a:ea typeface="Consolas"/>
                <a:cs typeface="Consolas"/>
                <a:sym typeface="Consolas"/>
              </a:rPr>
              <a:t>);</a:t>
            </a:r>
            <a:endParaRPr sz="1200">
              <a:latin typeface="Consolas"/>
              <a:ea typeface="Consolas"/>
              <a:cs typeface="Consolas"/>
              <a:sym typeface="Consolas"/>
            </a:endParaRPr>
          </a:p>
          <a:p>
            <a:pPr indent="0" lvl="0" marL="0" rtl="0" algn="l">
              <a:lnSpc>
                <a:spcPct val="135714"/>
              </a:lnSpc>
              <a:spcBef>
                <a:spcPts val="0"/>
              </a:spcBef>
              <a:spcAft>
                <a:spcPts val="0"/>
              </a:spcAft>
              <a:buNone/>
            </a:pPr>
            <a:r>
              <a:rPr lang="en" sz="1200">
                <a:latin typeface="Consolas"/>
                <a:ea typeface="Consolas"/>
                <a:cs typeface="Consolas"/>
                <a:sym typeface="Consolas"/>
              </a:rPr>
              <a:t>}</a:t>
            </a:r>
            <a:endParaRPr>
              <a:latin typeface="Roboto"/>
              <a:ea typeface="Roboto"/>
              <a:cs typeface="Roboto"/>
              <a:sym typeface="Roboto"/>
            </a:endParaRPr>
          </a:p>
        </p:txBody>
      </p:sp>
      <p:sp>
        <p:nvSpPr>
          <p:cNvPr id="919" name="Google Shape;919;p76"/>
          <p:cNvSpPr txBox="1"/>
          <p:nvPr>
            <p:ph idx="4" type="body"/>
          </p:nvPr>
        </p:nvSpPr>
        <p:spPr>
          <a:xfrm>
            <a:off x="151125" y="3385325"/>
            <a:ext cx="3371400" cy="5541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Sleeping is a </a:t>
            </a:r>
            <a:r>
              <a:rPr b="1" i="1" lang="en">
                <a:solidFill>
                  <a:srgbClr val="FF0000"/>
                </a:solidFill>
              </a:rPr>
              <a:t>good</a:t>
            </a:r>
            <a:r>
              <a:rPr lang="en"/>
              <a:t> way to </a:t>
            </a:r>
            <a:r>
              <a:rPr b="1" i="1" lang="en">
                <a:solidFill>
                  <a:srgbClr val="FF0000"/>
                </a:solidFill>
              </a:rPr>
              <a:t>add time</a:t>
            </a:r>
            <a:r>
              <a:rPr lang="en"/>
              <a:t> to a game or simulation to slow it down or </a:t>
            </a:r>
            <a:r>
              <a:rPr b="1" i="1" lang="en">
                <a:solidFill>
                  <a:srgbClr val="FF0000"/>
                </a:solidFill>
              </a:rPr>
              <a:t>simulate work</a:t>
            </a:r>
            <a:r>
              <a:rPr lang="en"/>
              <a:t>.</a:t>
            </a:r>
            <a:endParaRPr/>
          </a:p>
        </p:txBody>
      </p:sp>
      <p:sp>
        <p:nvSpPr>
          <p:cNvPr id="920" name="Google Shape;920;p76"/>
          <p:cNvSpPr txBox="1"/>
          <p:nvPr>
            <p:ph idx="4" type="body"/>
          </p:nvPr>
        </p:nvSpPr>
        <p:spPr>
          <a:xfrm>
            <a:off x="151125" y="4066900"/>
            <a:ext cx="33714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Sleep is </a:t>
            </a:r>
            <a:r>
              <a:rPr b="1" i="1" lang="en">
                <a:solidFill>
                  <a:srgbClr val="FF0000"/>
                </a:solidFill>
              </a:rPr>
              <a:t>bad</a:t>
            </a:r>
            <a:r>
              <a:rPr lang="en"/>
              <a:t> for making real time objects like </a:t>
            </a:r>
            <a:r>
              <a:rPr b="1" i="1" lang="en">
                <a:solidFill>
                  <a:srgbClr val="FF0000"/>
                </a:solidFill>
              </a:rPr>
              <a:t>clocks</a:t>
            </a:r>
            <a:r>
              <a:rPr lang="en"/>
              <a:t> and </a:t>
            </a:r>
            <a:r>
              <a:rPr b="1" i="1" lang="en">
                <a:solidFill>
                  <a:srgbClr val="FF0000"/>
                </a:solidFill>
              </a:rPr>
              <a:t>shouldn't</a:t>
            </a:r>
            <a:r>
              <a:rPr lang="en"/>
              <a:t> be used to hide concurrency issues.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
        <p:nvSpPr>
          <p:cNvPr id="925" name="Google Shape;925;p77"/>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Our race is shaping up to be quite the adventure. Now we just need a good way to find out the winner. Right now the only way to do that is by looking for who finished the final lap first which is pretty painful for 1M racers. Instead, let's keep track of all the racer finish times.</a:t>
            </a:r>
            <a:endParaRPr/>
          </a:p>
        </p:txBody>
      </p:sp>
      <p:sp>
        <p:nvSpPr>
          <p:cNvPr id="926" name="Google Shape;926;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27" name="Google Shape;927;p77"/>
          <p:cNvSpPr txBox="1"/>
          <p:nvPr>
            <p:ph idx="2" type="body"/>
          </p:nvPr>
        </p:nvSpPr>
        <p:spPr>
          <a:xfrm>
            <a:off x="3165300" y="2013125"/>
            <a:ext cx="5775900" cy="29427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In </a:t>
            </a:r>
            <a:r>
              <a:rPr lang="en">
                <a:latin typeface="Courier New"/>
                <a:ea typeface="Courier New"/>
                <a:cs typeface="Courier New"/>
                <a:sym typeface="Courier New"/>
              </a:rPr>
              <a:t>LotsORacers</a:t>
            </a:r>
            <a:r>
              <a:rPr lang="en"/>
              <a:t>, create a </a:t>
            </a:r>
            <a:r>
              <a:rPr lang="en">
                <a:latin typeface="Courier New"/>
                <a:ea typeface="Courier New"/>
                <a:cs typeface="Courier New"/>
                <a:sym typeface="Courier New"/>
              </a:rPr>
              <a:t>List</a:t>
            </a:r>
            <a:r>
              <a:rPr lang="en"/>
              <a:t> of </a:t>
            </a:r>
            <a:r>
              <a:rPr lang="en">
                <a:latin typeface="Courier New"/>
                <a:ea typeface="Courier New"/>
                <a:cs typeface="Courier New"/>
                <a:sym typeface="Courier New"/>
              </a:rPr>
              <a:t>Racers</a:t>
            </a:r>
            <a:r>
              <a:rPr lang="en"/>
              <a:t> to hold the racers.</a:t>
            </a:r>
            <a:endParaRPr/>
          </a:p>
          <a:p>
            <a:pPr indent="-311150" lvl="0" marL="457200" rtl="0" algn="l">
              <a:spcBef>
                <a:spcPts val="0"/>
              </a:spcBef>
              <a:spcAft>
                <a:spcPts val="0"/>
              </a:spcAft>
              <a:buSzPts val="1300"/>
              <a:buChar char="●"/>
            </a:pPr>
            <a:r>
              <a:rPr lang="en"/>
              <a:t>As each racer reaches the finish line, add them to the list of racers.</a:t>
            </a:r>
            <a:endParaRPr/>
          </a:p>
          <a:p>
            <a:pPr indent="-298450" lvl="1" marL="914400" rtl="0" algn="l">
              <a:spcBef>
                <a:spcPts val="0"/>
              </a:spcBef>
              <a:spcAft>
                <a:spcPts val="0"/>
              </a:spcAft>
              <a:buSzPts val="1100"/>
              <a:buChar char="○"/>
            </a:pPr>
            <a:r>
              <a:rPr lang="en"/>
              <a:t>Like the latch, you'll need to </a:t>
            </a:r>
            <a:r>
              <a:rPr b="1" i="1" lang="en">
                <a:solidFill>
                  <a:srgbClr val="FF0000"/>
                </a:solidFill>
              </a:rPr>
              <a:t>pass</a:t>
            </a:r>
            <a:r>
              <a:rPr lang="en"/>
              <a:t> the list to the racer or use a </a:t>
            </a:r>
            <a:r>
              <a:rPr b="1" i="1" lang="en">
                <a:solidFill>
                  <a:srgbClr val="FF0000"/>
                </a:solidFill>
              </a:rPr>
              <a:t>lambda</a:t>
            </a:r>
            <a:endParaRPr b="1" i="1">
              <a:solidFill>
                <a:srgbClr val="FF0000"/>
              </a:solidFill>
            </a:endParaRPr>
          </a:p>
          <a:p>
            <a:pPr indent="-311150" lvl="0" marL="457200" rtl="0" algn="l">
              <a:spcBef>
                <a:spcPts val="0"/>
              </a:spcBef>
              <a:spcAft>
                <a:spcPts val="0"/>
              </a:spcAft>
              <a:buSzPts val="1300"/>
              <a:buChar char="●"/>
            </a:pPr>
            <a:r>
              <a:rPr lang="en"/>
              <a:t>Once the race is over, print out the </a:t>
            </a:r>
            <a:r>
              <a:rPr b="1" i="1" lang="en">
                <a:solidFill>
                  <a:srgbClr val="FF0000"/>
                </a:solidFill>
              </a:rPr>
              <a:t>finish time</a:t>
            </a:r>
            <a:r>
              <a:rPr lang="en"/>
              <a:t> for each racer.</a:t>
            </a:r>
            <a:endParaRPr/>
          </a:p>
          <a:p>
            <a:pPr indent="-298450" lvl="1" marL="914400" rtl="0" algn="l">
              <a:spcBef>
                <a:spcPts val="0"/>
              </a:spcBef>
              <a:spcAft>
                <a:spcPts val="0"/>
              </a:spcAft>
              <a:buSzPts val="1100"/>
              <a:buChar char="○"/>
            </a:pPr>
            <a:r>
              <a:rPr lang="en"/>
              <a:t>Example: </a:t>
            </a:r>
            <a:r>
              <a:rPr lang="en">
                <a:latin typeface="Courier New"/>
                <a:ea typeface="Courier New"/>
                <a:cs typeface="Courier New"/>
                <a:sym typeface="Courier New"/>
              </a:rPr>
              <a:t>Racer </a:t>
            </a:r>
            <a:r>
              <a:rPr lang="en">
                <a:latin typeface="Courier New"/>
                <a:ea typeface="Courier New"/>
                <a:cs typeface="Courier New"/>
                <a:sym typeface="Courier New"/>
              </a:rPr>
              <a:t>8 </a:t>
            </a:r>
            <a:r>
              <a:rPr lang="en">
                <a:latin typeface="Courier New"/>
                <a:ea typeface="Courier New"/>
                <a:cs typeface="Courier New"/>
                <a:sym typeface="Courier New"/>
              </a:rPr>
              <a:t>finished in </a:t>
            </a:r>
            <a:r>
              <a:rPr lang="en">
                <a:latin typeface="Courier New"/>
                <a:ea typeface="Courier New"/>
                <a:cs typeface="Courier New"/>
                <a:sym typeface="Courier New"/>
              </a:rPr>
              <a:t>0.4539599</a:t>
            </a:r>
            <a:r>
              <a:rPr lang="en">
                <a:latin typeface="Courier New"/>
                <a:ea typeface="Courier New"/>
                <a:cs typeface="Courier New"/>
                <a:sym typeface="Courier New"/>
              </a:rPr>
              <a:t> seconds</a:t>
            </a:r>
            <a:endParaRPr>
              <a:latin typeface="Courier New"/>
              <a:ea typeface="Courier New"/>
              <a:cs typeface="Courier New"/>
              <a:sym typeface="Courier New"/>
            </a:endParaRPr>
          </a:p>
          <a:p>
            <a:pPr indent="-311150" lvl="0" marL="457200" rtl="0" algn="l">
              <a:spcBef>
                <a:spcPts val="0"/>
              </a:spcBef>
              <a:spcAft>
                <a:spcPts val="0"/>
              </a:spcAft>
              <a:buSzPts val="1300"/>
              <a:buChar char="●"/>
            </a:pPr>
            <a:r>
              <a:rPr lang="en"/>
              <a:t>Run the race with debug turned off (</a:t>
            </a:r>
            <a:r>
              <a:rPr lang="en">
                <a:latin typeface="Courier New"/>
                <a:ea typeface="Courier New"/>
                <a:cs typeface="Courier New"/>
                <a:sym typeface="Courier New"/>
              </a:rPr>
              <a:t>false</a:t>
            </a:r>
            <a:r>
              <a:rPr lang="en"/>
              <a:t>) and look at the finishing times. (</a:t>
            </a:r>
            <a:r>
              <a:rPr i="1" lang="en"/>
              <a:t>For large races you may want to redirect the output to a file</a:t>
            </a:r>
            <a:r>
              <a:rPr lang="en"/>
              <a:t>)</a:t>
            </a:r>
            <a:endParaRPr/>
          </a:p>
          <a:p>
            <a:pPr indent="-311150" lvl="0" marL="457200" rtl="0" algn="l">
              <a:spcBef>
                <a:spcPts val="0"/>
              </a:spcBef>
              <a:spcAft>
                <a:spcPts val="0"/>
              </a:spcAft>
              <a:buSzPts val="1300"/>
              <a:buChar char="●"/>
            </a:pPr>
            <a:r>
              <a:rPr b="1" i="1" lang="en">
                <a:solidFill>
                  <a:srgbClr val="FF0000"/>
                </a:solidFill>
              </a:rPr>
              <a:t>Challenge</a:t>
            </a:r>
            <a:r>
              <a:rPr lang="en"/>
              <a:t>: Print out a special message just for the winner.</a:t>
            </a:r>
            <a:endParaRPr/>
          </a:p>
          <a:p>
            <a:pPr indent="-311150" lvl="0" marL="457200" rtl="0" algn="l">
              <a:spcBef>
                <a:spcPts val="0"/>
              </a:spcBef>
              <a:spcAft>
                <a:spcPts val="0"/>
              </a:spcAft>
              <a:buSzPts val="1300"/>
              <a:buChar char="●"/>
            </a:pPr>
            <a:r>
              <a:rPr b="1" i="1" lang="en">
                <a:solidFill>
                  <a:srgbClr val="FF0000"/>
                </a:solidFill>
              </a:rPr>
              <a:t>Challenge</a:t>
            </a:r>
            <a:r>
              <a:rPr b="1" baseline="30000" i="1" lang="en">
                <a:solidFill>
                  <a:srgbClr val="FF0000"/>
                </a:solidFill>
              </a:rPr>
              <a:t>2</a:t>
            </a:r>
            <a:r>
              <a:rPr lang="en"/>
              <a:t>: Use a CountDownLatch instead of awaitTermination to know when the race is over.</a:t>
            </a:r>
            <a:endParaRPr/>
          </a:p>
          <a:p>
            <a:pPr indent="-311150" lvl="0" marL="457200" rtl="0" algn="l">
              <a:spcBef>
                <a:spcPts val="1000"/>
              </a:spcBef>
              <a:spcAft>
                <a:spcPts val="0"/>
              </a:spcAft>
              <a:buSzPts val="1300"/>
              <a:buChar char="●"/>
            </a:pPr>
            <a:r>
              <a:rPr lang="en"/>
              <a:t>After testing, print out the number of racers in the list of racers.</a:t>
            </a:r>
            <a:endParaRPr/>
          </a:p>
          <a:p>
            <a:pPr indent="-298450" lvl="1" marL="914400" rtl="0" algn="l">
              <a:spcBef>
                <a:spcPts val="0"/>
              </a:spcBef>
              <a:spcAft>
                <a:spcPts val="0"/>
              </a:spcAft>
              <a:buSzPts val="1100"/>
              <a:buChar char="○"/>
            </a:pPr>
            <a:r>
              <a:rPr lang="en"/>
              <a:t>Did everyone finish?</a:t>
            </a:r>
            <a:endParaRPr/>
          </a:p>
        </p:txBody>
      </p:sp>
      <p:sp>
        <p:nvSpPr>
          <p:cNvPr id="928" name="Google Shape;928;p7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And the Winner Is?</a:t>
            </a:r>
            <a:endParaRPr/>
          </a:p>
        </p:txBody>
      </p:sp>
      <p:sp>
        <p:nvSpPr>
          <p:cNvPr id="929" name="Google Shape;929;p7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8.16</a:t>
            </a:r>
            <a:endParaRPr/>
          </a:p>
        </p:txBody>
      </p:sp>
      <p:sp>
        <p:nvSpPr>
          <p:cNvPr id="930" name="Google Shape;930;p77"/>
          <p:cNvSpPr txBox="1"/>
          <p:nvPr>
            <p:ph idx="4" type="body"/>
          </p:nvPr>
        </p:nvSpPr>
        <p:spPr>
          <a:xfrm>
            <a:off x="141600" y="4156900"/>
            <a:ext cx="30237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While looking at the output, do you notice anything unexpected? Try running the code a few times.</a:t>
            </a:r>
            <a:endParaRPr/>
          </a:p>
        </p:txBody>
      </p:sp>
      <p:pic>
        <p:nvPicPr>
          <p:cNvPr id="931" name="Google Shape;931;p77"/>
          <p:cNvPicPr preferRelativeResize="0"/>
          <p:nvPr/>
        </p:nvPicPr>
        <p:blipFill rotWithShape="1">
          <a:blip r:embed="rId3">
            <a:alphaModFix/>
          </a:blip>
          <a:srcRect b="0" l="0" r="9281" t="0"/>
          <a:stretch/>
        </p:blipFill>
        <p:spPr>
          <a:xfrm>
            <a:off x="141600" y="2193350"/>
            <a:ext cx="3023699" cy="1873369"/>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78"/>
          <p:cNvSpPr txBox="1"/>
          <p:nvPr>
            <p:ph type="title"/>
          </p:nvPr>
        </p:nvSpPr>
        <p:spPr>
          <a:xfrm>
            <a:off x="311725" y="309175"/>
            <a:ext cx="3706500" cy="6381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2"/>
              </a:buClr>
              <a:buSzPts val="3300"/>
              <a:buFont typeface="Calibri"/>
              <a:buNone/>
            </a:pPr>
            <a:r>
              <a:rPr lang="en"/>
              <a:t>Race Conditions</a:t>
            </a:r>
            <a:endParaRPr/>
          </a:p>
        </p:txBody>
      </p:sp>
      <p:sp>
        <p:nvSpPr>
          <p:cNvPr id="937" name="Google Shape;937;p78"/>
          <p:cNvSpPr txBox="1"/>
          <p:nvPr>
            <p:ph idx="1" type="body"/>
          </p:nvPr>
        </p:nvSpPr>
        <p:spPr>
          <a:xfrm>
            <a:off x="4644675" y="500925"/>
            <a:ext cx="4166400" cy="4432200"/>
          </a:xfrm>
          <a:prstGeom prst="rect">
            <a:avLst/>
          </a:prstGeom>
          <a:noFill/>
          <a:ln>
            <a:noFill/>
          </a:ln>
        </p:spPr>
        <p:txBody>
          <a:bodyPr anchorCtr="0" anchor="t" bIns="34275" lIns="68575" spcFirstLastPara="1" rIns="68575" wrap="square" tIns="34275">
            <a:normAutofit lnSpcReduction="20000"/>
          </a:bodyPr>
          <a:lstStyle/>
          <a:p>
            <a:pPr indent="-317500" lvl="0" marL="457200" rtl="0" algn="l">
              <a:lnSpc>
                <a:spcPct val="115000"/>
              </a:lnSpc>
              <a:spcBef>
                <a:spcPts val="0"/>
              </a:spcBef>
              <a:spcAft>
                <a:spcPts val="0"/>
              </a:spcAft>
              <a:buSzPts val="1400"/>
              <a:buChar char="●"/>
            </a:pPr>
            <a:r>
              <a:rPr lang="en" sz="1400"/>
              <a:t>What happened when you ran the last activity?</a:t>
            </a:r>
            <a:endParaRPr sz="1400"/>
          </a:p>
          <a:p>
            <a:pPr indent="-317500" lvl="0" marL="457200" rtl="0" algn="l">
              <a:lnSpc>
                <a:spcPct val="115000"/>
              </a:lnSpc>
              <a:spcBef>
                <a:spcPts val="1000"/>
              </a:spcBef>
              <a:spcAft>
                <a:spcPts val="0"/>
              </a:spcAft>
              <a:buSzPts val="1400"/>
              <a:buChar char="●"/>
            </a:pPr>
            <a:r>
              <a:rPr lang="en" sz="1400"/>
              <a:t>Most java statements take </a:t>
            </a:r>
            <a:r>
              <a:rPr b="1" i="1" lang="en" sz="1400">
                <a:solidFill>
                  <a:srgbClr val="FF0000"/>
                </a:solidFill>
              </a:rPr>
              <a:t>multiple </a:t>
            </a:r>
            <a:r>
              <a:rPr lang="en" sz="1400"/>
              <a:t>cpu cycles to execute</a:t>
            </a:r>
            <a:endParaRPr sz="1400"/>
          </a:p>
          <a:p>
            <a:pPr indent="-317500" lvl="0" marL="457200" rtl="0" algn="l">
              <a:lnSpc>
                <a:spcPct val="115000"/>
              </a:lnSpc>
              <a:spcBef>
                <a:spcPts val="1000"/>
              </a:spcBef>
              <a:spcAft>
                <a:spcPts val="0"/>
              </a:spcAft>
              <a:buSzPts val="1400"/>
              <a:buChar char="●"/>
            </a:pPr>
            <a:r>
              <a:rPr lang="en" sz="1400"/>
              <a:t>This can be problematic when multiple threads are using the same </a:t>
            </a:r>
            <a:r>
              <a:rPr b="1" i="1" lang="en" sz="1400">
                <a:solidFill>
                  <a:srgbClr val="FF0000"/>
                </a:solidFill>
              </a:rPr>
              <a:t>shared resource</a:t>
            </a:r>
            <a:endParaRPr b="1" i="1" sz="1400">
              <a:solidFill>
                <a:srgbClr val="FF0000"/>
              </a:solidFill>
            </a:endParaRPr>
          </a:p>
          <a:p>
            <a:pPr indent="-317500" lvl="0" marL="457200" rtl="0" algn="l">
              <a:lnSpc>
                <a:spcPct val="115000"/>
              </a:lnSpc>
              <a:spcBef>
                <a:spcPts val="1000"/>
              </a:spcBef>
              <a:spcAft>
                <a:spcPts val="0"/>
              </a:spcAft>
              <a:buSzPts val="1400"/>
              <a:buChar char="●"/>
            </a:pPr>
            <a:r>
              <a:rPr lang="en" sz="1400"/>
              <a:t>In activity 8.16 the </a:t>
            </a:r>
            <a:r>
              <a:rPr lang="en">
                <a:latin typeface="Courier New"/>
                <a:ea typeface="Courier New"/>
                <a:cs typeface="Courier New"/>
                <a:sym typeface="Courier New"/>
              </a:rPr>
              <a:t>List</a:t>
            </a:r>
            <a:r>
              <a:rPr lang="en"/>
              <a:t> of </a:t>
            </a:r>
            <a:r>
              <a:rPr lang="en">
                <a:latin typeface="Courier New"/>
                <a:ea typeface="Courier New"/>
                <a:cs typeface="Courier New"/>
                <a:sym typeface="Courier New"/>
              </a:rPr>
              <a:t>Racers</a:t>
            </a:r>
            <a:r>
              <a:rPr lang="en" sz="1400"/>
              <a:t> was the shared resource</a:t>
            </a:r>
            <a:endParaRPr sz="1400"/>
          </a:p>
          <a:p>
            <a:pPr indent="-317500" lvl="0" marL="457200" rtl="0" algn="l">
              <a:lnSpc>
                <a:spcPct val="115000"/>
              </a:lnSpc>
              <a:spcBef>
                <a:spcPts val="1000"/>
              </a:spcBef>
              <a:spcAft>
                <a:spcPts val="0"/>
              </a:spcAft>
              <a:buSzPts val="1400"/>
              <a:buChar char="●"/>
            </a:pPr>
            <a:r>
              <a:rPr lang="en" sz="1400"/>
              <a:t>Thus between </a:t>
            </a:r>
            <a:r>
              <a:rPr b="1" i="1" lang="en" sz="1400">
                <a:solidFill>
                  <a:srgbClr val="FF0000"/>
                </a:solidFill>
              </a:rPr>
              <a:t>retrieving</a:t>
            </a:r>
            <a:r>
              <a:rPr lang="en" sz="1400"/>
              <a:t> a value and </a:t>
            </a:r>
            <a:r>
              <a:rPr b="1" i="1" lang="en" sz="1400">
                <a:solidFill>
                  <a:srgbClr val="FF0000"/>
                </a:solidFill>
              </a:rPr>
              <a:t>using</a:t>
            </a:r>
            <a:r>
              <a:rPr lang="en" sz="1400"/>
              <a:t> that value the active thread may change</a:t>
            </a:r>
            <a:endParaRPr sz="1400"/>
          </a:p>
          <a:p>
            <a:pPr indent="-311150" lvl="1" marL="914400" rtl="0" algn="l">
              <a:lnSpc>
                <a:spcPct val="115000"/>
              </a:lnSpc>
              <a:spcBef>
                <a:spcPts val="0"/>
              </a:spcBef>
              <a:spcAft>
                <a:spcPts val="0"/>
              </a:spcAft>
              <a:buSzPts val="1300"/>
              <a:buChar char="○"/>
            </a:pPr>
            <a:r>
              <a:rPr lang="en" sz="1300"/>
              <a:t>This is known as a </a:t>
            </a:r>
            <a:r>
              <a:rPr b="1" i="1" lang="en" sz="1300">
                <a:solidFill>
                  <a:srgbClr val="FF0000"/>
                </a:solidFill>
              </a:rPr>
              <a:t>context switch</a:t>
            </a:r>
            <a:endParaRPr b="1" i="1" sz="1300">
              <a:solidFill>
                <a:srgbClr val="FF0000"/>
              </a:solidFill>
            </a:endParaRPr>
          </a:p>
          <a:p>
            <a:pPr indent="-317500" lvl="0" marL="457200" rtl="0" algn="l">
              <a:lnSpc>
                <a:spcPct val="115000"/>
              </a:lnSpc>
              <a:spcBef>
                <a:spcPts val="1000"/>
              </a:spcBef>
              <a:spcAft>
                <a:spcPts val="0"/>
              </a:spcAft>
              <a:buSzPts val="1400"/>
              <a:buChar char="●"/>
            </a:pPr>
            <a:r>
              <a:rPr lang="en" sz="1400"/>
              <a:t>The shared value could be changed without the original thread knowing, making the usage incorrect</a:t>
            </a:r>
            <a:endParaRPr sz="1400"/>
          </a:p>
          <a:p>
            <a:pPr indent="-317500" lvl="0" marL="457200" rtl="0" algn="l">
              <a:lnSpc>
                <a:spcPct val="115000"/>
              </a:lnSpc>
              <a:spcBef>
                <a:spcPts val="1000"/>
              </a:spcBef>
              <a:spcAft>
                <a:spcPts val="1000"/>
              </a:spcAft>
              <a:buSzPts val="1400"/>
              <a:buChar char="●"/>
            </a:pPr>
            <a:r>
              <a:rPr lang="en" sz="1400"/>
              <a:t>This issue is known as a </a:t>
            </a:r>
            <a:r>
              <a:rPr b="1" i="1" lang="en" sz="1400">
                <a:solidFill>
                  <a:srgbClr val="FF0000"/>
                </a:solidFill>
              </a:rPr>
              <a:t>race condition</a:t>
            </a:r>
            <a:r>
              <a:rPr lang="en" sz="1400"/>
              <a:t> because all the threads are racing to try and use/update the shared resource</a:t>
            </a:r>
            <a:endParaRPr sz="1400"/>
          </a:p>
        </p:txBody>
      </p:sp>
      <p:sp>
        <p:nvSpPr>
          <p:cNvPr id="938" name="Google Shape;938;p7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39" name="Google Shape;939;p78"/>
          <p:cNvSpPr/>
          <p:nvPr/>
        </p:nvSpPr>
        <p:spPr>
          <a:xfrm>
            <a:off x="589975" y="2109600"/>
            <a:ext cx="1375200" cy="2115000"/>
          </a:xfrm>
          <a:prstGeom prst="roundRect">
            <a:avLst>
              <a:gd fmla="val 16667" name="adj"/>
            </a:avLst>
          </a:prstGeom>
          <a:solidFill>
            <a:srgbClr val="FFFFFF"/>
          </a:solid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rPr>
              <a:t>Thread 1</a:t>
            </a:r>
            <a:endParaRPr b="1" sz="1100">
              <a:solidFill>
                <a:schemeClr val="dk2"/>
              </a:solidFill>
            </a:endParaRPr>
          </a:p>
          <a:p>
            <a:pPr indent="0" lvl="0" marL="0" rtl="0" algn="l">
              <a:spcBef>
                <a:spcPts val="0"/>
              </a:spcBef>
              <a:spcAft>
                <a:spcPts val="0"/>
              </a:spcAft>
              <a:buNone/>
            </a:pPr>
            <a:r>
              <a:rPr i="1" lang="en" sz="1100">
                <a:solidFill>
                  <a:schemeClr val="dk2"/>
                </a:solidFill>
              </a:rPr>
              <a:t>(size == 5)</a:t>
            </a:r>
            <a:endParaRPr i="1" sz="1100">
              <a:solidFill>
                <a:schemeClr val="dk2"/>
              </a:solidFill>
            </a:endParaRPr>
          </a:p>
          <a:p>
            <a:pPr indent="0" lvl="0" marL="0" rtl="0" algn="l">
              <a:spcBef>
                <a:spcPts val="0"/>
              </a:spcBef>
              <a:spcAft>
                <a:spcPts val="0"/>
              </a:spcAft>
              <a:buNone/>
            </a:pPr>
            <a:r>
              <a:rPr lang="en" sz="1100">
                <a:solidFill>
                  <a:schemeClr val="dk2"/>
                </a:solidFill>
              </a:rPr>
              <a:t>a[size] = 10</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lang="en" sz="1100">
                <a:solidFill>
                  <a:schemeClr val="dk2"/>
                </a:solidFill>
              </a:rPr>
              <a:t>size++</a:t>
            </a:r>
            <a:endParaRPr sz="1100">
              <a:solidFill>
                <a:schemeClr val="dk2"/>
              </a:solidFill>
            </a:endParaRPr>
          </a:p>
          <a:p>
            <a:pPr indent="0" lvl="0" marL="0" rtl="0" algn="l">
              <a:spcBef>
                <a:spcPts val="0"/>
              </a:spcBef>
              <a:spcAft>
                <a:spcPts val="0"/>
              </a:spcAft>
              <a:buNone/>
            </a:pPr>
            <a:r>
              <a:rPr i="1" lang="en" sz="1100">
                <a:solidFill>
                  <a:schemeClr val="dk2"/>
                </a:solidFill>
              </a:rPr>
              <a:t>(size == 6)</a:t>
            </a:r>
            <a:endParaRPr i="1" sz="1100">
              <a:solidFill>
                <a:schemeClr val="dk2"/>
              </a:solidFill>
            </a:endParaRPr>
          </a:p>
        </p:txBody>
      </p:sp>
      <p:sp>
        <p:nvSpPr>
          <p:cNvPr id="940" name="Google Shape;940;p78"/>
          <p:cNvSpPr/>
          <p:nvPr/>
        </p:nvSpPr>
        <p:spPr>
          <a:xfrm>
            <a:off x="2428300" y="2109600"/>
            <a:ext cx="1375200" cy="2115000"/>
          </a:xfrm>
          <a:prstGeom prst="roundRect">
            <a:avLst>
              <a:gd fmla="val 16667" name="adj"/>
            </a:avLst>
          </a:prstGeom>
          <a:solidFill>
            <a:srgbClr val="FFFFFF"/>
          </a:solidFill>
          <a:ln cap="flat" cmpd="sng" w="19050">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rPr>
              <a:t>Thread 2</a:t>
            </a:r>
            <a:endParaRPr b="1"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rPr i="1" lang="en" sz="1100">
                <a:solidFill>
                  <a:schemeClr val="dk2"/>
                </a:solidFill>
              </a:rPr>
              <a:t>(size == 5)</a:t>
            </a:r>
            <a:endParaRPr i="1" sz="1100">
              <a:solidFill>
                <a:schemeClr val="dk2"/>
              </a:solidFill>
            </a:endParaRPr>
          </a:p>
          <a:p>
            <a:pPr indent="0" lvl="0" marL="0" rtl="0" algn="l">
              <a:spcBef>
                <a:spcPts val="0"/>
              </a:spcBef>
              <a:spcAft>
                <a:spcPts val="0"/>
              </a:spcAft>
              <a:buNone/>
            </a:pPr>
            <a:r>
              <a:rPr lang="en" sz="1100">
                <a:solidFill>
                  <a:schemeClr val="dk2"/>
                </a:solidFill>
              </a:rPr>
              <a:t>a[size] = 7</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a:p>
            <a:pPr indent="0" lvl="0" marL="0" rtl="0" algn="l">
              <a:spcBef>
                <a:spcPts val="0"/>
              </a:spcBef>
              <a:spcAft>
                <a:spcPts val="0"/>
              </a:spcAft>
              <a:buNone/>
            </a:pPr>
            <a:r>
              <a:t/>
            </a:r>
            <a:endParaRPr sz="1100">
              <a:solidFill>
                <a:schemeClr val="dk2"/>
              </a:solidFill>
            </a:endParaRPr>
          </a:p>
        </p:txBody>
      </p:sp>
      <p:sp>
        <p:nvSpPr>
          <p:cNvPr id="941" name="Google Shape;941;p78"/>
          <p:cNvSpPr/>
          <p:nvPr/>
        </p:nvSpPr>
        <p:spPr>
          <a:xfrm>
            <a:off x="589975" y="2831218"/>
            <a:ext cx="1375200" cy="262800"/>
          </a:xfrm>
          <a:prstGeom prst="roundRect">
            <a:avLst>
              <a:gd fmla="val 16667" name="adj"/>
            </a:avLst>
          </a:prstGeom>
          <a:solidFill>
            <a:srgbClr val="FFFFFF"/>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0000"/>
                </a:solidFill>
              </a:rPr>
              <a:t>Context Switch </a:t>
            </a:r>
            <a:endParaRPr sz="1200">
              <a:solidFill>
                <a:srgbClr val="FF0000"/>
              </a:solidFill>
            </a:endParaRPr>
          </a:p>
        </p:txBody>
      </p:sp>
      <p:sp>
        <p:nvSpPr>
          <p:cNvPr id="942" name="Google Shape;942;p78"/>
          <p:cNvSpPr/>
          <p:nvPr/>
        </p:nvSpPr>
        <p:spPr>
          <a:xfrm>
            <a:off x="1971094" y="2885987"/>
            <a:ext cx="445200" cy="1488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8"/>
          <p:cNvSpPr/>
          <p:nvPr/>
        </p:nvSpPr>
        <p:spPr>
          <a:xfrm>
            <a:off x="2422250" y="3343181"/>
            <a:ext cx="1375200" cy="262800"/>
          </a:xfrm>
          <a:prstGeom prst="roundRect">
            <a:avLst>
              <a:gd fmla="val 16667" name="adj"/>
            </a:avLst>
          </a:prstGeom>
          <a:solidFill>
            <a:srgbClr val="FFFFFF"/>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rgbClr val="FF0000"/>
                </a:solidFill>
              </a:rPr>
              <a:t>Context Switch </a:t>
            </a:r>
            <a:endParaRPr sz="1200">
              <a:solidFill>
                <a:srgbClr val="FF0000"/>
              </a:solidFill>
            </a:endParaRPr>
          </a:p>
        </p:txBody>
      </p:sp>
      <p:sp>
        <p:nvSpPr>
          <p:cNvPr id="944" name="Google Shape;944;p78"/>
          <p:cNvSpPr/>
          <p:nvPr/>
        </p:nvSpPr>
        <p:spPr>
          <a:xfrm rot="10800000">
            <a:off x="1971094" y="3400174"/>
            <a:ext cx="445200" cy="148800"/>
          </a:xfrm>
          <a:prstGeom prst="rightArrow">
            <a:avLst>
              <a:gd fmla="val 50000" name="adj1"/>
              <a:gd fmla="val 50000" name="adj2"/>
            </a:avLst>
          </a:prstGeom>
          <a:solidFill>
            <a:srgbClr val="FFFFFF"/>
          </a:solid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78"/>
          <p:cNvSpPr/>
          <p:nvPr/>
        </p:nvSpPr>
        <p:spPr>
          <a:xfrm>
            <a:off x="311725" y="4339200"/>
            <a:ext cx="3706500" cy="623700"/>
          </a:xfrm>
          <a:prstGeom prst="rect">
            <a:avLst/>
          </a:prstGeom>
          <a:solidFill>
            <a:srgbClr val="FFF2CC"/>
          </a:solidFill>
          <a:ln cap="flat" cmpd="sng" w="19050">
            <a:solidFill>
              <a:srgbClr val="FF0000"/>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rPr lang="en" sz="1200">
                <a:solidFill>
                  <a:schemeClr val="dk1"/>
                </a:solidFill>
              </a:rPr>
              <a:t>List only has </a:t>
            </a:r>
            <a:r>
              <a:rPr b="1" i="1" lang="en" sz="1200">
                <a:solidFill>
                  <a:srgbClr val="FF0000"/>
                </a:solidFill>
              </a:rPr>
              <a:t>size - 1</a:t>
            </a:r>
            <a:r>
              <a:rPr lang="en" sz="1200">
                <a:solidFill>
                  <a:schemeClr val="dk1"/>
                </a:solidFill>
              </a:rPr>
              <a:t> elements in it now. </a:t>
            </a:r>
            <a:r>
              <a:rPr lang="en" sz="1200">
                <a:solidFill>
                  <a:schemeClr val="dk1"/>
                </a:solidFill>
              </a:rPr>
              <a:t>Thread 1's addition</a:t>
            </a:r>
            <a:r>
              <a:rPr lang="en" sz="1200">
                <a:solidFill>
                  <a:schemeClr val="dk1"/>
                </a:solidFill>
              </a:rPr>
              <a:t> was lost and Thread 2 may generate an exception the next time it tries to add an item.</a:t>
            </a:r>
            <a:endParaRPr sz="900"/>
          </a:p>
        </p:txBody>
      </p:sp>
      <p:sp>
        <p:nvSpPr>
          <p:cNvPr id="946" name="Google Shape;946;p78"/>
          <p:cNvSpPr/>
          <p:nvPr/>
        </p:nvSpPr>
        <p:spPr>
          <a:xfrm>
            <a:off x="1110775" y="1037497"/>
            <a:ext cx="2108400" cy="929400"/>
          </a:xfrm>
          <a:prstGeom prst="rect">
            <a:avLst/>
          </a:prstGeom>
          <a:solidFill>
            <a:srgbClr val="FFFFFF"/>
          </a:solidFill>
          <a:ln cap="flat" cmpd="sng" w="19050">
            <a:solidFill>
              <a:srgbClr val="0000FF"/>
            </a:solidFill>
            <a:prstDash val="solid"/>
            <a:miter lim="800000"/>
            <a:headEnd len="sm" w="sm" type="none"/>
            <a:tailEnd len="sm" w="sm" type="none"/>
          </a:ln>
        </p:spPr>
        <p:txBody>
          <a:bodyPr anchorCtr="0" anchor="t" bIns="34275" lIns="68575" spcFirstLastPara="1" rIns="68575" wrap="square" tIns="34275">
            <a:noAutofit/>
          </a:bodyPr>
          <a:lstStyle/>
          <a:p>
            <a:pPr indent="0" lvl="0" marL="0" rtl="0" algn="l">
              <a:lnSpc>
                <a:spcPct val="130434"/>
              </a:lnSpc>
              <a:spcBef>
                <a:spcPts val="0"/>
              </a:spcBef>
              <a:spcAft>
                <a:spcPts val="0"/>
              </a:spcAft>
              <a:buNone/>
            </a:pPr>
            <a:r>
              <a:rPr lang="en" sz="900">
                <a:solidFill>
                  <a:srgbClr val="008000"/>
                </a:solidFill>
                <a:highlight>
                  <a:srgbClr val="FFFFFF"/>
                </a:highlight>
                <a:latin typeface="Consolas"/>
                <a:ea typeface="Consolas"/>
                <a:cs typeface="Consolas"/>
                <a:sym typeface="Consolas"/>
              </a:rPr>
              <a:t>// Simplified ArrayList add</a:t>
            </a:r>
            <a:endParaRPr sz="900">
              <a:solidFill>
                <a:srgbClr val="0000FF"/>
              </a:solidFill>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sz="900">
                <a:solidFill>
                  <a:srgbClr val="0000FF"/>
                </a:solidFill>
                <a:highlight>
                  <a:srgbClr val="FFFFFF"/>
                </a:highlight>
                <a:latin typeface="Consolas"/>
                <a:ea typeface="Consolas"/>
                <a:cs typeface="Consolas"/>
                <a:sym typeface="Consolas"/>
              </a:rPr>
              <a:t>private</a:t>
            </a:r>
            <a:r>
              <a:rPr lang="en" sz="900">
                <a:highlight>
                  <a:srgbClr val="FFFFFF"/>
                </a:highlight>
                <a:latin typeface="Consolas"/>
                <a:ea typeface="Consolas"/>
                <a:cs typeface="Consolas"/>
                <a:sym typeface="Consolas"/>
              </a:rPr>
              <a:t> </a:t>
            </a:r>
            <a:r>
              <a:rPr lang="en" sz="900">
                <a:solidFill>
                  <a:srgbClr val="267F99"/>
                </a:solidFill>
                <a:highlight>
                  <a:srgbClr val="FFFFFF"/>
                </a:highlight>
                <a:latin typeface="Consolas"/>
                <a:ea typeface="Consolas"/>
                <a:cs typeface="Consolas"/>
                <a:sym typeface="Consolas"/>
              </a:rPr>
              <a:t>void</a:t>
            </a:r>
            <a:r>
              <a:rPr lang="en" sz="900">
                <a:highlight>
                  <a:srgbClr val="FFFFFF"/>
                </a:highlight>
                <a:latin typeface="Consolas"/>
                <a:ea typeface="Consolas"/>
                <a:cs typeface="Consolas"/>
                <a:sym typeface="Consolas"/>
              </a:rPr>
              <a:t> </a:t>
            </a:r>
            <a:r>
              <a:rPr lang="en" sz="900">
                <a:solidFill>
                  <a:srgbClr val="795E26"/>
                </a:solidFill>
                <a:highlight>
                  <a:srgbClr val="FFFFFF"/>
                </a:highlight>
                <a:latin typeface="Consolas"/>
                <a:ea typeface="Consolas"/>
                <a:cs typeface="Consolas"/>
                <a:sym typeface="Consolas"/>
              </a:rPr>
              <a:t>add </a:t>
            </a:r>
            <a:r>
              <a:rPr lang="en" sz="900">
                <a:highlight>
                  <a:srgbClr val="FFFFFF"/>
                </a:highlight>
                <a:latin typeface="Consolas"/>
                <a:ea typeface="Consolas"/>
                <a:cs typeface="Consolas"/>
                <a:sym typeface="Consolas"/>
              </a:rPr>
              <a:t>(</a:t>
            </a:r>
            <a:r>
              <a:rPr lang="en" sz="900">
                <a:solidFill>
                  <a:srgbClr val="267F99"/>
                </a:solidFill>
                <a:highlight>
                  <a:srgbClr val="FFFFFF"/>
                </a:highlight>
                <a:latin typeface="Consolas"/>
                <a:ea typeface="Consolas"/>
                <a:cs typeface="Consolas"/>
                <a:sym typeface="Consolas"/>
              </a:rPr>
              <a:t>E</a:t>
            </a: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a:t>
            </a:r>
            <a:r>
              <a:rPr lang="en" sz="900">
                <a:highlight>
                  <a:srgbClr val="FFFFFF"/>
                </a:highlight>
                <a:latin typeface="Consolas"/>
                <a:ea typeface="Consolas"/>
                <a:cs typeface="Consolas"/>
                <a:sym typeface="Consolas"/>
              </a:rPr>
              <a:t>) {</a:t>
            </a:r>
            <a:endParaRPr sz="900">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elementData</a:t>
            </a:r>
            <a:r>
              <a:rPr lang="en" sz="900">
                <a:highlight>
                  <a:srgbClr val="FFFFFF"/>
                </a:highlight>
                <a:latin typeface="Consolas"/>
                <a:ea typeface="Consolas"/>
                <a:cs typeface="Consolas"/>
                <a:sym typeface="Consolas"/>
              </a:rPr>
              <a:t>[</a:t>
            </a:r>
            <a:r>
              <a:rPr lang="en" sz="900">
                <a:solidFill>
                  <a:srgbClr val="001080"/>
                </a:solidFill>
                <a:highlight>
                  <a:srgbClr val="FFFFFF"/>
                </a:highlight>
                <a:latin typeface="Consolas"/>
                <a:ea typeface="Consolas"/>
                <a:cs typeface="Consolas"/>
                <a:sym typeface="Consolas"/>
              </a:rPr>
              <a:t>size</a:t>
            </a:r>
            <a:r>
              <a:rPr lang="en" sz="900">
                <a:highlight>
                  <a:srgbClr val="FFFFFF"/>
                </a:highlight>
                <a:latin typeface="Consolas"/>
                <a:ea typeface="Consolas"/>
                <a:cs typeface="Consolas"/>
                <a:sym typeface="Consolas"/>
              </a:rPr>
              <a:t>] = </a:t>
            </a:r>
            <a:r>
              <a:rPr lang="en" sz="900">
                <a:solidFill>
                  <a:srgbClr val="001080"/>
                </a:solidFill>
                <a:highlight>
                  <a:srgbClr val="FFFFFF"/>
                </a:highlight>
                <a:latin typeface="Consolas"/>
                <a:ea typeface="Consolas"/>
                <a:cs typeface="Consolas"/>
                <a:sym typeface="Consolas"/>
              </a:rPr>
              <a:t>e</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sz="900">
                <a:highlight>
                  <a:srgbClr val="FFFFFF"/>
                </a:highlight>
                <a:latin typeface="Consolas"/>
                <a:ea typeface="Consolas"/>
                <a:cs typeface="Consolas"/>
                <a:sym typeface="Consolas"/>
              </a:rPr>
              <a:t>    </a:t>
            </a:r>
            <a:r>
              <a:rPr lang="en" sz="900">
                <a:solidFill>
                  <a:srgbClr val="001080"/>
                </a:solidFill>
                <a:highlight>
                  <a:srgbClr val="FFFFFF"/>
                </a:highlight>
                <a:latin typeface="Consolas"/>
                <a:ea typeface="Consolas"/>
                <a:cs typeface="Consolas"/>
                <a:sym typeface="Consolas"/>
              </a:rPr>
              <a:t>size</a:t>
            </a: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rPr lang="en" sz="900">
                <a:highlight>
                  <a:srgbClr val="FFFFFF"/>
                </a:highlight>
                <a:latin typeface="Consolas"/>
                <a:ea typeface="Consolas"/>
                <a:cs typeface="Consolas"/>
                <a:sym typeface="Consolas"/>
              </a:rPr>
              <a:t>}</a:t>
            </a:r>
            <a:endParaRPr sz="900">
              <a:highlight>
                <a:srgbClr val="FFFFFF"/>
              </a:highlight>
              <a:latin typeface="Consolas"/>
              <a:ea typeface="Consolas"/>
              <a:cs typeface="Consolas"/>
              <a:sym typeface="Consolas"/>
            </a:endParaRPr>
          </a:p>
          <a:p>
            <a:pPr indent="0" lvl="0" marL="0" rtl="0" algn="l">
              <a:lnSpc>
                <a:spcPct val="130434"/>
              </a:lnSpc>
              <a:spcBef>
                <a:spcPts val="0"/>
              </a:spcBef>
              <a:spcAft>
                <a:spcPts val="0"/>
              </a:spcAft>
              <a:buNone/>
            </a:pPr>
            <a:r>
              <a:t/>
            </a:r>
            <a:endParaRPr sz="900">
              <a:solidFill>
                <a:srgbClr val="0000FF"/>
              </a:solidFill>
              <a:highlight>
                <a:srgbClr val="FFFFFF"/>
              </a:highlight>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1000"/>
                                        <p:tgtEl>
                                          <p:spTgt spid="941"/>
                                        </p:tgtEl>
                                      </p:cBhvr>
                                    </p:animEffect>
                                  </p:childTnLst>
                                </p:cTn>
                              </p:par>
                              <p:par>
                                <p:cTn fill="hold" nodeType="with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1000"/>
                                        <p:tgtEl>
                                          <p:spTgt spid="9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3"/>
                                        </p:tgtEl>
                                        <p:attrNameLst>
                                          <p:attrName>style.visibility</p:attrName>
                                        </p:attrNameLst>
                                      </p:cBhvr>
                                      <p:to>
                                        <p:strVal val="visible"/>
                                      </p:to>
                                    </p:set>
                                    <p:animEffect filter="fade" transition="in">
                                      <p:cBhvr>
                                        <p:cTn dur="1000"/>
                                        <p:tgtEl>
                                          <p:spTgt spid="943"/>
                                        </p:tgtEl>
                                      </p:cBhvr>
                                    </p:animEffect>
                                  </p:childTnLst>
                                </p:cTn>
                              </p:par>
                              <p:par>
                                <p:cTn fill="hold" nodeType="withEffect" presetClass="entr" presetID="10" presetSubtype="0">
                                  <p:stCondLst>
                                    <p:cond delay="0"/>
                                  </p:stCondLst>
                                  <p:childTnLst>
                                    <p:set>
                                      <p:cBhvr>
                                        <p:cTn dur="1" fill="hold">
                                          <p:stCondLst>
                                            <p:cond delay="0"/>
                                          </p:stCondLst>
                                        </p:cTn>
                                        <p:tgtEl>
                                          <p:spTgt spid="944"/>
                                        </p:tgtEl>
                                        <p:attrNameLst>
                                          <p:attrName>style.visibility</p:attrName>
                                        </p:attrNameLst>
                                      </p:cBhvr>
                                      <p:to>
                                        <p:strVal val="visible"/>
                                      </p:to>
                                    </p:set>
                                    <p:animEffect filter="fade" transition="in">
                                      <p:cBhvr>
                                        <p:cTn dur="1000"/>
                                        <p:tgtEl>
                                          <p:spTgt spid="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1000"/>
                                        <p:tgtEl>
                                          <p:spTgt spid="9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79"/>
          <p:cNvSpPr txBox="1"/>
          <p:nvPr>
            <p:ph type="title"/>
          </p:nvPr>
        </p:nvSpPr>
        <p:spPr>
          <a:xfrm>
            <a:off x="5264725" y="500925"/>
            <a:ext cx="3706500" cy="638100"/>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2"/>
              </a:buClr>
              <a:buSzPct val="117857"/>
              <a:buFont typeface="Calibri"/>
              <a:buNone/>
            </a:pPr>
            <a:r>
              <a:rPr lang="en"/>
              <a:t>Thread Safety/Critical Regions</a:t>
            </a:r>
            <a:endParaRPr/>
          </a:p>
        </p:txBody>
      </p:sp>
      <p:sp>
        <p:nvSpPr>
          <p:cNvPr id="952" name="Google Shape;952;p79"/>
          <p:cNvSpPr txBox="1"/>
          <p:nvPr>
            <p:ph idx="1" type="body"/>
          </p:nvPr>
        </p:nvSpPr>
        <p:spPr>
          <a:xfrm>
            <a:off x="301275" y="500925"/>
            <a:ext cx="4166400" cy="4432200"/>
          </a:xfrm>
          <a:prstGeom prst="rect">
            <a:avLst/>
          </a:prstGeom>
          <a:noFill/>
          <a:ln>
            <a:noFill/>
          </a:ln>
        </p:spPr>
        <p:txBody>
          <a:bodyPr anchorCtr="0" anchor="t" bIns="34275" lIns="68575" spcFirstLastPara="1" rIns="68575" wrap="square" tIns="34275">
            <a:normAutofit lnSpcReduction="10000"/>
          </a:bodyPr>
          <a:lstStyle/>
          <a:p>
            <a:pPr indent="-317500" lvl="0" marL="457200" rtl="0" algn="l">
              <a:lnSpc>
                <a:spcPct val="115000"/>
              </a:lnSpc>
              <a:spcBef>
                <a:spcPts val="0"/>
              </a:spcBef>
              <a:spcAft>
                <a:spcPts val="0"/>
              </a:spcAft>
              <a:buSzPts val="1400"/>
              <a:buChar char="●"/>
            </a:pPr>
            <a:r>
              <a:rPr lang="en" sz="1400"/>
              <a:t>Areas of code in which a </a:t>
            </a:r>
            <a:r>
              <a:rPr b="1" i="1" lang="en" sz="1400">
                <a:solidFill>
                  <a:srgbClr val="FF0000"/>
                </a:solidFill>
              </a:rPr>
              <a:t>shared resource</a:t>
            </a:r>
            <a:r>
              <a:rPr lang="en" sz="1400"/>
              <a:t> is used are known as a </a:t>
            </a:r>
            <a:r>
              <a:rPr b="1" i="1" lang="en" sz="1400">
                <a:solidFill>
                  <a:srgbClr val="FF0000"/>
                </a:solidFill>
              </a:rPr>
              <a:t>critical region</a:t>
            </a:r>
            <a:endParaRPr b="1" i="1" sz="1400">
              <a:solidFill>
                <a:srgbClr val="FF0000"/>
              </a:solidFill>
            </a:endParaRPr>
          </a:p>
          <a:p>
            <a:pPr indent="-317500" lvl="0" marL="457200" rtl="0" algn="l">
              <a:lnSpc>
                <a:spcPct val="115000"/>
              </a:lnSpc>
              <a:spcBef>
                <a:spcPts val="1000"/>
              </a:spcBef>
              <a:spcAft>
                <a:spcPts val="0"/>
              </a:spcAft>
              <a:buSzPts val="1400"/>
              <a:buChar char="●"/>
            </a:pPr>
            <a:r>
              <a:rPr lang="en" sz="1400"/>
              <a:t>Unless something is done to </a:t>
            </a:r>
            <a:r>
              <a:rPr b="1" i="1" lang="en" sz="1400">
                <a:solidFill>
                  <a:srgbClr val="FF0000"/>
                </a:solidFill>
              </a:rPr>
              <a:t>protect</a:t>
            </a:r>
            <a:r>
              <a:rPr lang="en" sz="1400"/>
              <a:t> the critical region it is </a:t>
            </a:r>
            <a:r>
              <a:rPr b="1" i="1" lang="en" sz="1400">
                <a:solidFill>
                  <a:srgbClr val="FF0000"/>
                </a:solidFill>
              </a:rPr>
              <a:t>unsafe</a:t>
            </a:r>
            <a:r>
              <a:rPr lang="en" sz="1400"/>
              <a:t> to run that code in a multi-threaded environment</a:t>
            </a:r>
            <a:endParaRPr sz="1400"/>
          </a:p>
          <a:p>
            <a:pPr indent="-317500" lvl="0" marL="457200" rtl="0" algn="l">
              <a:lnSpc>
                <a:spcPct val="115000"/>
              </a:lnSpc>
              <a:spcBef>
                <a:spcPts val="1000"/>
              </a:spcBef>
              <a:spcAft>
                <a:spcPts val="0"/>
              </a:spcAft>
              <a:buSzPts val="1400"/>
              <a:buChar char="●"/>
            </a:pPr>
            <a:r>
              <a:rPr lang="en" sz="1400"/>
              <a:t>More generally this is referred to as </a:t>
            </a:r>
            <a:r>
              <a:rPr b="1" i="1" lang="en" sz="1400">
                <a:solidFill>
                  <a:srgbClr val="FF0000"/>
                </a:solidFill>
              </a:rPr>
              <a:t>Thread Safety</a:t>
            </a:r>
            <a:r>
              <a:rPr lang="en" sz="1400"/>
              <a:t> or being </a:t>
            </a:r>
            <a:r>
              <a:rPr b="1" i="1" lang="en" sz="1400">
                <a:solidFill>
                  <a:srgbClr val="FF0000"/>
                </a:solidFill>
              </a:rPr>
              <a:t>Thread Safe</a:t>
            </a:r>
            <a:endParaRPr b="1" i="1" sz="1400">
              <a:solidFill>
                <a:srgbClr val="FF0000"/>
              </a:solidFill>
            </a:endParaRPr>
          </a:p>
          <a:p>
            <a:pPr indent="-317500" lvl="0" marL="457200" rtl="0" algn="l">
              <a:lnSpc>
                <a:spcPct val="115000"/>
              </a:lnSpc>
              <a:spcBef>
                <a:spcPts val="1000"/>
              </a:spcBef>
              <a:spcAft>
                <a:spcPts val="0"/>
              </a:spcAft>
              <a:buSzPts val="1400"/>
              <a:buChar char="●"/>
            </a:pPr>
            <a:r>
              <a:rPr lang="en" sz="1400"/>
              <a:t>Java does provide </a:t>
            </a:r>
            <a:r>
              <a:rPr b="1" i="1" lang="en" sz="1400">
                <a:solidFill>
                  <a:srgbClr val="FF0000"/>
                </a:solidFill>
              </a:rPr>
              <a:t>thread safe versions</a:t>
            </a:r>
            <a:r>
              <a:rPr lang="en" sz="1400"/>
              <a:t> for some of its most commonly used components, however</a:t>
            </a:r>
            <a:endParaRPr sz="1400"/>
          </a:p>
          <a:p>
            <a:pPr indent="-311150" lvl="1" marL="914400" rtl="0" algn="l">
              <a:lnSpc>
                <a:spcPct val="115000"/>
              </a:lnSpc>
              <a:spcBef>
                <a:spcPts val="1000"/>
              </a:spcBef>
              <a:spcAft>
                <a:spcPts val="0"/>
              </a:spcAft>
              <a:buSzPts val="1300"/>
              <a:buChar char="○"/>
            </a:pPr>
            <a:r>
              <a:rPr lang="en" sz="1300"/>
              <a:t>You will need to carefully check the documentation to see if the version you are using is thread safe or if there is a thread safe alternate version</a:t>
            </a:r>
            <a:endParaRPr sz="1300"/>
          </a:p>
          <a:p>
            <a:pPr indent="-311150" lvl="1" marL="914400" rtl="0" algn="l">
              <a:lnSpc>
                <a:spcPct val="115000"/>
              </a:lnSpc>
              <a:spcBef>
                <a:spcPts val="1000"/>
              </a:spcBef>
              <a:spcAft>
                <a:spcPts val="1000"/>
              </a:spcAft>
              <a:buSzPts val="1300"/>
              <a:buChar char="○"/>
            </a:pPr>
            <a:r>
              <a:rPr lang="en" sz="1300"/>
              <a:t>Many things, including what you write, </a:t>
            </a:r>
            <a:r>
              <a:rPr b="1" i="1" lang="en" sz="1300">
                <a:solidFill>
                  <a:srgbClr val="FF0000"/>
                </a:solidFill>
              </a:rPr>
              <a:t>will not have</a:t>
            </a:r>
            <a:r>
              <a:rPr lang="en" sz="1300"/>
              <a:t> a thread safe version</a:t>
            </a:r>
            <a:endParaRPr sz="1300"/>
          </a:p>
        </p:txBody>
      </p:sp>
      <p:sp>
        <p:nvSpPr>
          <p:cNvPr id="953" name="Google Shape;953;p79"/>
          <p:cNvSpPr txBox="1"/>
          <p:nvPr>
            <p:ph idx="3" type="body"/>
          </p:nvPr>
        </p:nvSpPr>
        <p:spPr>
          <a:xfrm>
            <a:off x="5192200" y="3809907"/>
            <a:ext cx="3706500" cy="551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2"/>
              </a:buClr>
              <a:buSzPts val="2300"/>
              <a:buNone/>
            </a:pPr>
            <a:r>
              <a:rPr b="1" i="1" lang="en">
                <a:solidFill>
                  <a:srgbClr val="FF0000"/>
                </a:solidFill>
              </a:rPr>
              <a:t>Critical regions</a:t>
            </a:r>
            <a:r>
              <a:rPr lang="en"/>
              <a:t> are locations in code that work with a </a:t>
            </a:r>
            <a:r>
              <a:rPr b="1" i="1" lang="en">
                <a:solidFill>
                  <a:srgbClr val="FF0000"/>
                </a:solidFill>
              </a:rPr>
              <a:t>shared mutable resource</a:t>
            </a:r>
            <a:r>
              <a:rPr lang="en"/>
              <a:t>. </a:t>
            </a:r>
            <a:endParaRPr/>
          </a:p>
        </p:txBody>
      </p:sp>
      <p:sp>
        <p:nvSpPr>
          <p:cNvPr id="954" name="Google Shape;954;p79"/>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grpSp>
        <p:nvGrpSpPr>
          <p:cNvPr id="955" name="Google Shape;955;p79"/>
          <p:cNvGrpSpPr/>
          <p:nvPr/>
        </p:nvGrpSpPr>
        <p:grpSpPr>
          <a:xfrm>
            <a:off x="5501475" y="1490297"/>
            <a:ext cx="3087987" cy="2162913"/>
            <a:chOff x="5922000" y="2222400"/>
            <a:chExt cx="2554800" cy="1731300"/>
          </a:xfrm>
        </p:grpSpPr>
        <p:sp>
          <p:nvSpPr>
            <p:cNvPr id="956" name="Google Shape;956;p79"/>
            <p:cNvSpPr/>
            <p:nvPr/>
          </p:nvSpPr>
          <p:spPr>
            <a:xfrm>
              <a:off x="5922000" y="2222400"/>
              <a:ext cx="2554800" cy="1731300"/>
            </a:xfrm>
            <a:prstGeom prst="roundRect">
              <a:avLst>
                <a:gd fmla="val 16667" name="adj"/>
              </a:avLst>
            </a:prstGeom>
            <a:solidFill>
              <a:srgbClr val="FFFFFF"/>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57" name="Google Shape;957;p79"/>
            <p:cNvPicPr preferRelativeResize="0"/>
            <p:nvPr/>
          </p:nvPicPr>
          <p:blipFill rotWithShape="1">
            <a:blip r:embed="rId3">
              <a:alphaModFix/>
            </a:blip>
            <a:srcRect b="22084" l="5404" r="5279" t="21217"/>
            <a:stretch/>
          </p:blipFill>
          <p:spPr>
            <a:xfrm>
              <a:off x="6012250" y="2329550"/>
              <a:ext cx="2363075" cy="1500200"/>
            </a:xfrm>
            <a:prstGeom prst="rect">
              <a:avLst/>
            </a:prstGeom>
            <a:noFill/>
            <a:ln>
              <a:noFill/>
            </a:ln>
          </p:spPr>
        </p:pic>
      </p:grpSp>
      <p:sp>
        <p:nvSpPr>
          <p:cNvPr id="958" name="Google Shape;958;p79"/>
          <p:cNvSpPr txBox="1"/>
          <p:nvPr>
            <p:ph idx="3" type="body"/>
          </p:nvPr>
        </p:nvSpPr>
        <p:spPr>
          <a:xfrm>
            <a:off x="5192200" y="4460232"/>
            <a:ext cx="3706500" cy="551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2"/>
              </a:buClr>
              <a:buSzPts val="2300"/>
              <a:buNone/>
            </a:pPr>
            <a:r>
              <a:rPr lang="en"/>
              <a:t>Care needs to be exercised when working in a critical region to make sure nothing bad happens.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3"/>
                                        </p:tgtEl>
                                        <p:attrNameLst>
                                          <p:attrName>style.visibility</p:attrName>
                                        </p:attrNameLst>
                                      </p:cBhvr>
                                      <p:to>
                                        <p:strVal val="visible"/>
                                      </p:to>
                                    </p:set>
                                    <p:animEffect filter="fade" transition="in">
                                      <p:cBhvr>
                                        <p:cTn dur="1000"/>
                                        <p:tgtEl>
                                          <p:spTgt spid="9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8"/>
                                        </p:tgtEl>
                                        <p:attrNameLst>
                                          <p:attrName>style.visibility</p:attrName>
                                        </p:attrNameLst>
                                      </p:cBhvr>
                                      <p:to>
                                        <p:strVal val="visible"/>
                                      </p:to>
                                    </p:set>
                                    <p:animEffect filter="fade" transition="in">
                                      <p:cBhvr>
                                        <p:cTn dur="1000"/>
                                        <p:tgtEl>
                                          <p:spTgt spid="95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p80"/>
          <p:cNvSpPr txBox="1"/>
          <p:nvPr>
            <p:ph idx="1" type="body"/>
          </p:nvPr>
        </p:nvSpPr>
        <p:spPr>
          <a:xfrm>
            <a:off x="65250" y="731625"/>
            <a:ext cx="8955900" cy="291000"/>
          </a:xfrm>
          <a:prstGeom prst="rect">
            <a:avLst/>
          </a:prstGeom>
          <a:noFill/>
          <a:ln>
            <a:noFill/>
          </a:ln>
        </p:spPr>
        <p:txBody>
          <a:bodyPr anchorCtr="0" anchor="t" bIns="34275" lIns="68575" spcFirstLastPara="1" rIns="68575" wrap="square" tIns="34275">
            <a:spAutoFit/>
          </a:bodyPr>
          <a:lstStyle/>
          <a:p>
            <a:pPr indent="0" lvl="0" marL="0" rtl="0" algn="l">
              <a:lnSpc>
                <a:spcPct val="90000"/>
              </a:lnSpc>
              <a:spcBef>
                <a:spcPts val="0"/>
              </a:spcBef>
              <a:spcAft>
                <a:spcPts val="1600"/>
              </a:spcAft>
              <a:buClr>
                <a:schemeClr val="dk1"/>
              </a:buClr>
              <a:buSzPts val="1800"/>
              <a:buNone/>
            </a:pPr>
            <a:r>
              <a:rPr lang="en"/>
              <a:t>Given the code examples below, identify the critical regions (draw a box).</a:t>
            </a:r>
            <a:endParaRPr/>
          </a:p>
        </p:txBody>
      </p:sp>
      <p:sp>
        <p:nvSpPr>
          <p:cNvPr id="965" name="Google Shape;965;p80"/>
          <p:cNvSpPr txBox="1"/>
          <p:nvPr>
            <p:ph type="title"/>
          </p:nvPr>
        </p:nvSpPr>
        <p:spPr>
          <a:xfrm>
            <a:off x="1436850" y="100"/>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t>Critical Regions</a:t>
            </a:r>
            <a:endParaRPr/>
          </a:p>
        </p:txBody>
      </p:sp>
      <p:sp>
        <p:nvSpPr>
          <p:cNvPr id="966" name="Google Shape;966;p80"/>
          <p:cNvSpPr/>
          <p:nvPr/>
        </p:nvSpPr>
        <p:spPr>
          <a:xfrm>
            <a:off x="273425" y="1207077"/>
            <a:ext cx="4106400" cy="3708900"/>
          </a:xfrm>
          <a:prstGeom prst="rect">
            <a:avLst/>
          </a:prstGeom>
          <a:noFill/>
          <a:ln cap="flat" cmpd="sng" w="19050">
            <a:solidFill>
              <a:schemeClr val="dk1"/>
            </a:solidFill>
            <a:prstDash val="solid"/>
            <a:miter lim="800000"/>
            <a:headEnd len="sm" w="sm" type="none"/>
            <a:tailEnd len="sm" w="sm" type="none"/>
          </a:ln>
        </p:spPr>
        <p:txBody>
          <a:bodyPr anchorCtr="0" anchor="t" bIns="91425" lIns="91425" spcFirstLastPara="1" rIns="68575" wrap="square" tIns="91425">
            <a:noAutofit/>
          </a:bodyPr>
          <a:lstStyle/>
          <a:p>
            <a:pPr indent="0" lvl="0" marL="0" marR="0" rtl="0" algn="l">
              <a:spcBef>
                <a:spcPts val="0"/>
              </a:spcBef>
              <a:spcAft>
                <a:spcPts val="0"/>
              </a:spcAft>
              <a:buNone/>
            </a:pPr>
            <a:r>
              <a:rPr lang="en" sz="1100">
                <a:solidFill>
                  <a:schemeClr val="dk1"/>
                </a:solidFill>
                <a:latin typeface="Consolas"/>
                <a:ea typeface="Consolas"/>
                <a:cs typeface="Consolas"/>
                <a:sym typeface="Consolas"/>
              </a:rPr>
              <a:t>1   </a:t>
            </a:r>
            <a:r>
              <a:rPr lang="en" sz="1100">
                <a:solidFill>
                  <a:schemeClr val="dk1"/>
                </a:solidFill>
                <a:latin typeface="Consolas"/>
                <a:ea typeface="Consolas"/>
                <a:cs typeface="Consolas"/>
                <a:sym typeface="Consolas"/>
              </a:rPr>
              <a:t>// from MyArrayList.java</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3</a:t>
            </a:r>
            <a:r>
              <a:rPr lang="en" sz="1100">
                <a:solidFill>
                  <a:schemeClr val="dk1"/>
                </a:solidFill>
                <a:latin typeface="Consolas"/>
                <a:ea typeface="Consolas"/>
                <a:cs typeface="Consolas"/>
                <a:sym typeface="Consolas"/>
              </a:rPr>
              <a:t>   </a:t>
            </a:r>
            <a:r>
              <a:rPr lang="en" sz="1100">
                <a:solidFill>
                  <a:schemeClr val="dk1"/>
                </a:solidFill>
                <a:latin typeface="Consolas"/>
                <a:ea typeface="Consolas"/>
                <a:cs typeface="Consolas"/>
                <a:sym typeface="Consolas"/>
              </a:rPr>
              <a:t>@Override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4   </a:t>
            </a:r>
            <a:r>
              <a:rPr lang="en" sz="1100">
                <a:solidFill>
                  <a:schemeClr val="dk1"/>
                </a:solidFill>
                <a:latin typeface="Consolas"/>
                <a:ea typeface="Consolas"/>
                <a:cs typeface="Consolas"/>
                <a:sym typeface="Consolas"/>
              </a:rPr>
              <a:t>public void add(E element)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5  </a:t>
            </a:r>
            <a:r>
              <a:rPr lang="en" sz="1100">
                <a:solidFill>
                  <a:schemeClr val="dk1"/>
                </a:solidFill>
                <a:latin typeface="Consolas"/>
                <a:ea typeface="Consolas"/>
                <a:cs typeface="Consolas"/>
                <a:sym typeface="Consolas"/>
              </a:rPr>
              <a:t>   if(size == elements.length)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6  </a:t>
            </a:r>
            <a:r>
              <a:rPr lang="en" sz="1100">
                <a:solidFill>
                  <a:schemeClr val="dk1"/>
                </a:solidFill>
                <a:latin typeface="Consolas"/>
                <a:ea typeface="Consolas"/>
                <a:cs typeface="Consolas"/>
                <a:sym typeface="Consolas"/>
              </a:rPr>
              <a:t>     elements = Arrays.copyOf(elements, size*2);</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7  </a:t>
            </a:r>
            <a:r>
              <a:rPr lang="en" sz="1100">
                <a:solidFill>
                  <a:schemeClr val="dk1"/>
                </a:solidFill>
                <a:latin typeface="Consolas"/>
                <a:ea typeface="Consolas"/>
                <a:cs typeface="Consolas"/>
                <a:sym typeface="Consolas"/>
              </a:rPr>
              <a:t>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8  </a:t>
            </a:r>
            <a:r>
              <a:rPr lang="en" sz="1100">
                <a:solidFill>
                  <a:schemeClr val="dk1"/>
                </a:solidFill>
                <a:latin typeface="Consolas"/>
                <a:ea typeface="Consolas"/>
                <a:cs typeface="Consolas"/>
                <a:sym typeface="Consolas"/>
              </a:rPr>
              <a:t>   elements[size] = element;</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9  </a:t>
            </a:r>
            <a:r>
              <a:rPr lang="en" sz="1100">
                <a:solidFill>
                  <a:schemeClr val="dk1"/>
                </a:solidFill>
                <a:latin typeface="Consolas"/>
                <a:ea typeface="Consolas"/>
                <a:cs typeface="Consolas"/>
                <a:sym typeface="Consolas"/>
              </a:rPr>
              <a:t>   size++;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10  </a:t>
            </a:r>
            <a:r>
              <a:rPr lang="en" sz="1100">
                <a:solidFill>
                  <a:schemeClr val="dk1"/>
                </a:solidFill>
                <a:latin typeface="Consolas"/>
                <a:ea typeface="Consolas"/>
                <a:cs typeface="Consolas"/>
                <a:sym typeface="Consolas"/>
              </a:rPr>
              <a:t>}</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11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12  </a:t>
            </a:r>
            <a:r>
              <a:rPr lang="en" sz="1100">
                <a:solidFill>
                  <a:schemeClr val="dk1"/>
                </a:solidFill>
                <a:latin typeface="Consolas"/>
                <a:ea typeface="Consolas"/>
                <a:cs typeface="Consolas"/>
                <a:sym typeface="Consolas"/>
              </a:rPr>
              <a:t>@Override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13  </a:t>
            </a:r>
            <a:r>
              <a:rPr lang="en" sz="1100">
                <a:solidFill>
                  <a:schemeClr val="dk1"/>
                </a:solidFill>
                <a:latin typeface="Consolas"/>
                <a:ea typeface="Consolas"/>
                <a:cs typeface="Consolas"/>
                <a:sym typeface="Consolas"/>
              </a:rPr>
              <a:t>public E get(int index)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14 </a:t>
            </a:r>
            <a:r>
              <a:rPr lang="en" sz="1100">
                <a:solidFill>
                  <a:schemeClr val="dk1"/>
                </a:solidFill>
                <a:latin typeface="Consolas"/>
                <a:ea typeface="Consolas"/>
                <a:cs typeface="Consolas"/>
                <a:sym typeface="Consolas"/>
              </a:rPr>
              <a:t>   return (E)elements[index];</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15  </a:t>
            </a:r>
            <a:r>
              <a:rPr lang="en" sz="1100">
                <a:solidFill>
                  <a:schemeClr val="dk1"/>
                </a:solidFill>
                <a:latin typeface="Consolas"/>
                <a:ea typeface="Consolas"/>
                <a:cs typeface="Consolas"/>
                <a:sym typeface="Consolas"/>
              </a:rPr>
              <a:t>}</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16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17  </a:t>
            </a:r>
            <a:r>
              <a:rPr lang="en" sz="1100">
                <a:solidFill>
                  <a:schemeClr val="dk1"/>
                </a:solidFill>
                <a:latin typeface="Consolas"/>
                <a:ea typeface="Consolas"/>
                <a:cs typeface="Consolas"/>
                <a:sym typeface="Consolas"/>
              </a:rPr>
              <a:t>@Override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18  </a:t>
            </a:r>
            <a:r>
              <a:rPr lang="en" sz="1100">
                <a:solidFill>
                  <a:schemeClr val="dk1"/>
                </a:solidFill>
                <a:latin typeface="Consolas"/>
                <a:ea typeface="Consolas"/>
                <a:cs typeface="Consolas"/>
                <a:sym typeface="Consolas"/>
              </a:rPr>
              <a:t>public int size()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19  </a:t>
            </a:r>
            <a:r>
              <a:rPr lang="en" sz="1100">
                <a:solidFill>
                  <a:schemeClr val="dk1"/>
                </a:solidFill>
                <a:latin typeface="Consolas"/>
                <a:ea typeface="Consolas"/>
                <a:cs typeface="Consolas"/>
                <a:sym typeface="Consolas"/>
              </a:rPr>
              <a:t>  return size;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20  </a:t>
            </a:r>
            <a:r>
              <a:rPr lang="en" sz="1100">
                <a:solidFill>
                  <a:schemeClr val="dk1"/>
                </a:solidFill>
                <a:latin typeface="Consolas"/>
                <a:ea typeface="Consolas"/>
                <a:cs typeface="Consolas"/>
                <a:sym typeface="Consolas"/>
              </a:rPr>
              <a:t>}</a:t>
            </a:r>
            <a:endParaRPr sz="1100"/>
          </a:p>
        </p:txBody>
      </p:sp>
      <p:sp>
        <p:nvSpPr>
          <p:cNvPr id="967" name="Google Shape;967;p80"/>
          <p:cNvSpPr/>
          <p:nvPr/>
        </p:nvSpPr>
        <p:spPr>
          <a:xfrm>
            <a:off x="4624778" y="1193150"/>
            <a:ext cx="4042800" cy="3708900"/>
          </a:xfrm>
          <a:prstGeom prst="rect">
            <a:avLst/>
          </a:prstGeom>
          <a:noFill/>
          <a:ln cap="flat" cmpd="sng" w="19050">
            <a:solidFill>
              <a:schemeClr val="dk1"/>
            </a:solidFill>
            <a:prstDash val="solid"/>
            <a:miter lim="800000"/>
            <a:headEnd len="sm" w="sm" type="none"/>
            <a:tailEnd len="sm" w="sm" type="none"/>
          </a:ln>
        </p:spPr>
        <p:txBody>
          <a:bodyPr anchorCtr="0" anchor="t" bIns="91425" lIns="91425" spcFirstLastPara="1" rIns="68575" wrap="square" tIns="91425">
            <a:noAutofit/>
          </a:bodyPr>
          <a:lstStyle/>
          <a:p>
            <a:pPr indent="0" lvl="0" marL="0" marR="0" rtl="0" algn="l">
              <a:spcBef>
                <a:spcPts val="0"/>
              </a:spcBef>
              <a:spcAft>
                <a:spcPts val="0"/>
              </a:spcAft>
              <a:buNone/>
            </a:pPr>
            <a:r>
              <a:rPr lang="en" sz="1100">
                <a:solidFill>
                  <a:schemeClr val="dk1"/>
                </a:solidFill>
                <a:latin typeface="Consolas"/>
                <a:ea typeface="Consolas"/>
                <a:cs typeface="Consolas"/>
                <a:sym typeface="Consolas"/>
              </a:rPr>
              <a:t>1   </a:t>
            </a:r>
            <a:r>
              <a:rPr lang="en" sz="1100">
                <a:solidFill>
                  <a:schemeClr val="dk1"/>
                </a:solidFill>
                <a:latin typeface="Consolas"/>
                <a:ea typeface="Consolas"/>
                <a:cs typeface="Consolas"/>
                <a:sym typeface="Consolas"/>
              </a:rPr>
              <a:t>public class Racer implements Runnable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   </a:t>
            </a:r>
            <a:r>
              <a:rPr lang="en" sz="1100">
                <a:solidFill>
                  <a:schemeClr val="dk1"/>
                </a:solidFill>
                <a:latin typeface="Consolas"/>
                <a:ea typeface="Consolas"/>
                <a:cs typeface="Consolas"/>
                <a:sym typeface="Consolas"/>
              </a:rPr>
              <a:t>  private final List&lt;Integer&gt; numbers;</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3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4   </a:t>
            </a:r>
            <a:r>
              <a:rPr lang="en" sz="1100">
                <a:solidFill>
                  <a:schemeClr val="dk1"/>
                </a:solidFill>
                <a:latin typeface="Consolas"/>
                <a:ea typeface="Consolas"/>
                <a:cs typeface="Consolas"/>
                <a:sym typeface="Consolas"/>
              </a:rPr>
              <a:t>  public Racer(List&lt;Integer&gt; numbers)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5   </a:t>
            </a:r>
            <a:r>
              <a:rPr lang="en" sz="1100">
                <a:solidFill>
                  <a:schemeClr val="dk1"/>
                </a:solidFill>
                <a:latin typeface="Consolas"/>
                <a:ea typeface="Consolas"/>
                <a:cs typeface="Consolas"/>
                <a:sym typeface="Consolas"/>
              </a:rPr>
              <a:t>    this.numbers = numbers;</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6   </a:t>
            </a:r>
            <a:r>
              <a:rPr lang="en" sz="1100">
                <a:solidFill>
                  <a:schemeClr val="dk1"/>
                </a:solidFill>
                <a:latin typeface="Consolas"/>
                <a:ea typeface="Consolas"/>
                <a:cs typeface="Consolas"/>
                <a:sym typeface="Consolas"/>
              </a:rPr>
              <a:t>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7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8   </a:t>
            </a:r>
            <a:r>
              <a:rPr lang="en" sz="1100">
                <a:solidFill>
                  <a:schemeClr val="dk1"/>
                </a:solidFill>
                <a:latin typeface="Consolas"/>
                <a:ea typeface="Consolas"/>
                <a:cs typeface="Consolas"/>
                <a:sym typeface="Consolas"/>
              </a:rPr>
              <a:t>  public void run()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9   </a:t>
            </a:r>
            <a:r>
              <a:rPr lang="en" sz="1100">
                <a:solidFill>
                  <a:schemeClr val="dk1"/>
                </a:solidFill>
                <a:latin typeface="Consolas"/>
                <a:ea typeface="Consolas"/>
                <a:cs typeface="Consolas"/>
                <a:sym typeface="Consolas"/>
              </a:rPr>
              <a:t>    for(int i=0; i&lt;1000; i++)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10  </a:t>
            </a:r>
            <a:r>
              <a:rPr lang="en" sz="1100">
                <a:solidFill>
                  <a:schemeClr val="dk1"/>
                </a:solidFill>
                <a:latin typeface="Consolas"/>
                <a:ea typeface="Consolas"/>
                <a:cs typeface="Consolas"/>
                <a:sym typeface="Consolas"/>
              </a:rPr>
              <a:t>       numbers.add(i);</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11  </a:t>
            </a:r>
            <a:r>
              <a:rPr lang="en" sz="1100">
                <a:solidFill>
                  <a:schemeClr val="dk1"/>
                </a:solidFill>
                <a:latin typeface="Consolas"/>
                <a:ea typeface="Consolas"/>
                <a:cs typeface="Consolas"/>
                <a:sym typeface="Consolas"/>
              </a:rPr>
              <a:t>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12  </a:t>
            </a:r>
            <a:r>
              <a:rPr lang="en" sz="1100">
                <a:solidFill>
                  <a:schemeClr val="dk1"/>
                </a:solidFill>
                <a:latin typeface="Consolas"/>
                <a:ea typeface="Consolas"/>
                <a:cs typeface="Consolas"/>
                <a:sym typeface="Consolas"/>
              </a:rPr>
              <a:t>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13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14  </a:t>
            </a:r>
            <a:r>
              <a:rPr lang="en" sz="1100">
                <a:solidFill>
                  <a:schemeClr val="dk1"/>
                </a:solidFill>
                <a:latin typeface="Consolas"/>
                <a:ea typeface="Consolas"/>
                <a:cs typeface="Consolas"/>
                <a:sym typeface="Consolas"/>
              </a:rPr>
              <a:t>  public static void main(String[] args)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15  </a:t>
            </a:r>
            <a:r>
              <a:rPr lang="en" sz="1100">
                <a:solidFill>
                  <a:schemeClr val="dk1"/>
                </a:solidFill>
                <a:latin typeface="Consolas"/>
                <a:ea typeface="Consolas"/>
                <a:cs typeface="Consolas"/>
                <a:sym typeface="Consolas"/>
              </a:rPr>
              <a:t>    List&lt;Integer&gt; numbers = new ArrayList&lt;&gt;();</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16  </a:t>
            </a:r>
            <a:r>
              <a:rPr lang="en" sz="1100">
                <a:solidFill>
                  <a:schemeClr val="dk1"/>
                </a:solidFill>
                <a:latin typeface="Consolas"/>
                <a:ea typeface="Consolas"/>
                <a:cs typeface="Consolas"/>
                <a:sym typeface="Consolas"/>
              </a:rPr>
              <a:t>    for(int n=0; n&lt;10; n++)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17  </a:t>
            </a:r>
            <a:r>
              <a:rPr lang="en" sz="1100">
                <a:solidFill>
                  <a:schemeClr val="dk1"/>
                </a:solidFill>
                <a:latin typeface="Consolas"/>
                <a:ea typeface="Consolas"/>
                <a:cs typeface="Consolas"/>
                <a:sym typeface="Consolas"/>
              </a:rPr>
              <a:t>       Racer racer = new Racer(numbers);</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18  </a:t>
            </a:r>
            <a:r>
              <a:rPr lang="en" sz="1100">
                <a:solidFill>
                  <a:schemeClr val="dk1"/>
                </a:solidFill>
                <a:latin typeface="Consolas"/>
                <a:ea typeface="Consolas"/>
                <a:cs typeface="Consolas"/>
                <a:sym typeface="Consolas"/>
              </a:rPr>
              <a:t>       Thread thread = new Thread(racer);</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19  </a:t>
            </a:r>
            <a:r>
              <a:rPr lang="en" sz="1100">
                <a:solidFill>
                  <a:schemeClr val="dk1"/>
                </a:solidFill>
                <a:latin typeface="Consolas"/>
                <a:ea typeface="Consolas"/>
                <a:cs typeface="Consolas"/>
                <a:sym typeface="Consolas"/>
              </a:rPr>
              <a:t>       thread.start();</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20  </a:t>
            </a:r>
            <a:r>
              <a:rPr lang="en" sz="1100">
                <a:solidFill>
                  <a:schemeClr val="dk1"/>
                </a:solidFill>
                <a:latin typeface="Consolas"/>
                <a:ea typeface="Consolas"/>
                <a:cs typeface="Consolas"/>
                <a:sym typeface="Consolas"/>
              </a:rPr>
              <a:t>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21  </a:t>
            </a:r>
            <a:r>
              <a:rPr lang="en" sz="1100">
                <a:solidFill>
                  <a:schemeClr val="dk1"/>
                </a:solidFill>
                <a:latin typeface="Consolas"/>
                <a:ea typeface="Consolas"/>
                <a:cs typeface="Consolas"/>
                <a:sym typeface="Consolas"/>
              </a:rPr>
              <a:t> }}</a:t>
            </a:r>
            <a:endParaRPr sz="1100"/>
          </a:p>
        </p:txBody>
      </p:sp>
      <p:sp>
        <p:nvSpPr>
          <p:cNvPr id="968" name="Google Shape;968;p8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69" name="Google Shape;969;p8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8.17</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81"/>
          <p:cNvSpPr txBox="1"/>
          <p:nvPr>
            <p:ph idx="1" type="body"/>
          </p:nvPr>
        </p:nvSpPr>
        <p:spPr>
          <a:xfrm>
            <a:off x="65250" y="731625"/>
            <a:ext cx="8955900" cy="291000"/>
          </a:xfrm>
          <a:prstGeom prst="rect">
            <a:avLst/>
          </a:prstGeom>
          <a:noFill/>
          <a:ln>
            <a:noFill/>
          </a:ln>
        </p:spPr>
        <p:txBody>
          <a:bodyPr anchorCtr="0" anchor="t" bIns="34275" lIns="68575" spcFirstLastPara="1" rIns="68575" wrap="square" tIns="34275">
            <a:spAutoFit/>
          </a:bodyPr>
          <a:lstStyle/>
          <a:p>
            <a:pPr indent="0" lvl="0" marL="0" rtl="0" algn="l">
              <a:lnSpc>
                <a:spcPct val="90000"/>
              </a:lnSpc>
              <a:spcBef>
                <a:spcPts val="0"/>
              </a:spcBef>
              <a:spcAft>
                <a:spcPts val="1600"/>
              </a:spcAft>
              <a:buClr>
                <a:schemeClr val="dk1"/>
              </a:buClr>
              <a:buSzPts val="1800"/>
              <a:buNone/>
            </a:pPr>
            <a:r>
              <a:rPr lang="en"/>
              <a:t>Given the code examples below, identify the critical regions (draw a box).</a:t>
            </a:r>
            <a:endParaRPr/>
          </a:p>
        </p:txBody>
      </p:sp>
      <p:sp>
        <p:nvSpPr>
          <p:cNvPr id="976" name="Google Shape;976;p81"/>
          <p:cNvSpPr txBox="1"/>
          <p:nvPr>
            <p:ph type="title"/>
          </p:nvPr>
        </p:nvSpPr>
        <p:spPr>
          <a:xfrm>
            <a:off x="1436850" y="100"/>
            <a:ext cx="7642500" cy="596700"/>
          </a:xfrm>
          <a:prstGeom prst="rect">
            <a:avLst/>
          </a:prstGeom>
          <a:noFill/>
          <a:ln>
            <a:noFill/>
          </a:ln>
        </p:spPr>
        <p:txBody>
          <a:bodyPr anchorCtr="0" anchor="ctr" bIns="34275" lIns="68575" spcFirstLastPara="1" rIns="68575" wrap="square" tIns="34275">
            <a:normAutofit/>
          </a:bodyPr>
          <a:lstStyle/>
          <a:p>
            <a:pPr indent="0" lvl="0" marL="0" rtl="0" algn="l">
              <a:lnSpc>
                <a:spcPct val="100000"/>
              </a:lnSpc>
              <a:spcBef>
                <a:spcPts val="0"/>
              </a:spcBef>
              <a:spcAft>
                <a:spcPts val="0"/>
              </a:spcAft>
              <a:buClr>
                <a:schemeClr val="dk2"/>
              </a:buClr>
              <a:buSzPts val="3300"/>
              <a:buFont typeface="Calibri"/>
              <a:buNone/>
            </a:pPr>
            <a:r>
              <a:rPr lang="en"/>
              <a:t>Critical Regions</a:t>
            </a:r>
            <a:endParaRPr/>
          </a:p>
        </p:txBody>
      </p:sp>
      <p:sp>
        <p:nvSpPr>
          <p:cNvPr id="977" name="Google Shape;977;p81"/>
          <p:cNvSpPr/>
          <p:nvPr/>
        </p:nvSpPr>
        <p:spPr>
          <a:xfrm>
            <a:off x="273425" y="1207077"/>
            <a:ext cx="4106400" cy="3708900"/>
          </a:xfrm>
          <a:prstGeom prst="rect">
            <a:avLst/>
          </a:prstGeom>
          <a:noFill/>
          <a:ln cap="flat" cmpd="sng" w="19050">
            <a:solidFill>
              <a:schemeClr val="dk1"/>
            </a:solidFill>
            <a:prstDash val="solid"/>
            <a:miter lim="800000"/>
            <a:headEnd len="sm" w="sm" type="none"/>
            <a:tailEnd len="sm" w="sm" type="none"/>
          </a:ln>
        </p:spPr>
        <p:txBody>
          <a:bodyPr anchorCtr="0" anchor="t" bIns="91425" lIns="91425" spcFirstLastPara="1" rIns="68575" wrap="square" tIns="91425">
            <a:noAutofit/>
          </a:bodyPr>
          <a:lstStyle/>
          <a:p>
            <a:pPr indent="0" lvl="0" marL="0" marR="0" rtl="0" algn="l">
              <a:spcBef>
                <a:spcPts val="0"/>
              </a:spcBef>
              <a:spcAft>
                <a:spcPts val="0"/>
              </a:spcAft>
              <a:buNone/>
            </a:pPr>
            <a:r>
              <a:rPr lang="en" sz="1100">
                <a:solidFill>
                  <a:schemeClr val="dk1"/>
                </a:solidFill>
                <a:latin typeface="Consolas"/>
                <a:ea typeface="Consolas"/>
                <a:cs typeface="Consolas"/>
                <a:sym typeface="Consolas"/>
              </a:rPr>
              <a:t>1   // from MyArrayList.java</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3   @Override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4   public void add(E element)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5     if(size == elements.length)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6       elements = Arrays.copyOf(elements, size*2);</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7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8     elements[size] = element;</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9     size++;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10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11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12  @Override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13  public E get(int index)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14    return (E)elements[index];</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15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16  </a:t>
            </a:r>
            <a:br>
              <a:rPr lang="en" sz="11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17  @Override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18  public int size()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19    return size;</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20  }</a:t>
            </a:r>
            <a:endParaRPr sz="1100"/>
          </a:p>
        </p:txBody>
      </p:sp>
      <p:sp>
        <p:nvSpPr>
          <p:cNvPr id="978" name="Google Shape;978;p81"/>
          <p:cNvSpPr/>
          <p:nvPr/>
        </p:nvSpPr>
        <p:spPr>
          <a:xfrm>
            <a:off x="4624778" y="1193150"/>
            <a:ext cx="4042800" cy="3708900"/>
          </a:xfrm>
          <a:prstGeom prst="rect">
            <a:avLst/>
          </a:prstGeom>
          <a:noFill/>
          <a:ln cap="flat" cmpd="sng" w="19050">
            <a:solidFill>
              <a:schemeClr val="dk1"/>
            </a:solidFill>
            <a:prstDash val="solid"/>
            <a:miter lim="800000"/>
            <a:headEnd len="sm" w="sm" type="none"/>
            <a:tailEnd len="sm" w="sm" type="none"/>
          </a:ln>
        </p:spPr>
        <p:txBody>
          <a:bodyPr anchorCtr="0" anchor="t" bIns="91425" lIns="91425" spcFirstLastPara="1" rIns="68575" wrap="square" tIns="91425">
            <a:noAutofit/>
          </a:bodyPr>
          <a:lstStyle/>
          <a:p>
            <a:pPr indent="0" lvl="0" marL="0" marR="0" rtl="0" algn="l">
              <a:spcBef>
                <a:spcPts val="0"/>
              </a:spcBef>
              <a:spcAft>
                <a:spcPts val="0"/>
              </a:spcAft>
              <a:buNone/>
            </a:pPr>
            <a:r>
              <a:rPr lang="en" sz="1100">
                <a:solidFill>
                  <a:schemeClr val="dk1"/>
                </a:solidFill>
                <a:latin typeface="Consolas"/>
                <a:ea typeface="Consolas"/>
                <a:cs typeface="Consolas"/>
                <a:sym typeface="Consolas"/>
              </a:rPr>
              <a:t>1   public class Racer implements Runnable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     private final List&lt;Integer&gt; numbers;</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3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4     public Racer(List&lt;Integer&gt; numbers)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5       this.numbers = numbers;</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6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7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8     public void run()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9       for(int i=0; i&lt;1000; i++)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10         numbers.add(i);</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11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12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13  </a:t>
            </a:r>
            <a:br>
              <a:rPr lang="en" sz="800">
                <a:solidFill>
                  <a:schemeClr val="dk1"/>
                </a:solidFill>
                <a:latin typeface="Consolas"/>
                <a:ea typeface="Consolas"/>
                <a:cs typeface="Consolas"/>
                <a:sym typeface="Consolas"/>
              </a:rPr>
            </a:br>
            <a:r>
              <a:rPr lang="en" sz="1100">
                <a:solidFill>
                  <a:schemeClr val="dk1"/>
                </a:solidFill>
                <a:latin typeface="Consolas"/>
                <a:ea typeface="Consolas"/>
                <a:cs typeface="Consolas"/>
                <a:sym typeface="Consolas"/>
              </a:rPr>
              <a:t>14    public static void main(String[] args)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15      List&lt;Integer&gt; numbers = new ArrayList&lt;&gt;();</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16      for(int n=0; n&lt;10; n++)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17         Racer racer = new Racer(numbers);</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18         Thread thread = new Thread(racer);</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19         thread.start();</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20      }</a:t>
            </a:r>
            <a:endParaRPr sz="1100"/>
          </a:p>
          <a:p>
            <a:pPr indent="0" lvl="0" marL="0" marR="0" rtl="0" algn="l">
              <a:spcBef>
                <a:spcPts val="0"/>
              </a:spcBef>
              <a:spcAft>
                <a:spcPts val="0"/>
              </a:spcAft>
              <a:buNone/>
            </a:pPr>
            <a:r>
              <a:rPr lang="en" sz="1100">
                <a:solidFill>
                  <a:schemeClr val="dk1"/>
                </a:solidFill>
                <a:latin typeface="Consolas"/>
                <a:ea typeface="Consolas"/>
                <a:cs typeface="Consolas"/>
                <a:sym typeface="Consolas"/>
              </a:rPr>
              <a:t>21   }}</a:t>
            </a:r>
            <a:endParaRPr sz="1100"/>
          </a:p>
        </p:txBody>
      </p:sp>
      <p:sp>
        <p:nvSpPr>
          <p:cNvPr id="979" name="Google Shape;979;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80" name="Google Shape;980;p8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solidFill>
                  <a:schemeClr val="lt1"/>
                </a:solidFill>
              </a:rPr>
              <a:t>8.17</a:t>
            </a:r>
            <a:endParaRPr/>
          </a:p>
        </p:txBody>
      </p:sp>
      <p:sp>
        <p:nvSpPr>
          <p:cNvPr id="981" name="Google Shape;981;p81"/>
          <p:cNvSpPr/>
          <p:nvPr/>
        </p:nvSpPr>
        <p:spPr>
          <a:xfrm>
            <a:off x="332825" y="1965575"/>
            <a:ext cx="3936900" cy="852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81"/>
          <p:cNvSpPr/>
          <p:nvPr/>
        </p:nvSpPr>
        <p:spPr>
          <a:xfrm>
            <a:off x="332825" y="3477386"/>
            <a:ext cx="3886500" cy="208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81"/>
          <p:cNvSpPr/>
          <p:nvPr/>
        </p:nvSpPr>
        <p:spPr>
          <a:xfrm>
            <a:off x="4666975" y="2775300"/>
            <a:ext cx="3685800" cy="208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81"/>
          <p:cNvSpPr/>
          <p:nvPr/>
        </p:nvSpPr>
        <p:spPr>
          <a:xfrm>
            <a:off x="332825" y="4314874"/>
            <a:ext cx="3886500" cy="208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graphicFrame>
        <p:nvGraphicFramePr>
          <p:cNvPr id="989" name="Google Shape;989;p82"/>
          <p:cNvGraphicFramePr/>
          <p:nvPr/>
        </p:nvGraphicFramePr>
        <p:xfrm>
          <a:off x="-10" y="-9"/>
          <a:ext cx="3000000" cy="3000000"/>
        </p:xfrm>
        <a:graphic>
          <a:graphicData uri="http://schemas.openxmlformats.org/drawingml/2006/table">
            <a:tbl>
              <a:tblPr>
                <a:noFill/>
                <a:tableStyleId>{08F4506A-C2C8-4940-B2F5-69D01CD15942}</a:tableStyleId>
              </a:tblPr>
              <a:tblGrid>
                <a:gridCol w="388675"/>
                <a:gridCol w="4377650"/>
                <a:gridCol w="4377650"/>
              </a:tblGrid>
              <a:tr h="882350">
                <a:tc rowSpan="5">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rowSpan="3">
                  <a:txBody>
                    <a:bodyPr/>
                    <a:lstStyle/>
                    <a:p>
                      <a:pPr indent="0" lvl="0" marL="0" rtl="0" algn="l">
                        <a:spcBef>
                          <a:spcPts val="0"/>
                        </a:spcBef>
                        <a:spcAft>
                          <a:spcPts val="0"/>
                        </a:spcAft>
                        <a:buNone/>
                      </a:pPr>
                      <a:r>
                        <a:rPr lang="en" sz="1000" u="sng">
                          <a:solidFill>
                            <a:schemeClr val="hlink"/>
                          </a:solidFill>
                          <a:hlinkClick r:id="rId3"/>
                        </a:rPr>
                        <a:t>Thread</a:t>
                      </a:r>
                      <a:endParaRPr sz="1000"/>
                    </a:p>
                    <a:p>
                      <a:pPr indent="0" lvl="0" marL="0" rtl="0" algn="l">
                        <a:spcBef>
                          <a:spcPts val="0"/>
                        </a:spcBef>
                        <a:spcAft>
                          <a:spcPts val="0"/>
                        </a:spcAft>
                        <a:buNone/>
                      </a:pPr>
                      <a:r>
                        <a:rPr lang="en" sz="1000">
                          <a:latin typeface="Courier New"/>
                          <a:ea typeface="Courier New"/>
                          <a:cs typeface="Courier New"/>
                          <a:sym typeface="Courier New"/>
                        </a:rPr>
                        <a:t>public class ThreadExample extends Thread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private final int id;</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ThreadExample(int id)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this.id = id;</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void run()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System.out.println(id);</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static void main(String[] args)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Thread example = new ThreadExample(1);</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example.start();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rowSpan="4">
                  <a:txBody>
                    <a:bodyPr/>
                    <a:lstStyle/>
                    <a:p>
                      <a:pPr indent="0" lvl="0" marL="0" rtl="0" algn="l">
                        <a:spcBef>
                          <a:spcPts val="0"/>
                        </a:spcBef>
                        <a:spcAft>
                          <a:spcPts val="0"/>
                        </a:spcAft>
                        <a:buNone/>
                      </a:pPr>
                      <a:r>
                        <a:rPr lang="en" sz="1000" u="sng">
                          <a:solidFill>
                            <a:schemeClr val="hlink"/>
                          </a:solidFill>
                          <a:hlinkClick r:id="rId4"/>
                        </a:rPr>
                        <a:t>Runnable</a:t>
                      </a:r>
                      <a:endParaRPr sz="1000"/>
                    </a:p>
                    <a:p>
                      <a:pPr indent="0" lvl="0" marL="0" rtl="0" algn="l">
                        <a:spcBef>
                          <a:spcPts val="0"/>
                        </a:spcBef>
                        <a:spcAft>
                          <a:spcPts val="0"/>
                        </a:spcAft>
                        <a:buNone/>
                      </a:pPr>
                      <a:r>
                        <a:rPr lang="en" sz="1000">
                          <a:latin typeface="Courier New"/>
                          <a:ea typeface="Courier New"/>
                          <a:cs typeface="Courier New"/>
                          <a:sym typeface="Courier New"/>
                        </a:rPr>
                        <a:t>public class RunnableExample implements Runnable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private final int id;</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RunnableExample(int id)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this.id = id;</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void run()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System.out.println (id);</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static void main(String[] args)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Runnable example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new RunnableExample(1);</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Thread exampleThread = new Thread(example);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exampleThread.start();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41575">
                <a:tc vMerge="1"/>
                <a:tc vMerge="1"/>
                <a:tc vMerge="1"/>
              </a:tr>
              <a:tr h="1673300">
                <a:tc vMerge="1"/>
                <a:tc vMerge="1"/>
                <a:tc vMerge="1"/>
              </a:tr>
              <a:tr h="976100">
                <a:tc vMerge="1"/>
                <a:tc>
                  <a:txBody>
                    <a:bodyPr/>
                    <a:lstStyle/>
                    <a:p>
                      <a:pPr indent="0" lvl="0" marL="0" rtl="0" algn="l">
                        <a:spcBef>
                          <a:spcPts val="0"/>
                        </a:spcBef>
                        <a:spcAft>
                          <a:spcPts val="0"/>
                        </a:spcAft>
                        <a:buNone/>
                      </a:pPr>
                      <a:r>
                        <a:rPr lang="en" sz="1000" u="sng">
                          <a:solidFill>
                            <a:schemeClr val="hlink"/>
                          </a:solidFill>
                          <a:hlinkClick r:id="rId5"/>
                        </a:rPr>
                        <a:t>Thread States</a:t>
                      </a:r>
                      <a:r>
                        <a:rPr lang="en" sz="1000"/>
                        <a:t> (isAlive)</a:t>
                      </a:r>
                      <a:br>
                        <a:rPr lang="en" sz="1000"/>
                      </a:br>
                      <a:r>
                        <a:rPr lang="en" sz="1000">
                          <a:latin typeface="Courier New"/>
                          <a:ea typeface="Courier New"/>
                          <a:cs typeface="Courier New"/>
                          <a:sym typeface="Courier New"/>
                        </a:rPr>
                        <a:t>Thread example = new ThreadExample(1);</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example.start();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while (example.isAlive())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System.out.println(“Done!”};</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vMerge="1"/>
              </a:tr>
              <a:tr h="970175">
                <a:tc vMerge="1"/>
                <a:tc>
                  <a:txBody>
                    <a:bodyPr/>
                    <a:lstStyle/>
                    <a:p>
                      <a:pPr indent="0" lvl="0" marL="0" rtl="0" algn="l">
                        <a:spcBef>
                          <a:spcPts val="0"/>
                        </a:spcBef>
                        <a:spcAft>
                          <a:spcPts val="0"/>
                        </a:spcAft>
                        <a:buNone/>
                      </a:pPr>
                      <a:r>
                        <a:rPr lang="en" sz="1000" u="sng">
                          <a:solidFill>
                            <a:schemeClr val="hlink"/>
                          </a:solidFill>
                          <a:hlinkClick r:id="rId6"/>
                        </a:rPr>
                        <a:t>Sleep</a:t>
                      </a:r>
                      <a:endParaRPr sz="1000"/>
                    </a:p>
                    <a:p>
                      <a:pPr indent="0" lvl="0" marL="0" rtl="0" algn="l">
                        <a:spcBef>
                          <a:spcPts val="0"/>
                        </a:spcBef>
                        <a:spcAft>
                          <a:spcPts val="0"/>
                        </a:spcAft>
                        <a:buNone/>
                      </a:pPr>
                      <a:r>
                        <a:rPr lang="en" sz="1000">
                          <a:latin typeface="Courier New"/>
                          <a:ea typeface="Courier New"/>
                          <a:cs typeface="Courier New"/>
                          <a:sym typeface="Courier New"/>
                        </a:rPr>
                        <a:t>Thread.sleep(ms)</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990" name="Google Shape;990;p82"/>
          <p:cNvSpPr txBox="1"/>
          <p:nvPr/>
        </p:nvSpPr>
        <p:spPr>
          <a:xfrm rot="-5400000">
            <a:off x="-2378350" y="2377688"/>
            <a:ext cx="5151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10: Concurrent Programming </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83"/>
          <p:cNvSpPr txBox="1"/>
          <p:nvPr>
            <p:ph type="title"/>
          </p:nvPr>
        </p:nvSpPr>
        <p:spPr>
          <a:xfrm>
            <a:off x="311725" y="196125"/>
            <a:ext cx="8520600" cy="623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900"/>
              <a:t>Summary &amp; Reflection</a:t>
            </a:r>
            <a:endParaRPr sz="3900"/>
          </a:p>
        </p:txBody>
      </p:sp>
      <p:sp>
        <p:nvSpPr>
          <p:cNvPr id="996" name="Google Shape;996;p83"/>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is one new thing that you learned today?</a:t>
            </a:r>
            <a:endParaRPr sz="1200"/>
          </a:p>
        </p:txBody>
      </p:sp>
      <p:pic>
        <p:nvPicPr>
          <p:cNvPr id="997" name="Google Shape;997;p83"/>
          <p:cNvPicPr preferRelativeResize="0"/>
          <p:nvPr/>
        </p:nvPicPr>
        <p:blipFill>
          <a:blip r:embed="rId3">
            <a:alphaModFix/>
          </a:blip>
          <a:stretch>
            <a:fillRect/>
          </a:stretch>
        </p:blipFill>
        <p:spPr>
          <a:xfrm>
            <a:off x="5651400" y="3077250"/>
            <a:ext cx="1504525" cy="1504525"/>
          </a:xfrm>
          <a:prstGeom prst="rect">
            <a:avLst/>
          </a:prstGeom>
          <a:noFill/>
          <a:ln>
            <a:noFill/>
          </a:ln>
        </p:spPr>
      </p:pic>
      <p:sp>
        <p:nvSpPr>
          <p:cNvPr id="998" name="Google Shape;998;p83"/>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What is one thing that you wish you knew more about as we move forward?</a:t>
            </a:r>
            <a:endParaRPr sz="1000"/>
          </a:p>
        </p:txBody>
      </p:sp>
      <p:sp>
        <p:nvSpPr>
          <p:cNvPr id="999" name="Google Shape;999;p83"/>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t>What one question do you have about today’s class?</a:t>
            </a:r>
            <a:endParaRPr sz="1200"/>
          </a:p>
        </p:txBody>
      </p:sp>
      <p:sp>
        <p:nvSpPr>
          <p:cNvPr id="1000" name="Google Shape;1000;p83"/>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Roboto"/>
                <a:ea typeface="Roboto"/>
                <a:cs typeface="Roboto"/>
                <a:sym typeface="Roboto"/>
              </a:rPr>
              <a:t>Please answer the questions above in your notes for today.</a:t>
            </a:r>
            <a:endParaRPr sz="1200">
              <a:solidFill>
                <a:schemeClr val="dk2"/>
              </a:solidFill>
              <a:latin typeface="Roboto"/>
              <a:ea typeface="Roboto"/>
              <a:cs typeface="Roboto"/>
              <a:sym typeface="Roboto"/>
            </a:endParaRPr>
          </a:p>
        </p:txBody>
      </p:sp>
      <p:pic>
        <p:nvPicPr>
          <p:cNvPr id="1001" name="Google Shape;1001;p83"/>
          <p:cNvPicPr preferRelativeResize="0"/>
          <p:nvPr/>
        </p:nvPicPr>
        <p:blipFill>
          <a:blip r:embed="rId4">
            <a:alphaModFix/>
          </a:blip>
          <a:stretch>
            <a:fillRect/>
          </a:stretch>
        </p:blipFill>
        <p:spPr>
          <a:xfrm rot="-1172163">
            <a:off x="798432" y="944685"/>
            <a:ext cx="2945835" cy="3808755"/>
          </a:xfrm>
          <a:prstGeom prst="rect">
            <a:avLst/>
          </a:prstGeom>
          <a:noFill/>
          <a:ln>
            <a:noFill/>
          </a:ln>
        </p:spPr>
      </p:pic>
      <p:sp>
        <p:nvSpPr>
          <p:cNvPr id="1002" name="Google Shape;1002;p83"/>
          <p:cNvSpPr txBox="1"/>
          <p:nvPr>
            <p:ph idx="1" type="body"/>
          </p:nvPr>
        </p:nvSpPr>
        <p:spPr>
          <a:xfrm rot="-1168295">
            <a:off x="1011648" y="1531349"/>
            <a:ext cx="2569455" cy="2929916"/>
          </a:xfrm>
          <a:prstGeom prst="rect">
            <a:avLst/>
          </a:prstGeom>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Processes &amp; Threads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Time Slice</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Scheduler</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Courier New"/>
              <a:buChar char="●"/>
            </a:pPr>
            <a:r>
              <a:rPr i="1" lang="en" sz="1600">
                <a:solidFill>
                  <a:srgbClr val="FF0000"/>
                </a:solidFill>
                <a:latin typeface="Courier New"/>
                <a:ea typeface="Courier New"/>
                <a:cs typeface="Courier New"/>
                <a:sym typeface="Courier New"/>
              </a:rPr>
              <a:t>Thread</a:t>
            </a:r>
            <a:endParaRPr i="1" sz="1400">
              <a:solidFill>
                <a:srgbClr val="FF0000"/>
              </a:solidFill>
              <a:latin typeface="Courier New"/>
              <a:ea typeface="Courier New"/>
              <a:cs typeface="Courier New"/>
              <a:sym typeface="Courier New"/>
            </a:endParaRPr>
          </a:p>
          <a:p>
            <a:pPr indent="-330200" lvl="0" marL="457200" rtl="0" algn="l">
              <a:lnSpc>
                <a:spcPct val="100000"/>
              </a:lnSpc>
              <a:spcBef>
                <a:spcPts val="0"/>
              </a:spcBef>
              <a:spcAft>
                <a:spcPts val="0"/>
              </a:spcAft>
              <a:buClr>
                <a:srgbClr val="FF0000"/>
              </a:buClr>
              <a:buSzPts val="1600"/>
              <a:buFont typeface="Courier New"/>
              <a:buChar char="●"/>
            </a:pPr>
            <a:r>
              <a:rPr i="1" lang="en" sz="1600">
                <a:solidFill>
                  <a:srgbClr val="FF0000"/>
                </a:solidFill>
                <a:latin typeface="Courier New"/>
                <a:ea typeface="Courier New"/>
                <a:cs typeface="Courier New"/>
                <a:sym typeface="Courier New"/>
              </a:rPr>
              <a:t>Runnable</a:t>
            </a:r>
            <a:endParaRPr i="1" sz="1600">
              <a:solidFill>
                <a:srgbClr val="FF0000"/>
              </a:solidFill>
              <a:latin typeface="Courier New"/>
              <a:ea typeface="Courier New"/>
              <a:cs typeface="Courier New"/>
              <a:sym typeface="Courier New"/>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Interleaving</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sleep</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InterruptedException</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ExecutorService</a:t>
            </a:r>
            <a:endParaRPr sz="1600">
              <a:solidFill>
                <a:srgbClr val="FF0000"/>
              </a:solidFill>
              <a:latin typeface="Shadows Into Light"/>
              <a:ea typeface="Shadows Into Light"/>
              <a:cs typeface="Shadows Into Light"/>
              <a:sym typeface="Shadows Into Light"/>
            </a:endParaRPr>
          </a:p>
        </p:txBody>
      </p:sp>
      <p:sp>
        <p:nvSpPr>
          <p:cNvPr id="1003" name="Google Shape;1003;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