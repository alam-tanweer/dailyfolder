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7" r:id="rId1"/>
    <p:sldMasterId id="2147483678" r:id="rId2"/>
  </p:sldMasterIdLst>
  <p:notesMasterIdLst>
    <p:notesMasterId r:id="rId5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7C2E57-52A4-4090-9760-2D5068A43A11}">
  <a:tblStyle styleId="{A07C2E57-52A4-4090-9760-2D5068A43A11}"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8F4506A-C2C8-4940-B2F5-69D01CD15942}"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691" autoAdjust="0"/>
  </p:normalViewPr>
  <p:slideViewPr>
    <p:cSldViewPr snapToGrid="0">
      <p:cViewPr varScale="1">
        <p:scale>
          <a:sx n="133" d="100"/>
          <a:sy n="133" d="100"/>
        </p:scale>
        <p:origin x="144" y="27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b3d365e4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b3d365e4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unit is about learning running multiple programs concurrently.</a:t>
            </a:r>
          </a:p>
          <a:p>
            <a:pPr marL="0" lvl="0" indent="0" algn="l" rtl="0">
              <a:spcBef>
                <a:spcPts val="0"/>
              </a:spcBef>
              <a:spcAft>
                <a:spcPts val="0"/>
              </a:spcAft>
              <a:buNone/>
            </a:pPr>
            <a:endParaRPr lang="en-US" dirty="0"/>
          </a:p>
          <a:p>
            <a:r>
              <a:rPr lang="en-US" dirty="0"/>
              <a:t>The terms </a:t>
            </a:r>
            <a:r>
              <a:rPr lang="en-US" b="1" dirty="0"/>
              <a:t>socket, core, and logical processor</a:t>
            </a:r>
            <a:r>
              <a:rPr lang="en-US" dirty="0"/>
              <a:t> describe different levels of CPU hardware used for parallel processing. Understanding them helps when choosing thread pool sizes or understanding system performance.</a:t>
            </a:r>
          </a:p>
          <a:p>
            <a:br>
              <a:rPr lang="en-US" dirty="0"/>
            </a:br>
            <a:endParaRPr lang="en-US" dirty="0"/>
          </a:p>
          <a:p>
            <a:r>
              <a:rPr lang="en-US" b="1" dirty="0"/>
              <a:t>1. Socket (Physical CPU)</a:t>
            </a:r>
          </a:p>
          <a:p>
            <a:r>
              <a:rPr lang="en-US" dirty="0"/>
              <a:t>A </a:t>
            </a:r>
            <a:r>
              <a:rPr lang="en-US" b="1" dirty="0"/>
              <a:t>socket</a:t>
            </a:r>
            <a:r>
              <a:rPr lang="en-US" dirty="0"/>
              <a:t> is the </a:t>
            </a:r>
            <a:r>
              <a:rPr lang="en-US" b="1" dirty="0"/>
              <a:t>physical CPU chip installed on the motherboard</a:t>
            </a:r>
            <a:r>
              <a:rPr lang="en-US" dirty="0"/>
              <a:t>.</a:t>
            </a:r>
          </a:p>
          <a:p>
            <a:r>
              <a:rPr lang="en-US" dirty="0"/>
              <a:t>Each socket holds </a:t>
            </a:r>
            <a:r>
              <a:rPr lang="en-US" b="1" dirty="0"/>
              <a:t>one processor package</a:t>
            </a:r>
            <a:r>
              <a:rPr lang="en-US" dirty="0"/>
              <a:t>.</a:t>
            </a:r>
          </a:p>
          <a:p>
            <a:r>
              <a:rPr lang="en-US" dirty="0"/>
              <a:t>Servers often have </a:t>
            </a:r>
            <a:r>
              <a:rPr lang="en-US" b="1" dirty="0"/>
              <a:t>multiple sockets</a:t>
            </a:r>
            <a:r>
              <a:rPr lang="en-US" dirty="0"/>
              <a:t>.</a:t>
            </a:r>
          </a:p>
          <a:p>
            <a:r>
              <a:rPr lang="en-US" dirty="0"/>
              <a:t>Most laptops/desktops have </a:t>
            </a:r>
            <a:r>
              <a:rPr lang="en-US" b="1" dirty="0"/>
              <a:t>1 socket</a:t>
            </a:r>
            <a:r>
              <a:rPr lang="en-US" dirty="0"/>
              <a:t>.</a:t>
            </a:r>
          </a:p>
          <a:p>
            <a:r>
              <a:rPr lang="en-US" dirty="0"/>
              <a:t>Example:</a:t>
            </a:r>
          </a:p>
          <a:p>
            <a:pPr rtl="0"/>
            <a:r>
              <a:rPr lang="en-US" sz="1100" b="0" i="0" u="none" strike="noStrike" cap="none" dirty="0">
                <a:solidFill>
                  <a:srgbClr val="000000"/>
                </a:solidFill>
                <a:latin typeface="Arial"/>
                <a:ea typeface="Arial"/>
                <a:cs typeface="Arial"/>
                <a:sym typeface="Arial"/>
              </a:rPr>
              <a:t>Motherboard</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Socket 1 → CPU</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Socket 2 → CPU</a:t>
            </a:r>
          </a:p>
          <a:p>
            <a:r>
              <a:rPr lang="en-US" dirty="0"/>
              <a:t>Example system:</a:t>
            </a:r>
          </a:p>
          <a:p>
            <a:pPr rtl="0"/>
            <a:r>
              <a:rPr lang="en-US" sz="1100" b="0" i="0" u="none" strike="noStrike" cap="none" dirty="0">
                <a:solidFill>
                  <a:srgbClr val="000000"/>
                </a:solidFill>
                <a:latin typeface="Arial"/>
                <a:ea typeface="Arial"/>
                <a:cs typeface="Arial"/>
                <a:sym typeface="Arial"/>
              </a:rPr>
              <a:t>2 sockets</a:t>
            </a:r>
          </a:p>
          <a:p>
            <a:r>
              <a:rPr lang="en-US" dirty="0"/>
              <a:t>means </a:t>
            </a:r>
            <a:r>
              <a:rPr lang="en-US" b="1" dirty="0"/>
              <a:t>two physical CPUs installed</a:t>
            </a:r>
            <a:r>
              <a:rPr lang="en-US" dirty="0"/>
              <a:t>.</a:t>
            </a:r>
          </a:p>
          <a:p>
            <a:br>
              <a:rPr lang="en-US" dirty="0"/>
            </a:br>
            <a:endParaRPr lang="en-US" dirty="0"/>
          </a:p>
          <a:p>
            <a:r>
              <a:rPr lang="en-US" b="1" dirty="0"/>
              <a:t>2. Core</a:t>
            </a:r>
          </a:p>
          <a:p>
            <a:r>
              <a:rPr lang="en-US" dirty="0"/>
              <a:t>A </a:t>
            </a:r>
            <a:r>
              <a:rPr lang="en-US" b="1" dirty="0"/>
              <a:t>core</a:t>
            </a:r>
            <a:r>
              <a:rPr lang="en-US" dirty="0"/>
              <a:t> is an </a:t>
            </a:r>
            <a:r>
              <a:rPr lang="en-US" b="1" dirty="0"/>
              <a:t>independent processing unit inside a CPU</a:t>
            </a:r>
            <a:r>
              <a:rPr lang="en-US" dirty="0"/>
              <a:t>.</a:t>
            </a:r>
          </a:p>
          <a:p>
            <a:r>
              <a:rPr lang="en-US" dirty="0"/>
              <a:t>Each core can execute its own instructions independently.</a:t>
            </a:r>
          </a:p>
          <a:p>
            <a:r>
              <a:rPr lang="en-US" dirty="0"/>
              <a:t>Example CPU:</a:t>
            </a:r>
          </a:p>
          <a:p>
            <a:pPr rtl="0"/>
            <a:r>
              <a:rPr lang="en-US" sz="1100" b="0" i="0" u="none" strike="noStrike" cap="none" dirty="0">
                <a:solidFill>
                  <a:srgbClr val="000000"/>
                </a:solidFill>
                <a:latin typeface="Arial"/>
                <a:ea typeface="Arial"/>
                <a:cs typeface="Arial"/>
                <a:sym typeface="Arial"/>
              </a:rPr>
              <a:t>1 socket</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Core 1</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Core 2</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Core 3</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Core 4</a:t>
            </a:r>
          </a:p>
          <a:p>
            <a:r>
              <a:rPr lang="en-US" dirty="0"/>
              <a:t>This CPU has </a:t>
            </a:r>
            <a:r>
              <a:rPr lang="en-US" b="1" dirty="0"/>
              <a:t>4 cores</a:t>
            </a:r>
            <a:r>
              <a:rPr lang="en-US" dirty="0"/>
              <a:t>.</a:t>
            </a:r>
          </a:p>
          <a:p>
            <a:r>
              <a:rPr lang="en-US" dirty="0"/>
              <a:t>Each core can run </a:t>
            </a:r>
            <a:r>
              <a:rPr lang="en-US" b="1" dirty="0"/>
              <a:t>one thread at a time</a:t>
            </a:r>
            <a:r>
              <a:rPr lang="en-US" dirty="0"/>
              <a:t> (without hyper-threading).</a:t>
            </a:r>
          </a:p>
          <a:p>
            <a:br>
              <a:rPr lang="en-US" dirty="0"/>
            </a:br>
            <a:endParaRPr lang="en-US" dirty="0"/>
          </a:p>
          <a:p>
            <a:r>
              <a:rPr lang="en-US" b="1" dirty="0"/>
              <a:t>3. Logical Processor (Hardware Thread)</a:t>
            </a:r>
          </a:p>
          <a:p>
            <a:r>
              <a:rPr lang="en-US" dirty="0"/>
              <a:t>A </a:t>
            </a:r>
            <a:r>
              <a:rPr lang="en-US" b="1" dirty="0"/>
              <a:t>logical processor</a:t>
            </a:r>
            <a:r>
              <a:rPr lang="en-US" dirty="0"/>
              <a:t> is a </a:t>
            </a:r>
            <a:r>
              <a:rPr lang="en-US" b="1" dirty="0"/>
              <a:t>virtual CPU created by technologies like Hyper-Threading (Intel) or SMT (AMD)</a:t>
            </a:r>
            <a:r>
              <a:rPr lang="en-US" dirty="0"/>
              <a:t>.</a:t>
            </a:r>
          </a:p>
          <a:p>
            <a:r>
              <a:rPr lang="en-US" dirty="0"/>
              <a:t>Each physical core can expose </a:t>
            </a:r>
            <a:r>
              <a:rPr lang="en-US" b="1" dirty="0"/>
              <a:t>multiple logical processors</a:t>
            </a:r>
            <a:r>
              <a:rPr lang="en-US" dirty="0"/>
              <a:t>.</a:t>
            </a:r>
          </a:p>
          <a:p>
            <a:r>
              <a:rPr lang="en-US" dirty="0"/>
              <a:t>Example:</a:t>
            </a:r>
          </a:p>
          <a:p>
            <a:pPr rtl="0"/>
            <a:r>
              <a:rPr lang="en-US" sz="1100" b="0" i="0" u="none" strike="noStrike" cap="none" dirty="0">
                <a:solidFill>
                  <a:srgbClr val="000000"/>
                </a:solidFill>
                <a:latin typeface="Arial"/>
                <a:ea typeface="Arial"/>
                <a:cs typeface="Arial"/>
                <a:sym typeface="Arial"/>
              </a:rPr>
              <a:t>1 Core</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Logical Processor 1</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Logical Processor 2</a:t>
            </a:r>
          </a:p>
          <a:p>
            <a:r>
              <a:rPr lang="en-US" dirty="0"/>
              <a:t>So a </a:t>
            </a:r>
            <a:r>
              <a:rPr lang="en-US" b="1" dirty="0"/>
              <a:t>4-core CPU with Hyper-Threading</a:t>
            </a:r>
            <a:r>
              <a:rPr lang="en-US" dirty="0"/>
              <a:t> becomes:</a:t>
            </a:r>
          </a:p>
          <a:p>
            <a:pPr rtl="0"/>
            <a:r>
              <a:rPr lang="en-US" sz="1100" b="0" i="0" u="none" strike="noStrike" cap="none" dirty="0">
                <a:solidFill>
                  <a:srgbClr val="000000"/>
                </a:solidFill>
                <a:latin typeface="Arial"/>
                <a:ea typeface="Arial"/>
                <a:cs typeface="Arial"/>
                <a:sym typeface="Arial"/>
              </a:rPr>
              <a:t>4 cores × 2 logical processors = 8 logical processors</a:t>
            </a:r>
          </a:p>
          <a:p>
            <a:r>
              <a:rPr lang="en-US" dirty="0"/>
              <a:t>The OS sees </a:t>
            </a:r>
            <a:r>
              <a:rPr lang="en-US" b="1" dirty="0"/>
              <a:t>8 CPUs</a:t>
            </a:r>
            <a:endParaRPr lang="en-US"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c828c16636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c828c16636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1" i="0" u="none" strike="noStrike" cap="none" dirty="0">
                <a:solidFill>
                  <a:srgbClr val="000000"/>
                </a:solidFill>
                <a:latin typeface="Arial"/>
                <a:ea typeface="Arial"/>
                <a:cs typeface="Arial"/>
                <a:sym typeface="Arial"/>
              </a:rPr>
              <a:t>1_000_000_000.0</a:t>
            </a:r>
            <a:r>
              <a:rPr lang="en-US" b="1" dirty="0"/>
              <a:t> is valid Java syntax.</a:t>
            </a:r>
            <a:r>
              <a:rPr lang="en-US" dirty="0"/>
              <a:t> ✅</a:t>
            </a:r>
          </a:p>
          <a:p>
            <a:r>
              <a:rPr lang="en-US" dirty="0"/>
              <a:t>Java allows </a:t>
            </a:r>
            <a:r>
              <a:rPr lang="en-US" b="1" dirty="0"/>
              <a:t>underscores (</a:t>
            </a:r>
            <a:r>
              <a:rPr lang="en-US" sz="1100" b="1" i="0" u="none" strike="noStrike" cap="none" dirty="0">
                <a:solidFill>
                  <a:srgbClr val="000000"/>
                </a:solidFill>
                <a:latin typeface="Arial"/>
                <a:ea typeface="Arial"/>
                <a:cs typeface="Arial"/>
                <a:sym typeface="Arial"/>
              </a:rPr>
              <a:t>_</a:t>
            </a:r>
            <a:r>
              <a:rPr lang="en-US" b="1" dirty="0"/>
              <a:t>) in numeric literals</a:t>
            </a:r>
            <a:r>
              <a:rPr lang="en-US" dirty="0"/>
              <a:t> to improve readability (introduced in </a:t>
            </a:r>
            <a:r>
              <a:rPr lang="en-US" b="1" dirty="0"/>
              <a:t>Java 7</a:t>
            </a:r>
            <a:r>
              <a:rPr lang="en-US" dirty="0"/>
              <a:t>). The compiler ignores the underscores.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double value = 1_000_000_000.0;</a:t>
            </a:r>
            <a:br>
              <a:rPr lang="en-US" dirty="0"/>
            </a:br>
            <a:r>
              <a:rPr lang="en-US" dirty="0" err="1"/>
              <a:t>System.out.println</a:t>
            </a:r>
            <a:r>
              <a:rPr lang="en-US" dirty="0"/>
              <a:t>(</a:t>
            </a:r>
            <a:r>
              <a:rPr lang="en-US" dirty="0" err="1"/>
              <a:t>val</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System.nanoTime</a:t>
            </a:r>
            <a:r>
              <a:rPr lang="en-US" dirty="0"/>
              <a:t>()</a:t>
            </a:r>
          </a:p>
          <a:p>
            <a:pPr rtl="0"/>
            <a:r>
              <a:rPr lang="en-US" sz="1100" b="0" i="0" u="none" strike="noStrike" cap="none" dirty="0">
                <a:solidFill>
                  <a:srgbClr val="000000"/>
                </a:solidFill>
                <a:latin typeface="Arial"/>
                <a:ea typeface="Arial"/>
                <a:cs typeface="Arial"/>
                <a:sym typeface="Arial"/>
              </a:rPr>
              <a:t>long time = </a:t>
            </a:r>
            <a:r>
              <a:rPr lang="en-US" sz="1100" b="0" i="0" u="none" strike="noStrike" cap="none" dirty="0" err="1">
                <a:solidFill>
                  <a:srgbClr val="000000"/>
                </a:solidFill>
                <a:latin typeface="Arial"/>
                <a:ea typeface="Arial"/>
                <a:cs typeface="Arial"/>
                <a:sym typeface="Arial"/>
              </a:rPr>
              <a:t>System.nanoTime</a:t>
            </a:r>
            <a:r>
              <a:rPr lang="en-US" sz="1100" b="0"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Wingdings" panose="05000000000000000000" pitchFamily="2" charset="2"/>
              </a:rPr>
              <a:t> </a:t>
            </a:r>
            <a:r>
              <a:rPr lang="en-US" sz="1100" b="0" i="0" u="none" strike="noStrike" cap="none" dirty="0" err="1">
                <a:solidFill>
                  <a:srgbClr val="000000"/>
                </a:solidFill>
                <a:latin typeface="Arial"/>
                <a:ea typeface="Arial"/>
                <a:cs typeface="Arial"/>
                <a:sym typeface="Wingdings" panose="05000000000000000000" pitchFamily="2" charset="2"/>
              </a:rPr>
              <a:t>TimeStamp</a:t>
            </a:r>
            <a:r>
              <a:rPr lang="en-US" sz="1100" b="0" i="0" u="none" strike="noStrike" cap="none" dirty="0">
                <a:solidFill>
                  <a:srgbClr val="000000"/>
                </a:solidFill>
                <a:latin typeface="Arial"/>
                <a:ea typeface="Arial"/>
                <a:cs typeface="Arial"/>
                <a:sym typeface="Wingdings" panose="05000000000000000000" pitchFamily="2" charset="2"/>
              </a:rPr>
              <a:t> at a moment.</a:t>
            </a:r>
            <a:endParaRPr lang="en-US" sz="1100" b="0" i="0" u="none" strike="noStrike" cap="none" dirty="0">
              <a:solidFill>
                <a:srgbClr val="000000"/>
              </a:solidFill>
              <a:latin typeface="Arial"/>
              <a:ea typeface="Arial"/>
              <a:cs typeface="Arial"/>
              <a:sym typeface="Arial"/>
            </a:endParaRPr>
          </a:p>
          <a:p>
            <a:r>
              <a:rPr lang="en-US" b="1" dirty="0"/>
              <a:t>What it returns</a:t>
            </a:r>
          </a:p>
          <a:p>
            <a:r>
              <a:rPr lang="en-US" dirty="0"/>
              <a:t>A </a:t>
            </a:r>
            <a:r>
              <a:rPr lang="en-US" b="1" dirty="0"/>
              <a:t>long value</a:t>
            </a:r>
            <a:endParaRPr lang="en-US" dirty="0"/>
          </a:p>
          <a:p>
            <a:r>
              <a:rPr lang="en-US" dirty="0"/>
              <a:t>Represents </a:t>
            </a:r>
            <a:r>
              <a:rPr lang="en-US" b="1" dirty="0"/>
              <a:t>nanoseconds (1 nanosecond = 1 billionth of a second)</a:t>
            </a:r>
            <a:endParaRPr lang="en-US" dirty="0"/>
          </a:p>
          <a:p>
            <a:r>
              <a:rPr lang="en-US" dirty="0"/>
              <a:t>⚠️ Important:</a:t>
            </a:r>
            <a:br>
              <a:rPr lang="en-US" dirty="0"/>
            </a:br>
            <a:r>
              <a:rPr lang="en-US" sz="1100" b="0" i="0" u="none" strike="noStrike" cap="none" dirty="0" err="1">
                <a:solidFill>
                  <a:srgbClr val="000000"/>
                </a:solidFill>
                <a:latin typeface="Arial"/>
                <a:ea typeface="Arial"/>
                <a:cs typeface="Arial"/>
                <a:sym typeface="Arial"/>
              </a:rPr>
              <a:t>nanoTime</a:t>
            </a:r>
            <a:r>
              <a:rPr lang="en-US" sz="1100" b="0" i="0" u="none" strike="noStrike" cap="none" dirty="0">
                <a:solidFill>
                  <a:srgbClr val="000000"/>
                </a:solidFill>
                <a:latin typeface="Arial"/>
                <a:ea typeface="Arial"/>
                <a:cs typeface="Arial"/>
                <a:sym typeface="Arial"/>
              </a:rPr>
              <a:t>()</a:t>
            </a:r>
            <a:r>
              <a:rPr lang="en-US" dirty="0"/>
              <a:t> </a:t>
            </a:r>
            <a:r>
              <a:rPr lang="en-US" b="1" dirty="0"/>
              <a:t>does NOT represent the current date or time</a:t>
            </a:r>
            <a:r>
              <a:rPr lang="en-US" dirty="0"/>
              <a:t>.</a:t>
            </a:r>
            <a:br>
              <a:rPr lang="en-US" dirty="0"/>
            </a:br>
            <a:r>
              <a:rPr lang="en-US" dirty="0"/>
              <a:t>It only gives a </a:t>
            </a:r>
            <a:r>
              <a:rPr lang="en-US" b="1" dirty="0"/>
              <a:t>monotonic timestamp used for measuring time intervals</a:t>
            </a:r>
            <a:r>
              <a:rPr lang="en-US" dirty="0"/>
              <a:t>.</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c828c1663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c828c1663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Running Sequentially.</a:t>
            </a:r>
          </a:p>
          <a:p>
            <a:pPr marL="0" lvl="0" indent="0" algn="l" rtl="0">
              <a:spcBef>
                <a:spcPts val="0"/>
              </a:spcBef>
              <a:spcAft>
                <a:spcPts val="0"/>
              </a:spcAft>
              <a:buNone/>
            </a:pPr>
            <a:r>
              <a:rPr lang="en-US" dirty="0"/>
              <a:t>Person who start first wins.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Mario Game character</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Mario, Luigi, Princess Peach, Toad, and Yoshi</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c973538050_1_1: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Probably talk about Socket </a:t>
            </a:r>
            <a:r>
              <a:rPr lang="en-US" dirty="0">
                <a:sym typeface="Wingdings" panose="05000000000000000000" pitchFamily="2" charset="2"/>
              </a:rPr>
              <a:t> CPU  Core  logical processor</a:t>
            </a:r>
            <a:endParaRPr lang="en-US" dirty="0"/>
          </a:p>
          <a:p>
            <a:pPr marL="0" lvl="0" indent="0" algn="l" rtl="0">
              <a:spcBef>
                <a:spcPts val="0"/>
              </a:spcBef>
              <a:spcAft>
                <a:spcPts val="0"/>
              </a:spcAft>
              <a:buNone/>
            </a:pPr>
            <a:r>
              <a:rPr lang="en-US" dirty="0"/>
              <a:t>Talk about old operating system Window 3.1, Window 95</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Often blue screen of death or crash due to access to memory in other application space.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Thread </a:t>
            </a:r>
            <a:r>
              <a:rPr lang="en-US" dirty="0">
                <a:sym typeface="Wingdings" panose="05000000000000000000" pitchFamily="2" charset="2"/>
              </a:rPr>
              <a:t> Sub Processes  Make the application responsive</a:t>
            </a: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endParaRPr dirty="0"/>
          </a:p>
        </p:txBody>
      </p:sp>
      <p:sp>
        <p:nvSpPr>
          <p:cNvPr id="267" name="Google Shape;267;gc973538050_1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c9e90982c7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c9e90982c7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c973538050_1_48: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gc973538050_1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c973538050_1_172: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This makes it difficult for two processes to work together to accomplish more than one task simultaneously</a:t>
            </a:r>
          </a:p>
          <a:p>
            <a:pPr marL="171450" lvl="0" indent="-171450" algn="l" rtl="0">
              <a:spcBef>
                <a:spcPts val="0"/>
              </a:spcBef>
              <a:spcAft>
                <a:spcPts val="0"/>
              </a:spcAft>
              <a:buFont typeface="Wingdings" panose="05000000000000000000" pitchFamily="2" charset="2"/>
              <a:buChar char="è"/>
            </a:pPr>
            <a:r>
              <a:rPr lang="en-US" dirty="0">
                <a:sym typeface="Wingdings" panose="05000000000000000000" pitchFamily="2" charset="2"/>
              </a:rPr>
              <a:t>Compiling, running test or committing in </a:t>
            </a:r>
            <a:r>
              <a:rPr lang="en-US" dirty="0" err="1">
                <a:sym typeface="Wingdings" panose="05000000000000000000" pitchFamily="2" charset="2"/>
              </a:rPr>
              <a:t>VSCode</a:t>
            </a:r>
            <a:endParaRPr lang="en-US" dirty="0">
              <a:sym typeface="Wingdings" panose="05000000000000000000" pitchFamily="2" charset="2"/>
            </a:endParaRPr>
          </a:p>
          <a:p>
            <a:pPr marL="171450" lvl="0" indent="-171450" algn="l" rtl="0">
              <a:spcBef>
                <a:spcPts val="0"/>
              </a:spcBef>
              <a:spcAft>
                <a:spcPts val="0"/>
              </a:spcAft>
              <a:buFont typeface="Wingdings" panose="05000000000000000000" pitchFamily="2" charset="2"/>
              <a:buChar char="è"/>
            </a:pPr>
            <a:r>
              <a:rPr lang="en-US" dirty="0">
                <a:sym typeface="Wingdings" panose="05000000000000000000" pitchFamily="2" charset="2"/>
              </a:rPr>
              <a:t>‘</a:t>
            </a:r>
          </a:p>
          <a:p>
            <a:pPr marL="171450" lvl="0" indent="-171450" algn="l" rtl="0">
              <a:spcBef>
                <a:spcPts val="0"/>
              </a:spcBef>
              <a:spcAft>
                <a:spcPts val="0"/>
              </a:spcAft>
              <a:buFont typeface="Wingdings" panose="05000000000000000000" pitchFamily="2" charset="2"/>
              <a:buChar char="è"/>
            </a:pPr>
            <a:endParaRPr lang="en-US" dirty="0">
              <a:sym typeface="Wingdings" panose="05000000000000000000" pitchFamily="2" charset="2"/>
            </a:endParaRPr>
          </a:p>
          <a:p>
            <a:r>
              <a:rPr lang="en-US" b="1" dirty="0"/>
              <a:t>1. Web Browser (Chrome / Edge / Firefox)</a:t>
            </a:r>
          </a:p>
          <a:p>
            <a:r>
              <a:rPr lang="en-US" b="1" dirty="0"/>
              <a:t>Processes</a:t>
            </a:r>
          </a:p>
          <a:p>
            <a:r>
              <a:rPr lang="en-US" dirty="0"/>
              <a:t>Each </a:t>
            </a:r>
            <a:r>
              <a:rPr lang="en-US" b="1" dirty="0"/>
              <a:t>tab runs in a separate process</a:t>
            </a:r>
            <a:r>
              <a:rPr lang="en-US" dirty="0"/>
              <a:t>.</a:t>
            </a:r>
          </a:p>
          <a:p>
            <a:r>
              <a:rPr lang="en-US" dirty="0"/>
              <a:t>Example:</a:t>
            </a:r>
          </a:p>
          <a:p>
            <a:pPr rtl="0"/>
            <a:r>
              <a:rPr lang="en-US" sz="1100" b="0" i="0" u="none" strike="noStrike" cap="none" dirty="0">
                <a:solidFill>
                  <a:srgbClr val="000000"/>
                </a:solidFill>
                <a:latin typeface="Arial"/>
                <a:ea typeface="Arial"/>
                <a:cs typeface="Arial"/>
                <a:sym typeface="Arial"/>
              </a:rPr>
              <a:t>Browser Process</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Tab Process (YouTube)</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Tab Process (Gmail)</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Tab Process (News site)</a:t>
            </a:r>
          </a:p>
          <a:p>
            <a:r>
              <a:rPr lang="en-US" b="1" dirty="0"/>
              <a:t>Why processes?</a:t>
            </a:r>
          </a:p>
          <a:p>
            <a:r>
              <a:rPr lang="en-US" dirty="0"/>
              <a:t>If a tab </a:t>
            </a:r>
            <a:r>
              <a:rPr lang="en-US" b="1" dirty="0"/>
              <a:t>crashes</a:t>
            </a:r>
            <a:r>
              <a:rPr lang="en-US" dirty="0"/>
              <a:t>, the whole browser does not crash.</a:t>
            </a:r>
          </a:p>
          <a:p>
            <a:r>
              <a:rPr lang="en-US" dirty="0"/>
              <a:t>If a website is </a:t>
            </a:r>
            <a:r>
              <a:rPr lang="en-US" b="1" dirty="0"/>
              <a:t>malicious</a:t>
            </a:r>
            <a:r>
              <a:rPr lang="en-US" dirty="0"/>
              <a:t>, it cannot access memory of other tabs.</a:t>
            </a:r>
          </a:p>
          <a:p>
            <a:r>
              <a:rPr lang="en-US" b="1" dirty="0"/>
              <a:t>Communication difficulty</a:t>
            </a:r>
          </a:p>
          <a:p>
            <a:r>
              <a:rPr lang="en-US" dirty="0"/>
              <a:t>If a tab needs something from the browser (like saving a file), it must use </a:t>
            </a:r>
            <a:r>
              <a:rPr lang="en-US" b="1" dirty="0"/>
              <a:t>Inter-Process Communication (IPC)</a:t>
            </a:r>
            <a:r>
              <a:rPr lang="en-US" dirty="0"/>
              <a:t>.</a:t>
            </a:r>
          </a:p>
          <a:p>
            <a:r>
              <a:rPr lang="en-US" dirty="0"/>
              <a:t>Example flow:</a:t>
            </a:r>
          </a:p>
          <a:p>
            <a:pPr rtl="0"/>
            <a:r>
              <a:rPr lang="en-US" sz="1100" b="0" i="0" u="none" strike="noStrike" cap="none" dirty="0">
                <a:solidFill>
                  <a:srgbClr val="000000"/>
                </a:solidFill>
                <a:latin typeface="Arial"/>
                <a:ea typeface="Arial"/>
                <a:cs typeface="Arial"/>
                <a:sym typeface="Arial"/>
              </a:rPr>
              <a:t>Tab Process → IPC message → Browser Process → Disk</a:t>
            </a:r>
          </a:p>
          <a:p>
            <a:r>
              <a:rPr lang="en-US" dirty="0"/>
              <a:t>This is </a:t>
            </a:r>
            <a:r>
              <a:rPr lang="en-US" b="1" dirty="0"/>
              <a:t>slower than direct memory access</a:t>
            </a:r>
            <a:r>
              <a:rPr lang="en-US" dirty="0"/>
              <a:t>.</a:t>
            </a:r>
          </a:p>
          <a:p>
            <a:r>
              <a:rPr lang="en-US" b="1" dirty="0"/>
              <a:t>Threads inside a tab</a:t>
            </a:r>
          </a:p>
          <a:p>
            <a:r>
              <a:rPr lang="en-US" dirty="0"/>
              <a:t>Inside a single tab process:</a:t>
            </a:r>
          </a:p>
          <a:p>
            <a:pPr rtl="0"/>
            <a:r>
              <a:rPr lang="en-US" sz="1100" b="0" i="0" u="none" strike="noStrike" cap="none" dirty="0">
                <a:solidFill>
                  <a:srgbClr val="000000"/>
                </a:solidFill>
                <a:latin typeface="Arial"/>
                <a:ea typeface="Arial"/>
                <a:cs typeface="Arial"/>
                <a:sym typeface="Arial"/>
              </a:rPr>
              <a:t>Tab Process</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UI Thread</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JavaScript Thread</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Rendering Thread</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Network Thread</a:t>
            </a:r>
          </a:p>
          <a:p>
            <a:r>
              <a:rPr lang="en-US" dirty="0"/>
              <a:t>Threads </a:t>
            </a:r>
            <a:r>
              <a:rPr lang="en-US" b="1" dirty="0"/>
              <a:t>share memory</a:t>
            </a:r>
            <a:r>
              <a:rPr lang="en-US" dirty="0"/>
              <a:t>, so communication is quick.</a:t>
            </a:r>
          </a:p>
          <a:p>
            <a:endParaRPr lang="en-US" dirty="0"/>
          </a:p>
          <a:p>
            <a:endParaRPr lang="en-US" dirty="0"/>
          </a:p>
          <a:p>
            <a:r>
              <a:rPr lang="en-US" b="1" dirty="0"/>
              <a:t>Thread-based server </a:t>
            </a:r>
            <a:r>
              <a:rPr lang="en-US" b="1" dirty="0">
                <a:sym typeface="Wingdings" panose="05000000000000000000" pitchFamily="2" charset="2"/>
              </a:rPr>
              <a:t> MyCourses</a:t>
            </a:r>
            <a:endParaRPr lang="en-US" b="1" dirty="0"/>
          </a:p>
          <a:p>
            <a:r>
              <a:rPr lang="en-US" dirty="0"/>
              <a:t>Modern servers (Tomcat, Node worker threads)</a:t>
            </a:r>
          </a:p>
          <a:p>
            <a:pPr rtl="0"/>
            <a:r>
              <a:rPr lang="en-US" sz="1100" b="0" i="0" u="none" strike="noStrike" cap="none" dirty="0">
                <a:solidFill>
                  <a:srgbClr val="000000"/>
                </a:solidFill>
                <a:latin typeface="Arial"/>
                <a:ea typeface="Arial"/>
                <a:cs typeface="Arial"/>
                <a:sym typeface="Arial"/>
              </a:rPr>
              <a:t>Server Process</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Thread 1 → request A</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Thread 2 → request B</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 Thread 3 → request C</a:t>
            </a:r>
          </a:p>
          <a:p>
            <a:r>
              <a:rPr lang="en-US" dirty="0"/>
              <a:t>All threads share:</a:t>
            </a:r>
          </a:p>
          <a:p>
            <a:pPr rtl="0"/>
            <a:r>
              <a:rPr lang="en-US" sz="1100" b="0" i="0" u="none" strike="noStrike" cap="none" dirty="0">
                <a:solidFill>
                  <a:srgbClr val="000000"/>
                </a:solidFill>
                <a:latin typeface="Arial"/>
                <a:ea typeface="Arial"/>
                <a:cs typeface="Arial"/>
                <a:sym typeface="Arial"/>
              </a:rPr>
              <a:t>cache</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database connections</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session data</a:t>
            </a:r>
          </a:p>
          <a:p>
            <a:r>
              <a:rPr lang="en-US" dirty="0"/>
              <a:t>Communication is </a:t>
            </a:r>
            <a:r>
              <a:rPr lang="en-US" b="1" dirty="0"/>
              <a:t>cheap and fast</a:t>
            </a:r>
            <a:r>
              <a:rPr lang="en-US" dirty="0"/>
              <a:t>.</a:t>
            </a:r>
          </a:p>
          <a:p>
            <a:endParaRPr lang="en-US" dirty="0"/>
          </a:p>
          <a:p>
            <a:pPr marL="171450" lvl="0" indent="-171450" algn="l" rtl="0">
              <a:spcBef>
                <a:spcPts val="0"/>
              </a:spcBef>
              <a:spcAft>
                <a:spcPts val="0"/>
              </a:spcAft>
              <a:buFont typeface="Wingdings" panose="05000000000000000000" pitchFamily="2" charset="2"/>
              <a:buChar char="è"/>
            </a:pPr>
            <a:endParaRPr dirty="0"/>
          </a:p>
        </p:txBody>
      </p:sp>
      <p:sp>
        <p:nvSpPr>
          <p:cNvPr id="296" name="Google Shape;296;gc973538050_1_1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1cc4f74f13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21cc4f74f1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1cc4f74f13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1cc4f74f13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c973538050_1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gc973538050_1_125:notes"/>
          <p:cNvSpPr txBox="1">
            <a:spLocks noGrp="1"/>
          </p:cNvSpPr>
          <p:nvPr>
            <p:ph type="body" idx="1"/>
          </p:nvPr>
        </p:nvSpPr>
        <p:spPr>
          <a:xfrm>
            <a:off x="686099" y="4401155"/>
            <a:ext cx="5485800" cy="35997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r>
              <a:rPr lang="en-US" dirty="0"/>
              <a:t>Don’t assume that you process will get all the time to execute the work.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Example of multiple threading on chrome tabs.</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c973538050_1_220: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Error: </a:t>
            </a:r>
            <a:r>
              <a:rPr lang="en-US" sz="1100" b="0" i="0" u="none" strike="noStrike" cap="none" dirty="0" err="1">
                <a:solidFill>
                  <a:srgbClr val="000000"/>
                </a:solidFill>
                <a:effectLst/>
                <a:latin typeface="Arial"/>
                <a:ea typeface="Arial"/>
                <a:cs typeface="Arial"/>
                <a:sym typeface="Arial"/>
              </a:rPr>
              <a:t>getName</a:t>
            </a:r>
            <a:r>
              <a:rPr lang="en-US" sz="1100" b="0" i="0" u="none" strike="noStrike" cap="none" dirty="0">
                <a:solidFill>
                  <a:srgbClr val="000000"/>
                </a:solidFill>
                <a:effectLst/>
                <a:latin typeface="Arial"/>
                <a:ea typeface="Arial"/>
                <a:cs typeface="Arial"/>
                <a:sym typeface="Arial"/>
              </a:rPr>
              <a:t>() can’t be overwritten</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    public String </a:t>
            </a:r>
            <a:r>
              <a:rPr lang="en-US" sz="1100" b="0" i="0" u="none" strike="noStrike" cap="none" dirty="0" err="1">
                <a:solidFill>
                  <a:srgbClr val="000000"/>
                </a:solidFill>
                <a:effectLst/>
                <a:latin typeface="Arial"/>
                <a:ea typeface="Arial"/>
                <a:cs typeface="Arial"/>
                <a:sym typeface="Arial"/>
              </a:rPr>
              <a:t>getName</a:t>
            </a:r>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        return name;</a:t>
            </a:r>
          </a:p>
          <a:p>
            <a:r>
              <a:rPr lang="en-US" sz="1100" b="0" i="0" u="none" strike="noStrike" cap="none" dirty="0">
                <a:solidFill>
                  <a:srgbClr val="000000"/>
                </a:solidFill>
                <a:effectLst/>
                <a:latin typeface="Arial"/>
                <a:ea typeface="Arial"/>
                <a:cs typeface="Arial"/>
                <a:sym typeface="Arial"/>
              </a:rPr>
              <a:t>    }</a:t>
            </a:r>
          </a:p>
          <a:p>
            <a:endParaRPr lang="en-US" sz="1100" b="0" i="0" u="none" strike="noStrike" cap="none" dirty="0">
              <a:solidFill>
                <a:srgbClr val="000000"/>
              </a:solidFill>
              <a:effectLst/>
              <a:latin typeface="Arial"/>
              <a:ea typeface="Arial"/>
              <a:cs typeface="Arial"/>
              <a:sym typeface="Arial"/>
            </a:endParaRPr>
          </a:p>
          <a:p>
            <a:pPr marL="158750" indent="0">
              <a:buNone/>
            </a:pPr>
            <a:r>
              <a:rPr lang="en-US" sz="1100" b="0" i="0" u="none" strike="noStrike" cap="none" dirty="0">
                <a:solidFill>
                  <a:srgbClr val="000000"/>
                </a:solidFill>
                <a:effectLst/>
                <a:latin typeface="Arial"/>
                <a:ea typeface="Arial"/>
                <a:cs typeface="Arial"/>
                <a:sym typeface="Arial"/>
              </a:rPr>
              <a:t>Mario Finished in 0.0 seconds </a:t>
            </a:r>
            <a:r>
              <a:rPr lang="en-US" sz="1100" b="0" i="0" u="none" strike="noStrike" cap="none" dirty="0">
                <a:solidFill>
                  <a:srgbClr val="000000"/>
                </a:solidFill>
                <a:effectLst/>
                <a:latin typeface="Arial"/>
                <a:ea typeface="Arial"/>
                <a:cs typeface="Arial"/>
                <a:sym typeface="Wingdings" panose="05000000000000000000" pitchFamily="2" charset="2"/>
              </a:rPr>
              <a:t> is printing at the end or middle randomly. Increase the number of laps to make it print earlier.</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
        <p:nvSpPr>
          <p:cNvPr id="348" name="Google Shape;348;gc973538050_1_2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cb022bd18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cb022bd18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1cc4f74f13_0_60: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g21cc4f74f13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caa2d7e50f_0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caa2d7e50f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happens:</a:t>
            </a:r>
          </a:p>
          <a:p>
            <a:pPr marL="0" lvl="0" indent="0" algn="l" rtl="0">
              <a:spcBef>
                <a:spcPts val="0"/>
              </a:spcBef>
              <a:spcAft>
                <a:spcPts val="0"/>
              </a:spcAft>
              <a:buNone/>
            </a:pPr>
            <a:r>
              <a:rPr lang="en-US" dirty="0"/>
              <a:t>Can’t run a dead thread.</a:t>
            </a:r>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c973538050_1_246: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Talk about why I need runnable.</a:t>
            </a:r>
          </a:p>
          <a:p>
            <a:pPr marL="0" lvl="0" indent="0" algn="l" rtl="0">
              <a:spcBef>
                <a:spcPts val="0"/>
              </a:spcBef>
              <a:spcAft>
                <a:spcPts val="0"/>
              </a:spcAft>
              <a:buNone/>
            </a:pPr>
            <a:r>
              <a:rPr lang="en-US" dirty="0"/>
              <a:t>Using Thread requires you extending the class. However, </a:t>
            </a:r>
            <a:endParaRPr dirty="0"/>
          </a:p>
        </p:txBody>
      </p:sp>
      <p:sp>
        <p:nvSpPr>
          <p:cNvPr id="405" name="Google Shape;405;gc973538050_1_2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21cc4f74f13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21cc4f74f13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1cc4f74f13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21cc4f74f13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c9e90982c7_0_5: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You'll notice using the interface also eliminates the </a:t>
            </a:r>
            <a:r>
              <a:rPr lang="en" b="1" dirty="0"/>
              <a:t>name clash between racer.getName() and thread.getName().</a:t>
            </a:r>
            <a:endParaRPr b="1" dirty="0"/>
          </a:p>
          <a:p>
            <a:pPr marL="0" lvl="0" indent="0" algn="l" rtl="0">
              <a:spcBef>
                <a:spcPts val="0"/>
              </a:spcBef>
              <a:spcAft>
                <a:spcPts val="0"/>
              </a:spcAft>
              <a:buNone/>
            </a:pPr>
            <a:r>
              <a:rPr lang="en" dirty="0"/>
              <a:t>You can reuse the racer to run another race by creating a new Thread to run it in.</a:t>
            </a:r>
            <a:endParaRPr dirty="0"/>
          </a:p>
        </p:txBody>
      </p:sp>
      <p:sp>
        <p:nvSpPr>
          <p:cNvPr id="446" name="Google Shape;446;gc9e90982c7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1cc4f74f13_0_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21cc4f74f13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Whether your class "is a" thread may or may not make sense depending on the specific problem being solved. In many cases, this will be a code smell, specifically, a violation of the single responsibility SOLID design principle: the class has a specific job (e.g. print a bunch of numbers) but it is also responsible for being a thread. I better design (usually) separates these concerns into different classes.</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21c6847f24b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21c6847f24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Option A: Lambda expressions (Runnable implemented via lambda)</a:t>
            </a:r>
            <a:br>
              <a:rPr lang="en-US" dirty="0"/>
            </a:br>
            <a:r>
              <a:rPr lang="en-US" dirty="0"/>
              <a:t>Thread t1 = new Thread(() -&gt; r1.race());  </a:t>
            </a:r>
            <a:r>
              <a:rPr lang="en-US" dirty="0">
                <a:sym typeface="Wingdings" panose="05000000000000000000" pitchFamily="2" charset="2"/>
              </a:rPr>
              <a:t> this code is basically part of run method implementation of runnable.</a:t>
            </a:r>
            <a:br>
              <a:rPr lang="en-US" dirty="0"/>
            </a:br>
            <a:r>
              <a:rPr lang="en-US" dirty="0"/>
              <a:t>Thread t2 = new Thread(() -&gt; r2.race());</a:t>
            </a:r>
            <a:br>
              <a:rPr lang="en-US" dirty="0"/>
            </a:br>
            <a:r>
              <a:rPr lang="en-US" dirty="0"/>
              <a:t>Thread t3 = new Thread(() -&gt; r3.race());</a:t>
            </a:r>
            <a:br>
              <a:rPr lang="en-US" dirty="0"/>
            </a:br>
            <a:br>
              <a:rPr lang="en-US" dirty="0"/>
            </a:br>
            <a:r>
              <a:rPr lang="en-US" dirty="0"/>
              <a:t>// Option B: Method references (matches the slide's example style)</a:t>
            </a:r>
            <a:br>
              <a:rPr lang="en-US" dirty="0"/>
            </a:br>
            <a:r>
              <a:rPr lang="en-US" dirty="0"/>
              <a:t>// Thread t1 = new Thread(r1::race);</a:t>
            </a:r>
            <a:br>
              <a:rPr lang="en-US" dirty="0"/>
            </a:br>
            <a:r>
              <a:rPr lang="en-US" dirty="0"/>
              <a:t>// Thread t2 = new Thread(r2::race);</a:t>
            </a:r>
            <a:br>
              <a:rPr lang="en-US" dirty="0"/>
            </a:br>
            <a:r>
              <a:rPr lang="en-US" dirty="0"/>
              <a:t>// Thread t3 = new Thread(r3::race);  </a:t>
            </a:r>
            <a:r>
              <a:rPr lang="en-US" dirty="0">
                <a:sym typeface="Wingdings" panose="05000000000000000000" pitchFamily="2" charset="2"/>
              </a:rPr>
              <a:t> runnable is implemented through interface</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c973538050_1_323: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Good chance to talk about why </a:t>
            </a:r>
            <a:r>
              <a:rPr lang="en" b="1" dirty="0"/>
              <a:t>creating and starting </a:t>
            </a:r>
            <a:r>
              <a:rPr lang="en" dirty="0"/>
              <a:t>threads at the same time is unfair for later threads.</a:t>
            </a:r>
          </a:p>
          <a:p>
            <a:pPr marL="0" lvl="0" indent="0" algn="l" rtl="0">
              <a:spcBef>
                <a:spcPts val="0"/>
              </a:spcBef>
              <a:spcAft>
                <a:spcPts val="0"/>
              </a:spcAft>
              <a:buNone/>
            </a:pPr>
            <a:r>
              <a:rPr lang="en" dirty="0"/>
              <a:t>Why it took so much time</a:t>
            </a:r>
          </a:p>
          <a:p>
            <a:r>
              <a:rPr lang="en-US" b="1" dirty="0"/>
              <a:t>Creating itself is not slow.</a:t>
            </a:r>
            <a:r>
              <a:rPr lang="en-US" dirty="0"/>
              <a:t> The delay happens because the program must </a:t>
            </a:r>
            <a:r>
              <a:rPr lang="en-US" b="1" dirty="0"/>
              <a:t>finish creating and starting all the threads before it reaches this print statement.</a:t>
            </a:r>
            <a:endParaRPr lang="en-US" dirty="0"/>
          </a:p>
          <a:p>
            <a:r>
              <a:rPr lang="en-US" dirty="0"/>
              <a:t>In your code:</a:t>
            </a:r>
          </a:p>
          <a:p>
            <a:pPr rtl="0"/>
            <a:r>
              <a:rPr lang="en-US" sz="1100" b="0" i="0" u="none" strike="noStrike" cap="none" dirty="0">
                <a:solidFill>
                  <a:srgbClr val="000000"/>
                </a:solidFill>
                <a:latin typeface="Arial"/>
                <a:ea typeface="Arial"/>
                <a:cs typeface="Arial"/>
                <a:sym typeface="Arial"/>
              </a:rPr>
              <a:t>for (int </a:t>
            </a:r>
            <a:r>
              <a:rPr lang="en-US" sz="1100" b="0" i="0" u="none" strike="noStrike" cap="none" dirty="0" err="1">
                <a:solidFill>
                  <a:srgbClr val="000000"/>
                </a:solidFill>
                <a:latin typeface="Arial"/>
                <a:ea typeface="Arial"/>
                <a:cs typeface="Arial"/>
                <a:sym typeface="Arial"/>
              </a:rPr>
              <a:t>i</a:t>
            </a:r>
            <a:r>
              <a:rPr lang="en-US" sz="1100" b="0" i="0" u="none" strike="noStrike" cap="none" dirty="0">
                <a:solidFill>
                  <a:srgbClr val="000000"/>
                </a:solidFill>
                <a:latin typeface="Arial"/>
                <a:ea typeface="Arial"/>
                <a:cs typeface="Arial"/>
                <a:sym typeface="Arial"/>
              </a:rPr>
              <a:t> = 1; </a:t>
            </a:r>
            <a:r>
              <a:rPr lang="en-US" sz="1100" b="0" i="0" u="none" strike="noStrike" cap="none" dirty="0" err="1">
                <a:solidFill>
                  <a:srgbClr val="000000"/>
                </a:solidFill>
                <a:latin typeface="Arial"/>
                <a:ea typeface="Arial"/>
                <a:cs typeface="Arial"/>
                <a:sym typeface="Arial"/>
              </a:rPr>
              <a:t>i</a:t>
            </a:r>
            <a:r>
              <a:rPr lang="en-US" sz="1100" b="0" i="0" u="none" strike="noStrike" cap="none" dirty="0">
                <a:solidFill>
                  <a:srgbClr val="000000"/>
                </a:solidFill>
                <a:latin typeface="Arial"/>
                <a:ea typeface="Arial"/>
                <a:cs typeface="Arial"/>
                <a:sym typeface="Arial"/>
              </a:rPr>
              <a:t> &lt;= NUM_RACERS; </a:t>
            </a:r>
            <a:r>
              <a:rPr lang="en-US" sz="1100" b="0" i="0" u="none" strike="noStrike" cap="none" dirty="0" err="1">
                <a:solidFill>
                  <a:srgbClr val="000000"/>
                </a:solidFill>
                <a:latin typeface="Arial"/>
                <a:ea typeface="Arial"/>
                <a:cs typeface="Arial"/>
                <a:sym typeface="Arial"/>
              </a:rPr>
              <a:t>i</a:t>
            </a:r>
            <a:r>
              <a:rPr lang="en-US" sz="1100" b="0" i="0" u="none" strike="noStrike" cap="none" dirty="0">
                <a:solidFill>
                  <a:srgbClr val="000000"/>
                </a:solidFill>
                <a:latin typeface="Arial"/>
                <a:ea typeface="Arial"/>
                <a:cs typeface="Arial"/>
                <a:sym typeface="Arial"/>
              </a:rPr>
              <a: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ThreadRacer</a:t>
            </a:r>
            <a:r>
              <a:rPr lang="en-US" sz="1100" b="0" i="0" u="none" strike="noStrike" cap="none" dirty="0">
                <a:solidFill>
                  <a:srgbClr val="000000"/>
                </a:solidFill>
                <a:latin typeface="Arial"/>
                <a:ea typeface="Arial"/>
                <a:cs typeface="Arial"/>
                <a:sym typeface="Arial"/>
              </a:rPr>
              <a:t> racer = new </a:t>
            </a:r>
            <a:r>
              <a:rPr lang="en-US" sz="1100" b="0" i="0" u="none" strike="noStrike" cap="none" dirty="0" err="1">
                <a:solidFill>
                  <a:srgbClr val="000000"/>
                </a:solidFill>
                <a:latin typeface="Arial"/>
                <a:ea typeface="Arial"/>
                <a:cs typeface="Arial"/>
                <a:sym typeface="Arial"/>
              </a:rPr>
              <a:t>ThreadRacer</a:t>
            </a:r>
            <a:r>
              <a:rPr lang="en-US" sz="1100" b="0" i="0" u="none" strike="noStrike" cap="none" dirty="0">
                <a:solidFill>
                  <a:srgbClr val="000000"/>
                </a:solidFill>
                <a:latin typeface="Arial"/>
                <a:ea typeface="Arial"/>
                <a:cs typeface="Arial"/>
                <a:sym typeface="Arial"/>
              </a:rPr>
              <a:t>("Racer-" + </a:t>
            </a:r>
            <a:r>
              <a:rPr lang="en-US" sz="1100" b="0" i="0" u="none" strike="noStrike" cap="none" dirty="0" err="1">
                <a:solidFill>
                  <a:srgbClr val="000000"/>
                </a:solidFill>
                <a:latin typeface="Arial"/>
                <a:ea typeface="Arial"/>
                <a:cs typeface="Arial"/>
                <a:sym typeface="Arial"/>
              </a:rPr>
              <a:t>i</a:t>
            </a:r>
            <a:r>
              <a:rPr lang="en-US" sz="1100" b="0" i="0" u="none" strike="noStrike" cap="none" dirty="0">
                <a:solidFill>
                  <a:srgbClr val="000000"/>
                </a:solidFill>
                <a:latin typeface="Arial"/>
                <a:ea typeface="Arial"/>
                <a:cs typeface="Arial"/>
                <a:sym typeface="Arial"/>
              </a:rPr>
              <a:t>, NUM_LAPS, DEBUG);</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racer.start</a:t>
            </a: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("All " + NUM_RACERS + " racers have been started.");</a:t>
            </a:r>
          </a:p>
          <a:p>
            <a:r>
              <a:rPr lang="en-US" dirty="0"/>
              <a:t>The </a:t>
            </a:r>
            <a:r>
              <a:rPr lang="en-US" sz="1100" b="0" i="0" u="none" strike="noStrike" cap="none" dirty="0" err="1">
                <a:solidFill>
                  <a:srgbClr val="000000"/>
                </a:solidFill>
                <a:latin typeface="Arial"/>
                <a:ea typeface="Arial"/>
                <a:cs typeface="Arial"/>
                <a:sym typeface="Arial"/>
              </a:rPr>
              <a:t>println</a:t>
            </a:r>
            <a:r>
              <a:rPr lang="en-US" dirty="0"/>
              <a:t> executes </a:t>
            </a:r>
            <a:r>
              <a:rPr lang="en-US" b="1" dirty="0"/>
              <a:t>only after the loop finishes</a:t>
            </a:r>
            <a:r>
              <a:rPr lang="en-US" dirty="0"/>
              <a:t>, and the loop must:</a:t>
            </a:r>
          </a:p>
          <a:p>
            <a:r>
              <a:rPr lang="en-US" dirty="0"/>
              <a:t>Create </a:t>
            </a:r>
            <a:r>
              <a:rPr lang="en-US" b="1" dirty="0"/>
              <a:t>1,000,000 objects</a:t>
            </a:r>
            <a:endParaRPr lang="en-US" dirty="0"/>
          </a:p>
          <a:p>
            <a:r>
              <a:rPr lang="en-US" dirty="0"/>
              <a:t>Create </a:t>
            </a:r>
            <a:r>
              <a:rPr lang="en-US" b="1" dirty="0"/>
              <a:t>1,000,000 Thread objects</a:t>
            </a:r>
            <a:endParaRPr lang="en-US" dirty="0"/>
          </a:p>
          <a:p>
            <a:r>
              <a:rPr lang="en-US" dirty="0"/>
              <a:t>Ask the </a:t>
            </a:r>
            <a:r>
              <a:rPr lang="en-US" b="1" dirty="0"/>
              <a:t>operating system to start 1,000,000 threads</a:t>
            </a:r>
            <a:endParaRPr lang="en-US" dirty="0"/>
          </a:p>
          <a:p>
            <a:r>
              <a:rPr lang="en-US" dirty="0"/>
              <a:t>Each call to </a:t>
            </a:r>
            <a:r>
              <a:rPr lang="en-US" sz="1100" b="0" i="0" u="none" strike="noStrike" cap="none" dirty="0">
                <a:solidFill>
                  <a:srgbClr val="000000"/>
                </a:solidFill>
                <a:latin typeface="Arial"/>
                <a:ea typeface="Arial"/>
                <a:cs typeface="Arial"/>
                <a:sym typeface="Arial"/>
              </a:rPr>
              <a:t>start()</a:t>
            </a:r>
            <a:r>
              <a:rPr lang="en-US" dirty="0"/>
              <a:t> involves </a:t>
            </a:r>
            <a:r>
              <a:rPr lang="en-US" b="1" dirty="0"/>
              <a:t>expensive OS work</a:t>
            </a:r>
            <a:r>
              <a:rPr lang="en-US" dirty="0"/>
              <a:t>:</a:t>
            </a:r>
          </a:p>
          <a:p>
            <a:r>
              <a:rPr lang="en-US" dirty="0"/>
              <a:t>Allocate stack memory for the thread</a:t>
            </a:r>
          </a:p>
          <a:p>
            <a:r>
              <a:rPr lang="en-US" dirty="0"/>
              <a:t>Register the thread with the OS scheduler</a:t>
            </a:r>
          </a:p>
          <a:p>
            <a:r>
              <a:rPr lang="en-US" dirty="0"/>
              <a:t>Context-switching overhead</a:t>
            </a:r>
          </a:p>
          <a:p>
            <a:r>
              <a:rPr lang="en-US" dirty="0"/>
              <a:t>JVM thread management</a:t>
            </a:r>
          </a:p>
          <a:p>
            <a:r>
              <a:rPr lang="en-US" dirty="0"/>
              <a:t>Creating threads is </a:t>
            </a:r>
            <a:r>
              <a:rPr lang="en-US" b="1" dirty="0"/>
              <a:t>very expensive compared to normal objects</a:t>
            </a:r>
            <a:r>
              <a:rPr lang="en-US" dirty="0"/>
              <a:t>.</a:t>
            </a:r>
          </a:p>
          <a:p>
            <a:pPr marL="0" lvl="0" indent="0" algn="l" rtl="0">
              <a:spcBef>
                <a:spcPts val="0"/>
              </a:spcBef>
              <a:spcAft>
                <a:spcPts val="0"/>
              </a:spcAft>
              <a:buNone/>
            </a:pPr>
            <a:endParaRPr dirty="0"/>
          </a:p>
        </p:txBody>
      </p:sp>
      <p:sp>
        <p:nvSpPr>
          <p:cNvPr id="479" name="Google Shape;479;gc973538050_1_3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c828c16636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c828c1663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298450" algn="l" rtl="0">
              <a:spcBef>
                <a:spcPts val="0"/>
              </a:spcBef>
              <a:spcAft>
                <a:spcPts val="0"/>
              </a:spcAft>
              <a:buSzPts val="1100"/>
              <a:buChar char="○"/>
            </a:pPr>
            <a:r>
              <a:rPr lang="en-US" b="1" dirty="0">
                <a:highlight>
                  <a:srgbClr val="FFFF00"/>
                </a:highlight>
              </a:rPr>
              <a:t>GOOD POINT TO STRESS – DEBUG OF TRUE VS DEBUG OF FALSE</a:t>
            </a:r>
          </a:p>
          <a:p>
            <a:pPr marL="914400" lvl="1" indent="-298450" algn="l" rtl="0">
              <a:spcBef>
                <a:spcPts val="0"/>
              </a:spcBef>
              <a:spcAft>
                <a:spcPts val="0"/>
              </a:spcAft>
              <a:buSzPts val="1100"/>
              <a:buChar char="○"/>
            </a:pPr>
            <a:r>
              <a:rPr lang="en-US" dirty="0">
                <a:highlight>
                  <a:srgbClr val="FFFF00"/>
                </a:highlight>
              </a:rPr>
              <a:t>Most of the time in </a:t>
            </a:r>
            <a:r>
              <a:rPr lang="en-US" dirty="0" err="1">
                <a:highlight>
                  <a:srgbClr val="FFFF00"/>
                </a:highlight>
              </a:rPr>
              <a:t>LotsORacers</a:t>
            </a:r>
            <a:r>
              <a:rPr lang="en-US" dirty="0">
                <a:highlight>
                  <a:srgbClr val="FFFF00"/>
                </a:highlight>
              </a:rPr>
              <a:t> was from creating/tearing down the threads.</a:t>
            </a:r>
          </a:p>
          <a:p>
            <a:pPr marL="914400" lvl="1" indent="-298450" algn="l" rtl="0">
              <a:spcBef>
                <a:spcPts val="0"/>
              </a:spcBef>
              <a:spcAft>
                <a:spcPts val="0"/>
              </a:spcAft>
              <a:buSzPts val="1100"/>
              <a:buChar char="○"/>
            </a:pPr>
            <a:r>
              <a:rPr lang="en-US" dirty="0">
                <a:highlight>
                  <a:srgbClr val="FFFF00"/>
                </a:highlight>
              </a:rPr>
              <a:t>Only a small amount was used for racing.</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err="1">
                <a:solidFill>
                  <a:srgbClr val="FF0000"/>
                </a:solidFill>
                <a:highlight>
                  <a:srgbClr val="FFFF00"/>
                </a:highlight>
                <a:latin typeface="Courier New"/>
                <a:ea typeface="Courier New"/>
                <a:cs typeface="Courier New"/>
                <a:sym typeface="Courier New"/>
              </a:rPr>
              <a:t>awaitTermination</a:t>
            </a:r>
            <a:r>
              <a:rPr lang="en-US" dirty="0"/>
              <a:t> - blocks until the service has finished. 	BETTER THAN ISALIVE, DON’T NEED TO CALL ON EACH ONE OF THEM.</a:t>
            </a:r>
          </a:p>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c828c16636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c828c16636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statement</a:t>
            </a:r>
          </a:p>
          <a:p>
            <a:pPr rtl="0"/>
            <a:r>
              <a:rPr lang="en-US" sz="1100" b="0" i="0" u="none" strike="noStrike" cap="none" dirty="0" err="1">
                <a:solidFill>
                  <a:srgbClr val="000000"/>
                </a:solidFill>
                <a:latin typeface="Arial"/>
                <a:ea typeface="Arial"/>
                <a:cs typeface="Arial"/>
                <a:sym typeface="Arial"/>
              </a:rPr>
              <a:t>ExecutorService</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exservice</a:t>
            </a:r>
            <a:r>
              <a:rPr lang="en-US" sz="1100" b="0" i="0" u="none" strike="noStrike" cap="none" dirty="0">
                <a:solidFill>
                  <a:srgbClr val="000000"/>
                </a:solidFill>
                <a:latin typeface="Arial"/>
                <a:ea typeface="Arial"/>
                <a:cs typeface="Arial"/>
                <a:sym typeface="Arial"/>
              </a:rPr>
              <a: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Executors.newCachedThreadPool</a:t>
            </a:r>
            <a:r>
              <a:rPr lang="en-US" sz="1100" b="0" i="0" u="none" strike="noStrike" cap="none" dirty="0">
                <a:solidFill>
                  <a:srgbClr val="000000"/>
                </a:solidFill>
                <a:latin typeface="Arial"/>
                <a:ea typeface="Arial"/>
                <a:cs typeface="Arial"/>
                <a:sym typeface="Arial"/>
              </a:rPr>
              <a:t>();</a:t>
            </a:r>
          </a:p>
          <a:p>
            <a:r>
              <a:rPr lang="en-US" dirty="0"/>
              <a:t>creates a </a:t>
            </a:r>
            <a:r>
              <a:rPr lang="en-US" b="1" dirty="0"/>
              <a:t>thread pool that automatically creates and reuses threads as needed</a:t>
            </a:r>
            <a:r>
              <a:rPr lang="en-US" dirty="0"/>
              <a:t> to execute tasks.</a:t>
            </a:r>
          </a:p>
          <a:p>
            <a:r>
              <a:rPr lang="en-US" dirty="0"/>
              <a:t>Let's break it down.</a:t>
            </a:r>
          </a:p>
          <a:p>
            <a:br>
              <a:rPr lang="en-US" dirty="0"/>
            </a:br>
            <a:endParaRPr lang="en-US" dirty="0"/>
          </a:p>
          <a:p>
            <a:r>
              <a:rPr lang="en-US" b="1" dirty="0"/>
              <a:t>1. </a:t>
            </a:r>
            <a:r>
              <a:rPr lang="en-US" sz="1100" b="1" i="0" u="none" strike="noStrike" cap="none" dirty="0" err="1">
                <a:solidFill>
                  <a:srgbClr val="000000"/>
                </a:solidFill>
                <a:latin typeface="Arial"/>
                <a:ea typeface="Arial"/>
                <a:cs typeface="Arial"/>
                <a:sym typeface="Arial"/>
              </a:rPr>
              <a:t>ExecutorService</a:t>
            </a:r>
            <a:endParaRPr lang="en-US" b="1" dirty="0"/>
          </a:p>
          <a:p>
            <a:r>
              <a:rPr lang="en-US" sz="1100" b="0" i="0" u="none" strike="noStrike" cap="none" dirty="0" err="1">
                <a:solidFill>
                  <a:srgbClr val="000000"/>
                </a:solidFill>
                <a:latin typeface="Arial"/>
                <a:ea typeface="Arial"/>
                <a:cs typeface="Arial"/>
                <a:sym typeface="Arial"/>
              </a:rPr>
              <a:t>ExecutorService</a:t>
            </a:r>
            <a:r>
              <a:rPr lang="en-US" dirty="0"/>
              <a:t> is an </a:t>
            </a:r>
            <a:r>
              <a:rPr lang="en-US" b="1" dirty="0"/>
              <a:t>interface in </a:t>
            </a:r>
            <a:r>
              <a:rPr lang="en-US" sz="1100" b="1" i="0" u="none" strike="noStrike" cap="none" dirty="0" err="1">
                <a:solidFill>
                  <a:srgbClr val="000000"/>
                </a:solidFill>
                <a:latin typeface="Arial"/>
                <a:ea typeface="Arial"/>
                <a:cs typeface="Arial"/>
                <a:sym typeface="Arial"/>
              </a:rPr>
              <a:t>java.util.concurrent</a:t>
            </a:r>
            <a:r>
              <a:rPr lang="en-US" dirty="0"/>
              <a:t> used to manage and control a pool of threads.</a:t>
            </a:r>
          </a:p>
          <a:p>
            <a:r>
              <a:rPr lang="en-US" dirty="0"/>
              <a:t>Instead of creating threads manually like this:</a:t>
            </a:r>
          </a:p>
          <a:p>
            <a:pPr rtl="0"/>
            <a:r>
              <a:rPr lang="en-US" sz="1100" b="0" i="0" u="none" strike="noStrike" cap="none" dirty="0">
                <a:solidFill>
                  <a:srgbClr val="000000"/>
                </a:solidFill>
                <a:latin typeface="Arial"/>
                <a:ea typeface="Arial"/>
                <a:cs typeface="Arial"/>
                <a:sym typeface="Arial"/>
              </a:rPr>
              <a:t>new Thread(task).start();</a:t>
            </a:r>
          </a:p>
          <a:p>
            <a:pPr rtl="0"/>
            <a:endParaRPr lang="en-US" sz="1100" b="0" i="0" u="none" strike="noStrike" cap="none" dirty="0">
              <a:solidFill>
                <a:srgbClr val="000000"/>
              </a:solidFill>
              <a:latin typeface="Arial"/>
              <a:ea typeface="Arial"/>
              <a:cs typeface="Arial"/>
              <a:sym typeface="Arial"/>
            </a:endParaRPr>
          </a:p>
          <a:p>
            <a:r>
              <a:rPr lang="en-US" dirty="0"/>
              <a:t>you </a:t>
            </a:r>
            <a:r>
              <a:rPr lang="en-US" b="1" dirty="0"/>
              <a:t>submit tasks</a:t>
            </a:r>
            <a:r>
              <a:rPr lang="en-US" dirty="0"/>
              <a:t> to the executor:</a:t>
            </a:r>
          </a:p>
          <a:p>
            <a:pPr rtl="0"/>
            <a:r>
              <a:rPr lang="en-US" sz="1100" b="0" i="0" u="none" strike="noStrike" cap="none" dirty="0" err="1">
                <a:solidFill>
                  <a:srgbClr val="000000"/>
                </a:solidFill>
                <a:latin typeface="Arial"/>
                <a:ea typeface="Arial"/>
                <a:cs typeface="Arial"/>
                <a:sym typeface="Arial"/>
              </a:rPr>
              <a:t>exservice.execute</a:t>
            </a:r>
            <a:r>
              <a:rPr lang="en-US" sz="1100" b="0" i="0" u="none" strike="noStrike" cap="none" dirty="0">
                <a:solidFill>
                  <a:srgbClr val="000000"/>
                </a:solidFill>
                <a:latin typeface="Arial"/>
                <a:ea typeface="Arial"/>
                <a:cs typeface="Arial"/>
                <a:sym typeface="Arial"/>
              </a:rPr>
              <a:t>(task);</a:t>
            </a:r>
          </a:p>
          <a:p>
            <a:pPr rtl="0"/>
            <a:endParaRPr lang="en-US" sz="1100" b="0" i="0" u="none" strike="noStrike" cap="none" dirty="0">
              <a:solidFill>
                <a:srgbClr val="000000"/>
              </a:solidFill>
              <a:latin typeface="Arial"/>
              <a:ea typeface="Arial"/>
              <a:cs typeface="Arial"/>
              <a:sym typeface="Arial"/>
            </a:endParaRPr>
          </a:p>
          <a:p>
            <a:r>
              <a:rPr lang="en-US" dirty="0"/>
              <a:t>The executor decides </a:t>
            </a:r>
            <a:r>
              <a:rPr lang="en-US" b="1" dirty="0"/>
              <a:t>which thread runs the task</a:t>
            </a:r>
            <a:r>
              <a:rPr lang="en-US" dirty="0"/>
              <a:t>.  </a:t>
            </a:r>
            <a:r>
              <a:rPr lang="en-US" dirty="0">
                <a:sym typeface="Wingdings" panose="05000000000000000000" pitchFamily="2" charset="2"/>
              </a:rPr>
              <a:t> Maintains a pool of task  Takes care of managing threads</a:t>
            </a:r>
            <a:endParaRPr lang="en-US" dirty="0"/>
          </a:p>
          <a:p>
            <a:r>
              <a:rPr lang="en-US" dirty="0"/>
              <a:t>Benefits:</a:t>
            </a:r>
          </a:p>
          <a:p>
            <a:r>
              <a:rPr lang="en-US" dirty="0"/>
              <a:t>Thread reuse</a:t>
            </a:r>
          </a:p>
          <a:p>
            <a:r>
              <a:rPr lang="en-US" dirty="0"/>
              <a:t>Better performance</a:t>
            </a:r>
          </a:p>
          <a:p>
            <a:r>
              <a:rPr lang="en-US" dirty="0"/>
              <a:t>Thread lifecycle management</a:t>
            </a:r>
          </a:p>
          <a:p>
            <a:r>
              <a:rPr lang="en-US" dirty="0"/>
              <a:t>Task scheduling</a:t>
            </a:r>
          </a:p>
          <a:p>
            <a:br>
              <a:rPr lang="en-US" dirty="0"/>
            </a:br>
            <a:endParaRPr lang="en-US" dirty="0"/>
          </a:p>
          <a:p>
            <a:r>
              <a:rPr lang="en-US" b="1" dirty="0"/>
              <a:t>2. </a:t>
            </a:r>
            <a:r>
              <a:rPr lang="en-US" sz="1100" b="1" i="0" u="none" strike="noStrike" cap="none" dirty="0">
                <a:solidFill>
                  <a:srgbClr val="000000"/>
                </a:solidFill>
                <a:latin typeface="Arial"/>
                <a:ea typeface="Arial"/>
                <a:cs typeface="Arial"/>
                <a:sym typeface="Arial"/>
              </a:rPr>
              <a:t>Executors</a:t>
            </a:r>
            <a:endParaRPr lang="en-US" b="1" dirty="0"/>
          </a:p>
          <a:p>
            <a:r>
              <a:rPr lang="en-US" sz="1100" b="0" i="0" u="none" strike="noStrike" cap="none" dirty="0">
                <a:solidFill>
                  <a:srgbClr val="000000"/>
                </a:solidFill>
                <a:latin typeface="Arial"/>
                <a:ea typeface="Arial"/>
                <a:cs typeface="Arial"/>
                <a:sym typeface="Arial"/>
              </a:rPr>
              <a:t>Executors</a:t>
            </a:r>
            <a:r>
              <a:rPr lang="en-US" dirty="0"/>
              <a:t> is a </a:t>
            </a:r>
            <a:r>
              <a:rPr lang="en-US" b="1" dirty="0"/>
              <a:t>utility class</a:t>
            </a:r>
            <a:r>
              <a:rPr lang="en-US" dirty="0"/>
              <a:t> that provides factory methods for creating different types of thread pools.</a:t>
            </a:r>
          </a:p>
          <a:p>
            <a:r>
              <a:rPr lang="en-US" dirty="0"/>
              <a:t>Example methods:</a:t>
            </a:r>
          </a:p>
          <a:p>
            <a:r>
              <a:rPr lang="en-US" dirty="0" err="1"/>
              <a:t>MethodDescription</a:t>
            </a:r>
            <a:endParaRPr lang="en-US" dirty="0"/>
          </a:p>
          <a:p>
            <a:r>
              <a:rPr lang="en-US" sz="1100" b="0" i="0" u="none" strike="noStrike" cap="none" dirty="0" err="1">
                <a:solidFill>
                  <a:srgbClr val="000000"/>
                </a:solidFill>
                <a:latin typeface="Arial"/>
                <a:ea typeface="Arial"/>
                <a:cs typeface="Arial"/>
                <a:sym typeface="Arial"/>
              </a:rPr>
              <a:t>newFixedThreadPool</a:t>
            </a:r>
            <a:r>
              <a:rPr lang="en-US" sz="1100" b="0" i="0" u="none" strike="noStrike" cap="none" dirty="0">
                <a:solidFill>
                  <a:srgbClr val="000000"/>
                </a:solidFill>
                <a:latin typeface="Arial"/>
                <a:ea typeface="Arial"/>
                <a:cs typeface="Arial"/>
                <a:sym typeface="Arial"/>
              </a:rPr>
              <a:t>(n) </a:t>
            </a:r>
            <a:r>
              <a:rPr lang="en-US" sz="1100" b="0" i="0" u="none" strike="noStrike" cap="none" dirty="0">
                <a:solidFill>
                  <a:srgbClr val="000000"/>
                </a:solidFill>
                <a:latin typeface="Arial"/>
                <a:ea typeface="Arial"/>
                <a:cs typeface="Arial"/>
                <a:sym typeface="Wingdings" panose="05000000000000000000" pitchFamily="2" charset="2"/>
              </a:rPr>
              <a:t> </a:t>
            </a:r>
            <a:r>
              <a:rPr lang="en-US" dirty="0"/>
              <a:t>Fixed number of threads</a:t>
            </a:r>
          </a:p>
          <a:p>
            <a:r>
              <a:rPr lang="en-US" sz="1100" b="0" i="0" u="none" strike="noStrike" cap="none" dirty="0" err="1">
                <a:solidFill>
                  <a:srgbClr val="000000"/>
                </a:solidFill>
                <a:latin typeface="Arial"/>
                <a:ea typeface="Arial"/>
                <a:cs typeface="Arial"/>
                <a:sym typeface="Arial"/>
              </a:rPr>
              <a:t>newCachedThreadPool</a:t>
            </a:r>
            <a:r>
              <a:rPr lang="en-US" sz="1100" b="0"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Wingdings" panose="05000000000000000000" pitchFamily="2" charset="2"/>
              </a:rPr>
              <a:t> </a:t>
            </a:r>
            <a:r>
              <a:rPr lang="en-US" dirty="0"/>
              <a:t>Dynamically growing thread pool</a:t>
            </a:r>
            <a:endParaRPr lang="en-US" sz="1100" b="0" i="0" u="none" strike="noStrike" cap="none" dirty="0">
              <a:solidFill>
                <a:srgbClr val="000000"/>
              </a:solidFill>
              <a:latin typeface="Arial"/>
              <a:ea typeface="Arial"/>
              <a:cs typeface="Arial"/>
              <a:sym typeface="Arial"/>
            </a:endParaRPr>
          </a:p>
          <a:p>
            <a:r>
              <a:rPr lang="en-US" sz="1100" b="0" i="0" u="none" strike="noStrike" cap="none" dirty="0" err="1">
                <a:solidFill>
                  <a:srgbClr val="000000"/>
                </a:solidFill>
                <a:latin typeface="Arial"/>
                <a:ea typeface="Arial"/>
                <a:cs typeface="Arial"/>
                <a:sym typeface="Arial"/>
              </a:rPr>
              <a:t>newSingleThreadExecutor</a:t>
            </a:r>
            <a:r>
              <a:rPr lang="en-US" sz="1100" b="0"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Wingdings" panose="05000000000000000000" pitchFamily="2" charset="2"/>
              </a:rPr>
              <a:t> </a:t>
            </a:r>
            <a:r>
              <a:rPr lang="en-US" dirty="0"/>
              <a:t>Only one thread</a:t>
            </a:r>
          </a:p>
          <a:p>
            <a:r>
              <a:rPr lang="en-US" sz="1100" b="0" i="0" u="none" strike="noStrike" cap="none" dirty="0" err="1">
                <a:solidFill>
                  <a:srgbClr val="000000"/>
                </a:solidFill>
                <a:latin typeface="Arial"/>
                <a:ea typeface="Arial"/>
                <a:cs typeface="Arial"/>
                <a:sym typeface="Arial"/>
              </a:rPr>
              <a:t>newScheduledThreadPool</a:t>
            </a:r>
            <a:r>
              <a:rPr lang="en-US" sz="1100" b="0" i="0" u="none" strike="noStrike" cap="none"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Wingdings" panose="05000000000000000000" pitchFamily="2" charset="2"/>
              </a:rPr>
              <a:t> </a:t>
            </a:r>
            <a:r>
              <a:rPr lang="en-US" dirty="0"/>
              <a:t>Supports scheduled tasks</a:t>
            </a:r>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3c828c16636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3c828c16636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There are several other variants that we won't be covering in this class.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Another one newScheduledThreadExecutor() </a:t>
            </a:r>
            <a:r>
              <a:rPr lang="en" dirty="0">
                <a:sym typeface="Wingdings" panose="05000000000000000000" pitchFamily="2" charset="2"/>
              </a:rPr>
              <a:t> Execute at a scheduled interval.</a:t>
            </a:r>
          </a:p>
          <a:p>
            <a:pPr marL="0" lvl="0" indent="0" algn="l" rtl="0">
              <a:spcBef>
                <a:spcPts val="0"/>
              </a:spcBef>
              <a:spcAft>
                <a:spcPts val="0"/>
              </a:spcAft>
              <a:buNone/>
            </a:pPr>
            <a:endParaRPr lang="en" dirty="0">
              <a:sym typeface="Wingdings" panose="05000000000000000000" pitchFamily="2" charset="2"/>
            </a:endParaRPr>
          </a:p>
          <a:p>
            <a:pPr marL="0" lvl="0" indent="0" algn="l" rtl="0">
              <a:spcBef>
                <a:spcPts val="0"/>
              </a:spcBef>
              <a:spcAft>
                <a:spcPts val="0"/>
              </a:spcAft>
              <a:buNone/>
            </a:pPr>
            <a:r>
              <a:rPr lang="en-US" dirty="0"/>
              <a:t>what happens if </a:t>
            </a:r>
            <a:r>
              <a:rPr lang="en-US" dirty="0" err="1"/>
              <a:t>executor.shutdown</a:t>
            </a:r>
            <a:r>
              <a:rPr lang="en-US" dirty="0"/>
              <a:t> is not called</a:t>
            </a:r>
          </a:p>
          <a:p>
            <a:pPr marL="0" lvl="0" indent="0" algn="l" rtl="0">
              <a:spcBef>
                <a:spcPts val="0"/>
              </a:spcBef>
              <a:spcAft>
                <a:spcPts val="0"/>
              </a:spcAft>
              <a:buNone/>
            </a:pPr>
            <a:endParaRPr lang="en-US" dirty="0"/>
          </a:p>
          <a:p>
            <a:r>
              <a:rPr lang="en-US" b="1" dirty="0"/>
              <a:t>1. </a:t>
            </a:r>
            <a:r>
              <a:rPr lang="en-US" b="1" dirty="0" err="1"/>
              <a:t>ExecutorService</a:t>
            </a:r>
            <a:r>
              <a:rPr lang="en-US" b="1" dirty="0"/>
              <a:t> threads stay alive</a:t>
            </a:r>
          </a:p>
          <a:p>
            <a:r>
              <a:rPr lang="en-US" dirty="0"/>
              <a:t>When you create an executor:</a:t>
            </a:r>
          </a:p>
          <a:p>
            <a:pPr rtl="0"/>
            <a:r>
              <a:rPr lang="en-US" sz="1100" b="0" i="0" u="none" strike="noStrike" cap="none" dirty="0" err="1">
                <a:solidFill>
                  <a:srgbClr val="000000"/>
                </a:solidFill>
                <a:latin typeface="Arial"/>
                <a:ea typeface="Arial"/>
                <a:cs typeface="Arial"/>
                <a:sym typeface="Arial"/>
              </a:rPr>
              <a:t>ExecutorService</a:t>
            </a:r>
            <a:r>
              <a:rPr lang="en-US" sz="1100" b="0" i="0" u="none" strike="noStrike" cap="none" dirty="0">
                <a:solidFill>
                  <a:srgbClr val="000000"/>
                </a:solidFill>
                <a:latin typeface="Arial"/>
                <a:ea typeface="Arial"/>
                <a:cs typeface="Arial"/>
                <a:sym typeface="Arial"/>
              </a:rPr>
              <a:t> executor = </a:t>
            </a:r>
            <a:r>
              <a:rPr lang="en-US" sz="1100" b="0" i="0" u="none" strike="noStrike" cap="none" dirty="0" err="1">
                <a:solidFill>
                  <a:srgbClr val="000000"/>
                </a:solidFill>
                <a:latin typeface="Arial"/>
                <a:ea typeface="Arial"/>
                <a:cs typeface="Arial"/>
                <a:sym typeface="Arial"/>
              </a:rPr>
              <a:t>Executors.newCachedThreadPool</a:t>
            </a:r>
            <a:r>
              <a:rPr lang="en-US" sz="1100" b="0" i="0" u="none" strike="noStrike" cap="none" dirty="0">
                <a:solidFill>
                  <a:srgbClr val="000000"/>
                </a:solidFill>
                <a:latin typeface="Arial"/>
                <a:ea typeface="Arial"/>
                <a:cs typeface="Arial"/>
                <a:sym typeface="Arial"/>
              </a:rPr>
              <a:t>();</a:t>
            </a:r>
          </a:p>
          <a:p>
            <a:r>
              <a:rPr lang="en-US" dirty="0"/>
              <a:t>the executor creates </a:t>
            </a:r>
            <a:r>
              <a:rPr lang="en-US" b="1" dirty="0"/>
              <a:t>worker threads</a:t>
            </a:r>
            <a:r>
              <a:rPr lang="en-US" dirty="0"/>
              <a:t>. These threads are </a:t>
            </a:r>
            <a:r>
              <a:rPr lang="en-US" b="1" dirty="0"/>
              <a:t>non-daemon threads</a:t>
            </a:r>
            <a:r>
              <a:rPr lang="en-US" dirty="0"/>
              <a:t>.</a:t>
            </a:r>
          </a:p>
          <a:p>
            <a:r>
              <a:rPr lang="en-US" dirty="0"/>
              <a:t>Non-daemon threads tell the JVM:</a:t>
            </a:r>
          </a:p>
          <a:p>
            <a:pPr rtl="0"/>
            <a:r>
              <a:rPr lang="en-US" sz="1100" b="0" i="0" u="none" strike="noStrike" cap="none" dirty="0">
                <a:solidFill>
                  <a:srgbClr val="000000"/>
                </a:solidFill>
                <a:latin typeface="Arial"/>
                <a:ea typeface="Arial"/>
                <a:cs typeface="Arial"/>
                <a:sym typeface="Arial"/>
              </a:rPr>
              <a:t>"Do not exit the program while we are still running."</a:t>
            </a:r>
          </a:p>
          <a:p>
            <a:r>
              <a:rPr lang="en-US" dirty="0"/>
              <a:t>So even if </a:t>
            </a:r>
            <a:r>
              <a:rPr lang="en-US" sz="1100" b="0" i="0" u="none" strike="noStrike" cap="none" dirty="0">
                <a:solidFill>
                  <a:srgbClr val="000000"/>
                </a:solidFill>
                <a:latin typeface="Arial"/>
                <a:ea typeface="Arial"/>
                <a:cs typeface="Arial"/>
                <a:sym typeface="Arial"/>
              </a:rPr>
              <a:t>main()</a:t>
            </a:r>
            <a:r>
              <a:rPr lang="en-US" dirty="0"/>
              <a:t> finishes, the JVM waits.</a:t>
            </a:r>
          </a:p>
          <a:p>
            <a:br>
              <a:rPr lang="en-US" dirty="0"/>
            </a:br>
            <a:endParaRPr lang="en-US" dirty="0"/>
          </a:p>
          <a:p>
            <a:r>
              <a:rPr lang="en-US" b="1" dirty="0"/>
              <a:t>2. The executor keeps waiting for more tasks</a:t>
            </a:r>
          </a:p>
          <a:p>
            <a:r>
              <a:rPr lang="en-US" dirty="0"/>
              <a:t>Without shutdown:</a:t>
            </a:r>
          </a:p>
          <a:p>
            <a:pPr rtl="0"/>
            <a:r>
              <a:rPr lang="en-US" sz="1100" b="0" i="0" u="none" strike="noStrike" cap="none" dirty="0" err="1">
                <a:solidFill>
                  <a:srgbClr val="000000"/>
                </a:solidFill>
                <a:latin typeface="Arial"/>
                <a:ea typeface="Arial"/>
                <a:cs typeface="Arial"/>
                <a:sym typeface="Arial"/>
              </a:rPr>
              <a:t>ExecutorService</a:t>
            </a:r>
            <a:r>
              <a:rPr lang="en-US" sz="1100" b="0" i="0" u="none" strike="noStrike" cap="none" dirty="0">
                <a:solidFill>
                  <a:srgbClr val="000000"/>
                </a:solidFill>
                <a:latin typeface="Arial"/>
                <a:ea typeface="Arial"/>
                <a:cs typeface="Arial"/>
                <a:sym typeface="Arial"/>
              </a:rPr>
              <a:t> still alive</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Waiting for new tasks</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Program never exits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b="1" dirty="0"/>
              <a:t>3. What </a:t>
            </a:r>
            <a:r>
              <a:rPr lang="en-US" sz="1100" b="1" i="0" u="none" strike="noStrike" cap="none" dirty="0">
                <a:solidFill>
                  <a:srgbClr val="000000"/>
                </a:solidFill>
                <a:latin typeface="Arial"/>
                <a:ea typeface="Arial"/>
                <a:cs typeface="Arial"/>
                <a:sym typeface="Arial"/>
              </a:rPr>
              <a:t>shutdown()</a:t>
            </a:r>
            <a:r>
              <a:rPr lang="en-US" b="1" dirty="0"/>
              <a:t> does</a:t>
            </a:r>
          </a:p>
          <a:p>
            <a:pPr rtl="0"/>
            <a:r>
              <a:rPr lang="en-US" sz="1100" b="0" i="0" u="none" strike="noStrike" cap="none" dirty="0" err="1">
                <a:solidFill>
                  <a:srgbClr val="000000"/>
                </a:solidFill>
                <a:latin typeface="Arial"/>
                <a:ea typeface="Arial"/>
                <a:cs typeface="Arial"/>
                <a:sym typeface="Arial"/>
              </a:rPr>
              <a:t>executor.shutdown</a:t>
            </a:r>
            <a:r>
              <a:rPr lang="en-US" sz="1100" b="0" i="0" u="none" strike="noStrike" cap="none" dirty="0">
                <a:solidFill>
                  <a:srgbClr val="000000"/>
                </a:solidFill>
                <a:latin typeface="Arial"/>
                <a:ea typeface="Arial"/>
                <a:cs typeface="Arial"/>
                <a:sym typeface="Arial"/>
              </a:rPr>
              <a:t>();</a:t>
            </a:r>
          </a:p>
          <a:p>
            <a:r>
              <a:rPr lang="en-US" dirty="0"/>
              <a:t>This tells the executor:</a:t>
            </a:r>
          </a:p>
          <a:p>
            <a:pPr rtl="0"/>
            <a:r>
              <a:rPr lang="en-US" sz="1100" b="0" i="0" u="none" strike="noStrike" cap="none" dirty="0">
                <a:solidFill>
                  <a:srgbClr val="000000"/>
                </a:solidFill>
                <a:latin typeface="Arial"/>
                <a:ea typeface="Arial"/>
                <a:cs typeface="Arial"/>
                <a:sym typeface="Arial"/>
              </a:rPr>
              <a:t>Stop accepting new tasks</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Finish executing existing tasks</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Then terminate threads</a:t>
            </a:r>
          </a:p>
          <a:p>
            <a:r>
              <a:rPr lang="en-US" dirty="0"/>
              <a:t>So the lifecycle becomes:</a:t>
            </a:r>
          </a:p>
          <a:p>
            <a:pPr rtl="0"/>
            <a:r>
              <a:rPr lang="en-US" sz="1100" b="0" i="0" u="none" strike="noStrike" cap="none" dirty="0">
                <a:solidFill>
                  <a:srgbClr val="000000"/>
                </a:solidFill>
                <a:latin typeface="Arial"/>
                <a:ea typeface="Arial"/>
                <a:cs typeface="Arial"/>
                <a:sym typeface="Arial"/>
              </a:rPr>
              <a:t>submit tasks</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shutdown()</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tasks finish</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threads terminate</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JVM exits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c828c16636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3c828c16636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When using really high numbers of racers, the FixedPool may wind out being faster.</a:t>
            </a:r>
          </a:p>
          <a:p>
            <a:pPr marL="0" lvl="0" indent="0" algn="l" rtl="0">
              <a:spcBef>
                <a:spcPts val="0"/>
              </a:spcBef>
              <a:spcAft>
                <a:spcPts val="0"/>
              </a:spcAft>
              <a:buNone/>
            </a:pPr>
            <a:endParaRPr lang="en" dirty="0"/>
          </a:p>
          <a:p>
            <a:pPr marL="0" lvl="0" indent="0" algn="l" rtl="0">
              <a:spcBef>
                <a:spcPts val="0"/>
              </a:spcBef>
              <a:spcAft>
                <a:spcPts val="0"/>
              </a:spcAft>
              <a:buNone/>
            </a:pPr>
            <a:r>
              <a:rPr lang="en-US" dirty="0"/>
              <a:t>The argument to </a:t>
            </a:r>
            <a:r>
              <a:rPr lang="en-US" sz="1100" b="0" i="0" u="none" strike="noStrike" cap="none" dirty="0" err="1">
                <a:solidFill>
                  <a:srgbClr val="000000"/>
                </a:solidFill>
                <a:latin typeface="Arial"/>
                <a:ea typeface="Arial"/>
                <a:cs typeface="Arial"/>
                <a:sym typeface="Arial"/>
              </a:rPr>
              <a:t>ExecutorService.submit</a:t>
            </a:r>
            <a:r>
              <a:rPr lang="en-US" sz="1100" b="0" i="0" u="none" strike="noStrike" cap="none" dirty="0">
                <a:solidFill>
                  <a:srgbClr val="000000"/>
                </a:solidFill>
                <a:latin typeface="Arial"/>
                <a:ea typeface="Arial"/>
                <a:cs typeface="Arial"/>
                <a:sym typeface="Arial"/>
              </a:rPr>
              <a:t>()</a:t>
            </a:r>
            <a:r>
              <a:rPr lang="en-US" dirty="0"/>
              <a:t> is a task, typically a </a:t>
            </a:r>
            <a:r>
              <a:rPr lang="en-US" sz="1100" b="0" i="0" u="none" strike="noStrike" cap="none" dirty="0">
                <a:solidFill>
                  <a:srgbClr val="000000"/>
                </a:solidFill>
                <a:latin typeface="Arial"/>
                <a:ea typeface="Arial"/>
                <a:cs typeface="Arial"/>
                <a:sym typeface="Arial"/>
              </a:rPr>
              <a:t>Runnable</a:t>
            </a:r>
            <a:r>
              <a:rPr lang="en-US" dirty="0"/>
              <a:t> or </a:t>
            </a:r>
            <a:r>
              <a:rPr lang="en-US" sz="1100" b="0" i="0" u="none" strike="noStrike" cap="none" dirty="0">
                <a:solidFill>
                  <a:srgbClr val="000000"/>
                </a:solidFill>
                <a:latin typeface="Arial"/>
                <a:ea typeface="Arial"/>
                <a:cs typeface="Arial"/>
                <a:sym typeface="Arial"/>
              </a:rPr>
              <a:t>Callable</a:t>
            </a:r>
            <a:r>
              <a:rPr lang="en-US" dirty="0"/>
              <a:t>, that represents the code to be executed asynchronously by a thread in the executor’s thread pool.</a:t>
            </a:r>
          </a:p>
          <a:p>
            <a:pPr marL="0" lvl="0" indent="0" algn="l" rtl="0">
              <a:spcBef>
                <a:spcPts val="0"/>
              </a:spcBef>
              <a:spcAft>
                <a:spcPts val="0"/>
              </a:spcAft>
              <a:buNone/>
            </a:pPr>
            <a:endParaRPr lang="en" dirty="0"/>
          </a:p>
          <a:p>
            <a:pPr marL="0" lvl="0" indent="0" algn="l" rtl="0">
              <a:spcBef>
                <a:spcPts val="0"/>
              </a:spcBef>
              <a:spcAft>
                <a:spcPts val="0"/>
              </a:spcAft>
              <a:buNone/>
            </a:pPr>
            <a:r>
              <a:rPr lang="en-US" dirty="0"/>
              <a:t>// Option 2 (recommended): Fixed thread pool</a:t>
            </a:r>
            <a:br>
              <a:rPr lang="en-US" dirty="0"/>
            </a:br>
            <a:r>
              <a:rPr lang="en-US" dirty="0"/>
              <a:t>// int cores = </a:t>
            </a:r>
            <a:r>
              <a:rPr lang="en-US" dirty="0" err="1"/>
              <a:t>Runtime.getRuntime</a:t>
            </a:r>
            <a:r>
              <a:rPr lang="en-US" dirty="0"/>
              <a:t>().</a:t>
            </a:r>
            <a:r>
              <a:rPr lang="en-US" dirty="0" err="1"/>
              <a:t>availableProcessors</a:t>
            </a:r>
            <a:r>
              <a:rPr lang="en-US" dirty="0"/>
              <a:t>();</a:t>
            </a:r>
            <a:br>
              <a:rPr lang="en-US" dirty="0"/>
            </a:br>
            <a:r>
              <a:rPr lang="en-US" dirty="0"/>
              <a:t>// </a:t>
            </a:r>
            <a:r>
              <a:rPr lang="en-US" dirty="0" err="1"/>
              <a:t>ExecutorService</a:t>
            </a:r>
            <a:r>
              <a:rPr lang="en-US" dirty="0"/>
              <a:t> </a:t>
            </a:r>
            <a:r>
              <a:rPr lang="en-US" dirty="0" err="1"/>
              <a:t>exservice</a:t>
            </a:r>
            <a:r>
              <a:rPr lang="en-US" dirty="0"/>
              <a:t> = </a:t>
            </a:r>
            <a:r>
              <a:rPr lang="en-US" dirty="0" err="1"/>
              <a:t>Executors.newFixedThreadPool</a:t>
            </a:r>
            <a:r>
              <a:rPr lang="en-US" dirty="0"/>
              <a:t>(cores);</a:t>
            </a:r>
          </a:p>
          <a:p>
            <a:pPr marL="0" lvl="0" indent="0" algn="l" rtl="0">
              <a:spcBef>
                <a:spcPts val="0"/>
              </a:spcBef>
              <a:spcAft>
                <a:spcPts val="0"/>
              </a:spcAft>
              <a:buNone/>
            </a:pPr>
            <a:endParaRPr lang="en-US" dirty="0"/>
          </a:p>
          <a:p>
            <a:r>
              <a:rPr lang="en-US" dirty="0"/>
              <a:t>The method </a:t>
            </a:r>
            <a:r>
              <a:rPr lang="en-US" sz="1100" b="1" i="0" u="none" strike="noStrike" cap="none" dirty="0" err="1">
                <a:solidFill>
                  <a:srgbClr val="000000"/>
                </a:solidFill>
                <a:latin typeface="Arial"/>
                <a:ea typeface="Arial"/>
                <a:cs typeface="Arial"/>
                <a:sym typeface="Arial"/>
              </a:rPr>
              <a:t>ExecutorService.submit</a:t>
            </a:r>
            <a:r>
              <a:rPr lang="en-US" sz="1100" b="1" i="0" u="none" strike="noStrike" cap="none" dirty="0">
                <a:solidFill>
                  <a:srgbClr val="000000"/>
                </a:solidFill>
                <a:latin typeface="Arial"/>
                <a:ea typeface="Arial"/>
                <a:cs typeface="Arial"/>
                <a:sym typeface="Arial"/>
              </a:rPr>
              <a:t>()</a:t>
            </a:r>
            <a:r>
              <a:rPr lang="en-US" dirty="0"/>
              <a:t> accepts a </a:t>
            </a:r>
            <a:r>
              <a:rPr lang="en-US" b="1" dirty="0"/>
              <a:t>task</a:t>
            </a:r>
            <a:r>
              <a:rPr lang="en-US" dirty="0"/>
              <a:t> that should be executed by a thread in the executor’s thread pool.</a:t>
            </a:r>
          </a:p>
          <a:p>
            <a:r>
              <a:rPr lang="en-US" dirty="0"/>
              <a:t>There are </a:t>
            </a:r>
            <a:r>
              <a:rPr lang="en-US" b="1" dirty="0"/>
              <a:t>three main types of arguments</a:t>
            </a:r>
            <a:r>
              <a:rPr lang="en-US" dirty="0"/>
              <a:t> you can pass.</a:t>
            </a:r>
          </a:p>
          <a:p>
            <a:pPr marL="0" lvl="0" indent="0" algn="l" rtl="0">
              <a:spcBef>
                <a:spcPts val="0"/>
              </a:spcBef>
              <a:spcAft>
                <a:spcPts val="0"/>
              </a:spcAft>
              <a:buNone/>
            </a:pPr>
            <a:endParaRPr lang="en-US" dirty="0"/>
          </a:p>
          <a:p>
            <a:r>
              <a:rPr lang="en-US" b="1" dirty="0"/>
              <a:t>1. </a:t>
            </a:r>
            <a:r>
              <a:rPr lang="en-US" sz="1100" b="1" i="0" u="none" strike="noStrike" cap="none" dirty="0">
                <a:solidFill>
                  <a:srgbClr val="000000"/>
                </a:solidFill>
                <a:latin typeface="Arial"/>
                <a:ea typeface="Arial"/>
                <a:cs typeface="Arial"/>
                <a:sym typeface="Arial"/>
              </a:rPr>
              <a:t>Runnable</a:t>
            </a:r>
            <a:endParaRPr lang="en-US" b="1" dirty="0"/>
          </a:p>
          <a:p>
            <a:r>
              <a:rPr lang="en-US" dirty="0"/>
              <a:t>A </a:t>
            </a:r>
            <a:r>
              <a:rPr lang="en-US" b="1" dirty="0"/>
              <a:t>Runnable task</a:t>
            </a:r>
            <a:r>
              <a:rPr lang="en-US" dirty="0"/>
              <a:t> performs work but </a:t>
            </a:r>
            <a:r>
              <a:rPr lang="en-US" b="1" dirty="0"/>
              <a:t>does not return a result</a:t>
            </a:r>
            <a:r>
              <a:rPr lang="en-US" dirty="0"/>
              <a:t>.</a:t>
            </a:r>
          </a:p>
          <a:p>
            <a:pPr marL="0" lvl="0" indent="0" algn="l" rtl="0">
              <a:spcBef>
                <a:spcPts val="0"/>
              </a:spcBef>
              <a:spcAft>
                <a:spcPts val="0"/>
              </a:spcAft>
              <a:buNone/>
            </a:pPr>
            <a:endParaRPr lang="en-US" dirty="0"/>
          </a:p>
          <a:p>
            <a:pPr rtl="0"/>
            <a:r>
              <a:rPr lang="en-US" sz="1100" b="0" i="0" u="none" strike="noStrike" cap="none" dirty="0" err="1">
                <a:solidFill>
                  <a:srgbClr val="000000"/>
                </a:solidFill>
                <a:latin typeface="Arial"/>
                <a:ea typeface="Arial"/>
                <a:cs typeface="Arial"/>
                <a:sym typeface="Arial"/>
              </a:rPr>
              <a:t>ExecutorService</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exservice</a:t>
            </a:r>
            <a:r>
              <a:rPr lang="en-US" sz="1100" b="0" i="0" u="none" strike="noStrike" cap="none" dirty="0">
                <a:solidFill>
                  <a:srgbClr val="000000"/>
                </a:solidFill>
                <a:latin typeface="Arial"/>
                <a:ea typeface="Arial"/>
                <a:cs typeface="Arial"/>
                <a:sym typeface="Arial"/>
              </a:rPr>
              <a:t> = </a:t>
            </a:r>
            <a:r>
              <a:rPr lang="en-US" sz="1100" b="0" i="0" u="none" strike="noStrike" cap="none" dirty="0" err="1">
                <a:solidFill>
                  <a:srgbClr val="000000"/>
                </a:solidFill>
                <a:latin typeface="Arial"/>
                <a:ea typeface="Arial"/>
                <a:cs typeface="Arial"/>
                <a:sym typeface="Arial"/>
              </a:rPr>
              <a:t>Executors.newCachedThreadPool</a:t>
            </a: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exservice.submit</a:t>
            </a:r>
            <a:r>
              <a:rPr lang="en-US" sz="1100" b="0" i="0" u="none" strike="noStrike" cap="none" dirty="0">
                <a:solidFill>
                  <a:srgbClr val="000000"/>
                </a:solidFill>
                <a:latin typeface="Arial"/>
                <a:ea typeface="Arial"/>
                <a:cs typeface="Arial"/>
                <a:sym typeface="Arial"/>
              </a:rPr>
              <a:t>(() -&gt;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("Task running");</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a:t>
            </a:r>
          </a:p>
          <a:p>
            <a:r>
              <a:rPr lang="en-US" dirty="0"/>
              <a:t>Equivalent without lambda:</a:t>
            </a:r>
          </a:p>
          <a:p>
            <a:pPr rtl="0"/>
            <a:r>
              <a:rPr lang="en-US" sz="1100" b="0" i="0" u="none" strike="noStrike" cap="none" dirty="0">
                <a:solidFill>
                  <a:srgbClr val="000000"/>
                </a:solidFill>
                <a:latin typeface="Arial"/>
                <a:ea typeface="Arial"/>
                <a:cs typeface="Arial"/>
                <a:sym typeface="Arial"/>
              </a:rPr>
              <a:t>Runnable task = new Runnable()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public void run()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("Task running");</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exservice.submit</a:t>
            </a:r>
            <a:r>
              <a:rPr lang="en-US" sz="1100" b="0" i="0" u="none" strike="noStrike" cap="none" dirty="0">
                <a:solidFill>
                  <a:srgbClr val="000000"/>
                </a:solidFill>
                <a:latin typeface="Arial"/>
                <a:ea typeface="Arial"/>
                <a:cs typeface="Arial"/>
                <a:sym typeface="Arial"/>
              </a:rPr>
              <a:t>(task);</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b="1" dirty="0"/>
              <a:t>2. </a:t>
            </a:r>
            <a:r>
              <a:rPr lang="en-US" sz="1100" b="1" i="0" u="none" strike="noStrike" cap="none" dirty="0">
                <a:solidFill>
                  <a:srgbClr val="000000"/>
                </a:solidFill>
                <a:latin typeface="Arial"/>
                <a:ea typeface="Arial"/>
                <a:cs typeface="Arial"/>
                <a:sym typeface="Arial"/>
              </a:rPr>
              <a:t>Callable</a:t>
            </a:r>
            <a:endParaRPr lang="en-US" b="1" dirty="0"/>
          </a:p>
          <a:p>
            <a:r>
              <a:rPr lang="en-US" dirty="0"/>
              <a:t>A </a:t>
            </a:r>
            <a:r>
              <a:rPr lang="en-US" b="1" dirty="0"/>
              <a:t>Callable task returns a value</a:t>
            </a:r>
            <a:r>
              <a:rPr lang="en-US" dirty="0"/>
              <a:t>.</a:t>
            </a:r>
          </a:p>
          <a:p>
            <a:r>
              <a:rPr lang="en-US" b="1" dirty="0"/>
              <a:t>Method signature</a:t>
            </a:r>
          </a:p>
          <a:p>
            <a:pPr rtl="0"/>
            <a:r>
              <a:rPr lang="en-US" sz="1100" b="0" i="0" u="none" strike="noStrike" cap="none" dirty="0">
                <a:solidFill>
                  <a:srgbClr val="000000"/>
                </a:solidFill>
                <a:latin typeface="Arial"/>
                <a:ea typeface="Arial"/>
                <a:cs typeface="Arial"/>
                <a:sym typeface="Arial"/>
              </a:rPr>
              <a:t>&lt;T&gt; Future&lt;T&gt; submit(Callable&lt;T&gt; task)</a:t>
            </a:r>
          </a:p>
          <a:p>
            <a:r>
              <a:rPr lang="en-US" b="1" dirty="0"/>
              <a:t>Example</a:t>
            </a:r>
          </a:p>
          <a:p>
            <a:pPr rtl="0"/>
            <a:r>
              <a:rPr lang="en-US" sz="1100" b="0" i="0" u="none" strike="noStrike" cap="none" dirty="0" err="1">
                <a:solidFill>
                  <a:srgbClr val="000000"/>
                </a:solidFill>
                <a:latin typeface="Arial"/>
                <a:ea typeface="Arial"/>
                <a:cs typeface="Arial"/>
                <a:sym typeface="Arial"/>
              </a:rPr>
              <a:t>ExecutorService</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exservice</a:t>
            </a:r>
            <a:r>
              <a:rPr lang="en-US" sz="1100" b="0" i="0" u="none" strike="noStrike" cap="none" dirty="0">
                <a:solidFill>
                  <a:srgbClr val="000000"/>
                </a:solidFill>
                <a:latin typeface="Arial"/>
                <a:ea typeface="Arial"/>
                <a:cs typeface="Arial"/>
                <a:sym typeface="Arial"/>
              </a:rPr>
              <a:t> = </a:t>
            </a:r>
            <a:r>
              <a:rPr lang="en-US" sz="1100" b="0" i="0" u="none" strike="noStrike" cap="none" dirty="0" err="1">
                <a:solidFill>
                  <a:srgbClr val="000000"/>
                </a:solidFill>
                <a:latin typeface="Arial"/>
                <a:ea typeface="Arial"/>
                <a:cs typeface="Arial"/>
                <a:sym typeface="Arial"/>
              </a:rPr>
              <a:t>Executors.newCachedThreadPool</a:t>
            </a: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Future&lt;Integer&gt; result = </a:t>
            </a:r>
            <a:r>
              <a:rPr lang="en-US" sz="1100" b="0" i="0" u="none" strike="noStrike" cap="none" dirty="0" err="1">
                <a:solidFill>
                  <a:srgbClr val="000000"/>
                </a:solidFill>
                <a:latin typeface="Arial"/>
                <a:ea typeface="Arial"/>
                <a:cs typeface="Arial"/>
                <a:sym typeface="Arial"/>
              </a:rPr>
              <a:t>exservice.submit</a:t>
            </a:r>
            <a:r>
              <a:rPr lang="en-US" sz="1100" b="0" i="0" u="none" strike="noStrike" cap="none" dirty="0">
                <a:solidFill>
                  <a:srgbClr val="000000"/>
                </a:solidFill>
                <a:latin typeface="Arial"/>
                <a:ea typeface="Arial"/>
                <a:cs typeface="Arial"/>
                <a:sym typeface="Arial"/>
              </a:rPr>
              <a:t>(() -&gt;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return 5 + 10;</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result.get</a:t>
            </a:r>
            <a:r>
              <a:rPr lang="en-US" sz="1100" b="0" i="0" u="none" strike="noStrike" cap="none" dirty="0">
                <a:solidFill>
                  <a:srgbClr val="000000"/>
                </a:solidFill>
                <a:latin typeface="Arial"/>
                <a:ea typeface="Arial"/>
                <a:cs typeface="Arial"/>
                <a:sym typeface="Arial"/>
              </a:rPr>
              <a:t>()); // prints 15</a:t>
            </a:r>
          </a:p>
          <a:p>
            <a:pPr marL="0" lvl="0" indent="0" algn="l" rtl="0">
              <a:spcBef>
                <a:spcPts val="0"/>
              </a:spcBef>
              <a:spcAft>
                <a:spcPts val="0"/>
              </a:spcAft>
              <a:buNone/>
            </a:pPr>
            <a:endParaRPr lang="en-US" dirty="0"/>
          </a:p>
          <a:p>
            <a:br>
              <a:rPr lang="en-US" dirty="0"/>
            </a:br>
            <a:endParaRPr lang="en-US" dirty="0"/>
          </a:p>
          <a:p>
            <a:r>
              <a:rPr lang="en-US" b="1" dirty="0"/>
              <a:t>3. </a:t>
            </a:r>
            <a:r>
              <a:rPr lang="en-US" sz="1100" b="1" i="0" u="none" strike="noStrike" cap="none" dirty="0">
                <a:solidFill>
                  <a:srgbClr val="000000"/>
                </a:solidFill>
                <a:latin typeface="Arial"/>
                <a:ea typeface="Arial"/>
                <a:cs typeface="Arial"/>
                <a:sym typeface="Arial"/>
              </a:rPr>
              <a:t>Runnable</a:t>
            </a:r>
            <a:r>
              <a:rPr lang="en-US" b="1" dirty="0"/>
              <a:t> with a result</a:t>
            </a:r>
          </a:p>
          <a:p>
            <a:r>
              <a:rPr lang="en-US" dirty="0"/>
              <a:t>You can also provide a </a:t>
            </a:r>
            <a:r>
              <a:rPr lang="en-US" b="1" dirty="0"/>
              <a:t>Runnable plus a result value</a:t>
            </a:r>
            <a:r>
              <a:rPr lang="en-US" dirty="0"/>
              <a:t>.</a:t>
            </a:r>
          </a:p>
          <a:p>
            <a:r>
              <a:rPr lang="en-US" b="1" dirty="0"/>
              <a:t>Method signature</a:t>
            </a:r>
          </a:p>
          <a:p>
            <a:pPr rtl="0"/>
            <a:r>
              <a:rPr lang="en-US" sz="1100" b="0" i="0" u="none" strike="noStrike" cap="none" dirty="0">
                <a:solidFill>
                  <a:srgbClr val="000000"/>
                </a:solidFill>
                <a:latin typeface="Arial"/>
                <a:ea typeface="Arial"/>
                <a:cs typeface="Arial"/>
                <a:sym typeface="Arial"/>
              </a:rPr>
              <a:t>&lt;T&gt; Future&lt;T&gt; submit(Runnable task, T result)</a:t>
            </a:r>
          </a:p>
          <a:p>
            <a:r>
              <a:rPr lang="en-US" b="1" dirty="0"/>
              <a:t>Example</a:t>
            </a:r>
          </a:p>
          <a:p>
            <a:pPr rtl="0"/>
            <a:r>
              <a:rPr lang="en-US" sz="1100" b="0" i="0" u="none" strike="noStrike" cap="none" dirty="0">
                <a:solidFill>
                  <a:srgbClr val="000000"/>
                </a:solidFill>
                <a:latin typeface="Arial"/>
                <a:ea typeface="Arial"/>
                <a:cs typeface="Arial"/>
                <a:sym typeface="Arial"/>
              </a:rPr>
              <a:t>Future&lt;String&gt; result = </a:t>
            </a:r>
            <a:r>
              <a:rPr lang="en-US" sz="1100" b="0" i="0" u="none" strike="noStrike" cap="none" dirty="0" err="1">
                <a:solidFill>
                  <a:srgbClr val="000000"/>
                </a:solidFill>
                <a:latin typeface="Arial"/>
                <a:ea typeface="Arial"/>
                <a:cs typeface="Arial"/>
                <a:sym typeface="Arial"/>
              </a:rPr>
              <a:t>exservice.submit</a:t>
            </a:r>
            <a:r>
              <a:rPr lang="en-US" sz="1100" b="0" i="0" u="none" strike="noStrike" cap="none" dirty="0">
                <a:solidFill>
                  <a:srgbClr val="000000"/>
                </a:solidFill>
                <a:latin typeface="Arial"/>
                <a:ea typeface="Arial"/>
                <a:cs typeface="Arial"/>
                <a:sym typeface="Arial"/>
              </a:rPr>
              <a:t>(() -&gt;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("Running task");</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"Task Finished");</a:t>
            </a:r>
            <a:br>
              <a:rPr lang="en-US" sz="1100" b="0" i="0" u="none" strike="noStrike" cap="none" dirty="0">
                <a:solidFill>
                  <a:srgbClr val="000000"/>
                </a:solidFill>
                <a:latin typeface="Arial"/>
                <a:ea typeface="Arial"/>
                <a:cs typeface="Arial"/>
                <a:sym typeface="Arial"/>
              </a:rPr>
            </a:b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result.get</a:t>
            </a:r>
            <a:r>
              <a:rPr lang="en-US" sz="1100" b="0" i="0" u="none" strike="noStrike" cap="none" dirty="0">
                <a:solidFill>
                  <a:srgbClr val="000000"/>
                </a:solidFill>
                <a:latin typeface="Arial"/>
                <a:ea typeface="Arial"/>
                <a:cs typeface="Arial"/>
                <a:sym typeface="Arial"/>
              </a:rPr>
              <a:t>());</a:t>
            </a:r>
          </a:p>
          <a:p>
            <a:r>
              <a:rPr lang="en-US" dirty="0"/>
              <a:t>Output</a:t>
            </a:r>
          </a:p>
          <a:p>
            <a:pPr rtl="0"/>
            <a:r>
              <a:rPr lang="en-US" sz="1100" b="0" i="0" u="none" strike="noStrike" cap="none" dirty="0">
                <a:solidFill>
                  <a:srgbClr val="000000"/>
                </a:solidFill>
                <a:latin typeface="Arial"/>
                <a:ea typeface="Arial"/>
                <a:cs typeface="Arial"/>
                <a:sym typeface="Arial"/>
              </a:rPr>
              <a:t>Running task</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Task</a:t>
            </a:r>
            <a:r>
              <a:rPr lang="en-US" sz="1100" b="0" i="0" u="none" strike="noStrike" cap="none" dirty="0">
                <a:solidFill>
                  <a:srgbClr val="000000"/>
                </a:solidFill>
                <a:latin typeface="Arial"/>
                <a:ea typeface="Arial"/>
                <a:cs typeface="Arial"/>
                <a:sym typeface="Arial"/>
              </a:rPr>
              <a:t> Finished</a:t>
            </a:r>
          </a:p>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caa2d7e5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caa2d7e5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err="1">
                <a:solidFill>
                  <a:srgbClr val="000000"/>
                </a:solidFill>
                <a:latin typeface="Arial"/>
                <a:ea typeface="Arial"/>
                <a:cs typeface="Arial"/>
                <a:sym typeface="Arial"/>
              </a:rPr>
              <a:t>ExecutorService.submit</a:t>
            </a:r>
            <a:r>
              <a:rPr lang="en-US" sz="1100" b="0" i="0" u="none" strike="noStrike" cap="none" dirty="0">
                <a:solidFill>
                  <a:srgbClr val="000000"/>
                </a:solidFill>
                <a:latin typeface="Arial"/>
                <a:ea typeface="Arial"/>
                <a:cs typeface="Arial"/>
                <a:sym typeface="Arial"/>
              </a:rPr>
              <a:t>()</a:t>
            </a:r>
            <a:r>
              <a:rPr lang="en-US" dirty="0"/>
              <a:t> is usually </a:t>
            </a:r>
            <a:r>
              <a:rPr lang="en-US" b="1" dirty="0"/>
              <a:t>faster than creating a thread and calling </a:t>
            </a:r>
            <a:r>
              <a:rPr lang="en-US" sz="1100" b="1" i="0" u="none" strike="noStrike" cap="none" dirty="0">
                <a:solidFill>
                  <a:srgbClr val="000000"/>
                </a:solidFill>
                <a:latin typeface="Arial"/>
                <a:ea typeface="Arial"/>
                <a:cs typeface="Arial"/>
                <a:sym typeface="Arial"/>
              </a:rPr>
              <a:t>start()</a:t>
            </a:r>
            <a:r>
              <a:rPr lang="en-US" dirty="0"/>
              <a:t> because it </a:t>
            </a:r>
            <a:r>
              <a:rPr lang="en-US" b="1" dirty="0"/>
              <a:t>reuses existing threads instead of creating new ones</a:t>
            </a:r>
            <a:r>
              <a:rPr lang="en-US" dirty="0"/>
              <a:t>. Thread creation is an expensive operation, while submitting a task to a thread pool is relatively cheap.</a:t>
            </a:r>
          </a:p>
          <a:p>
            <a:pPr marL="0" lvl="0" indent="0" algn="l" rtl="0">
              <a:spcBef>
                <a:spcPts val="0"/>
              </a:spcBef>
              <a:spcAft>
                <a:spcPts val="0"/>
              </a:spcAft>
              <a:buNone/>
            </a:pPr>
            <a:endParaRPr lang="en-US" dirty="0"/>
          </a:p>
          <a:p>
            <a:r>
              <a:rPr lang="en-US" b="1" dirty="0"/>
              <a:t>1. Creating a thread is expensive</a:t>
            </a:r>
          </a:p>
          <a:p>
            <a:r>
              <a:rPr lang="en-US" dirty="0"/>
              <a:t>When you do:</a:t>
            </a:r>
          </a:p>
          <a:p>
            <a:pPr rtl="0"/>
            <a:r>
              <a:rPr lang="en-US" sz="1100" b="0" i="0" u="none" strike="noStrike" cap="none" dirty="0">
                <a:solidFill>
                  <a:srgbClr val="000000"/>
                </a:solidFill>
                <a:latin typeface="Arial"/>
                <a:ea typeface="Arial"/>
                <a:cs typeface="Arial"/>
                <a:sym typeface="Arial"/>
              </a:rPr>
              <a:t>new Thread(task).start();</a:t>
            </a:r>
          </a:p>
          <a:p>
            <a:r>
              <a:rPr lang="en-US" dirty="0"/>
              <a:t>the JVM and operating system must:</a:t>
            </a:r>
          </a:p>
          <a:p>
            <a:r>
              <a:rPr lang="en-US" dirty="0"/>
              <a:t>Allocate memory for the thread stack (often ~1 MB)</a:t>
            </a:r>
          </a:p>
          <a:p>
            <a:r>
              <a:rPr lang="en-US" dirty="0"/>
              <a:t>Register the thread with the OS scheduler</a:t>
            </a:r>
          </a:p>
          <a:p>
            <a:r>
              <a:rPr lang="en-US" dirty="0"/>
              <a:t>Create internal thread structures</a:t>
            </a:r>
          </a:p>
          <a:p>
            <a:r>
              <a:rPr lang="en-US" dirty="0"/>
              <a:t>Perform a context switch</a:t>
            </a:r>
          </a:p>
          <a:p>
            <a:r>
              <a:rPr lang="en-US" dirty="0"/>
              <a:t>Manage lifecycle and cleanup</a:t>
            </a:r>
          </a:p>
          <a:p>
            <a:r>
              <a:rPr lang="en-US" dirty="0"/>
              <a:t>This process happens </a:t>
            </a:r>
            <a:r>
              <a:rPr lang="en-US" b="1" dirty="0"/>
              <a:t>every time you create a new thread</a:t>
            </a:r>
            <a:r>
              <a:rPr lang="en-US" dirty="0"/>
              <a:t>.</a:t>
            </a:r>
          </a:p>
          <a:p>
            <a:pPr marL="0" lvl="0" indent="0" algn="l" rtl="0">
              <a:spcBef>
                <a:spcPts val="0"/>
              </a:spcBef>
              <a:spcAft>
                <a:spcPts val="0"/>
              </a:spcAft>
              <a:buNone/>
            </a:pP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3c828c16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6" name="Google Shape;576;g3c828c16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c828c16636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3c828c16636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Call shutdown before </a:t>
            </a:r>
            <a:r>
              <a:rPr lang="en" b="1" dirty="0">
                <a:solidFill>
                  <a:srgbClr val="FF0000"/>
                </a:solidFill>
                <a:latin typeface="Courier New"/>
                <a:ea typeface="Courier New"/>
                <a:cs typeface="Courier New"/>
                <a:sym typeface="Courier New"/>
              </a:rPr>
              <a:t>awaitTermination.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 dirty="0">
              <a:solidFill>
                <a:srgbClr val="FF0000"/>
              </a:solidFill>
              <a:latin typeface="Courier New"/>
              <a:cs typeface="Courier New"/>
              <a:sym typeface="Courier New"/>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What happens </a:t>
            </a:r>
            <a:r>
              <a:rPr lang="en-US" dirty="0">
                <a:sym typeface="Wingdings" panose="05000000000000000000" pitchFamily="2" charset="2"/>
              </a:rPr>
              <a:t> It will not run as </a:t>
            </a:r>
            <a:r>
              <a:rPr lang="en-US" dirty="0" err="1">
                <a:sym typeface="Wingdings" panose="05000000000000000000" pitchFamily="2" charset="2"/>
              </a:rPr>
              <a:t>InterruptedException</a:t>
            </a:r>
            <a:r>
              <a:rPr lang="en-US" dirty="0">
                <a:sym typeface="Wingdings" panose="05000000000000000000" pitchFamily="2" charset="2"/>
              </a:rPr>
              <a:t> is not caught.</a:t>
            </a: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We did not call </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exservice.shutdown</a:t>
            </a:r>
            <a:r>
              <a:rPr lang="en-US" sz="1100" b="0" i="0" u="none" strike="noStrike" cap="none" dirty="0">
                <a:solidFill>
                  <a:srgbClr val="000000"/>
                </a:solidFill>
                <a:effectLst/>
                <a:latin typeface="Arial"/>
                <a:ea typeface="Arial"/>
                <a:cs typeface="Arial"/>
                <a:sym typeface="Arial"/>
              </a:rPr>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it will timeout.</a:t>
            </a:r>
          </a:p>
          <a:p>
            <a:pPr marL="0" lvl="0" indent="0" algn="l" rtl="0">
              <a:spcBef>
                <a:spcPts val="0"/>
              </a:spcBef>
              <a:spcAft>
                <a:spcPts val="0"/>
              </a:spcAft>
              <a:buNone/>
            </a:pPr>
            <a:r>
              <a:rPr lang="en-US" dirty="0"/>
              <a:t>We need to include shutdown before </a:t>
            </a:r>
            <a:r>
              <a:rPr lang="en-US" dirty="0" err="1"/>
              <a:t>awaitTermination</a:t>
            </a:r>
            <a:r>
              <a:rPr lang="en-US" dirty="0"/>
              <a:t> to ensure that it Executor is no longer waiting for new request while await is timed out.</a:t>
            </a:r>
          </a:p>
          <a:p>
            <a:pPr marL="0" lvl="0" indent="0" algn="l" rtl="0">
              <a:spcBef>
                <a:spcPts val="0"/>
              </a:spcBef>
              <a:spcAft>
                <a:spcPts val="0"/>
              </a:spcAft>
              <a:buNone/>
            </a:pPr>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3c828c16636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3c828c16636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21c6847f24b_0_58: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0" name="Google Shape;620;g21c6847f24b_0_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c828c16636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3c828c16636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3c828c16636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3c828c16636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1. The core issue: Thread scheduling is not fair</a:t>
            </a:r>
          </a:p>
          <a:p>
            <a:r>
              <a:rPr lang="en-US" dirty="0"/>
              <a:t>When you start multiple racers (threads):</a:t>
            </a:r>
          </a:p>
          <a:p>
            <a:pPr rtl="0"/>
            <a:r>
              <a:rPr lang="en-US" sz="1100" b="0" i="0" u="none" strike="noStrike" cap="none" dirty="0" err="1">
                <a:solidFill>
                  <a:srgbClr val="000000"/>
                </a:solidFill>
                <a:latin typeface="Arial"/>
                <a:ea typeface="Arial"/>
                <a:cs typeface="Arial"/>
                <a:sym typeface="Arial"/>
              </a:rPr>
              <a:t>exservice.submit</a:t>
            </a:r>
            <a:r>
              <a:rPr lang="en-US" sz="1100" b="0" i="0" u="none" strike="noStrike" cap="none" dirty="0">
                <a:solidFill>
                  <a:srgbClr val="000000"/>
                </a:solidFill>
                <a:latin typeface="Arial"/>
                <a:ea typeface="Arial"/>
                <a:cs typeface="Arial"/>
                <a:sym typeface="Arial"/>
              </a:rPr>
              <a:t>(r1::race);</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exservice.submit</a:t>
            </a:r>
            <a:r>
              <a:rPr lang="en-US" sz="1100" b="0" i="0" u="none" strike="noStrike" cap="none" dirty="0">
                <a:solidFill>
                  <a:srgbClr val="000000"/>
                </a:solidFill>
                <a:latin typeface="Arial"/>
                <a:ea typeface="Arial"/>
                <a:cs typeface="Arial"/>
                <a:sym typeface="Arial"/>
              </a:rPr>
              <a:t>(r2::race);</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exservice.submit</a:t>
            </a:r>
            <a:r>
              <a:rPr lang="en-US" sz="1100" b="0" i="0" u="none" strike="noStrike" cap="none" dirty="0">
                <a:solidFill>
                  <a:srgbClr val="000000"/>
                </a:solidFill>
                <a:latin typeface="Arial"/>
                <a:ea typeface="Arial"/>
                <a:cs typeface="Arial"/>
                <a:sym typeface="Arial"/>
              </a:rPr>
              <a:t>(r3::race);</a:t>
            </a:r>
          </a:p>
          <a:p>
            <a:pPr marL="0" lvl="0" indent="0" algn="l" rtl="0">
              <a:spcBef>
                <a:spcPts val="0"/>
              </a:spcBef>
              <a:spcAft>
                <a:spcPts val="0"/>
              </a:spcAft>
              <a:buNone/>
            </a:pPr>
            <a:endParaRPr lang="en-US" dirty="0"/>
          </a:p>
          <a:p>
            <a:r>
              <a:rPr lang="en-US" b="1" dirty="0"/>
              <a:t>1. The core issue: Thread scheduling is not fair</a:t>
            </a:r>
          </a:p>
          <a:p>
            <a:r>
              <a:rPr lang="en-US" dirty="0"/>
              <a:t>When you start multiple racers (threads):</a:t>
            </a:r>
          </a:p>
          <a:p>
            <a:pPr rtl="0"/>
            <a:r>
              <a:rPr lang="en-US" sz="1100" b="0" i="0" u="none" strike="noStrike" cap="none" dirty="0" err="1">
                <a:solidFill>
                  <a:srgbClr val="000000"/>
                </a:solidFill>
                <a:latin typeface="Arial"/>
                <a:ea typeface="Arial"/>
                <a:cs typeface="Arial"/>
                <a:sym typeface="Arial"/>
              </a:rPr>
              <a:t>exservice.submit</a:t>
            </a:r>
            <a:r>
              <a:rPr lang="en-US" sz="1100" b="0" i="0" u="none" strike="noStrike" cap="none" dirty="0">
                <a:solidFill>
                  <a:srgbClr val="000000"/>
                </a:solidFill>
                <a:latin typeface="Arial"/>
                <a:ea typeface="Arial"/>
                <a:cs typeface="Arial"/>
                <a:sym typeface="Arial"/>
              </a:rPr>
              <a:t>(r1::race);</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exservice.submit</a:t>
            </a:r>
            <a:r>
              <a:rPr lang="en-US" sz="1100" b="0" i="0" u="none" strike="noStrike" cap="none" dirty="0">
                <a:solidFill>
                  <a:srgbClr val="000000"/>
                </a:solidFill>
                <a:latin typeface="Arial"/>
                <a:ea typeface="Arial"/>
                <a:cs typeface="Arial"/>
                <a:sym typeface="Arial"/>
              </a:rPr>
              <a:t>(r2::race);</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exservice.submit</a:t>
            </a:r>
            <a:r>
              <a:rPr lang="en-US" sz="1100" b="0" i="0" u="none" strike="noStrike" cap="none" dirty="0">
                <a:solidFill>
                  <a:srgbClr val="000000"/>
                </a:solidFill>
                <a:latin typeface="Arial"/>
                <a:ea typeface="Arial"/>
                <a:cs typeface="Arial"/>
                <a:sym typeface="Arial"/>
              </a:rPr>
              <a:t>(r3::race);</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3c828c16636_0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3c828c16636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3c828c16636_0_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3c828c16636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3c866e35bf5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3c866e35bf5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3c866e35bf5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3c866e35bf5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3c866e35bf5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3c866e35bf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3c866e35bf5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 name="Google Shape;763;g3c866e35bf5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3c068ee8d87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3c068ee8d8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3c866e35bf5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4" name="Google Shape;824;g3c866e35bf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3c866e35bf5_0_1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0" name="Google Shape;850;g3c866e35bf5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3c828c16636_0_2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3c828c16636_0_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1c6847f24b_0_36: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8" name="Google Shape;888;g21c6847f24b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1c6847f24b_0_72: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1" name="Google Shape;911;g21c6847f24b_0_72:notes"/>
          <p:cNvSpPr>
            <a:spLocks noGrp="1" noRot="1" noChangeAspect="1"/>
          </p:cNvSpPr>
          <p:nvPr>
            <p:ph type="sldImg" idx="2"/>
          </p:nvPr>
        </p:nvSpPr>
        <p:spPr>
          <a:xfrm>
            <a:off x="729258" y="1143000"/>
            <a:ext cx="5399400" cy="3085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3bee729c8a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3" name="Google Shape;923;g3bee729c8a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1c6847f24b_0_126: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4" name="Google Shape;934;g21c6847f24b_0_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1c6847f24b_0_140: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9" name="Google Shape;949;g21c6847f24b_0_140:notes"/>
          <p:cNvSpPr>
            <a:spLocks noGrp="1" noRot="1" noChangeAspect="1"/>
          </p:cNvSpPr>
          <p:nvPr>
            <p:ph type="sldImg" idx="2"/>
          </p:nvPr>
        </p:nvSpPr>
        <p:spPr>
          <a:xfrm>
            <a:off x="729258" y="1143000"/>
            <a:ext cx="5399400" cy="3085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1c6847f24b_0_151:notes"/>
          <p:cNvSpPr>
            <a:spLocks noGrp="1" noRot="1" noChangeAspect="1"/>
          </p:cNvSpPr>
          <p:nvPr>
            <p:ph type="sldImg" idx="2"/>
          </p:nvPr>
        </p:nvSpPr>
        <p:spPr>
          <a:xfrm>
            <a:off x="729258" y="1143000"/>
            <a:ext cx="5399400" cy="3085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1c6847f24b_0_151:notes"/>
          <p:cNvSpPr txBox="1">
            <a:spLocks noGrp="1"/>
          </p:cNvSpPr>
          <p:nvPr>
            <p:ph type="body" idx="1"/>
          </p:nvPr>
        </p:nvSpPr>
        <p:spPr>
          <a:xfrm>
            <a:off x="686099" y="4401155"/>
            <a:ext cx="5485800" cy="35997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r>
              <a:rPr lang="en"/>
              <a:t>1 Overwrite the same value or index out of bounds</a:t>
            </a:r>
            <a:endParaRPr/>
          </a:p>
          <a:p>
            <a:pPr marL="0" lvl="0" indent="0" algn="l" rtl="0">
              <a:spcBef>
                <a:spcPts val="0"/>
              </a:spcBef>
              <a:spcAft>
                <a:spcPts val="0"/>
              </a:spcAft>
              <a:buNone/>
            </a:pPr>
            <a:r>
              <a:rPr lang="en"/>
              <a:t>2 Might not have 10,000 values when done (some will overwrite)</a:t>
            </a:r>
            <a:endParaRPr/>
          </a:p>
        </p:txBody>
      </p:sp>
      <p:sp>
        <p:nvSpPr>
          <p:cNvPr id="962" name="Google Shape;962;g21c6847f24b_0_151:notes"/>
          <p:cNvSpPr txBox="1">
            <a:spLocks noGrp="1"/>
          </p:cNvSpPr>
          <p:nvPr>
            <p:ph type="sldNum" idx="12"/>
          </p:nvPr>
        </p:nvSpPr>
        <p:spPr>
          <a:xfrm>
            <a:off x="3884415" y="8685894"/>
            <a:ext cx="2972100" cy="458100"/>
          </a:xfrm>
          <a:prstGeom prst="rect">
            <a:avLst/>
          </a:prstGeom>
          <a:noFill/>
          <a:ln>
            <a:noFill/>
          </a:ln>
        </p:spPr>
        <p:txBody>
          <a:bodyPr spcFirstLastPara="1" wrap="square" lIns="86175" tIns="43075" rIns="86175" bIns="43075" anchor="b" anchorCtr="0">
            <a:noAutofit/>
          </a:bodyPr>
          <a:lstStyle/>
          <a:p>
            <a:pPr marL="0" lvl="0" indent="0" algn="r" rtl="0">
              <a:spcBef>
                <a:spcPts val="0"/>
              </a:spcBef>
              <a:spcAft>
                <a:spcPts val="0"/>
              </a:spcAft>
              <a:buNone/>
            </a:pPr>
            <a:fld id="{00000000-1234-1234-1234-123412341234}" type="slidenum">
              <a:rPr lang="en" sz="1300"/>
              <a:t>49</a:t>
            </a:fld>
            <a:endParaRPr sz="130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229ff613d07_0_9:notes"/>
          <p:cNvSpPr>
            <a:spLocks noGrp="1" noRot="1" noChangeAspect="1"/>
          </p:cNvSpPr>
          <p:nvPr>
            <p:ph type="sldImg" idx="2"/>
          </p:nvPr>
        </p:nvSpPr>
        <p:spPr>
          <a:xfrm>
            <a:off x="729258" y="1143000"/>
            <a:ext cx="5399400" cy="3085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2" name="Google Shape;972;g229ff613d07_0_9:notes"/>
          <p:cNvSpPr txBox="1">
            <a:spLocks noGrp="1"/>
          </p:cNvSpPr>
          <p:nvPr>
            <p:ph type="body" idx="1"/>
          </p:nvPr>
        </p:nvSpPr>
        <p:spPr>
          <a:xfrm>
            <a:off x="686099" y="4401155"/>
            <a:ext cx="5485800" cy="35997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r>
              <a:rPr lang="en"/>
              <a:t>1 Overwrite the same value or index out of bounds</a:t>
            </a:r>
            <a:endParaRPr/>
          </a:p>
          <a:p>
            <a:pPr marL="0" lvl="0" indent="0" algn="l" rtl="0">
              <a:spcBef>
                <a:spcPts val="0"/>
              </a:spcBef>
              <a:spcAft>
                <a:spcPts val="0"/>
              </a:spcAft>
              <a:buNone/>
            </a:pPr>
            <a:r>
              <a:rPr lang="en"/>
              <a:t>2 Might not have 10,000 values when done (some will overwrite)</a:t>
            </a:r>
            <a:endParaRPr/>
          </a:p>
        </p:txBody>
      </p:sp>
      <p:sp>
        <p:nvSpPr>
          <p:cNvPr id="973" name="Google Shape;973;g229ff613d07_0_9:notes"/>
          <p:cNvSpPr txBox="1">
            <a:spLocks noGrp="1"/>
          </p:cNvSpPr>
          <p:nvPr>
            <p:ph type="sldNum" idx="12"/>
          </p:nvPr>
        </p:nvSpPr>
        <p:spPr>
          <a:xfrm>
            <a:off x="3884415" y="8685894"/>
            <a:ext cx="2972100" cy="458100"/>
          </a:xfrm>
          <a:prstGeom prst="rect">
            <a:avLst/>
          </a:prstGeom>
          <a:noFill/>
          <a:ln>
            <a:noFill/>
          </a:ln>
        </p:spPr>
        <p:txBody>
          <a:bodyPr spcFirstLastPara="1" wrap="square" lIns="86175" tIns="43075" rIns="86175" bIns="43075" anchor="b" anchorCtr="0">
            <a:noAutofit/>
          </a:bodyPr>
          <a:lstStyle/>
          <a:p>
            <a:pPr marL="0" lvl="0" indent="0" algn="r" rtl="0">
              <a:spcBef>
                <a:spcPts val="0"/>
              </a:spcBef>
              <a:spcAft>
                <a:spcPts val="0"/>
              </a:spcAft>
              <a:buNone/>
            </a:pPr>
            <a:fld id="{00000000-1234-1234-1234-123412341234}" type="slidenum">
              <a:rPr lang="en" sz="1300"/>
              <a:t>50</a:t>
            </a:fld>
            <a:endParaRPr sz="130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345bc571425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7" name="Google Shape;987;g345bc571425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8b6744271a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3" name="Google Shape;993;g8b6744271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rgbClr val="FFFFFF"/>
        </a:solidFill>
        <a:effectLst/>
      </p:bgPr>
    </p:bg>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40660" y="30698"/>
            <a:ext cx="8449200" cy="6360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5"/>
          <p:cNvSpPr txBox="1">
            <a:spLocks noGrp="1"/>
          </p:cNvSpPr>
          <p:nvPr>
            <p:ph type="body" idx="1"/>
          </p:nvPr>
        </p:nvSpPr>
        <p:spPr>
          <a:xfrm>
            <a:off x="340660" y="884286"/>
            <a:ext cx="8449200" cy="4156800"/>
          </a:xfrm>
          <a:prstGeom prst="rect">
            <a:avLst/>
          </a:prstGeom>
          <a:noFill/>
          <a:ln>
            <a:noFill/>
          </a:ln>
        </p:spPr>
        <p:txBody>
          <a:bodyPr spcFirstLastPara="1" wrap="square" lIns="68575" tIns="34275" rIns="68575" bIns="34275" anchor="t" anchorCtr="0">
            <a:normAutofit/>
          </a:bodyPr>
          <a:lstStyle>
            <a:lvl1pPr marL="457200" lvl="0" indent="-349250" algn="l" rtl="0">
              <a:lnSpc>
                <a:spcPct val="90000"/>
              </a:lnSpc>
              <a:spcBef>
                <a:spcPts val="800"/>
              </a:spcBef>
              <a:spcAft>
                <a:spcPts val="0"/>
              </a:spcAft>
              <a:buClr>
                <a:schemeClr val="dk1"/>
              </a:buClr>
              <a:buSzPts val="1900"/>
              <a:buFont typeface="Calibri"/>
              <a:buChar char="●"/>
              <a:defRPr sz="2100"/>
            </a:lvl1pPr>
            <a:lvl2pPr marL="914400" lvl="1" indent="-330200" algn="l" rtl="0">
              <a:lnSpc>
                <a:spcPct val="90000"/>
              </a:lnSpc>
              <a:spcBef>
                <a:spcPts val="1600"/>
              </a:spcBef>
              <a:spcAft>
                <a:spcPts val="0"/>
              </a:spcAft>
              <a:buClr>
                <a:schemeClr val="dk1"/>
              </a:buClr>
              <a:buSzPts val="1600"/>
              <a:buFont typeface="Courier New"/>
              <a:buChar char="o"/>
              <a:defRPr sz="1800"/>
            </a:lvl2pPr>
            <a:lvl3pPr marL="1371600" lvl="2" indent="-323850" algn="l" rtl="0">
              <a:lnSpc>
                <a:spcPct val="90000"/>
              </a:lnSpc>
              <a:spcBef>
                <a:spcPts val="1600"/>
              </a:spcBef>
              <a:spcAft>
                <a:spcPts val="0"/>
              </a:spcAft>
              <a:buClr>
                <a:schemeClr val="dk1"/>
              </a:buClr>
              <a:buSzPts val="1500"/>
              <a:buFont typeface="Noto Sans Symbols"/>
              <a:buChar char="▪"/>
              <a:defRPr sz="1500"/>
            </a:lvl3pPr>
            <a:lvl4pPr marL="1828800" lvl="3" indent="-317500" algn="l" rtl="0">
              <a:lnSpc>
                <a:spcPct val="90000"/>
              </a:lnSpc>
              <a:spcBef>
                <a:spcPts val="1600"/>
              </a:spcBef>
              <a:spcAft>
                <a:spcPts val="0"/>
              </a:spcAft>
              <a:buClr>
                <a:schemeClr val="dk1"/>
              </a:buClr>
              <a:buSzPts val="1400"/>
              <a:buFont typeface="Calibri"/>
              <a:buChar char="▫"/>
              <a:defRPr sz="1400"/>
            </a:lvl4pPr>
            <a:lvl5pPr marL="2286000" lvl="4" indent="-298450" algn="l" rtl="0">
              <a:lnSpc>
                <a:spcPct val="90000"/>
              </a:lnSpc>
              <a:spcBef>
                <a:spcPts val="1600"/>
              </a:spcBef>
              <a:spcAft>
                <a:spcPts val="0"/>
              </a:spcAft>
              <a:buClr>
                <a:schemeClr val="dk1"/>
              </a:buClr>
              <a:buSzPts val="1100"/>
              <a:buChar char="○"/>
              <a:defRPr sz="1100"/>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cxnSp>
        <p:nvCxnSpPr>
          <p:cNvPr id="76" name="Google Shape;76;p15"/>
          <p:cNvCxnSpPr/>
          <p:nvPr/>
        </p:nvCxnSpPr>
        <p:spPr>
          <a:xfrm>
            <a:off x="340660" y="690167"/>
            <a:ext cx="8449200" cy="0"/>
          </a:xfrm>
          <a:prstGeom prst="straightConnector1">
            <a:avLst/>
          </a:prstGeom>
          <a:noFill/>
          <a:ln w="63500" cap="flat" cmpd="thickThin">
            <a:solidFill>
              <a:schemeClr val="lt2"/>
            </a:solidFill>
            <a:prstDash val="solid"/>
            <a:miter lim="800000"/>
            <a:headEnd type="none" w="sm" len="sm"/>
            <a:tailEnd type="none" w="sm" len="sm"/>
          </a:ln>
        </p:spPr>
      </p:cxnSp>
      <p:sp>
        <p:nvSpPr>
          <p:cNvPr id="77" name="Google Shape;77;p15"/>
          <p:cNvSpPr txBox="1">
            <a:spLocks noGrp="1"/>
          </p:cNvSpPr>
          <p:nvPr>
            <p:ph type="body" idx="2"/>
          </p:nvPr>
        </p:nvSpPr>
        <p:spPr>
          <a:xfrm>
            <a:off x="915543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78" name="Google Shape;78;p15"/>
          <p:cNvSpPr txBox="1">
            <a:spLocks noGrp="1"/>
          </p:cNvSpPr>
          <p:nvPr>
            <p:ph type="body" idx="3"/>
          </p:nvPr>
        </p:nvSpPr>
        <p:spPr>
          <a:xfrm>
            <a:off x="915543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79" name="Google Shape;79;p15"/>
          <p:cNvSpPr txBox="1">
            <a:spLocks noGrp="1"/>
          </p:cNvSpPr>
          <p:nvPr>
            <p:ph type="body" idx="4"/>
          </p:nvPr>
        </p:nvSpPr>
        <p:spPr>
          <a:xfrm>
            <a:off x="915543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0" name="Google Shape;80;p15"/>
          <p:cNvSpPr txBox="1">
            <a:spLocks noGrp="1"/>
          </p:cNvSpPr>
          <p:nvPr>
            <p:ph type="body" idx="5"/>
          </p:nvPr>
        </p:nvSpPr>
        <p:spPr>
          <a:xfrm>
            <a:off x="915543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1" name="Google Shape;81;p15"/>
          <p:cNvSpPr txBox="1">
            <a:spLocks noGrp="1"/>
          </p:cNvSpPr>
          <p:nvPr>
            <p:ph type="body" idx="6"/>
          </p:nvPr>
        </p:nvSpPr>
        <p:spPr>
          <a:xfrm>
            <a:off x="915543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2" name="Google Shape;82;p15"/>
          <p:cNvSpPr txBox="1">
            <a:spLocks noGrp="1"/>
          </p:cNvSpPr>
          <p:nvPr>
            <p:ph type="body" idx="7"/>
          </p:nvPr>
        </p:nvSpPr>
        <p:spPr>
          <a:xfrm>
            <a:off x="915543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3" name="Google Shape;83;p15"/>
          <p:cNvSpPr txBox="1">
            <a:spLocks noGrp="1"/>
          </p:cNvSpPr>
          <p:nvPr>
            <p:ph type="body" idx="8"/>
          </p:nvPr>
        </p:nvSpPr>
        <p:spPr>
          <a:xfrm>
            <a:off x="915543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4" name="Google Shape;84;p15"/>
          <p:cNvSpPr txBox="1">
            <a:spLocks noGrp="1"/>
          </p:cNvSpPr>
          <p:nvPr>
            <p:ph type="body" idx="9"/>
          </p:nvPr>
        </p:nvSpPr>
        <p:spPr>
          <a:xfrm>
            <a:off x="915543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5" name="Google Shape;85;p15"/>
          <p:cNvSpPr txBox="1">
            <a:spLocks noGrp="1"/>
          </p:cNvSpPr>
          <p:nvPr>
            <p:ph type="body" idx="13"/>
          </p:nvPr>
        </p:nvSpPr>
        <p:spPr>
          <a:xfrm>
            <a:off x="915543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6" name="Google Shape;86;p15"/>
          <p:cNvSpPr txBox="1">
            <a:spLocks noGrp="1"/>
          </p:cNvSpPr>
          <p:nvPr>
            <p:ph type="body" idx="14"/>
          </p:nvPr>
        </p:nvSpPr>
        <p:spPr>
          <a:xfrm>
            <a:off x="915543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7" name="Google Shape;87;p15"/>
          <p:cNvSpPr txBox="1">
            <a:spLocks noGrp="1"/>
          </p:cNvSpPr>
          <p:nvPr>
            <p:ph type="body" idx="15"/>
          </p:nvPr>
        </p:nvSpPr>
        <p:spPr>
          <a:xfrm>
            <a:off x="915543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8" name="Google Shape;88;p15"/>
          <p:cNvSpPr txBox="1">
            <a:spLocks noGrp="1"/>
          </p:cNvSpPr>
          <p:nvPr>
            <p:ph type="body" idx="16"/>
          </p:nvPr>
        </p:nvSpPr>
        <p:spPr>
          <a:xfrm>
            <a:off x="915543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9" name="Google Shape;89;p15"/>
          <p:cNvSpPr txBox="1">
            <a:spLocks noGrp="1"/>
          </p:cNvSpPr>
          <p:nvPr>
            <p:ph type="body" idx="17"/>
          </p:nvPr>
        </p:nvSpPr>
        <p:spPr>
          <a:xfrm>
            <a:off x="915543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0" name="Google Shape;90;p15"/>
          <p:cNvSpPr txBox="1">
            <a:spLocks noGrp="1"/>
          </p:cNvSpPr>
          <p:nvPr>
            <p:ph type="body" idx="18"/>
          </p:nvPr>
        </p:nvSpPr>
        <p:spPr>
          <a:xfrm>
            <a:off x="915543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1" name="Google Shape;91;p15"/>
          <p:cNvSpPr txBox="1">
            <a:spLocks noGrp="1"/>
          </p:cNvSpPr>
          <p:nvPr>
            <p:ph type="body" idx="19"/>
          </p:nvPr>
        </p:nvSpPr>
        <p:spPr>
          <a:xfrm>
            <a:off x="915543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2" name="Google Shape;92;p15"/>
          <p:cNvSpPr txBox="1">
            <a:spLocks noGrp="1"/>
          </p:cNvSpPr>
          <p:nvPr>
            <p:ph type="body" idx="20"/>
          </p:nvPr>
        </p:nvSpPr>
        <p:spPr>
          <a:xfrm>
            <a:off x="915543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3" name="Google Shape;93;p15"/>
          <p:cNvSpPr txBox="1">
            <a:spLocks noGrp="1"/>
          </p:cNvSpPr>
          <p:nvPr>
            <p:ph type="body" idx="21"/>
          </p:nvPr>
        </p:nvSpPr>
        <p:spPr>
          <a:xfrm>
            <a:off x="915543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4" name="Google Shape;94;p15"/>
          <p:cNvSpPr txBox="1">
            <a:spLocks noGrp="1"/>
          </p:cNvSpPr>
          <p:nvPr>
            <p:ph type="body" idx="22"/>
          </p:nvPr>
        </p:nvSpPr>
        <p:spPr>
          <a:xfrm>
            <a:off x="915543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5" name="Google Shape;95;p15"/>
          <p:cNvSpPr txBox="1">
            <a:spLocks noGrp="1"/>
          </p:cNvSpPr>
          <p:nvPr>
            <p:ph type="body" idx="23"/>
          </p:nvPr>
        </p:nvSpPr>
        <p:spPr>
          <a:xfrm>
            <a:off x="915543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6" name="Google Shape;96;p15"/>
          <p:cNvSpPr txBox="1">
            <a:spLocks noGrp="1"/>
          </p:cNvSpPr>
          <p:nvPr>
            <p:ph type="body" idx="24"/>
          </p:nvPr>
        </p:nvSpPr>
        <p:spPr>
          <a:xfrm>
            <a:off x="915543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7" name="Google Shape;97;p15"/>
          <p:cNvSpPr txBox="1">
            <a:spLocks noGrp="1"/>
          </p:cNvSpPr>
          <p:nvPr>
            <p:ph type="body" idx="25"/>
          </p:nvPr>
        </p:nvSpPr>
        <p:spPr>
          <a:xfrm>
            <a:off x="915543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8" name="Google Shape;98;p15"/>
          <p:cNvSpPr txBox="1">
            <a:spLocks noGrp="1"/>
          </p:cNvSpPr>
          <p:nvPr>
            <p:ph type="body" idx="26"/>
          </p:nvPr>
        </p:nvSpPr>
        <p:spPr>
          <a:xfrm>
            <a:off x="-281178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9" name="Google Shape;99;p15"/>
          <p:cNvSpPr txBox="1">
            <a:spLocks noGrp="1"/>
          </p:cNvSpPr>
          <p:nvPr>
            <p:ph type="body" idx="27"/>
          </p:nvPr>
        </p:nvSpPr>
        <p:spPr>
          <a:xfrm>
            <a:off x="-281178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0" name="Google Shape;100;p15"/>
          <p:cNvSpPr txBox="1">
            <a:spLocks noGrp="1"/>
          </p:cNvSpPr>
          <p:nvPr>
            <p:ph type="body" idx="28"/>
          </p:nvPr>
        </p:nvSpPr>
        <p:spPr>
          <a:xfrm>
            <a:off x="-281178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1" name="Google Shape;101;p15"/>
          <p:cNvSpPr txBox="1">
            <a:spLocks noGrp="1"/>
          </p:cNvSpPr>
          <p:nvPr>
            <p:ph type="body" idx="29"/>
          </p:nvPr>
        </p:nvSpPr>
        <p:spPr>
          <a:xfrm>
            <a:off x="-281178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2" name="Google Shape;102;p15"/>
          <p:cNvSpPr txBox="1">
            <a:spLocks noGrp="1"/>
          </p:cNvSpPr>
          <p:nvPr>
            <p:ph type="body" idx="30"/>
          </p:nvPr>
        </p:nvSpPr>
        <p:spPr>
          <a:xfrm>
            <a:off x="-281178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3" name="Google Shape;103;p15"/>
          <p:cNvSpPr txBox="1">
            <a:spLocks noGrp="1"/>
          </p:cNvSpPr>
          <p:nvPr>
            <p:ph type="body" idx="31"/>
          </p:nvPr>
        </p:nvSpPr>
        <p:spPr>
          <a:xfrm>
            <a:off x="-281178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4" name="Google Shape;104;p15"/>
          <p:cNvSpPr txBox="1">
            <a:spLocks noGrp="1"/>
          </p:cNvSpPr>
          <p:nvPr>
            <p:ph type="body" idx="32"/>
          </p:nvPr>
        </p:nvSpPr>
        <p:spPr>
          <a:xfrm>
            <a:off x="-281178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5" name="Google Shape;105;p15"/>
          <p:cNvSpPr txBox="1">
            <a:spLocks noGrp="1"/>
          </p:cNvSpPr>
          <p:nvPr>
            <p:ph type="body" idx="33"/>
          </p:nvPr>
        </p:nvSpPr>
        <p:spPr>
          <a:xfrm>
            <a:off x="-281178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6" name="Google Shape;106;p15"/>
          <p:cNvSpPr txBox="1">
            <a:spLocks noGrp="1"/>
          </p:cNvSpPr>
          <p:nvPr>
            <p:ph type="body" idx="34"/>
          </p:nvPr>
        </p:nvSpPr>
        <p:spPr>
          <a:xfrm>
            <a:off x="-281178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7" name="Google Shape;107;p15"/>
          <p:cNvSpPr txBox="1">
            <a:spLocks noGrp="1"/>
          </p:cNvSpPr>
          <p:nvPr>
            <p:ph type="body" idx="35"/>
          </p:nvPr>
        </p:nvSpPr>
        <p:spPr>
          <a:xfrm>
            <a:off x="-281178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8" name="Google Shape;108;p15"/>
          <p:cNvSpPr txBox="1">
            <a:spLocks noGrp="1"/>
          </p:cNvSpPr>
          <p:nvPr>
            <p:ph type="body" idx="36"/>
          </p:nvPr>
        </p:nvSpPr>
        <p:spPr>
          <a:xfrm>
            <a:off x="-281178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9" name="Google Shape;109;p15"/>
          <p:cNvSpPr txBox="1">
            <a:spLocks noGrp="1"/>
          </p:cNvSpPr>
          <p:nvPr>
            <p:ph type="body" idx="37"/>
          </p:nvPr>
        </p:nvSpPr>
        <p:spPr>
          <a:xfrm>
            <a:off x="-281178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0" name="Google Shape;110;p15"/>
          <p:cNvSpPr txBox="1">
            <a:spLocks noGrp="1"/>
          </p:cNvSpPr>
          <p:nvPr>
            <p:ph type="body" idx="38"/>
          </p:nvPr>
        </p:nvSpPr>
        <p:spPr>
          <a:xfrm>
            <a:off x="-281178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1" name="Google Shape;111;p15"/>
          <p:cNvSpPr txBox="1">
            <a:spLocks noGrp="1"/>
          </p:cNvSpPr>
          <p:nvPr>
            <p:ph type="body" idx="39"/>
          </p:nvPr>
        </p:nvSpPr>
        <p:spPr>
          <a:xfrm>
            <a:off x="-281178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2" name="Google Shape;112;p15"/>
          <p:cNvSpPr txBox="1">
            <a:spLocks noGrp="1"/>
          </p:cNvSpPr>
          <p:nvPr>
            <p:ph type="body" idx="40"/>
          </p:nvPr>
        </p:nvSpPr>
        <p:spPr>
          <a:xfrm>
            <a:off x="-281178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3" name="Google Shape;113;p15"/>
          <p:cNvSpPr txBox="1">
            <a:spLocks noGrp="1"/>
          </p:cNvSpPr>
          <p:nvPr>
            <p:ph type="body" idx="41"/>
          </p:nvPr>
        </p:nvSpPr>
        <p:spPr>
          <a:xfrm>
            <a:off x="-281178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4" name="Google Shape;114;p15"/>
          <p:cNvSpPr txBox="1">
            <a:spLocks noGrp="1"/>
          </p:cNvSpPr>
          <p:nvPr>
            <p:ph type="body" idx="42"/>
          </p:nvPr>
        </p:nvSpPr>
        <p:spPr>
          <a:xfrm>
            <a:off x="-281178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5" name="Google Shape;115;p15"/>
          <p:cNvSpPr txBox="1">
            <a:spLocks noGrp="1"/>
          </p:cNvSpPr>
          <p:nvPr>
            <p:ph type="body" idx="43"/>
          </p:nvPr>
        </p:nvSpPr>
        <p:spPr>
          <a:xfrm>
            <a:off x="-281178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6" name="Google Shape;116;p15"/>
          <p:cNvSpPr txBox="1">
            <a:spLocks noGrp="1"/>
          </p:cNvSpPr>
          <p:nvPr>
            <p:ph type="body" idx="44"/>
          </p:nvPr>
        </p:nvSpPr>
        <p:spPr>
          <a:xfrm>
            <a:off x="-281178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7" name="Google Shape;117;p15"/>
          <p:cNvSpPr txBox="1">
            <a:spLocks noGrp="1"/>
          </p:cNvSpPr>
          <p:nvPr>
            <p:ph type="body" idx="45"/>
          </p:nvPr>
        </p:nvSpPr>
        <p:spPr>
          <a:xfrm>
            <a:off x="-281178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8" name="Google Shape;118;p15"/>
          <p:cNvSpPr txBox="1">
            <a:spLocks noGrp="1"/>
          </p:cNvSpPr>
          <p:nvPr>
            <p:ph type="body" idx="46"/>
          </p:nvPr>
        </p:nvSpPr>
        <p:spPr>
          <a:xfrm>
            <a:off x="-281178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8">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8">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8">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8">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8">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8">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8">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8">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9">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9">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9">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9">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9">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9">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9">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9">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9">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80">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80">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80">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80">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80">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80">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80">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80">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80">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81">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81">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81">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81">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81">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81">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81">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81">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81">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82">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82">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82">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82">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82">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82">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82">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83">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83">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83">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83">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83">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83">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83">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83">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83">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84">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84">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84">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84">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84">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84">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84">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84">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84">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85">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85">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85">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85">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85">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85">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85">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85">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85">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86">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86">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86">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86">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86">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86">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86">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87">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87">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87">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87">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87">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87">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87">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87">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88">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88">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88">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88">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89">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89">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89">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89">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89">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89">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89">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89">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89">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90">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90">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90">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90">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90">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90">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90">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90">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90">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91">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91">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91">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91">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91">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91">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92">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92">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92">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92">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92">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92">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92">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92">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93">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93">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93">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93">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93">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94">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94">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94">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94">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94">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94">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94">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94">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94">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95">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95">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95">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95">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95">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95">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95">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95">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95">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96">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96">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96">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96">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96">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96">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96">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96">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96">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97">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97">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97">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97">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97">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97">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97">
                                            <p:txEl>
                                              <p:pRg st="8" end="8"/>
                                            </p:txEl>
                                          </p:spTgt>
                                        </p:tgtEl>
                                        <p:attrNameLst>
                                          <p:attrName>style.visibility</p:attrName>
                                        </p:attrNameLst>
                                      </p:cBhvr>
                                      <p:to>
                                        <p:strVal val="visible"/>
                                      </p:to>
                                    </p:set>
                                  </p:childTnLst>
                                </p:cTn>
                              </p:par>
                            </p:childTnLst>
                          </p:cTn>
                        </p:par>
                      </p:childTnLst>
                    </p:cTn>
                  </p:par>
                  <p:par>
                    <p:cTn id="759" fill="hold">
                      <p:stCondLst>
                        <p:cond delay="indefinite"/>
                      </p:stCondLst>
                      <p:childTnLst>
                        <p:par>
                          <p:cTn id="760" fill="hold">
                            <p:stCondLst>
                              <p:cond delay="0"/>
                            </p:stCondLst>
                            <p:childTnLst>
                              <p:par>
                                <p:cTn id="761" presetID="1" presetClass="entr" presetSubtype="0" fill="hold" nodeType="clickEffect">
                                  <p:stCondLst>
                                    <p:cond delay="0"/>
                                  </p:stCondLst>
                                  <p:childTnLst>
                                    <p:set>
                                      <p:cBhvr>
                                        <p:cTn id="762" dur="1" fill="hold">
                                          <p:stCondLst>
                                            <p:cond delay="0"/>
                                          </p:stCondLst>
                                        </p:cTn>
                                        <p:tgtEl>
                                          <p:spTgt spid="98">
                                            <p:txEl>
                                              <p:pRg st="0" end="0"/>
                                            </p:txEl>
                                          </p:spTgt>
                                        </p:tgtEl>
                                        <p:attrNameLst>
                                          <p:attrName>style.visibility</p:attrName>
                                        </p:attrNameLst>
                                      </p:cBhvr>
                                      <p:to>
                                        <p:strVal val="visible"/>
                                      </p:to>
                                    </p:set>
                                  </p:childTnLst>
                                </p:cTn>
                              </p:par>
                            </p:childTnLst>
                          </p:cTn>
                        </p:par>
                      </p:childTnLst>
                    </p:cTn>
                  </p:par>
                  <p:par>
                    <p:cTn id="763" fill="hold">
                      <p:stCondLst>
                        <p:cond delay="indefinite"/>
                      </p:stCondLst>
                      <p:childTnLst>
                        <p:par>
                          <p:cTn id="764" fill="hold">
                            <p:stCondLst>
                              <p:cond delay="0"/>
                            </p:stCondLst>
                            <p:childTnLst>
                              <p:par>
                                <p:cTn id="765" presetID="1" presetClass="entr" presetSubtype="0" fill="hold" nodeType="clickEffect">
                                  <p:stCondLst>
                                    <p:cond delay="0"/>
                                  </p:stCondLst>
                                  <p:childTnLst>
                                    <p:set>
                                      <p:cBhvr>
                                        <p:cTn id="766" dur="1" fill="hold">
                                          <p:stCondLst>
                                            <p:cond delay="0"/>
                                          </p:stCondLst>
                                        </p:cTn>
                                        <p:tgtEl>
                                          <p:spTgt spid="98">
                                            <p:txEl>
                                              <p:pRg st="1" end="1"/>
                                            </p:txEl>
                                          </p:spTgt>
                                        </p:tgtEl>
                                        <p:attrNameLst>
                                          <p:attrName>style.visibility</p:attrName>
                                        </p:attrNameLst>
                                      </p:cBhvr>
                                      <p:to>
                                        <p:strVal val="visible"/>
                                      </p:to>
                                    </p:set>
                                  </p:childTnLst>
                                </p:cTn>
                              </p:par>
                            </p:childTnLst>
                          </p:cTn>
                        </p:par>
                      </p:childTnLst>
                    </p:cTn>
                  </p:par>
                  <p:par>
                    <p:cTn id="767" fill="hold">
                      <p:stCondLst>
                        <p:cond delay="indefinite"/>
                      </p:stCondLst>
                      <p:childTnLst>
                        <p:par>
                          <p:cTn id="768" fill="hold">
                            <p:stCondLst>
                              <p:cond delay="0"/>
                            </p:stCondLst>
                            <p:childTnLst>
                              <p:par>
                                <p:cTn id="769" presetID="1" presetClass="entr" presetSubtype="0" fill="hold" nodeType="clickEffect">
                                  <p:stCondLst>
                                    <p:cond delay="0"/>
                                  </p:stCondLst>
                                  <p:childTnLst>
                                    <p:set>
                                      <p:cBhvr>
                                        <p:cTn id="770" dur="1" fill="hold">
                                          <p:stCondLst>
                                            <p:cond delay="0"/>
                                          </p:stCondLst>
                                        </p:cTn>
                                        <p:tgtEl>
                                          <p:spTgt spid="98">
                                            <p:txEl>
                                              <p:pRg st="2" end="2"/>
                                            </p:txEl>
                                          </p:spTgt>
                                        </p:tgtEl>
                                        <p:attrNameLst>
                                          <p:attrName>style.visibility</p:attrName>
                                        </p:attrNameLst>
                                      </p:cBhvr>
                                      <p:to>
                                        <p:strVal val="visible"/>
                                      </p:to>
                                    </p:set>
                                  </p:childTnLst>
                                </p:cTn>
                              </p:par>
                            </p:childTnLst>
                          </p:cTn>
                        </p:par>
                      </p:childTnLst>
                    </p:cTn>
                  </p:par>
                  <p:par>
                    <p:cTn id="771" fill="hold">
                      <p:stCondLst>
                        <p:cond delay="indefinite"/>
                      </p:stCondLst>
                      <p:childTnLst>
                        <p:par>
                          <p:cTn id="772" fill="hold">
                            <p:stCondLst>
                              <p:cond delay="0"/>
                            </p:stCondLst>
                            <p:childTnLst>
                              <p:par>
                                <p:cTn id="773" presetID="1" presetClass="entr" presetSubtype="0" fill="hold" nodeType="clickEffect">
                                  <p:stCondLst>
                                    <p:cond delay="0"/>
                                  </p:stCondLst>
                                  <p:childTnLst>
                                    <p:set>
                                      <p:cBhvr>
                                        <p:cTn id="774" dur="1" fill="hold">
                                          <p:stCondLst>
                                            <p:cond delay="0"/>
                                          </p:stCondLst>
                                        </p:cTn>
                                        <p:tgtEl>
                                          <p:spTgt spid="98">
                                            <p:txEl>
                                              <p:pRg st="3" end="3"/>
                                            </p:txEl>
                                          </p:spTgt>
                                        </p:tgtEl>
                                        <p:attrNameLst>
                                          <p:attrName>style.visibility</p:attrName>
                                        </p:attrNameLst>
                                      </p:cBhvr>
                                      <p:to>
                                        <p:strVal val="visible"/>
                                      </p:to>
                                    </p:set>
                                  </p:childTnLst>
                                </p:cTn>
                              </p:par>
                            </p:childTnLst>
                          </p:cTn>
                        </p:par>
                      </p:childTnLst>
                    </p:cTn>
                  </p:par>
                  <p:par>
                    <p:cTn id="775" fill="hold">
                      <p:stCondLst>
                        <p:cond delay="indefinite"/>
                      </p:stCondLst>
                      <p:childTnLst>
                        <p:par>
                          <p:cTn id="776" fill="hold">
                            <p:stCondLst>
                              <p:cond delay="0"/>
                            </p:stCondLst>
                            <p:childTnLst>
                              <p:par>
                                <p:cTn id="777" presetID="1" presetClass="entr" presetSubtype="0" fill="hold" nodeType="clickEffect">
                                  <p:stCondLst>
                                    <p:cond delay="0"/>
                                  </p:stCondLst>
                                  <p:childTnLst>
                                    <p:set>
                                      <p:cBhvr>
                                        <p:cTn id="778" dur="1" fill="hold">
                                          <p:stCondLst>
                                            <p:cond delay="0"/>
                                          </p:stCondLst>
                                        </p:cTn>
                                        <p:tgtEl>
                                          <p:spTgt spid="98">
                                            <p:txEl>
                                              <p:pRg st="4" end="4"/>
                                            </p:txEl>
                                          </p:spTgt>
                                        </p:tgtEl>
                                        <p:attrNameLst>
                                          <p:attrName>style.visibility</p:attrName>
                                        </p:attrNameLst>
                                      </p:cBhvr>
                                      <p:to>
                                        <p:strVal val="visible"/>
                                      </p:to>
                                    </p:set>
                                  </p:childTnLst>
                                </p:cTn>
                              </p:par>
                            </p:childTnLst>
                          </p:cTn>
                        </p:par>
                      </p:childTnLst>
                    </p:cTn>
                  </p:par>
                  <p:par>
                    <p:cTn id="779" fill="hold">
                      <p:stCondLst>
                        <p:cond delay="indefinite"/>
                      </p:stCondLst>
                      <p:childTnLst>
                        <p:par>
                          <p:cTn id="780" fill="hold">
                            <p:stCondLst>
                              <p:cond delay="0"/>
                            </p:stCondLst>
                            <p:childTnLst>
                              <p:par>
                                <p:cTn id="781" presetID="1" presetClass="entr" presetSubtype="0" fill="hold" nodeType="clickEffect">
                                  <p:stCondLst>
                                    <p:cond delay="0"/>
                                  </p:stCondLst>
                                  <p:childTnLst>
                                    <p:set>
                                      <p:cBhvr>
                                        <p:cTn id="782" dur="1" fill="hold">
                                          <p:stCondLst>
                                            <p:cond delay="0"/>
                                          </p:stCondLst>
                                        </p:cTn>
                                        <p:tgtEl>
                                          <p:spTgt spid="98">
                                            <p:txEl>
                                              <p:pRg st="5" end="5"/>
                                            </p:txEl>
                                          </p:spTgt>
                                        </p:tgtEl>
                                        <p:attrNameLst>
                                          <p:attrName>style.visibility</p:attrName>
                                        </p:attrNameLst>
                                      </p:cBhvr>
                                      <p:to>
                                        <p:strVal val="visible"/>
                                      </p:to>
                                    </p:set>
                                  </p:childTnLst>
                                </p:cTn>
                              </p:par>
                            </p:childTnLst>
                          </p:cTn>
                        </p:par>
                      </p:childTnLst>
                    </p:cTn>
                  </p:par>
                  <p:par>
                    <p:cTn id="783" fill="hold">
                      <p:stCondLst>
                        <p:cond delay="indefinite"/>
                      </p:stCondLst>
                      <p:childTnLst>
                        <p:par>
                          <p:cTn id="784" fill="hold">
                            <p:stCondLst>
                              <p:cond delay="0"/>
                            </p:stCondLst>
                            <p:childTnLst>
                              <p:par>
                                <p:cTn id="785" presetID="1" presetClass="entr" presetSubtype="0" fill="hold" nodeType="clickEffect">
                                  <p:stCondLst>
                                    <p:cond delay="0"/>
                                  </p:stCondLst>
                                  <p:childTnLst>
                                    <p:set>
                                      <p:cBhvr>
                                        <p:cTn id="786" dur="1" fill="hold">
                                          <p:stCondLst>
                                            <p:cond delay="0"/>
                                          </p:stCondLst>
                                        </p:cTn>
                                        <p:tgtEl>
                                          <p:spTgt spid="98">
                                            <p:txEl>
                                              <p:pRg st="6" end="6"/>
                                            </p:txEl>
                                          </p:spTgt>
                                        </p:tgtEl>
                                        <p:attrNameLst>
                                          <p:attrName>style.visibility</p:attrName>
                                        </p:attrNameLst>
                                      </p:cBhvr>
                                      <p:to>
                                        <p:strVal val="visible"/>
                                      </p:to>
                                    </p:set>
                                  </p:childTnLst>
                                </p:cTn>
                              </p:par>
                            </p:childTnLst>
                          </p:cTn>
                        </p:par>
                      </p:childTnLst>
                    </p:cTn>
                  </p:par>
                  <p:par>
                    <p:cTn id="787" fill="hold">
                      <p:stCondLst>
                        <p:cond delay="indefinite"/>
                      </p:stCondLst>
                      <p:childTnLst>
                        <p:par>
                          <p:cTn id="788" fill="hold">
                            <p:stCondLst>
                              <p:cond delay="0"/>
                            </p:stCondLst>
                            <p:childTnLst>
                              <p:par>
                                <p:cTn id="789" presetID="1" presetClass="entr" presetSubtype="0" fill="hold" nodeType="clickEffect">
                                  <p:stCondLst>
                                    <p:cond delay="0"/>
                                  </p:stCondLst>
                                  <p:childTnLst>
                                    <p:set>
                                      <p:cBhvr>
                                        <p:cTn id="790" dur="1" fill="hold">
                                          <p:stCondLst>
                                            <p:cond delay="0"/>
                                          </p:stCondLst>
                                        </p:cTn>
                                        <p:tgtEl>
                                          <p:spTgt spid="98">
                                            <p:txEl>
                                              <p:pRg st="7" end="7"/>
                                            </p:txEl>
                                          </p:spTgt>
                                        </p:tgtEl>
                                        <p:attrNameLst>
                                          <p:attrName>style.visibility</p:attrName>
                                        </p:attrNameLst>
                                      </p:cBhvr>
                                      <p:to>
                                        <p:strVal val="visible"/>
                                      </p:to>
                                    </p:set>
                                  </p:childTnLst>
                                </p:cTn>
                              </p:par>
                            </p:childTnLst>
                          </p:cTn>
                        </p:par>
                      </p:childTnLst>
                    </p:cTn>
                  </p:par>
                  <p:par>
                    <p:cTn id="791" fill="hold">
                      <p:stCondLst>
                        <p:cond delay="indefinite"/>
                      </p:stCondLst>
                      <p:childTnLst>
                        <p:par>
                          <p:cTn id="792" fill="hold">
                            <p:stCondLst>
                              <p:cond delay="0"/>
                            </p:stCondLst>
                            <p:childTnLst>
                              <p:par>
                                <p:cTn id="793" presetID="1" presetClass="entr" presetSubtype="0" fill="hold" nodeType="clickEffect">
                                  <p:stCondLst>
                                    <p:cond delay="0"/>
                                  </p:stCondLst>
                                  <p:childTnLst>
                                    <p:set>
                                      <p:cBhvr>
                                        <p:cTn id="794" dur="1" fill="hold">
                                          <p:stCondLst>
                                            <p:cond delay="0"/>
                                          </p:stCondLst>
                                        </p:cTn>
                                        <p:tgtEl>
                                          <p:spTgt spid="98">
                                            <p:txEl>
                                              <p:pRg st="8" end="8"/>
                                            </p:txEl>
                                          </p:spTgt>
                                        </p:tgtEl>
                                        <p:attrNameLst>
                                          <p:attrName>style.visibility</p:attrName>
                                        </p:attrNameLst>
                                      </p:cBhvr>
                                      <p:to>
                                        <p:strVal val="visible"/>
                                      </p:to>
                                    </p:set>
                                  </p:childTnLst>
                                </p:cTn>
                              </p:par>
                            </p:childTnLst>
                          </p:cTn>
                        </p:par>
                      </p:childTnLst>
                    </p:cTn>
                  </p:par>
                  <p:par>
                    <p:cTn id="795" fill="hold">
                      <p:stCondLst>
                        <p:cond delay="indefinite"/>
                      </p:stCondLst>
                      <p:childTnLst>
                        <p:par>
                          <p:cTn id="796" fill="hold">
                            <p:stCondLst>
                              <p:cond delay="0"/>
                            </p:stCondLst>
                            <p:childTnLst>
                              <p:par>
                                <p:cTn id="797" presetID="1" presetClass="entr" presetSubtype="0" fill="hold" nodeType="clickEffect">
                                  <p:stCondLst>
                                    <p:cond delay="0"/>
                                  </p:stCondLst>
                                  <p:childTnLst>
                                    <p:set>
                                      <p:cBhvr>
                                        <p:cTn id="798"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799" fill="hold">
                      <p:stCondLst>
                        <p:cond delay="indefinite"/>
                      </p:stCondLst>
                      <p:childTnLst>
                        <p:par>
                          <p:cTn id="800" fill="hold">
                            <p:stCondLst>
                              <p:cond delay="0"/>
                            </p:stCondLst>
                            <p:childTnLst>
                              <p:par>
                                <p:cTn id="801" presetID="1" presetClass="entr" presetSubtype="0" fill="hold" nodeType="clickEffect">
                                  <p:stCondLst>
                                    <p:cond delay="0"/>
                                  </p:stCondLst>
                                  <p:childTnLst>
                                    <p:set>
                                      <p:cBhvr>
                                        <p:cTn id="802"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803" fill="hold">
                      <p:stCondLst>
                        <p:cond delay="indefinite"/>
                      </p:stCondLst>
                      <p:childTnLst>
                        <p:par>
                          <p:cTn id="804" fill="hold">
                            <p:stCondLst>
                              <p:cond delay="0"/>
                            </p:stCondLst>
                            <p:childTnLst>
                              <p:par>
                                <p:cTn id="805" presetID="1" presetClass="entr" presetSubtype="0" fill="hold" nodeType="clickEffect">
                                  <p:stCondLst>
                                    <p:cond delay="0"/>
                                  </p:stCondLst>
                                  <p:childTnLst>
                                    <p:set>
                                      <p:cBhvr>
                                        <p:cTn id="806"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807" fill="hold">
                      <p:stCondLst>
                        <p:cond delay="indefinite"/>
                      </p:stCondLst>
                      <p:childTnLst>
                        <p:par>
                          <p:cTn id="808" fill="hold">
                            <p:stCondLst>
                              <p:cond delay="0"/>
                            </p:stCondLst>
                            <p:childTnLst>
                              <p:par>
                                <p:cTn id="809" presetID="1" presetClass="entr" presetSubtype="0" fill="hold" nodeType="clickEffect">
                                  <p:stCondLst>
                                    <p:cond delay="0"/>
                                  </p:stCondLst>
                                  <p:childTnLst>
                                    <p:set>
                                      <p:cBhvr>
                                        <p:cTn id="810" dur="1" fill="hold">
                                          <p:stCondLst>
                                            <p:cond delay="0"/>
                                          </p:stCondLst>
                                        </p:cTn>
                                        <p:tgtEl>
                                          <p:spTgt spid="99">
                                            <p:txEl>
                                              <p:pRg st="3" end="3"/>
                                            </p:txEl>
                                          </p:spTgt>
                                        </p:tgtEl>
                                        <p:attrNameLst>
                                          <p:attrName>style.visibility</p:attrName>
                                        </p:attrNameLst>
                                      </p:cBhvr>
                                      <p:to>
                                        <p:strVal val="visible"/>
                                      </p:to>
                                    </p:set>
                                  </p:childTnLst>
                                </p:cTn>
                              </p:par>
                            </p:childTnLst>
                          </p:cTn>
                        </p:par>
                      </p:childTnLst>
                    </p:cTn>
                  </p:par>
                  <p:par>
                    <p:cTn id="811" fill="hold">
                      <p:stCondLst>
                        <p:cond delay="indefinite"/>
                      </p:stCondLst>
                      <p:childTnLst>
                        <p:par>
                          <p:cTn id="812" fill="hold">
                            <p:stCondLst>
                              <p:cond delay="0"/>
                            </p:stCondLst>
                            <p:childTnLst>
                              <p:par>
                                <p:cTn id="813" presetID="1" presetClass="entr" presetSubtype="0" fill="hold" nodeType="clickEffect">
                                  <p:stCondLst>
                                    <p:cond delay="0"/>
                                  </p:stCondLst>
                                  <p:childTnLst>
                                    <p:set>
                                      <p:cBhvr>
                                        <p:cTn id="814" dur="1" fill="hold">
                                          <p:stCondLst>
                                            <p:cond delay="0"/>
                                          </p:stCondLst>
                                        </p:cTn>
                                        <p:tgtEl>
                                          <p:spTgt spid="99">
                                            <p:txEl>
                                              <p:pRg st="4" end="4"/>
                                            </p:txEl>
                                          </p:spTgt>
                                        </p:tgtEl>
                                        <p:attrNameLst>
                                          <p:attrName>style.visibility</p:attrName>
                                        </p:attrNameLst>
                                      </p:cBhvr>
                                      <p:to>
                                        <p:strVal val="visible"/>
                                      </p:to>
                                    </p:set>
                                  </p:childTnLst>
                                </p:cTn>
                              </p:par>
                            </p:childTnLst>
                          </p:cTn>
                        </p:par>
                      </p:childTnLst>
                    </p:cTn>
                  </p:par>
                  <p:par>
                    <p:cTn id="815" fill="hold">
                      <p:stCondLst>
                        <p:cond delay="indefinite"/>
                      </p:stCondLst>
                      <p:childTnLst>
                        <p:par>
                          <p:cTn id="816" fill="hold">
                            <p:stCondLst>
                              <p:cond delay="0"/>
                            </p:stCondLst>
                            <p:childTnLst>
                              <p:par>
                                <p:cTn id="817" presetID="1" presetClass="entr" presetSubtype="0" fill="hold" nodeType="clickEffect">
                                  <p:stCondLst>
                                    <p:cond delay="0"/>
                                  </p:stCondLst>
                                  <p:childTnLst>
                                    <p:set>
                                      <p:cBhvr>
                                        <p:cTn id="818" dur="1" fill="hold">
                                          <p:stCondLst>
                                            <p:cond delay="0"/>
                                          </p:stCondLst>
                                        </p:cTn>
                                        <p:tgtEl>
                                          <p:spTgt spid="99">
                                            <p:txEl>
                                              <p:pRg st="5" end="5"/>
                                            </p:txEl>
                                          </p:spTgt>
                                        </p:tgtEl>
                                        <p:attrNameLst>
                                          <p:attrName>style.visibility</p:attrName>
                                        </p:attrNameLst>
                                      </p:cBhvr>
                                      <p:to>
                                        <p:strVal val="visible"/>
                                      </p:to>
                                    </p:set>
                                  </p:childTnLst>
                                </p:cTn>
                              </p:par>
                            </p:childTnLst>
                          </p:cTn>
                        </p:par>
                      </p:childTnLst>
                    </p:cTn>
                  </p:par>
                  <p:par>
                    <p:cTn id="819" fill="hold">
                      <p:stCondLst>
                        <p:cond delay="indefinite"/>
                      </p:stCondLst>
                      <p:childTnLst>
                        <p:par>
                          <p:cTn id="820" fill="hold">
                            <p:stCondLst>
                              <p:cond delay="0"/>
                            </p:stCondLst>
                            <p:childTnLst>
                              <p:par>
                                <p:cTn id="821" presetID="1" presetClass="entr" presetSubtype="0" fill="hold" nodeType="clickEffect">
                                  <p:stCondLst>
                                    <p:cond delay="0"/>
                                  </p:stCondLst>
                                  <p:childTnLst>
                                    <p:set>
                                      <p:cBhvr>
                                        <p:cTn id="822" dur="1" fill="hold">
                                          <p:stCondLst>
                                            <p:cond delay="0"/>
                                          </p:stCondLst>
                                        </p:cTn>
                                        <p:tgtEl>
                                          <p:spTgt spid="99">
                                            <p:txEl>
                                              <p:pRg st="6" end="6"/>
                                            </p:txEl>
                                          </p:spTgt>
                                        </p:tgtEl>
                                        <p:attrNameLst>
                                          <p:attrName>style.visibility</p:attrName>
                                        </p:attrNameLst>
                                      </p:cBhvr>
                                      <p:to>
                                        <p:strVal val="visible"/>
                                      </p:to>
                                    </p:set>
                                  </p:childTnLst>
                                </p:cTn>
                              </p:par>
                            </p:childTnLst>
                          </p:cTn>
                        </p:par>
                      </p:childTnLst>
                    </p:cTn>
                  </p:par>
                  <p:par>
                    <p:cTn id="823" fill="hold">
                      <p:stCondLst>
                        <p:cond delay="indefinite"/>
                      </p:stCondLst>
                      <p:childTnLst>
                        <p:par>
                          <p:cTn id="824" fill="hold">
                            <p:stCondLst>
                              <p:cond delay="0"/>
                            </p:stCondLst>
                            <p:childTnLst>
                              <p:par>
                                <p:cTn id="825" presetID="1" presetClass="entr" presetSubtype="0" fill="hold" nodeType="clickEffect">
                                  <p:stCondLst>
                                    <p:cond delay="0"/>
                                  </p:stCondLst>
                                  <p:childTnLst>
                                    <p:set>
                                      <p:cBhvr>
                                        <p:cTn id="826" dur="1" fill="hold">
                                          <p:stCondLst>
                                            <p:cond delay="0"/>
                                          </p:stCondLst>
                                        </p:cTn>
                                        <p:tgtEl>
                                          <p:spTgt spid="99">
                                            <p:txEl>
                                              <p:pRg st="7" end="7"/>
                                            </p:txEl>
                                          </p:spTgt>
                                        </p:tgtEl>
                                        <p:attrNameLst>
                                          <p:attrName>style.visibility</p:attrName>
                                        </p:attrNameLst>
                                      </p:cBhvr>
                                      <p:to>
                                        <p:strVal val="visible"/>
                                      </p:to>
                                    </p:set>
                                  </p:childTnLst>
                                </p:cTn>
                              </p:par>
                            </p:childTnLst>
                          </p:cTn>
                        </p:par>
                      </p:childTnLst>
                    </p:cTn>
                  </p:par>
                  <p:par>
                    <p:cTn id="827" fill="hold">
                      <p:stCondLst>
                        <p:cond delay="indefinite"/>
                      </p:stCondLst>
                      <p:childTnLst>
                        <p:par>
                          <p:cTn id="828" fill="hold">
                            <p:stCondLst>
                              <p:cond delay="0"/>
                            </p:stCondLst>
                            <p:childTnLst>
                              <p:par>
                                <p:cTn id="829" presetID="1" presetClass="entr" presetSubtype="0" fill="hold" nodeType="clickEffect">
                                  <p:stCondLst>
                                    <p:cond delay="0"/>
                                  </p:stCondLst>
                                  <p:childTnLst>
                                    <p:set>
                                      <p:cBhvr>
                                        <p:cTn id="830" dur="1" fill="hold">
                                          <p:stCondLst>
                                            <p:cond delay="0"/>
                                          </p:stCondLst>
                                        </p:cTn>
                                        <p:tgtEl>
                                          <p:spTgt spid="99">
                                            <p:txEl>
                                              <p:pRg st="8" end="8"/>
                                            </p:txEl>
                                          </p:spTgt>
                                        </p:tgtEl>
                                        <p:attrNameLst>
                                          <p:attrName>style.visibility</p:attrName>
                                        </p:attrNameLst>
                                      </p:cBhvr>
                                      <p:to>
                                        <p:strVal val="visible"/>
                                      </p:to>
                                    </p:set>
                                  </p:childTnLst>
                                </p:cTn>
                              </p:par>
                            </p:childTnLst>
                          </p:cTn>
                        </p:par>
                      </p:childTnLst>
                    </p:cTn>
                  </p:par>
                  <p:par>
                    <p:cTn id="831" fill="hold">
                      <p:stCondLst>
                        <p:cond delay="indefinite"/>
                      </p:stCondLst>
                      <p:childTnLst>
                        <p:par>
                          <p:cTn id="832" fill="hold">
                            <p:stCondLst>
                              <p:cond delay="0"/>
                            </p:stCondLst>
                            <p:childTnLst>
                              <p:par>
                                <p:cTn id="833" presetID="1" presetClass="entr" presetSubtype="0" fill="hold" nodeType="clickEffect">
                                  <p:stCondLst>
                                    <p:cond delay="0"/>
                                  </p:stCondLst>
                                  <p:childTnLst>
                                    <p:set>
                                      <p:cBhvr>
                                        <p:cTn id="834" dur="1" fill="hold">
                                          <p:stCondLst>
                                            <p:cond delay="0"/>
                                          </p:stCondLst>
                                        </p:cTn>
                                        <p:tgtEl>
                                          <p:spTgt spid="100">
                                            <p:txEl>
                                              <p:pRg st="0" end="0"/>
                                            </p:txEl>
                                          </p:spTgt>
                                        </p:tgtEl>
                                        <p:attrNameLst>
                                          <p:attrName>style.visibility</p:attrName>
                                        </p:attrNameLst>
                                      </p:cBhvr>
                                      <p:to>
                                        <p:strVal val="visible"/>
                                      </p:to>
                                    </p:set>
                                  </p:childTnLst>
                                </p:cTn>
                              </p:par>
                            </p:childTnLst>
                          </p:cTn>
                        </p:par>
                      </p:childTnLst>
                    </p:cTn>
                  </p:par>
                  <p:par>
                    <p:cTn id="835" fill="hold">
                      <p:stCondLst>
                        <p:cond delay="indefinite"/>
                      </p:stCondLst>
                      <p:childTnLst>
                        <p:par>
                          <p:cTn id="836" fill="hold">
                            <p:stCondLst>
                              <p:cond delay="0"/>
                            </p:stCondLst>
                            <p:childTnLst>
                              <p:par>
                                <p:cTn id="837" presetID="1" presetClass="entr" presetSubtype="0" fill="hold" nodeType="clickEffect">
                                  <p:stCondLst>
                                    <p:cond delay="0"/>
                                  </p:stCondLst>
                                  <p:childTnLst>
                                    <p:set>
                                      <p:cBhvr>
                                        <p:cTn id="838" dur="1" fill="hold">
                                          <p:stCondLst>
                                            <p:cond delay="0"/>
                                          </p:stCondLst>
                                        </p:cTn>
                                        <p:tgtEl>
                                          <p:spTgt spid="100">
                                            <p:txEl>
                                              <p:pRg st="1" end="1"/>
                                            </p:txEl>
                                          </p:spTgt>
                                        </p:tgtEl>
                                        <p:attrNameLst>
                                          <p:attrName>style.visibility</p:attrName>
                                        </p:attrNameLst>
                                      </p:cBhvr>
                                      <p:to>
                                        <p:strVal val="visible"/>
                                      </p:to>
                                    </p:set>
                                  </p:childTnLst>
                                </p:cTn>
                              </p:par>
                            </p:childTnLst>
                          </p:cTn>
                        </p:par>
                      </p:childTnLst>
                    </p:cTn>
                  </p:par>
                  <p:par>
                    <p:cTn id="839" fill="hold">
                      <p:stCondLst>
                        <p:cond delay="indefinite"/>
                      </p:stCondLst>
                      <p:childTnLst>
                        <p:par>
                          <p:cTn id="840" fill="hold">
                            <p:stCondLst>
                              <p:cond delay="0"/>
                            </p:stCondLst>
                            <p:childTnLst>
                              <p:par>
                                <p:cTn id="841" presetID="1" presetClass="entr" presetSubtype="0" fill="hold" nodeType="clickEffect">
                                  <p:stCondLst>
                                    <p:cond delay="0"/>
                                  </p:stCondLst>
                                  <p:childTnLst>
                                    <p:set>
                                      <p:cBhvr>
                                        <p:cTn id="842" dur="1" fill="hold">
                                          <p:stCondLst>
                                            <p:cond delay="0"/>
                                          </p:stCondLst>
                                        </p:cTn>
                                        <p:tgtEl>
                                          <p:spTgt spid="100">
                                            <p:txEl>
                                              <p:pRg st="2" end="2"/>
                                            </p:txEl>
                                          </p:spTgt>
                                        </p:tgtEl>
                                        <p:attrNameLst>
                                          <p:attrName>style.visibility</p:attrName>
                                        </p:attrNameLst>
                                      </p:cBhvr>
                                      <p:to>
                                        <p:strVal val="visible"/>
                                      </p:to>
                                    </p:set>
                                  </p:childTnLst>
                                </p:cTn>
                              </p:par>
                            </p:childTnLst>
                          </p:cTn>
                        </p:par>
                      </p:childTnLst>
                    </p:cTn>
                  </p:par>
                  <p:par>
                    <p:cTn id="843" fill="hold">
                      <p:stCondLst>
                        <p:cond delay="indefinite"/>
                      </p:stCondLst>
                      <p:childTnLst>
                        <p:par>
                          <p:cTn id="844" fill="hold">
                            <p:stCondLst>
                              <p:cond delay="0"/>
                            </p:stCondLst>
                            <p:childTnLst>
                              <p:par>
                                <p:cTn id="845" presetID="1" presetClass="entr" presetSubtype="0" fill="hold" nodeType="clickEffect">
                                  <p:stCondLst>
                                    <p:cond delay="0"/>
                                  </p:stCondLst>
                                  <p:childTnLst>
                                    <p:set>
                                      <p:cBhvr>
                                        <p:cTn id="846" dur="1" fill="hold">
                                          <p:stCondLst>
                                            <p:cond delay="0"/>
                                          </p:stCondLst>
                                        </p:cTn>
                                        <p:tgtEl>
                                          <p:spTgt spid="100">
                                            <p:txEl>
                                              <p:pRg st="3" end="3"/>
                                            </p:txEl>
                                          </p:spTgt>
                                        </p:tgtEl>
                                        <p:attrNameLst>
                                          <p:attrName>style.visibility</p:attrName>
                                        </p:attrNameLst>
                                      </p:cBhvr>
                                      <p:to>
                                        <p:strVal val="visible"/>
                                      </p:to>
                                    </p:set>
                                  </p:childTnLst>
                                </p:cTn>
                              </p:par>
                            </p:childTnLst>
                          </p:cTn>
                        </p:par>
                      </p:childTnLst>
                    </p:cTn>
                  </p:par>
                  <p:par>
                    <p:cTn id="847" fill="hold">
                      <p:stCondLst>
                        <p:cond delay="indefinite"/>
                      </p:stCondLst>
                      <p:childTnLst>
                        <p:par>
                          <p:cTn id="848" fill="hold">
                            <p:stCondLst>
                              <p:cond delay="0"/>
                            </p:stCondLst>
                            <p:childTnLst>
                              <p:par>
                                <p:cTn id="849" presetID="1" presetClass="entr" presetSubtype="0" fill="hold" nodeType="clickEffect">
                                  <p:stCondLst>
                                    <p:cond delay="0"/>
                                  </p:stCondLst>
                                  <p:childTnLst>
                                    <p:set>
                                      <p:cBhvr>
                                        <p:cTn id="850" dur="1" fill="hold">
                                          <p:stCondLst>
                                            <p:cond delay="0"/>
                                          </p:stCondLst>
                                        </p:cTn>
                                        <p:tgtEl>
                                          <p:spTgt spid="100">
                                            <p:txEl>
                                              <p:pRg st="4" end="4"/>
                                            </p:txEl>
                                          </p:spTgt>
                                        </p:tgtEl>
                                        <p:attrNameLst>
                                          <p:attrName>style.visibility</p:attrName>
                                        </p:attrNameLst>
                                      </p:cBhvr>
                                      <p:to>
                                        <p:strVal val="visible"/>
                                      </p:to>
                                    </p:set>
                                  </p:childTnLst>
                                </p:cTn>
                              </p:par>
                            </p:childTnLst>
                          </p:cTn>
                        </p:par>
                      </p:childTnLst>
                    </p:cTn>
                  </p:par>
                  <p:par>
                    <p:cTn id="851" fill="hold">
                      <p:stCondLst>
                        <p:cond delay="indefinite"/>
                      </p:stCondLst>
                      <p:childTnLst>
                        <p:par>
                          <p:cTn id="852" fill="hold">
                            <p:stCondLst>
                              <p:cond delay="0"/>
                            </p:stCondLst>
                            <p:childTnLst>
                              <p:par>
                                <p:cTn id="853" presetID="1" presetClass="entr" presetSubtype="0" fill="hold" nodeType="clickEffect">
                                  <p:stCondLst>
                                    <p:cond delay="0"/>
                                  </p:stCondLst>
                                  <p:childTnLst>
                                    <p:set>
                                      <p:cBhvr>
                                        <p:cTn id="854" dur="1" fill="hold">
                                          <p:stCondLst>
                                            <p:cond delay="0"/>
                                          </p:stCondLst>
                                        </p:cTn>
                                        <p:tgtEl>
                                          <p:spTgt spid="100">
                                            <p:txEl>
                                              <p:pRg st="5" end="5"/>
                                            </p:txEl>
                                          </p:spTgt>
                                        </p:tgtEl>
                                        <p:attrNameLst>
                                          <p:attrName>style.visibility</p:attrName>
                                        </p:attrNameLst>
                                      </p:cBhvr>
                                      <p:to>
                                        <p:strVal val="visible"/>
                                      </p:to>
                                    </p:set>
                                  </p:childTnLst>
                                </p:cTn>
                              </p:par>
                            </p:childTnLst>
                          </p:cTn>
                        </p:par>
                      </p:childTnLst>
                    </p:cTn>
                  </p:par>
                  <p:par>
                    <p:cTn id="855" fill="hold">
                      <p:stCondLst>
                        <p:cond delay="indefinite"/>
                      </p:stCondLst>
                      <p:childTnLst>
                        <p:par>
                          <p:cTn id="856" fill="hold">
                            <p:stCondLst>
                              <p:cond delay="0"/>
                            </p:stCondLst>
                            <p:childTnLst>
                              <p:par>
                                <p:cTn id="857" presetID="1" presetClass="entr" presetSubtype="0" fill="hold" nodeType="clickEffect">
                                  <p:stCondLst>
                                    <p:cond delay="0"/>
                                  </p:stCondLst>
                                  <p:childTnLst>
                                    <p:set>
                                      <p:cBhvr>
                                        <p:cTn id="858" dur="1" fill="hold">
                                          <p:stCondLst>
                                            <p:cond delay="0"/>
                                          </p:stCondLst>
                                        </p:cTn>
                                        <p:tgtEl>
                                          <p:spTgt spid="100">
                                            <p:txEl>
                                              <p:pRg st="6" end="6"/>
                                            </p:txEl>
                                          </p:spTgt>
                                        </p:tgtEl>
                                        <p:attrNameLst>
                                          <p:attrName>style.visibility</p:attrName>
                                        </p:attrNameLst>
                                      </p:cBhvr>
                                      <p:to>
                                        <p:strVal val="visible"/>
                                      </p:to>
                                    </p:set>
                                  </p:childTnLst>
                                </p:cTn>
                              </p:par>
                            </p:childTnLst>
                          </p:cTn>
                        </p:par>
                      </p:childTnLst>
                    </p:cTn>
                  </p:par>
                  <p:par>
                    <p:cTn id="859" fill="hold">
                      <p:stCondLst>
                        <p:cond delay="indefinite"/>
                      </p:stCondLst>
                      <p:childTnLst>
                        <p:par>
                          <p:cTn id="860" fill="hold">
                            <p:stCondLst>
                              <p:cond delay="0"/>
                            </p:stCondLst>
                            <p:childTnLst>
                              <p:par>
                                <p:cTn id="861" presetID="1" presetClass="entr" presetSubtype="0" fill="hold" nodeType="clickEffect">
                                  <p:stCondLst>
                                    <p:cond delay="0"/>
                                  </p:stCondLst>
                                  <p:childTnLst>
                                    <p:set>
                                      <p:cBhvr>
                                        <p:cTn id="862" dur="1" fill="hold">
                                          <p:stCondLst>
                                            <p:cond delay="0"/>
                                          </p:stCondLst>
                                        </p:cTn>
                                        <p:tgtEl>
                                          <p:spTgt spid="100">
                                            <p:txEl>
                                              <p:pRg st="7" end="7"/>
                                            </p:txEl>
                                          </p:spTgt>
                                        </p:tgtEl>
                                        <p:attrNameLst>
                                          <p:attrName>style.visibility</p:attrName>
                                        </p:attrNameLst>
                                      </p:cBhvr>
                                      <p:to>
                                        <p:strVal val="visible"/>
                                      </p:to>
                                    </p:set>
                                  </p:childTnLst>
                                </p:cTn>
                              </p:par>
                            </p:childTnLst>
                          </p:cTn>
                        </p:par>
                      </p:childTnLst>
                    </p:cTn>
                  </p:par>
                  <p:par>
                    <p:cTn id="863" fill="hold">
                      <p:stCondLst>
                        <p:cond delay="indefinite"/>
                      </p:stCondLst>
                      <p:childTnLst>
                        <p:par>
                          <p:cTn id="864" fill="hold">
                            <p:stCondLst>
                              <p:cond delay="0"/>
                            </p:stCondLst>
                            <p:childTnLst>
                              <p:par>
                                <p:cTn id="865" presetID="1" presetClass="entr" presetSubtype="0" fill="hold" nodeType="clickEffect">
                                  <p:stCondLst>
                                    <p:cond delay="0"/>
                                  </p:stCondLst>
                                  <p:childTnLst>
                                    <p:set>
                                      <p:cBhvr>
                                        <p:cTn id="866" dur="1" fill="hold">
                                          <p:stCondLst>
                                            <p:cond delay="0"/>
                                          </p:stCondLst>
                                        </p:cTn>
                                        <p:tgtEl>
                                          <p:spTgt spid="100">
                                            <p:txEl>
                                              <p:pRg st="8" end="8"/>
                                            </p:txEl>
                                          </p:spTgt>
                                        </p:tgtEl>
                                        <p:attrNameLst>
                                          <p:attrName>style.visibility</p:attrName>
                                        </p:attrNameLst>
                                      </p:cBhvr>
                                      <p:to>
                                        <p:strVal val="visible"/>
                                      </p:to>
                                    </p:set>
                                  </p:childTnLst>
                                </p:cTn>
                              </p:par>
                            </p:childTnLst>
                          </p:cTn>
                        </p:par>
                      </p:childTnLst>
                    </p:cTn>
                  </p:par>
                  <p:par>
                    <p:cTn id="867" fill="hold">
                      <p:stCondLst>
                        <p:cond delay="indefinite"/>
                      </p:stCondLst>
                      <p:childTnLst>
                        <p:par>
                          <p:cTn id="868" fill="hold">
                            <p:stCondLst>
                              <p:cond delay="0"/>
                            </p:stCondLst>
                            <p:childTnLst>
                              <p:par>
                                <p:cTn id="869" presetID="1" presetClass="entr" presetSubtype="0" fill="hold" nodeType="clickEffect">
                                  <p:stCondLst>
                                    <p:cond delay="0"/>
                                  </p:stCondLst>
                                  <p:childTnLst>
                                    <p:set>
                                      <p:cBhvr>
                                        <p:cTn id="870" dur="1" fill="hold">
                                          <p:stCondLst>
                                            <p:cond delay="0"/>
                                          </p:stCondLst>
                                        </p:cTn>
                                        <p:tgtEl>
                                          <p:spTgt spid="101">
                                            <p:txEl>
                                              <p:pRg st="0" end="0"/>
                                            </p:txEl>
                                          </p:spTgt>
                                        </p:tgtEl>
                                        <p:attrNameLst>
                                          <p:attrName>style.visibility</p:attrName>
                                        </p:attrNameLst>
                                      </p:cBhvr>
                                      <p:to>
                                        <p:strVal val="visible"/>
                                      </p:to>
                                    </p:set>
                                  </p:childTnLst>
                                </p:cTn>
                              </p:par>
                            </p:childTnLst>
                          </p:cTn>
                        </p:par>
                      </p:childTnLst>
                    </p:cTn>
                  </p:par>
                  <p:par>
                    <p:cTn id="871" fill="hold">
                      <p:stCondLst>
                        <p:cond delay="indefinite"/>
                      </p:stCondLst>
                      <p:childTnLst>
                        <p:par>
                          <p:cTn id="872" fill="hold">
                            <p:stCondLst>
                              <p:cond delay="0"/>
                            </p:stCondLst>
                            <p:childTnLst>
                              <p:par>
                                <p:cTn id="873" presetID="1" presetClass="entr" presetSubtype="0" fill="hold" nodeType="clickEffect">
                                  <p:stCondLst>
                                    <p:cond delay="0"/>
                                  </p:stCondLst>
                                  <p:childTnLst>
                                    <p:set>
                                      <p:cBhvr>
                                        <p:cTn id="874" dur="1" fill="hold">
                                          <p:stCondLst>
                                            <p:cond delay="0"/>
                                          </p:stCondLst>
                                        </p:cTn>
                                        <p:tgtEl>
                                          <p:spTgt spid="101">
                                            <p:txEl>
                                              <p:pRg st="1" end="1"/>
                                            </p:txEl>
                                          </p:spTgt>
                                        </p:tgtEl>
                                        <p:attrNameLst>
                                          <p:attrName>style.visibility</p:attrName>
                                        </p:attrNameLst>
                                      </p:cBhvr>
                                      <p:to>
                                        <p:strVal val="visible"/>
                                      </p:to>
                                    </p:set>
                                  </p:childTnLst>
                                </p:cTn>
                              </p:par>
                            </p:childTnLst>
                          </p:cTn>
                        </p:par>
                      </p:childTnLst>
                    </p:cTn>
                  </p:par>
                  <p:par>
                    <p:cTn id="875" fill="hold">
                      <p:stCondLst>
                        <p:cond delay="indefinite"/>
                      </p:stCondLst>
                      <p:childTnLst>
                        <p:par>
                          <p:cTn id="876" fill="hold">
                            <p:stCondLst>
                              <p:cond delay="0"/>
                            </p:stCondLst>
                            <p:childTnLst>
                              <p:par>
                                <p:cTn id="877" presetID="1" presetClass="entr" presetSubtype="0" fill="hold" nodeType="clickEffect">
                                  <p:stCondLst>
                                    <p:cond delay="0"/>
                                  </p:stCondLst>
                                  <p:childTnLst>
                                    <p:set>
                                      <p:cBhvr>
                                        <p:cTn id="878" dur="1" fill="hold">
                                          <p:stCondLst>
                                            <p:cond delay="0"/>
                                          </p:stCondLst>
                                        </p:cTn>
                                        <p:tgtEl>
                                          <p:spTgt spid="101">
                                            <p:txEl>
                                              <p:pRg st="2" end="2"/>
                                            </p:txEl>
                                          </p:spTgt>
                                        </p:tgtEl>
                                        <p:attrNameLst>
                                          <p:attrName>style.visibility</p:attrName>
                                        </p:attrNameLst>
                                      </p:cBhvr>
                                      <p:to>
                                        <p:strVal val="visible"/>
                                      </p:to>
                                    </p:set>
                                  </p:childTnLst>
                                </p:cTn>
                              </p:par>
                            </p:childTnLst>
                          </p:cTn>
                        </p:par>
                      </p:childTnLst>
                    </p:cTn>
                  </p:par>
                  <p:par>
                    <p:cTn id="879" fill="hold">
                      <p:stCondLst>
                        <p:cond delay="indefinite"/>
                      </p:stCondLst>
                      <p:childTnLst>
                        <p:par>
                          <p:cTn id="880" fill="hold">
                            <p:stCondLst>
                              <p:cond delay="0"/>
                            </p:stCondLst>
                            <p:childTnLst>
                              <p:par>
                                <p:cTn id="881" presetID="1" presetClass="entr" presetSubtype="0" fill="hold" nodeType="clickEffect">
                                  <p:stCondLst>
                                    <p:cond delay="0"/>
                                  </p:stCondLst>
                                  <p:childTnLst>
                                    <p:set>
                                      <p:cBhvr>
                                        <p:cTn id="882" dur="1" fill="hold">
                                          <p:stCondLst>
                                            <p:cond delay="0"/>
                                          </p:stCondLst>
                                        </p:cTn>
                                        <p:tgtEl>
                                          <p:spTgt spid="101">
                                            <p:txEl>
                                              <p:pRg st="3" end="3"/>
                                            </p:txEl>
                                          </p:spTgt>
                                        </p:tgtEl>
                                        <p:attrNameLst>
                                          <p:attrName>style.visibility</p:attrName>
                                        </p:attrNameLst>
                                      </p:cBhvr>
                                      <p:to>
                                        <p:strVal val="visible"/>
                                      </p:to>
                                    </p:set>
                                  </p:childTnLst>
                                </p:cTn>
                              </p:par>
                            </p:childTnLst>
                          </p:cTn>
                        </p:par>
                      </p:childTnLst>
                    </p:cTn>
                  </p:par>
                  <p:par>
                    <p:cTn id="883" fill="hold">
                      <p:stCondLst>
                        <p:cond delay="indefinite"/>
                      </p:stCondLst>
                      <p:childTnLst>
                        <p:par>
                          <p:cTn id="884" fill="hold">
                            <p:stCondLst>
                              <p:cond delay="0"/>
                            </p:stCondLst>
                            <p:childTnLst>
                              <p:par>
                                <p:cTn id="885" presetID="1" presetClass="entr" presetSubtype="0" fill="hold" nodeType="clickEffect">
                                  <p:stCondLst>
                                    <p:cond delay="0"/>
                                  </p:stCondLst>
                                  <p:childTnLst>
                                    <p:set>
                                      <p:cBhvr>
                                        <p:cTn id="886" dur="1" fill="hold">
                                          <p:stCondLst>
                                            <p:cond delay="0"/>
                                          </p:stCondLst>
                                        </p:cTn>
                                        <p:tgtEl>
                                          <p:spTgt spid="101">
                                            <p:txEl>
                                              <p:pRg st="4" end="4"/>
                                            </p:txEl>
                                          </p:spTgt>
                                        </p:tgtEl>
                                        <p:attrNameLst>
                                          <p:attrName>style.visibility</p:attrName>
                                        </p:attrNameLst>
                                      </p:cBhvr>
                                      <p:to>
                                        <p:strVal val="visible"/>
                                      </p:to>
                                    </p:set>
                                  </p:childTnLst>
                                </p:cTn>
                              </p:par>
                            </p:childTnLst>
                          </p:cTn>
                        </p:par>
                      </p:childTnLst>
                    </p:cTn>
                  </p:par>
                  <p:par>
                    <p:cTn id="887" fill="hold">
                      <p:stCondLst>
                        <p:cond delay="indefinite"/>
                      </p:stCondLst>
                      <p:childTnLst>
                        <p:par>
                          <p:cTn id="888" fill="hold">
                            <p:stCondLst>
                              <p:cond delay="0"/>
                            </p:stCondLst>
                            <p:childTnLst>
                              <p:par>
                                <p:cTn id="889" presetID="1" presetClass="entr" presetSubtype="0" fill="hold" nodeType="clickEffect">
                                  <p:stCondLst>
                                    <p:cond delay="0"/>
                                  </p:stCondLst>
                                  <p:childTnLst>
                                    <p:set>
                                      <p:cBhvr>
                                        <p:cTn id="890" dur="1" fill="hold">
                                          <p:stCondLst>
                                            <p:cond delay="0"/>
                                          </p:stCondLst>
                                        </p:cTn>
                                        <p:tgtEl>
                                          <p:spTgt spid="101">
                                            <p:txEl>
                                              <p:pRg st="5" end="5"/>
                                            </p:txEl>
                                          </p:spTgt>
                                        </p:tgtEl>
                                        <p:attrNameLst>
                                          <p:attrName>style.visibility</p:attrName>
                                        </p:attrNameLst>
                                      </p:cBhvr>
                                      <p:to>
                                        <p:strVal val="visible"/>
                                      </p:to>
                                    </p:set>
                                  </p:childTnLst>
                                </p:cTn>
                              </p:par>
                            </p:childTnLst>
                          </p:cTn>
                        </p:par>
                      </p:childTnLst>
                    </p:cTn>
                  </p:par>
                  <p:par>
                    <p:cTn id="891" fill="hold">
                      <p:stCondLst>
                        <p:cond delay="indefinite"/>
                      </p:stCondLst>
                      <p:childTnLst>
                        <p:par>
                          <p:cTn id="892" fill="hold">
                            <p:stCondLst>
                              <p:cond delay="0"/>
                            </p:stCondLst>
                            <p:childTnLst>
                              <p:par>
                                <p:cTn id="893" presetID="1" presetClass="entr" presetSubtype="0" fill="hold" nodeType="clickEffect">
                                  <p:stCondLst>
                                    <p:cond delay="0"/>
                                  </p:stCondLst>
                                  <p:childTnLst>
                                    <p:set>
                                      <p:cBhvr>
                                        <p:cTn id="894" dur="1" fill="hold">
                                          <p:stCondLst>
                                            <p:cond delay="0"/>
                                          </p:stCondLst>
                                        </p:cTn>
                                        <p:tgtEl>
                                          <p:spTgt spid="101">
                                            <p:txEl>
                                              <p:pRg st="6" end="6"/>
                                            </p:txEl>
                                          </p:spTgt>
                                        </p:tgtEl>
                                        <p:attrNameLst>
                                          <p:attrName>style.visibility</p:attrName>
                                        </p:attrNameLst>
                                      </p:cBhvr>
                                      <p:to>
                                        <p:strVal val="visible"/>
                                      </p:to>
                                    </p:set>
                                  </p:childTnLst>
                                </p:cTn>
                              </p:par>
                            </p:childTnLst>
                          </p:cTn>
                        </p:par>
                      </p:childTnLst>
                    </p:cTn>
                  </p:par>
                  <p:par>
                    <p:cTn id="895" fill="hold">
                      <p:stCondLst>
                        <p:cond delay="indefinite"/>
                      </p:stCondLst>
                      <p:childTnLst>
                        <p:par>
                          <p:cTn id="896" fill="hold">
                            <p:stCondLst>
                              <p:cond delay="0"/>
                            </p:stCondLst>
                            <p:childTnLst>
                              <p:par>
                                <p:cTn id="897" presetID="1" presetClass="entr" presetSubtype="0" fill="hold" nodeType="clickEffect">
                                  <p:stCondLst>
                                    <p:cond delay="0"/>
                                  </p:stCondLst>
                                  <p:childTnLst>
                                    <p:set>
                                      <p:cBhvr>
                                        <p:cTn id="898" dur="1" fill="hold">
                                          <p:stCondLst>
                                            <p:cond delay="0"/>
                                          </p:stCondLst>
                                        </p:cTn>
                                        <p:tgtEl>
                                          <p:spTgt spid="101">
                                            <p:txEl>
                                              <p:pRg st="7" end="7"/>
                                            </p:txEl>
                                          </p:spTgt>
                                        </p:tgtEl>
                                        <p:attrNameLst>
                                          <p:attrName>style.visibility</p:attrName>
                                        </p:attrNameLst>
                                      </p:cBhvr>
                                      <p:to>
                                        <p:strVal val="visible"/>
                                      </p:to>
                                    </p:set>
                                  </p:childTnLst>
                                </p:cTn>
                              </p:par>
                            </p:childTnLst>
                          </p:cTn>
                        </p:par>
                      </p:childTnLst>
                    </p:cTn>
                  </p:par>
                  <p:par>
                    <p:cTn id="899" fill="hold">
                      <p:stCondLst>
                        <p:cond delay="indefinite"/>
                      </p:stCondLst>
                      <p:childTnLst>
                        <p:par>
                          <p:cTn id="900" fill="hold">
                            <p:stCondLst>
                              <p:cond delay="0"/>
                            </p:stCondLst>
                            <p:childTnLst>
                              <p:par>
                                <p:cTn id="901" presetID="1" presetClass="entr" presetSubtype="0" fill="hold" nodeType="clickEffect">
                                  <p:stCondLst>
                                    <p:cond delay="0"/>
                                  </p:stCondLst>
                                  <p:childTnLst>
                                    <p:set>
                                      <p:cBhvr>
                                        <p:cTn id="902" dur="1" fill="hold">
                                          <p:stCondLst>
                                            <p:cond delay="0"/>
                                          </p:stCondLst>
                                        </p:cTn>
                                        <p:tgtEl>
                                          <p:spTgt spid="101">
                                            <p:txEl>
                                              <p:pRg st="8" end="8"/>
                                            </p:txEl>
                                          </p:spTgt>
                                        </p:tgtEl>
                                        <p:attrNameLst>
                                          <p:attrName>style.visibility</p:attrName>
                                        </p:attrNameLst>
                                      </p:cBhvr>
                                      <p:to>
                                        <p:strVal val="visible"/>
                                      </p:to>
                                    </p:set>
                                  </p:childTnLst>
                                </p:cTn>
                              </p:par>
                            </p:childTnLst>
                          </p:cTn>
                        </p:par>
                      </p:childTnLst>
                    </p:cTn>
                  </p:par>
                  <p:par>
                    <p:cTn id="903" fill="hold">
                      <p:stCondLst>
                        <p:cond delay="indefinite"/>
                      </p:stCondLst>
                      <p:childTnLst>
                        <p:par>
                          <p:cTn id="904" fill="hold">
                            <p:stCondLst>
                              <p:cond delay="0"/>
                            </p:stCondLst>
                            <p:childTnLst>
                              <p:par>
                                <p:cTn id="905" presetID="1" presetClass="entr" presetSubtype="0" fill="hold" nodeType="clickEffect">
                                  <p:stCondLst>
                                    <p:cond delay="0"/>
                                  </p:stCondLst>
                                  <p:childTnLst>
                                    <p:set>
                                      <p:cBhvr>
                                        <p:cTn id="906" dur="1" fill="hold">
                                          <p:stCondLst>
                                            <p:cond delay="0"/>
                                          </p:stCondLst>
                                        </p:cTn>
                                        <p:tgtEl>
                                          <p:spTgt spid="102">
                                            <p:txEl>
                                              <p:pRg st="0" end="0"/>
                                            </p:txEl>
                                          </p:spTgt>
                                        </p:tgtEl>
                                        <p:attrNameLst>
                                          <p:attrName>style.visibility</p:attrName>
                                        </p:attrNameLst>
                                      </p:cBhvr>
                                      <p:to>
                                        <p:strVal val="visible"/>
                                      </p:to>
                                    </p:set>
                                  </p:childTnLst>
                                </p:cTn>
                              </p:par>
                            </p:childTnLst>
                          </p:cTn>
                        </p:par>
                      </p:childTnLst>
                    </p:cTn>
                  </p:par>
                  <p:par>
                    <p:cTn id="907" fill="hold">
                      <p:stCondLst>
                        <p:cond delay="indefinite"/>
                      </p:stCondLst>
                      <p:childTnLst>
                        <p:par>
                          <p:cTn id="908" fill="hold">
                            <p:stCondLst>
                              <p:cond delay="0"/>
                            </p:stCondLst>
                            <p:childTnLst>
                              <p:par>
                                <p:cTn id="909" presetID="1" presetClass="entr" presetSubtype="0" fill="hold" nodeType="clickEffect">
                                  <p:stCondLst>
                                    <p:cond delay="0"/>
                                  </p:stCondLst>
                                  <p:childTnLst>
                                    <p:set>
                                      <p:cBhvr>
                                        <p:cTn id="910" dur="1" fill="hold">
                                          <p:stCondLst>
                                            <p:cond delay="0"/>
                                          </p:stCondLst>
                                        </p:cTn>
                                        <p:tgtEl>
                                          <p:spTgt spid="102">
                                            <p:txEl>
                                              <p:pRg st="1" end="1"/>
                                            </p:txEl>
                                          </p:spTgt>
                                        </p:tgtEl>
                                        <p:attrNameLst>
                                          <p:attrName>style.visibility</p:attrName>
                                        </p:attrNameLst>
                                      </p:cBhvr>
                                      <p:to>
                                        <p:strVal val="visible"/>
                                      </p:to>
                                    </p:set>
                                  </p:childTnLst>
                                </p:cTn>
                              </p:par>
                            </p:childTnLst>
                          </p:cTn>
                        </p:par>
                      </p:childTnLst>
                    </p:cTn>
                  </p:par>
                  <p:par>
                    <p:cTn id="911" fill="hold">
                      <p:stCondLst>
                        <p:cond delay="indefinite"/>
                      </p:stCondLst>
                      <p:childTnLst>
                        <p:par>
                          <p:cTn id="912" fill="hold">
                            <p:stCondLst>
                              <p:cond delay="0"/>
                            </p:stCondLst>
                            <p:childTnLst>
                              <p:par>
                                <p:cTn id="913" presetID="1" presetClass="entr" presetSubtype="0" fill="hold" nodeType="clickEffect">
                                  <p:stCondLst>
                                    <p:cond delay="0"/>
                                  </p:stCondLst>
                                  <p:childTnLst>
                                    <p:set>
                                      <p:cBhvr>
                                        <p:cTn id="914" dur="1" fill="hold">
                                          <p:stCondLst>
                                            <p:cond delay="0"/>
                                          </p:stCondLst>
                                        </p:cTn>
                                        <p:tgtEl>
                                          <p:spTgt spid="102">
                                            <p:txEl>
                                              <p:pRg st="2" end="2"/>
                                            </p:txEl>
                                          </p:spTgt>
                                        </p:tgtEl>
                                        <p:attrNameLst>
                                          <p:attrName>style.visibility</p:attrName>
                                        </p:attrNameLst>
                                      </p:cBhvr>
                                      <p:to>
                                        <p:strVal val="visible"/>
                                      </p:to>
                                    </p:set>
                                  </p:childTnLst>
                                </p:cTn>
                              </p:par>
                            </p:childTnLst>
                          </p:cTn>
                        </p:par>
                      </p:childTnLst>
                    </p:cTn>
                  </p:par>
                  <p:par>
                    <p:cTn id="915" fill="hold">
                      <p:stCondLst>
                        <p:cond delay="indefinite"/>
                      </p:stCondLst>
                      <p:childTnLst>
                        <p:par>
                          <p:cTn id="916" fill="hold">
                            <p:stCondLst>
                              <p:cond delay="0"/>
                            </p:stCondLst>
                            <p:childTnLst>
                              <p:par>
                                <p:cTn id="917" presetID="1" presetClass="entr" presetSubtype="0" fill="hold" nodeType="clickEffect">
                                  <p:stCondLst>
                                    <p:cond delay="0"/>
                                  </p:stCondLst>
                                  <p:childTnLst>
                                    <p:set>
                                      <p:cBhvr>
                                        <p:cTn id="918" dur="1" fill="hold">
                                          <p:stCondLst>
                                            <p:cond delay="0"/>
                                          </p:stCondLst>
                                        </p:cTn>
                                        <p:tgtEl>
                                          <p:spTgt spid="102">
                                            <p:txEl>
                                              <p:pRg st="3" end="3"/>
                                            </p:txEl>
                                          </p:spTgt>
                                        </p:tgtEl>
                                        <p:attrNameLst>
                                          <p:attrName>style.visibility</p:attrName>
                                        </p:attrNameLst>
                                      </p:cBhvr>
                                      <p:to>
                                        <p:strVal val="visible"/>
                                      </p:to>
                                    </p:set>
                                  </p:childTnLst>
                                </p:cTn>
                              </p:par>
                            </p:childTnLst>
                          </p:cTn>
                        </p:par>
                      </p:childTnLst>
                    </p:cTn>
                  </p:par>
                  <p:par>
                    <p:cTn id="919" fill="hold">
                      <p:stCondLst>
                        <p:cond delay="indefinite"/>
                      </p:stCondLst>
                      <p:childTnLst>
                        <p:par>
                          <p:cTn id="920" fill="hold">
                            <p:stCondLst>
                              <p:cond delay="0"/>
                            </p:stCondLst>
                            <p:childTnLst>
                              <p:par>
                                <p:cTn id="921" presetID="1" presetClass="entr" presetSubtype="0" fill="hold" nodeType="clickEffect">
                                  <p:stCondLst>
                                    <p:cond delay="0"/>
                                  </p:stCondLst>
                                  <p:childTnLst>
                                    <p:set>
                                      <p:cBhvr>
                                        <p:cTn id="922" dur="1" fill="hold">
                                          <p:stCondLst>
                                            <p:cond delay="0"/>
                                          </p:stCondLst>
                                        </p:cTn>
                                        <p:tgtEl>
                                          <p:spTgt spid="102">
                                            <p:txEl>
                                              <p:pRg st="4" end="4"/>
                                            </p:txEl>
                                          </p:spTgt>
                                        </p:tgtEl>
                                        <p:attrNameLst>
                                          <p:attrName>style.visibility</p:attrName>
                                        </p:attrNameLst>
                                      </p:cBhvr>
                                      <p:to>
                                        <p:strVal val="visible"/>
                                      </p:to>
                                    </p:set>
                                  </p:childTnLst>
                                </p:cTn>
                              </p:par>
                            </p:childTnLst>
                          </p:cTn>
                        </p:par>
                      </p:childTnLst>
                    </p:cTn>
                  </p:par>
                  <p:par>
                    <p:cTn id="923" fill="hold">
                      <p:stCondLst>
                        <p:cond delay="indefinite"/>
                      </p:stCondLst>
                      <p:childTnLst>
                        <p:par>
                          <p:cTn id="924" fill="hold">
                            <p:stCondLst>
                              <p:cond delay="0"/>
                            </p:stCondLst>
                            <p:childTnLst>
                              <p:par>
                                <p:cTn id="925" presetID="1" presetClass="entr" presetSubtype="0" fill="hold" nodeType="clickEffect">
                                  <p:stCondLst>
                                    <p:cond delay="0"/>
                                  </p:stCondLst>
                                  <p:childTnLst>
                                    <p:set>
                                      <p:cBhvr>
                                        <p:cTn id="926" dur="1" fill="hold">
                                          <p:stCondLst>
                                            <p:cond delay="0"/>
                                          </p:stCondLst>
                                        </p:cTn>
                                        <p:tgtEl>
                                          <p:spTgt spid="102">
                                            <p:txEl>
                                              <p:pRg st="5" end="5"/>
                                            </p:txEl>
                                          </p:spTgt>
                                        </p:tgtEl>
                                        <p:attrNameLst>
                                          <p:attrName>style.visibility</p:attrName>
                                        </p:attrNameLst>
                                      </p:cBhvr>
                                      <p:to>
                                        <p:strVal val="visible"/>
                                      </p:to>
                                    </p:set>
                                  </p:childTnLst>
                                </p:cTn>
                              </p:par>
                            </p:childTnLst>
                          </p:cTn>
                        </p:par>
                      </p:childTnLst>
                    </p:cTn>
                  </p:par>
                  <p:par>
                    <p:cTn id="927" fill="hold">
                      <p:stCondLst>
                        <p:cond delay="indefinite"/>
                      </p:stCondLst>
                      <p:childTnLst>
                        <p:par>
                          <p:cTn id="928" fill="hold">
                            <p:stCondLst>
                              <p:cond delay="0"/>
                            </p:stCondLst>
                            <p:childTnLst>
                              <p:par>
                                <p:cTn id="929" presetID="1" presetClass="entr" presetSubtype="0" fill="hold" nodeType="clickEffect">
                                  <p:stCondLst>
                                    <p:cond delay="0"/>
                                  </p:stCondLst>
                                  <p:childTnLst>
                                    <p:set>
                                      <p:cBhvr>
                                        <p:cTn id="930" dur="1" fill="hold">
                                          <p:stCondLst>
                                            <p:cond delay="0"/>
                                          </p:stCondLst>
                                        </p:cTn>
                                        <p:tgtEl>
                                          <p:spTgt spid="102">
                                            <p:txEl>
                                              <p:pRg st="6" end="6"/>
                                            </p:txEl>
                                          </p:spTgt>
                                        </p:tgtEl>
                                        <p:attrNameLst>
                                          <p:attrName>style.visibility</p:attrName>
                                        </p:attrNameLst>
                                      </p:cBhvr>
                                      <p:to>
                                        <p:strVal val="visible"/>
                                      </p:to>
                                    </p:set>
                                  </p:childTnLst>
                                </p:cTn>
                              </p:par>
                            </p:childTnLst>
                          </p:cTn>
                        </p:par>
                      </p:childTnLst>
                    </p:cTn>
                  </p:par>
                  <p:par>
                    <p:cTn id="931" fill="hold">
                      <p:stCondLst>
                        <p:cond delay="indefinite"/>
                      </p:stCondLst>
                      <p:childTnLst>
                        <p:par>
                          <p:cTn id="932" fill="hold">
                            <p:stCondLst>
                              <p:cond delay="0"/>
                            </p:stCondLst>
                            <p:childTnLst>
                              <p:par>
                                <p:cTn id="933" presetID="1" presetClass="entr" presetSubtype="0" fill="hold" nodeType="clickEffect">
                                  <p:stCondLst>
                                    <p:cond delay="0"/>
                                  </p:stCondLst>
                                  <p:childTnLst>
                                    <p:set>
                                      <p:cBhvr>
                                        <p:cTn id="934" dur="1" fill="hold">
                                          <p:stCondLst>
                                            <p:cond delay="0"/>
                                          </p:stCondLst>
                                        </p:cTn>
                                        <p:tgtEl>
                                          <p:spTgt spid="102">
                                            <p:txEl>
                                              <p:pRg st="7" end="7"/>
                                            </p:txEl>
                                          </p:spTgt>
                                        </p:tgtEl>
                                        <p:attrNameLst>
                                          <p:attrName>style.visibility</p:attrName>
                                        </p:attrNameLst>
                                      </p:cBhvr>
                                      <p:to>
                                        <p:strVal val="visible"/>
                                      </p:to>
                                    </p:set>
                                  </p:childTnLst>
                                </p:cTn>
                              </p:par>
                            </p:childTnLst>
                          </p:cTn>
                        </p:par>
                      </p:childTnLst>
                    </p:cTn>
                  </p:par>
                  <p:par>
                    <p:cTn id="935" fill="hold">
                      <p:stCondLst>
                        <p:cond delay="indefinite"/>
                      </p:stCondLst>
                      <p:childTnLst>
                        <p:par>
                          <p:cTn id="936" fill="hold">
                            <p:stCondLst>
                              <p:cond delay="0"/>
                            </p:stCondLst>
                            <p:childTnLst>
                              <p:par>
                                <p:cTn id="937" presetID="1" presetClass="entr" presetSubtype="0" fill="hold" nodeType="clickEffect">
                                  <p:stCondLst>
                                    <p:cond delay="0"/>
                                  </p:stCondLst>
                                  <p:childTnLst>
                                    <p:set>
                                      <p:cBhvr>
                                        <p:cTn id="938" dur="1" fill="hold">
                                          <p:stCondLst>
                                            <p:cond delay="0"/>
                                          </p:stCondLst>
                                        </p:cTn>
                                        <p:tgtEl>
                                          <p:spTgt spid="102">
                                            <p:txEl>
                                              <p:pRg st="8" end="8"/>
                                            </p:txEl>
                                          </p:spTgt>
                                        </p:tgtEl>
                                        <p:attrNameLst>
                                          <p:attrName>style.visibility</p:attrName>
                                        </p:attrNameLst>
                                      </p:cBhvr>
                                      <p:to>
                                        <p:strVal val="visible"/>
                                      </p:to>
                                    </p:set>
                                  </p:childTnLst>
                                </p:cTn>
                              </p:par>
                            </p:childTnLst>
                          </p:cTn>
                        </p:par>
                      </p:childTnLst>
                    </p:cTn>
                  </p:par>
                  <p:par>
                    <p:cTn id="939" fill="hold">
                      <p:stCondLst>
                        <p:cond delay="indefinite"/>
                      </p:stCondLst>
                      <p:childTnLst>
                        <p:par>
                          <p:cTn id="940" fill="hold">
                            <p:stCondLst>
                              <p:cond delay="0"/>
                            </p:stCondLst>
                            <p:childTnLst>
                              <p:par>
                                <p:cTn id="941" presetID="1" presetClass="entr" presetSubtype="0" fill="hold" nodeType="clickEffect">
                                  <p:stCondLst>
                                    <p:cond delay="0"/>
                                  </p:stCondLst>
                                  <p:childTnLst>
                                    <p:set>
                                      <p:cBhvr>
                                        <p:cTn id="942" dur="1" fill="hold">
                                          <p:stCondLst>
                                            <p:cond delay="0"/>
                                          </p:stCondLst>
                                        </p:cTn>
                                        <p:tgtEl>
                                          <p:spTgt spid="103">
                                            <p:txEl>
                                              <p:pRg st="0" end="0"/>
                                            </p:txEl>
                                          </p:spTgt>
                                        </p:tgtEl>
                                        <p:attrNameLst>
                                          <p:attrName>style.visibility</p:attrName>
                                        </p:attrNameLst>
                                      </p:cBhvr>
                                      <p:to>
                                        <p:strVal val="visible"/>
                                      </p:to>
                                    </p:set>
                                  </p:childTnLst>
                                </p:cTn>
                              </p:par>
                            </p:childTnLst>
                          </p:cTn>
                        </p:par>
                      </p:childTnLst>
                    </p:cTn>
                  </p:par>
                  <p:par>
                    <p:cTn id="943" fill="hold">
                      <p:stCondLst>
                        <p:cond delay="indefinite"/>
                      </p:stCondLst>
                      <p:childTnLst>
                        <p:par>
                          <p:cTn id="944" fill="hold">
                            <p:stCondLst>
                              <p:cond delay="0"/>
                            </p:stCondLst>
                            <p:childTnLst>
                              <p:par>
                                <p:cTn id="945" presetID="1" presetClass="entr" presetSubtype="0" fill="hold" nodeType="clickEffect">
                                  <p:stCondLst>
                                    <p:cond delay="0"/>
                                  </p:stCondLst>
                                  <p:childTnLst>
                                    <p:set>
                                      <p:cBhvr>
                                        <p:cTn id="946" dur="1" fill="hold">
                                          <p:stCondLst>
                                            <p:cond delay="0"/>
                                          </p:stCondLst>
                                        </p:cTn>
                                        <p:tgtEl>
                                          <p:spTgt spid="103">
                                            <p:txEl>
                                              <p:pRg st="1" end="1"/>
                                            </p:txEl>
                                          </p:spTgt>
                                        </p:tgtEl>
                                        <p:attrNameLst>
                                          <p:attrName>style.visibility</p:attrName>
                                        </p:attrNameLst>
                                      </p:cBhvr>
                                      <p:to>
                                        <p:strVal val="visible"/>
                                      </p:to>
                                    </p:set>
                                  </p:childTnLst>
                                </p:cTn>
                              </p:par>
                            </p:childTnLst>
                          </p:cTn>
                        </p:par>
                      </p:childTnLst>
                    </p:cTn>
                  </p:par>
                  <p:par>
                    <p:cTn id="947" fill="hold">
                      <p:stCondLst>
                        <p:cond delay="indefinite"/>
                      </p:stCondLst>
                      <p:childTnLst>
                        <p:par>
                          <p:cTn id="948" fill="hold">
                            <p:stCondLst>
                              <p:cond delay="0"/>
                            </p:stCondLst>
                            <p:childTnLst>
                              <p:par>
                                <p:cTn id="949" presetID="1" presetClass="entr" presetSubtype="0" fill="hold" nodeType="clickEffect">
                                  <p:stCondLst>
                                    <p:cond delay="0"/>
                                  </p:stCondLst>
                                  <p:childTnLst>
                                    <p:set>
                                      <p:cBhvr>
                                        <p:cTn id="950" dur="1" fill="hold">
                                          <p:stCondLst>
                                            <p:cond delay="0"/>
                                          </p:stCondLst>
                                        </p:cTn>
                                        <p:tgtEl>
                                          <p:spTgt spid="103">
                                            <p:txEl>
                                              <p:pRg st="2" end="2"/>
                                            </p:txEl>
                                          </p:spTgt>
                                        </p:tgtEl>
                                        <p:attrNameLst>
                                          <p:attrName>style.visibility</p:attrName>
                                        </p:attrNameLst>
                                      </p:cBhvr>
                                      <p:to>
                                        <p:strVal val="visible"/>
                                      </p:to>
                                    </p:set>
                                  </p:childTnLst>
                                </p:cTn>
                              </p:par>
                            </p:childTnLst>
                          </p:cTn>
                        </p:par>
                      </p:childTnLst>
                    </p:cTn>
                  </p:par>
                  <p:par>
                    <p:cTn id="951" fill="hold">
                      <p:stCondLst>
                        <p:cond delay="indefinite"/>
                      </p:stCondLst>
                      <p:childTnLst>
                        <p:par>
                          <p:cTn id="952" fill="hold">
                            <p:stCondLst>
                              <p:cond delay="0"/>
                            </p:stCondLst>
                            <p:childTnLst>
                              <p:par>
                                <p:cTn id="953" presetID="1" presetClass="entr" presetSubtype="0" fill="hold" nodeType="clickEffect">
                                  <p:stCondLst>
                                    <p:cond delay="0"/>
                                  </p:stCondLst>
                                  <p:childTnLst>
                                    <p:set>
                                      <p:cBhvr>
                                        <p:cTn id="954" dur="1" fill="hold">
                                          <p:stCondLst>
                                            <p:cond delay="0"/>
                                          </p:stCondLst>
                                        </p:cTn>
                                        <p:tgtEl>
                                          <p:spTgt spid="103">
                                            <p:txEl>
                                              <p:pRg st="3" end="3"/>
                                            </p:txEl>
                                          </p:spTgt>
                                        </p:tgtEl>
                                        <p:attrNameLst>
                                          <p:attrName>style.visibility</p:attrName>
                                        </p:attrNameLst>
                                      </p:cBhvr>
                                      <p:to>
                                        <p:strVal val="visible"/>
                                      </p:to>
                                    </p:set>
                                  </p:childTnLst>
                                </p:cTn>
                              </p:par>
                            </p:childTnLst>
                          </p:cTn>
                        </p:par>
                      </p:childTnLst>
                    </p:cTn>
                  </p:par>
                  <p:par>
                    <p:cTn id="955" fill="hold">
                      <p:stCondLst>
                        <p:cond delay="indefinite"/>
                      </p:stCondLst>
                      <p:childTnLst>
                        <p:par>
                          <p:cTn id="956" fill="hold">
                            <p:stCondLst>
                              <p:cond delay="0"/>
                            </p:stCondLst>
                            <p:childTnLst>
                              <p:par>
                                <p:cTn id="957" presetID="1" presetClass="entr" presetSubtype="0" fill="hold" nodeType="clickEffect">
                                  <p:stCondLst>
                                    <p:cond delay="0"/>
                                  </p:stCondLst>
                                  <p:childTnLst>
                                    <p:set>
                                      <p:cBhvr>
                                        <p:cTn id="958" dur="1" fill="hold">
                                          <p:stCondLst>
                                            <p:cond delay="0"/>
                                          </p:stCondLst>
                                        </p:cTn>
                                        <p:tgtEl>
                                          <p:spTgt spid="103">
                                            <p:txEl>
                                              <p:pRg st="4" end="4"/>
                                            </p:txEl>
                                          </p:spTgt>
                                        </p:tgtEl>
                                        <p:attrNameLst>
                                          <p:attrName>style.visibility</p:attrName>
                                        </p:attrNameLst>
                                      </p:cBhvr>
                                      <p:to>
                                        <p:strVal val="visible"/>
                                      </p:to>
                                    </p:set>
                                  </p:childTnLst>
                                </p:cTn>
                              </p:par>
                            </p:childTnLst>
                          </p:cTn>
                        </p:par>
                      </p:childTnLst>
                    </p:cTn>
                  </p:par>
                  <p:par>
                    <p:cTn id="959" fill="hold">
                      <p:stCondLst>
                        <p:cond delay="indefinite"/>
                      </p:stCondLst>
                      <p:childTnLst>
                        <p:par>
                          <p:cTn id="960" fill="hold">
                            <p:stCondLst>
                              <p:cond delay="0"/>
                            </p:stCondLst>
                            <p:childTnLst>
                              <p:par>
                                <p:cTn id="961" presetID="1" presetClass="entr" presetSubtype="0" fill="hold" nodeType="clickEffect">
                                  <p:stCondLst>
                                    <p:cond delay="0"/>
                                  </p:stCondLst>
                                  <p:childTnLst>
                                    <p:set>
                                      <p:cBhvr>
                                        <p:cTn id="962" dur="1" fill="hold">
                                          <p:stCondLst>
                                            <p:cond delay="0"/>
                                          </p:stCondLst>
                                        </p:cTn>
                                        <p:tgtEl>
                                          <p:spTgt spid="103">
                                            <p:txEl>
                                              <p:pRg st="5" end="5"/>
                                            </p:txEl>
                                          </p:spTgt>
                                        </p:tgtEl>
                                        <p:attrNameLst>
                                          <p:attrName>style.visibility</p:attrName>
                                        </p:attrNameLst>
                                      </p:cBhvr>
                                      <p:to>
                                        <p:strVal val="visible"/>
                                      </p:to>
                                    </p:set>
                                  </p:childTnLst>
                                </p:cTn>
                              </p:par>
                            </p:childTnLst>
                          </p:cTn>
                        </p:par>
                      </p:childTnLst>
                    </p:cTn>
                  </p:par>
                  <p:par>
                    <p:cTn id="963" fill="hold">
                      <p:stCondLst>
                        <p:cond delay="indefinite"/>
                      </p:stCondLst>
                      <p:childTnLst>
                        <p:par>
                          <p:cTn id="964" fill="hold">
                            <p:stCondLst>
                              <p:cond delay="0"/>
                            </p:stCondLst>
                            <p:childTnLst>
                              <p:par>
                                <p:cTn id="965" presetID="1" presetClass="entr" presetSubtype="0" fill="hold" nodeType="clickEffect">
                                  <p:stCondLst>
                                    <p:cond delay="0"/>
                                  </p:stCondLst>
                                  <p:childTnLst>
                                    <p:set>
                                      <p:cBhvr>
                                        <p:cTn id="966" dur="1" fill="hold">
                                          <p:stCondLst>
                                            <p:cond delay="0"/>
                                          </p:stCondLst>
                                        </p:cTn>
                                        <p:tgtEl>
                                          <p:spTgt spid="103">
                                            <p:txEl>
                                              <p:pRg st="6" end="6"/>
                                            </p:txEl>
                                          </p:spTgt>
                                        </p:tgtEl>
                                        <p:attrNameLst>
                                          <p:attrName>style.visibility</p:attrName>
                                        </p:attrNameLst>
                                      </p:cBhvr>
                                      <p:to>
                                        <p:strVal val="visible"/>
                                      </p:to>
                                    </p:set>
                                  </p:childTnLst>
                                </p:cTn>
                              </p:par>
                            </p:childTnLst>
                          </p:cTn>
                        </p:par>
                      </p:childTnLst>
                    </p:cTn>
                  </p:par>
                  <p:par>
                    <p:cTn id="967" fill="hold">
                      <p:stCondLst>
                        <p:cond delay="indefinite"/>
                      </p:stCondLst>
                      <p:childTnLst>
                        <p:par>
                          <p:cTn id="968" fill="hold">
                            <p:stCondLst>
                              <p:cond delay="0"/>
                            </p:stCondLst>
                            <p:childTnLst>
                              <p:par>
                                <p:cTn id="969" presetID="1" presetClass="entr" presetSubtype="0" fill="hold" nodeType="clickEffect">
                                  <p:stCondLst>
                                    <p:cond delay="0"/>
                                  </p:stCondLst>
                                  <p:childTnLst>
                                    <p:set>
                                      <p:cBhvr>
                                        <p:cTn id="970" dur="1" fill="hold">
                                          <p:stCondLst>
                                            <p:cond delay="0"/>
                                          </p:stCondLst>
                                        </p:cTn>
                                        <p:tgtEl>
                                          <p:spTgt spid="103">
                                            <p:txEl>
                                              <p:pRg st="7" end="7"/>
                                            </p:txEl>
                                          </p:spTgt>
                                        </p:tgtEl>
                                        <p:attrNameLst>
                                          <p:attrName>style.visibility</p:attrName>
                                        </p:attrNameLst>
                                      </p:cBhvr>
                                      <p:to>
                                        <p:strVal val="visible"/>
                                      </p:to>
                                    </p:set>
                                  </p:childTnLst>
                                </p:cTn>
                              </p:par>
                            </p:childTnLst>
                          </p:cTn>
                        </p:par>
                      </p:childTnLst>
                    </p:cTn>
                  </p:par>
                  <p:par>
                    <p:cTn id="971" fill="hold">
                      <p:stCondLst>
                        <p:cond delay="indefinite"/>
                      </p:stCondLst>
                      <p:childTnLst>
                        <p:par>
                          <p:cTn id="972" fill="hold">
                            <p:stCondLst>
                              <p:cond delay="0"/>
                            </p:stCondLst>
                            <p:childTnLst>
                              <p:par>
                                <p:cTn id="973" presetID="1" presetClass="entr" presetSubtype="0" fill="hold" nodeType="clickEffect">
                                  <p:stCondLst>
                                    <p:cond delay="0"/>
                                  </p:stCondLst>
                                  <p:childTnLst>
                                    <p:set>
                                      <p:cBhvr>
                                        <p:cTn id="974" dur="1" fill="hold">
                                          <p:stCondLst>
                                            <p:cond delay="0"/>
                                          </p:stCondLst>
                                        </p:cTn>
                                        <p:tgtEl>
                                          <p:spTgt spid="103">
                                            <p:txEl>
                                              <p:pRg st="8" end="8"/>
                                            </p:txEl>
                                          </p:spTgt>
                                        </p:tgtEl>
                                        <p:attrNameLst>
                                          <p:attrName>style.visibility</p:attrName>
                                        </p:attrNameLst>
                                      </p:cBhvr>
                                      <p:to>
                                        <p:strVal val="visible"/>
                                      </p:to>
                                    </p:set>
                                  </p:childTnLst>
                                </p:cTn>
                              </p:par>
                            </p:childTnLst>
                          </p:cTn>
                        </p:par>
                      </p:childTnLst>
                    </p:cTn>
                  </p:par>
                  <p:par>
                    <p:cTn id="975" fill="hold">
                      <p:stCondLst>
                        <p:cond delay="indefinite"/>
                      </p:stCondLst>
                      <p:childTnLst>
                        <p:par>
                          <p:cTn id="976" fill="hold">
                            <p:stCondLst>
                              <p:cond delay="0"/>
                            </p:stCondLst>
                            <p:childTnLst>
                              <p:par>
                                <p:cTn id="977" presetID="1" presetClass="entr" presetSubtype="0" fill="hold" nodeType="clickEffect">
                                  <p:stCondLst>
                                    <p:cond delay="0"/>
                                  </p:stCondLst>
                                  <p:childTnLst>
                                    <p:set>
                                      <p:cBhvr>
                                        <p:cTn id="978"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979" fill="hold">
                      <p:stCondLst>
                        <p:cond delay="indefinite"/>
                      </p:stCondLst>
                      <p:childTnLst>
                        <p:par>
                          <p:cTn id="980" fill="hold">
                            <p:stCondLst>
                              <p:cond delay="0"/>
                            </p:stCondLst>
                            <p:childTnLst>
                              <p:par>
                                <p:cTn id="981" presetID="1" presetClass="entr" presetSubtype="0" fill="hold" nodeType="clickEffect">
                                  <p:stCondLst>
                                    <p:cond delay="0"/>
                                  </p:stCondLst>
                                  <p:childTnLst>
                                    <p:set>
                                      <p:cBhvr>
                                        <p:cTn id="982" dur="1" fill="hold">
                                          <p:stCondLst>
                                            <p:cond delay="0"/>
                                          </p:stCondLst>
                                        </p:cTn>
                                        <p:tgtEl>
                                          <p:spTgt spid="104">
                                            <p:txEl>
                                              <p:pRg st="1" end="1"/>
                                            </p:txEl>
                                          </p:spTgt>
                                        </p:tgtEl>
                                        <p:attrNameLst>
                                          <p:attrName>style.visibility</p:attrName>
                                        </p:attrNameLst>
                                      </p:cBhvr>
                                      <p:to>
                                        <p:strVal val="visible"/>
                                      </p:to>
                                    </p:set>
                                  </p:childTnLst>
                                </p:cTn>
                              </p:par>
                            </p:childTnLst>
                          </p:cTn>
                        </p:par>
                      </p:childTnLst>
                    </p:cTn>
                  </p:par>
                  <p:par>
                    <p:cTn id="983" fill="hold">
                      <p:stCondLst>
                        <p:cond delay="indefinite"/>
                      </p:stCondLst>
                      <p:childTnLst>
                        <p:par>
                          <p:cTn id="984" fill="hold">
                            <p:stCondLst>
                              <p:cond delay="0"/>
                            </p:stCondLst>
                            <p:childTnLst>
                              <p:par>
                                <p:cTn id="985" presetID="1" presetClass="entr" presetSubtype="0" fill="hold" nodeType="clickEffect">
                                  <p:stCondLst>
                                    <p:cond delay="0"/>
                                  </p:stCondLst>
                                  <p:childTnLst>
                                    <p:set>
                                      <p:cBhvr>
                                        <p:cTn id="986" dur="1" fill="hold">
                                          <p:stCondLst>
                                            <p:cond delay="0"/>
                                          </p:stCondLst>
                                        </p:cTn>
                                        <p:tgtEl>
                                          <p:spTgt spid="104">
                                            <p:txEl>
                                              <p:pRg st="2" end="2"/>
                                            </p:txEl>
                                          </p:spTgt>
                                        </p:tgtEl>
                                        <p:attrNameLst>
                                          <p:attrName>style.visibility</p:attrName>
                                        </p:attrNameLst>
                                      </p:cBhvr>
                                      <p:to>
                                        <p:strVal val="visible"/>
                                      </p:to>
                                    </p:set>
                                  </p:childTnLst>
                                </p:cTn>
                              </p:par>
                            </p:childTnLst>
                          </p:cTn>
                        </p:par>
                      </p:childTnLst>
                    </p:cTn>
                  </p:par>
                  <p:par>
                    <p:cTn id="987" fill="hold">
                      <p:stCondLst>
                        <p:cond delay="indefinite"/>
                      </p:stCondLst>
                      <p:childTnLst>
                        <p:par>
                          <p:cTn id="988" fill="hold">
                            <p:stCondLst>
                              <p:cond delay="0"/>
                            </p:stCondLst>
                            <p:childTnLst>
                              <p:par>
                                <p:cTn id="989" presetID="1" presetClass="entr" presetSubtype="0" fill="hold" nodeType="clickEffect">
                                  <p:stCondLst>
                                    <p:cond delay="0"/>
                                  </p:stCondLst>
                                  <p:childTnLst>
                                    <p:set>
                                      <p:cBhvr>
                                        <p:cTn id="990" dur="1" fill="hold">
                                          <p:stCondLst>
                                            <p:cond delay="0"/>
                                          </p:stCondLst>
                                        </p:cTn>
                                        <p:tgtEl>
                                          <p:spTgt spid="104">
                                            <p:txEl>
                                              <p:pRg st="3" end="3"/>
                                            </p:txEl>
                                          </p:spTgt>
                                        </p:tgtEl>
                                        <p:attrNameLst>
                                          <p:attrName>style.visibility</p:attrName>
                                        </p:attrNameLst>
                                      </p:cBhvr>
                                      <p:to>
                                        <p:strVal val="visible"/>
                                      </p:to>
                                    </p:set>
                                  </p:childTnLst>
                                </p:cTn>
                              </p:par>
                            </p:childTnLst>
                          </p:cTn>
                        </p:par>
                      </p:childTnLst>
                    </p:cTn>
                  </p:par>
                  <p:par>
                    <p:cTn id="991" fill="hold">
                      <p:stCondLst>
                        <p:cond delay="indefinite"/>
                      </p:stCondLst>
                      <p:childTnLst>
                        <p:par>
                          <p:cTn id="992" fill="hold">
                            <p:stCondLst>
                              <p:cond delay="0"/>
                            </p:stCondLst>
                            <p:childTnLst>
                              <p:par>
                                <p:cTn id="993" presetID="1" presetClass="entr" presetSubtype="0" fill="hold" nodeType="clickEffect">
                                  <p:stCondLst>
                                    <p:cond delay="0"/>
                                  </p:stCondLst>
                                  <p:childTnLst>
                                    <p:set>
                                      <p:cBhvr>
                                        <p:cTn id="994" dur="1" fill="hold">
                                          <p:stCondLst>
                                            <p:cond delay="0"/>
                                          </p:stCondLst>
                                        </p:cTn>
                                        <p:tgtEl>
                                          <p:spTgt spid="104">
                                            <p:txEl>
                                              <p:pRg st="4" end="4"/>
                                            </p:txEl>
                                          </p:spTgt>
                                        </p:tgtEl>
                                        <p:attrNameLst>
                                          <p:attrName>style.visibility</p:attrName>
                                        </p:attrNameLst>
                                      </p:cBhvr>
                                      <p:to>
                                        <p:strVal val="visible"/>
                                      </p:to>
                                    </p:set>
                                  </p:childTnLst>
                                </p:cTn>
                              </p:par>
                            </p:childTnLst>
                          </p:cTn>
                        </p:par>
                      </p:childTnLst>
                    </p:cTn>
                  </p:par>
                  <p:par>
                    <p:cTn id="995" fill="hold">
                      <p:stCondLst>
                        <p:cond delay="indefinite"/>
                      </p:stCondLst>
                      <p:childTnLst>
                        <p:par>
                          <p:cTn id="996" fill="hold">
                            <p:stCondLst>
                              <p:cond delay="0"/>
                            </p:stCondLst>
                            <p:childTnLst>
                              <p:par>
                                <p:cTn id="997" presetID="1" presetClass="entr" presetSubtype="0" fill="hold" nodeType="clickEffect">
                                  <p:stCondLst>
                                    <p:cond delay="0"/>
                                  </p:stCondLst>
                                  <p:childTnLst>
                                    <p:set>
                                      <p:cBhvr>
                                        <p:cTn id="998" dur="1" fill="hold">
                                          <p:stCondLst>
                                            <p:cond delay="0"/>
                                          </p:stCondLst>
                                        </p:cTn>
                                        <p:tgtEl>
                                          <p:spTgt spid="104">
                                            <p:txEl>
                                              <p:pRg st="5" end="5"/>
                                            </p:txEl>
                                          </p:spTgt>
                                        </p:tgtEl>
                                        <p:attrNameLst>
                                          <p:attrName>style.visibility</p:attrName>
                                        </p:attrNameLst>
                                      </p:cBhvr>
                                      <p:to>
                                        <p:strVal val="visible"/>
                                      </p:to>
                                    </p:set>
                                  </p:childTnLst>
                                </p:cTn>
                              </p:par>
                            </p:childTnLst>
                          </p:cTn>
                        </p:par>
                      </p:childTnLst>
                    </p:cTn>
                  </p:par>
                  <p:par>
                    <p:cTn id="999" fill="hold">
                      <p:stCondLst>
                        <p:cond delay="indefinite"/>
                      </p:stCondLst>
                      <p:childTnLst>
                        <p:par>
                          <p:cTn id="1000" fill="hold">
                            <p:stCondLst>
                              <p:cond delay="0"/>
                            </p:stCondLst>
                            <p:childTnLst>
                              <p:par>
                                <p:cTn id="1001" presetID="1" presetClass="entr" presetSubtype="0" fill="hold" nodeType="clickEffect">
                                  <p:stCondLst>
                                    <p:cond delay="0"/>
                                  </p:stCondLst>
                                  <p:childTnLst>
                                    <p:set>
                                      <p:cBhvr>
                                        <p:cTn id="1002" dur="1" fill="hold">
                                          <p:stCondLst>
                                            <p:cond delay="0"/>
                                          </p:stCondLst>
                                        </p:cTn>
                                        <p:tgtEl>
                                          <p:spTgt spid="104">
                                            <p:txEl>
                                              <p:pRg st="6" end="6"/>
                                            </p:txEl>
                                          </p:spTgt>
                                        </p:tgtEl>
                                        <p:attrNameLst>
                                          <p:attrName>style.visibility</p:attrName>
                                        </p:attrNameLst>
                                      </p:cBhvr>
                                      <p:to>
                                        <p:strVal val="visible"/>
                                      </p:to>
                                    </p:set>
                                  </p:childTnLst>
                                </p:cTn>
                              </p:par>
                            </p:childTnLst>
                          </p:cTn>
                        </p:par>
                      </p:childTnLst>
                    </p:cTn>
                  </p:par>
                  <p:par>
                    <p:cTn id="1003" fill="hold">
                      <p:stCondLst>
                        <p:cond delay="indefinite"/>
                      </p:stCondLst>
                      <p:childTnLst>
                        <p:par>
                          <p:cTn id="1004" fill="hold">
                            <p:stCondLst>
                              <p:cond delay="0"/>
                            </p:stCondLst>
                            <p:childTnLst>
                              <p:par>
                                <p:cTn id="1005" presetID="1" presetClass="entr" presetSubtype="0" fill="hold" nodeType="clickEffect">
                                  <p:stCondLst>
                                    <p:cond delay="0"/>
                                  </p:stCondLst>
                                  <p:childTnLst>
                                    <p:set>
                                      <p:cBhvr>
                                        <p:cTn id="1006" dur="1" fill="hold">
                                          <p:stCondLst>
                                            <p:cond delay="0"/>
                                          </p:stCondLst>
                                        </p:cTn>
                                        <p:tgtEl>
                                          <p:spTgt spid="104">
                                            <p:txEl>
                                              <p:pRg st="7" end="7"/>
                                            </p:txEl>
                                          </p:spTgt>
                                        </p:tgtEl>
                                        <p:attrNameLst>
                                          <p:attrName>style.visibility</p:attrName>
                                        </p:attrNameLst>
                                      </p:cBhvr>
                                      <p:to>
                                        <p:strVal val="visible"/>
                                      </p:to>
                                    </p:set>
                                  </p:childTnLst>
                                </p:cTn>
                              </p:par>
                            </p:childTnLst>
                          </p:cTn>
                        </p:par>
                      </p:childTnLst>
                    </p:cTn>
                  </p:par>
                  <p:par>
                    <p:cTn id="1007" fill="hold">
                      <p:stCondLst>
                        <p:cond delay="indefinite"/>
                      </p:stCondLst>
                      <p:childTnLst>
                        <p:par>
                          <p:cTn id="1008" fill="hold">
                            <p:stCondLst>
                              <p:cond delay="0"/>
                            </p:stCondLst>
                            <p:childTnLst>
                              <p:par>
                                <p:cTn id="1009" presetID="1" presetClass="entr" presetSubtype="0" fill="hold" nodeType="clickEffect">
                                  <p:stCondLst>
                                    <p:cond delay="0"/>
                                  </p:stCondLst>
                                  <p:childTnLst>
                                    <p:set>
                                      <p:cBhvr>
                                        <p:cTn id="1010" dur="1" fill="hold">
                                          <p:stCondLst>
                                            <p:cond delay="0"/>
                                          </p:stCondLst>
                                        </p:cTn>
                                        <p:tgtEl>
                                          <p:spTgt spid="104">
                                            <p:txEl>
                                              <p:pRg st="8" end="8"/>
                                            </p:txEl>
                                          </p:spTgt>
                                        </p:tgtEl>
                                        <p:attrNameLst>
                                          <p:attrName>style.visibility</p:attrName>
                                        </p:attrNameLst>
                                      </p:cBhvr>
                                      <p:to>
                                        <p:strVal val="visible"/>
                                      </p:to>
                                    </p:set>
                                  </p:childTnLst>
                                </p:cTn>
                              </p:par>
                            </p:childTnLst>
                          </p:cTn>
                        </p:par>
                      </p:childTnLst>
                    </p:cTn>
                  </p:par>
                  <p:par>
                    <p:cTn id="1011" fill="hold">
                      <p:stCondLst>
                        <p:cond delay="indefinite"/>
                      </p:stCondLst>
                      <p:childTnLst>
                        <p:par>
                          <p:cTn id="1012" fill="hold">
                            <p:stCondLst>
                              <p:cond delay="0"/>
                            </p:stCondLst>
                            <p:childTnLst>
                              <p:par>
                                <p:cTn id="1013" presetID="1" presetClass="entr" presetSubtype="0" fill="hold" nodeType="clickEffect">
                                  <p:stCondLst>
                                    <p:cond delay="0"/>
                                  </p:stCondLst>
                                  <p:childTnLst>
                                    <p:set>
                                      <p:cBhvr>
                                        <p:cTn id="1014" dur="1" fill="hold">
                                          <p:stCondLst>
                                            <p:cond delay="0"/>
                                          </p:stCondLst>
                                        </p:cTn>
                                        <p:tgtEl>
                                          <p:spTgt spid="105">
                                            <p:txEl>
                                              <p:pRg st="0" end="0"/>
                                            </p:txEl>
                                          </p:spTgt>
                                        </p:tgtEl>
                                        <p:attrNameLst>
                                          <p:attrName>style.visibility</p:attrName>
                                        </p:attrNameLst>
                                      </p:cBhvr>
                                      <p:to>
                                        <p:strVal val="visible"/>
                                      </p:to>
                                    </p:set>
                                  </p:childTnLst>
                                </p:cTn>
                              </p:par>
                            </p:childTnLst>
                          </p:cTn>
                        </p:par>
                      </p:childTnLst>
                    </p:cTn>
                  </p:par>
                  <p:par>
                    <p:cTn id="1015" fill="hold">
                      <p:stCondLst>
                        <p:cond delay="indefinite"/>
                      </p:stCondLst>
                      <p:childTnLst>
                        <p:par>
                          <p:cTn id="1016" fill="hold">
                            <p:stCondLst>
                              <p:cond delay="0"/>
                            </p:stCondLst>
                            <p:childTnLst>
                              <p:par>
                                <p:cTn id="1017" presetID="1" presetClass="entr" presetSubtype="0" fill="hold" nodeType="clickEffect">
                                  <p:stCondLst>
                                    <p:cond delay="0"/>
                                  </p:stCondLst>
                                  <p:childTnLst>
                                    <p:set>
                                      <p:cBhvr>
                                        <p:cTn id="1018" dur="1" fill="hold">
                                          <p:stCondLst>
                                            <p:cond delay="0"/>
                                          </p:stCondLst>
                                        </p:cTn>
                                        <p:tgtEl>
                                          <p:spTgt spid="105">
                                            <p:txEl>
                                              <p:pRg st="1" end="1"/>
                                            </p:txEl>
                                          </p:spTgt>
                                        </p:tgtEl>
                                        <p:attrNameLst>
                                          <p:attrName>style.visibility</p:attrName>
                                        </p:attrNameLst>
                                      </p:cBhvr>
                                      <p:to>
                                        <p:strVal val="visible"/>
                                      </p:to>
                                    </p:set>
                                  </p:childTnLst>
                                </p:cTn>
                              </p:par>
                            </p:childTnLst>
                          </p:cTn>
                        </p:par>
                      </p:childTnLst>
                    </p:cTn>
                  </p:par>
                  <p:par>
                    <p:cTn id="1019" fill="hold">
                      <p:stCondLst>
                        <p:cond delay="indefinite"/>
                      </p:stCondLst>
                      <p:childTnLst>
                        <p:par>
                          <p:cTn id="1020" fill="hold">
                            <p:stCondLst>
                              <p:cond delay="0"/>
                            </p:stCondLst>
                            <p:childTnLst>
                              <p:par>
                                <p:cTn id="1021" presetID="1" presetClass="entr" presetSubtype="0" fill="hold" nodeType="clickEffect">
                                  <p:stCondLst>
                                    <p:cond delay="0"/>
                                  </p:stCondLst>
                                  <p:childTnLst>
                                    <p:set>
                                      <p:cBhvr>
                                        <p:cTn id="1022" dur="1" fill="hold">
                                          <p:stCondLst>
                                            <p:cond delay="0"/>
                                          </p:stCondLst>
                                        </p:cTn>
                                        <p:tgtEl>
                                          <p:spTgt spid="105">
                                            <p:txEl>
                                              <p:pRg st="2" end="2"/>
                                            </p:txEl>
                                          </p:spTgt>
                                        </p:tgtEl>
                                        <p:attrNameLst>
                                          <p:attrName>style.visibility</p:attrName>
                                        </p:attrNameLst>
                                      </p:cBhvr>
                                      <p:to>
                                        <p:strVal val="visible"/>
                                      </p:to>
                                    </p:set>
                                  </p:childTnLst>
                                </p:cTn>
                              </p:par>
                            </p:childTnLst>
                          </p:cTn>
                        </p:par>
                      </p:childTnLst>
                    </p:cTn>
                  </p:par>
                  <p:par>
                    <p:cTn id="1023" fill="hold">
                      <p:stCondLst>
                        <p:cond delay="indefinite"/>
                      </p:stCondLst>
                      <p:childTnLst>
                        <p:par>
                          <p:cTn id="1024" fill="hold">
                            <p:stCondLst>
                              <p:cond delay="0"/>
                            </p:stCondLst>
                            <p:childTnLst>
                              <p:par>
                                <p:cTn id="1025" presetID="1" presetClass="entr" presetSubtype="0" fill="hold" nodeType="clickEffect">
                                  <p:stCondLst>
                                    <p:cond delay="0"/>
                                  </p:stCondLst>
                                  <p:childTnLst>
                                    <p:set>
                                      <p:cBhvr>
                                        <p:cTn id="1026" dur="1" fill="hold">
                                          <p:stCondLst>
                                            <p:cond delay="0"/>
                                          </p:stCondLst>
                                        </p:cTn>
                                        <p:tgtEl>
                                          <p:spTgt spid="105">
                                            <p:txEl>
                                              <p:pRg st="3" end="3"/>
                                            </p:txEl>
                                          </p:spTgt>
                                        </p:tgtEl>
                                        <p:attrNameLst>
                                          <p:attrName>style.visibility</p:attrName>
                                        </p:attrNameLst>
                                      </p:cBhvr>
                                      <p:to>
                                        <p:strVal val="visible"/>
                                      </p:to>
                                    </p:set>
                                  </p:childTnLst>
                                </p:cTn>
                              </p:par>
                            </p:childTnLst>
                          </p:cTn>
                        </p:par>
                      </p:childTnLst>
                    </p:cTn>
                  </p:par>
                  <p:par>
                    <p:cTn id="1027" fill="hold">
                      <p:stCondLst>
                        <p:cond delay="indefinite"/>
                      </p:stCondLst>
                      <p:childTnLst>
                        <p:par>
                          <p:cTn id="1028" fill="hold">
                            <p:stCondLst>
                              <p:cond delay="0"/>
                            </p:stCondLst>
                            <p:childTnLst>
                              <p:par>
                                <p:cTn id="1029" presetID="1" presetClass="entr" presetSubtype="0" fill="hold" nodeType="clickEffect">
                                  <p:stCondLst>
                                    <p:cond delay="0"/>
                                  </p:stCondLst>
                                  <p:childTnLst>
                                    <p:set>
                                      <p:cBhvr>
                                        <p:cTn id="1030" dur="1" fill="hold">
                                          <p:stCondLst>
                                            <p:cond delay="0"/>
                                          </p:stCondLst>
                                        </p:cTn>
                                        <p:tgtEl>
                                          <p:spTgt spid="105">
                                            <p:txEl>
                                              <p:pRg st="4" end="4"/>
                                            </p:txEl>
                                          </p:spTgt>
                                        </p:tgtEl>
                                        <p:attrNameLst>
                                          <p:attrName>style.visibility</p:attrName>
                                        </p:attrNameLst>
                                      </p:cBhvr>
                                      <p:to>
                                        <p:strVal val="visible"/>
                                      </p:to>
                                    </p:set>
                                  </p:childTnLst>
                                </p:cTn>
                              </p:par>
                            </p:childTnLst>
                          </p:cTn>
                        </p:par>
                      </p:childTnLst>
                    </p:cTn>
                  </p:par>
                  <p:par>
                    <p:cTn id="1031" fill="hold">
                      <p:stCondLst>
                        <p:cond delay="indefinite"/>
                      </p:stCondLst>
                      <p:childTnLst>
                        <p:par>
                          <p:cTn id="1032" fill="hold">
                            <p:stCondLst>
                              <p:cond delay="0"/>
                            </p:stCondLst>
                            <p:childTnLst>
                              <p:par>
                                <p:cTn id="1033" presetID="1" presetClass="entr" presetSubtype="0" fill="hold" nodeType="clickEffect">
                                  <p:stCondLst>
                                    <p:cond delay="0"/>
                                  </p:stCondLst>
                                  <p:childTnLst>
                                    <p:set>
                                      <p:cBhvr>
                                        <p:cTn id="1034" dur="1" fill="hold">
                                          <p:stCondLst>
                                            <p:cond delay="0"/>
                                          </p:stCondLst>
                                        </p:cTn>
                                        <p:tgtEl>
                                          <p:spTgt spid="105">
                                            <p:txEl>
                                              <p:pRg st="5" end="5"/>
                                            </p:txEl>
                                          </p:spTgt>
                                        </p:tgtEl>
                                        <p:attrNameLst>
                                          <p:attrName>style.visibility</p:attrName>
                                        </p:attrNameLst>
                                      </p:cBhvr>
                                      <p:to>
                                        <p:strVal val="visible"/>
                                      </p:to>
                                    </p:set>
                                  </p:childTnLst>
                                </p:cTn>
                              </p:par>
                            </p:childTnLst>
                          </p:cTn>
                        </p:par>
                      </p:childTnLst>
                    </p:cTn>
                  </p:par>
                  <p:par>
                    <p:cTn id="1035" fill="hold">
                      <p:stCondLst>
                        <p:cond delay="indefinite"/>
                      </p:stCondLst>
                      <p:childTnLst>
                        <p:par>
                          <p:cTn id="1036" fill="hold">
                            <p:stCondLst>
                              <p:cond delay="0"/>
                            </p:stCondLst>
                            <p:childTnLst>
                              <p:par>
                                <p:cTn id="1037" presetID="1" presetClass="entr" presetSubtype="0" fill="hold" nodeType="clickEffect">
                                  <p:stCondLst>
                                    <p:cond delay="0"/>
                                  </p:stCondLst>
                                  <p:childTnLst>
                                    <p:set>
                                      <p:cBhvr>
                                        <p:cTn id="1038" dur="1" fill="hold">
                                          <p:stCondLst>
                                            <p:cond delay="0"/>
                                          </p:stCondLst>
                                        </p:cTn>
                                        <p:tgtEl>
                                          <p:spTgt spid="105">
                                            <p:txEl>
                                              <p:pRg st="6" end="6"/>
                                            </p:txEl>
                                          </p:spTgt>
                                        </p:tgtEl>
                                        <p:attrNameLst>
                                          <p:attrName>style.visibility</p:attrName>
                                        </p:attrNameLst>
                                      </p:cBhvr>
                                      <p:to>
                                        <p:strVal val="visible"/>
                                      </p:to>
                                    </p:set>
                                  </p:childTnLst>
                                </p:cTn>
                              </p:par>
                            </p:childTnLst>
                          </p:cTn>
                        </p:par>
                      </p:childTnLst>
                    </p:cTn>
                  </p:par>
                  <p:par>
                    <p:cTn id="1039" fill="hold">
                      <p:stCondLst>
                        <p:cond delay="indefinite"/>
                      </p:stCondLst>
                      <p:childTnLst>
                        <p:par>
                          <p:cTn id="1040" fill="hold">
                            <p:stCondLst>
                              <p:cond delay="0"/>
                            </p:stCondLst>
                            <p:childTnLst>
                              <p:par>
                                <p:cTn id="1041" presetID="1" presetClass="entr" presetSubtype="0" fill="hold" nodeType="clickEffect">
                                  <p:stCondLst>
                                    <p:cond delay="0"/>
                                  </p:stCondLst>
                                  <p:childTnLst>
                                    <p:set>
                                      <p:cBhvr>
                                        <p:cTn id="1042" dur="1" fill="hold">
                                          <p:stCondLst>
                                            <p:cond delay="0"/>
                                          </p:stCondLst>
                                        </p:cTn>
                                        <p:tgtEl>
                                          <p:spTgt spid="105">
                                            <p:txEl>
                                              <p:pRg st="7" end="7"/>
                                            </p:txEl>
                                          </p:spTgt>
                                        </p:tgtEl>
                                        <p:attrNameLst>
                                          <p:attrName>style.visibility</p:attrName>
                                        </p:attrNameLst>
                                      </p:cBhvr>
                                      <p:to>
                                        <p:strVal val="visible"/>
                                      </p:to>
                                    </p:set>
                                  </p:childTnLst>
                                </p:cTn>
                              </p:par>
                            </p:childTnLst>
                          </p:cTn>
                        </p:par>
                      </p:childTnLst>
                    </p:cTn>
                  </p:par>
                  <p:par>
                    <p:cTn id="1043" fill="hold">
                      <p:stCondLst>
                        <p:cond delay="indefinite"/>
                      </p:stCondLst>
                      <p:childTnLst>
                        <p:par>
                          <p:cTn id="1044" fill="hold">
                            <p:stCondLst>
                              <p:cond delay="0"/>
                            </p:stCondLst>
                            <p:childTnLst>
                              <p:par>
                                <p:cTn id="1045" presetID="1" presetClass="entr" presetSubtype="0" fill="hold" nodeType="clickEffect">
                                  <p:stCondLst>
                                    <p:cond delay="0"/>
                                  </p:stCondLst>
                                  <p:childTnLst>
                                    <p:set>
                                      <p:cBhvr>
                                        <p:cTn id="1046" dur="1" fill="hold">
                                          <p:stCondLst>
                                            <p:cond delay="0"/>
                                          </p:stCondLst>
                                        </p:cTn>
                                        <p:tgtEl>
                                          <p:spTgt spid="105">
                                            <p:txEl>
                                              <p:pRg st="8" end="8"/>
                                            </p:txEl>
                                          </p:spTgt>
                                        </p:tgtEl>
                                        <p:attrNameLst>
                                          <p:attrName>style.visibility</p:attrName>
                                        </p:attrNameLst>
                                      </p:cBhvr>
                                      <p:to>
                                        <p:strVal val="visible"/>
                                      </p:to>
                                    </p:set>
                                  </p:childTnLst>
                                </p:cTn>
                              </p:par>
                            </p:childTnLst>
                          </p:cTn>
                        </p:par>
                      </p:childTnLst>
                    </p:cTn>
                  </p:par>
                  <p:par>
                    <p:cTn id="1047" fill="hold">
                      <p:stCondLst>
                        <p:cond delay="indefinite"/>
                      </p:stCondLst>
                      <p:childTnLst>
                        <p:par>
                          <p:cTn id="1048" fill="hold">
                            <p:stCondLst>
                              <p:cond delay="0"/>
                            </p:stCondLst>
                            <p:childTnLst>
                              <p:par>
                                <p:cTn id="1049" presetID="1" presetClass="entr" presetSubtype="0" fill="hold" nodeType="clickEffect">
                                  <p:stCondLst>
                                    <p:cond delay="0"/>
                                  </p:stCondLst>
                                  <p:childTnLst>
                                    <p:set>
                                      <p:cBhvr>
                                        <p:cTn id="1050" dur="1" fill="hold">
                                          <p:stCondLst>
                                            <p:cond delay="0"/>
                                          </p:stCondLst>
                                        </p:cTn>
                                        <p:tgtEl>
                                          <p:spTgt spid="106">
                                            <p:txEl>
                                              <p:pRg st="0" end="0"/>
                                            </p:txEl>
                                          </p:spTgt>
                                        </p:tgtEl>
                                        <p:attrNameLst>
                                          <p:attrName>style.visibility</p:attrName>
                                        </p:attrNameLst>
                                      </p:cBhvr>
                                      <p:to>
                                        <p:strVal val="visible"/>
                                      </p:to>
                                    </p:set>
                                  </p:childTnLst>
                                </p:cTn>
                              </p:par>
                            </p:childTnLst>
                          </p:cTn>
                        </p:par>
                      </p:childTnLst>
                    </p:cTn>
                  </p:par>
                  <p:par>
                    <p:cTn id="1051" fill="hold">
                      <p:stCondLst>
                        <p:cond delay="indefinite"/>
                      </p:stCondLst>
                      <p:childTnLst>
                        <p:par>
                          <p:cTn id="1052" fill="hold">
                            <p:stCondLst>
                              <p:cond delay="0"/>
                            </p:stCondLst>
                            <p:childTnLst>
                              <p:par>
                                <p:cTn id="1053" presetID="1" presetClass="entr" presetSubtype="0" fill="hold" nodeType="clickEffect">
                                  <p:stCondLst>
                                    <p:cond delay="0"/>
                                  </p:stCondLst>
                                  <p:childTnLst>
                                    <p:set>
                                      <p:cBhvr>
                                        <p:cTn id="1054" dur="1" fill="hold">
                                          <p:stCondLst>
                                            <p:cond delay="0"/>
                                          </p:stCondLst>
                                        </p:cTn>
                                        <p:tgtEl>
                                          <p:spTgt spid="106">
                                            <p:txEl>
                                              <p:pRg st="1" end="1"/>
                                            </p:txEl>
                                          </p:spTgt>
                                        </p:tgtEl>
                                        <p:attrNameLst>
                                          <p:attrName>style.visibility</p:attrName>
                                        </p:attrNameLst>
                                      </p:cBhvr>
                                      <p:to>
                                        <p:strVal val="visible"/>
                                      </p:to>
                                    </p:set>
                                  </p:childTnLst>
                                </p:cTn>
                              </p:par>
                            </p:childTnLst>
                          </p:cTn>
                        </p:par>
                      </p:childTnLst>
                    </p:cTn>
                  </p:par>
                  <p:par>
                    <p:cTn id="1055" fill="hold">
                      <p:stCondLst>
                        <p:cond delay="indefinite"/>
                      </p:stCondLst>
                      <p:childTnLst>
                        <p:par>
                          <p:cTn id="1056" fill="hold">
                            <p:stCondLst>
                              <p:cond delay="0"/>
                            </p:stCondLst>
                            <p:childTnLst>
                              <p:par>
                                <p:cTn id="1057" presetID="1" presetClass="entr" presetSubtype="0" fill="hold" nodeType="clickEffect">
                                  <p:stCondLst>
                                    <p:cond delay="0"/>
                                  </p:stCondLst>
                                  <p:childTnLst>
                                    <p:set>
                                      <p:cBhvr>
                                        <p:cTn id="1058" dur="1" fill="hold">
                                          <p:stCondLst>
                                            <p:cond delay="0"/>
                                          </p:stCondLst>
                                        </p:cTn>
                                        <p:tgtEl>
                                          <p:spTgt spid="106">
                                            <p:txEl>
                                              <p:pRg st="2" end="2"/>
                                            </p:txEl>
                                          </p:spTgt>
                                        </p:tgtEl>
                                        <p:attrNameLst>
                                          <p:attrName>style.visibility</p:attrName>
                                        </p:attrNameLst>
                                      </p:cBhvr>
                                      <p:to>
                                        <p:strVal val="visible"/>
                                      </p:to>
                                    </p:set>
                                  </p:childTnLst>
                                </p:cTn>
                              </p:par>
                            </p:childTnLst>
                          </p:cTn>
                        </p:par>
                      </p:childTnLst>
                    </p:cTn>
                  </p:par>
                  <p:par>
                    <p:cTn id="1059" fill="hold">
                      <p:stCondLst>
                        <p:cond delay="indefinite"/>
                      </p:stCondLst>
                      <p:childTnLst>
                        <p:par>
                          <p:cTn id="1060" fill="hold">
                            <p:stCondLst>
                              <p:cond delay="0"/>
                            </p:stCondLst>
                            <p:childTnLst>
                              <p:par>
                                <p:cTn id="1061" presetID="1" presetClass="entr" presetSubtype="0" fill="hold" nodeType="clickEffect">
                                  <p:stCondLst>
                                    <p:cond delay="0"/>
                                  </p:stCondLst>
                                  <p:childTnLst>
                                    <p:set>
                                      <p:cBhvr>
                                        <p:cTn id="1062" dur="1" fill="hold">
                                          <p:stCondLst>
                                            <p:cond delay="0"/>
                                          </p:stCondLst>
                                        </p:cTn>
                                        <p:tgtEl>
                                          <p:spTgt spid="106">
                                            <p:txEl>
                                              <p:pRg st="3" end="3"/>
                                            </p:txEl>
                                          </p:spTgt>
                                        </p:tgtEl>
                                        <p:attrNameLst>
                                          <p:attrName>style.visibility</p:attrName>
                                        </p:attrNameLst>
                                      </p:cBhvr>
                                      <p:to>
                                        <p:strVal val="visible"/>
                                      </p:to>
                                    </p:set>
                                  </p:childTnLst>
                                </p:cTn>
                              </p:par>
                            </p:childTnLst>
                          </p:cTn>
                        </p:par>
                      </p:childTnLst>
                    </p:cTn>
                  </p:par>
                  <p:par>
                    <p:cTn id="1063" fill="hold">
                      <p:stCondLst>
                        <p:cond delay="indefinite"/>
                      </p:stCondLst>
                      <p:childTnLst>
                        <p:par>
                          <p:cTn id="1064" fill="hold">
                            <p:stCondLst>
                              <p:cond delay="0"/>
                            </p:stCondLst>
                            <p:childTnLst>
                              <p:par>
                                <p:cTn id="1065" presetID="1" presetClass="entr" presetSubtype="0" fill="hold" nodeType="clickEffect">
                                  <p:stCondLst>
                                    <p:cond delay="0"/>
                                  </p:stCondLst>
                                  <p:childTnLst>
                                    <p:set>
                                      <p:cBhvr>
                                        <p:cTn id="1066" dur="1" fill="hold">
                                          <p:stCondLst>
                                            <p:cond delay="0"/>
                                          </p:stCondLst>
                                        </p:cTn>
                                        <p:tgtEl>
                                          <p:spTgt spid="106">
                                            <p:txEl>
                                              <p:pRg st="4" end="4"/>
                                            </p:txEl>
                                          </p:spTgt>
                                        </p:tgtEl>
                                        <p:attrNameLst>
                                          <p:attrName>style.visibility</p:attrName>
                                        </p:attrNameLst>
                                      </p:cBhvr>
                                      <p:to>
                                        <p:strVal val="visible"/>
                                      </p:to>
                                    </p:set>
                                  </p:childTnLst>
                                </p:cTn>
                              </p:par>
                            </p:childTnLst>
                          </p:cTn>
                        </p:par>
                      </p:childTnLst>
                    </p:cTn>
                  </p:par>
                  <p:par>
                    <p:cTn id="1067" fill="hold">
                      <p:stCondLst>
                        <p:cond delay="indefinite"/>
                      </p:stCondLst>
                      <p:childTnLst>
                        <p:par>
                          <p:cTn id="1068" fill="hold">
                            <p:stCondLst>
                              <p:cond delay="0"/>
                            </p:stCondLst>
                            <p:childTnLst>
                              <p:par>
                                <p:cTn id="1069" presetID="1" presetClass="entr" presetSubtype="0" fill="hold" nodeType="clickEffect">
                                  <p:stCondLst>
                                    <p:cond delay="0"/>
                                  </p:stCondLst>
                                  <p:childTnLst>
                                    <p:set>
                                      <p:cBhvr>
                                        <p:cTn id="1070" dur="1" fill="hold">
                                          <p:stCondLst>
                                            <p:cond delay="0"/>
                                          </p:stCondLst>
                                        </p:cTn>
                                        <p:tgtEl>
                                          <p:spTgt spid="106">
                                            <p:txEl>
                                              <p:pRg st="5" end="5"/>
                                            </p:txEl>
                                          </p:spTgt>
                                        </p:tgtEl>
                                        <p:attrNameLst>
                                          <p:attrName>style.visibility</p:attrName>
                                        </p:attrNameLst>
                                      </p:cBhvr>
                                      <p:to>
                                        <p:strVal val="visible"/>
                                      </p:to>
                                    </p:set>
                                  </p:childTnLst>
                                </p:cTn>
                              </p:par>
                            </p:childTnLst>
                          </p:cTn>
                        </p:par>
                      </p:childTnLst>
                    </p:cTn>
                  </p:par>
                  <p:par>
                    <p:cTn id="1071" fill="hold">
                      <p:stCondLst>
                        <p:cond delay="indefinite"/>
                      </p:stCondLst>
                      <p:childTnLst>
                        <p:par>
                          <p:cTn id="1072" fill="hold">
                            <p:stCondLst>
                              <p:cond delay="0"/>
                            </p:stCondLst>
                            <p:childTnLst>
                              <p:par>
                                <p:cTn id="1073" presetID="1" presetClass="entr" presetSubtype="0" fill="hold" nodeType="clickEffect">
                                  <p:stCondLst>
                                    <p:cond delay="0"/>
                                  </p:stCondLst>
                                  <p:childTnLst>
                                    <p:set>
                                      <p:cBhvr>
                                        <p:cTn id="1074" dur="1" fill="hold">
                                          <p:stCondLst>
                                            <p:cond delay="0"/>
                                          </p:stCondLst>
                                        </p:cTn>
                                        <p:tgtEl>
                                          <p:spTgt spid="106">
                                            <p:txEl>
                                              <p:pRg st="6" end="6"/>
                                            </p:txEl>
                                          </p:spTgt>
                                        </p:tgtEl>
                                        <p:attrNameLst>
                                          <p:attrName>style.visibility</p:attrName>
                                        </p:attrNameLst>
                                      </p:cBhvr>
                                      <p:to>
                                        <p:strVal val="visible"/>
                                      </p:to>
                                    </p:set>
                                  </p:childTnLst>
                                </p:cTn>
                              </p:par>
                            </p:childTnLst>
                          </p:cTn>
                        </p:par>
                      </p:childTnLst>
                    </p:cTn>
                  </p:par>
                  <p:par>
                    <p:cTn id="1075" fill="hold">
                      <p:stCondLst>
                        <p:cond delay="indefinite"/>
                      </p:stCondLst>
                      <p:childTnLst>
                        <p:par>
                          <p:cTn id="1076" fill="hold">
                            <p:stCondLst>
                              <p:cond delay="0"/>
                            </p:stCondLst>
                            <p:childTnLst>
                              <p:par>
                                <p:cTn id="1077" presetID="1" presetClass="entr" presetSubtype="0" fill="hold" nodeType="clickEffect">
                                  <p:stCondLst>
                                    <p:cond delay="0"/>
                                  </p:stCondLst>
                                  <p:childTnLst>
                                    <p:set>
                                      <p:cBhvr>
                                        <p:cTn id="1078" dur="1" fill="hold">
                                          <p:stCondLst>
                                            <p:cond delay="0"/>
                                          </p:stCondLst>
                                        </p:cTn>
                                        <p:tgtEl>
                                          <p:spTgt spid="106">
                                            <p:txEl>
                                              <p:pRg st="7" end="7"/>
                                            </p:txEl>
                                          </p:spTgt>
                                        </p:tgtEl>
                                        <p:attrNameLst>
                                          <p:attrName>style.visibility</p:attrName>
                                        </p:attrNameLst>
                                      </p:cBhvr>
                                      <p:to>
                                        <p:strVal val="visible"/>
                                      </p:to>
                                    </p:set>
                                  </p:childTnLst>
                                </p:cTn>
                              </p:par>
                            </p:childTnLst>
                          </p:cTn>
                        </p:par>
                      </p:childTnLst>
                    </p:cTn>
                  </p:par>
                  <p:par>
                    <p:cTn id="1079" fill="hold">
                      <p:stCondLst>
                        <p:cond delay="indefinite"/>
                      </p:stCondLst>
                      <p:childTnLst>
                        <p:par>
                          <p:cTn id="1080" fill="hold">
                            <p:stCondLst>
                              <p:cond delay="0"/>
                            </p:stCondLst>
                            <p:childTnLst>
                              <p:par>
                                <p:cTn id="1081" presetID="1" presetClass="entr" presetSubtype="0" fill="hold" nodeType="clickEffect">
                                  <p:stCondLst>
                                    <p:cond delay="0"/>
                                  </p:stCondLst>
                                  <p:childTnLst>
                                    <p:set>
                                      <p:cBhvr>
                                        <p:cTn id="1082" dur="1" fill="hold">
                                          <p:stCondLst>
                                            <p:cond delay="0"/>
                                          </p:stCondLst>
                                        </p:cTn>
                                        <p:tgtEl>
                                          <p:spTgt spid="106">
                                            <p:txEl>
                                              <p:pRg st="8" end="8"/>
                                            </p:txEl>
                                          </p:spTgt>
                                        </p:tgtEl>
                                        <p:attrNameLst>
                                          <p:attrName>style.visibility</p:attrName>
                                        </p:attrNameLst>
                                      </p:cBhvr>
                                      <p:to>
                                        <p:strVal val="visible"/>
                                      </p:to>
                                    </p:set>
                                  </p:childTnLst>
                                </p:cTn>
                              </p:par>
                            </p:childTnLst>
                          </p:cTn>
                        </p:par>
                      </p:childTnLst>
                    </p:cTn>
                  </p:par>
                  <p:par>
                    <p:cTn id="1083" fill="hold">
                      <p:stCondLst>
                        <p:cond delay="indefinite"/>
                      </p:stCondLst>
                      <p:childTnLst>
                        <p:par>
                          <p:cTn id="1084" fill="hold">
                            <p:stCondLst>
                              <p:cond delay="0"/>
                            </p:stCondLst>
                            <p:childTnLst>
                              <p:par>
                                <p:cTn id="1085" presetID="1" presetClass="entr" presetSubtype="0" fill="hold" nodeType="clickEffect">
                                  <p:stCondLst>
                                    <p:cond delay="0"/>
                                  </p:stCondLst>
                                  <p:childTnLst>
                                    <p:set>
                                      <p:cBhvr>
                                        <p:cTn id="1086"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1087" fill="hold">
                      <p:stCondLst>
                        <p:cond delay="indefinite"/>
                      </p:stCondLst>
                      <p:childTnLst>
                        <p:par>
                          <p:cTn id="1088" fill="hold">
                            <p:stCondLst>
                              <p:cond delay="0"/>
                            </p:stCondLst>
                            <p:childTnLst>
                              <p:par>
                                <p:cTn id="1089" presetID="1" presetClass="entr" presetSubtype="0" fill="hold" nodeType="clickEffect">
                                  <p:stCondLst>
                                    <p:cond delay="0"/>
                                  </p:stCondLst>
                                  <p:childTnLst>
                                    <p:set>
                                      <p:cBhvr>
                                        <p:cTn id="1090" dur="1" fill="hold">
                                          <p:stCondLst>
                                            <p:cond delay="0"/>
                                          </p:stCondLst>
                                        </p:cTn>
                                        <p:tgtEl>
                                          <p:spTgt spid="107">
                                            <p:txEl>
                                              <p:pRg st="1" end="1"/>
                                            </p:txEl>
                                          </p:spTgt>
                                        </p:tgtEl>
                                        <p:attrNameLst>
                                          <p:attrName>style.visibility</p:attrName>
                                        </p:attrNameLst>
                                      </p:cBhvr>
                                      <p:to>
                                        <p:strVal val="visible"/>
                                      </p:to>
                                    </p:set>
                                  </p:childTnLst>
                                </p:cTn>
                              </p:par>
                            </p:childTnLst>
                          </p:cTn>
                        </p:par>
                      </p:childTnLst>
                    </p:cTn>
                  </p:par>
                  <p:par>
                    <p:cTn id="1091" fill="hold">
                      <p:stCondLst>
                        <p:cond delay="indefinite"/>
                      </p:stCondLst>
                      <p:childTnLst>
                        <p:par>
                          <p:cTn id="1092" fill="hold">
                            <p:stCondLst>
                              <p:cond delay="0"/>
                            </p:stCondLst>
                            <p:childTnLst>
                              <p:par>
                                <p:cTn id="1093" presetID="1" presetClass="entr" presetSubtype="0" fill="hold" nodeType="clickEffect">
                                  <p:stCondLst>
                                    <p:cond delay="0"/>
                                  </p:stCondLst>
                                  <p:childTnLst>
                                    <p:set>
                                      <p:cBhvr>
                                        <p:cTn id="1094" dur="1" fill="hold">
                                          <p:stCondLst>
                                            <p:cond delay="0"/>
                                          </p:stCondLst>
                                        </p:cTn>
                                        <p:tgtEl>
                                          <p:spTgt spid="107">
                                            <p:txEl>
                                              <p:pRg st="2" end="2"/>
                                            </p:txEl>
                                          </p:spTgt>
                                        </p:tgtEl>
                                        <p:attrNameLst>
                                          <p:attrName>style.visibility</p:attrName>
                                        </p:attrNameLst>
                                      </p:cBhvr>
                                      <p:to>
                                        <p:strVal val="visible"/>
                                      </p:to>
                                    </p:set>
                                  </p:childTnLst>
                                </p:cTn>
                              </p:par>
                            </p:childTnLst>
                          </p:cTn>
                        </p:par>
                      </p:childTnLst>
                    </p:cTn>
                  </p:par>
                  <p:par>
                    <p:cTn id="1095" fill="hold">
                      <p:stCondLst>
                        <p:cond delay="indefinite"/>
                      </p:stCondLst>
                      <p:childTnLst>
                        <p:par>
                          <p:cTn id="1096" fill="hold">
                            <p:stCondLst>
                              <p:cond delay="0"/>
                            </p:stCondLst>
                            <p:childTnLst>
                              <p:par>
                                <p:cTn id="1097" presetID="1" presetClass="entr" presetSubtype="0" fill="hold" nodeType="clickEffect">
                                  <p:stCondLst>
                                    <p:cond delay="0"/>
                                  </p:stCondLst>
                                  <p:childTnLst>
                                    <p:set>
                                      <p:cBhvr>
                                        <p:cTn id="1098" dur="1" fill="hold">
                                          <p:stCondLst>
                                            <p:cond delay="0"/>
                                          </p:stCondLst>
                                        </p:cTn>
                                        <p:tgtEl>
                                          <p:spTgt spid="107">
                                            <p:txEl>
                                              <p:pRg st="3" end="3"/>
                                            </p:txEl>
                                          </p:spTgt>
                                        </p:tgtEl>
                                        <p:attrNameLst>
                                          <p:attrName>style.visibility</p:attrName>
                                        </p:attrNameLst>
                                      </p:cBhvr>
                                      <p:to>
                                        <p:strVal val="visible"/>
                                      </p:to>
                                    </p:set>
                                  </p:childTnLst>
                                </p:cTn>
                              </p:par>
                            </p:childTnLst>
                          </p:cTn>
                        </p:par>
                      </p:childTnLst>
                    </p:cTn>
                  </p:par>
                  <p:par>
                    <p:cTn id="1099" fill="hold">
                      <p:stCondLst>
                        <p:cond delay="indefinite"/>
                      </p:stCondLst>
                      <p:childTnLst>
                        <p:par>
                          <p:cTn id="1100" fill="hold">
                            <p:stCondLst>
                              <p:cond delay="0"/>
                            </p:stCondLst>
                            <p:childTnLst>
                              <p:par>
                                <p:cTn id="1101" presetID="1" presetClass="entr" presetSubtype="0" fill="hold" nodeType="clickEffect">
                                  <p:stCondLst>
                                    <p:cond delay="0"/>
                                  </p:stCondLst>
                                  <p:childTnLst>
                                    <p:set>
                                      <p:cBhvr>
                                        <p:cTn id="1102" dur="1" fill="hold">
                                          <p:stCondLst>
                                            <p:cond delay="0"/>
                                          </p:stCondLst>
                                        </p:cTn>
                                        <p:tgtEl>
                                          <p:spTgt spid="107">
                                            <p:txEl>
                                              <p:pRg st="4" end="4"/>
                                            </p:txEl>
                                          </p:spTgt>
                                        </p:tgtEl>
                                        <p:attrNameLst>
                                          <p:attrName>style.visibility</p:attrName>
                                        </p:attrNameLst>
                                      </p:cBhvr>
                                      <p:to>
                                        <p:strVal val="visible"/>
                                      </p:to>
                                    </p:set>
                                  </p:childTnLst>
                                </p:cTn>
                              </p:par>
                            </p:childTnLst>
                          </p:cTn>
                        </p:par>
                      </p:childTnLst>
                    </p:cTn>
                  </p:par>
                  <p:par>
                    <p:cTn id="1103" fill="hold">
                      <p:stCondLst>
                        <p:cond delay="indefinite"/>
                      </p:stCondLst>
                      <p:childTnLst>
                        <p:par>
                          <p:cTn id="1104" fill="hold">
                            <p:stCondLst>
                              <p:cond delay="0"/>
                            </p:stCondLst>
                            <p:childTnLst>
                              <p:par>
                                <p:cTn id="1105" presetID="1" presetClass="entr" presetSubtype="0" fill="hold" nodeType="clickEffect">
                                  <p:stCondLst>
                                    <p:cond delay="0"/>
                                  </p:stCondLst>
                                  <p:childTnLst>
                                    <p:set>
                                      <p:cBhvr>
                                        <p:cTn id="1106" dur="1" fill="hold">
                                          <p:stCondLst>
                                            <p:cond delay="0"/>
                                          </p:stCondLst>
                                        </p:cTn>
                                        <p:tgtEl>
                                          <p:spTgt spid="107">
                                            <p:txEl>
                                              <p:pRg st="5" end="5"/>
                                            </p:txEl>
                                          </p:spTgt>
                                        </p:tgtEl>
                                        <p:attrNameLst>
                                          <p:attrName>style.visibility</p:attrName>
                                        </p:attrNameLst>
                                      </p:cBhvr>
                                      <p:to>
                                        <p:strVal val="visible"/>
                                      </p:to>
                                    </p:set>
                                  </p:childTnLst>
                                </p:cTn>
                              </p:par>
                            </p:childTnLst>
                          </p:cTn>
                        </p:par>
                      </p:childTnLst>
                    </p:cTn>
                  </p:par>
                  <p:par>
                    <p:cTn id="1107" fill="hold">
                      <p:stCondLst>
                        <p:cond delay="indefinite"/>
                      </p:stCondLst>
                      <p:childTnLst>
                        <p:par>
                          <p:cTn id="1108" fill="hold">
                            <p:stCondLst>
                              <p:cond delay="0"/>
                            </p:stCondLst>
                            <p:childTnLst>
                              <p:par>
                                <p:cTn id="1109" presetID="1" presetClass="entr" presetSubtype="0" fill="hold" nodeType="clickEffect">
                                  <p:stCondLst>
                                    <p:cond delay="0"/>
                                  </p:stCondLst>
                                  <p:childTnLst>
                                    <p:set>
                                      <p:cBhvr>
                                        <p:cTn id="1110" dur="1" fill="hold">
                                          <p:stCondLst>
                                            <p:cond delay="0"/>
                                          </p:stCondLst>
                                        </p:cTn>
                                        <p:tgtEl>
                                          <p:spTgt spid="107">
                                            <p:txEl>
                                              <p:pRg st="6" end="6"/>
                                            </p:txEl>
                                          </p:spTgt>
                                        </p:tgtEl>
                                        <p:attrNameLst>
                                          <p:attrName>style.visibility</p:attrName>
                                        </p:attrNameLst>
                                      </p:cBhvr>
                                      <p:to>
                                        <p:strVal val="visible"/>
                                      </p:to>
                                    </p:set>
                                  </p:childTnLst>
                                </p:cTn>
                              </p:par>
                            </p:childTnLst>
                          </p:cTn>
                        </p:par>
                      </p:childTnLst>
                    </p:cTn>
                  </p:par>
                  <p:par>
                    <p:cTn id="1111" fill="hold">
                      <p:stCondLst>
                        <p:cond delay="indefinite"/>
                      </p:stCondLst>
                      <p:childTnLst>
                        <p:par>
                          <p:cTn id="1112" fill="hold">
                            <p:stCondLst>
                              <p:cond delay="0"/>
                            </p:stCondLst>
                            <p:childTnLst>
                              <p:par>
                                <p:cTn id="1113" presetID="1" presetClass="entr" presetSubtype="0" fill="hold" nodeType="clickEffect">
                                  <p:stCondLst>
                                    <p:cond delay="0"/>
                                  </p:stCondLst>
                                  <p:childTnLst>
                                    <p:set>
                                      <p:cBhvr>
                                        <p:cTn id="1114" dur="1" fill="hold">
                                          <p:stCondLst>
                                            <p:cond delay="0"/>
                                          </p:stCondLst>
                                        </p:cTn>
                                        <p:tgtEl>
                                          <p:spTgt spid="107">
                                            <p:txEl>
                                              <p:pRg st="7" end="7"/>
                                            </p:txEl>
                                          </p:spTgt>
                                        </p:tgtEl>
                                        <p:attrNameLst>
                                          <p:attrName>style.visibility</p:attrName>
                                        </p:attrNameLst>
                                      </p:cBhvr>
                                      <p:to>
                                        <p:strVal val="visible"/>
                                      </p:to>
                                    </p:set>
                                  </p:childTnLst>
                                </p:cTn>
                              </p:par>
                            </p:childTnLst>
                          </p:cTn>
                        </p:par>
                      </p:childTnLst>
                    </p:cTn>
                  </p:par>
                  <p:par>
                    <p:cTn id="1115" fill="hold">
                      <p:stCondLst>
                        <p:cond delay="indefinite"/>
                      </p:stCondLst>
                      <p:childTnLst>
                        <p:par>
                          <p:cTn id="1116" fill="hold">
                            <p:stCondLst>
                              <p:cond delay="0"/>
                            </p:stCondLst>
                            <p:childTnLst>
                              <p:par>
                                <p:cTn id="1117" presetID="1" presetClass="entr" presetSubtype="0" fill="hold" nodeType="clickEffect">
                                  <p:stCondLst>
                                    <p:cond delay="0"/>
                                  </p:stCondLst>
                                  <p:childTnLst>
                                    <p:set>
                                      <p:cBhvr>
                                        <p:cTn id="1118" dur="1" fill="hold">
                                          <p:stCondLst>
                                            <p:cond delay="0"/>
                                          </p:stCondLst>
                                        </p:cTn>
                                        <p:tgtEl>
                                          <p:spTgt spid="107">
                                            <p:txEl>
                                              <p:pRg st="8" end="8"/>
                                            </p:txEl>
                                          </p:spTgt>
                                        </p:tgtEl>
                                        <p:attrNameLst>
                                          <p:attrName>style.visibility</p:attrName>
                                        </p:attrNameLst>
                                      </p:cBhvr>
                                      <p:to>
                                        <p:strVal val="visible"/>
                                      </p:to>
                                    </p:set>
                                  </p:childTnLst>
                                </p:cTn>
                              </p:par>
                            </p:childTnLst>
                          </p:cTn>
                        </p:par>
                      </p:childTnLst>
                    </p:cTn>
                  </p:par>
                  <p:par>
                    <p:cTn id="1119" fill="hold">
                      <p:stCondLst>
                        <p:cond delay="indefinite"/>
                      </p:stCondLst>
                      <p:childTnLst>
                        <p:par>
                          <p:cTn id="1120" fill="hold">
                            <p:stCondLst>
                              <p:cond delay="0"/>
                            </p:stCondLst>
                            <p:childTnLst>
                              <p:par>
                                <p:cTn id="1121" presetID="1" presetClass="entr" presetSubtype="0" fill="hold" nodeType="clickEffect">
                                  <p:stCondLst>
                                    <p:cond delay="0"/>
                                  </p:stCondLst>
                                  <p:childTnLst>
                                    <p:set>
                                      <p:cBhvr>
                                        <p:cTn id="1122" dur="1" fill="hold">
                                          <p:stCondLst>
                                            <p:cond delay="0"/>
                                          </p:stCondLst>
                                        </p:cTn>
                                        <p:tgtEl>
                                          <p:spTgt spid="108">
                                            <p:txEl>
                                              <p:pRg st="0" end="0"/>
                                            </p:txEl>
                                          </p:spTgt>
                                        </p:tgtEl>
                                        <p:attrNameLst>
                                          <p:attrName>style.visibility</p:attrName>
                                        </p:attrNameLst>
                                      </p:cBhvr>
                                      <p:to>
                                        <p:strVal val="visible"/>
                                      </p:to>
                                    </p:set>
                                  </p:childTnLst>
                                </p:cTn>
                              </p:par>
                            </p:childTnLst>
                          </p:cTn>
                        </p:par>
                      </p:childTnLst>
                    </p:cTn>
                  </p:par>
                  <p:par>
                    <p:cTn id="1123" fill="hold">
                      <p:stCondLst>
                        <p:cond delay="indefinite"/>
                      </p:stCondLst>
                      <p:childTnLst>
                        <p:par>
                          <p:cTn id="1124" fill="hold">
                            <p:stCondLst>
                              <p:cond delay="0"/>
                            </p:stCondLst>
                            <p:childTnLst>
                              <p:par>
                                <p:cTn id="1125" presetID="1" presetClass="entr" presetSubtype="0" fill="hold" nodeType="clickEffect">
                                  <p:stCondLst>
                                    <p:cond delay="0"/>
                                  </p:stCondLst>
                                  <p:childTnLst>
                                    <p:set>
                                      <p:cBhvr>
                                        <p:cTn id="1126" dur="1" fill="hold">
                                          <p:stCondLst>
                                            <p:cond delay="0"/>
                                          </p:stCondLst>
                                        </p:cTn>
                                        <p:tgtEl>
                                          <p:spTgt spid="108">
                                            <p:txEl>
                                              <p:pRg st="1" end="1"/>
                                            </p:txEl>
                                          </p:spTgt>
                                        </p:tgtEl>
                                        <p:attrNameLst>
                                          <p:attrName>style.visibility</p:attrName>
                                        </p:attrNameLst>
                                      </p:cBhvr>
                                      <p:to>
                                        <p:strVal val="visible"/>
                                      </p:to>
                                    </p:set>
                                  </p:childTnLst>
                                </p:cTn>
                              </p:par>
                            </p:childTnLst>
                          </p:cTn>
                        </p:par>
                      </p:childTnLst>
                    </p:cTn>
                  </p:par>
                  <p:par>
                    <p:cTn id="1127" fill="hold">
                      <p:stCondLst>
                        <p:cond delay="indefinite"/>
                      </p:stCondLst>
                      <p:childTnLst>
                        <p:par>
                          <p:cTn id="1128" fill="hold">
                            <p:stCondLst>
                              <p:cond delay="0"/>
                            </p:stCondLst>
                            <p:childTnLst>
                              <p:par>
                                <p:cTn id="1129" presetID="1" presetClass="entr" presetSubtype="0" fill="hold" nodeType="clickEffect">
                                  <p:stCondLst>
                                    <p:cond delay="0"/>
                                  </p:stCondLst>
                                  <p:childTnLst>
                                    <p:set>
                                      <p:cBhvr>
                                        <p:cTn id="1130" dur="1" fill="hold">
                                          <p:stCondLst>
                                            <p:cond delay="0"/>
                                          </p:stCondLst>
                                        </p:cTn>
                                        <p:tgtEl>
                                          <p:spTgt spid="108">
                                            <p:txEl>
                                              <p:pRg st="2" end="2"/>
                                            </p:txEl>
                                          </p:spTgt>
                                        </p:tgtEl>
                                        <p:attrNameLst>
                                          <p:attrName>style.visibility</p:attrName>
                                        </p:attrNameLst>
                                      </p:cBhvr>
                                      <p:to>
                                        <p:strVal val="visible"/>
                                      </p:to>
                                    </p:set>
                                  </p:childTnLst>
                                </p:cTn>
                              </p:par>
                            </p:childTnLst>
                          </p:cTn>
                        </p:par>
                      </p:childTnLst>
                    </p:cTn>
                  </p:par>
                  <p:par>
                    <p:cTn id="1131" fill="hold">
                      <p:stCondLst>
                        <p:cond delay="indefinite"/>
                      </p:stCondLst>
                      <p:childTnLst>
                        <p:par>
                          <p:cTn id="1132" fill="hold">
                            <p:stCondLst>
                              <p:cond delay="0"/>
                            </p:stCondLst>
                            <p:childTnLst>
                              <p:par>
                                <p:cTn id="1133" presetID="1" presetClass="entr" presetSubtype="0" fill="hold" nodeType="clickEffect">
                                  <p:stCondLst>
                                    <p:cond delay="0"/>
                                  </p:stCondLst>
                                  <p:childTnLst>
                                    <p:set>
                                      <p:cBhvr>
                                        <p:cTn id="1134" dur="1" fill="hold">
                                          <p:stCondLst>
                                            <p:cond delay="0"/>
                                          </p:stCondLst>
                                        </p:cTn>
                                        <p:tgtEl>
                                          <p:spTgt spid="108">
                                            <p:txEl>
                                              <p:pRg st="3" end="3"/>
                                            </p:txEl>
                                          </p:spTgt>
                                        </p:tgtEl>
                                        <p:attrNameLst>
                                          <p:attrName>style.visibility</p:attrName>
                                        </p:attrNameLst>
                                      </p:cBhvr>
                                      <p:to>
                                        <p:strVal val="visible"/>
                                      </p:to>
                                    </p:set>
                                  </p:childTnLst>
                                </p:cTn>
                              </p:par>
                            </p:childTnLst>
                          </p:cTn>
                        </p:par>
                      </p:childTnLst>
                    </p:cTn>
                  </p:par>
                  <p:par>
                    <p:cTn id="1135" fill="hold">
                      <p:stCondLst>
                        <p:cond delay="indefinite"/>
                      </p:stCondLst>
                      <p:childTnLst>
                        <p:par>
                          <p:cTn id="1136" fill="hold">
                            <p:stCondLst>
                              <p:cond delay="0"/>
                            </p:stCondLst>
                            <p:childTnLst>
                              <p:par>
                                <p:cTn id="1137" presetID="1" presetClass="entr" presetSubtype="0" fill="hold" nodeType="clickEffect">
                                  <p:stCondLst>
                                    <p:cond delay="0"/>
                                  </p:stCondLst>
                                  <p:childTnLst>
                                    <p:set>
                                      <p:cBhvr>
                                        <p:cTn id="1138" dur="1" fill="hold">
                                          <p:stCondLst>
                                            <p:cond delay="0"/>
                                          </p:stCondLst>
                                        </p:cTn>
                                        <p:tgtEl>
                                          <p:spTgt spid="108">
                                            <p:txEl>
                                              <p:pRg st="4" end="4"/>
                                            </p:txEl>
                                          </p:spTgt>
                                        </p:tgtEl>
                                        <p:attrNameLst>
                                          <p:attrName>style.visibility</p:attrName>
                                        </p:attrNameLst>
                                      </p:cBhvr>
                                      <p:to>
                                        <p:strVal val="visible"/>
                                      </p:to>
                                    </p:set>
                                  </p:childTnLst>
                                </p:cTn>
                              </p:par>
                            </p:childTnLst>
                          </p:cTn>
                        </p:par>
                      </p:childTnLst>
                    </p:cTn>
                  </p:par>
                  <p:par>
                    <p:cTn id="1139" fill="hold">
                      <p:stCondLst>
                        <p:cond delay="indefinite"/>
                      </p:stCondLst>
                      <p:childTnLst>
                        <p:par>
                          <p:cTn id="1140" fill="hold">
                            <p:stCondLst>
                              <p:cond delay="0"/>
                            </p:stCondLst>
                            <p:childTnLst>
                              <p:par>
                                <p:cTn id="1141" presetID="1" presetClass="entr" presetSubtype="0" fill="hold" nodeType="clickEffect">
                                  <p:stCondLst>
                                    <p:cond delay="0"/>
                                  </p:stCondLst>
                                  <p:childTnLst>
                                    <p:set>
                                      <p:cBhvr>
                                        <p:cTn id="1142" dur="1" fill="hold">
                                          <p:stCondLst>
                                            <p:cond delay="0"/>
                                          </p:stCondLst>
                                        </p:cTn>
                                        <p:tgtEl>
                                          <p:spTgt spid="108">
                                            <p:txEl>
                                              <p:pRg st="5" end="5"/>
                                            </p:txEl>
                                          </p:spTgt>
                                        </p:tgtEl>
                                        <p:attrNameLst>
                                          <p:attrName>style.visibility</p:attrName>
                                        </p:attrNameLst>
                                      </p:cBhvr>
                                      <p:to>
                                        <p:strVal val="visible"/>
                                      </p:to>
                                    </p:set>
                                  </p:childTnLst>
                                </p:cTn>
                              </p:par>
                            </p:childTnLst>
                          </p:cTn>
                        </p:par>
                      </p:childTnLst>
                    </p:cTn>
                  </p:par>
                  <p:par>
                    <p:cTn id="1143" fill="hold">
                      <p:stCondLst>
                        <p:cond delay="indefinite"/>
                      </p:stCondLst>
                      <p:childTnLst>
                        <p:par>
                          <p:cTn id="1144" fill="hold">
                            <p:stCondLst>
                              <p:cond delay="0"/>
                            </p:stCondLst>
                            <p:childTnLst>
                              <p:par>
                                <p:cTn id="1145" presetID="1" presetClass="entr" presetSubtype="0" fill="hold" nodeType="clickEffect">
                                  <p:stCondLst>
                                    <p:cond delay="0"/>
                                  </p:stCondLst>
                                  <p:childTnLst>
                                    <p:set>
                                      <p:cBhvr>
                                        <p:cTn id="1146" dur="1" fill="hold">
                                          <p:stCondLst>
                                            <p:cond delay="0"/>
                                          </p:stCondLst>
                                        </p:cTn>
                                        <p:tgtEl>
                                          <p:spTgt spid="108">
                                            <p:txEl>
                                              <p:pRg st="6" end="6"/>
                                            </p:txEl>
                                          </p:spTgt>
                                        </p:tgtEl>
                                        <p:attrNameLst>
                                          <p:attrName>style.visibility</p:attrName>
                                        </p:attrNameLst>
                                      </p:cBhvr>
                                      <p:to>
                                        <p:strVal val="visible"/>
                                      </p:to>
                                    </p:set>
                                  </p:childTnLst>
                                </p:cTn>
                              </p:par>
                            </p:childTnLst>
                          </p:cTn>
                        </p:par>
                      </p:childTnLst>
                    </p:cTn>
                  </p:par>
                  <p:par>
                    <p:cTn id="1147" fill="hold">
                      <p:stCondLst>
                        <p:cond delay="indefinite"/>
                      </p:stCondLst>
                      <p:childTnLst>
                        <p:par>
                          <p:cTn id="1148" fill="hold">
                            <p:stCondLst>
                              <p:cond delay="0"/>
                            </p:stCondLst>
                            <p:childTnLst>
                              <p:par>
                                <p:cTn id="1149" presetID="1" presetClass="entr" presetSubtype="0" fill="hold" nodeType="clickEffect">
                                  <p:stCondLst>
                                    <p:cond delay="0"/>
                                  </p:stCondLst>
                                  <p:childTnLst>
                                    <p:set>
                                      <p:cBhvr>
                                        <p:cTn id="1150" dur="1" fill="hold">
                                          <p:stCondLst>
                                            <p:cond delay="0"/>
                                          </p:stCondLst>
                                        </p:cTn>
                                        <p:tgtEl>
                                          <p:spTgt spid="108">
                                            <p:txEl>
                                              <p:pRg st="7" end="7"/>
                                            </p:txEl>
                                          </p:spTgt>
                                        </p:tgtEl>
                                        <p:attrNameLst>
                                          <p:attrName>style.visibility</p:attrName>
                                        </p:attrNameLst>
                                      </p:cBhvr>
                                      <p:to>
                                        <p:strVal val="visible"/>
                                      </p:to>
                                    </p:set>
                                  </p:childTnLst>
                                </p:cTn>
                              </p:par>
                            </p:childTnLst>
                          </p:cTn>
                        </p:par>
                      </p:childTnLst>
                    </p:cTn>
                  </p:par>
                  <p:par>
                    <p:cTn id="1151" fill="hold">
                      <p:stCondLst>
                        <p:cond delay="indefinite"/>
                      </p:stCondLst>
                      <p:childTnLst>
                        <p:par>
                          <p:cTn id="1152" fill="hold">
                            <p:stCondLst>
                              <p:cond delay="0"/>
                            </p:stCondLst>
                            <p:childTnLst>
                              <p:par>
                                <p:cTn id="1153" presetID="1" presetClass="entr" presetSubtype="0" fill="hold" nodeType="clickEffect">
                                  <p:stCondLst>
                                    <p:cond delay="0"/>
                                  </p:stCondLst>
                                  <p:childTnLst>
                                    <p:set>
                                      <p:cBhvr>
                                        <p:cTn id="1154" dur="1" fill="hold">
                                          <p:stCondLst>
                                            <p:cond delay="0"/>
                                          </p:stCondLst>
                                        </p:cTn>
                                        <p:tgtEl>
                                          <p:spTgt spid="108">
                                            <p:txEl>
                                              <p:pRg st="8" end="8"/>
                                            </p:txEl>
                                          </p:spTgt>
                                        </p:tgtEl>
                                        <p:attrNameLst>
                                          <p:attrName>style.visibility</p:attrName>
                                        </p:attrNameLst>
                                      </p:cBhvr>
                                      <p:to>
                                        <p:strVal val="visible"/>
                                      </p:to>
                                    </p:set>
                                  </p:childTnLst>
                                </p:cTn>
                              </p:par>
                            </p:childTnLst>
                          </p:cTn>
                        </p:par>
                      </p:childTnLst>
                    </p:cTn>
                  </p:par>
                  <p:par>
                    <p:cTn id="1155" fill="hold">
                      <p:stCondLst>
                        <p:cond delay="indefinite"/>
                      </p:stCondLst>
                      <p:childTnLst>
                        <p:par>
                          <p:cTn id="1156" fill="hold">
                            <p:stCondLst>
                              <p:cond delay="0"/>
                            </p:stCondLst>
                            <p:childTnLst>
                              <p:par>
                                <p:cTn id="1157" presetID="1" presetClass="entr" presetSubtype="0" fill="hold" nodeType="clickEffect">
                                  <p:stCondLst>
                                    <p:cond delay="0"/>
                                  </p:stCondLst>
                                  <p:childTnLst>
                                    <p:set>
                                      <p:cBhvr>
                                        <p:cTn id="1158" dur="1" fill="hold">
                                          <p:stCondLst>
                                            <p:cond delay="0"/>
                                          </p:stCondLst>
                                        </p:cTn>
                                        <p:tgtEl>
                                          <p:spTgt spid="109">
                                            <p:txEl>
                                              <p:pRg st="0" end="0"/>
                                            </p:txEl>
                                          </p:spTgt>
                                        </p:tgtEl>
                                        <p:attrNameLst>
                                          <p:attrName>style.visibility</p:attrName>
                                        </p:attrNameLst>
                                      </p:cBhvr>
                                      <p:to>
                                        <p:strVal val="visible"/>
                                      </p:to>
                                    </p:set>
                                  </p:childTnLst>
                                </p:cTn>
                              </p:par>
                            </p:childTnLst>
                          </p:cTn>
                        </p:par>
                      </p:childTnLst>
                    </p:cTn>
                  </p:par>
                  <p:par>
                    <p:cTn id="1159" fill="hold">
                      <p:stCondLst>
                        <p:cond delay="indefinite"/>
                      </p:stCondLst>
                      <p:childTnLst>
                        <p:par>
                          <p:cTn id="1160" fill="hold">
                            <p:stCondLst>
                              <p:cond delay="0"/>
                            </p:stCondLst>
                            <p:childTnLst>
                              <p:par>
                                <p:cTn id="1161" presetID="1" presetClass="entr" presetSubtype="0" fill="hold" nodeType="clickEffect">
                                  <p:stCondLst>
                                    <p:cond delay="0"/>
                                  </p:stCondLst>
                                  <p:childTnLst>
                                    <p:set>
                                      <p:cBhvr>
                                        <p:cTn id="1162" dur="1" fill="hold">
                                          <p:stCondLst>
                                            <p:cond delay="0"/>
                                          </p:stCondLst>
                                        </p:cTn>
                                        <p:tgtEl>
                                          <p:spTgt spid="109">
                                            <p:txEl>
                                              <p:pRg st="1" end="1"/>
                                            </p:txEl>
                                          </p:spTgt>
                                        </p:tgtEl>
                                        <p:attrNameLst>
                                          <p:attrName>style.visibility</p:attrName>
                                        </p:attrNameLst>
                                      </p:cBhvr>
                                      <p:to>
                                        <p:strVal val="visible"/>
                                      </p:to>
                                    </p:set>
                                  </p:childTnLst>
                                </p:cTn>
                              </p:par>
                            </p:childTnLst>
                          </p:cTn>
                        </p:par>
                      </p:childTnLst>
                    </p:cTn>
                  </p:par>
                  <p:par>
                    <p:cTn id="1163" fill="hold">
                      <p:stCondLst>
                        <p:cond delay="indefinite"/>
                      </p:stCondLst>
                      <p:childTnLst>
                        <p:par>
                          <p:cTn id="1164" fill="hold">
                            <p:stCondLst>
                              <p:cond delay="0"/>
                            </p:stCondLst>
                            <p:childTnLst>
                              <p:par>
                                <p:cTn id="1165" presetID="1" presetClass="entr" presetSubtype="0" fill="hold" nodeType="clickEffect">
                                  <p:stCondLst>
                                    <p:cond delay="0"/>
                                  </p:stCondLst>
                                  <p:childTnLst>
                                    <p:set>
                                      <p:cBhvr>
                                        <p:cTn id="1166" dur="1" fill="hold">
                                          <p:stCondLst>
                                            <p:cond delay="0"/>
                                          </p:stCondLst>
                                        </p:cTn>
                                        <p:tgtEl>
                                          <p:spTgt spid="109">
                                            <p:txEl>
                                              <p:pRg st="2" end="2"/>
                                            </p:txEl>
                                          </p:spTgt>
                                        </p:tgtEl>
                                        <p:attrNameLst>
                                          <p:attrName>style.visibility</p:attrName>
                                        </p:attrNameLst>
                                      </p:cBhvr>
                                      <p:to>
                                        <p:strVal val="visible"/>
                                      </p:to>
                                    </p:set>
                                  </p:childTnLst>
                                </p:cTn>
                              </p:par>
                            </p:childTnLst>
                          </p:cTn>
                        </p:par>
                      </p:childTnLst>
                    </p:cTn>
                  </p:par>
                  <p:par>
                    <p:cTn id="1167" fill="hold">
                      <p:stCondLst>
                        <p:cond delay="indefinite"/>
                      </p:stCondLst>
                      <p:childTnLst>
                        <p:par>
                          <p:cTn id="1168" fill="hold">
                            <p:stCondLst>
                              <p:cond delay="0"/>
                            </p:stCondLst>
                            <p:childTnLst>
                              <p:par>
                                <p:cTn id="1169" presetID="1" presetClass="entr" presetSubtype="0" fill="hold" nodeType="clickEffect">
                                  <p:stCondLst>
                                    <p:cond delay="0"/>
                                  </p:stCondLst>
                                  <p:childTnLst>
                                    <p:set>
                                      <p:cBhvr>
                                        <p:cTn id="1170" dur="1" fill="hold">
                                          <p:stCondLst>
                                            <p:cond delay="0"/>
                                          </p:stCondLst>
                                        </p:cTn>
                                        <p:tgtEl>
                                          <p:spTgt spid="109">
                                            <p:txEl>
                                              <p:pRg st="3" end="3"/>
                                            </p:txEl>
                                          </p:spTgt>
                                        </p:tgtEl>
                                        <p:attrNameLst>
                                          <p:attrName>style.visibility</p:attrName>
                                        </p:attrNameLst>
                                      </p:cBhvr>
                                      <p:to>
                                        <p:strVal val="visible"/>
                                      </p:to>
                                    </p:set>
                                  </p:childTnLst>
                                </p:cTn>
                              </p:par>
                            </p:childTnLst>
                          </p:cTn>
                        </p:par>
                      </p:childTnLst>
                    </p:cTn>
                  </p:par>
                  <p:par>
                    <p:cTn id="1171" fill="hold">
                      <p:stCondLst>
                        <p:cond delay="indefinite"/>
                      </p:stCondLst>
                      <p:childTnLst>
                        <p:par>
                          <p:cTn id="1172" fill="hold">
                            <p:stCondLst>
                              <p:cond delay="0"/>
                            </p:stCondLst>
                            <p:childTnLst>
                              <p:par>
                                <p:cTn id="1173" presetID="1" presetClass="entr" presetSubtype="0" fill="hold" nodeType="clickEffect">
                                  <p:stCondLst>
                                    <p:cond delay="0"/>
                                  </p:stCondLst>
                                  <p:childTnLst>
                                    <p:set>
                                      <p:cBhvr>
                                        <p:cTn id="1174" dur="1" fill="hold">
                                          <p:stCondLst>
                                            <p:cond delay="0"/>
                                          </p:stCondLst>
                                        </p:cTn>
                                        <p:tgtEl>
                                          <p:spTgt spid="109">
                                            <p:txEl>
                                              <p:pRg st="4" end="4"/>
                                            </p:txEl>
                                          </p:spTgt>
                                        </p:tgtEl>
                                        <p:attrNameLst>
                                          <p:attrName>style.visibility</p:attrName>
                                        </p:attrNameLst>
                                      </p:cBhvr>
                                      <p:to>
                                        <p:strVal val="visible"/>
                                      </p:to>
                                    </p:set>
                                  </p:childTnLst>
                                </p:cTn>
                              </p:par>
                            </p:childTnLst>
                          </p:cTn>
                        </p:par>
                      </p:childTnLst>
                    </p:cTn>
                  </p:par>
                  <p:par>
                    <p:cTn id="1175" fill="hold">
                      <p:stCondLst>
                        <p:cond delay="indefinite"/>
                      </p:stCondLst>
                      <p:childTnLst>
                        <p:par>
                          <p:cTn id="1176" fill="hold">
                            <p:stCondLst>
                              <p:cond delay="0"/>
                            </p:stCondLst>
                            <p:childTnLst>
                              <p:par>
                                <p:cTn id="1177" presetID="1" presetClass="entr" presetSubtype="0" fill="hold" nodeType="clickEffect">
                                  <p:stCondLst>
                                    <p:cond delay="0"/>
                                  </p:stCondLst>
                                  <p:childTnLst>
                                    <p:set>
                                      <p:cBhvr>
                                        <p:cTn id="1178" dur="1" fill="hold">
                                          <p:stCondLst>
                                            <p:cond delay="0"/>
                                          </p:stCondLst>
                                        </p:cTn>
                                        <p:tgtEl>
                                          <p:spTgt spid="109">
                                            <p:txEl>
                                              <p:pRg st="5" end="5"/>
                                            </p:txEl>
                                          </p:spTgt>
                                        </p:tgtEl>
                                        <p:attrNameLst>
                                          <p:attrName>style.visibility</p:attrName>
                                        </p:attrNameLst>
                                      </p:cBhvr>
                                      <p:to>
                                        <p:strVal val="visible"/>
                                      </p:to>
                                    </p:set>
                                  </p:childTnLst>
                                </p:cTn>
                              </p:par>
                            </p:childTnLst>
                          </p:cTn>
                        </p:par>
                      </p:childTnLst>
                    </p:cTn>
                  </p:par>
                  <p:par>
                    <p:cTn id="1179" fill="hold">
                      <p:stCondLst>
                        <p:cond delay="indefinite"/>
                      </p:stCondLst>
                      <p:childTnLst>
                        <p:par>
                          <p:cTn id="1180" fill="hold">
                            <p:stCondLst>
                              <p:cond delay="0"/>
                            </p:stCondLst>
                            <p:childTnLst>
                              <p:par>
                                <p:cTn id="1181" presetID="1" presetClass="entr" presetSubtype="0" fill="hold" nodeType="clickEffect">
                                  <p:stCondLst>
                                    <p:cond delay="0"/>
                                  </p:stCondLst>
                                  <p:childTnLst>
                                    <p:set>
                                      <p:cBhvr>
                                        <p:cTn id="1182" dur="1" fill="hold">
                                          <p:stCondLst>
                                            <p:cond delay="0"/>
                                          </p:stCondLst>
                                        </p:cTn>
                                        <p:tgtEl>
                                          <p:spTgt spid="109">
                                            <p:txEl>
                                              <p:pRg st="6" end="6"/>
                                            </p:txEl>
                                          </p:spTgt>
                                        </p:tgtEl>
                                        <p:attrNameLst>
                                          <p:attrName>style.visibility</p:attrName>
                                        </p:attrNameLst>
                                      </p:cBhvr>
                                      <p:to>
                                        <p:strVal val="visible"/>
                                      </p:to>
                                    </p:set>
                                  </p:childTnLst>
                                </p:cTn>
                              </p:par>
                            </p:childTnLst>
                          </p:cTn>
                        </p:par>
                      </p:childTnLst>
                    </p:cTn>
                  </p:par>
                  <p:par>
                    <p:cTn id="1183" fill="hold">
                      <p:stCondLst>
                        <p:cond delay="indefinite"/>
                      </p:stCondLst>
                      <p:childTnLst>
                        <p:par>
                          <p:cTn id="1184" fill="hold">
                            <p:stCondLst>
                              <p:cond delay="0"/>
                            </p:stCondLst>
                            <p:childTnLst>
                              <p:par>
                                <p:cTn id="1185" presetID="1" presetClass="entr" presetSubtype="0" fill="hold" nodeType="clickEffect">
                                  <p:stCondLst>
                                    <p:cond delay="0"/>
                                  </p:stCondLst>
                                  <p:childTnLst>
                                    <p:set>
                                      <p:cBhvr>
                                        <p:cTn id="1186" dur="1" fill="hold">
                                          <p:stCondLst>
                                            <p:cond delay="0"/>
                                          </p:stCondLst>
                                        </p:cTn>
                                        <p:tgtEl>
                                          <p:spTgt spid="109">
                                            <p:txEl>
                                              <p:pRg st="7" end="7"/>
                                            </p:txEl>
                                          </p:spTgt>
                                        </p:tgtEl>
                                        <p:attrNameLst>
                                          <p:attrName>style.visibility</p:attrName>
                                        </p:attrNameLst>
                                      </p:cBhvr>
                                      <p:to>
                                        <p:strVal val="visible"/>
                                      </p:to>
                                    </p:set>
                                  </p:childTnLst>
                                </p:cTn>
                              </p:par>
                            </p:childTnLst>
                          </p:cTn>
                        </p:par>
                      </p:childTnLst>
                    </p:cTn>
                  </p:par>
                  <p:par>
                    <p:cTn id="1187" fill="hold">
                      <p:stCondLst>
                        <p:cond delay="indefinite"/>
                      </p:stCondLst>
                      <p:childTnLst>
                        <p:par>
                          <p:cTn id="1188" fill="hold">
                            <p:stCondLst>
                              <p:cond delay="0"/>
                            </p:stCondLst>
                            <p:childTnLst>
                              <p:par>
                                <p:cTn id="1189" presetID="1" presetClass="entr" presetSubtype="0" fill="hold" nodeType="clickEffect">
                                  <p:stCondLst>
                                    <p:cond delay="0"/>
                                  </p:stCondLst>
                                  <p:childTnLst>
                                    <p:set>
                                      <p:cBhvr>
                                        <p:cTn id="1190" dur="1" fill="hold">
                                          <p:stCondLst>
                                            <p:cond delay="0"/>
                                          </p:stCondLst>
                                        </p:cTn>
                                        <p:tgtEl>
                                          <p:spTgt spid="109">
                                            <p:txEl>
                                              <p:pRg st="8" end="8"/>
                                            </p:txEl>
                                          </p:spTgt>
                                        </p:tgtEl>
                                        <p:attrNameLst>
                                          <p:attrName>style.visibility</p:attrName>
                                        </p:attrNameLst>
                                      </p:cBhvr>
                                      <p:to>
                                        <p:strVal val="visible"/>
                                      </p:to>
                                    </p:set>
                                  </p:childTnLst>
                                </p:cTn>
                              </p:par>
                            </p:childTnLst>
                          </p:cTn>
                        </p:par>
                      </p:childTnLst>
                    </p:cTn>
                  </p:par>
                  <p:par>
                    <p:cTn id="1191" fill="hold">
                      <p:stCondLst>
                        <p:cond delay="indefinite"/>
                      </p:stCondLst>
                      <p:childTnLst>
                        <p:par>
                          <p:cTn id="1192" fill="hold">
                            <p:stCondLst>
                              <p:cond delay="0"/>
                            </p:stCondLst>
                            <p:childTnLst>
                              <p:par>
                                <p:cTn id="1193" presetID="1" presetClass="entr" presetSubtype="0" fill="hold" nodeType="clickEffect">
                                  <p:stCondLst>
                                    <p:cond delay="0"/>
                                  </p:stCondLst>
                                  <p:childTnLst>
                                    <p:set>
                                      <p:cBhvr>
                                        <p:cTn id="1194" dur="1" fill="hold">
                                          <p:stCondLst>
                                            <p:cond delay="0"/>
                                          </p:stCondLst>
                                        </p:cTn>
                                        <p:tgtEl>
                                          <p:spTgt spid="110">
                                            <p:txEl>
                                              <p:pRg st="0" end="0"/>
                                            </p:txEl>
                                          </p:spTgt>
                                        </p:tgtEl>
                                        <p:attrNameLst>
                                          <p:attrName>style.visibility</p:attrName>
                                        </p:attrNameLst>
                                      </p:cBhvr>
                                      <p:to>
                                        <p:strVal val="visible"/>
                                      </p:to>
                                    </p:set>
                                  </p:childTnLst>
                                </p:cTn>
                              </p:par>
                            </p:childTnLst>
                          </p:cTn>
                        </p:par>
                      </p:childTnLst>
                    </p:cTn>
                  </p:par>
                  <p:par>
                    <p:cTn id="1195" fill="hold">
                      <p:stCondLst>
                        <p:cond delay="indefinite"/>
                      </p:stCondLst>
                      <p:childTnLst>
                        <p:par>
                          <p:cTn id="1196" fill="hold">
                            <p:stCondLst>
                              <p:cond delay="0"/>
                            </p:stCondLst>
                            <p:childTnLst>
                              <p:par>
                                <p:cTn id="1197" presetID="1" presetClass="entr" presetSubtype="0" fill="hold" nodeType="clickEffect">
                                  <p:stCondLst>
                                    <p:cond delay="0"/>
                                  </p:stCondLst>
                                  <p:childTnLst>
                                    <p:set>
                                      <p:cBhvr>
                                        <p:cTn id="1198" dur="1" fill="hold">
                                          <p:stCondLst>
                                            <p:cond delay="0"/>
                                          </p:stCondLst>
                                        </p:cTn>
                                        <p:tgtEl>
                                          <p:spTgt spid="110">
                                            <p:txEl>
                                              <p:pRg st="1" end="1"/>
                                            </p:txEl>
                                          </p:spTgt>
                                        </p:tgtEl>
                                        <p:attrNameLst>
                                          <p:attrName>style.visibility</p:attrName>
                                        </p:attrNameLst>
                                      </p:cBhvr>
                                      <p:to>
                                        <p:strVal val="visible"/>
                                      </p:to>
                                    </p:set>
                                  </p:childTnLst>
                                </p:cTn>
                              </p:par>
                            </p:childTnLst>
                          </p:cTn>
                        </p:par>
                      </p:childTnLst>
                    </p:cTn>
                  </p:par>
                  <p:par>
                    <p:cTn id="1199" fill="hold">
                      <p:stCondLst>
                        <p:cond delay="indefinite"/>
                      </p:stCondLst>
                      <p:childTnLst>
                        <p:par>
                          <p:cTn id="1200" fill="hold">
                            <p:stCondLst>
                              <p:cond delay="0"/>
                            </p:stCondLst>
                            <p:childTnLst>
                              <p:par>
                                <p:cTn id="1201" presetID="1" presetClass="entr" presetSubtype="0" fill="hold" nodeType="clickEffect">
                                  <p:stCondLst>
                                    <p:cond delay="0"/>
                                  </p:stCondLst>
                                  <p:childTnLst>
                                    <p:set>
                                      <p:cBhvr>
                                        <p:cTn id="1202" dur="1" fill="hold">
                                          <p:stCondLst>
                                            <p:cond delay="0"/>
                                          </p:stCondLst>
                                        </p:cTn>
                                        <p:tgtEl>
                                          <p:spTgt spid="110">
                                            <p:txEl>
                                              <p:pRg st="2" end="2"/>
                                            </p:txEl>
                                          </p:spTgt>
                                        </p:tgtEl>
                                        <p:attrNameLst>
                                          <p:attrName>style.visibility</p:attrName>
                                        </p:attrNameLst>
                                      </p:cBhvr>
                                      <p:to>
                                        <p:strVal val="visible"/>
                                      </p:to>
                                    </p:set>
                                  </p:childTnLst>
                                </p:cTn>
                              </p:par>
                            </p:childTnLst>
                          </p:cTn>
                        </p:par>
                      </p:childTnLst>
                    </p:cTn>
                  </p:par>
                  <p:par>
                    <p:cTn id="1203" fill="hold">
                      <p:stCondLst>
                        <p:cond delay="indefinite"/>
                      </p:stCondLst>
                      <p:childTnLst>
                        <p:par>
                          <p:cTn id="1204" fill="hold">
                            <p:stCondLst>
                              <p:cond delay="0"/>
                            </p:stCondLst>
                            <p:childTnLst>
                              <p:par>
                                <p:cTn id="1205" presetID="1" presetClass="entr" presetSubtype="0" fill="hold" nodeType="clickEffect">
                                  <p:stCondLst>
                                    <p:cond delay="0"/>
                                  </p:stCondLst>
                                  <p:childTnLst>
                                    <p:set>
                                      <p:cBhvr>
                                        <p:cTn id="1206" dur="1" fill="hold">
                                          <p:stCondLst>
                                            <p:cond delay="0"/>
                                          </p:stCondLst>
                                        </p:cTn>
                                        <p:tgtEl>
                                          <p:spTgt spid="110">
                                            <p:txEl>
                                              <p:pRg st="3" end="3"/>
                                            </p:txEl>
                                          </p:spTgt>
                                        </p:tgtEl>
                                        <p:attrNameLst>
                                          <p:attrName>style.visibility</p:attrName>
                                        </p:attrNameLst>
                                      </p:cBhvr>
                                      <p:to>
                                        <p:strVal val="visible"/>
                                      </p:to>
                                    </p:set>
                                  </p:childTnLst>
                                </p:cTn>
                              </p:par>
                            </p:childTnLst>
                          </p:cTn>
                        </p:par>
                      </p:childTnLst>
                    </p:cTn>
                  </p:par>
                  <p:par>
                    <p:cTn id="1207" fill="hold">
                      <p:stCondLst>
                        <p:cond delay="indefinite"/>
                      </p:stCondLst>
                      <p:childTnLst>
                        <p:par>
                          <p:cTn id="1208" fill="hold">
                            <p:stCondLst>
                              <p:cond delay="0"/>
                            </p:stCondLst>
                            <p:childTnLst>
                              <p:par>
                                <p:cTn id="1209" presetID="1" presetClass="entr" presetSubtype="0" fill="hold" nodeType="clickEffect">
                                  <p:stCondLst>
                                    <p:cond delay="0"/>
                                  </p:stCondLst>
                                  <p:childTnLst>
                                    <p:set>
                                      <p:cBhvr>
                                        <p:cTn id="1210" dur="1" fill="hold">
                                          <p:stCondLst>
                                            <p:cond delay="0"/>
                                          </p:stCondLst>
                                        </p:cTn>
                                        <p:tgtEl>
                                          <p:spTgt spid="110">
                                            <p:txEl>
                                              <p:pRg st="4" end="4"/>
                                            </p:txEl>
                                          </p:spTgt>
                                        </p:tgtEl>
                                        <p:attrNameLst>
                                          <p:attrName>style.visibility</p:attrName>
                                        </p:attrNameLst>
                                      </p:cBhvr>
                                      <p:to>
                                        <p:strVal val="visible"/>
                                      </p:to>
                                    </p:set>
                                  </p:childTnLst>
                                </p:cTn>
                              </p:par>
                            </p:childTnLst>
                          </p:cTn>
                        </p:par>
                      </p:childTnLst>
                    </p:cTn>
                  </p:par>
                  <p:par>
                    <p:cTn id="1211" fill="hold">
                      <p:stCondLst>
                        <p:cond delay="indefinite"/>
                      </p:stCondLst>
                      <p:childTnLst>
                        <p:par>
                          <p:cTn id="1212" fill="hold">
                            <p:stCondLst>
                              <p:cond delay="0"/>
                            </p:stCondLst>
                            <p:childTnLst>
                              <p:par>
                                <p:cTn id="1213" presetID="1" presetClass="entr" presetSubtype="0" fill="hold" nodeType="clickEffect">
                                  <p:stCondLst>
                                    <p:cond delay="0"/>
                                  </p:stCondLst>
                                  <p:childTnLst>
                                    <p:set>
                                      <p:cBhvr>
                                        <p:cTn id="1214" dur="1" fill="hold">
                                          <p:stCondLst>
                                            <p:cond delay="0"/>
                                          </p:stCondLst>
                                        </p:cTn>
                                        <p:tgtEl>
                                          <p:spTgt spid="110">
                                            <p:txEl>
                                              <p:pRg st="5" end="5"/>
                                            </p:txEl>
                                          </p:spTgt>
                                        </p:tgtEl>
                                        <p:attrNameLst>
                                          <p:attrName>style.visibility</p:attrName>
                                        </p:attrNameLst>
                                      </p:cBhvr>
                                      <p:to>
                                        <p:strVal val="visible"/>
                                      </p:to>
                                    </p:set>
                                  </p:childTnLst>
                                </p:cTn>
                              </p:par>
                            </p:childTnLst>
                          </p:cTn>
                        </p:par>
                      </p:childTnLst>
                    </p:cTn>
                  </p:par>
                  <p:par>
                    <p:cTn id="1215" fill="hold">
                      <p:stCondLst>
                        <p:cond delay="indefinite"/>
                      </p:stCondLst>
                      <p:childTnLst>
                        <p:par>
                          <p:cTn id="1216" fill="hold">
                            <p:stCondLst>
                              <p:cond delay="0"/>
                            </p:stCondLst>
                            <p:childTnLst>
                              <p:par>
                                <p:cTn id="1217" presetID="1" presetClass="entr" presetSubtype="0" fill="hold" nodeType="clickEffect">
                                  <p:stCondLst>
                                    <p:cond delay="0"/>
                                  </p:stCondLst>
                                  <p:childTnLst>
                                    <p:set>
                                      <p:cBhvr>
                                        <p:cTn id="1218" dur="1" fill="hold">
                                          <p:stCondLst>
                                            <p:cond delay="0"/>
                                          </p:stCondLst>
                                        </p:cTn>
                                        <p:tgtEl>
                                          <p:spTgt spid="110">
                                            <p:txEl>
                                              <p:pRg st="6" end="6"/>
                                            </p:txEl>
                                          </p:spTgt>
                                        </p:tgtEl>
                                        <p:attrNameLst>
                                          <p:attrName>style.visibility</p:attrName>
                                        </p:attrNameLst>
                                      </p:cBhvr>
                                      <p:to>
                                        <p:strVal val="visible"/>
                                      </p:to>
                                    </p:set>
                                  </p:childTnLst>
                                </p:cTn>
                              </p:par>
                            </p:childTnLst>
                          </p:cTn>
                        </p:par>
                      </p:childTnLst>
                    </p:cTn>
                  </p:par>
                  <p:par>
                    <p:cTn id="1219" fill="hold">
                      <p:stCondLst>
                        <p:cond delay="indefinite"/>
                      </p:stCondLst>
                      <p:childTnLst>
                        <p:par>
                          <p:cTn id="1220" fill="hold">
                            <p:stCondLst>
                              <p:cond delay="0"/>
                            </p:stCondLst>
                            <p:childTnLst>
                              <p:par>
                                <p:cTn id="1221" presetID="1" presetClass="entr" presetSubtype="0" fill="hold" nodeType="clickEffect">
                                  <p:stCondLst>
                                    <p:cond delay="0"/>
                                  </p:stCondLst>
                                  <p:childTnLst>
                                    <p:set>
                                      <p:cBhvr>
                                        <p:cTn id="1222" dur="1" fill="hold">
                                          <p:stCondLst>
                                            <p:cond delay="0"/>
                                          </p:stCondLst>
                                        </p:cTn>
                                        <p:tgtEl>
                                          <p:spTgt spid="110">
                                            <p:txEl>
                                              <p:pRg st="7" end="7"/>
                                            </p:txEl>
                                          </p:spTgt>
                                        </p:tgtEl>
                                        <p:attrNameLst>
                                          <p:attrName>style.visibility</p:attrName>
                                        </p:attrNameLst>
                                      </p:cBhvr>
                                      <p:to>
                                        <p:strVal val="visible"/>
                                      </p:to>
                                    </p:set>
                                  </p:childTnLst>
                                </p:cTn>
                              </p:par>
                            </p:childTnLst>
                          </p:cTn>
                        </p:par>
                      </p:childTnLst>
                    </p:cTn>
                  </p:par>
                  <p:par>
                    <p:cTn id="1223" fill="hold">
                      <p:stCondLst>
                        <p:cond delay="indefinite"/>
                      </p:stCondLst>
                      <p:childTnLst>
                        <p:par>
                          <p:cTn id="1224" fill="hold">
                            <p:stCondLst>
                              <p:cond delay="0"/>
                            </p:stCondLst>
                            <p:childTnLst>
                              <p:par>
                                <p:cTn id="1225" presetID="1" presetClass="entr" presetSubtype="0" fill="hold" nodeType="clickEffect">
                                  <p:stCondLst>
                                    <p:cond delay="0"/>
                                  </p:stCondLst>
                                  <p:childTnLst>
                                    <p:set>
                                      <p:cBhvr>
                                        <p:cTn id="1226" dur="1" fill="hold">
                                          <p:stCondLst>
                                            <p:cond delay="0"/>
                                          </p:stCondLst>
                                        </p:cTn>
                                        <p:tgtEl>
                                          <p:spTgt spid="110">
                                            <p:txEl>
                                              <p:pRg st="8" end="8"/>
                                            </p:txEl>
                                          </p:spTgt>
                                        </p:tgtEl>
                                        <p:attrNameLst>
                                          <p:attrName>style.visibility</p:attrName>
                                        </p:attrNameLst>
                                      </p:cBhvr>
                                      <p:to>
                                        <p:strVal val="visible"/>
                                      </p:to>
                                    </p:set>
                                  </p:childTnLst>
                                </p:cTn>
                              </p:par>
                            </p:childTnLst>
                          </p:cTn>
                        </p:par>
                      </p:childTnLst>
                    </p:cTn>
                  </p:par>
                  <p:par>
                    <p:cTn id="1227" fill="hold">
                      <p:stCondLst>
                        <p:cond delay="indefinite"/>
                      </p:stCondLst>
                      <p:childTnLst>
                        <p:par>
                          <p:cTn id="1228" fill="hold">
                            <p:stCondLst>
                              <p:cond delay="0"/>
                            </p:stCondLst>
                            <p:childTnLst>
                              <p:par>
                                <p:cTn id="1229" presetID="1" presetClass="entr" presetSubtype="0" fill="hold" nodeType="clickEffect">
                                  <p:stCondLst>
                                    <p:cond delay="0"/>
                                  </p:stCondLst>
                                  <p:childTnLst>
                                    <p:set>
                                      <p:cBhvr>
                                        <p:cTn id="1230" dur="1" fill="hold">
                                          <p:stCondLst>
                                            <p:cond delay="0"/>
                                          </p:stCondLst>
                                        </p:cTn>
                                        <p:tgtEl>
                                          <p:spTgt spid="111">
                                            <p:txEl>
                                              <p:pRg st="0" end="0"/>
                                            </p:txEl>
                                          </p:spTgt>
                                        </p:tgtEl>
                                        <p:attrNameLst>
                                          <p:attrName>style.visibility</p:attrName>
                                        </p:attrNameLst>
                                      </p:cBhvr>
                                      <p:to>
                                        <p:strVal val="visible"/>
                                      </p:to>
                                    </p:set>
                                  </p:childTnLst>
                                </p:cTn>
                              </p:par>
                            </p:childTnLst>
                          </p:cTn>
                        </p:par>
                      </p:childTnLst>
                    </p:cTn>
                  </p:par>
                  <p:par>
                    <p:cTn id="1231" fill="hold">
                      <p:stCondLst>
                        <p:cond delay="indefinite"/>
                      </p:stCondLst>
                      <p:childTnLst>
                        <p:par>
                          <p:cTn id="1232" fill="hold">
                            <p:stCondLst>
                              <p:cond delay="0"/>
                            </p:stCondLst>
                            <p:childTnLst>
                              <p:par>
                                <p:cTn id="1233" presetID="1" presetClass="entr" presetSubtype="0" fill="hold" nodeType="clickEffect">
                                  <p:stCondLst>
                                    <p:cond delay="0"/>
                                  </p:stCondLst>
                                  <p:childTnLst>
                                    <p:set>
                                      <p:cBhvr>
                                        <p:cTn id="1234" dur="1" fill="hold">
                                          <p:stCondLst>
                                            <p:cond delay="0"/>
                                          </p:stCondLst>
                                        </p:cTn>
                                        <p:tgtEl>
                                          <p:spTgt spid="111">
                                            <p:txEl>
                                              <p:pRg st="1" end="1"/>
                                            </p:txEl>
                                          </p:spTgt>
                                        </p:tgtEl>
                                        <p:attrNameLst>
                                          <p:attrName>style.visibility</p:attrName>
                                        </p:attrNameLst>
                                      </p:cBhvr>
                                      <p:to>
                                        <p:strVal val="visible"/>
                                      </p:to>
                                    </p:set>
                                  </p:childTnLst>
                                </p:cTn>
                              </p:par>
                            </p:childTnLst>
                          </p:cTn>
                        </p:par>
                      </p:childTnLst>
                    </p:cTn>
                  </p:par>
                  <p:par>
                    <p:cTn id="1235" fill="hold">
                      <p:stCondLst>
                        <p:cond delay="indefinite"/>
                      </p:stCondLst>
                      <p:childTnLst>
                        <p:par>
                          <p:cTn id="1236" fill="hold">
                            <p:stCondLst>
                              <p:cond delay="0"/>
                            </p:stCondLst>
                            <p:childTnLst>
                              <p:par>
                                <p:cTn id="1237" presetID="1" presetClass="entr" presetSubtype="0" fill="hold" nodeType="clickEffect">
                                  <p:stCondLst>
                                    <p:cond delay="0"/>
                                  </p:stCondLst>
                                  <p:childTnLst>
                                    <p:set>
                                      <p:cBhvr>
                                        <p:cTn id="1238" dur="1" fill="hold">
                                          <p:stCondLst>
                                            <p:cond delay="0"/>
                                          </p:stCondLst>
                                        </p:cTn>
                                        <p:tgtEl>
                                          <p:spTgt spid="111">
                                            <p:txEl>
                                              <p:pRg st="2" end="2"/>
                                            </p:txEl>
                                          </p:spTgt>
                                        </p:tgtEl>
                                        <p:attrNameLst>
                                          <p:attrName>style.visibility</p:attrName>
                                        </p:attrNameLst>
                                      </p:cBhvr>
                                      <p:to>
                                        <p:strVal val="visible"/>
                                      </p:to>
                                    </p:set>
                                  </p:childTnLst>
                                </p:cTn>
                              </p:par>
                            </p:childTnLst>
                          </p:cTn>
                        </p:par>
                      </p:childTnLst>
                    </p:cTn>
                  </p:par>
                  <p:par>
                    <p:cTn id="1239" fill="hold">
                      <p:stCondLst>
                        <p:cond delay="indefinite"/>
                      </p:stCondLst>
                      <p:childTnLst>
                        <p:par>
                          <p:cTn id="1240" fill="hold">
                            <p:stCondLst>
                              <p:cond delay="0"/>
                            </p:stCondLst>
                            <p:childTnLst>
                              <p:par>
                                <p:cTn id="1241" presetID="1" presetClass="entr" presetSubtype="0" fill="hold" nodeType="clickEffect">
                                  <p:stCondLst>
                                    <p:cond delay="0"/>
                                  </p:stCondLst>
                                  <p:childTnLst>
                                    <p:set>
                                      <p:cBhvr>
                                        <p:cTn id="1242" dur="1" fill="hold">
                                          <p:stCondLst>
                                            <p:cond delay="0"/>
                                          </p:stCondLst>
                                        </p:cTn>
                                        <p:tgtEl>
                                          <p:spTgt spid="111">
                                            <p:txEl>
                                              <p:pRg st="3" end="3"/>
                                            </p:txEl>
                                          </p:spTgt>
                                        </p:tgtEl>
                                        <p:attrNameLst>
                                          <p:attrName>style.visibility</p:attrName>
                                        </p:attrNameLst>
                                      </p:cBhvr>
                                      <p:to>
                                        <p:strVal val="visible"/>
                                      </p:to>
                                    </p:set>
                                  </p:childTnLst>
                                </p:cTn>
                              </p:par>
                            </p:childTnLst>
                          </p:cTn>
                        </p:par>
                      </p:childTnLst>
                    </p:cTn>
                  </p:par>
                  <p:par>
                    <p:cTn id="1243" fill="hold">
                      <p:stCondLst>
                        <p:cond delay="indefinite"/>
                      </p:stCondLst>
                      <p:childTnLst>
                        <p:par>
                          <p:cTn id="1244" fill="hold">
                            <p:stCondLst>
                              <p:cond delay="0"/>
                            </p:stCondLst>
                            <p:childTnLst>
                              <p:par>
                                <p:cTn id="1245" presetID="1" presetClass="entr" presetSubtype="0" fill="hold" nodeType="clickEffect">
                                  <p:stCondLst>
                                    <p:cond delay="0"/>
                                  </p:stCondLst>
                                  <p:childTnLst>
                                    <p:set>
                                      <p:cBhvr>
                                        <p:cTn id="1246" dur="1" fill="hold">
                                          <p:stCondLst>
                                            <p:cond delay="0"/>
                                          </p:stCondLst>
                                        </p:cTn>
                                        <p:tgtEl>
                                          <p:spTgt spid="111">
                                            <p:txEl>
                                              <p:pRg st="4" end="4"/>
                                            </p:txEl>
                                          </p:spTgt>
                                        </p:tgtEl>
                                        <p:attrNameLst>
                                          <p:attrName>style.visibility</p:attrName>
                                        </p:attrNameLst>
                                      </p:cBhvr>
                                      <p:to>
                                        <p:strVal val="visible"/>
                                      </p:to>
                                    </p:set>
                                  </p:childTnLst>
                                </p:cTn>
                              </p:par>
                            </p:childTnLst>
                          </p:cTn>
                        </p:par>
                      </p:childTnLst>
                    </p:cTn>
                  </p:par>
                  <p:par>
                    <p:cTn id="1247" fill="hold">
                      <p:stCondLst>
                        <p:cond delay="indefinite"/>
                      </p:stCondLst>
                      <p:childTnLst>
                        <p:par>
                          <p:cTn id="1248" fill="hold">
                            <p:stCondLst>
                              <p:cond delay="0"/>
                            </p:stCondLst>
                            <p:childTnLst>
                              <p:par>
                                <p:cTn id="1249" presetID="1" presetClass="entr" presetSubtype="0" fill="hold" nodeType="clickEffect">
                                  <p:stCondLst>
                                    <p:cond delay="0"/>
                                  </p:stCondLst>
                                  <p:childTnLst>
                                    <p:set>
                                      <p:cBhvr>
                                        <p:cTn id="1250" dur="1" fill="hold">
                                          <p:stCondLst>
                                            <p:cond delay="0"/>
                                          </p:stCondLst>
                                        </p:cTn>
                                        <p:tgtEl>
                                          <p:spTgt spid="111">
                                            <p:txEl>
                                              <p:pRg st="5" end="5"/>
                                            </p:txEl>
                                          </p:spTgt>
                                        </p:tgtEl>
                                        <p:attrNameLst>
                                          <p:attrName>style.visibility</p:attrName>
                                        </p:attrNameLst>
                                      </p:cBhvr>
                                      <p:to>
                                        <p:strVal val="visible"/>
                                      </p:to>
                                    </p:set>
                                  </p:childTnLst>
                                </p:cTn>
                              </p:par>
                            </p:childTnLst>
                          </p:cTn>
                        </p:par>
                      </p:childTnLst>
                    </p:cTn>
                  </p:par>
                  <p:par>
                    <p:cTn id="1251" fill="hold">
                      <p:stCondLst>
                        <p:cond delay="indefinite"/>
                      </p:stCondLst>
                      <p:childTnLst>
                        <p:par>
                          <p:cTn id="1252" fill="hold">
                            <p:stCondLst>
                              <p:cond delay="0"/>
                            </p:stCondLst>
                            <p:childTnLst>
                              <p:par>
                                <p:cTn id="1253" presetID="1" presetClass="entr" presetSubtype="0" fill="hold" nodeType="clickEffect">
                                  <p:stCondLst>
                                    <p:cond delay="0"/>
                                  </p:stCondLst>
                                  <p:childTnLst>
                                    <p:set>
                                      <p:cBhvr>
                                        <p:cTn id="1254" dur="1" fill="hold">
                                          <p:stCondLst>
                                            <p:cond delay="0"/>
                                          </p:stCondLst>
                                        </p:cTn>
                                        <p:tgtEl>
                                          <p:spTgt spid="111">
                                            <p:txEl>
                                              <p:pRg st="6" end="6"/>
                                            </p:txEl>
                                          </p:spTgt>
                                        </p:tgtEl>
                                        <p:attrNameLst>
                                          <p:attrName>style.visibility</p:attrName>
                                        </p:attrNameLst>
                                      </p:cBhvr>
                                      <p:to>
                                        <p:strVal val="visible"/>
                                      </p:to>
                                    </p:set>
                                  </p:childTnLst>
                                </p:cTn>
                              </p:par>
                            </p:childTnLst>
                          </p:cTn>
                        </p:par>
                      </p:childTnLst>
                    </p:cTn>
                  </p:par>
                  <p:par>
                    <p:cTn id="1255" fill="hold">
                      <p:stCondLst>
                        <p:cond delay="indefinite"/>
                      </p:stCondLst>
                      <p:childTnLst>
                        <p:par>
                          <p:cTn id="1256" fill="hold">
                            <p:stCondLst>
                              <p:cond delay="0"/>
                            </p:stCondLst>
                            <p:childTnLst>
                              <p:par>
                                <p:cTn id="1257" presetID="1" presetClass="entr" presetSubtype="0" fill="hold" nodeType="clickEffect">
                                  <p:stCondLst>
                                    <p:cond delay="0"/>
                                  </p:stCondLst>
                                  <p:childTnLst>
                                    <p:set>
                                      <p:cBhvr>
                                        <p:cTn id="1258" dur="1" fill="hold">
                                          <p:stCondLst>
                                            <p:cond delay="0"/>
                                          </p:stCondLst>
                                        </p:cTn>
                                        <p:tgtEl>
                                          <p:spTgt spid="111">
                                            <p:txEl>
                                              <p:pRg st="7" end="7"/>
                                            </p:txEl>
                                          </p:spTgt>
                                        </p:tgtEl>
                                        <p:attrNameLst>
                                          <p:attrName>style.visibility</p:attrName>
                                        </p:attrNameLst>
                                      </p:cBhvr>
                                      <p:to>
                                        <p:strVal val="visible"/>
                                      </p:to>
                                    </p:set>
                                  </p:childTnLst>
                                </p:cTn>
                              </p:par>
                            </p:childTnLst>
                          </p:cTn>
                        </p:par>
                      </p:childTnLst>
                    </p:cTn>
                  </p:par>
                  <p:par>
                    <p:cTn id="1259" fill="hold">
                      <p:stCondLst>
                        <p:cond delay="indefinite"/>
                      </p:stCondLst>
                      <p:childTnLst>
                        <p:par>
                          <p:cTn id="1260" fill="hold">
                            <p:stCondLst>
                              <p:cond delay="0"/>
                            </p:stCondLst>
                            <p:childTnLst>
                              <p:par>
                                <p:cTn id="1261" presetID="1" presetClass="entr" presetSubtype="0" fill="hold" nodeType="clickEffect">
                                  <p:stCondLst>
                                    <p:cond delay="0"/>
                                  </p:stCondLst>
                                  <p:childTnLst>
                                    <p:set>
                                      <p:cBhvr>
                                        <p:cTn id="1262" dur="1" fill="hold">
                                          <p:stCondLst>
                                            <p:cond delay="0"/>
                                          </p:stCondLst>
                                        </p:cTn>
                                        <p:tgtEl>
                                          <p:spTgt spid="111">
                                            <p:txEl>
                                              <p:pRg st="8" end="8"/>
                                            </p:txEl>
                                          </p:spTgt>
                                        </p:tgtEl>
                                        <p:attrNameLst>
                                          <p:attrName>style.visibility</p:attrName>
                                        </p:attrNameLst>
                                      </p:cBhvr>
                                      <p:to>
                                        <p:strVal val="visible"/>
                                      </p:to>
                                    </p:set>
                                  </p:childTnLst>
                                </p:cTn>
                              </p:par>
                            </p:childTnLst>
                          </p:cTn>
                        </p:par>
                      </p:childTnLst>
                    </p:cTn>
                  </p:par>
                  <p:par>
                    <p:cTn id="1263" fill="hold">
                      <p:stCondLst>
                        <p:cond delay="indefinite"/>
                      </p:stCondLst>
                      <p:childTnLst>
                        <p:par>
                          <p:cTn id="1264" fill="hold">
                            <p:stCondLst>
                              <p:cond delay="0"/>
                            </p:stCondLst>
                            <p:childTnLst>
                              <p:par>
                                <p:cTn id="1265" presetID="1" presetClass="entr" presetSubtype="0" fill="hold" nodeType="clickEffect">
                                  <p:stCondLst>
                                    <p:cond delay="0"/>
                                  </p:stCondLst>
                                  <p:childTnLst>
                                    <p:set>
                                      <p:cBhvr>
                                        <p:cTn id="1266" dur="1" fill="hold">
                                          <p:stCondLst>
                                            <p:cond delay="0"/>
                                          </p:stCondLst>
                                        </p:cTn>
                                        <p:tgtEl>
                                          <p:spTgt spid="112">
                                            <p:txEl>
                                              <p:pRg st="0" end="0"/>
                                            </p:txEl>
                                          </p:spTgt>
                                        </p:tgtEl>
                                        <p:attrNameLst>
                                          <p:attrName>style.visibility</p:attrName>
                                        </p:attrNameLst>
                                      </p:cBhvr>
                                      <p:to>
                                        <p:strVal val="visible"/>
                                      </p:to>
                                    </p:set>
                                  </p:childTnLst>
                                </p:cTn>
                              </p:par>
                            </p:childTnLst>
                          </p:cTn>
                        </p:par>
                      </p:childTnLst>
                    </p:cTn>
                  </p:par>
                  <p:par>
                    <p:cTn id="1267" fill="hold">
                      <p:stCondLst>
                        <p:cond delay="indefinite"/>
                      </p:stCondLst>
                      <p:childTnLst>
                        <p:par>
                          <p:cTn id="1268" fill="hold">
                            <p:stCondLst>
                              <p:cond delay="0"/>
                            </p:stCondLst>
                            <p:childTnLst>
                              <p:par>
                                <p:cTn id="1269" presetID="1" presetClass="entr" presetSubtype="0" fill="hold" nodeType="clickEffect">
                                  <p:stCondLst>
                                    <p:cond delay="0"/>
                                  </p:stCondLst>
                                  <p:childTnLst>
                                    <p:set>
                                      <p:cBhvr>
                                        <p:cTn id="1270" dur="1" fill="hold">
                                          <p:stCondLst>
                                            <p:cond delay="0"/>
                                          </p:stCondLst>
                                        </p:cTn>
                                        <p:tgtEl>
                                          <p:spTgt spid="112">
                                            <p:txEl>
                                              <p:pRg st="1" end="1"/>
                                            </p:txEl>
                                          </p:spTgt>
                                        </p:tgtEl>
                                        <p:attrNameLst>
                                          <p:attrName>style.visibility</p:attrName>
                                        </p:attrNameLst>
                                      </p:cBhvr>
                                      <p:to>
                                        <p:strVal val="visible"/>
                                      </p:to>
                                    </p:set>
                                  </p:childTnLst>
                                </p:cTn>
                              </p:par>
                            </p:childTnLst>
                          </p:cTn>
                        </p:par>
                      </p:childTnLst>
                    </p:cTn>
                  </p:par>
                  <p:par>
                    <p:cTn id="1271" fill="hold">
                      <p:stCondLst>
                        <p:cond delay="indefinite"/>
                      </p:stCondLst>
                      <p:childTnLst>
                        <p:par>
                          <p:cTn id="1272" fill="hold">
                            <p:stCondLst>
                              <p:cond delay="0"/>
                            </p:stCondLst>
                            <p:childTnLst>
                              <p:par>
                                <p:cTn id="1273" presetID="1" presetClass="entr" presetSubtype="0" fill="hold" nodeType="clickEffect">
                                  <p:stCondLst>
                                    <p:cond delay="0"/>
                                  </p:stCondLst>
                                  <p:childTnLst>
                                    <p:set>
                                      <p:cBhvr>
                                        <p:cTn id="1274" dur="1" fill="hold">
                                          <p:stCondLst>
                                            <p:cond delay="0"/>
                                          </p:stCondLst>
                                        </p:cTn>
                                        <p:tgtEl>
                                          <p:spTgt spid="112">
                                            <p:txEl>
                                              <p:pRg st="2" end="2"/>
                                            </p:txEl>
                                          </p:spTgt>
                                        </p:tgtEl>
                                        <p:attrNameLst>
                                          <p:attrName>style.visibility</p:attrName>
                                        </p:attrNameLst>
                                      </p:cBhvr>
                                      <p:to>
                                        <p:strVal val="visible"/>
                                      </p:to>
                                    </p:set>
                                  </p:childTnLst>
                                </p:cTn>
                              </p:par>
                            </p:childTnLst>
                          </p:cTn>
                        </p:par>
                      </p:childTnLst>
                    </p:cTn>
                  </p:par>
                  <p:par>
                    <p:cTn id="1275" fill="hold">
                      <p:stCondLst>
                        <p:cond delay="indefinite"/>
                      </p:stCondLst>
                      <p:childTnLst>
                        <p:par>
                          <p:cTn id="1276" fill="hold">
                            <p:stCondLst>
                              <p:cond delay="0"/>
                            </p:stCondLst>
                            <p:childTnLst>
                              <p:par>
                                <p:cTn id="1277" presetID="1" presetClass="entr" presetSubtype="0" fill="hold" nodeType="clickEffect">
                                  <p:stCondLst>
                                    <p:cond delay="0"/>
                                  </p:stCondLst>
                                  <p:childTnLst>
                                    <p:set>
                                      <p:cBhvr>
                                        <p:cTn id="1278" dur="1" fill="hold">
                                          <p:stCondLst>
                                            <p:cond delay="0"/>
                                          </p:stCondLst>
                                        </p:cTn>
                                        <p:tgtEl>
                                          <p:spTgt spid="112">
                                            <p:txEl>
                                              <p:pRg st="3" end="3"/>
                                            </p:txEl>
                                          </p:spTgt>
                                        </p:tgtEl>
                                        <p:attrNameLst>
                                          <p:attrName>style.visibility</p:attrName>
                                        </p:attrNameLst>
                                      </p:cBhvr>
                                      <p:to>
                                        <p:strVal val="visible"/>
                                      </p:to>
                                    </p:set>
                                  </p:childTnLst>
                                </p:cTn>
                              </p:par>
                            </p:childTnLst>
                          </p:cTn>
                        </p:par>
                      </p:childTnLst>
                    </p:cTn>
                  </p:par>
                  <p:par>
                    <p:cTn id="1279" fill="hold">
                      <p:stCondLst>
                        <p:cond delay="indefinite"/>
                      </p:stCondLst>
                      <p:childTnLst>
                        <p:par>
                          <p:cTn id="1280" fill="hold">
                            <p:stCondLst>
                              <p:cond delay="0"/>
                            </p:stCondLst>
                            <p:childTnLst>
                              <p:par>
                                <p:cTn id="1281" presetID="1" presetClass="entr" presetSubtype="0" fill="hold" nodeType="clickEffect">
                                  <p:stCondLst>
                                    <p:cond delay="0"/>
                                  </p:stCondLst>
                                  <p:childTnLst>
                                    <p:set>
                                      <p:cBhvr>
                                        <p:cTn id="1282" dur="1" fill="hold">
                                          <p:stCondLst>
                                            <p:cond delay="0"/>
                                          </p:stCondLst>
                                        </p:cTn>
                                        <p:tgtEl>
                                          <p:spTgt spid="112">
                                            <p:txEl>
                                              <p:pRg st="4" end="4"/>
                                            </p:txEl>
                                          </p:spTgt>
                                        </p:tgtEl>
                                        <p:attrNameLst>
                                          <p:attrName>style.visibility</p:attrName>
                                        </p:attrNameLst>
                                      </p:cBhvr>
                                      <p:to>
                                        <p:strVal val="visible"/>
                                      </p:to>
                                    </p:set>
                                  </p:childTnLst>
                                </p:cTn>
                              </p:par>
                            </p:childTnLst>
                          </p:cTn>
                        </p:par>
                      </p:childTnLst>
                    </p:cTn>
                  </p:par>
                  <p:par>
                    <p:cTn id="1283" fill="hold">
                      <p:stCondLst>
                        <p:cond delay="indefinite"/>
                      </p:stCondLst>
                      <p:childTnLst>
                        <p:par>
                          <p:cTn id="1284" fill="hold">
                            <p:stCondLst>
                              <p:cond delay="0"/>
                            </p:stCondLst>
                            <p:childTnLst>
                              <p:par>
                                <p:cTn id="1285" presetID="1" presetClass="entr" presetSubtype="0" fill="hold" nodeType="clickEffect">
                                  <p:stCondLst>
                                    <p:cond delay="0"/>
                                  </p:stCondLst>
                                  <p:childTnLst>
                                    <p:set>
                                      <p:cBhvr>
                                        <p:cTn id="1286" dur="1" fill="hold">
                                          <p:stCondLst>
                                            <p:cond delay="0"/>
                                          </p:stCondLst>
                                        </p:cTn>
                                        <p:tgtEl>
                                          <p:spTgt spid="112">
                                            <p:txEl>
                                              <p:pRg st="5" end="5"/>
                                            </p:txEl>
                                          </p:spTgt>
                                        </p:tgtEl>
                                        <p:attrNameLst>
                                          <p:attrName>style.visibility</p:attrName>
                                        </p:attrNameLst>
                                      </p:cBhvr>
                                      <p:to>
                                        <p:strVal val="visible"/>
                                      </p:to>
                                    </p:set>
                                  </p:childTnLst>
                                </p:cTn>
                              </p:par>
                            </p:childTnLst>
                          </p:cTn>
                        </p:par>
                      </p:childTnLst>
                    </p:cTn>
                  </p:par>
                  <p:par>
                    <p:cTn id="1287" fill="hold">
                      <p:stCondLst>
                        <p:cond delay="indefinite"/>
                      </p:stCondLst>
                      <p:childTnLst>
                        <p:par>
                          <p:cTn id="1288" fill="hold">
                            <p:stCondLst>
                              <p:cond delay="0"/>
                            </p:stCondLst>
                            <p:childTnLst>
                              <p:par>
                                <p:cTn id="1289" presetID="1" presetClass="entr" presetSubtype="0" fill="hold" nodeType="clickEffect">
                                  <p:stCondLst>
                                    <p:cond delay="0"/>
                                  </p:stCondLst>
                                  <p:childTnLst>
                                    <p:set>
                                      <p:cBhvr>
                                        <p:cTn id="1290" dur="1" fill="hold">
                                          <p:stCondLst>
                                            <p:cond delay="0"/>
                                          </p:stCondLst>
                                        </p:cTn>
                                        <p:tgtEl>
                                          <p:spTgt spid="112">
                                            <p:txEl>
                                              <p:pRg st="6" end="6"/>
                                            </p:txEl>
                                          </p:spTgt>
                                        </p:tgtEl>
                                        <p:attrNameLst>
                                          <p:attrName>style.visibility</p:attrName>
                                        </p:attrNameLst>
                                      </p:cBhvr>
                                      <p:to>
                                        <p:strVal val="visible"/>
                                      </p:to>
                                    </p:set>
                                  </p:childTnLst>
                                </p:cTn>
                              </p:par>
                            </p:childTnLst>
                          </p:cTn>
                        </p:par>
                      </p:childTnLst>
                    </p:cTn>
                  </p:par>
                  <p:par>
                    <p:cTn id="1291" fill="hold">
                      <p:stCondLst>
                        <p:cond delay="indefinite"/>
                      </p:stCondLst>
                      <p:childTnLst>
                        <p:par>
                          <p:cTn id="1292" fill="hold">
                            <p:stCondLst>
                              <p:cond delay="0"/>
                            </p:stCondLst>
                            <p:childTnLst>
                              <p:par>
                                <p:cTn id="1293" presetID="1" presetClass="entr" presetSubtype="0" fill="hold" nodeType="clickEffect">
                                  <p:stCondLst>
                                    <p:cond delay="0"/>
                                  </p:stCondLst>
                                  <p:childTnLst>
                                    <p:set>
                                      <p:cBhvr>
                                        <p:cTn id="1294" dur="1" fill="hold">
                                          <p:stCondLst>
                                            <p:cond delay="0"/>
                                          </p:stCondLst>
                                        </p:cTn>
                                        <p:tgtEl>
                                          <p:spTgt spid="112">
                                            <p:txEl>
                                              <p:pRg st="7" end="7"/>
                                            </p:txEl>
                                          </p:spTgt>
                                        </p:tgtEl>
                                        <p:attrNameLst>
                                          <p:attrName>style.visibility</p:attrName>
                                        </p:attrNameLst>
                                      </p:cBhvr>
                                      <p:to>
                                        <p:strVal val="visible"/>
                                      </p:to>
                                    </p:set>
                                  </p:childTnLst>
                                </p:cTn>
                              </p:par>
                            </p:childTnLst>
                          </p:cTn>
                        </p:par>
                      </p:childTnLst>
                    </p:cTn>
                  </p:par>
                  <p:par>
                    <p:cTn id="1295" fill="hold">
                      <p:stCondLst>
                        <p:cond delay="indefinite"/>
                      </p:stCondLst>
                      <p:childTnLst>
                        <p:par>
                          <p:cTn id="1296" fill="hold">
                            <p:stCondLst>
                              <p:cond delay="0"/>
                            </p:stCondLst>
                            <p:childTnLst>
                              <p:par>
                                <p:cTn id="1297" presetID="1" presetClass="entr" presetSubtype="0" fill="hold" nodeType="clickEffect">
                                  <p:stCondLst>
                                    <p:cond delay="0"/>
                                  </p:stCondLst>
                                  <p:childTnLst>
                                    <p:set>
                                      <p:cBhvr>
                                        <p:cTn id="1298" dur="1" fill="hold">
                                          <p:stCondLst>
                                            <p:cond delay="0"/>
                                          </p:stCondLst>
                                        </p:cTn>
                                        <p:tgtEl>
                                          <p:spTgt spid="112">
                                            <p:txEl>
                                              <p:pRg st="8" end="8"/>
                                            </p:txEl>
                                          </p:spTgt>
                                        </p:tgtEl>
                                        <p:attrNameLst>
                                          <p:attrName>style.visibility</p:attrName>
                                        </p:attrNameLst>
                                      </p:cBhvr>
                                      <p:to>
                                        <p:strVal val="visible"/>
                                      </p:to>
                                    </p:set>
                                  </p:childTnLst>
                                </p:cTn>
                              </p:par>
                            </p:childTnLst>
                          </p:cTn>
                        </p:par>
                      </p:childTnLst>
                    </p:cTn>
                  </p:par>
                  <p:par>
                    <p:cTn id="1299" fill="hold">
                      <p:stCondLst>
                        <p:cond delay="indefinite"/>
                      </p:stCondLst>
                      <p:childTnLst>
                        <p:par>
                          <p:cTn id="1300" fill="hold">
                            <p:stCondLst>
                              <p:cond delay="0"/>
                            </p:stCondLst>
                            <p:childTnLst>
                              <p:par>
                                <p:cTn id="1301" presetID="1" presetClass="entr" presetSubtype="0" fill="hold" nodeType="clickEffect">
                                  <p:stCondLst>
                                    <p:cond delay="0"/>
                                  </p:stCondLst>
                                  <p:childTnLst>
                                    <p:set>
                                      <p:cBhvr>
                                        <p:cTn id="1302"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1303" fill="hold">
                      <p:stCondLst>
                        <p:cond delay="indefinite"/>
                      </p:stCondLst>
                      <p:childTnLst>
                        <p:par>
                          <p:cTn id="1304" fill="hold">
                            <p:stCondLst>
                              <p:cond delay="0"/>
                            </p:stCondLst>
                            <p:childTnLst>
                              <p:par>
                                <p:cTn id="1305" presetID="1" presetClass="entr" presetSubtype="0" fill="hold" nodeType="clickEffect">
                                  <p:stCondLst>
                                    <p:cond delay="0"/>
                                  </p:stCondLst>
                                  <p:childTnLst>
                                    <p:set>
                                      <p:cBhvr>
                                        <p:cTn id="1306" dur="1" fill="hold">
                                          <p:stCondLst>
                                            <p:cond delay="0"/>
                                          </p:stCondLst>
                                        </p:cTn>
                                        <p:tgtEl>
                                          <p:spTgt spid="113">
                                            <p:txEl>
                                              <p:pRg st="1" end="1"/>
                                            </p:txEl>
                                          </p:spTgt>
                                        </p:tgtEl>
                                        <p:attrNameLst>
                                          <p:attrName>style.visibility</p:attrName>
                                        </p:attrNameLst>
                                      </p:cBhvr>
                                      <p:to>
                                        <p:strVal val="visible"/>
                                      </p:to>
                                    </p:set>
                                  </p:childTnLst>
                                </p:cTn>
                              </p:par>
                            </p:childTnLst>
                          </p:cTn>
                        </p:par>
                      </p:childTnLst>
                    </p:cTn>
                  </p:par>
                  <p:par>
                    <p:cTn id="1307" fill="hold">
                      <p:stCondLst>
                        <p:cond delay="indefinite"/>
                      </p:stCondLst>
                      <p:childTnLst>
                        <p:par>
                          <p:cTn id="1308" fill="hold">
                            <p:stCondLst>
                              <p:cond delay="0"/>
                            </p:stCondLst>
                            <p:childTnLst>
                              <p:par>
                                <p:cTn id="1309" presetID="1" presetClass="entr" presetSubtype="0" fill="hold" nodeType="clickEffect">
                                  <p:stCondLst>
                                    <p:cond delay="0"/>
                                  </p:stCondLst>
                                  <p:childTnLst>
                                    <p:set>
                                      <p:cBhvr>
                                        <p:cTn id="1310" dur="1" fill="hold">
                                          <p:stCondLst>
                                            <p:cond delay="0"/>
                                          </p:stCondLst>
                                        </p:cTn>
                                        <p:tgtEl>
                                          <p:spTgt spid="113">
                                            <p:txEl>
                                              <p:pRg st="2" end="2"/>
                                            </p:txEl>
                                          </p:spTgt>
                                        </p:tgtEl>
                                        <p:attrNameLst>
                                          <p:attrName>style.visibility</p:attrName>
                                        </p:attrNameLst>
                                      </p:cBhvr>
                                      <p:to>
                                        <p:strVal val="visible"/>
                                      </p:to>
                                    </p:set>
                                  </p:childTnLst>
                                </p:cTn>
                              </p:par>
                            </p:childTnLst>
                          </p:cTn>
                        </p:par>
                      </p:childTnLst>
                    </p:cTn>
                  </p:par>
                  <p:par>
                    <p:cTn id="1311" fill="hold">
                      <p:stCondLst>
                        <p:cond delay="indefinite"/>
                      </p:stCondLst>
                      <p:childTnLst>
                        <p:par>
                          <p:cTn id="1312" fill="hold">
                            <p:stCondLst>
                              <p:cond delay="0"/>
                            </p:stCondLst>
                            <p:childTnLst>
                              <p:par>
                                <p:cTn id="1313" presetID="1" presetClass="entr" presetSubtype="0" fill="hold" nodeType="clickEffect">
                                  <p:stCondLst>
                                    <p:cond delay="0"/>
                                  </p:stCondLst>
                                  <p:childTnLst>
                                    <p:set>
                                      <p:cBhvr>
                                        <p:cTn id="1314" dur="1" fill="hold">
                                          <p:stCondLst>
                                            <p:cond delay="0"/>
                                          </p:stCondLst>
                                        </p:cTn>
                                        <p:tgtEl>
                                          <p:spTgt spid="113">
                                            <p:txEl>
                                              <p:pRg st="3" end="3"/>
                                            </p:txEl>
                                          </p:spTgt>
                                        </p:tgtEl>
                                        <p:attrNameLst>
                                          <p:attrName>style.visibility</p:attrName>
                                        </p:attrNameLst>
                                      </p:cBhvr>
                                      <p:to>
                                        <p:strVal val="visible"/>
                                      </p:to>
                                    </p:set>
                                  </p:childTnLst>
                                </p:cTn>
                              </p:par>
                            </p:childTnLst>
                          </p:cTn>
                        </p:par>
                      </p:childTnLst>
                    </p:cTn>
                  </p:par>
                  <p:par>
                    <p:cTn id="1315" fill="hold">
                      <p:stCondLst>
                        <p:cond delay="indefinite"/>
                      </p:stCondLst>
                      <p:childTnLst>
                        <p:par>
                          <p:cTn id="1316" fill="hold">
                            <p:stCondLst>
                              <p:cond delay="0"/>
                            </p:stCondLst>
                            <p:childTnLst>
                              <p:par>
                                <p:cTn id="1317" presetID="1" presetClass="entr" presetSubtype="0" fill="hold" nodeType="clickEffect">
                                  <p:stCondLst>
                                    <p:cond delay="0"/>
                                  </p:stCondLst>
                                  <p:childTnLst>
                                    <p:set>
                                      <p:cBhvr>
                                        <p:cTn id="1318" dur="1" fill="hold">
                                          <p:stCondLst>
                                            <p:cond delay="0"/>
                                          </p:stCondLst>
                                        </p:cTn>
                                        <p:tgtEl>
                                          <p:spTgt spid="113">
                                            <p:txEl>
                                              <p:pRg st="4" end="4"/>
                                            </p:txEl>
                                          </p:spTgt>
                                        </p:tgtEl>
                                        <p:attrNameLst>
                                          <p:attrName>style.visibility</p:attrName>
                                        </p:attrNameLst>
                                      </p:cBhvr>
                                      <p:to>
                                        <p:strVal val="visible"/>
                                      </p:to>
                                    </p:set>
                                  </p:childTnLst>
                                </p:cTn>
                              </p:par>
                            </p:childTnLst>
                          </p:cTn>
                        </p:par>
                      </p:childTnLst>
                    </p:cTn>
                  </p:par>
                  <p:par>
                    <p:cTn id="1319" fill="hold">
                      <p:stCondLst>
                        <p:cond delay="indefinite"/>
                      </p:stCondLst>
                      <p:childTnLst>
                        <p:par>
                          <p:cTn id="1320" fill="hold">
                            <p:stCondLst>
                              <p:cond delay="0"/>
                            </p:stCondLst>
                            <p:childTnLst>
                              <p:par>
                                <p:cTn id="1321" presetID="1" presetClass="entr" presetSubtype="0" fill="hold" nodeType="clickEffect">
                                  <p:stCondLst>
                                    <p:cond delay="0"/>
                                  </p:stCondLst>
                                  <p:childTnLst>
                                    <p:set>
                                      <p:cBhvr>
                                        <p:cTn id="1322" dur="1" fill="hold">
                                          <p:stCondLst>
                                            <p:cond delay="0"/>
                                          </p:stCondLst>
                                        </p:cTn>
                                        <p:tgtEl>
                                          <p:spTgt spid="113">
                                            <p:txEl>
                                              <p:pRg st="5" end="5"/>
                                            </p:txEl>
                                          </p:spTgt>
                                        </p:tgtEl>
                                        <p:attrNameLst>
                                          <p:attrName>style.visibility</p:attrName>
                                        </p:attrNameLst>
                                      </p:cBhvr>
                                      <p:to>
                                        <p:strVal val="visible"/>
                                      </p:to>
                                    </p:set>
                                  </p:childTnLst>
                                </p:cTn>
                              </p:par>
                            </p:childTnLst>
                          </p:cTn>
                        </p:par>
                      </p:childTnLst>
                    </p:cTn>
                  </p:par>
                  <p:par>
                    <p:cTn id="1323" fill="hold">
                      <p:stCondLst>
                        <p:cond delay="indefinite"/>
                      </p:stCondLst>
                      <p:childTnLst>
                        <p:par>
                          <p:cTn id="1324" fill="hold">
                            <p:stCondLst>
                              <p:cond delay="0"/>
                            </p:stCondLst>
                            <p:childTnLst>
                              <p:par>
                                <p:cTn id="1325" presetID="1" presetClass="entr" presetSubtype="0" fill="hold" nodeType="clickEffect">
                                  <p:stCondLst>
                                    <p:cond delay="0"/>
                                  </p:stCondLst>
                                  <p:childTnLst>
                                    <p:set>
                                      <p:cBhvr>
                                        <p:cTn id="1326" dur="1" fill="hold">
                                          <p:stCondLst>
                                            <p:cond delay="0"/>
                                          </p:stCondLst>
                                        </p:cTn>
                                        <p:tgtEl>
                                          <p:spTgt spid="113">
                                            <p:txEl>
                                              <p:pRg st="6" end="6"/>
                                            </p:txEl>
                                          </p:spTgt>
                                        </p:tgtEl>
                                        <p:attrNameLst>
                                          <p:attrName>style.visibility</p:attrName>
                                        </p:attrNameLst>
                                      </p:cBhvr>
                                      <p:to>
                                        <p:strVal val="visible"/>
                                      </p:to>
                                    </p:set>
                                  </p:childTnLst>
                                </p:cTn>
                              </p:par>
                            </p:childTnLst>
                          </p:cTn>
                        </p:par>
                      </p:childTnLst>
                    </p:cTn>
                  </p:par>
                  <p:par>
                    <p:cTn id="1327" fill="hold">
                      <p:stCondLst>
                        <p:cond delay="indefinite"/>
                      </p:stCondLst>
                      <p:childTnLst>
                        <p:par>
                          <p:cTn id="1328" fill="hold">
                            <p:stCondLst>
                              <p:cond delay="0"/>
                            </p:stCondLst>
                            <p:childTnLst>
                              <p:par>
                                <p:cTn id="1329" presetID="1" presetClass="entr" presetSubtype="0" fill="hold" nodeType="clickEffect">
                                  <p:stCondLst>
                                    <p:cond delay="0"/>
                                  </p:stCondLst>
                                  <p:childTnLst>
                                    <p:set>
                                      <p:cBhvr>
                                        <p:cTn id="1330" dur="1" fill="hold">
                                          <p:stCondLst>
                                            <p:cond delay="0"/>
                                          </p:stCondLst>
                                        </p:cTn>
                                        <p:tgtEl>
                                          <p:spTgt spid="113">
                                            <p:txEl>
                                              <p:pRg st="7" end="7"/>
                                            </p:txEl>
                                          </p:spTgt>
                                        </p:tgtEl>
                                        <p:attrNameLst>
                                          <p:attrName>style.visibility</p:attrName>
                                        </p:attrNameLst>
                                      </p:cBhvr>
                                      <p:to>
                                        <p:strVal val="visible"/>
                                      </p:to>
                                    </p:set>
                                  </p:childTnLst>
                                </p:cTn>
                              </p:par>
                            </p:childTnLst>
                          </p:cTn>
                        </p:par>
                      </p:childTnLst>
                    </p:cTn>
                  </p:par>
                  <p:par>
                    <p:cTn id="1331" fill="hold">
                      <p:stCondLst>
                        <p:cond delay="indefinite"/>
                      </p:stCondLst>
                      <p:childTnLst>
                        <p:par>
                          <p:cTn id="1332" fill="hold">
                            <p:stCondLst>
                              <p:cond delay="0"/>
                            </p:stCondLst>
                            <p:childTnLst>
                              <p:par>
                                <p:cTn id="1333" presetID="1" presetClass="entr" presetSubtype="0" fill="hold" nodeType="clickEffect">
                                  <p:stCondLst>
                                    <p:cond delay="0"/>
                                  </p:stCondLst>
                                  <p:childTnLst>
                                    <p:set>
                                      <p:cBhvr>
                                        <p:cTn id="1334" dur="1" fill="hold">
                                          <p:stCondLst>
                                            <p:cond delay="0"/>
                                          </p:stCondLst>
                                        </p:cTn>
                                        <p:tgtEl>
                                          <p:spTgt spid="113">
                                            <p:txEl>
                                              <p:pRg st="8" end="8"/>
                                            </p:txEl>
                                          </p:spTgt>
                                        </p:tgtEl>
                                        <p:attrNameLst>
                                          <p:attrName>style.visibility</p:attrName>
                                        </p:attrNameLst>
                                      </p:cBhvr>
                                      <p:to>
                                        <p:strVal val="visible"/>
                                      </p:to>
                                    </p:set>
                                  </p:childTnLst>
                                </p:cTn>
                              </p:par>
                            </p:childTnLst>
                          </p:cTn>
                        </p:par>
                      </p:childTnLst>
                    </p:cTn>
                  </p:par>
                  <p:par>
                    <p:cTn id="1335" fill="hold">
                      <p:stCondLst>
                        <p:cond delay="indefinite"/>
                      </p:stCondLst>
                      <p:childTnLst>
                        <p:par>
                          <p:cTn id="1336" fill="hold">
                            <p:stCondLst>
                              <p:cond delay="0"/>
                            </p:stCondLst>
                            <p:childTnLst>
                              <p:par>
                                <p:cTn id="1337" presetID="1" presetClass="entr" presetSubtype="0" fill="hold" nodeType="clickEffect">
                                  <p:stCondLst>
                                    <p:cond delay="0"/>
                                  </p:stCondLst>
                                  <p:childTnLst>
                                    <p:set>
                                      <p:cBhvr>
                                        <p:cTn id="1338"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1339" fill="hold">
                      <p:stCondLst>
                        <p:cond delay="indefinite"/>
                      </p:stCondLst>
                      <p:childTnLst>
                        <p:par>
                          <p:cTn id="1340" fill="hold">
                            <p:stCondLst>
                              <p:cond delay="0"/>
                            </p:stCondLst>
                            <p:childTnLst>
                              <p:par>
                                <p:cTn id="1341" presetID="1" presetClass="entr" presetSubtype="0" fill="hold" nodeType="clickEffect">
                                  <p:stCondLst>
                                    <p:cond delay="0"/>
                                  </p:stCondLst>
                                  <p:childTnLst>
                                    <p:set>
                                      <p:cBhvr>
                                        <p:cTn id="1342" dur="1" fill="hold">
                                          <p:stCondLst>
                                            <p:cond delay="0"/>
                                          </p:stCondLst>
                                        </p:cTn>
                                        <p:tgtEl>
                                          <p:spTgt spid="114">
                                            <p:txEl>
                                              <p:pRg st="1" end="1"/>
                                            </p:txEl>
                                          </p:spTgt>
                                        </p:tgtEl>
                                        <p:attrNameLst>
                                          <p:attrName>style.visibility</p:attrName>
                                        </p:attrNameLst>
                                      </p:cBhvr>
                                      <p:to>
                                        <p:strVal val="visible"/>
                                      </p:to>
                                    </p:set>
                                  </p:childTnLst>
                                </p:cTn>
                              </p:par>
                            </p:childTnLst>
                          </p:cTn>
                        </p:par>
                      </p:childTnLst>
                    </p:cTn>
                  </p:par>
                  <p:par>
                    <p:cTn id="1343" fill="hold">
                      <p:stCondLst>
                        <p:cond delay="indefinite"/>
                      </p:stCondLst>
                      <p:childTnLst>
                        <p:par>
                          <p:cTn id="1344" fill="hold">
                            <p:stCondLst>
                              <p:cond delay="0"/>
                            </p:stCondLst>
                            <p:childTnLst>
                              <p:par>
                                <p:cTn id="1345" presetID="1" presetClass="entr" presetSubtype="0" fill="hold" nodeType="clickEffect">
                                  <p:stCondLst>
                                    <p:cond delay="0"/>
                                  </p:stCondLst>
                                  <p:childTnLst>
                                    <p:set>
                                      <p:cBhvr>
                                        <p:cTn id="1346" dur="1" fill="hold">
                                          <p:stCondLst>
                                            <p:cond delay="0"/>
                                          </p:stCondLst>
                                        </p:cTn>
                                        <p:tgtEl>
                                          <p:spTgt spid="114">
                                            <p:txEl>
                                              <p:pRg st="2" end="2"/>
                                            </p:txEl>
                                          </p:spTgt>
                                        </p:tgtEl>
                                        <p:attrNameLst>
                                          <p:attrName>style.visibility</p:attrName>
                                        </p:attrNameLst>
                                      </p:cBhvr>
                                      <p:to>
                                        <p:strVal val="visible"/>
                                      </p:to>
                                    </p:set>
                                  </p:childTnLst>
                                </p:cTn>
                              </p:par>
                            </p:childTnLst>
                          </p:cTn>
                        </p:par>
                      </p:childTnLst>
                    </p:cTn>
                  </p:par>
                  <p:par>
                    <p:cTn id="1347" fill="hold">
                      <p:stCondLst>
                        <p:cond delay="indefinite"/>
                      </p:stCondLst>
                      <p:childTnLst>
                        <p:par>
                          <p:cTn id="1348" fill="hold">
                            <p:stCondLst>
                              <p:cond delay="0"/>
                            </p:stCondLst>
                            <p:childTnLst>
                              <p:par>
                                <p:cTn id="1349" presetID="1" presetClass="entr" presetSubtype="0" fill="hold" nodeType="clickEffect">
                                  <p:stCondLst>
                                    <p:cond delay="0"/>
                                  </p:stCondLst>
                                  <p:childTnLst>
                                    <p:set>
                                      <p:cBhvr>
                                        <p:cTn id="1350" dur="1" fill="hold">
                                          <p:stCondLst>
                                            <p:cond delay="0"/>
                                          </p:stCondLst>
                                        </p:cTn>
                                        <p:tgtEl>
                                          <p:spTgt spid="114">
                                            <p:txEl>
                                              <p:pRg st="3" end="3"/>
                                            </p:txEl>
                                          </p:spTgt>
                                        </p:tgtEl>
                                        <p:attrNameLst>
                                          <p:attrName>style.visibility</p:attrName>
                                        </p:attrNameLst>
                                      </p:cBhvr>
                                      <p:to>
                                        <p:strVal val="visible"/>
                                      </p:to>
                                    </p:set>
                                  </p:childTnLst>
                                </p:cTn>
                              </p:par>
                            </p:childTnLst>
                          </p:cTn>
                        </p:par>
                      </p:childTnLst>
                    </p:cTn>
                  </p:par>
                  <p:par>
                    <p:cTn id="1351" fill="hold">
                      <p:stCondLst>
                        <p:cond delay="indefinite"/>
                      </p:stCondLst>
                      <p:childTnLst>
                        <p:par>
                          <p:cTn id="1352" fill="hold">
                            <p:stCondLst>
                              <p:cond delay="0"/>
                            </p:stCondLst>
                            <p:childTnLst>
                              <p:par>
                                <p:cTn id="1353" presetID="1" presetClass="entr" presetSubtype="0" fill="hold" nodeType="clickEffect">
                                  <p:stCondLst>
                                    <p:cond delay="0"/>
                                  </p:stCondLst>
                                  <p:childTnLst>
                                    <p:set>
                                      <p:cBhvr>
                                        <p:cTn id="1354" dur="1" fill="hold">
                                          <p:stCondLst>
                                            <p:cond delay="0"/>
                                          </p:stCondLst>
                                        </p:cTn>
                                        <p:tgtEl>
                                          <p:spTgt spid="114">
                                            <p:txEl>
                                              <p:pRg st="4" end="4"/>
                                            </p:txEl>
                                          </p:spTgt>
                                        </p:tgtEl>
                                        <p:attrNameLst>
                                          <p:attrName>style.visibility</p:attrName>
                                        </p:attrNameLst>
                                      </p:cBhvr>
                                      <p:to>
                                        <p:strVal val="visible"/>
                                      </p:to>
                                    </p:set>
                                  </p:childTnLst>
                                </p:cTn>
                              </p:par>
                            </p:childTnLst>
                          </p:cTn>
                        </p:par>
                      </p:childTnLst>
                    </p:cTn>
                  </p:par>
                  <p:par>
                    <p:cTn id="1355" fill="hold">
                      <p:stCondLst>
                        <p:cond delay="indefinite"/>
                      </p:stCondLst>
                      <p:childTnLst>
                        <p:par>
                          <p:cTn id="1356" fill="hold">
                            <p:stCondLst>
                              <p:cond delay="0"/>
                            </p:stCondLst>
                            <p:childTnLst>
                              <p:par>
                                <p:cTn id="1357" presetID="1" presetClass="entr" presetSubtype="0" fill="hold" nodeType="clickEffect">
                                  <p:stCondLst>
                                    <p:cond delay="0"/>
                                  </p:stCondLst>
                                  <p:childTnLst>
                                    <p:set>
                                      <p:cBhvr>
                                        <p:cTn id="1358" dur="1" fill="hold">
                                          <p:stCondLst>
                                            <p:cond delay="0"/>
                                          </p:stCondLst>
                                        </p:cTn>
                                        <p:tgtEl>
                                          <p:spTgt spid="114">
                                            <p:txEl>
                                              <p:pRg st="5" end="5"/>
                                            </p:txEl>
                                          </p:spTgt>
                                        </p:tgtEl>
                                        <p:attrNameLst>
                                          <p:attrName>style.visibility</p:attrName>
                                        </p:attrNameLst>
                                      </p:cBhvr>
                                      <p:to>
                                        <p:strVal val="visible"/>
                                      </p:to>
                                    </p:set>
                                  </p:childTnLst>
                                </p:cTn>
                              </p:par>
                            </p:childTnLst>
                          </p:cTn>
                        </p:par>
                      </p:childTnLst>
                    </p:cTn>
                  </p:par>
                  <p:par>
                    <p:cTn id="1359" fill="hold">
                      <p:stCondLst>
                        <p:cond delay="indefinite"/>
                      </p:stCondLst>
                      <p:childTnLst>
                        <p:par>
                          <p:cTn id="1360" fill="hold">
                            <p:stCondLst>
                              <p:cond delay="0"/>
                            </p:stCondLst>
                            <p:childTnLst>
                              <p:par>
                                <p:cTn id="1361" presetID="1" presetClass="entr" presetSubtype="0" fill="hold" nodeType="clickEffect">
                                  <p:stCondLst>
                                    <p:cond delay="0"/>
                                  </p:stCondLst>
                                  <p:childTnLst>
                                    <p:set>
                                      <p:cBhvr>
                                        <p:cTn id="1362" dur="1" fill="hold">
                                          <p:stCondLst>
                                            <p:cond delay="0"/>
                                          </p:stCondLst>
                                        </p:cTn>
                                        <p:tgtEl>
                                          <p:spTgt spid="114">
                                            <p:txEl>
                                              <p:pRg st="6" end="6"/>
                                            </p:txEl>
                                          </p:spTgt>
                                        </p:tgtEl>
                                        <p:attrNameLst>
                                          <p:attrName>style.visibility</p:attrName>
                                        </p:attrNameLst>
                                      </p:cBhvr>
                                      <p:to>
                                        <p:strVal val="visible"/>
                                      </p:to>
                                    </p:set>
                                  </p:childTnLst>
                                </p:cTn>
                              </p:par>
                            </p:childTnLst>
                          </p:cTn>
                        </p:par>
                      </p:childTnLst>
                    </p:cTn>
                  </p:par>
                  <p:par>
                    <p:cTn id="1363" fill="hold">
                      <p:stCondLst>
                        <p:cond delay="indefinite"/>
                      </p:stCondLst>
                      <p:childTnLst>
                        <p:par>
                          <p:cTn id="1364" fill="hold">
                            <p:stCondLst>
                              <p:cond delay="0"/>
                            </p:stCondLst>
                            <p:childTnLst>
                              <p:par>
                                <p:cTn id="1365" presetID="1" presetClass="entr" presetSubtype="0" fill="hold" nodeType="clickEffect">
                                  <p:stCondLst>
                                    <p:cond delay="0"/>
                                  </p:stCondLst>
                                  <p:childTnLst>
                                    <p:set>
                                      <p:cBhvr>
                                        <p:cTn id="1366" dur="1" fill="hold">
                                          <p:stCondLst>
                                            <p:cond delay="0"/>
                                          </p:stCondLst>
                                        </p:cTn>
                                        <p:tgtEl>
                                          <p:spTgt spid="114">
                                            <p:txEl>
                                              <p:pRg st="7" end="7"/>
                                            </p:txEl>
                                          </p:spTgt>
                                        </p:tgtEl>
                                        <p:attrNameLst>
                                          <p:attrName>style.visibility</p:attrName>
                                        </p:attrNameLst>
                                      </p:cBhvr>
                                      <p:to>
                                        <p:strVal val="visible"/>
                                      </p:to>
                                    </p:set>
                                  </p:childTnLst>
                                </p:cTn>
                              </p:par>
                            </p:childTnLst>
                          </p:cTn>
                        </p:par>
                      </p:childTnLst>
                    </p:cTn>
                  </p:par>
                  <p:par>
                    <p:cTn id="1367" fill="hold">
                      <p:stCondLst>
                        <p:cond delay="indefinite"/>
                      </p:stCondLst>
                      <p:childTnLst>
                        <p:par>
                          <p:cTn id="1368" fill="hold">
                            <p:stCondLst>
                              <p:cond delay="0"/>
                            </p:stCondLst>
                            <p:childTnLst>
                              <p:par>
                                <p:cTn id="1369" presetID="1" presetClass="entr" presetSubtype="0" fill="hold" nodeType="clickEffect">
                                  <p:stCondLst>
                                    <p:cond delay="0"/>
                                  </p:stCondLst>
                                  <p:childTnLst>
                                    <p:set>
                                      <p:cBhvr>
                                        <p:cTn id="1370" dur="1" fill="hold">
                                          <p:stCondLst>
                                            <p:cond delay="0"/>
                                          </p:stCondLst>
                                        </p:cTn>
                                        <p:tgtEl>
                                          <p:spTgt spid="114">
                                            <p:txEl>
                                              <p:pRg st="8" end="8"/>
                                            </p:txEl>
                                          </p:spTgt>
                                        </p:tgtEl>
                                        <p:attrNameLst>
                                          <p:attrName>style.visibility</p:attrName>
                                        </p:attrNameLst>
                                      </p:cBhvr>
                                      <p:to>
                                        <p:strVal val="visible"/>
                                      </p:to>
                                    </p:set>
                                  </p:childTnLst>
                                </p:cTn>
                              </p:par>
                            </p:childTnLst>
                          </p:cTn>
                        </p:par>
                      </p:childTnLst>
                    </p:cTn>
                  </p:par>
                  <p:par>
                    <p:cTn id="1371" fill="hold">
                      <p:stCondLst>
                        <p:cond delay="indefinite"/>
                      </p:stCondLst>
                      <p:childTnLst>
                        <p:par>
                          <p:cTn id="1372" fill="hold">
                            <p:stCondLst>
                              <p:cond delay="0"/>
                            </p:stCondLst>
                            <p:childTnLst>
                              <p:par>
                                <p:cTn id="1373" presetID="1" presetClass="entr" presetSubtype="0" fill="hold" nodeType="clickEffect">
                                  <p:stCondLst>
                                    <p:cond delay="0"/>
                                  </p:stCondLst>
                                  <p:childTnLst>
                                    <p:set>
                                      <p:cBhvr>
                                        <p:cTn id="1374"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1375" fill="hold">
                      <p:stCondLst>
                        <p:cond delay="indefinite"/>
                      </p:stCondLst>
                      <p:childTnLst>
                        <p:par>
                          <p:cTn id="1376" fill="hold">
                            <p:stCondLst>
                              <p:cond delay="0"/>
                            </p:stCondLst>
                            <p:childTnLst>
                              <p:par>
                                <p:cTn id="1377" presetID="1" presetClass="entr" presetSubtype="0" fill="hold" nodeType="clickEffect">
                                  <p:stCondLst>
                                    <p:cond delay="0"/>
                                  </p:stCondLst>
                                  <p:childTnLst>
                                    <p:set>
                                      <p:cBhvr>
                                        <p:cTn id="1378"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1379" fill="hold">
                      <p:stCondLst>
                        <p:cond delay="indefinite"/>
                      </p:stCondLst>
                      <p:childTnLst>
                        <p:par>
                          <p:cTn id="1380" fill="hold">
                            <p:stCondLst>
                              <p:cond delay="0"/>
                            </p:stCondLst>
                            <p:childTnLst>
                              <p:par>
                                <p:cTn id="1381" presetID="1" presetClass="entr" presetSubtype="0" fill="hold" nodeType="clickEffect">
                                  <p:stCondLst>
                                    <p:cond delay="0"/>
                                  </p:stCondLst>
                                  <p:childTnLst>
                                    <p:set>
                                      <p:cBhvr>
                                        <p:cTn id="1382" dur="1" fill="hold">
                                          <p:stCondLst>
                                            <p:cond delay="0"/>
                                          </p:stCondLst>
                                        </p:cTn>
                                        <p:tgtEl>
                                          <p:spTgt spid="115">
                                            <p:txEl>
                                              <p:pRg st="2" end="2"/>
                                            </p:txEl>
                                          </p:spTgt>
                                        </p:tgtEl>
                                        <p:attrNameLst>
                                          <p:attrName>style.visibility</p:attrName>
                                        </p:attrNameLst>
                                      </p:cBhvr>
                                      <p:to>
                                        <p:strVal val="visible"/>
                                      </p:to>
                                    </p:set>
                                  </p:childTnLst>
                                </p:cTn>
                              </p:par>
                            </p:childTnLst>
                          </p:cTn>
                        </p:par>
                      </p:childTnLst>
                    </p:cTn>
                  </p:par>
                  <p:par>
                    <p:cTn id="1383" fill="hold">
                      <p:stCondLst>
                        <p:cond delay="indefinite"/>
                      </p:stCondLst>
                      <p:childTnLst>
                        <p:par>
                          <p:cTn id="1384" fill="hold">
                            <p:stCondLst>
                              <p:cond delay="0"/>
                            </p:stCondLst>
                            <p:childTnLst>
                              <p:par>
                                <p:cTn id="1385" presetID="1" presetClass="entr" presetSubtype="0" fill="hold" nodeType="clickEffect">
                                  <p:stCondLst>
                                    <p:cond delay="0"/>
                                  </p:stCondLst>
                                  <p:childTnLst>
                                    <p:set>
                                      <p:cBhvr>
                                        <p:cTn id="1386" dur="1" fill="hold">
                                          <p:stCondLst>
                                            <p:cond delay="0"/>
                                          </p:stCondLst>
                                        </p:cTn>
                                        <p:tgtEl>
                                          <p:spTgt spid="115">
                                            <p:txEl>
                                              <p:pRg st="3" end="3"/>
                                            </p:txEl>
                                          </p:spTgt>
                                        </p:tgtEl>
                                        <p:attrNameLst>
                                          <p:attrName>style.visibility</p:attrName>
                                        </p:attrNameLst>
                                      </p:cBhvr>
                                      <p:to>
                                        <p:strVal val="visible"/>
                                      </p:to>
                                    </p:set>
                                  </p:childTnLst>
                                </p:cTn>
                              </p:par>
                            </p:childTnLst>
                          </p:cTn>
                        </p:par>
                      </p:childTnLst>
                    </p:cTn>
                  </p:par>
                  <p:par>
                    <p:cTn id="1387" fill="hold">
                      <p:stCondLst>
                        <p:cond delay="indefinite"/>
                      </p:stCondLst>
                      <p:childTnLst>
                        <p:par>
                          <p:cTn id="1388" fill="hold">
                            <p:stCondLst>
                              <p:cond delay="0"/>
                            </p:stCondLst>
                            <p:childTnLst>
                              <p:par>
                                <p:cTn id="1389" presetID="1" presetClass="entr" presetSubtype="0" fill="hold" nodeType="clickEffect">
                                  <p:stCondLst>
                                    <p:cond delay="0"/>
                                  </p:stCondLst>
                                  <p:childTnLst>
                                    <p:set>
                                      <p:cBhvr>
                                        <p:cTn id="1390" dur="1" fill="hold">
                                          <p:stCondLst>
                                            <p:cond delay="0"/>
                                          </p:stCondLst>
                                        </p:cTn>
                                        <p:tgtEl>
                                          <p:spTgt spid="115">
                                            <p:txEl>
                                              <p:pRg st="4" end="4"/>
                                            </p:txEl>
                                          </p:spTgt>
                                        </p:tgtEl>
                                        <p:attrNameLst>
                                          <p:attrName>style.visibility</p:attrName>
                                        </p:attrNameLst>
                                      </p:cBhvr>
                                      <p:to>
                                        <p:strVal val="visible"/>
                                      </p:to>
                                    </p:set>
                                  </p:childTnLst>
                                </p:cTn>
                              </p:par>
                            </p:childTnLst>
                          </p:cTn>
                        </p:par>
                      </p:childTnLst>
                    </p:cTn>
                  </p:par>
                  <p:par>
                    <p:cTn id="1391" fill="hold">
                      <p:stCondLst>
                        <p:cond delay="indefinite"/>
                      </p:stCondLst>
                      <p:childTnLst>
                        <p:par>
                          <p:cTn id="1392" fill="hold">
                            <p:stCondLst>
                              <p:cond delay="0"/>
                            </p:stCondLst>
                            <p:childTnLst>
                              <p:par>
                                <p:cTn id="1393" presetID="1" presetClass="entr" presetSubtype="0" fill="hold" nodeType="clickEffect">
                                  <p:stCondLst>
                                    <p:cond delay="0"/>
                                  </p:stCondLst>
                                  <p:childTnLst>
                                    <p:set>
                                      <p:cBhvr>
                                        <p:cTn id="1394" dur="1" fill="hold">
                                          <p:stCondLst>
                                            <p:cond delay="0"/>
                                          </p:stCondLst>
                                        </p:cTn>
                                        <p:tgtEl>
                                          <p:spTgt spid="115">
                                            <p:txEl>
                                              <p:pRg st="5" end="5"/>
                                            </p:txEl>
                                          </p:spTgt>
                                        </p:tgtEl>
                                        <p:attrNameLst>
                                          <p:attrName>style.visibility</p:attrName>
                                        </p:attrNameLst>
                                      </p:cBhvr>
                                      <p:to>
                                        <p:strVal val="visible"/>
                                      </p:to>
                                    </p:set>
                                  </p:childTnLst>
                                </p:cTn>
                              </p:par>
                            </p:childTnLst>
                          </p:cTn>
                        </p:par>
                      </p:childTnLst>
                    </p:cTn>
                  </p:par>
                  <p:par>
                    <p:cTn id="1395" fill="hold">
                      <p:stCondLst>
                        <p:cond delay="indefinite"/>
                      </p:stCondLst>
                      <p:childTnLst>
                        <p:par>
                          <p:cTn id="1396" fill="hold">
                            <p:stCondLst>
                              <p:cond delay="0"/>
                            </p:stCondLst>
                            <p:childTnLst>
                              <p:par>
                                <p:cTn id="1397" presetID="1" presetClass="entr" presetSubtype="0" fill="hold" nodeType="clickEffect">
                                  <p:stCondLst>
                                    <p:cond delay="0"/>
                                  </p:stCondLst>
                                  <p:childTnLst>
                                    <p:set>
                                      <p:cBhvr>
                                        <p:cTn id="1398" dur="1" fill="hold">
                                          <p:stCondLst>
                                            <p:cond delay="0"/>
                                          </p:stCondLst>
                                        </p:cTn>
                                        <p:tgtEl>
                                          <p:spTgt spid="115">
                                            <p:txEl>
                                              <p:pRg st="6" end="6"/>
                                            </p:txEl>
                                          </p:spTgt>
                                        </p:tgtEl>
                                        <p:attrNameLst>
                                          <p:attrName>style.visibility</p:attrName>
                                        </p:attrNameLst>
                                      </p:cBhvr>
                                      <p:to>
                                        <p:strVal val="visible"/>
                                      </p:to>
                                    </p:set>
                                  </p:childTnLst>
                                </p:cTn>
                              </p:par>
                            </p:childTnLst>
                          </p:cTn>
                        </p:par>
                      </p:childTnLst>
                    </p:cTn>
                  </p:par>
                  <p:par>
                    <p:cTn id="1399" fill="hold">
                      <p:stCondLst>
                        <p:cond delay="indefinite"/>
                      </p:stCondLst>
                      <p:childTnLst>
                        <p:par>
                          <p:cTn id="1400" fill="hold">
                            <p:stCondLst>
                              <p:cond delay="0"/>
                            </p:stCondLst>
                            <p:childTnLst>
                              <p:par>
                                <p:cTn id="1401" presetID="1" presetClass="entr" presetSubtype="0" fill="hold" nodeType="clickEffect">
                                  <p:stCondLst>
                                    <p:cond delay="0"/>
                                  </p:stCondLst>
                                  <p:childTnLst>
                                    <p:set>
                                      <p:cBhvr>
                                        <p:cTn id="1402" dur="1" fill="hold">
                                          <p:stCondLst>
                                            <p:cond delay="0"/>
                                          </p:stCondLst>
                                        </p:cTn>
                                        <p:tgtEl>
                                          <p:spTgt spid="115">
                                            <p:txEl>
                                              <p:pRg st="7" end="7"/>
                                            </p:txEl>
                                          </p:spTgt>
                                        </p:tgtEl>
                                        <p:attrNameLst>
                                          <p:attrName>style.visibility</p:attrName>
                                        </p:attrNameLst>
                                      </p:cBhvr>
                                      <p:to>
                                        <p:strVal val="visible"/>
                                      </p:to>
                                    </p:set>
                                  </p:childTnLst>
                                </p:cTn>
                              </p:par>
                            </p:childTnLst>
                          </p:cTn>
                        </p:par>
                      </p:childTnLst>
                    </p:cTn>
                  </p:par>
                  <p:par>
                    <p:cTn id="1403" fill="hold">
                      <p:stCondLst>
                        <p:cond delay="indefinite"/>
                      </p:stCondLst>
                      <p:childTnLst>
                        <p:par>
                          <p:cTn id="1404" fill="hold">
                            <p:stCondLst>
                              <p:cond delay="0"/>
                            </p:stCondLst>
                            <p:childTnLst>
                              <p:par>
                                <p:cTn id="1405" presetID="1" presetClass="entr" presetSubtype="0" fill="hold" nodeType="clickEffect">
                                  <p:stCondLst>
                                    <p:cond delay="0"/>
                                  </p:stCondLst>
                                  <p:childTnLst>
                                    <p:set>
                                      <p:cBhvr>
                                        <p:cTn id="1406" dur="1" fill="hold">
                                          <p:stCondLst>
                                            <p:cond delay="0"/>
                                          </p:stCondLst>
                                        </p:cTn>
                                        <p:tgtEl>
                                          <p:spTgt spid="115">
                                            <p:txEl>
                                              <p:pRg st="8" end="8"/>
                                            </p:txEl>
                                          </p:spTgt>
                                        </p:tgtEl>
                                        <p:attrNameLst>
                                          <p:attrName>style.visibility</p:attrName>
                                        </p:attrNameLst>
                                      </p:cBhvr>
                                      <p:to>
                                        <p:strVal val="visible"/>
                                      </p:to>
                                    </p:set>
                                  </p:childTnLst>
                                </p:cTn>
                              </p:par>
                            </p:childTnLst>
                          </p:cTn>
                        </p:par>
                      </p:childTnLst>
                    </p:cTn>
                  </p:par>
                  <p:par>
                    <p:cTn id="1407" fill="hold">
                      <p:stCondLst>
                        <p:cond delay="indefinite"/>
                      </p:stCondLst>
                      <p:childTnLst>
                        <p:par>
                          <p:cTn id="1408" fill="hold">
                            <p:stCondLst>
                              <p:cond delay="0"/>
                            </p:stCondLst>
                            <p:childTnLst>
                              <p:par>
                                <p:cTn id="1409" presetID="1" presetClass="entr" presetSubtype="0" fill="hold" nodeType="clickEffect">
                                  <p:stCondLst>
                                    <p:cond delay="0"/>
                                  </p:stCondLst>
                                  <p:childTnLst>
                                    <p:set>
                                      <p:cBhvr>
                                        <p:cTn id="1410"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1411" fill="hold">
                      <p:stCondLst>
                        <p:cond delay="indefinite"/>
                      </p:stCondLst>
                      <p:childTnLst>
                        <p:par>
                          <p:cTn id="1412" fill="hold">
                            <p:stCondLst>
                              <p:cond delay="0"/>
                            </p:stCondLst>
                            <p:childTnLst>
                              <p:par>
                                <p:cTn id="1413" presetID="1" presetClass="entr" presetSubtype="0" fill="hold" nodeType="clickEffect">
                                  <p:stCondLst>
                                    <p:cond delay="0"/>
                                  </p:stCondLst>
                                  <p:childTnLst>
                                    <p:set>
                                      <p:cBhvr>
                                        <p:cTn id="1414" dur="1" fill="hold">
                                          <p:stCondLst>
                                            <p:cond delay="0"/>
                                          </p:stCondLst>
                                        </p:cTn>
                                        <p:tgtEl>
                                          <p:spTgt spid="116">
                                            <p:txEl>
                                              <p:pRg st="1" end="1"/>
                                            </p:txEl>
                                          </p:spTgt>
                                        </p:tgtEl>
                                        <p:attrNameLst>
                                          <p:attrName>style.visibility</p:attrName>
                                        </p:attrNameLst>
                                      </p:cBhvr>
                                      <p:to>
                                        <p:strVal val="visible"/>
                                      </p:to>
                                    </p:set>
                                  </p:childTnLst>
                                </p:cTn>
                              </p:par>
                            </p:childTnLst>
                          </p:cTn>
                        </p:par>
                      </p:childTnLst>
                    </p:cTn>
                  </p:par>
                  <p:par>
                    <p:cTn id="1415" fill="hold">
                      <p:stCondLst>
                        <p:cond delay="indefinite"/>
                      </p:stCondLst>
                      <p:childTnLst>
                        <p:par>
                          <p:cTn id="1416" fill="hold">
                            <p:stCondLst>
                              <p:cond delay="0"/>
                            </p:stCondLst>
                            <p:childTnLst>
                              <p:par>
                                <p:cTn id="1417" presetID="1" presetClass="entr" presetSubtype="0" fill="hold" nodeType="clickEffect">
                                  <p:stCondLst>
                                    <p:cond delay="0"/>
                                  </p:stCondLst>
                                  <p:childTnLst>
                                    <p:set>
                                      <p:cBhvr>
                                        <p:cTn id="1418" dur="1" fill="hold">
                                          <p:stCondLst>
                                            <p:cond delay="0"/>
                                          </p:stCondLst>
                                        </p:cTn>
                                        <p:tgtEl>
                                          <p:spTgt spid="116">
                                            <p:txEl>
                                              <p:pRg st="2" end="2"/>
                                            </p:txEl>
                                          </p:spTgt>
                                        </p:tgtEl>
                                        <p:attrNameLst>
                                          <p:attrName>style.visibility</p:attrName>
                                        </p:attrNameLst>
                                      </p:cBhvr>
                                      <p:to>
                                        <p:strVal val="visible"/>
                                      </p:to>
                                    </p:set>
                                  </p:childTnLst>
                                </p:cTn>
                              </p:par>
                            </p:childTnLst>
                          </p:cTn>
                        </p:par>
                      </p:childTnLst>
                    </p:cTn>
                  </p:par>
                  <p:par>
                    <p:cTn id="1419" fill="hold">
                      <p:stCondLst>
                        <p:cond delay="indefinite"/>
                      </p:stCondLst>
                      <p:childTnLst>
                        <p:par>
                          <p:cTn id="1420" fill="hold">
                            <p:stCondLst>
                              <p:cond delay="0"/>
                            </p:stCondLst>
                            <p:childTnLst>
                              <p:par>
                                <p:cTn id="1421" presetID="1" presetClass="entr" presetSubtype="0" fill="hold" nodeType="clickEffect">
                                  <p:stCondLst>
                                    <p:cond delay="0"/>
                                  </p:stCondLst>
                                  <p:childTnLst>
                                    <p:set>
                                      <p:cBhvr>
                                        <p:cTn id="1422" dur="1" fill="hold">
                                          <p:stCondLst>
                                            <p:cond delay="0"/>
                                          </p:stCondLst>
                                        </p:cTn>
                                        <p:tgtEl>
                                          <p:spTgt spid="116">
                                            <p:txEl>
                                              <p:pRg st="3" end="3"/>
                                            </p:txEl>
                                          </p:spTgt>
                                        </p:tgtEl>
                                        <p:attrNameLst>
                                          <p:attrName>style.visibility</p:attrName>
                                        </p:attrNameLst>
                                      </p:cBhvr>
                                      <p:to>
                                        <p:strVal val="visible"/>
                                      </p:to>
                                    </p:set>
                                  </p:childTnLst>
                                </p:cTn>
                              </p:par>
                            </p:childTnLst>
                          </p:cTn>
                        </p:par>
                      </p:childTnLst>
                    </p:cTn>
                  </p:par>
                  <p:par>
                    <p:cTn id="1423" fill="hold">
                      <p:stCondLst>
                        <p:cond delay="indefinite"/>
                      </p:stCondLst>
                      <p:childTnLst>
                        <p:par>
                          <p:cTn id="1424" fill="hold">
                            <p:stCondLst>
                              <p:cond delay="0"/>
                            </p:stCondLst>
                            <p:childTnLst>
                              <p:par>
                                <p:cTn id="1425" presetID="1" presetClass="entr" presetSubtype="0" fill="hold" nodeType="clickEffect">
                                  <p:stCondLst>
                                    <p:cond delay="0"/>
                                  </p:stCondLst>
                                  <p:childTnLst>
                                    <p:set>
                                      <p:cBhvr>
                                        <p:cTn id="1426" dur="1" fill="hold">
                                          <p:stCondLst>
                                            <p:cond delay="0"/>
                                          </p:stCondLst>
                                        </p:cTn>
                                        <p:tgtEl>
                                          <p:spTgt spid="116">
                                            <p:txEl>
                                              <p:pRg st="4" end="4"/>
                                            </p:txEl>
                                          </p:spTgt>
                                        </p:tgtEl>
                                        <p:attrNameLst>
                                          <p:attrName>style.visibility</p:attrName>
                                        </p:attrNameLst>
                                      </p:cBhvr>
                                      <p:to>
                                        <p:strVal val="visible"/>
                                      </p:to>
                                    </p:set>
                                  </p:childTnLst>
                                </p:cTn>
                              </p:par>
                            </p:childTnLst>
                          </p:cTn>
                        </p:par>
                      </p:childTnLst>
                    </p:cTn>
                  </p:par>
                  <p:par>
                    <p:cTn id="1427" fill="hold">
                      <p:stCondLst>
                        <p:cond delay="indefinite"/>
                      </p:stCondLst>
                      <p:childTnLst>
                        <p:par>
                          <p:cTn id="1428" fill="hold">
                            <p:stCondLst>
                              <p:cond delay="0"/>
                            </p:stCondLst>
                            <p:childTnLst>
                              <p:par>
                                <p:cTn id="1429" presetID="1" presetClass="entr" presetSubtype="0" fill="hold" nodeType="clickEffect">
                                  <p:stCondLst>
                                    <p:cond delay="0"/>
                                  </p:stCondLst>
                                  <p:childTnLst>
                                    <p:set>
                                      <p:cBhvr>
                                        <p:cTn id="1430" dur="1" fill="hold">
                                          <p:stCondLst>
                                            <p:cond delay="0"/>
                                          </p:stCondLst>
                                        </p:cTn>
                                        <p:tgtEl>
                                          <p:spTgt spid="116">
                                            <p:txEl>
                                              <p:pRg st="5" end="5"/>
                                            </p:txEl>
                                          </p:spTgt>
                                        </p:tgtEl>
                                        <p:attrNameLst>
                                          <p:attrName>style.visibility</p:attrName>
                                        </p:attrNameLst>
                                      </p:cBhvr>
                                      <p:to>
                                        <p:strVal val="visible"/>
                                      </p:to>
                                    </p:set>
                                  </p:childTnLst>
                                </p:cTn>
                              </p:par>
                            </p:childTnLst>
                          </p:cTn>
                        </p:par>
                      </p:childTnLst>
                    </p:cTn>
                  </p:par>
                  <p:par>
                    <p:cTn id="1431" fill="hold">
                      <p:stCondLst>
                        <p:cond delay="indefinite"/>
                      </p:stCondLst>
                      <p:childTnLst>
                        <p:par>
                          <p:cTn id="1432" fill="hold">
                            <p:stCondLst>
                              <p:cond delay="0"/>
                            </p:stCondLst>
                            <p:childTnLst>
                              <p:par>
                                <p:cTn id="1433" presetID="1" presetClass="entr" presetSubtype="0" fill="hold" nodeType="clickEffect">
                                  <p:stCondLst>
                                    <p:cond delay="0"/>
                                  </p:stCondLst>
                                  <p:childTnLst>
                                    <p:set>
                                      <p:cBhvr>
                                        <p:cTn id="1434" dur="1" fill="hold">
                                          <p:stCondLst>
                                            <p:cond delay="0"/>
                                          </p:stCondLst>
                                        </p:cTn>
                                        <p:tgtEl>
                                          <p:spTgt spid="116">
                                            <p:txEl>
                                              <p:pRg st="6" end="6"/>
                                            </p:txEl>
                                          </p:spTgt>
                                        </p:tgtEl>
                                        <p:attrNameLst>
                                          <p:attrName>style.visibility</p:attrName>
                                        </p:attrNameLst>
                                      </p:cBhvr>
                                      <p:to>
                                        <p:strVal val="visible"/>
                                      </p:to>
                                    </p:set>
                                  </p:childTnLst>
                                </p:cTn>
                              </p:par>
                            </p:childTnLst>
                          </p:cTn>
                        </p:par>
                      </p:childTnLst>
                    </p:cTn>
                  </p:par>
                  <p:par>
                    <p:cTn id="1435" fill="hold">
                      <p:stCondLst>
                        <p:cond delay="indefinite"/>
                      </p:stCondLst>
                      <p:childTnLst>
                        <p:par>
                          <p:cTn id="1436" fill="hold">
                            <p:stCondLst>
                              <p:cond delay="0"/>
                            </p:stCondLst>
                            <p:childTnLst>
                              <p:par>
                                <p:cTn id="1437" presetID="1" presetClass="entr" presetSubtype="0" fill="hold" nodeType="clickEffect">
                                  <p:stCondLst>
                                    <p:cond delay="0"/>
                                  </p:stCondLst>
                                  <p:childTnLst>
                                    <p:set>
                                      <p:cBhvr>
                                        <p:cTn id="1438" dur="1" fill="hold">
                                          <p:stCondLst>
                                            <p:cond delay="0"/>
                                          </p:stCondLst>
                                        </p:cTn>
                                        <p:tgtEl>
                                          <p:spTgt spid="116">
                                            <p:txEl>
                                              <p:pRg st="7" end="7"/>
                                            </p:txEl>
                                          </p:spTgt>
                                        </p:tgtEl>
                                        <p:attrNameLst>
                                          <p:attrName>style.visibility</p:attrName>
                                        </p:attrNameLst>
                                      </p:cBhvr>
                                      <p:to>
                                        <p:strVal val="visible"/>
                                      </p:to>
                                    </p:set>
                                  </p:childTnLst>
                                </p:cTn>
                              </p:par>
                            </p:childTnLst>
                          </p:cTn>
                        </p:par>
                      </p:childTnLst>
                    </p:cTn>
                  </p:par>
                  <p:par>
                    <p:cTn id="1439" fill="hold">
                      <p:stCondLst>
                        <p:cond delay="indefinite"/>
                      </p:stCondLst>
                      <p:childTnLst>
                        <p:par>
                          <p:cTn id="1440" fill="hold">
                            <p:stCondLst>
                              <p:cond delay="0"/>
                            </p:stCondLst>
                            <p:childTnLst>
                              <p:par>
                                <p:cTn id="1441" presetID="1" presetClass="entr" presetSubtype="0" fill="hold" nodeType="clickEffect">
                                  <p:stCondLst>
                                    <p:cond delay="0"/>
                                  </p:stCondLst>
                                  <p:childTnLst>
                                    <p:set>
                                      <p:cBhvr>
                                        <p:cTn id="1442" dur="1" fill="hold">
                                          <p:stCondLst>
                                            <p:cond delay="0"/>
                                          </p:stCondLst>
                                        </p:cTn>
                                        <p:tgtEl>
                                          <p:spTgt spid="116">
                                            <p:txEl>
                                              <p:pRg st="8" end="8"/>
                                            </p:txEl>
                                          </p:spTgt>
                                        </p:tgtEl>
                                        <p:attrNameLst>
                                          <p:attrName>style.visibility</p:attrName>
                                        </p:attrNameLst>
                                      </p:cBhvr>
                                      <p:to>
                                        <p:strVal val="visible"/>
                                      </p:to>
                                    </p:set>
                                  </p:childTnLst>
                                </p:cTn>
                              </p:par>
                            </p:childTnLst>
                          </p:cTn>
                        </p:par>
                      </p:childTnLst>
                    </p:cTn>
                  </p:par>
                  <p:par>
                    <p:cTn id="1443" fill="hold">
                      <p:stCondLst>
                        <p:cond delay="indefinite"/>
                      </p:stCondLst>
                      <p:childTnLst>
                        <p:par>
                          <p:cTn id="1444" fill="hold">
                            <p:stCondLst>
                              <p:cond delay="0"/>
                            </p:stCondLst>
                            <p:childTnLst>
                              <p:par>
                                <p:cTn id="1445" presetID="1" presetClass="entr" presetSubtype="0" fill="hold" nodeType="clickEffect">
                                  <p:stCondLst>
                                    <p:cond delay="0"/>
                                  </p:stCondLst>
                                  <p:childTnLst>
                                    <p:set>
                                      <p:cBhvr>
                                        <p:cTn id="1446" dur="1" fill="hold">
                                          <p:stCondLst>
                                            <p:cond delay="0"/>
                                          </p:stCondLst>
                                        </p:cTn>
                                        <p:tgtEl>
                                          <p:spTgt spid="117">
                                            <p:txEl>
                                              <p:pRg st="0" end="0"/>
                                            </p:txEl>
                                          </p:spTgt>
                                        </p:tgtEl>
                                        <p:attrNameLst>
                                          <p:attrName>style.visibility</p:attrName>
                                        </p:attrNameLst>
                                      </p:cBhvr>
                                      <p:to>
                                        <p:strVal val="visible"/>
                                      </p:to>
                                    </p:set>
                                  </p:childTnLst>
                                </p:cTn>
                              </p:par>
                            </p:childTnLst>
                          </p:cTn>
                        </p:par>
                      </p:childTnLst>
                    </p:cTn>
                  </p:par>
                  <p:par>
                    <p:cTn id="1447" fill="hold">
                      <p:stCondLst>
                        <p:cond delay="indefinite"/>
                      </p:stCondLst>
                      <p:childTnLst>
                        <p:par>
                          <p:cTn id="1448" fill="hold">
                            <p:stCondLst>
                              <p:cond delay="0"/>
                            </p:stCondLst>
                            <p:childTnLst>
                              <p:par>
                                <p:cTn id="1449" presetID="1" presetClass="entr" presetSubtype="0" fill="hold" nodeType="clickEffect">
                                  <p:stCondLst>
                                    <p:cond delay="0"/>
                                  </p:stCondLst>
                                  <p:childTnLst>
                                    <p:set>
                                      <p:cBhvr>
                                        <p:cTn id="1450" dur="1" fill="hold">
                                          <p:stCondLst>
                                            <p:cond delay="0"/>
                                          </p:stCondLst>
                                        </p:cTn>
                                        <p:tgtEl>
                                          <p:spTgt spid="117">
                                            <p:txEl>
                                              <p:pRg st="1" end="1"/>
                                            </p:txEl>
                                          </p:spTgt>
                                        </p:tgtEl>
                                        <p:attrNameLst>
                                          <p:attrName>style.visibility</p:attrName>
                                        </p:attrNameLst>
                                      </p:cBhvr>
                                      <p:to>
                                        <p:strVal val="visible"/>
                                      </p:to>
                                    </p:set>
                                  </p:childTnLst>
                                </p:cTn>
                              </p:par>
                            </p:childTnLst>
                          </p:cTn>
                        </p:par>
                      </p:childTnLst>
                    </p:cTn>
                  </p:par>
                  <p:par>
                    <p:cTn id="1451" fill="hold">
                      <p:stCondLst>
                        <p:cond delay="indefinite"/>
                      </p:stCondLst>
                      <p:childTnLst>
                        <p:par>
                          <p:cTn id="1452" fill="hold">
                            <p:stCondLst>
                              <p:cond delay="0"/>
                            </p:stCondLst>
                            <p:childTnLst>
                              <p:par>
                                <p:cTn id="1453" presetID="1" presetClass="entr" presetSubtype="0" fill="hold" nodeType="clickEffect">
                                  <p:stCondLst>
                                    <p:cond delay="0"/>
                                  </p:stCondLst>
                                  <p:childTnLst>
                                    <p:set>
                                      <p:cBhvr>
                                        <p:cTn id="1454" dur="1" fill="hold">
                                          <p:stCondLst>
                                            <p:cond delay="0"/>
                                          </p:stCondLst>
                                        </p:cTn>
                                        <p:tgtEl>
                                          <p:spTgt spid="117">
                                            <p:txEl>
                                              <p:pRg st="2" end="2"/>
                                            </p:txEl>
                                          </p:spTgt>
                                        </p:tgtEl>
                                        <p:attrNameLst>
                                          <p:attrName>style.visibility</p:attrName>
                                        </p:attrNameLst>
                                      </p:cBhvr>
                                      <p:to>
                                        <p:strVal val="visible"/>
                                      </p:to>
                                    </p:set>
                                  </p:childTnLst>
                                </p:cTn>
                              </p:par>
                            </p:childTnLst>
                          </p:cTn>
                        </p:par>
                      </p:childTnLst>
                    </p:cTn>
                  </p:par>
                  <p:par>
                    <p:cTn id="1455" fill="hold">
                      <p:stCondLst>
                        <p:cond delay="indefinite"/>
                      </p:stCondLst>
                      <p:childTnLst>
                        <p:par>
                          <p:cTn id="1456" fill="hold">
                            <p:stCondLst>
                              <p:cond delay="0"/>
                            </p:stCondLst>
                            <p:childTnLst>
                              <p:par>
                                <p:cTn id="1457" presetID="1" presetClass="entr" presetSubtype="0" fill="hold" nodeType="clickEffect">
                                  <p:stCondLst>
                                    <p:cond delay="0"/>
                                  </p:stCondLst>
                                  <p:childTnLst>
                                    <p:set>
                                      <p:cBhvr>
                                        <p:cTn id="1458" dur="1" fill="hold">
                                          <p:stCondLst>
                                            <p:cond delay="0"/>
                                          </p:stCondLst>
                                        </p:cTn>
                                        <p:tgtEl>
                                          <p:spTgt spid="117">
                                            <p:txEl>
                                              <p:pRg st="3" end="3"/>
                                            </p:txEl>
                                          </p:spTgt>
                                        </p:tgtEl>
                                        <p:attrNameLst>
                                          <p:attrName>style.visibility</p:attrName>
                                        </p:attrNameLst>
                                      </p:cBhvr>
                                      <p:to>
                                        <p:strVal val="visible"/>
                                      </p:to>
                                    </p:set>
                                  </p:childTnLst>
                                </p:cTn>
                              </p:par>
                            </p:childTnLst>
                          </p:cTn>
                        </p:par>
                      </p:childTnLst>
                    </p:cTn>
                  </p:par>
                  <p:par>
                    <p:cTn id="1459" fill="hold">
                      <p:stCondLst>
                        <p:cond delay="indefinite"/>
                      </p:stCondLst>
                      <p:childTnLst>
                        <p:par>
                          <p:cTn id="1460" fill="hold">
                            <p:stCondLst>
                              <p:cond delay="0"/>
                            </p:stCondLst>
                            <p:childTnLst>
                              <p:par>
                                <p:cTn id="1461" presetID="1" presetClass="entr" presetSubtype="0" fill="hold" nodeType="clickEffect">
                                  <p:stCondLst>
                                    <p:cond delay="0"/>
                                  </p:stCondLst>
                                  <p:childTnLst>
                                    <p:set>
                                      <p:cBhvr>
                                        <p:cTn id="1462" dur="1" fill="hold">
                                          <p:stCondLst>
                                            <p:cond delay="0"/>
                                          </p:stCondLst>
                                        </p:cTn>
                                        <p:tgtEl>
                                          <p:spTgt spid="117">
                                            <p:txEl>
                                              <p:pRg st="4" end="4"/>
                                            </p:txEl>
                                          </p:spTgt>
                                        </p:tgtEl>
                                        <p:attrNameLst>
                                          <p:attrName>style.visibility</p:attrName>
                                        </p:attrNameLst>
                                      </p:cBhvr>
                                      <p:to>
                                        <p:strVal val="visible"/>
                                      </p:to>
                                    </p:set>
                                  </p:childTnLst>
                                </p:cTn>
                              </p:par>
                            </p:childTnLst>
                          </p:cTn>
                        </p:par>
                      </p:childTnLst>
                    </p:cTn>
                  </p:par>
                  <p:par>
                    <p:cTn id="1463" fill="hold">
                      <p:stCondLst>
                        <p:cond delay="indefinite"/>
                      </p:stCondLst>
                      <p:childTnLst>
                        <p:par>
                          <p:cTn id="1464" fill="hold">
                            <p:stCondLst>
                              <p:cond delay="0"/>
                            </p:stCondLst>
                            <p:childTnLst>
                              <p:par>
                                <p:cTn id="1465" presetID="1" presetClass="entr" presetSubtype="0" fill="hold" nodeType="clickEffect">
                                  <p:stCondLst>
                                    <p:cond delay="0"/>
                                  </p:stCondLst>
                                  <p:childTnLst>
                                    <p:set>
                                      <p:cBhvr>
                                        <p:cTn id="1466" dur="1" fill="hold">
                                          <p:stCondLst>
                                            <p:cond delay="0"/>
                                          </p:stCondLst>
                                        </p:cTn>
                                        <p:tgtEl>
                                          <p:spTgt spid="117">
                                            <p:txEl>
                                              <p:pRg st="5" end="5"/>
                                            </p:txEl>
                                          </p:spTgt>
                                        </p:tgtEl>
                                        <p:attrNameLst>
                                          <p:attrName>style.visibility</p:attrName>
                                        </p:attrNameLst>
                                      </p:cBhvr>
                                      <p:to>
                                        <p:strVal val="visible"/>
                                      </p:to>
                                    </p:set>
                                  </p:childTnLst>
                                </p:cTn>
                              </p:par>
                            </p:childTnLst>
                          </p:cTn>
                        </p:par>
                      </p:childTnLst>
                    </p:cTn>
                  </p:par>
                  <p:par>
                    <p:cTn id="1467" fill="hold">
                      <p:stCondLst>
                        <p:cond delay="indefinite"/>
                      </p:stCondLst>
                      <p:childTnLst>
                        <p:par>
                          <p:cTn id="1468" fill="hold">
                            <p:stCondLst>
                              <p:cond delay="0"/>
                            </p:stCondLst>
                            <p:childTnLst>
                              <p:par>
                                <p:cTn id="1469" presetID="1" presetClass="entr" presetSubtype="0" fill="hold" nodeType="clickEffect">
                                  <p:stCondLst>
                                    <p:cond delay="0"/>
                                  </p:stCondLst>
                                  <p:childTnLst>
                                    <p:set>
                                      <p:cBhvr>
                                        <p:cTn id="1470" dur="1" fill="hold">
                                          <p:stCondLst>
                                            <p:cond delay="0"/>
                                          </p:stCondLst>
                                        </p:cTn>
                                        <p:tgtEl>
                                          <p:spTgt spid="117">
                                            <p:txEl>
                                              <p:pRg st="6" end="6"/>
                                            </p:txEl>
                                          </p:spTgt>
                                        </p:tgtEl>
                                        <p:attrNameLst>
                                          <p:attrName>style.visibility</p:attrName>
                                        </p:attrNameLst>
                                      </p:cBhvr>
                                      <p:to>
                                        <p:strVal val="visible"/>
                                      </p:to>
                                    </p:set>
                                  </p:childTnLst>
                                </p:cTn>
                              </p:par>
                            </p:childTnLst>
                          </p:cTn>
                        </p:par>
                      </p:childTnLst>
                    </p:cTn>
                  </p:par>
                  <p:par>
                    <p:cTn id="1471" fill="hold">
                      <p:stCondLst>
                        <p:cond delay="indefinite"/>
                      </p:stCondLst>
                      <p:childTnLst>
                        <p:par>
                          <p:cTn id="1472" fill="hold">
                            <p:stCondLst>
                              <p:cond delay="0"/>
                            </p:stCondLst>
                            <p:childTnLst>
                              <p:par>
                                <p:cTn id="1473" presetID="1" presetClass="entr" presetSubtype="0" fill="hold" nodeType="clickEffect">
                                  <p:stCondLst>
                                    <p:cond delay="0"/>
                                  </p:stCondLst>
                                  <p:childTnLst>
                                    <p:set>
                                      <p:cBhvr>
                                        <p:cTn id="1474" dur="1" fill="hold">
                                          <p:stCondLst>
                                            <p:cond delay="0"/>
                                          </p:stCondLst>
                                        </p:cTn>
                                        <p:tgtEl>
                                          <p:spTgt spid="117">
                                            <p:txEl>
                                              <p:pRg st="7" end="7"/>
                                            </p:txEl>
                                          </p:spTgt>
                                        </p:tgtEl>
                                        <p:attrNameLst>
                                          <p:attrName>style.visibility</p:attrName>
                                        </p:attrNameLst>
                                      </p:cBhvr>
                                      <p:to>
                                        <p:strVal val="visible"/>
                                      </p:to>
                                    </p:set>
                                  </p:childTnLst>
                                </p:cTn>
                              </p:par>
                            </p:childTnLst>
                          </p:cTn>
                        </p:par>
                      </p:childTnLst>
                    </p:cTn>
                  </p:par>
                  <p:par>
                    <p:cTn id="1475" fill="hold">
                      <p:stCondLst>
                        <p:cond delay="indefinite"/>
                      </p:stCondLst>
                      <p:childTnLst>
                        <p:par>
                          <p:cTn id="1476" fill="hold">
                            <p:stCondLst>
                              <p:cond delay="0"/>
                            </p:stCondLst>
                            <p:childTnLst>
                              <p:par>
                                <p:cTn id="1477" presetID="1" presetClass="entr" presetSubtype="0" fill="hold" nodeType="clickEffect">
                                  <p:stCondLst>
                                    <p:cond delay="0"/>
                                  </p:stCondLst>
                                  <p:childTnLst>
                                    <p:set>
                                      <p:cBhvr>
                                        <p:cTn id="1478" dur="1" fill="hold">
                                          <p:stCondLst>
                                            <p:cond delay="0"/>
                                          </p:stCondLst>
                                        </p:cTn>
                                        <p:tgtEl>
                                          <p:spTgt spid="117">
                                            <p:txEl>
                                              <p:pRg st="8" end="8"/>
                                            </p:txEl>
                                          </p:spTgt>
                                        </p:tgtEl>
                                        <p:attrNameLst>
                                          <p:attrName>style.visibility</p:attrName>
                                        </p:attrNameLst>
                                      </p:cBhvr>
                                      <p:to>
                                        <p:strVal val="visible"/>
                                      </p:to>
                                    </p:set>
                                  </p:childTnLst>
                                </p:cTn>
                              </p:par>
                            </p:childTnLst>
                          </p:cTn>
                        </p:par>
                      </p:childTnLst>
                    </p:cTn>
                  </p:par>
                  <p:par>
                    <p:cTn id="1479" fill="hold">
                      <p:stCondLst>
                        <p:cond delay="indefinite"/>
                      </p:stCondLst>
                      <p:childTnLst>
                        <p:par>
                          <p:cTn id="1480" fill="hold">
                            <p:stCondLst>
                              <p:cond delay="0"/>
                            </p:stCondLst>
                            <p:childTnLst>
                              <p:par>
                                <p:cTn id="1481" presetID="1" presetClass="entr" presetSubtype="0" fill="hold" nodeType="clickEffect">
                                  <p:stCondLst>
                                    <p:cond delay="0"/>
                                  </p:stCondLst>
                                  <p:childTnLst>
                                    <p:set>
                                      <p:cBhvr>
                                        <p:cTn id="1482"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1483" fill="hold">
                      <p:stCondLst>
                        <p:cond delay="indefinite"/>
                      </p:stCondLst>
                      <p:childTnLst>
                        <p:par>
                          <p:cTn id="1484" fill="hold">
                            <p:stCondLst>
                              <p:cond delay="0"/>
                            </p:stCondLst>
                            <p:childTnLst>
                              <p:par>
                                <p:cTn id="1485" presetID="1" presetClass="entr" presetSubtype="0" fill="hold" nodeType="clickEffect">
                                  <p:stCondLst>
                                    <p:cond delay="0"/>
                                  </p:stCondLst>
                                  <p:childTnLst>
                                    <p:set>
                                      <p:cBhvr>
                                        <p:cTn id="148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1487" fill="hold">
                      <p:stCondLst>
                        <p:cond delay="indefinite"/>
                      </p:stCondLst>
                      <p:childTnLst>
                        <p:par>
                          <p:cTn id="1488" fill="hold">
                            <p:stCondLst>
                              <p:cond delay="0"/>
                            </p:stCondLst>
                            <p:childTnLst>
                              <p:par>
                                <p:cTn id="1489" presetID="1" presetClass="entr" presetSubtype="0" fill="hold" nodeType="clickEffect">
                                  <p:stCondLst>
                                    <p:cond delay="0"/>
                                  </p:stCondLst>
                                  <p:childTnLst>
                                    <p:set>
                                      <p:cBhvr>
                                        <p:cTn id="1490"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1491" fill="hold">
                      <p:stCondLst>
                        <p:cond delay="indefinite"/>
                      </p:stCondLst>
                      <p:childTnLst>
                        <p:par>
                          <p:cTn id="1492" fill="hold">
                            <p:stCondLst>
                              <p:cond delay="0"/>
                            </p:stCondLst>
                            <p:childTnLst>
                              <p:par>
                                <p:cTn id="1493" presetID="1" presetClass="entr" presetSubtype="0" fill="hold" nodeType="clickEffect">
                                  <p:stCondLst>
                                    <p:cond delay="0"/>
                                  </p:stCondLst>
                                  <p:childTnLst>
                                    <p:set>
                                      <p:cBhvr>
                                        <p:cTn id="1494"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495" fill="hold">
                      <p:stCondLst>
                        <p:cond delay="indefinite"/>
                      </p:stCondLst>
                      <p:childTnLst>
                        <p:par>
                          <p:cTn id="1496" fill="hold">
                            <p:stCondLst>
                              <p:cond delay="0"/>
                            </p:stCondLst>
                            <p:childTnLst>
                              <p:par>
                                <p:cTn id="1497" presetID="1" presetClass="entr" presetSubtype="0" fill="hold" nodeType="clickEffect">
                                  <p:stCondLst>
                                    <p:cond delay="0"/>
                                  </p:stCondLst>
                                  <p:childTnLst>
                                    <p:set>
                                      <p:cBhvr>
                                        <p:cTn id="149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499" fill="hold">
                      <p:stCondLst>
                        <p:cond delay="indefinite"/>
                      </p:stCondLst>
                      <p:childTnLst>
                        <p:par>
                          <p:cTn id="1500" fill="hold">
                            <p:stCondLst>
                              <p:cond delay="0"/>
                            </p:stCondLst>
                            <p:childTnLst>
                              <p:par>
                                <p:cTn id="1501" presetID="1" presetClass="entr" presetSubtype="0" fill="hold" nodeType="clickEffect">
                                  <p:stCondLst>
                                    <p:cond delay="0"/>
                                  </p:stCondLst>
                                  <p:childTnLst>
                                    <p:set>
                                      <p:cBhvr>
                                        <p:cTn id="1502"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03" fill="hold">
                      <p:stCondLst>
                        <p:cond delay="indefinite"/>
                      </p:stCondLst>
                      <p:childTnLst>
                        <p:par>
                          <p:cTn id="1504" fill="hold">
                            <p:stCondLst>
                              <p:cond delay="0"/>
                            </p:stCondLst>
                            <p:childTnLst>
                              <p:par>
                                <p:cTn id="1505" presetID="1" presetClass="entr" presetSubtype="0" fill="hold" nodeType="clickEffect">
                                  <p:stCondLst>
                                    <p:cond delay="0"/>
                                  </p:stCondLst>
                                  <p:childTnLst>
                                    <p:set>
                                      <p:cBhvr>
                                        <p:cTn id="150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07" fill="hold">
                      <p:stCondLst>
                        <p:cond delay="indefinite"/>
                      </p:stCondLst>
                      <p:childTnLst>
                        <p:par>
                          <p:cTn id="1508" fill="hold">
                            <p:stCondLst>
                              <p:cond delay="0"/>
                            </p:stCondLst>
                            <p:childTnLst>
                              <p:par>
                                <p:cTn id="1509" presetID="1" presetClass="entr" presetSubtype="0" fill="hold" nodeType="clickEffect">
                                  <p:stCondLst>
                                    <p:cond delay="0"/>
                                  </p:stCondLst>
                                  <p:childTnLst>
                                    <p:set>
                                      <p:cBhvr>
                                        <p:cTn id="15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11" fill="hold">
                      <p:stCondLst>
                        <p:cond delay="indefinite"/>
                      </p:stCondLst>
                      <p:childTnLst>
                        <p:par>
                          <p:cTn id="1512" fill="hold">
                            <p:stCondLst>
                              <p:cond delay="0"/>
                            </p:stCondLst>
                            <p:childTnLst>
                              <p:par>
                                <p:cTn id="1513" presetID="1" presetClass="entr" presetSubtype="0" fill="hold" nodeType="clickEffect">
                                  <p:stCondLst>
                                    <p:cond delay="0"/>
                                  </p:stCondLst>
                                  <p:childTnLst>
                                    <p:set>
                                      <p:cBhvr>
                                        <p:cTn id="15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ctivity">
  <p:cSld name="Activity">
    <p:spTree>
      <p:nvGrpSpPr>
        <p:cNvPr id="1" name="Shape 119"/>
        <p:cNvGrpSpPr/>
        <p:nvPr/>
      </p:nvGrpSpPr>
      <p:grpSpPr>
        <a:xfrm>
          <a:off x="0" y="0"/>
          <a:ext cx="0" cy="0"/>
          <a:chOff x="0" y="0"/>
          <a:chExt cx="0" cy="0"/>
        </a:xfrm>
      </p:grpSpPr>
      <p:sp>
        <p:nvSpPr>
          <p:cNvPr id="120" name="Google Shape;120;p16"/>
          <p:cNvSpPr txBox="1">
            <a:spLocks noGrp="1"/>
          </p:cNvSpPr>
          <p:nvPr>
            <p:ph type="title"/>
          </p:nvPr>
        </p:nvSpPr>
        <p:spPr>
          <a:xfrm>
            <a:off x="1039579" y="119975"/>
            <a:ext cx="7795200" cy="577200"/>
          </a:xfrm>
          <a:prstGeom prst="rect">
            <a:avLst/>
          </a:prstGeom>
          <a:noFill/>
          <a:ln>
            <a:noFill/>
          </a:ln>
        </p:spPr>
        <p:txBody>
          <a:bodyPr spcFirstLastPara="1" wrap="square" lIns="68575" tIns="34275" rIns="68575" bIns="34275" anchor="ctr" anchorCtr="0">
            <a:normAutofit/>
          </a:bodyPr>
          <a:lstStyle>
            <a:lvl1pPr lvl="0" algn="l" rtl="0">
              <a:lnSpc>
                <a:spcPct val="10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1" name="Google Shape;121;p16"/>
          <p:cNvSpPr txBox="1">
            <a:spLocks noGrp="1"/>
          </p:cNvSpPr>
          <p:nvPr>
            <p:ph type="body" idx="1"/>
          </p:nvPr>
        </p:nvSpPr>
        <p:spPr>
          <a:xfrm>
            <a:off x="300382" y="768629"/>
            <a:ext cx="3399300" cy="38643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sz="1800"/>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cxnSp>
        <p:nvCxnSpPr>
          <p:cNvPr id="122" name="Google Shape;122;p16"/>
          <p:cNvCxnSpPr/>
          <p:nvPr/>
        </p:nvCxnSpPr>
        <p:spPr>
          <a:xfrm>
            <a:off x="300382" y="736560"/>
            <a:ext cx="8534400" cy="0"/>
          </a:xfrm>
          <a:prstGeom prst="straightConnector1">
            <a:avLst/>
          </a:prstGeom>
          <a:noFill/>
          <a:ln w="63500" cap="flat" cmpd="thickThin">
            <a:solidFill>
              <a:schemeClr val="lt2"/>
            </a:solidFill>
            <a:prstDash val="solid"/>
            <a:miter lim="800000"/>
            <a:headEnd type="none" w="sm" len="sm"/>
            <a:tailEnd type="none" w="sm" len="sm"/>
          </a:ln>
        </p:spPr>
      </p:cxnSp>
      <p:sp>
        <p:nvSpPr>
          <p:cNvPr id="123" name="Google Shape;123;p16"/>
          <p:cNvSpPr txBox="1">
            <a:spLocks noGrp="1"/>
          </p:cNvSpPr>
          <p:nvPr>
            <p:ph type="body" idx="2"/>
          </p:nvPr>
        </p:nvSpPr>
        <p:spPr>
          <a:xfrm>
            <a:off x="3699710" y="784668"/>
            <a:ext cx="5135100" cy="4258500"/>
          </a:xfrm>
          <a:prstGeom prst="rect">
            <a:avLst/>
          </a:prstGeom>
          <a:noFill/>
          <a:ln w="38100"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SzPts val="1800"/>
              <a:buNone/>
              <a:defRPr sz="1800" b="1">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4" name="Google Shape;124;p16"/>
          <p:cNvSpPr txBox="1">
            <a:spLocks noGrp="1"/>
          </p:cNvSpPr>
          <p:nvPr>
            <p:ph type="body" idx="3"/>
          </p:nvPr>
        </p:nvSpPr>
        <p:spPr>
          <a:xfrm>
            <a:off x="-2811780" y="23094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5" name="Google Shape;125;p16"/>
          <p:cNvSpPr txBox="1">
            <a:spLocks noGrp="1"/>
          </p:cNvSpPr>
          <p:nvPr>
            <p:ph type="body" idx="4"/>
          </p:nvPr>
        </p:nvSpPr>
        <p:spPr>
          <a:xfrm>
            <a:off x="-2811780" y="4671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6" name="Google Shape;126;p16"/>
          <p:cNvSpPr txBox="1">
            <a:spLocks noGrp="1"/>
          </p:cNvSpPr>
          <p:nvPr>
            <p:ph type="body" idx="5"/>
          </p:nvPr>
        </p:nvSpPr>
        <p:spPr>
          <a:xfrm>
            <a:off x="-2811780" y="6928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7" name="Google Shape;127;p16"/>
          <p:cNvSpPr txBox="1">
            <a:spLocks noGrp="1"/>
          </p:cNvSpPr>
          <p:nvPr>
            <p:ph type="body" idx="6"/>
          </p:nvPr>
        </p:nvSpPr>
        <p:spPr>
          <a:xfrm>
            <a:off x="-2811780" y="9172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8" name="Google Shape;128;p16"/>
          <p:cNvSpPr txBox="1">
            <a:spLocks noGrp="1"/>
          </p:cNvSpPr>
          <p:nvPr>
            <p:ph type="body" idx="7"/>
          </p:nvPr>
        </p:nvSpPr>
        <p:spPr>
          <a:xfrm>
            <a:off x="-2811780" y="114021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9" name="Google Shape;129;p16"/>
          <p:cNvSpPr txBox="1">
            <a:spLocks noGrp="1"/>
          </p:cNvSpPr>
          <p:nvPr>
            <p:ph type="body" idx="8"/>
          </p:nvPr>
        </p:nvSpPr>
        <p:spPr>
          <a:xfrm>
            <a:off x="-2811780" y="137082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0" name="Google Shape;130;p16"/>
          <p:cNvSpPr txBox="1">
            <a:spLocks noGrp="1"/>
          </p:cNvSpPr>
          <p:nvPr>
            <p:ph type="body" idx="9"/>
          </p:nvPr>
        </p:nvSpPr>
        <p:spPr>
          <a:xfrm>
            <a:off x="-2811780" y="159516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1" name="Google Shape;131;p16"/>
          <p:cNvSpPr txBox="1">
            <a:spLocks noGrp="1"/>
          </p:cNvSpPr>
          <p:nvPr>
            <p:ph type="body" idx="13"/>
          </p:nvPr>
        </p:nvSpPr>
        <p:spPr>
          <a:xfrm>
            <a:off x="-2811780" y="18263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2" name="Google Shape;132;p16"/>
          <p:cNvSpPr txBox="1">
            <a:spLocks noGrp="1"/>
          </p:cNvSpPr>
          <p:nvPr>
            <p:ph type="body" idx="14"/>
          </p:nvPr>
        </p:nvSpPr>
        <p:spPr>
          <a:xfrm>
            <a:off x="-2811780" y="207015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3" name="Google Shape;133;p16"/>
          <p:cNvSpPr txBox="1">
            <a:spLocks noGrp="1"/>
          </p:cNvSpPr>
          <p:nvPr>
            <p:ph type="body" idx="15"/>
          </p:nvPr>
        </p:nvSpPr>
        <p:spPr>
          <a:xfrm>
            <a:off x="-2811780" y="230701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4" name="Google Shape;134;p16"/>
          <p:cNvSpPr txBox="1">
            <a:spLocks noGrp="1"/>
          </p:cNvSpPr>
          <p:nvPr>
            <p:ph type="body" idx="16"/>
          </p:nvPr>
        </p:nvSpPr>
        <p:spPr>
          <a:xfrm>
            <a:off x="-2811780" y="253135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5" name="Google Shape;135;p16"/>
          <p:cNvSpPr txBox="1">
            <a:spLocks noGrp="1"/>
          </p:cNvSpPr>
          <p:nvPr>
            <p:ph type="body" idx="17"/>
          </p:nvPr>
        </p:nvSpPr>
        <p:spPr>
          <a:xfrm>
            <a:off x="-2811780" y="275021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6" name="Google Shape;136;p16"/>
          <p:cNvSpPr/>
          <p:nvPr/>
        </p:nvSpPr>
        <p:spPr>
          <a:xfrm>
            <a:off x="277239" y="109654"/>
            <a:ext cx="633000" cy="578700"/>
          </a:xfrm>
          <a:prstGeom prst="roundRect">
            <a:avLst>
              <a:gd name="adj" fmla="val 16667"/>
            </a:avLst>
          </a:prstGeom>
          <a:gradFill>
            <a:gsLst>
              <a:gs pos="0">
                <a:srgbClr val="FFFFFF"/>
              </a:gs>
              <a:gs pos="66000">
                <a:srgbClr val="FFFFFF"/>
              </a:gs>
              <a:gs pos="100000">
                <a:schemeClr val="dk2"/>
              </a:gs>
            </a:gsLst>
            <a:path path="circle">
              <a:fillToRect l="50000" t="50000" r="50000" b="50000"/>
            </a:path>
            <a:tileRect/>
          </a:gradFill>
          <a:ln w="12700" cap="flat" cmpd="sng">
            <a:solidFill>
              <a:srgbClr val="A246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37" name="Google Shape;137;p16"/>
          <p:cNvSpPr/>
          <p:nvPr/>
        </p:nvSpPr>
        <p:spPr>
          <a:xfrm>
            <a:off x="412441" y="97590"/>
            <a:ext cx="394800" cy="5772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3300" b="1" cap="none">
                <a:solidFill>
                  <a:schemeClr val="dk2"/>
                </a:solidFill>
                <a:latin typeface="Calibri"/>
                <a:ea typeface="Calibri"/>
                <a:cs typeface="Calibri"/>
                <a:sym typeface="Calibri"/>
              </a:rPr>
              <a:t>A</a:t>
            </a:r>
            <a:endParaRPr sz="1100"/>
          </a:p>
        </p:txBody>
      </p:sp>
      <p:sp>
        <p:nvSpPr>
          <p:cNvPr id="138" name="Google Shape;138;p16"/>
          <p:cNvSpPr txBox="1">
            <a:spLocks noGrp="1"/>
          </p:cNvSpPr>
          <p:nvPr>
            <p:ph type="body" idx="18"/>
          </p:nvPr>
        </p:nvSpPr>
        <p:spPr>
          <a:xfrm>
            <a:off x="-2811780" y="30367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9" name="Google Shape;139;p16"/>
          <p:cNvSpPr txBox="1">
            <a:spLocks noGrp="1"/>
          </p:cNvSpPr>
          <p:nvPr>
            <p:ph type="body" idx="19"/>
          </p:nvPr>
        </p:nvSpPr>
        <p:spPr>
          <a:xfrm>
            <a:off x="-2811780" y="326764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0" name="Google Shape;140;p16"/>
          <p:cNvSpPr txBox="1">
            <a:spLocks noGrp="1"/>
          </p:cNvSpPr>
          <p:nvPr>
            <p:ph type="body" idx="20"/>
          </p:nvPr>
        </p:nvSpPr>
        <p:spPr>
          <a:xfrm>
            <a:off x="-2811780" y="350389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1" name="Google Shape;141;p16"/>
          <p:cNvSpPr txBox="1">
            <a:spLocks noGrp="1"/>
          </p:cNvSpPr>
          <p:nvPr>
            <p:ph type="body" idx="21"/>
          </p:nvPr>
        </p:nvSpPr>
        <p:spPr>
          <a:xfrm>
            <a:off x="-2811780" y="37295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2" name="Google Shape;142;p16"/>
          <p:cNvSpPr txBox="1">
            <a:spLocks noGrp="1"/>
          </p:cNvSpPr>
          <p:nvPr>
            <p:ph type="body" idx="22"/>
          </p:nvPr>
        </p:nvSpPr>
        <p:spPr>
          <a:xfrm>
            <a:off x="-2811780" y="39539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3" name="Google Shape;143;p16"/>
          <p:cNvSpPr txBox="1">
            <a:spLocks noGrp="1"/>
          </p:cNvSpPr>
          <p:nvPr>
            <p:ph type="body" idx="23"/>
          </p:nvPr>
        </p:nvSpPr>
        <p:spPr>
          <a:xfrm>
            <a:off x="-2811780" y="417691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4" name="Google Shape;144;p16"/>
          <p:cNvSpPr txBox="1">
            <a:spLocks noGrp="1"/>
          </p:cNvSpPr>
          <p:nvPr>
            <p:ph type="body" idx="24"/>
          </p:nvPr>
        </p:nvSpPr>
        <p:spPr>
          <a:xfrm>
            <a:off x="-2811780" y="4407526"/>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5" name="Google Shape;145;p16"/>
          <p:cNvSpPr txBox="1">
            <a:spLocks noGrp="1"/>
          </p:cNvSpPr>
          <p:nvPr>
            <p:ph type="body" idx="25"/>
          </p:nvPr>
        </p:nvSpPr>
        <p:spPr>
          <a:xfrm>
            <a:off x="-2811780" y="46318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4">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4">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4">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4">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4">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4">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4">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4">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4">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25">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25">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25">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25">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25">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25">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26">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26">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26">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26">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26">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26">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26">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26">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26">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27">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27">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27">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27">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27">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27">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27">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28">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28">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28">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28">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28">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28">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28">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28">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28">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29">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29">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29">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29">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29">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129">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129">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29">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129">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130">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130">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130">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130">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130">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130">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130">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130">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130">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131">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131">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131">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131">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131">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131">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131">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131">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132">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132">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132">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132">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132">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132">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132">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132">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132">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133">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133">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133">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133">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133">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134">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134">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134">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134">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134">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134">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134">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134">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134">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135">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135">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135">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135">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135">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135">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135">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135">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135">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138">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138">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138">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138">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139">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139">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139">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139">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139">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140">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140">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140">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140">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141">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141">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141">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141">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141">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141">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142">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142">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142">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142">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142">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142">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142">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142">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143">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143">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143">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143">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143">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143">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143">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143">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143">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144">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144">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144">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144">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144">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144">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144">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144">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144">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145">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145">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145">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145">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145">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145">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145">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145">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14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ctivity 1">
  <p:cSld name="AUTOLAYOUT_1_1">
    <p:bg>
      <p:bgPr>
        <a:solidFill>
          <a:srgbClr val="FFFFFF"/>
        </a:solidFill>
        <a:effectLst/>
      </p:bgPr>
    </p:bg>
    <p:spTree>
      <p:nvGrpSpPr>
        <p:cNvPr id="1" name="Shape 146"/>
        <p:cNvGrpSpPr/>
        <p:nvPr/>
      </p:nvGrpSpPr>
      <p:grpSpPr>
        <a:xfrm>
          <a:off x="0" y="0"/>
          <a:ext cx="0" cy="0"/>
          <a:chOff x="0" y="0"/>
          <a:chExt cx="0" cy="0"/>
        </a:xfrm>
      </p:grpSpPr>
      <p:sp>
        <p:nvSpPr>
          <p:cNvPr id="147" name="Google Shape;147;p17"/>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7"/>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49" name="Google Shape;149;p17"/>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50" name="Google Shape;150;p17"/>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1" name="Google Shape;151;p17"/>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7"/>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53" name="Google Shape;153;p17"/>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7"/>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55" name="Google Shape;155;p17"/>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60"/>
        <p:cNvGrpSpPr/>
        <p:nvPr/>
      </p:nvGrpSpPr>
      <p:grpSpPr>
        <a:xfrm>
          <a:off x="0" y="0"/>
          <a:ext cx="0" cy="0"/>
          <a:chOff x="0" y="0"/>
          <a:chExt cx="0" cy="0"/>
        </a:xfrm>
      </p:grpSpPr>
      <p:sp>
        <p:nvSpPr>
          <p:cNvPr id="161" name="Google Shape;161;p19"/>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2" name="Google Shape;162;p19"/>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63" name="Google Shape;163;p19"/>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64" name="Google Shape;164;p1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65"/>
        <p:cNvGrpSpPr/>
        <p:nvPr/>
      </p:nvGrpSpPr>
      <p:grpSpPr>
        <a:xfrm>
          <a:off x="0" y="0"/>
          <a:ext cx="0" cy="0"/>
          <a:chOff x="0" y="0"/>
          <a:chExt cx="0" cy="0"/>
        </a:xfrm>
      </p:grpSpPr>
      <p:sp>
        <p:nvSpPr>
          <p:cNvPr id="166" name="Google Shape;166;p20"/>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7" name="Google Shape;167;p20"/>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68" name="Google Shape;168;p20"/>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69" name="Google Shape;169;p2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0"/>
        <p:cNvGrpSpPr/>
        <p:nvPr/>
      </p:nvGrpSpPr>
      <p:grpSpPr>
        <a:xfrm>
          <a:off x="0" y="0"/>
          <a:ext cx="0" cy="0"/>
          <a:chOff x="0" y="0"/>
          <a:chExt cx="0" cy="0"/>
        </a:xfrm>
      </p:grpSpPr>
      <p:sp>
        <p:nvSpPr>
          <p:cNvPr id="171" name="Google Shape;171;p21"/>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72" name="Google Shape;172;p21"/>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1"/>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4" name="Google Shape;174;p21"/>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75" name="Google Shape;175;p2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6" name="Google Shape;176;p21"/>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77" name="Google Shape;177;p21"/>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8"/>
        <p:cNvGrpSpPr/>
        <p:nvPr/>
      </p:nvGrpSpPr>
      <p:grpSpPr>
        <a:xfrm>
          <a:off x="0" y="0"/>
          <a:ext cx="0" cy="0"/>
          <a:chOff x="0" y="0"/>
          <a:chExt cx="0" cy="0"/>
        </a:xfrm>
      </p:grpSpPr>
      <p:sp>
        <p:nvSpPr>
          <p:cNvPr id="179" name="Google Shape;179;p2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1" name="Google Shape;181;p22"/>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2" name="Google Shape;182;p22"/>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3" name="Google Shape;183;p2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4"/>
        <p:cNvGrpSpPr/>
        <p:nvPr/>
      </p:nvGrpSpPr>
      <p:grpSpPr>
        <a:xfrm>
          <a:off x="0" y="0"/>
          <a:ext cx="0" cy="0"/>
          <a:chOff x="0" y="0"/>
          <a:chExt cx="0" cy="0"/>
        </a:xfrm>
      </p:grpSpPr>
      <p:sp>
        <p:nvSpPr>
          <p:cNvPr id="185" name="Google Shape;185;p23"/>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3"/>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7" name="Google Shape;187;p2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8"/>
        <p:cNvGrpSpPr/>
        <p:nvPr/>
      </p:nvGrpSpPr>
      <p:grpSpPr>
        <a:xfrm>
          <a:off x="0" y="0"/>
          <a:ext cx="0" cy="0"/>
          <a:chOff x="0" y="0"/>
          <a:chExt cx="0" cy="0"/>
        </a:xfrm>
      </p:grpSpPr>
      <p:sp>
        <p:nvSpPr>
          <p:cNvPr id="189" name="Google Shape;189;p24"/>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4"/>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91" name="Google Shape;191;p24"/>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2" name="Google Shape;192;p24"/>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93" name="Google Shape;193;p24"/>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94" name="Google Shape;194;p24"/>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95" name="Google Shape;195;p24"/>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98" name="Google Shape;198;p2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9"/>
        <p:cNvGrpSpPr/>
        <p:nvPr/>
      </p:nvGrpSpPr>
      <p:grpSpPr>
        <a:xfrm>
          <a:off x="0" y="0"/>
          <a:ext cx="0" cy="0"/>
          <a:chOff x="0" y="0"/>
          <a:chExt cx="0" cy="0"/>
        </a:xfrm>
      </p:grpSpPr>
      <p:sp>
        <p:nvSpPr>
          <p:cNvPr id="200" name="Google Shape;200;p26"/>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02" name="Google Shape;202;p26"/>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03" name="Google Shape;203;p26"/>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4" name="Google Shape;204;p2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5"/>
        <p:cNvGrpSpPr/>
        <p:nvPr/>
      </p:nvGrpSpPr>
      <p:grpSpPr>
        <a:xfrm>
          <a:off x="0" y="0"/>
          <a:ext cx="0" cy="0"/>
          <a:chOff x="0" y="0"/>
          <a:chExt cx="0" cy="0"/>
        </a:xfrm>
      </p:grpSpPr>
      <p:sp>
        <p:nvSpPr>
          <p:cNvPr id="206" name="Google Shape;206;p27"/>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7"/>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08" name="Google Shape;208;p2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09"/>
        <p:cNvGrpSpPr/>
        <p:nvPr/>
      </p:nvGrpSpPr>
      <p:grpSpPr>
        <a:xfrm>
          <a:off x="0" y="0"/>
          <a:ext cx="0" cy="0"/>
          <a:chOff x="0" y="0"/>
          <a:chExt cx="0" cy="0"/>
        </a:xfrm>
      </p:grpSpPr>
      <p:sp>
        <p:nvSpPr>
          <p:cNvPr id="210" name="Google Shape;210;p28"/>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11" name="Google Shape;211;p28"/>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212" name="Google Shape;212;p2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3"/>
        <p:cNvGrpSpPr/>
        <p:nvPr/>
      </p:nvGrpSpPr>
      <p:grpSpPr>
        <a:xfrm>
          <a:off x="0" y="0"/>
          <a:ext cx="0" cy="0"/>
          <a:chOff x="0" y="0"/>
          <a:chExt cx="0" cy="0"/>
        </a:xfrm>
      </p:grpSpPr>
      <p:sp>
        <p:nvSpPr>
          <p:cNvPr id="214" name="Google Shape;214;p2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15"/>
        <p:cNvGrpSpPr/>
        <p:nvPr/>
      </p:nvGrpSpPr>
      <p:grpSpPr>
        <a:xfrm>
          <a:off x="0" y="0"/>
          <a:ext cx="0" cy="0"/>
          <a:chOff x="0" y="0"/>
          <a:chExt cx="0" cy="0"/>
        </a:xfrm>
      </p:grpSpPr>
      <p:sp>
        <p:nvSpPr>
          <p:cNvPr id="216" name="Google Shape;216;p30"/>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8" name="Google Shape;218;p30"/>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19" name="Google Shape;219;p3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20"/>
        <p:cNvGrpSpPr/>
        <p:nvPr/>
      </p:nvGrpSpPr>
      <p:grpSpPr>
        <a:xfrm>
          <a:off x="0" y="0"/>
          <a:ext cx="0" cy="0"/>
          <a:chOff x="0" y="0"/>
          <a:chExt cx="0" cy="0"/>
        </a:xfrm>
      </p:grpSpPr>
      <p:sp>
        <p:nvSpPr>
          <p:cNvPr id="221" name="Google Shape;22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2" name="Google Shape;222;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23" name="Google Shape;223;p3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56"/>
        <p:cNvGrpSpPr/>
        <p:nvPr/>
      </p:nvGrpSpPr>
      <p:grpSpPr>
        <a:xfrm>
          <a:off x="0" y="0"/>
          <a:ext cx="0" cy="0"/>
          <a:chOff x="0" y="0"/>
          <a:chExt cx="0" cy="0"/>
        </a:xfrm>
      </p:grpSpPr>
      <p:sp>
        <p:nvSpPr>
          <p:cNvPr id="157" name="Google Shape;157;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58" name="Google Shape;158;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59" name="Google Shape;159;p18"/>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s://docs.oracle.com/en/java/javase/21/docs/api/java.base/java/util/concurrent/Executors.html#newCachedThreadPool()" TargetMode="External"/><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hyperlink" Target="https://docs.oracle.com/en/java/javase/21/docs/api/java.base/java/util/concurrent/Executors.html#newSingleThreadExecutor()" TargetMode="External"/><Relationship Id="rId4" Type="http://schemas.openxmlformats.org/officeDocument/2006/relationships/hyperlink" Target="https://docs.oracle.com/en/java/javase/21/docs/api/java.base/java/util/concurrent/Executors.html#newFixedThreadPool(int)"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2.png"/></Relationships>
</file>

<file path=ppt/slides/_rels/slide4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42.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3" Type="http://schemas.openxmlformats.org/officeDocument/2006/relationships/hyperlink" Target="https://docs.google.com/presentation/d/1lqcS1-2LFdoaMcKuy1yeikRurAKHLyyKb2KZ5a2rMdQ/edit#slide=id.gc973538050_1_172" TargetMode="External"/><Relationship Id="rId2" Type="http://schemas.openxmlformats.org/officeDocument/2006/relationships/notesSlide" Target="../notesSlides/notesSlide51.xml"/><Relationship Id="rId1" Type="http://schemas.openxmlformats.org/officeDocument/2006/relationships/slideLayout" Target="../slideLayouts/slideLayout27.xml"/><Relationship Id="rId6" Type="http://schemas.openxmlformats.org/officeDocument/2006/relationships/hyperlink" Target="https://docs.google.com/presentation/d/1lqcS1-2LFdoaMcKuy1yeikRurAKHLyyKb2KZ5a2rMdQ/edit#slide=id.g21c6847f24b_0_36" TargetMode="External"/><Relationship Id="rId5" Type="http://schemas.openxmlformats.org/officeDocument/2006/relationships/hyperlink" Target="https://docs.google.com/presentation/d/1lqcS1-2LFdoaMcKuy1yeikRurAKHLyyKb2KZ5a2rMdQ/edit#slide=id.g21cc4f74f13_0_60" TargetMode="External"/><Relationship Id="rId4" Type="http://schemas.openxmlformats.org/officeDocument/2006/relationships/hyperlink" Target="https://docs.google.com/presentation/d/1lqcS1-2LFdoaMcKuy1yeikRurAKHLyyKb2KZ5a2rMdQ/edit#slide=id.gc973538050_1_246"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229" name="Google Shape;229;p32"/>
          <p:cNvSpPr txBox="1">
            <a:spLocks noGrp="1"/>
          </p:cNvSpPr>
          <p:nvPr>
            <p:ph type="subTitle" idx="1"/>
          </p:nvPr>
        </p:nvSpPr>
        <p:spPr>
          <a:xfrm>
            <a:off x="387900" y="1878550"/>
            <a:ext cx="4741200" cy="95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8: Concurrent Programming</a:t>
            </a:r>
            <a:endParaRPr sz="2600" i="1">
              <a:solidFill>
                <a:srgbClr val="FF0000"/>
              </a:solidFill>
            </a:endParaRPr>
          </a:p>
        </p:txBody>
      </p:sp>
      <p:grpSp>
        <p:nvGrpSpPr>
          <p:cNvPr id="230" name="Google Shape;230;p32"/>
          <p:cNvGrpSpPr/>
          <p:nvPr/>
        </p:nvGrpSpPr>
        <p:grpSpPr>
          <a:xfrm>
            <a:off x="5001999" y="4264475"/>
            <a:ext cx="3908400" cy="738300"/>
            <a:chOff x="5001999" y="4264475"/>
            <a:chExt cx="3908400" cy="738300"/>
          </a:xfrm>
        </p:grpSpPr>
        <p:sp>
          <p:nvSpPr>
            <p:cNvPr id="231" name="Google Shape;231;p32"/>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2" name="Google Shape;232;p32"/>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3"/>
          <p:cNvSpPr txBox="1">
            <a:spLocks noGrp="1"/>
          </p:cNvSpPr>
          <p:nvPr>
            <p:ph type="title"/>
          </p:nvPr>
        </p:nvSpPr>
        <p:spPr>
          <a:xfrm>
            <a:off x="311725" y="272325"/>
            <a:ext cx="3706500" cy="82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Threads</a:t>
            </a:r>
            <a:endParaRPr/>
          </a:p>
        </p:txBody>
      </p:sp>
      <p:sp>
        <p:nvSpPr>
          <p:cNvPr id="238" name="Google Shape;238;p33"/>
          <p:cNvSpPr txBox="1">
            <a:spLocks noGrp="1"/>
          </p:cNvSpPr>
          <p:nvPr>
            <p:ph type="body" idx="1"/>
          </p:nvPr>
        </p:nvSpPr>
        <p:spPr>
          <a:xfrm>
            <a:off x="4644675" y="509600"/>
            <a:ext cx="4166400" cy="3491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In all modern OS's, multiple tasks can be running at the same time. This week we will look at how to allow our programs to run multiple simultaneous tasks using threads. </a:t>
            </a:r>
            <a:endParaRPr dirty="0"/>
          </a:p>
          <a:p>
            <a:pPr marL="457200" lvl="0" indent="-311150" algn="l" rtl="0">
              <a:spcBef>
                <a:spcPts val="1000"/>
              </a:spcBef>
              <a:spcAft>
                <a:spcPts val="0"/>
              </a:spcAft>
              <a:buSzPts val="1300"/>
              <a:buChar char="●"/>
            </a:pPr>
            <a:r>
              <a:rPr lang="en" dirty="0"/>
              <a:t>We will be exploring different ways to create and control threads, including:</a:t>
            </a:r>
            <a:endParaRPr dirty="0"/>
          </a:p>
          <a:p>
            <a:pPr marL="914400" lvl="1" indent="-298450" algn="l" rtl="0">
              <a:spcBef>
                <a:spcPts val="0"/>
              </a:spcBef>
              <a:spcAft>
                <a:spcPts val="0"/>
              </a:spcAft>
              <a:buSzPts val="1100"/>
              <a:buChar char="○"/>
            </a:pPr>
            <a:r>
              <a:rPr lang="en" dirty="0">
                <a:latin typeface="Courier New"/>
                <a:ea typeface="Courier New"/>
                <a:cs typeface="Courier New"/>
                <a:sym typeface="Courier New"/>
              </a:rPr>
              <a:t>Thread</a:t>
            </a:r>
            <a:endParaRPr dirty="0"/>
          </a:p>
          <a:p>
            <a:pPr marL="914400" lvl="1" indent="-298450" algn="l" rtl="0">
              <a:spcBef>
                <a:spcPts val="0"/>
              </a:spcBef>
              <a:spcAft>
                <a:spcPts val="0"/>
              </a:spcAft>
              <a:buSzPts val="1100"/>
              <a:buChar char="○"/>
            </a:pPr>
            <a:r>
              <a:rPr lang="en" dirty="0">
                <a:latin typeface="Courier New"/>
                <a:ea typeface="Courier New"/>
                <a:cs typeface="Courier New"/>
                <a:sym typeface="Courier New"/>
              </a:rPr>
              <a:t>Runnable</a:t>
            </a:r>
            <a:endParaRPr dirty="0"/>
          </a:p>
          <a:p>
            <a:pPr marL="914400" lvl="1" indent="-298450" algn="l" rtl="0">
              <a:spcBef>
                <a:spcPts val="0"/>
              </a:spcBef>
              <a:spcAft>
                <a:spcPts val="0"/>
              </a:spcAft>
              <a:buSzPts val="1100"/>
              <a:buFont typeface="Courier New"/>
              <a:buChar char="○"/>
            </a:pPr>
            <a:r>
              <a:rPr lang="en" dirty="0">
                <a:latin typeface="Courier New"/>
                <a:ea typeface="Courier New"/>
                <a:cs typeface="Courier New"/>
                <a:sym typeface="Courier New"/>
              </a:rPr>
              <a:t>Sleep</a:t>
            </a:r>
            <a:endParaRPr dirty="0">
              <a:latin typeface="Courier New"/>
              <a:ea typeface="Courier New"/>
              <a:cs typeface="Courier New"/>
              <a:sym typeface="Courier New"/>
            </a:endParaRPr>
          </a:p>
          <a:p>
            <a:pPr marL="914400" lvl="1" indent="-298450" algn="l" rtl="0">
              <a:spcBef>
                <a:spcPts val="0"/>
              </a:spcBef>
              <a:spcAft>
                <a:spcPts val="0"/>
              </a:spcAft>
              <a:buSzPts val="1100"/>
              <a:buFont typeface="Courier New"/>
              <a:buChar char="○"/>
            </a:pPr>
            <a:r>
              <a:rPr lang="en" dirty="0">
                <a:latin typeface="Courier New"/>
                <a:ea typeface="Courier New"/>
                <a:cs typeface="Courier New"/>
                <a:sym typeface="Courier New"/>
              </a:rPr>
              <a:t>Join</a:t>
            </a:r>
            <a:endParaRPr dirty="0">
              <a:latin typeface="Courier New"/>
              <a:ea typeface="Courier New"/>
              <a:cs typeface="Courier New"/>
              <a:sym typeface="Courier New"/>
            </a:endParaRPr>
          </a:p>
          <a:p>
            <a:pPr marL="457200" lvl="0" indent="-311150" algn="l" rtl="0">
              <a:spcBef>
                <a:spcPts val="1000"/>
              </a:spcBef>
              <a:spcAft>
                <a:spcPts val="0"/>
              </a:spcAft>
              <a:buSzPts val="1300"/>
              <a:buChar char="●"/>
            </a:pPr>
            <a:r>
              <a:rPr lang="en" dirty="0"/>
              <a:t>Today we will specifically be focusing the creation of a thread. We will also briefly discuss </a:t>
            </a:r>
            <a:r>
              <a:rPr lang="en" dirty="0">
                <a:highlight>
                  <a:srgbClr val="FFFF00"/>
                </a:highlight>
              </a:rPr>
              <a:t>how operating systems manage threads and some terminology associated </a:t>
            </a:r>
            <a:r>
              <a:rPr lang="en" dirty="0"/>
              <a:t>with them.</a:t>
            </a:r>
            <a:endParaRPr dirty="0"/>
          </a:p>
        </p:txBody>
      </p:sp>
      <p:sp>
        <p:nvSpPr>
          <p:cNvPr id="239" name="Google Shape;239;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240" name="Google Shape;240;p33"/>
          <p:cNvSpPr txBox="1">
            <a:spLocks noGrp="1"/>
          </p:cNvSpPr>
          <p:nvPr>
            <p:ph type="body" idx="3"/>
          </p:nvPr>
        </p:nvSpPr>
        <p:spPr>
          <a:xfrm>
            <a:off x="234775" y="4221925"/>
            <a:ext cx="3757800" cy="581700"/>
          </a:xfrm>
          <a:prstGeom prst="rect">
            <a:avLst/>
          </a:prstGeom>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n"/>
              <a:t>This week we will be discussing </a:t>
            </a:r>
            <a:r>
              <a:rPr lang="en" b="1" i="1">
                <a:solidFill>
                  <a:srgbClr val="FF0000"/>
                </a:solidFill>
              </a:rPr>
              <a:t>concurrency </a:t>
            </a:r>
            <a:r>
              <a:rPr lang="en"/>
              <a:t>and the tools by which we use it, mainly threads.</a:t>
            </a:r>
            <a:endParaRPr sz="1200"/>
          </a:p>
        </p:txBody>
      </p:sp>
      <p:pic>
        <p:nvPicPr>
          <p:cNvPr id="241" name="Google Shape;241;p33"/>
          <p:cNvPicPr preferRelativeResize="0"/>
          <p:nvPr/>
        </p:nvPicPr>
        <p:blipFill rotWithShape="1">
          <a:blip r:embed="rId3">
            <a:alphaModFix/>
          </a:blip>
          <a:srcRect t="4558" b="15894"/>
          <a:stretch/>
        </p:blipFill>
        <p:spPr>
          <a:xfrm>
            <a:off x="846464" y="1088250"/>
            <a:ext cx="2637016" cy="2966988"/>
          </a:xfrm>
          <a:prstGeom prst="rect">
            <a:avLst/>
          </a:prstGeom>
          <a:noFill/>
          <a:ln w="19050" cap="flat" cmpd="sng">
            <a:solidFill>
              <a:schemeClr val="accent1"/>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fade">
                                      <p:cBhvr>
                                        <p:cTn id="7" dur="1000"/>
                                        <p:tgtEl>
                                          <p:spTgt spid="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Let's Race</a:t>
            </a:r>
            <a:endParaRPr/>
          </a:p>
        </p:txBody>
      </p:sp>
      <p:sp>
        <p:nvSpPr>
          <p:cNvPr id="247" name="Google Shape;247;p3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warm up today by creating a small racing game. To start, we'll make a racer that knows how to race some number of laps.</a:t>
            </a:r>
            <a:endParaRPr/>
          </a:p>
        </p:txBody>
      </p:sp>
      <p:sp>
        <p:nvSpPr>
          <p:cNvPr id="248" name="Google Shape;248;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249" name="Google Shape;249;p34"/>
          <p:cNvSpPr txBox="1">
            <a:spLocks noGrp="1"/>
          </p:cNvSpPr>
          <p:nvPr>
            <p:ph type="body" idx="2"/>
          </p:nvPr>
        </p:nvSpPr>
        <p:spPr>
          <a:xfrm>
            <a:off x="3165300" y="1445925"/>
            <a:ext cx="5775900" cy="289666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package named </a:t>
            </a:r>
            <a:r>
              <a:rPr lang="en" dirty="0">
                <a:solidFill>
                  <a:srgbClr val="FF0000"/>
                </a:solidFill>
                <a:latin typeface="Courier New"/>
                <a:ea typeface="Courier New"/>
                <a:cs typeface="Courier New"/>
                <a:sym typeface="Courier New"/>
              </a:rPr>
              <a:t>racing</a:t>
            </a:r>
            <a:r>
              <a:rPr lang="en" dirty="0"/>
              <a:t>. Inside the package, make a new class using the UML on the left as a guide.</a:t>
            </a:r>
            <a:endParaRPr dirty="0"/>
          </a:p>
          <a:p>
            <a:pPr marL="457200" lvl="0" indent="-311150" algn="l" rtl="0">
              <a:spcBef>
                <a:spcPts val="0"/>
              </a:spcBef>
              <a:spcAft>
                <a:spcPts val="0"/>
              </a:spcAft>
              <a:buSzPts val="1300"/>
              <a:buChar char="●"/>
            </a:pPr>
            <a:r>
              <a:rPr lang="en" dirty="0"/>
              <a:t>For the </a:t>
            </a:r>
            <a:r>
              <a:rPr lang="en" dirty="0">
                <a:solidFill>
                  <a:srgbClr val="FF0000"/>
                </a:solidFill>
                <a:latin typeface="Courier New"/>
                <a:ea typeface="Courier New"/>
                <a:cs typeface="Courier New"/>
                <a:sym typeface="Courier New"/>
              </a:rPr>
              <a:t>race()</a:t>
            </a:r>
            <a:r>
              <a:rPr lang="en" dirty="0"/>
              <a:t> method:</a:t>
            </a:r>
            <a:endParaRPr dirty="0"/>
          </a:p>
          <a:p>
            <a:pPr marL="914400" lvl="1" indent="-298450" algn="l" rtl="0">
              <a:spcBef>
                <a:spcPts val="0"/>
              </a:spcBef>
              <a:spcAft>
                <a:spcPts val="0"/>
              </a:spcAft>
              <a:buSzPts val="1100"/>
              <a:buChar char="○"/>
            </a:pPr>
            <a:r>
              <a:rPr lang="en" dirty="0"/>
              <a:t>Store the starting time (</a:t>
            </a:r>
            <a:r>
              <a:rPr lang="en" dirty="0">
                <a:solidFill>
                  <a:srgbClr val="FF0000"/>
                </a:solidFill>
                <a:latin typeface="Courier New"/>
                <a:ea typeface="Courier New"/>
                <a:cs typeface="Courier New"/>
                <a:sym typeface="Courier New"/>
              </a:rPr>
              <a:t>System.nanoTime()</a:t>
            </a:r>
            <a:r>
              <a:rPr lang="en" dirty="0"/>
              <a:t>).</a:t>
            </a:r>
            <a:endParaRPr dirty="0"/>
          </a:p>
          <a:p>
            <a:pPr marL="914400" lvl="1" indent="-298450" algn="l" rtl="0">
              <a:spcBef>
                <a:spcPts val="0"/>
              </a:spcBef>
              <a:spcAft>
                <a:spcPts val="0"/>
              </a:spcAft>
              <a:buSzPts val="1100"/>
              <a:buChar char="○"/>
            </a:pPr>
            <a:r>
              <a:rPr lang="en" dirty="0">
                <a:highlight>
                  <a:srgbClr val="FFFF00"/>
                </a:highlight>
              </a:rPr>
              <a:t>For </a:t>
            </a:r>
            <a:r>
              <a:rPr lang="en" dirty="0">
                <a:solidFill>
                  <a:srgbClr val="FF0000"/>
                </a:solidFill>
                <a:highlight>
                  <a:srgbClr val="FFFF00"/>
                </a:highlight>
                <a:latin typeface="Courier New"/>
                <a:ea typeface="Courier New"/>
                <a:cs typeface="Courier New"/>
                <a:sym typeface="Courier New"/>
              </a:rPr>
              <a:t>numLaps</a:t>
            </a:r>
            <a:r>
              <a:rPr lang="en" dirty="0">
                <a:highlight>
                  <a:srgbClr val="FFFF00"/>
                </a:highlight>
              </a:rPr>
              <a:t>, if </a:t>
            </a:r>
            <a:r>
              <a:rPr lang="en" dirty="0">
                <a:highlight>
                  <a:srgbClr val="FFFF00"/>
                </a:highlight>
                <a:latin typeface="Courier New"/>
                <a:ea typeface="Courier New"/>
                <a:cs typeface="Courier New"/>
                <a:sym typeface="Courier New"/>
              </a:rPr>
              <a:t>debug</a:t>
            </a:r>
            <a:r>
              <a:rPr lang="en" dirty="0">
                <a:highlight>
                  <a:srgbClr val="FFFF00"/>
                </a:highlight>
              </a:rPr>
              <a:t> is </a:t>
            </a:r>
            <a:r>
              <a:rPr lang="en" b="1" i="1" dirty="0">
                <a:solidFill>
                  <a:srgbClr val="FF0000"/>
                </a:solidFill>
                <a:highlight>
                  <a:srgbClr val="FFFF00"/>
                </a:highlight>
              </a:rPr>
              <a:t>enabled</a:t>
            </a:r>
            <a:r>
              <a:rPr lang="en" dirty="0">
                <a:highlight>
                  <a:srgbClr val="FFFF00"/>
                </a:highlight>
              </a:rPr>
              <a:t>, print a message in the format:</a:t>
            </a:r>
            <a:endParaRPr dirty="0">
              <a:highlight>
                <a:srgbClr val="FFFF00"/>
              </a:highlight>
            </a:endParaRPr>
          </a:p>
          <a:p>
            <a:pPr marL="914400" lvl="0" indent="0" algn="l" rtl="0">
              <a:spcBef>
                <a:spcPts val="0"/>
              </a:spcBef>
              <a:spcAft>
                <a:spcPts val="0"/>
              </a:spcAft>
              <a:buNone/>
            </a:pPr>
            <a:r>
              <a:rPr lang="en" sz="1100" dirty="0">
                <a:solidFill>
                  <a:srgbClr val="FF0000"/>
                </a:solidFill>
                <a:highlight>
                  <a:srgbClr val="FFFF00"/>
                </a:highlight>
                <a:latin typeface="Courier New"/>
                <a:ea typeface="Courier New"/>
                <a:cs typeface="Courier New"/>
                <a:sym typeface="Courier New"/>
              </a:rPr>
              <a:t>&lt;name&gt; completed </a:t>
            </a:r>
            <a:r>
              <a:rPr lang="en" sz="1100" b="1" dirty="0">
                <a:solidFill>
                  <a:srgbClr val="FF0000"/>
                </a:solidFill>
                <a:highlight>
                  <a:srgbClr val="FFFF00"/>
                </a:highlight>
                <a:latin typeface="Courier New"/>
                <a:ea typeface="Courier New"/>
                <a:cs typeface="Courier New"/>
                <a:sym typeface="Courier New"/>
              </a:rPr>
              <a:t>&lt;lap&gt;</a:t>
            </a:r>
            <a:endParaRPr sz="1100" b="1" dirty="0">
              <a:solidFill>
                <a:srgbClr val="FF0000"/>
              </a:solidFill>
              <a:highlight>
                <a:srgbClr val="FFFF00"/>
              </a:highlight>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Subtract the starting time from the ending time and store that in </a:t>
            </a:r>
            <a:r>
              <a:rPr lang="en" dirty="0">
                <a:latin typeface="Courier New"/>
                <a:ea typeface="Courier New"/>
                <a:cs typeface="Courier New"/>
                <a:sym typeface="Courier New"/>
              </a:rPr>
              <a:t>time</a:t>
            </a:r>
            <a:r>
              <a:rPr lang="en" dirty="0"/>
              <a:t>.</a:t>
            </a:r>
            <a:endParaRPr dirty="0"/>
          </a:p>
          <a:p>
            <a:pPr marL="457200" lvl="0" indent="-311150" algn="l" rtl="0">
              <a:spcBef>
                <a:spcPts val="0"/>
              </a:spcBef>
              <a:spcAft>
                <a:spcPts val="0"/>
              </a:spcAft>
              <a:buSzPts val="1300"/>
              <a:buChar char="●"/>
            </a:pPr>
            <a:r>
              <a:rPr lang="en" dirty="0">
                <a:latin typeface="Courier New"/>
                <a:ea typeface="Courier New"/>
                <a:cs typeface="Courier New"/>
                <a:sym typeface="Courier New"/>
              </a:rPr>
              <a:t>getFinishTime()</a:t>
            </a:r>
            <a:r>
              <a:rPr lang="en" dirty="0"/>
              <a:t> should return the time in </a:t>
            </a:r>
            <a:r>
              <a:rPr lang="en" b="1" i="1" dirty="0">
                <a:solidFill>
                  <a:srgbClr val="FF0000"/>
                </a:solidFill>
              </a:rPr>
              <a:t>seconds</a:t>
            </a:r>
            <a:r>
              <a:rPr lang="en" dirty="0"/>
              <a:t> instead of the nanoseconds (ns) </a:t>
            </a:r>
            <a:r>
              <a:rPr lang="en" dirty="0">
                <a:latin typeface="Courier New"/>
                <a:ea typeface="Courier New"/>
                <a:cs typeface="Courier New"/>
                <a:sym typeface="Courier New"/>
              </a:rPr>
              <a:t>nanoTime</a:t>
            </a:r>
            <a:r>
              <a:rPr lang="en" dirty="0"/>
              <a:t> returns. (1 second = 1,000,000,000 ns)</a:t>
            </a:r>
            <a:endParaRPr dirty="0"/>
          </a:p>
          <a:p>
            <a:pPr marL="914400" lvl="1" indent="-298450" algn="l" rtl="0">
              <a:spcBef>
                <a:spcPts val="0"/>
              </a:spcBef>
              <a:spcAft>
                <a:spcPts val="0"/>
              </a:spcAft>
              <a:buSzPts val="1100"/>
              <a:buChar char="○"/>
            </a:pPr>
            <a:r>
              <a:rPr lang="en" dirty="0"/>
              <a:t>You can write this in code as </a:t>
            </a:r>
            <a:r>
              <a:rPr lang="en" dirty="0">
                <a:latin typeface="Courier New"/>
                <a:ea typeface="Courier New"/>
                <a:cs typeface="Courier New"/>
                <a:sym typeface="Courier New"/>
              </a:rPr>
              <a:t>1_000_000_000</a:t>
            </a:r>
            <a:r>
              <a:rPr lang="en" dirty="0"/>
              <a:t>.</a:t>
            </a:r>
            <a:endParaRPr dirty="0"/>
          </a:p>
          <a:p>
            <a:pPr marL="457200" lvl="0" indent="-311150" algn="l" rtl="0">
              <a:spcBef>
                <a:spcPts val="1000"/>
              </a:spcBef>
              <a:spcAft>
                <a:spcPts val="0"/>
              </a:spcAft>
              <a:buSzPts val="1300"/>
              <a:buChar char="●"/>
            </a:pPr>
            <a:r>
              <a:rPr lang="en" dirty="0"/>
              <a:t>In main, create a racer and have them race for 10 laps with debug enabled. Print out their finish time.</a:t>
            </a:r>
            <a:endParaRPr dirty="0"/>
          </a:p>
        </p:txBody>
      </p:sp>
      <p:sp>
        <p:nvSpPr>
          <p:cNvPr id="250" name="Google Shape;250;p3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8.1</a:t>
            </a:r>
            <a:endParaRPr/>
          </a:p>
        </p:txBody>
      </p:sp>
      <p:pic>
        <p:nvPicPr>
          <p:cNvPr id="251" name="Google Shape;251;p34"/>
          <p:cNvPicPr preferRelativeResize="0"/>
          <p:nvPr/>
        </p:nvPicPr>
        <p:blipFill>
          <a:blip r:embed="rId3">
            <a:alphaModFix/>
          </a:blip>
          <a:stretch>
            <a:fillRect/>
          </a:stretch>
        </p:blipFill>
        <p:spPr>
          <a:xfrm>
            <a:off x="172575" y="1530950"/>
            <a:ext cx="2849025" cy="3392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race with only one racer isn't that exciting. Let's add a couple more racers and see what happens.</a:t>
            </a:r>
            <a:endParaRPr/>
          </a:p>
        </p:txBody>
      </p:sp>
      <p:sp>
        <p:nvSpPr>
          <p:cNvPr id="257" name="Google Shape;257;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258" name="Google Shape;258;p35"/>
          <p:cNvSpPr txBox="1">
            <a:spLocks noGrp="1"/>
          </p:cNvSpPr>
          <p:nvPr>
            <p:ph type="body" idx="2"/>
          </p:nvPr>
        </p:nvSpPr>
        <p:spPr>
          <a:xfrm>
            <a:off x="3015150" y="1485400"/>
            <a:ext cx="5926200" cy="2017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Start by creating a new class in racing named Race.</a:t>
            </a:r>
            <a:endParaRPr dirty="0"/>
          </a:p>
          <a:p>
            <a:pPr marL="457200" lvl="0" indent="-311150" algn="l" rtl="0">
              <a:spcBef>
                <a:spcPts val="0"/>
              </a:spcBef>
              <a:spcAft>
                <a:spcPts val="0"/>
              </a:spcAft>
              <a:buSzPts val="1300"/>
              <a:buChar char="●"/>
            </a:pPr>
            <a:r>
              <a:rPr lang="en" dirty="0"/>
              <a:t>In main:</a:t>
            </a:r>
            <a:endParaRPr dirty="0"/>
          </a:p>
          <a:p>
            <a:pPr marL="914400" lvl="1" indent="-298450" algn="l" rtl="0">
              <a:spcBef>
                <a:spcPts val="0"/>
              </a:spcBef>
              <a:spcAft>
                <a:spcPts val="0"/>
              </a:spcAft>
              <a:buSzPts val="1100"/>
              <a:buChar char="○"/>
            </a:pPr>
            <a:r>
              <a:rPr lang="en" dirty="0"/>
              <a:t>Create 3 racers that will race for 10 laps (with debug enabled)</a:t>
            </a:r>
            <a:endParaRPr dirty="0"/>
          </a:p>
          <a:p>
            <a:pPr marL="914400" lvl="1" indent="-298450" algn="l" rtl="0">
              <a:spcBef>
                <a:spcPts val="0"/>
              </a:spcBef>
              <a:spcAft>
                <a:spcPts val="0"/>
              </a:spcAft>
              <a:buSzPts val="1100"/>
              <a:buChar char="○"/>
            </a:pPr>
            <a:r>
              <a:rPr lang="en" dirty="0"/>
              <a:t>Have each racer race</a:t>
            </a:r>
            <a:endParaRPr dirty="0"/>
          </a:p>
          <a:p>
            <a:pPr marL="914400" lvl="1" indent="-298450" algn="l" rtl="0">
              <a:spcBef>
                <a:spcPts val="0"/>
              </a:spcBef>
              <a:spcAft>
                <a:spcPts val="0"/>
              </a:spcAft>
              <a:buSzPts val="1100"/>
              <a:buChar char="○"/>
            </a:pPr>
            <a:r>
              <a:rPr lang="en" dirty="0"/>
              <a:t>Print out the finish time for each racer</a:t>
            </a:r>
            <a:endParaRPr dirty="0"/>
          </a:p>
          <a:p>
            <a:pPr marL="457200" lvl="0" indent="-311150" algn="l" rtl="0">
              <a:spcBef>
                <a:spcPts val="1000"/>
              </a:spcBef>
              <a:spcAft>
                <a:spcPts val="0"/>
              </a:spcAft>
              <a:buSzPts val="1300"/>
              <a:buChar char="●"/>
            </a:pPr>
            <a:r>
              <a:rPr lang="en" dirty="0"/>
              <a:t>Run your program a few times and take a look at the results</a:t>
            </a:r>
            <a:endParaRPr dirty="0"/>
          </a:p>
          <a:p>
            <a:pPr marL="457200" lvl="0" indent="-311150" algn="l" rtl="0">
              <a:spcBef>
                <a:spcPts val="0"/>
              </a:spcBef>
              <a:spcAft>
                <a:spcPts val="0"/>
              </a:spcAft>
              <a:buSzPts val="1300"/>
              <a:buChar char="●"/>
            </a:pPr>
            <a:r>
              <a:rPr lang="en" dirty="0"/>
              <a:t>In a comment block, describe what you are seeing and any issues you feel would make this an unfair race.</a:t>
            </a:r>
            <a:endParaRPr dirty="0"/>
          </a:p>
        </p:txBody>
      </p:sp>
      <p:sp>
        <p:nvSpPr>
          <p:cNvPr id="259" name="Google Shape;259;p3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More Racers</a:t>
            </a:r>
            <a:endParaRPr/>
          </a:p>
        </p:txBody>
      </p:sp>
      <p:sp>
        <p:nvSpPr>
          <p:cNvPr id="260" name="Google Shape;260;p3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8.2</a:t>
            </a:r>
            <a:endParaRPr/>
          </a:p>
        </p:txBody>
      </p:sp>
      <p:sp>
        <p:nvSpPr>
          <p:cNvPr id="261" name="Google Shape;261;p35"/>
          <p:cNvSpPr txBox="1">
            <a:spLocks noGrp="1"/>
          </p:cNvSpPr>
          <p:nvPr>
            <p:ph type="body" idx="4"/>
          </p:nvPr>
        </p:nvSpPr>
        <p:spPr>
          <a:xfrm>
            <a:off x="239754" y="4350900"/>
            <a:ext cx="27699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More racers means more fun but is this really a fair race?</a:t>
            </a:r>
            <a:endParaRPr/>
          </a:p>
        </p:txBody>
      </p:sp>
      <p:pic>
        <p:nvPicPr>
          <p:cNvPr id="262" name="Google Shape;262;p35"/>
          <p:cNvPicPr preferRelativeResize="0"/>
          <p:nvPr/>
        </p:nvPicPr>
        <p:blipFill>
          <a:blip r:embed="rId3">
            <a:alphaModFix/>
          </a:blip>
          <a:stretch>
            <a:fillRect/>
          </a:stretch>
        </p:blipFill>
        <p:spPr>
          <a:xfrm>
            <a:off x="256384" y="1527763"/>
            <a:ext cx="2741284" cy="2741312"/>
          </a:xfrm>
          <a:prstGeom prst="rect">
            <a:avLst/>
          </a:prstGeom>
          <a:noFill/>
          <a:ln w="19050" cap="flat" cmpd="sng">
            <a:solidFill>
              <a:schemeClr val="dk1"/>
            </a:solidFill>
            <a:prstDash val="solid"/>
            <a:round/>
            <a:headEnd type="none" w="sm" len="sm"/>
            <a:tailEnd type="none" w="sm" len="sm"/>
          </a:ln>
        </p:spPr>
      </p:pic>
      <p:sp>
        <p:nvSpPr>
          <p:cNvPr id="263" name="Google Shape;263;p35"/>
          <p:cNvSpPr/>
          <p:nvPr/>
        </p:nvSpPr>
        <p:spPr>
          <a:xfrm>
            <a:off x="759125" y="1816875"/>
            <a:ext cx="909000" cy="1965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64" name="Google Shape;264;p35"/>
          <p:cNvSpPr/>
          <p:nvPr/>
        </p:nvSpPr>
        <p:spPr>
          <a:xfrm>
            <a:off x="702936" y="1810918"/>
            <a:ext cx="990106" cy="196500"/>
          </a:xfrm>
          <a:prstGeom prst="rect">
            <a:avLst/>
          </a:prstGeom>
        </p:spPr>
        <p:txBody>
          <a:bodyPr>
            <a:prstTxWarp prst="textPlain">
              <a:avLst/>
            </a:prstTxWarp>
          </a:bodyPr>
          <a:lstStyle/>
          <a:p>
            <a:pPr lvl="0" algn="ctr"/>
            <a:r>
              <a:rPr b="1" i="1">
                <a:ln w="9525" cap="flat" cmpd="sng">
                  <a:solidFill>
                    <a:srgbClr val="000000"/>
                  </a:solidFill>
                  <a:prstDash val="solid"/>
                  <a:round/>
                  <a:headEnd type="none" w="sm" len="sm"/>
                  <a:tailEnd type="none" w="sm" len="sm"/>
                </a:ln>
                <a:gradFill>
                  <a:gsLst>
                    <a:gs pos="0">
                      <a:srgbClr val="FFFFFF"/>
                    </a:gs>
                    <a:gs pos="100000">
                      <a:srgbClr val="D0BDAB"/>
                    </a:gs>
                  </a:gsLst>
                  <a:path path="circle">
                    <a:fillToRect l="50000" t="50000" r="50000" b="50000"/>
                  </a:path>
                  <a:tileRect/>
                </a:gradFill>
                <a:latin typeface="Impact"/>
              </a:rPr>
              <a:t>GCIS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6"/>
          <p:cNvSpPr txBox="1">
            <a:spLocks noGrp="1"/>
          </p:cNvSpPr>
          <p:nvPr>
            <p:ph type="title"/>
          </p:nvPr>
        </p:nvSpPr>
        <p:spPr>
          <a:xfrm>
            <a:off x="5264725" y="500925"/>
            <a:ext cx="37065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Processes</a:t>
            </a:r>
            <a:endParaRPr/>
          </a:p>
        </p:txBody>
      </p:sp>
      <p:sp>
        <p:nvSpPr>
          <p:cNvPr id="270" name="Google Shape;270;p36"/>
          <p:cNvSpPr txBox="1">
            <a:spLocks noGrp="1"/>
          </p:cNvSpPr>
          <p:nvPr>
            <p:ph type="body" idx="1"/>
          </p:nvPr>
        </p:nvSpPr>
        <p:spPr>
          <a:xfrm>
            <a:off x="377475" y="272325"/>
            <a:ext cx="4166400" cy="4738200"/>
          </a:xfrm>
          <a:prstGeom prst="rect">
            <a:avLst/>
          </a:prstGeom>
          <a:noFill/>
          <a:ln>
            <a:noFill/>
          </a:ln>
        </p:spPr>
        <p:txBody>
          <a:bodyPr spcFirstLastPara="1" wrap="square" lIns="68575" tIns="34275" rIns="68575" bIns="34275" anchor="t" anchorCtr="0">
            <a:normAutofit fontScale="92500" lnSpcReduction="10000"/>
          </a:bodyPr>
          <a:lstStyle/>
          <a:p>
            <a:pPr marL="457200" lvl="0" indent="-311150" algn="l" rtl="0">
              <a:lnSpc>
                <a:spcPct val="115000"/>
              </a:lnSpc>
              <a:spcBef>
                <a:spcPts val="0"/>
              </a:spcBef>
              <a:spcAft>
                <a:spcPts val="0"/>
              </a:spcAft>
              <a:buSzPts val="1300"/>
              <a:buChar char="●"/>
            </a:pPr>
            <a:r>
              <a:rPr lang="en" dirty="0"/>
              <a:t>Our race isn't very fair and has multiple issues </a:t>
            </a:r>
            <a:endParaRPr dirty="0"/>
          </a:p>
          <a:p>
            <a:pPr marL="457200" lvl="0" indent="-311150" algn="l" rtl="0">
              <a:lnSpc>
                <a:spcPct val="115000"/>
              </a:lnSpc>
              <a:spcBef>
                <a:spcPts val="0"/>
              </a:spcBef>
              <a:spcAft>
                <a:spcPts val="0"/>
              </a:spcAft>
              <a:buSzPts val="1300"/>
              <a:buChar char="●"/>
            </a:pPr>
            <a:r>
              <a:rPr lang="en" dirty="0">
                <a:highlight>
                  <a:srgbClr val="FFFF00"/>
                </a:highlight>
              </a:rPr>
              <a:t>Before we can solve them, we'll need to understand how programs run on computers.</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highlight>
                  <a:srgbClr val="FFFF00"/>
                </a:highlight>
              </a:rPr>
              <a:t>A </a:t>
            </a:r>
            <a:r>
              <a:rPr lang="en" b="1" i="1" dirty="0">
                <a:solidFill>
                  <a:srgbClr val="FF0000"/>
                </a:solidFill>
                <a:highlight>
                  <a:srgbClr val="FFFF00"/>
                </a:highlight>
              </a:rPr>
              <a:t>Process </a:t>
            </a:r>
            <a:r>
              <a:rPr lang="en" dirty="0">
                <a:highlight>
                  <a:srgbClr val="FFFF00"/>
                </a:highlight>
              </a:rPr>
              <a:t>is a instance of an application that is running on a system</a:t>
            </a:r>
            <a:endParaRPr dirty="0">
              <a:highlight>
                <a:srgbClr val="FFFF00"/>
              </a:highlight>
            </a:endParaRPr>
          </a:p>
          <a:p>
            <a:pPr marL="914400" lvl="1" indent="-298450" algn="l" rtl="0">
              <a:lnSpc>
                <a:spcPct val="115000"/>
              </a:lnSpc>
              <a:spcBef>
                <a:spcPts val="0"/>
              </a:spcBef>
              <a:spcAft>
                <a:spcPts val="0"/>
              </a:spcAft>
              <a:buSzPts val="1100"/>
              <a:buChar char="○"/>
            </a:pPr>
            <a:r>
              <a:rPr lang="en" dirty="0"/>
              <a:t>I.E. Running one instance of simple calculator creates one process</a:t>
            </a:r>
            <a:endParaRPr dirty="0"/>
          </a:p>
          <a:p>
            <a:pPr marL="457200" lvl="0" indent="-311150" algn="l" rtl="0">
              <a:lnSpc>
                <a:spcPct val="115000"/>
              </a:lnSpc>
              <a:spcBef>
                <a:spcPts val="1000"/>
              </a:spcBef>
              <a:spcAft>
                <a:spcPts val="0"/>
              </a:spcAft>
              <a:buSzPts val="1300"/>
              <a:buChar char="●"/>
            </a:pPr>
            <a:r>
              <a:rPr lang="en" dirty="0"/>
              <a:t>Each process has </a:t>
            </a:r>
            <a:r>
              <a:rPr lang="en" dirty="0">
                <a:highlight>
                  <a:srgbClr val="FFFF00"/>
                </a:highlight>
              </a:rPr>
              <a:t>some amount of </a:t>
            </a:r>
            <a:r>
              <a:rPr lang="en" b="1" i="1" dirty="0">
                <a:solidFill>
                  <a:srgbClr val="FF0000"/>
                </a:solidFill>
                <a:highlight>
                  <a:srgbClr val="FFFF00"/>
                </a:highlight>
              </a:rPr>
              <a:t>resources </a:t>
            </a:r>
            <a:r>
              <a:rPr lang="en" dirty="0"/>
              <a:t>reserved for its use</a:t>
            </a:r>
            <a:endParaRPr dirty="0"/>
          </a:p>
          <a:p>
            <a:pPr marL="914400" lvl="1" indent="-298450" algn="l" rtl="0">
              <a:lnSpc>
                <a:spcPct val="115000"/>
              </a:lnSpc>
              <a:spcBef>
                <a:spcPts val="0"/>
              </a:spcBef>
              <a:spcAft>
                <a:spcPts val="0"/>
              </a:spcAft>
              <a:buSzPts val="1100"/>
              <a:buChar char="○"/>
            </a:pPr>
            <a:r>
              <a:rPr lang="en" dirty="0"/>
              <a:t>This resource pool is predominantly memory, I.E. RAM</a:t>
            </a:r>
            <a:endParaRPr dirty="0"/>
          </a:p>
          <a:p>
            <a:pPr marL="914400" lvl="1" indent="-298450" algn="l" rtl="0">
              <a:lnSpc>
                <a:spcPct val="115000"/>
              </a:lnSpc>
              <a:spcBef>
                <a:spcPts val="0"/>
              </a:spcBef>
              <a:spcAft>
                <a:spcPts val="0"/>
              </a:spcAft>
              <a:buSzPts val="1100"/>
              <a:buChar char="○"/>
            </a:pPr>
            <a:r>
              <a:rPr lang="en" dirty="0"/>
              <a:t>A process will generate a </a:t>
            </a:r>
            <a:r>
              <a:rPr lang="en" dirty="0">
                <a:highlight>
                  <a:srgbClr val="FFFF00"/>
                </a:highlight>
              </a:rPr>
              <a:t>segmentation fault </a:t>
            </a:r>
            <a:r>
              <a:rPr lang="en" dirty="0"/>
              <a:t>if they try to use memory outside of that which has been allocated to the process</a:t>
            </a:r>
            <a:endParaRPr dirty="0"/>
          </a:p>
          <a:p>
            <a:pPr marL="457200" lvl="0" indent="-311150" algn="l" rtl="0">
              <a:lnSpc>
                <a:spcPct val="115000"/>
              </a:lnSpc>
              <a:spcBef>
                <a:spcPts val="1000"/>
              </a:spcBef>
              <a:spcAft>
                <a:spcPts val="0"/>
              </a:spcAft>
              <a:buSzPts val="1300"/>
              <a:buChar char="●"/>
            </a:pPr>
            <a:r>
              <a:rPr lang="en" dirty="0"/>
              <a:t>Each process can run </a:t>
            </a:r>
            <a:r>
              <a:rPr lang="en" dirty="0">
                <a:highlight>
                  <a:srgbClr val="FFFF00"/>
                </a:highlight>
              </a:rPr>
              <a:t>one or more </a:t>
            </a:r>
            <a:r>
              <a:rPr lang="en" b="1" i="1" dirty="0">
                <a:solidFill>
                  <a:srgbClr val="FF0000"/>
                </a:solidFill>
                <a:highlight>
                  <a:srgbClr val="FFFF00"/>
                </a:highlight>
              </a:rPr>
              <a:t>threads </a:t>
            </a:r>
            <a:r>
              <a:rPr lang="en" dirty="0"/>
              <a:t>of execution.</a:t>
            </a:r>
            <a:endParaRPr dirty="0"/>
          </a:p>
          <a:p>
            <a:pPr marL="457200" lvl="0" indent="-311150" algn="l" rtl="0">
              <a:lnSpc>
                <a:spcPct val="115000"/>
              </a:lnSpc>
              <a:spcBef>
                <a:spcPts val="0"/>
              </a:spcBef>
              <a:spcAft>
                <a:spcPts val="0"/>
              </a:spcAft>
              <a:buSzPts val="1300"/>
              <a:buChar char="●"/>
            </a:pPr>
            <a:r>
              <a:rPr lang="en" dirty="0"/>
              <a:t>Each </a:t>
            </a:r>
            <a:r>
              <a:rPr lang="en" dirty="0">
                <a:highlight>
                  <a:srgbClr val="FFFF00"/>
                </a:highlight>
              </a:rPr>
              <a:t>core (or v-core) </a:t>
            </a:r>
            <a:r>
              <a:rPr lang="en" dirty="0"/>
              <a:t>in your system can run </a:t>
            </a:r>
            <a:r>
              <a:rPr lang="en" b="1" i="1" dirty="0">
                <a:solidFill>
                  <a:srgbClr val="FF0000"/>
                </a:solidFill>
              </a:rPr>
              <a:t>one </a:t>
            </a:r>
            <a:r>
              <a:rPr lang="en" dirty="0"/>
              <a:t>thread at a time</a:t>
            </a:r>
            <a:endParaRPr dirty="0"/>
          </a:p>
          <a:p>
            <a:pPr marL="457200" lvl="0" indent="-311150" algn="l" rtl="0">
              <a:lnSpc>
                <a:spcPct val="115000"/>
              </a:lnSpc>
              <a:spcBef>
                <a:spcPts val="0"/>
              </a:spcBef>
              <a:spcAft>
                <a:spcPts val="0"/>
              </a:spcAft>
              <a:buSzPts val="1300"/>
              <a:buChar char="●"/>
            </a:pPr>
            <a:r>
              <a:rPr lang="en" dirty="0"/>
              <a:t>So how many processes/threads does your computer use?</a:t>
            </a:r>
            <a:endParaRPr dirty="0"/>
          </a:p>
          <a:p>
            <a:pPr marL="457200" lvl="0" indent="-311150" algn="l" rtl="0">
              <a:lnSpc>
                <a:spcPct val="115000"/>
              </a:lnSpc>
              <a:spcBef>
                <a:spcPts val="0"/>
              </a:spcBef>
              <a:spcAft>
                <a:spcPts val="0"/>
              </a:spcAft>
              <a:buSzPts val="1300"/>
              <a:buChar char="●"/>
            </a:pPr>
            <a:r>
              <a:rPr lang="en" dirty="0"/>
              <a:t>Since there are </a:t>
            </a:r>
            <a:r>
              <a:rPr lang="en" b="1" i="1" dirty="0">
                <a:solidFill>
                  <a:srgbClr val="FF0000"/>
                </a:solidFill>
              </a:rPr>
              <a:t>many more</a:t>
            </a:r>
            <a:r>
              <a:rPr lang="en" dirty="0"/>
              <a:t> processes than cores and </a:t>
            </a:r>
            <a:r>
              <a:rPr lang="en" dirty="0">
                <a:highlight>
                  <a:srgbClr val="FFFF00"/>
                </a:highlight>
              </a:rPr>
              <a:t>each core can only execute one process </a:t>
            </a:r>
            <a:r>
              <a:rPr lang="en" dirty="0"/>
              <a:t>how does a computer work?</a:t>
            </a:r>
            <a:endParaRPr dirty="0"/>
          </a:p>
        </p:txBody>
      </p:sp>
      <p:sp>
        <p:nvSpPr>
          <p:cNvPr id="271" name="Google Shape;271;p36"/>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68575" tIns="34275" rIns="68575" bIns="34275" anchor="ctr" anchorCtr="0">
            <a:noAutofit/>
          </a:bodyPr>
          <a:lstStyle/>
          <a:p>
            <a:pPr marL="0" lvl="0" indent="0" algn="l" rtl="0">
              <a:lnSpc>
                <a:spcPct val="115000"/>
              </a:lnSpc>
              <a:spcBef>
                <a:spcPts val="0"/>
              </a:spcBef>
              <a:spcAft>
                <a:spcPts val="0"/>
              </a:spcAft>
              <a:buClr>
                <a:schemeClr val="dk2"/>
              </a:buClr>
              <a:buSzPts val="2300"/>
              <a:buNone/>
            </a:pPr>
            <a:r>
              <a:rPr lang="en" sz="1400"/>
              <a:t>Modern computers can run many </a:t>
            </a:r>
            <a:r>
              <a:rPr lang="en" sz="1400" b="1" i="1">
                <a:solidFill>
                  <a:srgbClr val="FF0000"/>
                </a:solidFill>
              </a:rPr>
              <a:t>processes</a:t>
            </a:r>
            <a:r>
              <a:rPr lang="en" sz="1400"/>
              <a:t> (or applications) at the same time.</a:t>
            </a:r>
            <a:endParaRPr sz="1400"/>
          </a:p>
        </p:txBody>
      </p:sp>
      <p:sp>
        <p:nvSpPr>
          <p:cNvPr id="272" name="Google Shape;272;p36"/>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pic>
        <p:nvPicPr>
          <p:cNvPr id="273" name="Google Shape;273;p36"/>
          <p:cNvPicPr preferRelativeResize="0"/>
          <p:nvPr/>
        </p:nvPicPr>
        <p:blipFill>
          <a:blip r:embed="rId3">
            <a:alphaModFix/>
          </a:blip>
          <a:stretch>
            <a:fillRect/>
          </a:stretch>
        </p:blipFill>
        <p:spPr>
          <a:xfrm>
            <a:off x="5192225" y="1360875"/>
            <a:ext cx="3706501" cy="2464970"/>
          </a:xfrm>
          <a:prstGeom prst="rect">
            <a:avLst/>
          </a:prstGeom>
          <a:noFill/>
          <a:ln w="19050" cap="flat" cmpd="sng">
            <a:solidFill>
              <a:schemeClr val="accent1"/>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1"/>
                                        </p:tgtEl>
                                        <p:attrNameLst>
                                          <p:attrName>style.visibility</p:attrName>
                                        </p:attrNameLst>
                                      </p:cBhvr>
                                      <p:to>
                                        <p:strVal val="visible"/>
                                      </p:to>
                                    </p:set>
                                    <p:animEffect transition="in" filter="fade">
                                      <p:cBhvr>
                                        <p:cTn id="7" dur="1000"/>
                                        <p:tgtEl>
                                          <p:spTgt spid="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279" name="Google Shape;279;p3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How Many Threads!?</a:t>
            </a:r>
            <a:endParaRPr/>
          </a:p>
        </p:txBody>
      </p:sp>
      <p:sp>
        <p:nvSpPr>
          <p:cNvPr id="280" name="Google Shape;280;p37"/>
          <p:cNvSpPr txBox="1">
            <a:spLocks noGrp="1"/>
          </p:cNvSpPr>
          <p:nvPr>
            <p:ph type="body" idx="1"/>
          </p:nvPr>
        </p:nvSpPr>
        <p:spPr>
          <a:xfrm>
            <a:off x="65250" y="6554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Every operating system provides a mechanism that can be used to see a list of the processes that are running on your computer. Depending on your OS, you may also be able to see details about each process (including how much memory and processor time it is using). Follow the instructions for your operating system. How many processes are you running right now?</a:t>
            </a:r>
            <a:endParaRPr dirty="0"/>
          </a:p>
        </p:txBody>
      </p:sp>
      <p:sp>
        <p:nvSpPr>
          <p:cNvPr id="281" name="Google Shape;281;p37"/>
          <p:cNvSpPr txBox="1">
            <a:spLocks noGrp="1"/>
          </p:cNvSpPr>
          <p:nvPr>
            <p:ph type="body" idx="2"/>
          </p:nvPr>
        </p:nvSpPr>
        <p:spPr>
          <a:xfrm>
            <a:off x="3683650" y="1944950"/>
            <a:ext cx="5242200" cy="2792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Windows:</a:t>
            </a:r>
            <a:endParaRPr sz="1500" dirty="0"/>
          </a:p>
          <a:p>
            <a:pPr marL="914400" lvl="1" indent="-311150" algn="l" rtl="0">
              <a:spcBef>
                <a:spcPts val="0"/>
              </a:spcBef>
              <a:spcAft>
                <a:spcPts val="0"/>
              </a:spcAft>
              <a:buSzPts val="1300"/>
              <a:buChar char="○"/>
            </a:pPr>
            <a:r>
              <a:rPr lang="en" sz="1300" dirty="0"/>
              <a:t>CTRL+ALT+DEL</a:t>
            </a:r>
            <a:endParaRPr sz="1300" dirty="0"/>
          </a:p>
          <a:p>
            <a:pPr marL="914400" lvl="1" indent="-311150" algn="l" rtl="0">
              <a:spcBef>
                <a:spcPts val="0"/>
              </a:spcBef>
              <a:spcAft>
                <a:spcPts val="0"/>
              </a:spcAft>
              <a:buSzPts val="1300"/>
              <a:buChar char="○"/>
            </a:pPr>
            <a:r>
              <a:rPr lang="en" sz="1300" dirty="0"/>
              <a:t>Select Task Manager</a:t>
            </a:r>
            <a:endParaRPr sz="1300" dirty="0"/>
          </a:p>
          <a:p>
            <a:pPr marL="914400" lvl="1" indent="-311150" algn="l" rtl="0">
              <a:spcBef>
                <a:spcPts val="0"/>
              </a:spcBef>
              <a:spcAft>
                <a:spcPts val="0"/>
              </a:spcAft>
              <a:buSzPts val="1300"/>
              <a:buChar char="○"/>
            </a:pPr>
            <a:r>
              <a:rPr lang="en" sz="1300" dirty="0"/>
              <a:t>Performance Tab | CPU</a:t>
            </a:r>
            <a:endParaRPr sz="1300" dirty="0"/>
          </a:p>
          <a:p>
            <a:pPr marL="457200" lvl="0" indent="-323850" algn="l" rtl="0">
              <a:spcBef>
                <a:spcPts val="0"/>
              </a:spcBef>
              <a:spcAft>
                <a:spcPts val="0"/>
              </a:spcAft>
              <a:buSzPts val="1500"/>
              <a:buChar char="●"/>
            </a:pPr>
            <a:r>
              <a:rPr lang="en" sz="1500" dirty="0"/>
              <a:t>MacOS:</a:t>
            </a:r>
            <a:endParaRPr sz="1500" dirty="0"/>
          </a:p>
          <a:p>
            <a:pPr marL="914400" lvl="1" indent="-311150" algn="l" rtl="0">
              <a:spcBef>
                <a:spcPts val="0"/>
              </a:spcBef>
              <a:spcAft>
                <a:spcPts val="0"/>
              </a:spcAft>
              <a:buSzPts val="1300"/>
              <a:buChar char="○"/>
            </a:pPr>
            <a:r>
              <a:rPr lang="en" sz="1300" dirty="0"/>
              <a:t>Search for and run Activity Monitor</a:t>
            </a:r>
            <a:endParaRPr sz="1300" dirty="0"/>
          </a:p>
          <a:p>
            <a:pPr marL="914400" lvl="1" indent="-311150" algn="l" rtl="0">
              <a:spcBef>
                <a:spcPts val="0"/>
              </a:spcBef>
              <a:spcAft>
                <a:spcPts val="0"/>
              </a:spcAft>
              <a:buSzPts val="1300"/>
              <a:buChar char="○"/>
            </a:pPr>
            <a:r>
              <a:rPr lang="en" sz="1300" dirty="0"/>
              <a:t>Choose the CPU tab</a:t>
            </a:r>
            <a:endParaRPr sz="1300" dirty="0"/>
          </a:p>
          <a:p>
            <a:pPr marL="457200" lvl="0" indent="-323850" algn="l" rtl="0">
              <a:spcBef>
                <a:spcPts val="0"/>
              </a:spcBef>
              <a:spcAft>
                <a:spcPts val="0"/>
              </a:spcAft>
              <a:buSzPts val="1500"/>
              <a:buChar char="●"/>
            </a:pPr>
            <a:r>
              <a:rPr lang="en" sz="1500" dirty="0"/>
              <a:t>Linux:</a:t>
            </a:r>
            <a:endParaRPr sz="1500" dirty="0"/>
          </a:p>
          <a:p>
            <a:pPr marL="914400" lvl="1" indent="-311150" algn="l" rtl="0">
              <a:spcBef>
                <a:spcPts val="0"/>
              </a:spcBef>
              <a:spcAft>
                <a:spcPts val="0"/>
              </a:spcAft>
              <a:buSzPts val="1300"/>
              <a:buChar char="○"/>
            </a:pPr>
            <a:r>
              <a:rPr lang="en" sz="1300" dirty="0"/>
              <a:t>Open the terminal window</a:t>
            </a:r>
            <a:endParaRPr sz="1300" dirty="0"/>
          </a:p>
          <a:p>
            <a:pPr marL="914400" lvl="1" indent="-311150" algn="l" rtl="0">
              <a:spcBef>
                <a:spcPts val="0"/>
              </a:spcBef>
              <a:spcAft>
                <a:spcPts val="0"/>
              </a:spcAft>
              <a:buSzPts val="1300"/>
              <a:buFont typeface="Courier New"/>
              <a:buChar char="○"/>
            </a:pPr>
            <a:r>
              <a:rPr lang="en" sz="1300" dirty="0">
                <a:latin typeface="Courier New"/>
                <a:ea typeface="Courier New"/>
                <a:cs typeface="Courier New"/>
                <a:sym typeface="Courier New"/>
              </a:rPr>
              <a:t>ps -eL | wc -l</a:t>
            </a:r>
            <a:br>
              <a:rPr lang="en" sz="1300" dirty="0">
                <a:latin typeface="Courier New"/>
                <a:ea typeface="Courier New"/>
                <a:cs typeface="Courier New"/>
                <a:sym typeface="Courier New"/>
              </a:rPr>
            </a:br>
            <a:r>
              <a:rPr lang="en" sz="1300" dirty="0">
                <a:latin typeface="Courier New"/>
                <a:ea typeface="Courier New"/>
                <a:cs typeface="Courier New"/>
                <a:sym typeface="Courier New"/>
              </a:rPr>
              <a:t>(or run htop in a terminal)</a:t>
            </a:r>
            <a:endParaRPr sz="1300" dirty="0">
              <a:latin typeface="Courier New"/>
              <a:ea typeface="Courier New"/>
              <a:cs typeface="Courier New"/>
              <a:sym typeface="Courier New"/>
            </a:endParaRPr>
          </a:p>
        </p:txBody>
      </p:sp>
      <p:sp>
        <p:nvSpPr>
          <p:cNvPr id="282" name="Google Shape;282;p3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8.3</a:t>
            </a:r>
            <a:endParaRPr/>
          </a:p>
        </p:txBody>
      </p:sp>
      <p:pic>
        <p:nvPicPr>
          <p:cNvPr id="283" name="Google Shape;283;p37"/>
          <p:cNvPicPr preferRelativeResize="0"/>
          <p:nvPr/>
        </p:nvPicPr>
        <p:blipFill>
          <a:blip r:embed="rId3">
            <a:alphaModFix/>
          </a:blip>
          <a:stretch>
            <a:fillRect/>
          </a:stretch>
        </p:blipFill>
        <p:spPr>
          <a:xfrm>
            <a:off x="170975" y="1944950"/>
            <a:ext cx="3368974" cy="2984351"/>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8"/>
          <p:cNvSpPr txBox="1">
            <a:spLocks noGrp="1"/>
          </p:cNvSpPr>
          <p:nvPr>
            <p:ph type="title"/>
          </p:nvPr>
        </p:nvSpPr>
        <p:spPr>
          <a:xfrm>
            <a:off x="311725" y="500925"/>
            <a:ext cx="8520600" cy="6237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Time Sharing</a:t>
            </a:r>
            <a:endParaRPr/>
          </a:p>
        </p:txBody>
      </p:sp>
      <p:sp>
        <p:nvSpPr>
          <p:cNvPr id="289" name="Google Shape;289;p38"/>
          <p:cNvSpPr txBox="1">
            <a:spLocks noGrp="1"/>
          </p:cNvSpPr>
          <p:nvPr>
            <p:ph type="body" idx="1"/>
          </p:nvPr>
        </p:nvSpPr>
        <p:spPr>
          <a:xfrm>
            <a:off x="311700" y="1505700"/>
            <a:ext cx="8520600" cy="2072700"/>
          </a:xfrm>
          <a:prstGeom prst="rect">
            <a:avLst/>
          </a:prstGeom>
          <a:noFill/>
          <a:ln>
            <a:noFill/>
          </a:ln>
        </p:spPr>
        <p:txBody>
          <a:bodyPr spcFirstLastPara="1" wrap="square" lIns="68575" tIns="34275" rIns="68575" bIns="34275" anchor="t" anchorCtr="0">
            <a:normAutofit lnSpcReduction="10000"/>
          </a:bodyPr>
          <a:lstStyle/>
          <a:p>
            <a:pPr marL="457200" lvl="0" indent="-311150" algn="l" rtl="0">
              <a:lnSpc>
                <a:spcPct val="115000"/>
              </a:lnSpc>
              <a:spcBef>
                <a:spcPts val="0"/>
              </a:spcBef>
              <a:spcAft>
                <a:spcPts val="0"/>
              </a:spcAft>
              <a:buSzPts val="1300"/>
              <a:buChar char="●"/>
            </a:pPr>
            <a:r>
              <a:rPr lang="en" dirty="0"/>
              <a:t>Clearly, there are far more </a:t>
            </a:r>
            <a:r>
              <a:rPr lang="en" i="1" dirty="0"/>
              <a:t>processes </a:t>
            </a:r>
            <a:r>
              <a:rPr lang="en" dirty="0"/>
              <a:t>than </a:t>
            </a:r>
            <a:r>
              <a:rPr lang="en" i="1" dirty="0"/>
              <a:t>processors </a:t>
            </a:r>
            <a:r>
              <a:rPr lang="en" dirty="0"/>
              <a:t>(or </a:t>
            </a:r>
            <a:r>
              <a:rPr lang="en" b="1" i="1" dirty="0">
                <a:solidFill>
                  <a:srgbClr val="FF0000"/>
                </a:solidFill>
              </a:rPr>
              <a:t>cores</a:t>
            </a:r>
            <a:r>
              <a:rPr lang="en" dirty="0"/>
              <a:t>) on your computer. This means that processes will have to </a:t>
            </a:r>
            <a:r>
              <a:rPr lang="en" b="1" i="1" dirty="0">
                <a:solidFill>
                  <a:srgbClr val="FF0000"/>
                </a:solidFill>
              </a:rPr>
              <a:t>share</a:t>
            </a:r>
            <a:r>
              <a:rPr lang="en" dirty="0"/>
              <a:t> hardware, but how to do this in a fair way that lets all processes make </a:t>
            </a:r>
            <a:r>
              <a:rPr lang="en" b="1" i="1" dirty="0">
                <a:solidFill>
                  <a:srgbClr val="FF0000"/>
                </a:solidFill>
              </a:rPr>
              <a:t>progress</a:t>
            </a:r>
            <a:r>
              <a:rPr lang="en" dirty="0"/>
              <a:t>?</a:t>
            </a:r>
            <a:endParaRPr dirty="0"/>
          </a:p>
          <a:p>
            <a:pPr marL="457200" lvl="0" indent="-311150" algn="l" rtl="0">
              <a:lnSpc>
                <a:spcPct val="115000"/>
              </a:lnSpc>
              <a:spcBef>
                <a:spcPts val="1000"/>
              </a:spcBef>
              <a:spcAft>
                <a:spcPts val="0"/>
              </a:spcAft>
              <a:buSzPts val="1300"/>
              <a:buChar char="●"/>
            </a:pPr>
            <a:r>
              <a:rPr lang="en" dirty="0"/>
              <a:t>Each process is given a small window of time, or </a:t>
            </a:r>
            <a:r>
              <a:rPr lang="en" b="1" i="1" dirty="0">
                <a:solidFill>
                  <a:srgbClr val="FF0000"/>
                </a:solidFill>
                <a:highlight>
                  <a:srgbClr val="FFFF00"/>
                </a:highlight>
              </a:rPr>
              <a:t>time slice</a:t>
            </a:r>
            <a:r>
              <a:rPr lang="en" dirty="0"/>
              <a:t>, in which it is allowed to use a CPU core.</a:t>
            </a:r>
            <a:endParaRPr dirty="0"/>
          </a:p>
          <a:p>
            <a:pPr marL="914400" lvl="1" indent="-304800" algn="l" rtl="0">
              <a:lnSpc>
                <a:spcPct val="115000"/>
              </a:lnSpc>
              <a:spcBef>
                <a:spcPts val="0"/>
              </a:spcBef>
              <a:spcAft>
                <a:spcPts val="0"/>
              </a:spcAft>
              <a:buSzPts val="1200"/>
              <a:buChar char="○"/>
            </a:pPr>
            <a:r>
              <a:rPr lang="en" sz="1200" dirty="0"/>
              <a:t>The amount of time </a:t>
            </a:r>
            <a:r>
              <a:rPr lang="en" sz="1200" b="1" i="1" dirty="0">
                <a:solidFill>
                  <a:srgbClr val="FF0000"/>
                </a:solidFill>
              </a:rPr>
              <a:t>varies</a:t>
            </a:r>
            <a:r>
              <a:rPr lang="en" sz="1200" dirty="0"/>
              <a:t> based on hardware and OS.</a:t>
            </a:r>
            <a:endParaRPr sz="1200" dirty="0"/>
          </a:p>
          <a:p>
            <a:pPr marL="914400" lvl="1" indent="-304800" algn="l" rtl="0">
              <a:lnSpc>
                <a:spcPct val="115000"/>
              </a:lnSpc>
              <a:spcBef>
                <a:spcPts val="400"/>
              </a:spcBef>
              <a:spcAft>
                <a:spcPts val="0"/>
              </a:spcAft>
              <a:buSzPts val="1200"/>
              <a:buChar char="○"/>
            </a:pPr>
            <a:r>
              <a:rPr lang="en" sz="1200" dirty="0"/>
              <a:t>For a specific system instance the</a:t>
            </a:r>
            <a:r>
              <a:rPr lang="en" sz="1200" dirty="0">
                <a:highlight>
                  <a:srgbClr val="FFFF00"/>
                </a:highlight>
              </a:rPr>
              <a:t> time slice is normally a </a:t>
            </a:r>
            <a:r>
              <a:rPr lang="en" sz="1200" b="1" i="1" dirty="0">
                <a:solidFill>
                  <a:srgbClr val="FF0000"/>
                </a:solidFill>
                <a:highlight>
                  <a:srgbClr val="FFFF00"/>
                </a:highlight>
              </a:rPr>
              <a:t>constant</a:t>
            </a:r>
            <a:r>
              <a:rPr lang="en" sz="1200" dirty="0">
                <a:highlight>
                  <a:srgbClr val="FFFF00"/>
                </a:highlight>
              </a:rPr>
              <a:t>.</a:t>
            </a:r>
            <a:endParaRPr sz="400" b="1" i="1" dirty="0">
              <a:solidFill>
                <a:srgbClr val="FF0000"/>
              </a:solidFill>
              <a:highlight>
                <a:srgbClr val="FFFF00"/>
              </a:highlight>
            </a:endParaRPr>
          </a:p>
          <a:p>
            <a:pPr marL="0" lvl="0" indent="0" algn="ctr" rtl="0">
              <a:lnSpc>
                <a:spcPct val="90000"/>
              </a:lnSpc>
              <a:spcBef>
                <a:spcPts val="1000"/>
              </a:spcBef>
              <a:spcAft>
                <a:spcPts val="1600"/>
              </a:spcAft>
              <a:buClr>
                <a:schemeClr val="dk1"/>
              </a:buClr>
              <a:buSzPts val="1900"/>
              <a:buNone/>
            </a:pPr>
            <a:r>
              <a:rPr lang="en" sz="2000" dirty="0">
                <a:solidFill>
                  <a:schemeClr val="accent1"/>
                </a:solidFill>
              </a:rPr>
              <a:t>Core A</a:t>
            </a:r>
            <a:endParaRPr sz="2000" dirty="0">
              <a:solidFill>
                <a:schemeClr val="accent1"/>
              </a:solidFill>
            </a:endParaRPr>
          </a:p>
        </p:txBody>
      </p:sp>
      <p:graphicFrame>
        <p:nvGraphicFramePr>
          <p:cNvPr id="290" name="Google Shape;290;p38"/>
          <p:cNvGraphicFramePr/>
          <p:nvPr/>
        </p:nvGraphicFramePr>
        <p:xfrm>
          <a:off x="640080" y="3301648"/>
          <a:ext cx="7886700" cy="1028760"/>
        </p:xfrm>
        <a:graphic>
          <a:graphicData uri="http://schemas.openxmlformats.org/drawingml/2006/table">
            <a:tbl>
              <a:tblPr firstRow="1" bandRow="1">
                <a:noFill/>
                <a:tableStyleId>{A07C2E57-52A4-4090-9760-2D5068A43A11}</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gridCol w="876300">
                  <a:extLst>
                    <a:ext uri="{9D8B030D-6E8A-4147-A177-3AD203B41FA5}">
                      <a16:colId xmlns:a16="http://schemas.microsoft.com/office/drawing/2014/main" val="20004"/>
                    </a:ext>
                  </a:extLst>
                </a:gridCol>
                <a:gridCol w="876300">
                  <a:extLst>
                    <a:ext uri="{9D8B030D-6E8A-4147-A177-3AD203B41FA5}">
                      <a16:colId xmlns:a16="http://schemas.microsoft.com/office/drawing/2014/main" val="20005"/>
                    </a:ext>
                  </a:extLst>
                </a:gridCol>
                <a:gridCol w="876300">
                  <a:extLst>
                    <a:ext uri="{9D8B030D-6E8A-4147-A177-3AD203B41FA5}">
                      <a16:colId xmlns:a16="http://schemas.microsoft.com/office/drawing/2014/main" val="20006"/>
                    </a:ext>
                  </a:extLst>
                </a:gridCol>
                <a:gridCol w="876300">
                  <a:extLst>
                    <a:ext uri="{9D8B030D-6E8A-4147-A177-3AD203B41FA5}">
                      <a16:colId xmlns:a16="http://schemas.microsoft.com/office/drawing/2014/main" val="20007"/>
                    </a:ext>
                  </a:extLst>
                </a:gridCol>
                <a:gridCol w="876300">
                  <a:extLst>
                    <a:ext uri="{9D8B030D-6E8A-4147-A177-3AD203B41FA5}">
                      <a16:colId xmlns:a16="http://schemas.microsoft.com/office/drawing/2014/main" val="20008"/>
                    </a:ext>
                  </a:extLst>
                </a:gridCol>
              </a:tblGrid>
              <a:tr h="278150">
                <a:tc>
                  <a:txBody>
                    <a:bodyPr/>
                    <a:lstStyle/>
                    <a:p>
                      <a:pPr marL="0" marR="0" lvl="0" indent="0" algn="l" rtl="0">
                        <a:spcBef>
                          <a:spcPts val="0"/>
                        </a:spcBef>
                        <a:spcAft>
                          <a:spcPts val="0"/>
                        </a:spcAft>
                        <a:buNone/>
                      </a:pPr>
                      <a:r>
                        <a:rPr lang="en" sz="1500" u="none" strike="noStrike" cap="none"/>
                        <a:t>process1</a:t>
                      </a:r>
                      <a:endParaRPr sz="1100"/>
                    </a:p>
                  </a:txBody>
                  <a:tcPr marL="68600" marR="68600" marT="34300" marB="34300">
                    <a:lnR w="12700" cap="flat" cmpd="sng">
                      <a:solidFill>
                        <a:schemeClr val="dk1"/>
                      </a:solidFill>
                      <a:prstDash val="solid"/>
                      <a:round/>
                      <a:headEnd type="none" w="sm" len="sm"/>
                      <a:tailEnd type="none" w="sm" len="sm"/>
                    </a:lnR>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accent1"/>
                      </a:solidFill>
                      <a:prstDash val="solid"/>
                      <a:round/>
                      <a:headEnd type="none" w="sm" len="sm"/>
                      <a:tailEnd type="none" w="sm" len="sm"/>
                    </a:lnR>
                    <a:lnB w="9525" cap="flat" cmpd="sng">
                      <a:solidFill>
                        <a:schemeClr val="accent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B w="9525" cap="flat" cmpd="sng">
                      <a:solidFill>
                        <a:schemeClr val="accent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accent1"/>
                      </a:solidFill>
                      <a:prstDash val="solid"/>
                      <a:round/>
                      <a:headEnd type="none" w="sm" len="sm"/>
                      <a:tailEnd type="none" w="sm" len="sm"/>
                    </a:lnR>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B w="9525"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500"/>
                        <a:t>process2</a:t>
                      </a:r>
                      <a:endParaRPr sz="1100"/>
                    </a:p>
                  </a:txBody>
                  <a:tcPr marL="68600" marR="68600" marT="34300" marB="34300">
                    <a:lnR w="12700" cap="flat" cmpd="sng">
                      <a:solidFill>
                        <a:schemeClr val="accent1"/>
                      </a:solidFill>
                      <a:prstDash val="solid"/>
                      <a:round/>
                      <a:headEnd type="none" w="sm" len="sm"/>
                      <a:tailEnd type="none" w="sm" len="sm"/>
                    </a:lnR>
                  </a:tcPr>
                </a:tc>
                <a:tc>
                  <a:txBody>
                    <a:bodyPr/>
                    <a:lstStyle/>
                    <a:p>
                      <a:pPr marL="0" marR="0" lvl="0" indent="0" algn="l" rtl="0">
                        <a:spcBef>
                          <a:spcPts val="0"/>
                        </a:spcBef>
                        <a:spcAft>
                          <a:spcPts val="0"/>
                        </a:spcAft>
                        <a:buNone/>
                      </a:pPr>
                      <a:endParaRPr sz="1800">
                        <a:solidFill>
                          <a:schemeClr val="accent1"/>
                        </a:solidFill>
                      </a:endParaRPr>
                    </a:p>
                  </a:txBody>
                  <a:tcPr marL="68600" marR="68600" marT="34300" marB="34300">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accent1"/>
                      </a:solidFill>
                      <a:prstDash val="solid"/>
                      <a:round/>
                      <a:headEnd type="none" w="sm" len="sm"/>
                      <a:tailEnd type="none" w="sm" len="sm"/>
                    </a:lnT>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accent1"/>
                      </a:solidFill>
                      <a:prstDash val="solid"/>
                      <a:round/>
                      <a:headEnd type="none" w="sm" len="sm"/>
                      <a:tailEnd type="none" w="sm" len="sm"/>
                    </a:lnR>
                    <a:lnB w="9525" cap="flat" cmpd="sng">
                      <a:solidFill>
                        <a:schemeClr val="accent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dk1"/>
                      </a:solidFill>
                      <a:prstDash val="solid"/>
                      <a:round/>
                      <a:headEnd type="none" w="sm" len="sm"/>
                      <a:tailEnd type="none" w="sm" len="sm"/>
                    </a:lnR>
                    <a:lnB w="9525" cap="flat" cmpd="sng">
                      <a:solidFill>
                        <a:schemeClr val="accent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accent1"/>
                      </a:solidFill>
                      <a:prstDash val="solid"/>
                      <a:round/>
                      <a:headEnd type="none" w="sm" len="sm"/>
                      <a:tailEnd type="none" w="sm" len="sm"/>
                    </a:lnT>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accent1"/>
                      </a:solidFill>
                      <a:prstDash val="solid"/>
                      <a:round/>
                      <a:headEnd type="none" w="sm" len="sm"/>
                      <a:tailEnd type="none" w="sm" len="sm"/>
                    </a:lnR>
                    <a:lnB w="9525" cap="flat" cmpd="sng">
                      <a:solidFill>
                        <a:schemeClr val="accent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500"/>
                        <a:t>process3</a:t>
                      </a:r>
                      <a:endParaRPr sz="1100"/>
                    </a:p>
                  </a:txBody>
                  <a:tcPr marL="68600" marR="68600" marT="34300" marB="34300">
                    <a:lnR w="12700" cap="flat" cmpd="sng">
                      <a:solidFill>
                        <a:schemeClr val="dk1"/>
                      </a:solidFill>
                      <a:prstDash val="solid"/>
                      <a:round/>
                      <a:headEnd type="none" w="sm" len="sm"/>
                      <a:tailEnd type="none" w="sm" len="sm"/>
                    </a:lnR>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accent1"/>
                      </a:solidFill>
                      <a:prstDash val="solid"/>
                      <a:round/>
                      <a:headEnd type="none" w="sm" len="sm"/>
                      <a:tailEnd type="none" w="sm" len="sm"/>
                    </a:lnT>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accent1"/>
                      </a:solidFill>
                      <a:prstDash val="solid"/>
                      <a:round/>
                      <a:headEnd type="none" w="sm" len="sm"/>
                      <a:tailEnd type="none" w="sm" len="sm"/>
                    </a:lnR>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accent1"/>
                      </a:solidFill>
                      <a:prstDash val="solid"/>
                      <a:round/>
                      <a:headEnd type="none" w="sm" len="sm"/>
                      <a:tailEnd type="none" w="sm" len="sm"/>
                    </a:lnT>
                    <a:solidFill>
                      <a:schemeClr val="lt1"/>
                    </a:solidFill>
                  </a:tcPr>
                </a:tc>
                <a:extLst>
                  <a:ext uri="{0D108BD9-81ED-4DB2-BD59-A6C34878D82A}">
                    <a16:rowId xmlns:a16="http://schemas.microsoft.com/office/drawing/2014/main" val="10002"/>
                  </a:ext>
                </a:extLst>
              </a:tr>
            </a:tbl>
          </a:graphicData>
        </a:graphic>
      </p:graphicFrame>
      <p:sp>
        <p:nvSpPr>
          <p:cNvPr id="291" name="Google Shape;291;p38"/>
          <p:cNvSpPr/>
          <p:nvPr/>
        </p:nvSpPr>
        <p:spPr>
          <a:xfrm>
            <a:off x="4028551" y="4654374"/>
            <a:ext cx="1109700" cy="348900"/>
          </a:xfrm>
          <a:prstGeom prst="rect">
            <a:avLst/>
          </a:prstGeom>
          <a:solidFill>
            <a:srgbClr val="FFF2CC"/>
          </a:solidFill>
          <a:ln w="19050" cap="flat" cmpd="sng">
            <a:solidFill>
              <a:srgbClr val="FF0000"/>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b="0" i="0" u="none" strike="noStrike" cap="none">
                <a:solidFill>
                  <a:schemeClr val="dk1"/>
                </a:solidFill>
                <a:latin typeface="Arial"/>
                <a:ea typeface="Arial"/>
                <a:cs typeface="Arial"/>
                <a:sym typeface="Arial"/>
              </a:rPr>
              <a:t>Time Slice</a:t>
            </a:r>
            <a:endParaRPr/>
          </a:p>
        </p:txBody>
      </p:sp>
      <p:sp>
        <p:nvSpPr>
          <p:cNvPr id="292" name="Google Shape;292;p38"/>
          <p:cNvSpPr/>
          <p:nvPr/>
        </p:nvSpPr>
        <p:spPr>
          <a:xfrm rot="-5400000">
            <a:off x="4487047" y="4002800"/>
            <a:ext cx="187200" cy="882000"/>
          </a:xfrm>
          <a:prstGeom prst="leftBrace">
            <a:avLst>
              <a:gd name="adj1" fmla="val 56790"/>
              <a:gd name="adj2" fmla="val 50000"/>
            </a:avLst>
          </a:prstGeom>
          <a:noFill/>
          <a:ln w="28575" cap="flat" cmpd="sng">
            <a:solidFill>
              <a:schemeClr val="dk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93" name="Google Shape;293;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9">
                                            <p:txEl>
                                              <p:pRg st="0" end="0"/>
                                            </p:txEl>
                                          </p:spTgt>
                                        </p:tgtEl>
                                        <p:attrNameLst>
                                          <p:attrName>style.visibility</p:attrName>
                                        </p:attrNameLst>
                                      </p:cBhvr>
                                      <p:to>
                                        <p:strVal val="visible"/>
                                      </p:to>
                                    </p:set>
                                    <p:animEffect transition="in" filter="fade">
                                      <p:cBhvr>
                                        <p:cTn id="7" dur="1000"/>
                                        <p:tgtEl>
                                          <p:spTgt spid="2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9">
                                            <p:txEl>
                                              <p:pRg st="1" end="1"/>
                                            </p:txEl>
                                          </p:spTgt>
                                        </p:tgtEl>
                                        <p:attrNameLst>
                                          <p:attrName>style.visibility</p:attrName>
                                        </p:attrNameLst>
                                      </p:cBhvr>
                                      <p:to>
                                        <p:strVal val="visible"/>
                                      </p:to>
                                    </p:set>
                                    <p:animEffect transition="in" filter="fade">
                                      <p:cBhvr>
                                        <p:cTn id="12" dur="1000"/>
                                        <p:tgtEl>
                                          <p:spTgt spid="2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9">
                                            <p:txEl>
                                              <p:pRg st="2" end="2"/>
                                            </p:txEl>
                                          </p:spTgt>
                                        </p:tgtEl>
                                        <p:attrNameLst>
                                          <p:attrName>style.visibility</p:attrName>
                                        </p:attrNameLst>
                                      </p:cBhvr>
                                      <p:to>
                                        <p:strVal val="visible"/>
                                      </p:to>
                                    </p:set>
                                    <p:animEffect transition="in" filter="fade">
                                      <p:cBhvr>
                                        <p:cTn id="17" dur="1000"/>
                                        <p:tgtEl>
                                          <p:spTgt spid="2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9">
                                            <p:txEl>
                                              <p:pRg st="3" end="3"/>
                                            </p:txEl>
                                          </p:spTgt>
                                        </p:tgtEl>
                                        <p:attrNameLst>
                                          <p:attrName>style.visibility</p:attrName>
                                        </p:attrNameLst>
                                      </p:cBhvr>
                                      <p:to>
                                        <p:strVal val="visible"/>
                                      </p:to>
                                    </p:set>
                                    <p:animEffect transition="in" filter="fade">
                                      <p:cBhvr>
                                        <p:cTn id="22" dur="1000"/>
                                        <p:tgtEl>
                                          <p:spTgt spid="2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9">
                                            <p:txEl>
                                              <p:pRg st="4" end="4"/>
                                            </p:txEl>
                                          </p:spTgt>
                                        </p:tgtEl>
                                        <p:attrNameLst>
                                          <p:attrName>style.visibility</p:attrName>
                                        </p:attrNameLst>
                                      </p:cBhvr>
                                      <p:to>
                                        <p:strVal val="visible"/>
                                      </p:to>
                                    </p:set>
                                    <p:animEffect transition="in" filter="fade">
                                      <p:cBhvr>
                                        <p:cTn id="27" dur="1000"/>
                                        <p:tgtEl>
                                          <p:spTgt spid="28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0"/>
                                        </p:tgtEl>
                                        <p:attrNameLst>
                                          <p:attrName>style.visibility</p:attrName>
                                        </p:attrNameLst>
                                      </p:cBhvr>
                                      <p:to>
                                        <p:strVal val="visible"/>
                                      </p:to>
                                    </p:set>
                                    <p:animEffect transition="in" filter="fade">
                                      <p:cBhvr>
                                        <p:cTn id="32" dur="1000"/>
                                        <p:tgtEl>
                                          <p:spTgt spid="29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1"/>
                                        </p:tgtEl>
                                        <p:attrNameLst>
                                          <p:attrName>style.visibility</p:attrName>
                                        </p:attrNameLst>
                                      </p:cBhvr>
                                      <p:to>
                                        <p:strVal val="visible"/>
                                      </p:to>
                                    </p:set>
                                    <p:animEffect transition="in" filter="fade">
                                      <p:cBhvr>
                                        <p:cTn id="37" dur="1000"/>
                                        <p:tgtEl>
                                          <p:spTgt spid="291"/>
                                        </p:tgtEl>
                                      </p:cBhvr>
                                    </p:animEffect>
                                  </p:childTnLst>
                                </p:cTn>
                              </p:par>
                              <p:par>
                                <p:cTn id="38" presetID="10" presetClass="entr" presetSubtype="0" fill="hold" nodeType="withEffect">
                                  <p:stCondLst>
                                    <p:cond delay="0"/>
                                  </p:stCondLst>
                                  <p:childTnLst>
                                    <p:set>
                                      <p:cBhvr>
                                        <p:cTn id="39" dur="1" fill="hold">
                                          <p:stCondLst>
                                            <p:cond delay="0"/>
                                          </p:stCondLst>
                                        </p:cTn>
                                        <p:tgtEl>
                                          <p:spTgt spid="292"/>
                                        </p:tgtEl>
                                        <p:attrNameLst>
                                          <p:attrName>style.visibility</p:attrName>
                                        </p:attrNameLst>
                                      </p:cBhvr>
                                      <p:to>
                                        <p:strVal val="visible"/>
                                      </p:to>
                                    </p:set>
                                    <p:animEffect transition="in" filter="fade">
                                      <p:cBhvr>
                                        <p:cTn id="40" dur="1000"/>
                                        <p:tgtEl>
                                          <p:spTgt spid="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9"/>
          <p:cNvSpPr txBox="1">
            <a:spLocks noGrp="1"/>
          </p:cNvSpPr>
          <p:nvPr>
            <p:ph type="title"/>
          </p:nvPr>
        </p:nvSpPr>
        <p:spPr>
          <a:xfrm>
            <a:off x="5108158" y="342100"/>
            <a:ext cx="3817800" cy="996000"/>
          </a:xfrm>
          <a:prstGeom prst="rect">
            <a:avLst/>
          </a:prstGeom>
          <a:noFill/>
          <a:ln>
            <a:noFill/>
          </a:ln>
        </p:spPr>
        <p:txBody>
          <a:bodyPr spcFirstLastPara="1" wrap="square" lIns="68575" tIns="34275" rIns="68575" bIns="34275" anchor="ctr" anchorCtr="0">
            <a:spAutoFit/>
          </a:bodyPr>
          <a:lstStyle/>
          <a:p>
            <a:pPr marL="0" lvl="0" indent="0" algn="l" rtl="0">
              <a:lnSpc>
                <a:spcPct val="115000"/>
              </a:lnSpc>
              <a:spcBef>
                <a:spcPts val="0"/>
              </a:spcBef>
              <a:spcAft>
                <a:spcPts val="0"/>
              </a:spcAft>
              <a:buClr>
                <a:schemeClr val="dk2"/>
              </a:buClr>
              <a:buSzPts val="3300"/>
              <a:buFont typeface="Calibri"/>
              <a:buNone/>
            </a:pPr>
            <a:r>
              <a:rPr lang="en"/>
              <a:t>Extending </a:t>
            </a:r>
            <a:r>
              <a:rPr lang="en">
                <a:latin typeface="Courier New"/>
                <a:ea typeface="Courier New"/>
                <a:cs typeface="Courier New"/>
                <a:sym typeface="Courier New"/>
              </a:rPr>
              <a:t>java.lang.Thread</a:t>
            </a:r>
            <a:endParaRPr>
              <a:latin typeface="Courier New"/>
              <a:ea typeface="Courier New"/>
              <a:cs typeface="Courier New"/>
              <a:sym typeface="Courier New"/>
            </a:endParaRPr>
          </a:p>
        </p:txBody>
      </p:sp>
      <p:sp>
        <p:nvSpPr>
          <p:cNvPr id="299" name="Google Shape;299;p39"/>
          <p:cNvSpPr txBox="1">
            <a:spLocks noGrp="1"/>
          </p:cNvSpPr>
          <p:nvPr>
            <p:ph type="body" idx="1"/>
          </p:nvPr>
        </p:nvSpPr>
        <p:spPr>
          <a:xfrm>
            <a:off x="166400" y="175675"/>
            <a:ext cx="4523400" cy="4911571"/>
          </a:xfrm>
          <a:prstGeom prst="rect">
            <a:avLst/>
          </a:prstGeom>
          <a:noFill/>
          <a:ln>
            <a:noFill/>
          </a:ln>
        </p:spPr>
        <p:txBody>
          <a:bodyPr spcFirstLastPara="1" wrap="square" lIns="68575" tIns="34275" rIns="68575" bIns="34275" anchor="t" anchorCtr="0">
            <a:spAutoFit/>
          </a:bodyPr>
          <a:lstStyle/>
          <a:p>
            <a:pPr marL="457200" lvl="0" indent="-311150" algn="l" rtl="0">
              <a:lnSpc>
                <a:spcPct val="100000"/>
              </a:lnSpc>
              <a:spcBef>
                <a:spcPts val="0"/>
              </a:spcBef>
              <a:spcAft>
                <a:spcPts val="0"/>
              </a:spcAft>
              <a:buSzPts val="1300"/>
              <a:buChar char="●"/>
            </a:pPr>
            <a:r>
              <a:rPr lang="en" dirty="0">
                <a:highlight>
                  <a:srgbClr val="FFFF00"/>
                </a:highlight>
              </a:rPr>
              <a:t>While processes are useful, their protected memory space makes </a:t>
            </a:r>
            <a:r>
              <a:rPr lang="en" b="1" i="1" dirty="0">
                <a:solidFill>
                  <a:srgbClr val="FF0000"/>
                </a:solidFill>
                <a:highlight>
                  <a:srgbClr val="FFFF00"/>
                </a:highlight>
              </a:rPr>
              <a:t>communicating </a:t>
            </a:r>
            <a:r>
              <a:rPr lang="en" dirty="0">
                <a:highlight>
                  <a:srgbClr val="FFFF00"/>
                </a:highlight>
              </a:rPr>
              <a:t>between them more difficult/expensive</a:t>
            </a:r>
            <a:endParaRPr dirty="0">
              <a:highlight>
                <a:srgbClr val="FFFF00"/>
              </a:highlight>
            </a:endParaRPr>
          </a:p>
          <a:p>
            <a:pPr marL="914400" lvl="1" indent="-298450" algn="l" rtl="0">
              <a:lnSpc>
                <a:spcPct val="100000"/>
              </a:lnSpc>
              <a:spcBef>
                <a:spcPts val="0"/>
              </a:spcBef>
              <a:spcAft>
                <a:spcPts val="0"/>
              </a:spcAft>
              <a:buSzPts val="1100"/>
              <a:buChar char="○"/>
            </a:pPr>
            <a:r>
              <a:rPr lang="en" dirty="0"/>
              <a:t>Two different processes cannot read from or write to each other's memory</a:t>
            </a:r>
            <a:endParaRPr dirty="0"/>
          </a:p>
          <a:p>
            <a:pPr marL="914400" lvl="1" indent="-298450" algn="l" rtl="0">
              <a:lnSpc>
                <a:spcPct val="100000"/>
              </a:lnSpc>
              <a:spcBef>
                <a:spcPts val="0"/>
              </a:spcBef>
              <a:spcAft>
                <a:spcPts val="0"/>
              </a:spcAft>
              <a:buSzPts val="1100"/>
              <a:buChar char="○"/>
            </a:pPr>
            <a:r>
              <a:rPr lang="en" dirty="0"/>
              <a:t>This makes it difficult for two processes to work together to accomplish more than one task simultaneously</a:t>
            </a:r>
            <a:endParaRPr dirty="0"/>
          </a:p>
          <a:p>
            <a:pPr marL="457200" lvl="0" indent="-311150" algn="l" rtl="0">
              <a:lnSpc>
                <a:spcPct val="100000"/>
              </a:lnSpc>
              <a:spcBef>
                <a:spcPts val="1000"/>
              </a:spcBef>
              <a:spcAft>
                <a:spcPts val="0"/>
              </a:spcAft>
              <a:buSzPts val="1300"/>
              <a:buChar char="●"/>
            </a:pPr>
            <a:r>
              <a:rPr lang="en" dirty="0">
                <a:highlight>
                  <a:srgbClr val="FFFF00"/>
                </a:highlight>
              </a:rPr>
              <a:t>A lighter weight version of a process, called a </a:t>
            </a:r>
            <a:r>
              <a:rPr lang="en" b="1" i="1" dirty="0">
                <a:solidFill>
                  <a:srgbClr val="FF0000"/>
                </a:solidFill>
                <a:highlight>
                  <a:srgbClr val="FFFF00"/>
                </a:highlight>
              </a:rPr>
              <a:t>Thread</a:t>
            </a:r>
            <a:r>
              <a:rPr lang="en" dirty="0">
                <a:highlight>
                  <a:srgbClr val="FFFF00"/>
                </a:highlight>
              </a:rPr>
              <a:t>, is more commonly used</a:t>
            </a:r>
            <a:endParaRPr dirty="0">
              <a:highlight>
                <a:srgbClr val="FFFF00"/>
              </a:highlight>
            </a:endParaRPr>
          </a:p>
          <a:p>
            <a:pPr marL="914400" lvl="1" indent="-292100" algn="l" rtl="0">
              <a:lnSpc>
                <a:spcPct val="100000"/>
              </a:lnSpc>
              <a:spcBef>
                <a:spcPts val="0"/>
              </a:spcBef>
              <a:spcAft>
                <a:spcPts val="0"/>
              </a:spcAft>
              <a:buSzPts val="1000"/>
              <a:buChar char="○"/>
            </a:pPr>
            <a:r>
              <a:rPr lang="en" sz="1000" dirty="0"/>
              <a:t>A single process may have two or more threads working together at the same time</a:t>
            </a:r>
            <a:endParaRPr sz="1000" dirty="0"/>
          </a:p>
          <a:p>
            <a:pPr marL="914400" lvl="1" indent="-292100" algn="l" rtl="0">
              <a:lnSpc>
                <a:spcPct val="100000"/>
              </a:lnSpc>
              <a:spcBef>
                <a:spcPts val="0"/>
              </a:spcBef>
              <a:spcAft>
                <a:spcPts val="0"/>
              </a:spcAft>
              <a:buSzPts val="1000"/>
              <a:buChar char="○"/>
            </a:pPr>
            <a:r>
              <a:rPr lang="en" sz="1000" dirty="0">
                <a:highlight>
                  <a:srgbClr val="FFFF00"/>
                </a:highlight>
              </a:rPr>
              <a:t>All threads created in a process </a:t>
            </a:r>
            <a:r>
              <a:rPr lang="en" sz="1000" b="1" i="1" dirty="0">
                <a:solidFill>
                  <a:srgbClr val="FF0000"/>
                </a:solidFill>
                <a:highlight>
                  <a:srgbClr val="FFFF00"/>
                </a:highlight>
              </a:rPr>
              <a:t>share </a:t>
            </a:r>
            <a:r>
              <a:rPr lang="en" sz="1000" dirty="0">
                <a:highlight>
                  <a:srgbClr val="FFFF00"/>
                </a:highlight>
              </a:rPr>
              <a:t>the same memory space</a:t>
            </a:r>
            <a:endParaRPr sz="1000" dirty="0">
              <a:highlight>
                <a:srgbClr val="FFFF00"/>
              </a:highlight>
            </a:endParaRPr>
          </a:p>
          <a:p>
            <a:pPr marL="457200" lvl="0" indent="-311150" algn="l" rtl="0">
              <a:lnSpc>
                <a:spcPct val="100000"/>
              </a:lnSpc>
              <a:spcBef>
                <a:spcPts val="1000"/>
              </a:spcBef>
              <a:spcAft>
                <a:spcPts val="0"/>
              </a:spcAft>
              <a:buSzPts val="1300"/>
              <a:buChar char="●"/>
            </a:pPr>
            <a:r>
              <a:rPr lang="en" dirty="0"/>
              <a:t>All Java programs are executed in a </a:t>
            </a:r>
            <a:r>
              <a:rPr lang="en" b="1" i="1" dirty="0">
                <a:solidFill>
                  <a:srgbClr val="FF0000"/>
                </a:solidFill>
                <a:highlight>
                  <a:srgbClr val="FFFF00"/>
                </a:highlight>
              </a:rPr>
              <a:t>main thread</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This is the thread that executes the code in the main method</a:t>
            </a:r>
            <a:endParaRPr dirty="0"/>
          </a:p>
          <a:p>
            <a:pPr marL="457200" lvl="0" indent="-311150" algn="l" rtl="0">
              <a:lnSpc>
                <a:spcPct val="100000"/>
              </a:lnSpc>
              <a:spcBef>
                <a:spcPts val="1000"/>
              </a:spcBef>
              <a:spcAft>
                <a:spcPts val="0"/>
              </a:spcAft>
              <a:buSzPts val="1300"/>
              <a:buChar char="●"/>
            </a:pPr>
            <a:r>
              <a:rPr lang="en" dirty="0"/>
              <a:t>One way to create additional threads in a Java program is by extending the </a:t>
            </a:r>
            <a:r>
              <a:rPr lang="en" dirty="0">
                <a:solidFill>
                  <a:srgbClr val="FF0000"/>
                </a:solidFill>
                <a:highlight>
                  <a:srgbClr val="FFFF00"/>
                </a:highlight>
                <a:latin typeface="Courier New"/>
                <a:ea typeface="Courier New"/>
                <a:cs typeface="Courier New"/>
                <a:sym typeface="Courier New"/>
              </a:rPr>
              <a:t>java.lang.Thread</a:t>
            </a:r>
            <a:r>
              <a:rPr lang="en" dirty="0">
                <a:highlight>
                  <a:srgbClr val="FFFF00"/>
                </a:highlight>
              </a:rPr>
              <a:t> </a:t>
            </a:r>
            <a:r>
              <a:rPr lang="en" dirty="0"/>
              <a:t>class</a:t>
            </a:r>
            <a:endParaRPr dirty="0"/>
          </a:p>
          <a:p>
            <a:pPr marL="914400" lvl="1" indent="-298450" algn="l" rtl="0">
              <a:lnSpc>
                <a:spcPct val="100000"/>
              </a:lnSpc>
              <a:spcBef>
                <a:spcPts val="0"/>
              </a:spcBef>
              <a:spcAft>
                <a:spcPts val="0"/>
              </a:spcAft>
              <a:buSzPts val="1100"/>
              <a:buChar char="○"/>
            </a:pPr>
            <a:r>
              <a:rPr lang="en" dirty="0">
                <a:highlight>
                  <a:srgbClr val="FFFF00"/>
                </a:highlight>
              </a:rPr>
              <a:t>Override its </a:t>
            </a:r>
            <a:r>
              <a:rPr lang="en" dirty="0">
                <a:solidFill>
                  <a:srgbClr val="FF0000"/>
                </a:solidFill>
                <a:highlight>
                  <a:srgbClr val="FFFF00"/>
                </a:highlight>
                <a:latin typeface="Courier New"/>
                <a:ea typeface="Courier New"/>
                <a:cs typeface="Courier New"/>
                <a:sym typeface="Courier New"/>
              </a:rPr>
              <a:t>run</a:t>
            </a:r>
            <a:r>
              <a:rPr lang="en" dirty="0">
                <a:highlight>
                  <a:srgbClr val="FFFF00"/>
                </a:highlight>
              </a:rPr>
              <a:t> method in your subclass to include the code that you want the thread to execute</a:t>
            </a:r>
            <a:endParaRPr dirty="0">
              <a:highlight>
                <a:srgbClr val="FFFF00"/>
              </a:highlight>
            </a:endParaRPr>
          </a:p>
          <a:p>
            <a:pPr marL="914400" lvl="1" indent="-298450" algn="l" rtl="0">
              <a:lnSpc>
                <a:spcPct val="100000"/>
              </a:lnSpc>
              <a:spcBef>
                <a:spcPts val="400"/>
              </a:spcBef>
              <a:spcAft>
                <a:spcPts val="1000"/>
              </a:spcAft>
              <a:buSzPts val="1100"/>
              <a:buChar char="○"/>
            </a:pPr>
            <a:r>
              <a:rPr lang="en" dirty="0">
                <a:highlight>
                  <a:srgbClr val="FFFF00"/>
                </a:highlight>
              </a:rPr>
              <a:t>Call its </a:t>
            </a:r>
            <a:r>
              <a:rPr lang="en" dirty="0">
                <a:solidFill>
                  <a:srgbClr val="FF0000"/>
                </a:solidFill>
                <a:highlight>
                  <a:srgbClr val="FFFF00"/>
                </a:highlight>
                <a:latin typeface="Courier New"/>
                <a:ea typeface="Courier New"/>
                <a:cs typeface="Courier New"/>
                <a:sym typeface="Courier New"/>
              </a:rPr>
              <a:t>start</a:t>
            </a:r>
            <a:r>
              <a:rPr lang="en" dirty="0">
                <a:highlight>
                  <a:srgbClr val="FFFF00"/>
                </a:highlight>
              </a:rPr>
              <a:t> method to execute as a thread that is separate from the main thread</a:t>
            </a:r>
            <a:endParaRPr dirty="0">
              <a:highlight>
                <a:srgbClr val="FFFF00"/>
              </a:highlight>
            </a:endParaRPr>
          </a:p>
        </p:txBody>
      </p:sp>
      <p:sp>
        <p:nvSpPr>
          <p:cNvPr id="300" name="Google Shape;300;p39"/>
          <p:cNvSpPr/>
          <p:nvPr/>
        </p:nvSpPr>
        <p:spPr>
          <a:xfrm>
            <a:off x="5108158" y="1444000"/>
            <a:ext cx="3817800" cy="3064200"/>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91425" tIns="91425" rIns="68575" bIns="91425" anchor="t" anchorCtr="0">
            <a:noAutofit/>
          </a:bodyPr>
          <a:lstStyle/>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ThreadExample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extends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Thread</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2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3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final</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4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5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ThreadExample</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id</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6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7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8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9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Override</a:t>
            </a:r>
            <a:endParaRPr sz="105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10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run</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11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System</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out</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12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13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14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static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main</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args</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15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Thread</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a:t>
            </a:r>
            <a:r>
              <a:rPr lang="en" sz="1050" dirty="0">
                <a:latin typeface="Consolas"/>
                <a:ea typeface="Consolas"/>
                <a:cs typeface="Consolas"/>
                <a:sym typeface="Consolas"/>
              </a:rPr>
              <a:t> =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ThreadExample</a:t>
            </a:r>
            <a:r>
              <a:rPr lang="en" sz="1050" dirty="0">
                <a:latin typeface="Consolas"/>
                <a:ea typeface="Consolas"/>
                <a:cs typeface="Consolas"/>
                <a:sym typeface="Consolas"/>
              </a:rPr>
              <a:t>(</a:t>
            </a:r>
            <a:r>
              <a:rPr lang="en" sz="1050" dirty="0">
                <a:solidFill>
                  <a:srgbClr val="098658"/>
                </a:solidFill>
                <a:latin typeface="Consolas"/>
                <a:ea typeface="Consolas"/>
                <a:cs typeface="Consolas"/>
                <a:sym typeface="Consolas"/>
              </a:rPr>
              <a:t>1</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16 </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start</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17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18 </a:t>
            </a:r>
            <a:r>
              <a:rPr lang="en" sz="1050" dirty="0">
                <a:latin typeface="Consolas"/>
                <a:ea typeface="Consolas"/>
                <a:cs typeface="Consolas"/>
                <a:sym typeface="Consolas"/>
              </a:rPr>
              <a:t>}</a:t>
            </a:r>
            <a:endParaRPr sz="1100" dirty="0">
              <a:solidFill>
                <a:schemeClr val="dk1"/>
              </a:solidFill>
              <a:latin typeface="Consolas"/>
              <a:ea typeface="Consolas"/>
              <a:cs typeface="Consolas"/>
              <a:sym typeface="Consolas"/>
            </a:endParaRPr>
          </a:p>
        </p:txBody>
      </p:sp>
      <p:sp>
        <p:nvSpPr>
          <p:cNvPr id="301" name="Google Shape;301;p39"/>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307" name="Google Shape;307;p4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Extending </a:t>
            </a:r>
            <a:r>
              <a:rPr lang="en">
                <a:latin typeface="Courier New"/>
                <a:ea typeface="Courier New"/>
                <a:cs typeface="Courier New"/>
                <a:sym typeface="Courier New"/>
              </a:rPr>
              <a:t>Thread</a:t>
            </a:r>
            <a:endParaRPr>
              <a:latin typeface="Courier New"/>
              <a:ea typeface="Courier New"/>
              <a:cs typeface="Courier New"/>
              <a:sym typeface="Courier New"/>
            </a:endParaRPr>
          </a:p>
        </p:txBody>
      </p:sp>
      <p:sp>
        <p:nvSpPr>
          <p:cNvPr id="308" name="Google Shape;308;p40"/>
          <p:cNvSpPr/>
          <p:nvPr/>
        </p:nvSpPr>
        <p:spPr>
          <a:xfrm>
            <a:off x="2608375" y="1527200"/>
            <a:ext cx="3927300" cy="3135900"/>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91425" tIns="91425" rIns="68575" bIns="91425" anchor="t" anchorCtr="0">
            <a:noAutofit/>
          </a:bodyPr>
          <a:lstStyle/>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ThreadExample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extends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Thread</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2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3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final</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4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5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ThreadExample</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id</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6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7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8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9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Override</a:t>
            </a:r>
            <a:endParaRPr sz="105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10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run</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11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System</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out</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12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13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14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static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main</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args</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15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Thread</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a:t>
            </a:r>
            <a:r>
              <a:rPr lang="en" sz="1050" dirty="0">
                <a:latin typeface="Consolas"/>
                <a:ea typeface="Consolas"/>
                <a:cs typeface="Consolas"/>
                <a:sym typeface="Consolas"/>
              </a:rPr>
              <a:t> =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ThreadExample</a:t>
            </a:r>
            <a:r>
              <a:rPr lang="en" sz="1050" dirty="0">
                <a:latin typeface="Consolas"/>
                <a:ea typeface="Consolas"/>
                <a:cs typeface="Consolas"/>
                <a:sym typeface="Consolas"/>
              </a:rPr>
              <a:t>(</a:t>
            </a:r>
            <a:r>
              <a:rPr lang="en" sz="1050" dirty="0">
                <a:solidFill>
                  <a:srgbClr val="098658"/>
                </a:solidFill>
                <a:latin typeface="Consolas"/>
                <a:ea typeface="Consolas"/>
                <a:cs typeface="Consolas"/>
                <a:sym typeface="Consolas"/>
              </a:rPr>
              <a:t>1</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16 </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a:t>
            </a:r>
            <a:r>
              <a:rPr lang="en" sz="1050" dirty="0">
                <a:latin typeface="Consolas"/>
                <a:ea typeface="Consolas"/>
                <a:cs typeface="Consolas"/>
                <a:sym typeface="Consolas"/>
              </a:rPr>
              <a:t>.</a:t>
            </a:r>
            <a:r>
              <a:rPr lang="en" sz="1050" dirty="0">
                <a:solidFill>
                  <a:srgbClr val="795E26"/>
                </a:solidFill>
                <a:highlight>
                  <a:srgbClr val="FFFF00"/>
                </a:highlight>
                <a:latin typeface="Consolas"/>
                <a:ea typeface="Consolas"/>
                <a:cs typeface="Consolas"/>
                <a:sym typeface="Consolas"/>
              </a:rPr>
              <a:t>start</a:t>
            </a:r>
            <a:r>
              <a:rPr lang="en" sz="1050" dirty="0">
                <a:highlight>
                  <a:srgbClr val="FFFF00"/>
                </a:highlight>
                <a:latin typeface="Consolas"/>
                <a:ea typeface="Consolas"/>
                <a:cs typeface="Consolas"/>
                <a:sym typeface="Consolas"/>
              </a:rPr>
              <a:t>();</a:t>
            </a:r>
            <a:endParaRPr sz="1050" dirty="0">
              <a:highlight>
                <a:srgbClr val="FFFF00"/>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17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18 </a:t>
            </a:r>
            <a:r>
              <a:rPr lang="en" sz="1050" dirty="0">
                <a:latin typeface="Consolas"/>
                <a:ea typeface="Consolas"/>
                <a:cs typeface="Consolas"/>
                <a:sym typeface="Consolas"/>
              </a:rPr>
              <a:t>}</a:t>
            </a:r>
            <a:endParaRPr sz="1100" dirty="0">
              <a:solidFill>
                <a:schemeClr val="dk1"/>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314" name="Google Shape;314;p4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Extending </a:t>
            </a:r>
            <a:r>
              <a:rPr lang="en">
                <a:latin typeface="Courier New"/>
                <a:ea typeface="Courier New"/>
                <a:cs typeface="Courier New"/>
                <a:sym typeface="Courier New"/>
              </a:rPr>
              <a:t>Thread</a:t>
            </a:r>
            <a:endParaRPr>
              <a:latin typeface="Courier New"/>
              <a:ea typeface="Courier New"/>
              <a:cs typeface="Courier New"/>
              <a:sym typeface="Courier New"/>
            </a:endParaRPr>
          </a:p>
        </p:txBody>
      </p:sp>
      <p:sp>
        <p:nvSpPr>
          <p:cNvPr id="315" name="Google Shape;315;p41"/>
          <p:cNvSpPr/>
          <p:nvPr/>
        </p:nvSpPr>
        <p:spPr>
          <a:xfrm>
            <a:off x="2608375" y="1527200"/>
            <a:ext cx="3927300" cy="3135900"/>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91425" tIns="91425" rIns="68575" bIns="91425" anchor="t" anchorCtr="0">
            <a:noAutofit/>
          </a:bodyPr>
          <a:lstStyle/>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ThreadExample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extends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Thread</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2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3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final</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4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5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ThreadExample</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id</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6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7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8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9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Override</a:t>
            </a:r>
            <a:endParaRPr sz="105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10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run</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11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System</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out</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12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13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14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static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main</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args</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15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Thread</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a:t>
            </a:r>
            <a:r>
              <a:rPr lang="en" sz="1050" dirty="0">
                <a:latin typeface="Consolas"/>
                <a:ea typeface="Consolas"/>
                <a:cs typeface="Consolas"/>
                <a:sym typeface="Consolas"/>
              </a:rPr>
              <a:t> =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ThreadExample</a:t>
            </a:r>
            <a:r>
              <a:rPr lang="en" sz="1050" dirty="0">
                <a:latin typeface="Consolas"/>
                <a:ea typeface="Consolas"/>
                <a:cs typeface="Consolas"/>
                <a:sym typeface="Consolas"/>
              </a:rPr>
              <a:t>(</a:t>
            </a:r>
            <a:r>
              <a:rPr lang="en" sz="1050" dirty="0">
                <a:solidFill>
                  <a:srgbClr val="098658"/>
                </a:solidFill>
                <a:latin typeface="Consolas"/>
                <a:ea typeface="Consolas"/>
                <a:cs typeface="Consolas"/>
                <a:sym typeface="Consolas"/>
              </a:rPr>
              <a:t>1</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16 </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start</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17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18 </a:t>
            </a:r>
            <a:r>
              <a:rPr lang="en" sz="1050" dirty="0">
                <a:latin typeface="Consolas"/>
                <a:ea typeface="Consolas"/>
                <a:cs typeface="Consolas"/>
                <a:sym typeface="Consolas"/>
              </a:rPr>
              <a:t>}</a:t>
            </a:r>
            <a:endParaRPr sz="1100" dirty="0">
              <a:solidFill>
                <a:schemeClr val="dk1"/>
              </a:solidFill>
              <a:latin typeface="Consolas"/>
              <a:ea typeface="Consolas"/>
              <a:cs typeface="Consolas"/>
              <a:sym typeface="Consolas"/>
            </a:endParaRPr>
          </a:p>
        </p:txBody>
      </p:sp>
      <p:sp>
        <p:nvSpPr>
          <p:cNvPr id="316" name="Google Shape;316;p41"/>
          <p:cNvSpPr txBox="1"/>
          <p:nvPr/>
        </p:nvSpPr>
        <p:spPr>
          <a:xfrm>
            <a:off x="158850" y="1527200"/>
            <a:ext cx="2314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Start by creating a </a:t>
            </a:r>
            <a:r>
              <a:rPr lang="en" sz="1200" b="1" i="1" dirty="0">
                <a:solidFill>
                  <a:srgbClr val="FF0000"/>
                </a:solidFill>
                <a:latin typeface="Roboto"/>
                <a:ea typeface="Roboto"/>
                <a:cs typeface="Roboto"/>
                <a:sym typeface="Roboto"/>
              </a:rPr>
              <a:t>subclass</a:t>
            </a:r>
            <a:r>
              <a:rPr lang="en" sz="1200" dirty="0">
                <a:solidFill>
                  <a:srgbClr val="FF0000"/>
                </a:solidFill>
                <a:latin typeface="Roboto"/>
                <a:ea typeface="Roboto"/>
                <a:cs typeface="Roboto"/>
                <a:sym typeface="Roboto"/>
              </a:rPr>
              <a:t> </a:t>
            </a:r>
            <a:r>
              <a:rPr lang="en" sz="1200" dirty="0">
                <a:latin typeface="Roboto"/>
                <a:ea typeface="Roboto"/>
                <a:cs typeface="Roboto"/>
                <a:sym typeface="Roboto"/>
              </a:rPr>
              <a:t>by extending </a:t>
            </a:r>
            <a:r>
              <a:rPr lang="en" sz="1200" dirty="0">
                <a:solidFill>
                  <a:srgbClr val="FF0000"/>
                </a:solidFill>
                <a:latin typeface="Courier New"/>
                <a:ea typeface="Courier New"/>
                <a:cs typeface="Courier New"/>
                <a:sym typeface="Courier New"/>
              </a:rPr>
              <a:t>Thread</a:t>
            </a:r>
            <a:r>
              <a:rPr lang="en" sz="1200" dirty="0">
                <a:latin typeface="Roboto"/>
                <a:ea typeface="Roboto"/>
                <a:cs typeface="Roboto"/>
                <a:sym typeface="Roboto"/>
              </a:rPr>
              <a:t>.</a:t>
            </a:r>
            <a:endParaRPr sz="1200" dirty="0">
              <a:latin typeface="Roboto"/>
              <a:ea typeface="Roboto"/>
              <a:cs typeface="Roboto"/>
              <a:sym typeface="Roboto"/>
            </a:endParaRPr>
          </a:p>
        </p:txBody>
      </p:sp>
      <p:grpSp>
        <p:nvGrpSpPr>
          <p:cNvPr id="317" name="Google Shape;317;p41"/>
          <p:cNvGrpSpPr/>
          <p:nvPr/>
        </p:nvGrpSpPr>
        <p:grpSpPr>
          <a:xfrm>
            <a:off x="1316100" y="1527200"/>
            <a:ext cx="4674575" cy="288100"/>
            <a:chOff x="1316100" y="1527200"/>
            <a:chExt cx="4674575" cy="288100"/>
          </a:xfrm>
        </p:grpSpPr>
        <p:sp>
          <p:nvSpPr>
            <p:cNvPr id="318" name="Google Shape;318;p41"/>
            <p:cNvSpPr/>
            <p:nvPr/>
          </p:nvSpPr>
          <p:spPr>
            <a:xfrm>
              <a:off x="4856075" y="1596000"/>
              <a:ext cx="1134600" cy="219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9" name="Google Shape;319;p41"/>
            <p:cNvCxnSpPr>
              <a:stCxn id="316" idx="0"/>
              <a:endCxn id="318" idx="0"/>
            </p:cNvCxnSpPr>
            <p:nvPr/>
          </p:nvCxnSpPr>
          <p:spPr>
            <a:xfrm rot="-5400000" flipH="1">
              <a:off x="3335400" y="-492100"/>
              <a:ext cx="68700" cy="4107300"/>
            </a:xfrm>
            <a:prstGeom prst="bentConnector3">
              <a:avLst>
                <a:gd name="adj1" fmla="val -241157"/>
              </a:avLst>
            </a:prstGeom>
            <a:noFill/>
            <a:ln w="19050" cap="flat" cmpd="sng">
              <a:solidFill>
                <a:srgbClr val="FF0000"/>
              </a:solidFill>
              <a:prstDash val="solid"/>
              <a:round/>
              <a:headEnd type="none" w="med" len="med"/>
              <a:tailEnd type="none" w="med" len="med"/>
            </a:ln>
          </p:spPr>
        </p:cxnSp>
      </p:grpSp>
      <p:sp>
        <p:nvSpPr>
          <p:cNvPr id="320" name="Google Shape;320;p41"/>
          <p:cNvSpPr txBox="1"/>
          <p:nvPr/>
        </p:nvSpPr>
        <p:spPr>
          <a:xfrm>
            <a:off x="158850" y="2224225"/>
            <a:ext cx="23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Because </a:t>
            </a:r>
            <a:r>
              <a:rPr lang="en" sz="1200">
                <a:latin typeface="Courier New"/>
                <a:ea typeface="Courier New"/>
                <a:cs typeface="Courier New"/>
                <a:sym typeface="Courier New"/>
              </a:rPr>
              <a:t>Thread</a:t>
            </a:r>
            <a:r>
              <a:rPr lang="en" sz="1200">
                <a:latin typeface="Roboto"/>
                <a:ea typeface="Roboto"/>
                <a:cs typeface="Roboto"/>
                <a:sym typeface="Roboto"/>
              </a:rPr>
              <a:t> is in the </a:t>
            </a:r>
            <a:r>
              <a:rPr lang="en" sz="1200">
                <a:latin typeface="Courier New"/>
                <a:ea typeface="Courier New"/>
                <a:cs typeface="Courier New"/>
                <a:sym typeface="Courier New"/>
              </a:rPr>
              <a:t>java.lang</a:t>
            </a:r>
            <a:r>
              <a:rPr lang="en" sz="1200">
                <a:latin typeface="Roboto"/>
                <a:ea typeface="Roboto"/>
                <a:cs typeface="Roboto"/>
                <a:sym typeface="Roboto"/>
              </a:rPr>
              <a:t> package, you don't need to import it to use it.</a:t>
            </a:r>
            <a:endParaRPr sz="1200">
              <a:latin typeface="Roboto"/>
              <a:ea typeface="Roboto"/>
              <a:cs typeface="Roboto"/>
              <a:sym typeface="Roboto"/>
            </a:endParaRPr>
          </a:p>
        </p:txBody>
      </p:sp>
      <p:sp>
        <p:nvSpPr>
          <p:cNvPr id="321" name="Google Shape;321;p41"/>
          <p:cNvSpPr txBox="1"/>
          <p:nvPr/>
        </p:nvSpPr>
        <p:spPr>
          <a:xfrm>
            <a:off x="158850" y="3106050"/>
            <a:ext cx="2314500" cy="1477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The default </a:t>
            </a:r>
            <a:r>
              <a:rPr lang="en" sz="1200" dirty="0">
                <a:solidFill>
                  <a:srgbClr val="FF0000"/>
                </a:solidFill>
                <a:latin typeface="Courier New"/>
                <a:ea typeface="Courier New"/>
                <a:cs typeface="Courier New"/>
                <a:sym typeface="Courier New"/>
              </a:rPr>
              <a:t>run()</a:t>
            </a:r>
            <a:r>
              <a:rPr lang="en" sz="1200" dirty="0">
                <a:latin typeface="Roboto"/>
                <a:ea typeface="Roboto"/>
                <a:cs typeface="Roboto"/>
                <a:sym typeface="Roboto"/>
              </a:rPr>
              <a:t> method provided by the </a:t>
            </a:r>
            <a:r>
              <a:rPr lang="en" sz="1200" dirty="0">
                <a:latin typeface="Courier New"/>
                <a:ea typeface="Courier New"/>
                <a:cs typeface="Courier New"/>
                <a:sym typeface="Courier New"/>
              </a:rPr>
              <a:t>Thread</a:t>
            </a:r>
            <a:r>
              <a:rPr lang="en" sz="1200" dirty="0">
                <a:latin typeface="Roboto"/>
                <a:ea typeface="Roboto"/>
                <a:cs typeface="Roboto"/>
                <a:sym typeface="Roboto"/>
              </a:rPr>
              <a:t> class doesn't actually </a:t>
            </a:r>
            <a:r>
              <a:rPr lang="en" sz="1200" i="1" dirty="0">
                <a:latin typeface="Roboto"/>
                <a:ea typeface="Roboto"/>
                <a:cs typeface="Roboto"/>
                <a:sym typeface="Roboto"/>
              </a:rPr>
              <a:t>do</a:t>
            </a:r>
            <a:r>
              <a:rPr lang="en" sz="1200" dirty="0">
                <a:latin typeface="Roboto"/>
                <a:ea typeface="Roboto"/>
                <a:cs typeface="Roboto"/>
                <a:sym typeface="Roboto"/>
              </a:rPr>
              <a:t> anything. You will need to </a:t>
            </a:r>
            <a:r>
              <a:rPr lang="en" sz="1200" b="1" i="1" dirty="0">
                <a:solidFill>
                  <a:srgbClr val="FF0000"/>
                </a:solidFill>
                <a:latin typeface="Roboto"/>
                <a:ea typeface="Roboto"/>
                <a:cs typeface="Roboto"/>
                <a:sym typeface="Roboto"/>
              </a:rPr>
              <a:t>override</a:t>
            </a:r>
            <a:r>
              <a:rPr lang="en" sz="1200" dirty="0">
                <a:solidFill>
                  <a:srgbClr val="FF0000"/>
                </a:solidFill>
                <a:latin typeface="Roboto"/>
                <a:ea typeface="Roboto"/>
                <a:cs typeface="Roboto"/>
                <a:sym typeface="Roboto"/>
              </a:rPr>
              <a:t> </a:t>
            </a:r>
            <a:r>
              <a:rPr lang="en" sz="1200" dirty="0">
                <a:latin typeface="Roboto"/>
                <a:ea typeface="Roboto"/>
                <a:cs typeface="Roboto"/>
                <a:sym typeface="Roboto"/>
              </a:rPr>
              <a:t>it to include the code that you would like to execute in the thread.</a:t>
            </a:r>
            <a:endParaRPr sz="1200" dirty="0">
              <a:latin typeface="Roboto"/>
              <a:ea typeface="Roboto"/>
              <a:cs typeface="Roboto"/>
              <a:sym typeface="Roboto"/>
            </a:endParaRPr>
          </a:p>
        </p:txBody>
      </p:sp>
      <p:grpSp>
        <p:nvGrpSpPr>
          <p:cNvPr id="322" name="Google Shape;322;p41"/>
          <p:cNvGrpSpPr/>
          <p:nvPr/>
        </p:nvGrpSpPr>
        <p:grpSpPr>
          <a:xfrm>
            <a:off x="2473350" y="2836500"/>
            <a:ext cx="2790625" cy="1008300"/>
            <a:chOff x="2473350" y="2836500"/>
            <a:chExt cx="2790625" cy="1008300"/>
          </a:xfrm>
        </p:grpSpPr>
        <p:sp>
          <p:nvSpPr>
            <p:cNvPr id="323" name="Google Shape;323;p41"/>
            <p:cNvSpPr/>
            <p:nvPr/>
          </p:nvSpPr>
          <p:spPr>
            <a:xfrm>
              <a:off x="3100675" y="2836500"/>
              <a:ext cx="2163300" cy="786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4" name="Google Shape;324;p41"/>
            <p:cNvCxnSpPr>
              <a:stCxn id="321" idx="3"/>
              <a:endCxn id="323" idx="1"/>
            </p:cNvCxnSpPr>
            <p:nvPr/>
          </p:nvCxnSpPr>
          <p:spPr>
            <a:xfrm rot="10800000" flipH="1">
              <a:off x="2473350" y="3229800"/>
              <a:ext cx="627300" cy="615000"/>
            </a:xfrm>
            <a:prstGeom prst="bentConnector3">
              <a:avLst>
                <a:gd name="adj1" fmla="val 50002"/>
              </a:avLst>
            </a:prstGeom>
            <a:noFill/>
            <a:ln w="19050" cap="flat" cmpd="sng">
              <a:solidFill>
                <a:srgbClr val="FF0000"/>
              </a:solidFill>
              <a:prstDash val="solid"/>
              <a:round/>
              <a:headEnd type="none" w="med" len="med"/>
              <a:tailEnd type="none" w="med" len="med"/>
            </a:ln>
          </p:spPr>
        </p:cxnSp>
      </p:grpSp>
      <p:sp>
        <p:nvSpPr>
          <p:cNvPr id="325" name="Google Shape;325;p41"/>
          <p:cNvSpPr txBox="1"/>
          <p:nvPr/>
        </p:nvSpPr>
        <p:spPr>
          <a:xfrm>
            <a:off x="6670700" y="1527200"/>
            <a:ext cx="2314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Simply calling the </a:t>
            </a:r>
            <a:r>
              <a:rPr lang="en" sz="1200" dirty="0">
                <a:highlight>
                  <a:srgbClr val="FFFF00"/>
                </a:highlight>
                <a:latin typeface="Courier New"/>
                <a:ea typeface="Courier New"/>
                <a:cs typeface="Courier New"/>
                <a:sym typeface="Courier New"/>
              </a:rPr>
              <a:t>run()</a:t>
            </a:r>
            <a:r>
              <a:rPr lang="en" sz="1200" dirty="0">
                <a:latin typeface="Roboto"/>
                <a:ea typeface="Roboto"/>
                <a:cs typeface="Roboto"/>
                <a:sym typeface="Roboto"/>
              </a:rPr>
              <a:t> method on an instance of your new thread directly would execute it in the </a:t>
            </a:r>
            <a:r>
              <a:rPr lang="en" sz="1200" b="1" i="1" dirty="0">
                <a:solidFill>
                  <a:srgbClr val="FF0000"/>
                </a:solidFill>
                <a:latin typeface="Roboto"/>
                <a:ea typeface="Roboto"/>
                <a:cs typeface="Roboto"/>
                <a:sym typeface="Roboto"/>
              </a:rPr>
              <a:t>main</a:t>
            </a:r>
            <a:r>
              <a:rPr lang="en" sz="1200" dirty="0">
                <a:solidFill>
                  <a:srgbClr val="FF0000"/>
                </a:solidFill>
                <a:latin typeface="Roboto"/>
                <a:ea typeface="Roboto"/>
                <a:cs typeface="Roboto"/>
                <a:sym typeface="Roboto"/>
              </a:rPr>
              <a:t> </a:t>
            </a:r>
            <a:r>
              <a:rPr lang="en" sz="1200" dirty="0">
                <a:latin typeface="Roboto"/>
                <a:ea typeface="Roboto"/>
                <a:cs typeface="Roboto"/>
                <a:sym typeface="Roboto"/>
              </a:rPr>
              <a:t>thread.</a:t>
            </a:r>
            <a:endParaRPr sz="1200" dirty="0">
              <a:latin typeface="Roboto"/>
              <a:ea typeface="Roboto"/>
              <a:cs typeface="Roboto"/>
              <a:sym typeface="Roboto"/>
            </a:endParaRPr>
          </a:p>
        </p:txBody>
      </p:sp>
      <p:sp>
        <p:nvSpPr>
          <p:cNvPr id="326" name="Google Shape;326;p41"/>
          <p:cNvSpPr txBox="1"/>
          <p:nvPr/>
        </p:nvSpPr>
        <p:spPr>
          <a:xfrm>
            <a:off x="6670700" y="2633450"/>
            <a:ext cx="2314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If you want to execute your code in a separate thread, you will need to call the </a:t>
            </a:r>
            <a:r>
              <a:rPr lang="en" sz="1200" dirty="0">
                <a:solidFill>
                  <a:srgbClr val="FF0000"/>
                </a:solidFill>
                <a:highlight>
                  <a:srgbClr val="FFFF00"/>
                </a:highlight>
                <a:latin typeface="Courier New"/>
                <a:ea typeface="Courier New"/>
                <a:cs typeface="Courier New"/>
                <a:sym typeface="Courier New"/>
              </a:rPr>
              <a:t>start()</a:t>
            </a:r>
            <a:r>
              <a:rPr lang="en" sz="1200" dirty="0">
                <a:highlight>
                  <a:srgbClr val="FFFF00"/>
                </a:highlight>
                <a:latin typeface="Roboto"/>
                <a:ea typeface="Roboto"/>
                <a:cs typeface="Roboto"/>
                <a:sym typeface="Roboto"/>
              </a:rPr>
              <a:t> </a:t>
            </a:r>
            <a:r>
              <a:rPr lang="en" sz="1200" dirty="0">
                <a:latin typeface="Roboto"/>
                <a:ea typeface="Roboto"/>
                <a:cs typeface="Roboto"/>
                <a:sym typeface="Roboto"/>
              </a:rPr>
              <a:t>method instead.</a:t>
            </a:r>
            <a:endParaRPr sz="1200" dirty="0">
              <a:latin typeface="Roboto"/>
              <a:ea typeface="Roboto"/>
              <a:cs typeface="Roboto"/>
              <a:sym typeface="Roboto"/>
            </a:endParaRPr>
          </a:p>
        </p:txBody>
      </p:sp>
      <p:grpSp>
        <p:nvGrpSpPr>
          <p:cNvPr id="327" name="Google Shape;327;p41"/>
          <p:cNvGrpSpPr/>
          <p:nvPr/>
        </p:nvGrpSpPr>
        <p:grpSpPr>
          <a:xfrm>
            <a:off x="3452530" y="3095025"/>
            <a:ext cx="3218100" cy="1125600"/>
            <a:chOff x="3452530" y="3095025"/>
            <a:chExt cx="3218100" cy="1125600"/>
          </a:xfrm>
        </p:grpSpPr>
        <p:sp>
          <p:nvSpPr>
            <p:cNvPr id="328" name="Google Shape;328;p41"/>
            <p:cNvSpPr/>
            <p:nvPr/>
          </p:nvSpPr>
          <p:spPr>
            <a:xfrm>
              <a:off x="3452530" y="4010025"/>
              <a:ext cx="1259700" cy="210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9" name="Google Shape;329;p41"/>
            <p:cNvCxnSpPr>
              <a:endCxn id="328" idx="3"/>
            </p:cNvCxnSpPr>
            <p:nvPr/>
          </p:nvCxnSpPr>
          <p:spPr>
            <a:xfrm flipH="1">
              <a:off x="4712230" y="3095025"/>
              <a:ext cx="1958400" cy="1020300"/>
            </a:xfrm>
            <a:prstGeom prst="bentConnector3">
              <a:avLst>
                <a:gd name="adj1" fmla="val 16954"/>
              </a:avLst>
            </a:prstGeom>
            <a:noFill/>
            <a:ln w="19050" cap="flat" cmpd="sng">
              <a:solidFill>
                <a:srgbClr val="FF0000"/>
              </a:solidFill>
              <a:prstDash val="solid"/>
              <a:round/>
              <a:headEnd type="none" w="med" len="med"/>
              <a:tailEnd type="none" w="med" len="med"/>
            </a:ln>
          </p:spPr>
        </p:cxnSp>
      </p:grpSp>
      <p:sp>
        <p:nvSpPr>
          <p:cNvPr id="330" name="Google Shape;330;p41"/>
          <p:cNvSpPr txBox="1"/>
          <p:nvPr/>
        </p:nvSpPr>
        <p:spPr>
          <a:xfrm>
            <a:off x="6670700" y="3685975"/>
            <a:ext cx="23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The Java runtime will create a new thread and call the </a:t>
            </a:r>
            <a:r>
              <a:rPr lang="en" sz="1200" dirty="0">
                <a:highlight>
                  <a:srgbClr val="FFFF00"/>
                </a:highlight>
                <a:latin typeface="Courier New"/>
                <a:ea typeface="Courier New"/>
                <a:cs typeface="Courier New"/>
                <a:sym typeface="Courier New"/>
              </a:rPr>
              <a:t>run()</a:t>
            </a:r>
            <a:r>
              <a:rPr lang="en" sz="1200" dirty="0">
                <a:latin typeface="Roboto"/>
                <a:ea typeface="Roboto"/>
                <a:cs typeface="Roboto"/>
                <a:sym typeface="Roboto"/>
              </a:rPr>
              <a:t> method in that thread.</a:t>
            </a:r>
            <a:endParaRPr sz="1200" dirty="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1000"/>
                                        <p:tgtEl>
                                          <p:spTgt spid="316"/>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17"/>
                                        </p:tgtEl>
                                        <p:attrNameLst>
                                          <p:attrName>style.visibility</p:attrName>
                                        </p:attrNameLst>
                                      </p:cBhvr>
                                      <p:to>
                                        <p:strVal val="visible"/>
                                      </p:to>
                                    </p:set>
                                    <p:animEffect transition="in" filter="fade">
                                      <p:cBhvr>
                                        <p:cTn id="11" dur="1000"/>
                                        <p:tgtEl>
                                          <p:spTgt spid="31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20"/>
                                        </p:tgtEl>
                                        <p:attrNameLst>
                                          <p:attrName>style.visibility</p:attrName>
                                        </p:attrNameLst>
                                      </p:cBhvr>
                                      <p:to>
                                        <p:strVal val="visible"/>
                                      </p:to>
                                    </p:set>
                                    <p:animEffect transition="in" filter="fade">
                                      <p:cBhvr>
                                        <p:cTn id="16" dur="1000"/>
                                        <p:tgtEl>
                                          <p:spTgt spid="32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21"/>
                                        </p:tgtEl>
                                        <p:attrNameLst>
                                          <p:attrName>style.visibility</p:attrName>
                                        </p:attrNameLst>
                                      </p:cBhvr>
                                      <p:to>
                                        <p:strVal val="visible"/>
                                      </p:to>
                                    </p:set>
                                    <p:animEffect transition="in" filter="fade">
                                      <p:cBhvr>
                                        <p:cTn id="21" dur="1000"/>
                                        <p:tgtEl>
                                          <p:spTgt spid="321"/>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322"/>
                                        </p:tgtEl>
                                        <p:attrNameLst>
                                          <p:attrName>style.visibility</p:attrName>
                                        </p:attrNameLst>
                                      </p:cBhvr>
                                      <p:to>
                                        <p:strVal val="visible"/>
                                      </p:to>
                                    </p:set>
                                    <p:animEffect transition="in" filter="fade">
                                      <p:cBhvr>
                                        <p:cTn id="25" dur="1000"/>
                                        <p:tgtEl>
                                          <p:spTgt spid="32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25"/>
                                        </p:tgtEl>
                                        <p:attrNameLst>
                                          <p:attrName>style.visibility</p:attrName>
                                        </p:attrNameLst>
                                      </p:cBhvr>
                                      <p:to>
                                        <p:strVal val="visible"/>
                                      </p:to>
                                    </p:set>
                                    <p:animEffect transition="in" filter="fade">
                                      <p:cBhvr>
                                        <p:cTn id="30" dur="1000"/>
                                        <p:tgtEl>
                                          <p:spTgt spid="32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26"/>
                                        </p:tgtEl>
                                        <p:attrNameLst>
                                          <p:attrName>style.visibility</p:attrName>
                                        </p:attrNameLst>
                                      </p:cBhvr>
                                      <p:to>
                                        <p:strVal val="visible"/>
                                      </p:to>
                                    </p:set>
                                    <p:animEffect transition="in" filter="fade">
                                      <p:cBhvr>
                                        <p:cTn id="35" dur="1000"/>
                                        <p:tgtEl>
                                          <p:spTgt spid="326"/>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327"/>
                                        </p:tgtEl>
                                        <p:attrNameLst>
                                          <p:attrName>style.visibility</p:attrName>
                                        </p:attrNameLst>
                                      </p:cBhvr>
                                      <p:to>
                                        <p:strVal val="visible"/>
                                      </p:to>
                                    </p:set>
                                    <p:animEffect transition="in" filter="fade">
                                      <p:cBhvr>
                                        <p:cTn id="39" dur="1000"/>
                                        <p:tgtEl>
                                          <p:spTgt spid="32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30"/>
                                        </p:tgtEl>
                                        <p:attrNameLst>
                                          <p:attrName>style.visibility</p:attrName>
                                        </p:attrNameLst>
                                      </p:cBhvr>
                                      <p:to>
                                        <p:strVal val="visible"/>
                                      </p:to>
                                    </p:set>
                                    <p:animEffect transition="in" filter="fade">
                                      <p:cBhvr>
                                        <p:cTn id="44" dur="1000"/>
                                        <p:tgtEl>
                                          <p:spTgt spid="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2"/>
          <p:cNvSpPr txBox="1">
            <a:spLocks noGrp="1"/>
          </p:cNvSpPr>
          <p:nvPr>
            <p:ph type="title"/>
          </p:nvPr>
        </p:nvSpPr>
        <p:spPr>
          <a:xfrm>
            <a:off x="311725" y="500925"/>
            <a:ext cx="3706500" cy="6381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2"/>
              </a:buClr>
              <a:buSzPct val="117857"/>
              <a:buFont typeface="Calibri"/>
              <a:buNone/>
            </a:pPr>
            <a:r>
              <a:rPr lang="en"/>
              <a:t>The Thread Scheduler</a:t>
            </a:r>
            <a:endParaRPr/>
          </a:p>
        </p:txBody>
      </p:sp>
      <p:sp>
        <p:nvSpPr>
          <p:cNvPr id="336" name="Google Shape;336;p42"/>
          <p:cNvSpPr txBox="1">
            <a:spLocks noGrp="1"/>
          </p:cNvSpPr>
          <p:nvPr>
            <p:ph type="body" idx="1"/>
          </p:nvPr>
        </p:nvSpPr>
        <p:spPr>
          <a:xfrm>
            <a:off x="4644675" y="272325"/>
            <a:ext cx="4166400" cy="4432200"/>
          </a:xfrm>
          <a:prstGeom prst="rect">
            <a:avLst/>
          </a:prstGeom>
          <a:noFill/>
          <a:ln>
            <a:noFill/>
          </a:ln>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Char char="●"/>
            </a:pPr>
            <a:r>
              <a:rPr lang="en" sz="1400" dirty="0"/>
              <a:t>So who, or what, decides whether or not a thread is given time on one of the available processors?</a:t>
            </a:r>
            <a:endParaRPr sz="1400" dirty="0"/>
          </a:p>
          <a:p>
            <a:pPr marL="457200" lvl="0" indent="-317500" algn="l" rtl="0">
              <a:lnSpc>
                <a:spcPct val="115000"/>
              </a:lnSpc>
              <a:spcBef>
                <a:spcPts val="1000"/>
              </a:spcBef>
              <a:spcAft>
                <a:spcPts val="0"/>
              </a:spcAft>
              <a:buSzPts val="1400"/>
              <a:buChar char="●"/>
            </a:pPr>
            <a:r>
              <a:rPr lang="en" sz="1400" dirty="0">
                <a:highlight>
                  <a:srgbClr val="FFFF00"/>
                </a:highlight>
              </a:rPr>
              <a:t>A mysterious entity called the thread </a:t>
            </a:r>
            <a:r>
              <a:rPr lang="en" sz="1400" b="1" i="1" dirty="0">
                <a:solidFill>
                  <a:srgbClr val="FF0000"/>
                </a:solidFill>
                <a:highlight>
                  <a:srgbClr val="FFFF00"/>
                </a:highlight>
              </a:rPr>
              <a:t>scheduler</a:t>
            </a:r>
            <a:endParaRPr sz="1400" b="1" i="1" dirty="0">
              <a:solidFill>
                <a:srgbClr val="FF0000"/>
              </a:solidFill>
              <a:highlight>
                <a:srgbClr val="FFFF00"/>
              </a:highlight>
            </a:endParaRPr>
          </a:p>
          <a:p>
            <a:pPr marL="457200" lvl="0" indent="-317500" algn="l" rtl="0">
              <a:lnSpc>
                <a:spcPct val="115000"/>
              </a:lnSpc>
              <a:spcBef>
                <a:spcPts val="1000"/>
              </a:spcBef>
              <a:spcAft>
                <a:spcPts val="0"/>
              </a:spcAft>
              <a:buSzPts val="1400"/>
              <a:buChar char="●"/>
            </a:pPr>
            <a:r>
              <a:rPr lang="en" sz="1400" dirty="0"/>
              <a:t>The thread scheduler works </a:t>
            </a:r>
            <a:r>
              <a:rPr lang="en" sz="1400" b="1" i="1" dirty="0">
                <a:solidFill>
                  <a:srgbClr val="FF0000"/>
                </a:solidFill>
              </a:rPr>
              <a:t>differently </a:t>
            </a:r>
            <a:r>
              <a:rPr lang="en" sz="1400" dirty="0"/>
              <a:t>on different architectures (operating systems, processors, etc.)</a:t>
            </a:r>
            <a:endParaRPr sz="1400" dirty="0"/>
          </a:p>
          <a:p>
            <a:pPr marL="457200" lvl="0" indent="-317500" algn="l" rtl="0">
              <a:lnSpc>
                <a:spcPct val="115000"/>
              </a:lnSpc>
              <a:spcBef>
                <a:spcPts val="1000"/>
              </a:spcBef>
              <a:spcAft>
                <a:spcPts val="0"/>
              </a:spcAft>
              <a:buSzPts val="1400"/>
              <a:buChar char="●"/>
            </a:pPr>
            <a:r>
              <a:rPr lang="en" sz="1400" dirty="0"/>
              <a:t>Its behavior is a black box, and somewhat </a:t>
            </a:r>
            <a:r>
              <a:rPr lang="en" sz="1400" b="1" i="1" dirty="0">
                <a:solidFill>
                  <a:srgbClr val="FF0000"/>
                </a:solidFill>
              </a:rPr>
              <a:t>unpredictable</a:t>
            </a:r>
            <a:endParaRPr sz="1400" b="1" i="1" dirty="0">
              <a:solidFill>
                <a:srgbClr val="FF0000"/>
              </a:solidFill>
            </a:endParaRPr>
          </a:p>
          <a:p>
            <a:pPr marL="914400" lvl="1" indent="-311150" algn="l" rtl="0">
              <a:lnSpc>
                <a:spcPct val="115000"/>
              </a:lnSpc>
              <a:spcBef>
                <a:spcPts val="1000"/>
              </a:spcBef>
              <a:spcAft>
                <a:spcPts val="0"/>
              </a:spcAft>
              <a:buSzPts val="1300"/>
              <a:buChar char="○"/>
            </a:pPr>
            <a:r>
              <a:rPr lang="en" sz="1300" dirty="0">
                <a:highlight>
                  <a:srgbClr val="FFFF00"/>
                </a:highlight>
              </a:rPr>
              <a:t>Your threads are in competition with all of the </a:t>
            </a:r>
            <a:r>
              <a:rPr lang="en" sz="1300" b="1" i="1" dirty="0">
                <a:solidFill>
                  <a:srgbClr val="FF0000"/>
                </a:solidFill>
                <a:highlight>
                  <a:srgbClr val="FFFF00"/>
                </a:highlight>
              </a:rPr>
              <a:t>other</a:t>
            </a:r>
            <a:r>
              <a:rPr lang="en" sz="1300" dirty="0">
                <a:highlight>
                  <a:srgbClr val="FFFF00"/>
                </a:highlight>
              </a:rPr>
              <a:t> threads </a:t>
            </a:r>
            <a:r>
              <a:rPr lang="en" sz="1300" dirty="0"/>
              <a:t>running on the computer</a:t>
            </a:r>
            <a:endParaRPr sz="1300" dirty="0"/>
          </a:p>
          <a:p>
            <a:pPr marL="914400" lvl="1" indent="-311150" algn="l" rtl="0">
              <a:lnSpc>
                <a:spcPct val="115000"/>
              </a:lnSpc>
              <a:spcBef>
                <a:spcPts val="1000"/>
              </a:spcBef>
              <a:spcAft>
                <a:spcPts val="1000"/>
              </a:spcAft>
              <a:buSzPts val="1300"/>
              <a:buChar char="○"/>
            </a:pPr>
            <a:r>
              <a:rPr lang="en" sz="1300" dirty="0"/>
              <a:t>There is </a:t>
            </a:r>
            <a:r>
              <a:rPr lang="en" sz="1300" dirty="0">
                <a:highlight>
                  <a:srgbClr val="FFFF00"/>
                </a:highlight>
              </a:rPr>
              <a:t>no way to </a:t>
            </a:r>
            <a:r>
              <a:rPr lang="en" sz="1300" b="1" i="1" dirty="0">
                <a:solidFill>
                  <a:srgbClr val="FF0000"/>
                </a:solidFill>
                <a:highlight>
                  <a:srgbClr val="FFFF00"/>
                </a:highlight>
              </a:rPr>
              <a:t>guarantee </a:t>
            </a:r>
            <a:r>
              <a:rPr lang="en" sz="1300" dirty="0"/>
              <a:t>that one of your threads gets time on the processor</a:t>
            </a:r>
            <a:endParaRPr sz="1300" dirty="0"/>
          </a:p>
        </p:txBody>
      </p:sp>
      <p:sp>
        <p:nvSpPr>
          <p:cNvPr id="337" name="Google Shape;337;p42"/>
          <p:cNvSpPr txBox="1">
            <a:spLocks noGrp="1"/>
          </p:cNvSpPr>
          <p:nvPr>
            <p:ph type="body" idx="3"/>
          </p:nvPr>
        </p:nvSpPr>
        <p:spPr>
          <a:xfrm>
            <a:off x="168075" y="4089650"/>
            <a:ext cx="4002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68575" bIns="91425" anchor="ctr" anchorCtr="0">
            <a:spAutoFit/>
          </a:bodyPr>
          <a:lstStyle/>
          <a:p>
            <a:pPr marL="0" lvl="0" indent="0" algn="l" rtl="0">
              <a:lnSpc>
                <a:spcPct val="100000"/>
              </a:lnSpc>
              <a:spcBef>
                <a:spcPts val="0"/>
              </a:spcBef>
              <a:spcAft>
                <a:spcPts val="0"/>
              </a:spcAft>
              <a:buClr>
                <a:schemeClr val="dk2"/>
              </a:buClr>
              <a:buSzPts val="2300"/>
              <a:buNone/>
            </a:pPr>
            <a:r>
              <a:rPr lang="en" dirty="0"/>
              <a:t>The </a:t>
            </a:r>
            <a:r>
              <a:rPr lang="en" b="1" i="1" dirty="0">
                <a:solidFill>
                  <a:srgbClr val="FF0000"/>
                </a:solidFill>
                <a:highlight>
                  <a:srgbClr val="FFFF00"/>
                </a:highlight>
              </a:rPr>
              <a:t>thread scheduler</a:t>
            </a:r>
            <a:r>
              <a:rPr lang="en" dirty="0">
                <a:highlight>
                  <a:srgbClr val="FFFF00"/>
                </a:highlight>
              </a:rPr>
              <a:t> controls when, and if, a thread gets to run. </a:t>
            </a:r>
            <a:r>
              <a:rPr lang="en" dirty="0"/>
              <a:t>You have minimal control over this process but normally it works the way you want it to.</a:t>
            </a:r>
            <a:endParaRPr dirty="0"/>
          </a:p>
        </p:txBody>
      </p:sp>
      <p:sp>
        <p:nvSpPr>
          <p:cNvPr id="338" name="Google Shape;338;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grpSp>
        <p:nvGrpSpPr>
          <p:cNvPr id="339" name="Google Shape;339;p42"/>
          <p:cNvGrpSpPr/>
          <p:nvPr/>
        </p:nvGrpSpPr>
        <p:grpSpPr>
          <a:xfrm>
            <a:off x="1138275" y="1894300"/>
            <a:ext cx="1933800" cy="1196100"/>
            <a:chOff x="1249550" y="1861075"/>
            <a:chExt cx="1933800" cy="1196100"/>
          </a:xfrm>
        </p:grpSpPr>
        <p:sp>
          <p:nvSpPr>
            <p:cNvPr id="340" name="Google Shape;340;p42"/>
            <p:cNvSpPr/>
            <p:nvPr/>
          </p:nvSpPr>
          <p:spPr>
            <a:xfrm>
              <a:off x="1249550" y="1861075"/>
              <a:ext cx="1933800" cy="1196100"/>
            </a:xfrm>
            <a:prstGeom prst="cube">
              <a:avLst>
                <a:gd name="adj" fmla="val 25000"/>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2"/>
            <p:cNvSpPr txBox="1"/>
            <p:nvPr/>
          </p:nvSpPr>
          <p:spPr>
            <a:xfrm>
              <a:off x="1322645" y="2312952"/>
              <a:ext cx="14820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a:solidFill>
                    <a:srgbClr val="FFFFFF"/>
                  </a:solidFill>
                  <a:latin typeface="Roboto"/>
                  <a:ea typeface="Roboto"/>
                  <a:cs typeface="Roboto"/>
                  <a:sym typeface="Roboto"/>
                </a:rPr>
                <a:t>Scheduler</a:t>
              </a:r>
              <a:endParaRPr sz="2300">
                <a:solidFill>
                  <a:srgbClr val="FFFFFF"/>
                </a:solidFill>
                <a:latin typeface="Roboto"/>
                <a:ea typeface="Roboto"/>
                <a:cs typeface="Roboto"/>
                <a:sym typeface="Roboto"/>
              </a:endParaRPr>
            </a:p>
          </p:txBody>
        </p:sp>
      </p:grpSp>
      <p:sp>
        <p:nvSpPr>
          <p:cNvPr id="342" name="Google Shape;342;p42"/>
          <p:cNvSpPr txBox="1"/>
          <p:nvPr/>
        </p:nvSpPr>
        <p:spPr>
          <a:xfrm>
            <a:off x="168075" y="1349400"/>
            <a:ext cx="970200" cy="6771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FFFFFF"/>
                </a:solidFill>
                <a:latin typeface="Roboto"/>
                <a:ea typeface="Roboto"/>
                <a:cs typeface="Roboto"/>
                <a:sym typeface="Roboto"/>
              </a:rPr>
              <a:t>Run a thread</a:t>
            </a:r>
            <a:endParaRPr sz="1600">
              <a:solidFill>
                <a:srgbClr val="FFFFFF"/>
              </a:solidFill>
              <a:latin typeface="Roboto"/>
              <a:ea typeface="Roboto"/>
              <a:cs typeface="Roboto"/>
              <a:sym typeface="Roboto"/>
            </a:endParaRPr>
          </a:p>
        </p:txBody>
      </p:sp>
      <p:cxnSp>
        <p:nvCxnSpPr>
          <p:cNvPr id="343" name="Google Shape;343;p42"/>
          <p:cNvCxnSpPr>
            <a:stCxn id="342" idx="2"/>
            <a:endCxn id="340" idx="2"/>
          </p:cNvCxnSpPr>
          <p:nvPr/>
        </p:nvCxnSpPr>
        <p:spPr>
          <a:xfrm rot="-5400000" flipH="1">
            <a:off x="588075" y="2091600"/>
            <a:ext cx="615300" cy="485100"/>
          </a:xfrm>
          <a:prstGeom prst="bentConnector2">
            <a:avLst/>
          </a:prstGeom>
          <a:noFill/>
          <a:ln w="19050" cap="flat" cmpd="sng">
            <a:solidFill>
              <a:srgbClr val="FFFFFF"/>
            </a:solidFill>
            <a:prstDash val="solid"/>
            <a:round/>
            <a:headEnd type="none" w="med" len="med"/>
            <a:tailEnd type="triangle" w="med" len="med"/>
          </a:ln>
        </p:spPr>
      </p:cxnSp>
      <p:sp>
        <p:nvSpPr>
          <p:cNvPr id="344" name="Google Shape;344;p42"/>
          <p:cNvSpPr txBox="1"/>
          <p:nvPr/>
        </p:nvSpPr>
        <p:spPr>
          <a:xfrm>
            <a:off x="2206475" y="3215135"/>
            <a:ext cx="1964100" cy="6771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FFFFFF"/>
                </a:solidFill>
                <a:latin typeface="Roboto"/>
                <a:ea typeface="Roboto"/>
                <a:cs typeface="Roboto"/>
                <a:sym typeface="Roboto"/>
              </a:rPr>
              <a:t>Thread runs, for some time, maybe</a:t>
            </a:r>
            <a:endParaRPr sz="1600">
              <a:solidFill>
                <a:srgbClr val="FFFFFF"/>
              </a:solidFill>
              <a:latin typeface="Roboto"/>
              <a:ea typeface="Roboto"/>
              <a:cs typeface="Roboto"/>
              <a:sym typeface="Roboto"/>
            </a:endParaRPr>
          </a:p>
        </p:txBody>
      </p:sp>
      <p:cxnSp>
        <p:nvCxnSpPr>
          <p:cNvPr id="345" name="Google Shape;345;p42"/>
          <p:cNvCxnSpPr/>
          <p:nvPr/>
        </p:nvCxnSpPr>
        <p:spPr>
          <a:xfrm rot="-5400000" flipH="1">
            <a:off x="2936300" y="2597700"/>
            <a:ext cx="645000" cy="593100"/>
          </a:xfrm>
          <a:prstGeom prst="bentConnector3">
            <a:avLst>
              <a:gd name="adj1" fmla="val -2004"/>
            </a:avLst>
          </a:prstGeom>
          <a:noFill/>
          <a:ln w="19050" cap="flat" cmpd="sng">
            <a:solidFill>
              <a:srgbClr val="FFFFFF"/>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2"/>
                                        </p:tgtEl>
                                        <p:attrNameLst>
                                          <p:attrName>style.visibility</p:attrName>
                                        </p:attrNameLst>
                                      </p:cBhvr>
                                      <p:to>
                                        <p:strVal val="visible"/>
                                      </p:to>
                                    </p:set>
                                    <p:animEffect transition="in" filter="fade">
                                      <p:cBhvr>
                                        <p:cTn id="7" dur="1000"/>
                                        <p:tgtEl>
                                          <p:spTgt spid="34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43"/>
                                        </p:tgtEl>
                                        <p:attrNameLst>
                                          <p:attrName>style.visibility</p:attrName>
                                        </p:attrNameLst>
                                      </p:cBhvr>
                                      <p:to>
                                        <p:strVal val="visible"/>
                                      </p:to>
                                    </p:set>
                                    <p:animEffect transition="in" filter="fade">
                                      <p:cBhvr>
                                        <p:cTn id="11" dur="1000"/>
                                        <p:tgtEl>
                                          <p:spTgt spid="343"/>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345"/>
                                        </p:tgtEl>
                                        <p:attrNameLst>
                                          <p:attrName>style.visibility</p:attrName>
                                        </p:attrNameLst>
                                      </p:cBhvr>
                                      <p:to>
                                        <p:strVal val="visible"/>
                                      </p:to>
                                    </p:set>
                                    <p:animEffect transition="in" filter="fade">
                                      <p:cBhvr>
                                        <p:cTn id="15" dur="1000"/>
                                        <p:tgtEl>
                                          <p:spTgt spid="345"/>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344"/>
                                        </p:tgtEl>
                                        <p:attrNameLst>
                                          <p:attrName>style.visibility</p:attrName>
                                        </p:attrNameLst>
                                      </p:cBhvr>
                                      <p:to>
                                        <p:strVal val="visible"/>
                                      </p:to>
                                    </p:set>
                                    <p:animEffect transition="in" filter="fade">
                                      <p:cBhvr>
                                        <p:cTn id="19" dur="1000"/>
                                        <p:tgtEl>
                                          <p:spTgt spid="34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37"/>
                                        </p:tgtEl>
                                        <p:attrNameLst>
                                          <p:attrName>style.visibility</p:attrName>
                                        </p:attrNameLst>
                                      </p:cBhvr>
                                      <p:to>
                                        <p:strVal val="visible"/>
                                      </p:to>
                                    </p:set>
                                    <p:animEffect transition="in" filter="fade">
                                      <p:cBhvr>
                                        <p:cTn id="24" dur="1000"/>
                                        <p:tgtEl>
                                          <p:spTgt spid="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3"/>
          <p:cNvSpPr txBox="1">
            <a:spLocks noGrp="1"/>
          </p:cNvSpPr>
          <p:nvPr>
            <p:ph type="title"/>
          </p:nvPr>
        </p:nvSpPr>
        <p:spPr>
          <a:xfrm>
            <a:off x="1436850" y="100"/>
            <a:ext cx="7642500" cy="5967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0"/>
              </a:spcBef>
              <a:spcAft>
                <a:spcPts val="0"/>
              </a:spcAft>
              <a:buClr>
                <a:schemeClr val="dk2"/>
              </a:buClr>
              <a:buSzPts val="3300"/>
              <a:buFont typeface="Calibri"/>
              <a:buNone/>
            </a:pPr>
            <a:r>
              <a:rPr lang="en">
                <a:latin typeface="Courier New"/>
                <a:ea typeface="Courier New"/>
                <a:cs typeface="Courier New"/>
                <a:sym typeface="Courier New"/>
              </a:rPr>
              <a:t>ThreadRacer</a:t>
            </a:r>
            <a:endParaRPr>
              <a:latin typeface="Courier New"/>
              <a:ea typeface="Courier New"/>
              <a:cs typeface="Courier New"/>
              <a:sym typeface="Courier New"/>
            </a:endParaRPr>
          </a:p>
        </p:txBody>
      </p:sp>
      <p:sp>
        <p:nvSpPr>
          <p:cNvPr id="351" name="Google Shape;351;p43"/>
          <p:cNvSpPr txBox="1">
            <a:spLocks noGrp="1"/>
          </p:cNvSpPr>
          <p:nvPr>
            <p:ph type="body" idx="1"/>
          </p:nvPr>
        </p:nvSpPr>
        <p:spPr>
          <a:xfrm>
            <a:off x="65250" y="731625"/>
            <a:ext cx="8955900" cy="512400"/>
          </a:xfrm>
          <a:prstGeom prst="rect">
            <a:avLst/>
          </a:prstGeom>
          <a:noFill/>
          <a:ln>
            <a:noFill/>
          </a:ln>
        </p:spPr>
        <p:txBody>
          <a:bodyPr spcFirstLastPara="1" wrap="square" lIns="68575" tIns="34275" rIns="68575" bIns="34275" anchor="t" anchorCtr="0">
            <a:spAutoFit/>
          </a:bodyPr>
          <a:lstStyle/>
          <a:p>
            <a:pPr marL="0" lvl="0" indent="0" algn="l" rtl="0">
              <a:lnSpc>
                <a:spcPct val="90000"/>
              </a:lnSpc>
              <a:spcBef>
                <a:spcPts val="0"/>
              </a:spcBef>
              <a:spcAft>
                <a:spcPts val="1600"/>
              </a:spcAft>
              <a:buClr>
                <a:schemeClr val="dk1"/>
              </a:buClr>
              <a:buSzPts val="1800"/>
              <a:buNone/>
            </a:pPr>
            <a:r>
              <a:rPr lang="en"/>
              <a:t>To solve our racing problems, were going to need to have the racers race concurrently rather than in serial. To start, we'll create a racer that is also a thread.</a:t>
            </a:r>
            <a:endParaRPr/>
          </a:p>
        </p:txBody>
      </p:sp>
      <p:sp>
        <p:nvSpPr>
          <p:cNvPr id="352" name="Google Shape;352;p43"/>
          <p:cNvSpPr txBox="1">
            <a:spLocks noGrp="1"/>
          </p:cNvSpPr>
          <p:nvPr>
            <p:ph type="body" idx="2"/>
          </p:nvPr>
        </p:nvSpPr>
        <p:spPr>
          <a:xfrm>
            <a:off x="3989250" y="1378850"/>
            <a:ext cx="4921200" cy="3413400"/>
          </a:xfrm>
          <a:prstGeom prst="rect">
            <a:avLst/>
          </a:prstGeom>
          <a:noFill/>
          <a:ln>
            <a:noFill/>
          </a:ln>
        </p:spPr>
        <p:txBody>
          <a:bodyPr spcFirstLastPara="1" wrap="square" lIns="68575" tIns="34275" rIns="68575" bIns="34275" anchor="t" anchorCtr="0">
            <a:spAutoFit/>
          </a:bodyPr>
          <a:lstStyle/>
          <a:p>
            <a:pPr marL="457200" lvl="0" indent="-311150" algn="l" rtl="0">
              <a:lnSpc>
                <a:spcPct val="115000"/>
              </a:lnSpc>
              <a:spcBef>
                <a:spcPts val="0"/>
              </a:spcBef>
              <a:spcAft>
                <a:spcPts val="0"/>
              </a:spcAft>
              <a:buSzPts val="1300"/>
              <a:buChar char="●"/>
            </a:pPr>
            <a:r>
              <a:rPr lang="en" dirty="0"/>
              <a:t>Make a </a:t>
            </a:r>
            <a:r>
              <a:rPr lang="en" b="1" i="1" dirty="0">
                <a:solidFill>
                  <a:srgbClr val="FF0000"/>
                </a:solidFill>
              </a:rPr>
              <a:t>copy</a:t>
            </a:r>
            <a:r>
              <a:rPr lang="en" dirty="0"/>
              <a:t> of the </a:t>
            </a:r>
            <a:r>
              <a:rPr lang="en" dirty="0">
                <a:latin typeface="Courier New"/>
                <a:ea typeface="Courier New"/>
                <a:cs typeface="Courier New"/>
                <a:sym typeface="Courier New"/>
              </a:rPr>
              <a:t>Racer</a:t>
            </a:r>
            <a:r>
              <a:rPr lang="en" dirty="0"/>
              <a:t> class named </a:t>
            </a:r>
            <a:r>
              <a:rPr lang="en" dirty="0">
                <a:latin typeface="Courier New"/>
                <a:ea typeface="Courier New"/>
                <a:cs typeface="Courier New"/>
                <a:sym typeface="Courier New"/>
              </a:rPr>
              <a:t>ThreadRacer</a:t>
            </a:r>
            <a:r>
              <a:rPr lang="en" dirty="0"/>
              <a:t>.</a:t>
            </a:r>
            <a:endParaRPr dirty="0"/>
          </a:p>
          <a:p>
            <a:pPr marL="457200" lvl="0" indent="-311150" algn="l" rtl="0">
              <a:lnSpc>
                <a:spcPct val="115000"/>
              </a:lnSpc>
              <a:spcBef>
                <a:spcPts val="0"/>
              </a:spcBef>
              <a:spcAft>
                <a:spcPts val="0"/>
              </a:spcAft>
              <a:buSzPts val="1300"/>
              <a:buChar char="●"/>
            </a:pPr>
            <a:r>
              <a:rPr lang="en" dirty="0"/>
              <a:t>In addition to the current functionality, extend the </a:t>
            </a:r>
            <a:r>
              <a:rPr lang="en" b="1" i="1" dirty="0">
                <a:solidFill>
                  <a:srgbClr val="FF0000"/>
                </a:solidFill>
              </a:rPr>
              <a:t>Thread</a:t>
            </a:r>
            <a:r>
              <a:rPr lang="en" dirty="0"/>
              <a:t> class.</a:t>
            </a:r>
            <a:endParaRPr dirty="0"/>
          </a:p>
          <a:p>
            <a:pPr marL="457200" lvl="0" indent="-311150" algn="l" rtl="0">
              <a:lnSpc>
                <a:spcPct val="115000"/>
              </a:lnSpc>
              <a:spcBef>
                <a:spcPts val="0"/>
              </a:spcBef>
              <a:spcAft>
                <a:spcPts val="0"/>
              </a:spcAft>
              <a:buSzPts val="1300"/>
              <a:buChar char="●"/>
            </a:pPr>
            <a:r>
              <a:rPr lang="en" dirty="0"/>
              <a:t>In </a:t>
            </a:r>
            <a:r>
              <a:rPr lang="en" dirty="0">
                <a:latin typeface="Courier New"/>
                <a:ea typeface="Courier New"/>
                <a:cs typeface="Courier New"/>
                <a:sym typeface="Courier New"/>
              </a:rPr>
              <a:t>main</a:t>
            </a:r>
            <a:r>
              <a:rPr lang="en" dirty="0"/>
              <a:t>, instead of calling </a:t>
            </a:r>
            <a:r>
              <a:rPr lang="en" dirty="0">
                <a:latin typeface="Courier New"/>
                <a:ea typeface="Courier New"/>
                <a:cs typeface="Courier New"/>
                <a:sym typeface="Courier New"/>
              </a:rPr>
              <a:t>racer.race()</a:t>
            </a:r>
            <a:r>
              <a:rPr lang="en" dirty="0"/>
              <a:t> call </a:t>
            </a:r>
            <a:r>
              <a:rPr lang="en" dirty="0">
                <a:solidFill>
                  <a:srgbClr val="FF0000"/>
                </a:solidFill>
                <a:latin typeface="Courier New"/>
                <a:ea typeface="Courier New"/>
                <a:cs typeface="Courier New"/>
                <a:sym typeface="Courier New"/>
              </a:rPr>
              <a:t>racer.start()</a:t>
            </a:r>
            <a:r>
              <a:rPr lang="en" dirty="0"/>
              <a:t> so it executes in its </a:t>
            </a:r>
            <a:r>
              <a:rPr lang="en" b="1" i="1" dirty="0">
                <a:solidFill>
                  <a:srgbClr val="FF0000"/>
                </a:solidFill>
              </a:rPr>
              <a:t>own thread</a:t>
            </a:r>
            <a:r>
              <a:rPr lang="en" dirty="0"/>
              <a:t>.</a:t>
            </a:r>
            <a:endParaRPr dirty="0"/>
          </a:p>
          <a:p>
            <a:pPr marL="457200" lvl="0" indent="-311150" algn="l" rtl="0">
              <a:lnSpc>
                <a:spcPct val="115000"/>
              </a:lnSpc>
              <a:spcBef>
                <a:spcPts val="1000"/>
              </a:spcBef>
              <a:spcAft>
                <a:spcPts val="0"/>
              </a:spcAft>
              <a:buSzPts val="1300"/>
              <a:buChar char="●"/>
            </a:pPr>
            <a:r>
              <a:rPr lang="en" dirty="0"/>
              <a:t>If you followed the directions closely, </a:t>
            </a:r>
            <a:r>
              <a:rPr lang="en" dirty="0">
                <a:highlight>
                  <a:srgbClr val="FFFF00"/>
                </a:highlight>
              </a:rPr>
              <a:t>your racer only prints out the finish time of 0.0 seconds.</a:t>
            </a:r>
            <a:endParaRPr dirty="0">
              <a:highlight>
                <a:srgbClr val="FFFF00"/>
              </a:highlight>
            </a:endParaRPr>
          </a:p>
          <a:p>
            <a:pPr marL="457200" lvl="0" indent="-311150" algn="l" rtl="0">
              <a:lnSpc>
                <a:spcPct val="115000"/>
              </a:lnSpc>
              <a:spcBef>
                <a:spcPts val="0"/>
              </a:spcBef>
              <a:spcAft>
                <a:spcPts val="0"/>
              </a:spcAft>
              <a:buSzPts val="1300"/>
              <a:buChar char="●"/>
            </a:pPr>
            <a:r>
              <a:rPr lang="en" dirty="0"/>
              <a:t>This is because we didn't implement the </a:t>
            </a:r>
            <a:r>
              <a:rPr lang="en" b="1" i="1" dirty="0">
                <a:solidFill>
                  <a:srgbClr val="FF0000"/>
                </a:solidFill>
              </a:rPr>
              <a:t>run</a:t>
            </a:r>
            <a:r>
              <a:rPr lang="en" dirty="0"/>
              <a:t> method.</a:t>
            </a:r>
            <a:endParaRPr dirty="0"/>
          </a:p>
          <a:p>
            <a:pPr marL="914400" lvl="1" indent="-304800" algn="l" rtl="0">
              <a:lnSpc>
                <a:spcPct val="115000"/>
              </a:lnSpc>
              <a:spcBef>
                <a:spcPts val="0"/>
              </a:spcBef>
              <a:spcAft>
                <a:spcPts val="0"/>
              </a:spcAft>
              <a:buSzPts val="1200"/>
              <a:buChar char="○"/>
            </a:pPr>
            <a:r>
              <a:rPr lang="en" sz="1200" dirty="0"/>
              <a:t>It's not required but your code won't do much without it.</a:t>
            </a:r>
            <a:endParaRPr sz="1200" dirty="0"/>
          </a:p>
          <a:p>
            <a:pPr marL="914400" lvl="1" indent="-304800" algn="l" rtl="0">
              <a:lnSpc>
                <a:spcPct val="115000"/>
              </a:lnSpc>
              <a:spcBef>
                <a:spcPts val="0"/>
              </a:spcBef>
              <a:spcAft>
                <a:spcPts val="0"/>
              </a:spcAft>
              <a:buSzPts val="1200"/>
              <a:buChar char="○"/>
            </a:pPr>
            <a:r>
              <a:rPr lang="en" sz="1200" dirty="0"/>
              <a:t>Override the </a:t>
            </a:r>
            <a:r>
              <a:rPr lang="en" sz="1200" dirty="0">
                <a:solidFill>
                  <a:srgbClr val="FF0000"/>
                </a:solidFill>
                <a:latin typeface="Courier New"/>
                <a:ea typeface="Courier New"/>
                <a:cs typeface="Courier New"/>
                <a:sym typeface="Courier New"/>
              </a:rPr>
              <a:t>run</a:t>
            </a:r>
            <a:r>
              <a:rPr lang="en" sz="1200" dirty="0"/>
              <a:t> method and have it call the </a:t>
            </a:r>
            <a:r>
              <a:rPr lang="en" sz="1200" dirty="0">
                <a:latin typeface="Courier New"/>
                <a:ea typeface="Courier New"/>
                <a:cs typeface="Courier New"/>
                <a:sym typeface="Courier New"/>
              </a:rPr>
              <a:t>race</a:t>
            </a:r>
            <a:r>
              <a:rPr lang="en" sz="1200" dirty="0"/>
              <a:t> method.</a:t>
            </a:r>
            <a:endParaRPr sz="1200" dirty="0"/>
          </a:p>
          <a:p>
            <a:pPr marL="457200" lvl="0" indent="-304800" algn="l" rtl="0">
              <a:lnSpc>
                <a:spcPct val="115000"/>
              </a:lnSpc>
              <a:spcBef>
                <a:spcPts val="1000"/>
              </a:spcBef>
              <a:spcAft>
                <a:spcPts val="0"/>
              </a:spcAft>
              <a:buSzPts val="1200"/>
              <a:buChar char="●"/>
            </a:pPr>
            <a:r>
              <a:rPr lang="en" sz="1200" b="1" i="1" dirty="0">
                <a:solidFill>
                  <a:srgbClr val="FF0000"/>
                </a:solidFill>
              </a:rPr>
              <a:t>Rerun</a:t>
            </a:r>
            <a:r>
              <a:rPr lang="en" sz="1200" dirty="0"/>
              <a:t> the program. You should now see the laps. </a:t>
            </a:r>
            <a:endParaRPr sz="1200" dirty="0"/>
          </a:p>
          <a:p>
            <a:pPr marL="457200" lvl="0" indent="-304800" algn="l" rtl="0">
              <a:lnSpc>
                <a:spcPct val="115000"/>
              </a:lnSpc>
              <a:spcBef>
                <a:spcPts val="0"/>
              </a:spcBef>
              <a:spcAft>
                <a:spcPts val="0"/>
              </a:spcAft>
              <a:buSzPts val="1200"/>
              <a:buChar char="●"/>
            </a:pPr>
            <a:r>
              <a:rPr lang="en" sz="1200" dirty="0"/>
              <a:t>However, you'll notice that the finish time is wrong, and may be printed before the race ends!</a:t>
            </a:r>
            <a:endParaRPr sz="1200" dirty="0"/>
          </a:p>
        </p:txBody>
      </p:sp>
      <p:sp>
        <p:nvSpPr>
          <p:cNvPr id="353" name="Google Shape;353;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54" name="Google Shape;354;p4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8.4</a:t>
            </a:r>
            <a:endParaRPr sz="2400">
              <a:solidFill>
                <a:schemeClr val="lt1"/>
              </a:solidFill>
              <a:latin typeface="Roboto"/>
              <a:ea typeface="Roboto"/>
              <a:cs typeface="Roboto"/>
              <a:sym typeface="Roboto"/>
            </a:endParaRPr>
          </a:p>
        </p:txBody>
      </p:sp>
      <p:sp>
        <p:nvSpPr>
          <p:cNvPr id="355" name="Google Shape;355;p43"/>
          <p:cNvSpPr/>
          <p:nvPr/>
        </p:nvSpPr>
        <p:spPr>
          <a:xfrm>
            <a:off x="157625" y="1378850"/>
            <a:ext cx="3639600" cy="3135900"/>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91425" tIns="91425" rIns="68575" bIns="91425" anchor="t" anchorCtr="0">
            <a:noAutofit/>
          </a:bodyPr>
          <a:lstStyle/>
          <a:p>
            <a:pPr marL="0" lvl="0" indent="0" algn="l" rtl="0">
              <a:lnSpc>
                <a:spcPct val="100000"/>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ThreadExample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extends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spcBef>
                <a:spcPts val="0"/>
              </a:spcBef>
              <a:spcAft>
                <a:spcPts val="0"/>
              </a:spcAft>
              <a:buNone/>
            </a:pPr>
            <a:r>
              <a:rPr lang="en" sz="1050">
                <a:solidFill>
                  <a:srgbClr val="008000"/>
                </a:solidFill>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spcBef>
                <a:spcPts val="0"/>
              </a:spcBef>
              <a:spcAft>
                <a:spcPts val="0"/>
              </a:spcAft>
              <a:buNone/>
            </a:pP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ThreadExample</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spcBef>
                <a:spcPts val="0"/>
              </a:spcBef>
              <a:spcAft>
                <a:spcPts val="0"/>
              </a:spcAft>
              <a:buNone/>
            </a:pPr>
            <a:r>
              <a:rPr lang="en" sz="1050">
                <a:solidFill>
                  <a:srgbClr val="008000"/>
                </a:solidFill>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Override</a:t>
            </a:r>
            <a:endParaRPr sz="105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ThreadExample</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1</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start</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a:t>
            </a:r>
            <a:endParaRPr sz="1100">
              <a:solidFill>
                <a:schemeClr val="dk1"/>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Multithreading</a:t>
            </a:r>
            <a:endParaRPr/>
          </a:p>
        </p:txBody>
      </p:sp>
      <p:sp>
        <p:nvSpPr>
          <p:cNvPr id="361" name="Google Shape;361;p4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For now, we're going to ignore the finish time errors (don't worry, we'll solve it later in this unit). Instead, let's focus on getting our racers to race concurrently. It's time to have our racers race again, but this time as threads. </a:t>
            </a:r>
            <a:endParaRPr/>
          </a:p>
        </p:txBody>
      </p:sp>
      <p:sp>
        <p:nvSpPr>
          <p:cNvPr id="362" name="Google Shape;362;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63" name="Google Shape;363;p44"/>
          <p:cNvSpPr txBox="1">
            <a:spLocks noGrp="1"/>
          </p:cNvSpPr>
          <p:nvPr>
            <p:ph type="body" idx="2"/>
          </p:nvPr>
        </p:nvSpPr>
        <p:spPr>
          <a:xfrm>
            <a:off x="2998525" y="1779175"/>
            <a:ext cx="5813700" cy="3031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copy of the </a:t>
            </a:r>
            <a:r>
              <a:rPr lang="en" dirty="0">
                <a:latin typeface="Courier New"/>
                <a:ea typeface="Courier New"/>
                <a:cs typeface="Courier New"/>
                <a:sym typeface="Courier New"/>
              </a:rPr>
              <a:t>Race</a:t>
            </a:r>
            <a:r>
              <a:rPr lang="en" dirty="0"/>
              <a:t> class named </a:t>
            </a:r>
            <a:r>
              <a:rPr lang="en" dirty="0">
                <a:solidFill>
                  <a:srgbClr val="FF0000"/>
                </a:solidFill>
                <a:latin typeface="Courier New"/>
                <a:ea typeface="Courier New"/>
                <a:cs typeface="Courier New"/>
                <a:sym typeface="Courier New"/>
              </a:rPr>
              <a:t>ThreadRace</a:t>
            </a:r>
            <a:r>
              <a:rPr lang="en" dirty="0"/>
              <a:t>.</a:t>
            </a:r>
            <a:endParaRPr dirty="0"/>
          </a:p>
          <a:p>
            <a:pPr marL="457200" lvl="0" indent="-311150" algn="l" rtl="0">
              <a:spcBef>
                <a:spcPts val="0"/>
              </a:spcBef>
              <a:spcAft>
                <a:spcPts val="0"/>
              </a:spcAft>
              <a:buSzPts val="1300"/>
              <a:buChar char="●"/>
            </a:pPr>
            <a:r>
              <a:rPr lang="en" dirty="0"/>
              <a:t>Change all the </a:t>
            </a:r>
            <a:r>
              <a:rPr lang="en" dirty="0">
                <a:latin typeface="Courier New"/>
                <a:ea typeface="Courier New"/>
                <a:cs typeface="Courier New"/>
                <a:sym typeface="Courier New"/>
              </a:rPr>
              <a:t>Racer</a:t>
            </a:r>
            <a:r>
              <a:rPr lang="en" dirty="0"/>
              <a:t>s to be </a:t>
            </a:r>
            <a:r>
              <a:rPr lang="en" dirty="0">
                <a:solidFill>
                  <a:srgbClr val="FF0000"/>
                </a:solidFill>
                <a:latin typeface="Courier New"/>
                <a:ea typeface="Courier New"/>
                <a:cs typeface="Courier New"/>
                <a:sym typeface="Courier New"/>
              </a:rPr>
              <a:t>ThreadRacer</a:t>
            </a:r>
            <a:r>
              <a:rPr lang="en" dirty="0"/>
              <a:t>s.</a:t>
            </a:r>
            <a:endParaRPr dirty="0"/>
          </a:p>
          <a:p>
            <a:pPr marL="457200" lvl="0" indent="-311150" algn="l" rtl="0">
              <a:spcBef>
                <a:spcPts val="0"/>
              </a:spcBef>
              <a:spcAft>
                <a:spcPts val="0"/>
              </a:spcAft>
              <a:buSzPts val="1300"/>
              <a:buChar char="●"/>
            </a:pPr>
            <a:r>
              <a:rPr lang="en" dirty="0"/>
              <a:t>Instead of calling </a:t>
            </a:r>
            <a:r>
              <a:rPr lang="en" dirty="0">
                <a:latin typeface="Courier New"/>
                <a:ea typeface="Courier New"/>
                <a:cs typeface="Courier New"/>
                <a:sym typeface="Courier New"/>
              </a:rPr>
              <a:t>race()</a:t>
            </a:r>
            <a:r>
              <a:rPr lang="en" dirty="0"/>
              <a:t> for each racer, call </a:t>
            </a:r>
            <a:r>
              <a:rPr lang="en" dirty="0">
                <a:solidFill>
                  <a:srgbClr val="FF0000"/>
                </a:solidFill>
                <a:latin typeface="Courier New"/>
                <a:ea typeface="Courier New"/>
                <a:cs typeface="Courier New"/>
                <a:sym typeface="Courier New"/>
              </a:rPr>
              <a:t>start()</a:t>
            </a:r>
            <a:r>
              <a:rPr lang="en" dirty="0"/>
              <a:t>.</a:t>
            </a:r>
            <a:endParaRPr dirty="0"/>
          </a:p>
          <a:p>
            <a:pPr marL="457200" lvl="0" indent="-311150" algn="l" rtl="0">
              <a:spcBef>
                <a:spcPts val="0"/>
              </a:spcBef>
              <a:spcAft>
                <a:spcPts val="0"/>
              </a:spcAft>
              <a:buSzPts val="1300"/>
              <a:buChar char="●"/>
            </a:pPr>
            <a:r>
              <a:rPr lang="en" dirty="0"/>
              <a:t>For now, </a:t>
            </a:r>
            <a:r>
              <a:rPr lang="en" b="1" i="1" dirty="0">
                <a:solidFill>
                  <a:srgbClr val="FF0000"/>
                </a:solidFill>
              </a:rPr>
              <a:t>comment out</a:t>
            </a:r>
            <a:r>
              <a:rPr lang="en" dirty="0"/>
              <a:t> the finish times.</a:t>
            </a:r>
            <a:endParaRPr dirty="0"/>
          </a:p>
          <a:p>
            <a:pPr marL="457200" lvl="0" indent="-311150" algn="l" rtl="0">
              <a:spcBef>
                <a:spcPts val="0"/>
              </a:spcBef>
              <a:spcAft>
                <a:spcPts val="0"/>
              </a:spcAft>
              <a:buSzPts val="1300"/>
              <a:buChar char="●"/>
            </a:pPr>
            <a:r>
              <a:rPr lang="en" dirty="0"/>
              <a:t>Run your program a few times and see what happens.</a:t>
            </a:r>
            <a:endParaRPr dirty="0"/>
          </a:p>
          <a:p>
            <a:pPr marL="914400" lvl="1" indent="-298450" algn="l" rtl="0">
              <a:spcBef>
                <a:spcPts val="0"/>
              </a:spcBef>
              <a:spcAft>
                <a:spcPts val="0"/>
              </a:spcAft>
              <a:buSzPts val="1100"/>
              <a:buChar char="○"/>
            </a:pPr>
            <a:r>
              <a:rPr lang="en" dirty="0"/>
              <a:t>What does the output look like?</a:t>
            </a:r>
            <a:endParaRPr dirty="0"/>
          </a:p>
          <a:p>
            <a:pPr marL="914400" lvl="1" indent="-298450" algn="l" rtl="0">
              <a:spcBef>
                <a:spcPts val="0"/>
              </a:spcBef>
              <a:spcAft>
                <a:spcPts val="0"/>
              </a:spcAft>
              <a:buSzPts val="1100"/>
              <a:buChar char="○"/>
            </a:pPr>
            <a:r>
              <a:rPr lang="en" dirty="0"/>
              <a:t>Does the same racer finish the first lap each time?</a:t>
            </a:r>
            <a:endParaRPr dirty="0"/>
          </a:p>
          <a:p>
            <a:pPr marL="914400" lvl="1" indent="-298450" algn="l" rtl="0">
              <a:spcBef>
                <a:spcPts val="0"/>
              </a:spcBef>
              <a:spcAft>
                <a:spcPts val="0"/>
              </a:spcAft>
              <a:buSzPts val="1100"/>
              <a:buChar char="○"/>
            </a:pPr>
            <a:r>
              <a:rPr lang="en" dirty="0"/>
              <a:t>Does the same racer win each time?</a:t>
            </a:r>
            <a:endParaRPr dirty="0"/>
          </a:p>
          <a:p>
            <a:pPr marL="914400" lvl="1" indent="-298450" algn="l" rtl="0">
              <a:spcBef>
                <a:spcPts val="0"/>
              </a:spcBef>
              <a:spcAft>
                <a:spcPts val="0"/>
              </a:spcAft>
              <a:buSzPts val="1100"/>
              <a:buChar char="○"/>
            </a:pPr>
            <a:r>
              <a:rPr lang="en" dirty="0"/>
              <a:t>Does the same racer come in last each time?</a:t>
            </a:r>
            <a:endParaRPr dirty="0"/>
          </a:p>
          <a:p>
            <a:pPr marL="914400" lvl="1" indent="-298450" algn="l" rtl="0">
              <a:spcBef>
                <a:spcPts val="0"/>
              </a:spcBef>
              <a:spcAft>
                <a:spcPts val="0"/>
              </a:spcAft>
              <a:buSzPts val="1100"/>
              <a:buChar char="○"/>
            </a:pPr>
            <a:r>
              <a:rPr lang="en" dirty="0"/>
              <a:t>Does the racer that starts first, always finish first?</a:t>
            </a:r>
            <a:endParaRPr dirty="0"/>
          </a:p>
          <a:p>
            <a:pPr marL="457200" lvl="0" indent="-311150" algn="l" rtl="0">
              <a:spcBef>
                <a:spcPts val="1000"/>
              </a:spcBef>
              <a:spcAft>
                <a:spcPts val="0"/>
              </a:spcAft>
              <a:buSzPts val="1300"/>
              <a:buChar char="●"/>
            </a:pPr>
            <a:r>
              <a:rPr lang="en" dirty="0">
                <a:highlight>
                  <a:srgbClr val="FFFF00"/>
                </a:highlight>
              </a:rPr>
              <a:t>If all went according to plan, you should have a real race running now.</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Different architectures handle threads differently so your output may not match your neighbors or the instructors.</a:t>
            </a:r>
            <a:endParaRPr dirty="0">
              <a:highlight>
                <a:srgbClr val="FFFF00"/>
              </a:highlight>
            </a:endParaRPr>
          </a:p>
        </p:txBody>
      </p:sp>
      <p:sp>
        <p:nvSpPr>
          <p:cNvPr id="364" name="Google Shape;364;p4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8.5</a:t>
            </a:r>
            <a:endParaRPr/>
          </a:p>
        </p:txBody>
      </p:sp>
      <p:pic>
        <p:nvPicPr>
          <p:cNvPr id="365" name="Google Shape;365;p44"/>
          <p:cNvPicPr preferRelativeResize="0"/>
          <p:nvPr/>
        </p:nvPicPr>
        <p:blipFill>
          <a:blip r:embed="rId3">
            <a:alphaModFix/>
          </a:blip>
          <a:stretch>
            <a:fillRect/>
          </a:stretch>
        </p:blipFill>
        <p:spPr>
          <a:xfrm>
            <a:off x="249662" y="1757000"/>
            <a:ext cx="2457100" cy="1239125"/>
          </a:xfrm>
          <a:prstGeom prst="rect">
            <a:avLst/>
          </a:prstGeom>
          <a:noFill/>
          <a:ln w="19050" cap="flat" cmpd="sng">
            <a:solidFill>
              <a:schemeClr val="dk1"/>
            </a:solidFill>
            <a:prstDash val="solid"/>
            <a:round/>
            <a:headEnd type="none" w="sm" len="sm"/>
            <a:tailEnd type="none" w="sm" len="sm"/>
          </a:ln>
        </p:spPr>
      </p:pic>
      <p:sp>
        <p:nvSpPr>
          <p:cNvPr id="366" name="Google Shape;366;p44"/>
          <p:cNvSpPr txBox="1"/>
          <p:nvPr/>
        </p:nvSpPr>
        <p:spPr>
          <a:xfrm>
            <a:off x="249662" y="3137089"/>
            <a:ext cx="2457000" cy="1404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a:latin typeface="Courier New"/>
                <a:ea typeface="Courier New"/>
                <a:cs typeface="Courier New"/>
                <a:sym typeface="Courier New"/>
              </a:rPr>
              <a:t>Peach completed Lap 1</a:t>
            </a:r>
            <a:endParaRPr sz="900">
              <a:latin typeface="Courier New"/>
              <a:ea typeface="Courier New"/>
              <a:cs typeface="Courier New"/>
              <a:sym typeface="Courier New"/>
            </a:endParaRPr>
          </a:p>
          <a:p>
            <a:pPr marL="0" lvl="0" indent="0" algn="l" rtl="0">
              <a:spcBef>
                <a:spcPts val="0"/>
              </a:spcBef>
              <a:spcAft>
                <a:spcPts val="0"/>
              </a:spcAft>
              <a:buNone/>
            </a:pPr>
            <a:r>
              <a:rPr lang="en" sz="900">
                <a:latin typeface="Courier New"/>
                <a:ea typeface="Courier New"/>
                <a:cs typeface="Courier New"/>
                <a:sym typeface="Courier New"/>
              </a:rPr>
              <a:t>Peach completed Lap 2</a:t>
            </a:r>
            <a:endParaRPr sz="900">
              <a:latin typeface="Courier New"/>
              <a:ea typeface="Courier New"/>
              <a:cs typeface="Courier New"/>
              <a:sym typeface="Courier New"/>
            </a:endParaRPr>
          </a:p>
          <a:p>
            <a:pPr marL="0" lvl="0" indent="0" algn="l" rtl="0">
              <a:spcBef>
                <a:spcPts val="0"/>
              </a:spcBef>
              <a:spcAft>
                <a:spcPts val="0"/>
              </a:spcAft>
              <a:buNone/>
            </a:pPr>
            <a:r>
              <a:rPr lang="en" sz="900">
                <a:latin typeface="Courier New"/>
                <a:ea typeface="Courier New"/>
                <a:cs typeface="Courier New"/>
                <a:sym typeface="Courier New"/>
              </a:rPr>
              <a:t>Luigi completed Lap 1</a:t>
            </a:r>
            <a:endParaRPr sz="900">
              <a:latin typeface="Courier New"/>
              <a:ea typeface="Courier New"/>
              <a:cs typeface="Courier New"/>
              <a:sym typeface="Courier New"/>
            </a:endParaRPr>
          </a:p>
          <a:p>
            <a:pPr marL="0" lvl="0" indent="0" algn="l" rtl="0">
              <a:spcBef>
                <a:spcPts val="0"/>
              </a:spcBef>
              <a:spcAft>
                <a:spcPts val="0"/>
              </a:spcAft>
              <a:buNone/>
            </a:pPr>
            <a:r>
              <a:rPr lang="en" sz="900">
                <a:latin typeface="Courier New"/>
                <a:ea typeface="Courier New"/>
                <a:cs typeface="Courier New"/>
                <a:sym typeface="Courier New"/>
              </a:rPr>
              <a:t>Mario completed Lap 1</a:t>
            </a:r>
            <a:endParaRPr sz="900">
              <a:latin typeface="Courier New"/>
              <a:ea typeface="Courier New"/>
              <a:cs typeface="Courier New"/>
              <a:sym typeface="Courier New"/>
            </a:endParaRPr>
          </a:p>
          <a:p>
            <a:pPr marL="0" lvl="0" indent="0" algn="l" rtl="0">
              <a:spcBef>
                <a:spcPts val="0"/>
              </a:spcBef>
              <a:spcAft>
                <a:spcPts val="0"/>
              </a:spcAft>
              <a:buNone/>
            </a:pPr>
            <a:r>
              <a:rPr lang="en" sz="900">
                <a:latin typeface="Courier New"/>
                <a:ea typeface="Courier New"/>
                <a:cs typeface="Courier New"/>
                <a:sym typeface="Courier New"/>
              </a:rPr>
              <a:t>Peach completed Lap 3</a:t>
            </a:r>
            <a:endParaRPr sz="900">
              <a:latin typeface="Courier New"/>
              <a:ea typeface="Courier New"/>
              <a:cs typeface="Courier New"/>
              <a:sym typeface="Courier New"/>
            </a:endParaRPr>
          </a:p>
          <a:p>
            <a:pPr marL="0" lvl="0" indent="0" algn="l" rtl="0">
              <a:spcBef>
                <a:spcPts val="0"/>
              </a:spcBef>
              <a:spcAft>
                <a:spcPts val="0"/>
              </a:spcAft>
              <a:buNone/>
            </a:pPr>
            <a:r>
              <a:rPr lang="en" sz="900">
                <a:latin typeface="Courier New"/>
                <a:ea typeface="Courier New"/>
                <a:cs typeface="Courier New"/>
                <a:sym typeface="Courier New"/>
              </a:rPr>
              <a:t>Luigi completed Lap 2</a:t>
            </a:r>
            <a:endParaRPr sz="900">
              <a:latin typeface="Courier New"/>
              <a:ea typeface="Courier New"/>
              <a:cs typeface="Courier New"/>
              <a:sym typeface="Courier New"/>
            </a:endParaRPr>
          </a:p>
          <a:p>
            <a:pPr marL="0" lvl="0" indent="0" algn="l" rtl="0">
              <a:spcBef>
                <a:spcPts val="0"/>
              </a:spcBef>
              <a:spcAft>
                <a:spcPts val="0"/>
              </a:spcAft>
              <a:buNone/>
            </a:pPr>
            <a:r>
              <a:rPr lang="en" sz="900">
                <a:latin typeface="Courier New"/>
                <a:ea typeface="Courier New"/>
                <a:cs typeface="Courier New"/>
                <a:sym typeface="Courier New"/>
              </a:rPr>
              <a:t>Mario completed Lap 2</a:t>
            </a:r>
            <a:endParaRPr sz="900">
              <a:latin typeface="Courier New"/>
              <a:ea typeface="Courier New"/>
              <a:cs typeface="Courier New"/>
              <a:sym typeface="Courier New"/>
            </a:endParaRPr>
          </a:p>
          <a:p>
            <a:pPr marL="0" lvl="0" indent="0" algn="l" rtl="0">
              <a:spcBef>
                <a:spcPts val="0"/>
              </a:spcBef>
              <a:spcAft>
                <a:spcPts val="0"/>
              </a:spcAft>
              <a:buNone/>
            </a:pPr>
            <a:r>
              <a:rPr lang="en" sz="900">
                <a:latin typeface="Courier New"/>
                <a:ea typeface="Courier New"/>
                <a:cs typeface="Courier New"/>
                <a:sym typeface="Courier New"/>
              </a:rPr>
              <a:t>Luigi completed Lap 3</a:t>
            </a:r>
            <a:endParaRPr sz="900">
              <a:latin typeface="Courier New"/>
              <a:ea typeface="Courier New"/>
              <a:cs typeface="Courier New"/>
              <a:sym typeface="Courier New"/>
            </a:endParaRPr>
          </a:p>
          <a:p>
            <a:pPr marL="0" lvl="0" indent="0" algn="l" rtl="0">
              <a:spcBef>
                <a:spcPts val="0"/>
              </a:spcBef>
              <a:spcAft>
                <a:spcPts val="0"/>
              </a:spcAft>
              <a:buNone/>
            </a:pPr>
            <a:r>
              <a:rPr lang="en" sz="900">
                <a:latin typeface="Courier New"/>
                <a:ea typeface="Courier New"/>
                <a:cs typeface="Courier New"/>
                <a:sym typeface="Courier New"/>
              </a:rPr>
              <a:t>Mario completed Lap 3</a:t>
            </a:r>
            <a:endParaRPr sz="900">
              <a:latin typeface="Courier New"/>
              <a:ea typeface="Courier New"/>
              <a:cs typeface="Courier New"/>
              <a:sym typeface="Courier New"/>
            </a:endParaRPr>
          </a:p>
        </p:txBody>
      </p:sp>
      <p:sp>
        <p:nvSpPr>
          <p:cNvPr id="367" name="Google Shape;367;p44"/>
          <p:cNvSpPr txBox="1">
            <a:spLocks noGrp="1"/>
          </p:cNvSpPr>
          <p:nvPr>
            <p:ph type="body" idx="4"/>
          </p:nvPr>
        </p:nvSpPr>
        <p:spPr>
          <a:xfrm>
            <a:off x="249650" y="4611400"/>
            <a:ext cx="2457000" cy="369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Sample output for 3 laps.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5"/>
          <p:cNvSpPr txBox="1">
            <a:spLocks noGrp="1"/>
          </p:cNvSpPr>
          <p:nvPr>
            <p:ph type="title"/>
          </p:nvPr>
        </p:nvSpPr>
        <p:spPr>
          <a:xfrm>
            <a:off x="5264725" y="272325"/>
            <a:ext cx="37065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Thread States I</a:t>
            </a:r>
            <a:endParaRPr/>
          </a:p>
        </p:txBody>
      </p:sp>
      <p:sp>
        <p:nvSpPr>
          <p:cNvPr id="373" name="Google Shape;373;p45"/>
          <p:cNvSpPr txBox="1">
            <a:spLocks noGrp="1"/>
          </p:cNvSpPr>
          <p:nvPr>
            <p:ph type="body" idx="1"/>
          </p:nvPr>
        </p:nvSpPr>
        <p:spPr>
          <a:xfrm>
            <a:off x="331525" y="621950"/>
            <a:ext cx="4166400" cy="3817681"/>
          </a:xfrm>
          <a:prstGeom prst="rect">
            <a:avLst/>
          </a:prstGeom>
          <a:noFill/>
          <a:ln>
            <a:noFill/>
          </a:ln>
        </p:spPr>
        <p:txBody>
          <a:bodyPr spcFirstLastPara="1" wrap="square" lIns="68575" tIns="34275" rIns="68575" bIns="34275" anchor="t" anchorCtr="0">
            <a:spAutoFit/>
          </a:bodyPr>
          <a:lstStyle/>
          <a:p>
            <a:pPr marL="457200" lvl="0" indent="-311150" algn="l" rtl="0">
              <a:lnSpc>
                <a:spcPct val="95000"/>
              </a:lnSpc>
              <a:spcBef>
                <a:spcPts val="0"/>
              </a:spcBef>
              <a:spcAft>
                <a:spcPts val="0"/>
              </a:spcAft>
              <a:buSzPts val="1300"/>
              <a:buChar char="●"/>
            </a:pPr>
            <a:r>
              <a:rPr lang="en" dirty="0"/>
              <a:t>Each thread can be in one of several </a:t>
            </a:r>
            <a:r>
              <a:rPr lang="en" b="1" i="1" dirty="0">
                <a:solidFill>
                  <a:srgbClr val="FF0000"/>
                </a:solidFill>
              </a:rPr>
              <a:t>states</a:t>
            </a:r>
            <a:r>
              <a:rPr lang="en" dirty="0"/>
              <a:t> at any point in time</a:t>
            </a:r>
            <a:endParaRPr dirty="0"/>
          </a:p>
          <a:p>
            <a:pPr marL="457200" lvl="0" indent="-311150" algn="l" rtl="0">
              <a:lnSpc>
                <a:spcPct val="95000"/>
              </a:lnSpc>
              <a:spcBef>
                <a:spcPts val="1000"/>
              </a:spcBef>
              <a:spcAft>
                <a:spcPts val="0"/>
              </a:spcAft>
              <a:buSzPts val="1300"/>
              <a:buChar char="●"/>
            </a:pPr>
            <a:r>
              <a:rPr lang="en" dirty="0"/>
              <a:t>We'll start with the first states and add more as we introduce new functionality</a:t>
            </a:r>
            <a:endParaRPr dirty="0"/>
          </a:p>
          <a:p>
            <a:pPr marL="457200" lvl="0" indent="-311150" algn="l" rtl="0">
              <a:lnSpc>
                <a:spcPct val="95000"/>
              </a:lnSpc>
              <a:spcBef>
                <a:spcPts val="1000"/>
              </a:spcBef>
              <a:spcAft>
                <a:spcPts val="0"/>
              </a:spcAft>
              <a:buSzPts val="1300"/>
              <a:buChar char="●"/>
            </a:pPr>
            <a:r>
              <a:rPr lang="en" b="1" i="1" dirty="0">
                <a:solidFill>
                  <a:srgbClr val="FF0000"/>
                </a:solidFill>
                <a:highlight>
                  <a:srgbClr val="FFFF00"/>
                </a:highlight>
              </a:rPr>
              <a:t>NEW</a:t>
            </a:r>
            <a:r>
              <a:rPr lang="en" dirty="0">
                <a:highlight>
                  <a:srgbClr val="FFFF00"/>
                </a:highlight>
              </a:rPr>
              <a:t> </a:t>
            </a:r>
            <a:r>
              <a:rPr lang="en" dirty="0"/>
              <a:t>– A thread has been created but start has not been called</a:t>
            </a:r>
            <a:endParaRPr dirty="0"/>
          </a:p>
          <a:p>
            <a:pPr marL="457200" lvl="0" indent="-311150" algn="l" rtl="0">
              <a:lnSpc>
                <a:spcPct val="95000"/>
              </a:lnSpc>
              <a:spcBef>
                <a:spcPts val="1000"/>
              </a:spcBef>
              <a:spcAft>
                <a:spcPts val="0"/>
              </a:spcAft>
              <a:buSzPts val="1300"/>
              <a:buChar char="●"/>
            </a:pPr>
            <a:r>
              <a:rPr lang="en" b="1" i="1" dirty="0">
                <a:solidFill>
                  <a:srgbClr val="FF0000"/>
                </a:solidFill>
              </a:rPr>
              <a:t>R</a:t>
            </a:r>
            <a:r>
              <a:rPr lang="en" b="1" i="1" dirty="0">
                <a:solidFill>
                  <a:srgbClr val="FF0000"/>
                </a:solidFill>
                <a:highlight>
                  <a:srgbClr val="FFFF00"/>
                </a:highlight>
              </a:rPr>
              <a:t>UNNABLE</a:t>
            </a:r>
            <a:r>
              <a:rPr lang="en" dirty="0">
                <a:highlight>
                  <a:srgbClr val="FFFF00"/>
                </a:highlight>
              </a:rPr>
              <a:t> </a:t>
            </a:r>
            <a:r>
              <a:rPr lang="en" dirty="0"/>
              <a:t>– Start has been called and nothing is preventing the thread from running</a:t>
            </a:r>
            <a:endParaRPr dirty="0"/>
          </a:p>
          <a:p>
            <a:pPr marL="457200" lvl="0" indent="-311150" algn="l" rtl="0">
              <a:lnSpc>
                <a:spcPct val="95000"/>
              </a:lnSpc>
              <a:spcBef>
                <a:spcPts val="1000"/>
              </a:spcBef>
              <a:spcAft>
                <a:spcPts val="0"/>
              </a:spcAft>
              <a:buSzPts val="1300"/>
              <a:buChar char="●"/>
            </a:pPr>
            <a:r>
              <a:rPr lang="en" b="1" i="1" dirty="0">
                <a:solidFill>
                  <a:srgbClr val="FF0000"/>
                </a:solidFill>
                <a:highlight>
                  <a:srgbClr val="FFFF00"/>
                </a:highlight>
              </a:rPr>
              <a:t>Running</a:t>
            </a:r>
            <a:r>
              <a:rPr lang="en" dirty="0">
                <a:highlight>
                  <a:srgbClr val="FFFF00"/>
                </a:highlight>
              </a:rPr>
              <a:t> </a:t>
            </a:r>
            <a:r>
              <a:rPr lang="en" dirty="0"/>
              <a:t>– The thread is actively executing on a processor (not an official state)</a:t>
            </a:r>
            <a:endParaRPr dirty="0"/>
          </a:p>
          <a:p>
            <a:pPr marL="457200" lvl="0" indent="-311150" algn="l" rtl="0">
              <a:lnSpc>
                <a:spcPct val="95000"/>
              </a:lnSpc>
              <a:spcBef>
                <a:spcPts val="1000"/>
              </a:spcBef>
              <a:spcAft>
                <a:spcPts val="0"/>
              </a:spcAft>
              <a:buSzPts val="1300"/>
              <a:buChar char="●"/>
            </a:pPr>
            <a:r>
              <a:rPr lang="en" dirty="0"/>
              <a:t>When a thread has finished its execution, or has been terminated, it enters the </a:t>
            </a:r>
            <a:r>
              <a:rPr lang="en" b="1" i="1" dirty="0">
                <a:solidFill>
                  <a:srgbClr val="FF0000"/>
                </a:solidFill>
                <a:highlight>
                  <a:srgbClr val="FFFF00"/>
                </a:highlight>
              </a:rPr>
              <a:t>DEAD </a:t>
            </a:r>
            <a:r>
              <a:rPr lang="en" dirty="0"/>
              <a:t>state</a:t>
            </a:r>
            <a:endParaRPr dirty="0"/>
          </a:p>
          <a:p>
            <a:pPr marL="457200" lvl="0" indent="-311150" algn="l" rtl="0">
              <a:lnSpc>
                <a:spcPct val="95000"/>
              </a:lnSpc>
              <a:spcBef>
                <a:spcPts val="1000"/>
              </a:spcBef>
              <a:spcAft>
                <a:spcPts val="1000"/>
              </a:spcAft>
              <a:buSzPts val="1300"/>
              <a:buChar char="●"/>
            </a:pPr>
            <a:r>
              <a:rPr lang="en" dirty="0"/>
              <a:t>We can check if a thread is in this state using the </a:t>
            </a:r>
            <a:r>
              <a:rPr lang="en" dirty="0">
                <a:solidFill>
                  <a:srgbClr val="FF0000"/>
                </a:solidFill>
                <a:highlight>
                  <a:srgbClr val="FFFF00"/>
                </a:highlight>
                <a:latin typeface="Courier New"/>
                <a:ea typeface="Courier New"/>
                <a:cs typeface="Courier New"/>
                <a:sym typeface="Courier New"/>
              </a:rPr>
              <a:t>isAlive</a:t>
            </a:r>
            <a:r>
              <a:rPr lang="en" dirty="0">
                <a:highlight>
                  <a:srgbClr val="FFFF00"/>
                </a:highlight>
                <a:latin typeface="Courier New"/>
                <a:ea typeface="Courier New"/>
                <a:cs typeface="Courier New"/>
                <a:sym typeface="Courier New"/>
              </a:rPr>
              <a:t>()</a:t>
            </a:r>
            <a:r>
              <a:rPr lang="en" dirty="0">
                <a:highlight>
                  <a:srgbClr val="FFFF00"/>
                </a:highlight>
              </a:rPr>
              <a:t> </a:t>
            </a:r>
            <a:r>
              <a:rPr lang="en" dirty="0"/>
              <a:t>method - It returns </a:t>
            </a:r>
            <a:r>
              <a:rPr lang="en" dirty="0">
                <a:latin typeface="Courier New"/>
                <a:ea typeface="Courier New"/>
                <a:cs typeface="Courier New"/>
                <a:sym typeface="Courier New"/>
              </a:rPr>
              <a:t>true</a:t>
            </a:r>
            <a:r>
              <a:rPr lang="en" dirty="0"/>
              <a:t> if the thread is still </a:t>
            </a:r>
            <a:r>
              <a:rPr lang="en" b="1" i="1" dirty="0">
                <a:solidFill>
                  <a:srgbClr val="FF0000"/>
                </a:solidFill>
              </a:rPr>
              <a:t>active</a:t>
            </a:r>
            <a:r>
              <a:rPr lang="en" dirty="0"/>
              <a:t> or false if it has died</a:t>
            </a:r>
            <a:endParaRPr dirty="0"/>
          </a:p>
        </p:txBody>
      </p:sp>
      <p:sp>
        <p:nvSpPr>
          <p:cNvPr id="374" name="Google Shape;374;p4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375" name="Google Shape;375;p45"/>
          <p:cNvSpPr/>
          <p:nvPr/>
        </p:nvSpPr>
        <p:spPr>
          <a:xfrm>
            <a:off x="6396448" y="986600"/>
            <a:ext cx="1115400" cy="478500"/>
          </a:xfrm>
          <a:prstGeom prst="roundRect">
            <a:avLst>
              <a:gd name="adj" fmla="val 16667"/>
            </a:avLst>
          </a:prstGeom>
          <a:solidFill>
            <a:srgbClr val="626B73"/>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grpSp>
        <p:nvGrpSpPr>
          <p:cNvPr id="376" name="Google Shape;376;p45"/>
          <p:cNvGrpSpPr/>
          <p:nvPr/>
        </p:nvGrpSpPr>
        <p:grpSpPr>
          <a:xfrm>
            <a:off x="5956919" y="1934734"/>
            <a:ext cx="1992951" cy="1728720"/>
            <a:chOff x="5956919" y="1858534"/>
            <a:chExt cx="1992951" cy="1728720"/>
          </a:xfrm>
        </p:grpSpPr>
        <p:sp>
          <p:nvSpPr>
            <p:cNvPr id="377" name="Google Shape;377;p45"/>
            <p:cNvSpPr/>
            <p:nvPr/>
          </p:nvSpPr>
          <p:spPr>
            <a:xfrm>
              <a:off x="5956919" y="1858534"/>
              <a:ext cx="1992951" cy="1728720"/>
            </a:xfrm>
            <a:prstGeom prst="roundRect">
              <a:avLst>
                <a:gd name="adj" fmla="val 9698"/>
              </a:avLst>
            </a:prstGeom>
            <a:solidFill>
              <a:srgbClr val="6AA84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5"/>
            <p:cNvSpPr/>
            <p:nvPr/>
          </p:nvSpPr>
          <p:spPr>
            <a:xfrm>
              <a:off x="6052559" y="1956718"/>
              <a:ext cx="1803107" cy="478485"/>
            </a:xfrm>
            <a:prstGeom prst="roundRect">
              <a:avLst>
                <a:gd name="adj" fmla="val 16667"/>
              </a:avLst>
            </a:prstGeom>
            <a:solidFill>
              <a:srgbClr val="626B73"/>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grpSp>
      <p:sp>
        <p:nvSpPr>
          <p:cNvPr id="379" name="Google Shape;379;p45"/>
          <p:cNvSpPr/>
          <p:nvPr/>
        </p:nvSpPr>
        <p:spPr>
          <a:xfrm>
            <a:off x="6052559" y="3079221"/>
            <a:ext cx="1803000" cy="478500"/>
          </a:xfrm>
          <a:prstGeom prst="roundRect">
            <a:avLst>
              <a:gd name="adj" fmla="val 16667"/>
            </a:avLst>
          </a:prstGeom>
          <a:solidFill>
            <a:srgbClr val="626B73"/>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380" name="Google Shape;380;p45"/>
          <p:cNvSpPr/>
          <p:nvPr/>
        </p:nvSpPr>
        <p:spPr>
          <a:xfrm>
            <a:off x="6080623" y="4133089"/>
            <a:ext cx="1745700" cy="478500"/>
          </a:xfrm>
          <a:prstGeom prst="roundRect">
            <a:avLst>
              <a:gd name="adj" fmla="val 16667"/>
            </a:avLst>
          </a:prstGeom>
          <a:solidFill>
            <a:srgbClr val="626B73"/>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grpSp>
        <p:nvGrpSpPr>
          <p:cNvPr id="381" name="Google Shape;381;p45"/>
          <p:cNvGrpSpPr/>
          <p:nvPr/>
        </p:nvGrpSpPr>
        <p:grpSpPr>
          <a:xfrm>
            <a:off x="6793311" y="3557721"/>
            <a:ext cx="1064400" cy="575400"/>
            <a:chOff x="6793311" y="3481521"/>
            <a:chExt cx="1064400" cy="575400"/>
          </a:xfrm>
        </p:grpSpPr>
        <p:cxnSp>
          <p:nvCxnSpPr>
            <p:cNvPr id="382" name="Google Shape;382;p45"/>
            <p:cNvCxnSpPr>
              <a:stCxn id="379" idx="2"/>
              <a:endCxn id="380" idx="0"/>
            </p:cNvCxnSpPr>
            <p:nvPr/>
          </p:nvCxnSpPr>
          <p:spPr>
            <a:xfrm flipH="1">
              <a:off x="6953459" y="3481521"/>
              <a:ext cx="600" cy="575400"/>
            </a:xfrm>
            <a:prstGeom prst="straightConnector1">
              <a:avLst/>
            </a:prstGeom>
            <a:noFill/>
            <a:ln w="19050" cap="flat" cmpd="sng">
              <a:solidFill>
                <a:srgbClr val="FFFFFF"/>
              </a:solidFill>
              <a:prstDash val="solid"/>
              <a:round/>
              <a:headEnd type="none" w="med" len="med"/>
              <a:tailEnd type="triangle" w="med" len="med"/>
            </a:ln>
          </p:spPr>
        </p:cxnSp>
        <p:sp>
          <p:nvSpPr>
            <p:cNvPr id="383" name="Google Shape;383;p45"/>
            <p:cNvSpPr txBox="1"/>
            <p:nvPr/>
          </p:nvSpPr>
          <p:spPr>
            <a:xfrm>
              <a:off x="6793311" y="3644544"/>
              <a:ext cx="1064400" cy="23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FFFFFF"/>
                  </a:solidFill>
                  <a:latin typeface="Consolas"/>
                  <a:ea typeface="Consolas"/>
                  <a:cs typeface="Consolas"/>
                  <a:sym typeface="Consolas"/>
                </a:rPr>
                <a:t>run()</a:t>
              </a:r>
              <a:r>
                <a:rPr lang="en" sz="800">
                  <a:solidFill>
                    <a:srgbClr val="FFFFFF"/>
                  </a:solidFill>
                </a:rPr>
                <a:t> returns</a:t>
              </a:r>
              <a:endParaRPr sz="800">
                <a:solidFill>
                  <a:srgbClr val="FFFFFF"/>
                </a:solidFill>
              </a:endParaRPr>
            </a:p>
          </p:txBody>
        </p:sp>
      </p:grpSp>
      <p:grpSp>
        <p:nvGrpSpPr>
          <p:cNvPr id="384" name="Google Shape;384;p45"/>
          <p:cNvGrpSpPr/>
          <p:nvPr/>
        </p:nvGrpSpPr>
        <p:grpSpPr>
          <a:xfrm>
            <a:off x="6935568" y="1465100"/>
            <a:ext cx="804900" cy="567900"/>
            <a:chOff x="6935568" y="1388900"/>
            <a:chExt cx="804900" cy="567900"/>
          </a:xfrm>
        </p:grpSpPr>
        <p:cxnSp>
          <p:nvCxnSpPr>
            <p:cNvPr id="385" name="Google Shape;385;p45"/>
            <p:cNvCxnSpPr>
              <a:stCxn id="375" idx="2"/>
              <a:endCxn id="378" idx="0"/>
            </p:cNvCxnSpPr>
            <p:nvPr/>
          </p:nvCxnSpPr>
          <p:spPr>
            <a:xfrm>
              <a:off x="6954148" y="1388900"/>
              <a:ext cx="0" cy="567900"/>
            </a:xfrm>
            <a:prstGeom prst="straightConnector1">
              <a:avLst/>
            </a:prstGeom>
            <a:noFill/>
            <a:ln w="19050" cap="flat" cmpd="sng">
              <a:solidFill>
                <a:srgbClr val="FFFFFF"/>
              </a:solidFill>
              <a:prstDash val="solid"/>
              <a:round/>
              <a:headEnd type="none" w="med" len="med"/>
              <a:tailEnd type="triangle" w="med" len="med"/>
            </a:ln>
          </p:spPr>
        </p:cxnSp>
        <p:sp>
          <p:nvSpPr>
            <p:cNvPr id="386" name="Google Shape;386;p45"/>
            <p:cNvSpPr txBox="1"/>
            <p:nvPr/>
          </p:nvSpPr>
          <p:spPr>
            <a:xfrm>
              <a:off x="6935568" y="1494655"/>
              <a:ext cx="804900" cy="23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solidFill>
                    <a:srgbClr val="FFFFFF"/>
                  </a:solidFill>
                  <a:latin typeface="Consolas"/>
                  <a:ea typeface="Consolas"/>
                  <a:cs typeface="Consolas"/>
                  <a:sym typeface="Consolas"/>
                </a:rPr>
                <a:t>start()</a:t>
              </a:r>
              <a:endParaRPr sz="800" b="1">
                <a:solidFill>
                  <a:srgbClr val="FFFFFF"/>
                </a:solidFill>
                <a:latin typeface="Consolas"/>
                <a:ea typeface="Consolas"/>
                <a:cs typeface="Consolas"/>
                <a:sym typeface="Consolas"/>
              </a:endParaRPr>
            </a:p>
          </p:txBody>
        </p:sp>
      </p:grpSp>
      <p:grpSp>
        <p:nvGrpSpPr>
          <p:cNvPr id="387" name="Google Shape;387;p45"/>
          <p:cNvGrpSpPr/>
          <p:nvPr/>
        </p:nvGrpSpPr>
        <p:grpSpPr>
          <a:xfrm>
            <a:off x="6889712" y="2517804"/>
            <a:ext cx="697800" cy="669167"/>
            <a:chOff x="6889712" y="2441604"/>
            <a:chExt cx="697800" cy="669167"/>
          </a:xfrm>
        </p:grpSpPr>
        <p:cxnSp>
          <p:nvCxnSpPr>
            <p:cNvPr id="388" name="Google Shape;388;p45"/>
            <p:cNvCxnSpPr/>
            <p:nvPr/>
          </p:nvCxnSpPr>
          <p:spPr>
            <a:xfrm rot="10800000">
              <a:off x="7479499" y="2441604"/>
              <a:ext cx="0" cy="575873"/>
            </a:xfrm>
            <a:prstGeom prst="straightConnector1">
              <a:avLst/>
            </a:prstGeom>
            <a:noFill/>
            <a:ln w="19050" cap="flat" cmpd="sng">
              <a:solidFill>
                <a:srgbClr val="FFFFFF"/>
              </a:solidFill>
              <a:prstDash val="solid"/>
              <a:round/>
              <a:headEnd type="none" w="med" len="med"/>
              <a:tailEnd type="triangle" w="med" len="med"/>
            </a:ln>
          </p:spPr>
        </p:cxnSp>
        <p:sp>
          <p:nvSpPr>
            <p:cNvPr id="389" name="Google Shape;389;p45"/>
            <p:cNvSpPr txBox="1"/>
            <p:nvPr/>
          </p:nvSpPr>
          <p:spPr>
            <a:xfrm>
              <a:off x="6889712" y="2701871"/>
              <a:ext cx="697800" cy="408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solidFill>
                    <a:srgbClr val="FFFFFF"/>
                  </a:solidFill>
                </a:rPr>
                <a:t>timeout</a:t>
              </a:r>
              <a:endParaRPr sz="800" b="1">
                <a:solidFill>
                  <a:srgbClr val="FFFFFF"/>
                </a:solidFill>
              </a:endParaRPr>
            </a:p>
          </p:txBody>
        </p:sp>
      </p:grpSp>
      <p:grpSp>
        <p:nvGrpSpPr>
          <p:cNvPr id="390" name="Google Shape;390;p45"/>
          <p:cNvGrpSpPr/>
          <p:nvPr/>
        </p:nvGrpSpPr>
        <p:grpSpPr>
          <a:xfrm>
            <a:off x="6334392" y="2481836"/>
            <a:ext cx="878700" cy="611687"/>
            <a:chOff x="6334392" y="2405636"/>
            <a:chExt cx="878700" cy="611687"/>
          </a:xfrm>
        </p:grpSpPr>
        <p:cxnSp>
          <p:nvCxnSpPr>
            <p:cNvPr id="391" name="Google Shape;391;p45"/>
            <p:cNvCxnSpPr/>
            <p:nvPr/>
          </p:nvCxnSpPr>
          <p:spPr>
            <a:xfrm>
              <a:off x="6459193" y="2441451"/>
              <a:ext cx="0" cy="575873"/>
            </a:xfrm>
            <a:prstGeom prst="straightConnector1">
              <a:avLst/>
            </a:prstGeom>
            <a:noFill/>
            <a:ln w="19050" cap="flat" cmpd="sng">
              <a:solidFill>
                <a:srgbClr val="FFFFFF"/>
              </a:solidFill>
              <a:prstDash val="solid"/>
              <a:round/>
              <a:headEnd type="none" w="med" len="med"/>
              <a:tailEnd type="triangle" w="med" len="med"/>
            </a:ln>
          </p:spPr>
        </p:cxnSp>
        <p:sp>
          <p:nvSpPr>
            <p:cNvPr id="392" name="Google Shape;392;p45"/>
            <p:cNvSpPr txBox="1"/>
            <p:nvPr/>
          </p:nvSpPr>
          <p:spPr>
            <a:xfrm>
              <a:off x="6334392" y="2405636"/>
              <a:ext cx="878700" cy="23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solidFill>
                    <a:srgbClr val="FFFFFF"/>
                  </a:solidFill>
                </a:rPr>
                <a:t>scheduled</a:t>
              </a:r>
              <a:endParaRPr sz="800" b="1">
                <a:solidFill>
                  <a:srgbClr val="FFFF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5"/>
                                        </p:tgtEl>
                                        <p:attrNameLst>
                                          <p:attrName>style.visibility</p:attrName>
                                        </p:attrNameLst>
                                      </p:cBhvr>
                                      <p:to>
                                        <p:strVal val="visible"/>
                                      </p:to>
                                    </p:set>
                                    <p:animEffect transition="in" filter="fade">
                                      <p:cBhvr>
                                        <p:cTn id="7" dur="1000"/>
                                        <p:tgtEl>
                                          <p:spTgt spid="3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4"/>
                                        </p:tgtEl>
                                        <p:attrNameLst>
                                          <p:attrName>style.visibility</p:attrName>
                                        </p:attrNameLst>
                                      </p:cBhvr>
                                      <p:to>
                                        <p:strVal val="visible"/>
                                      </p:to>
                                    </p:set>
                                    <p:animEffect transition="in" filter="fade">
                                      <p:cBhvr>
                                        <p:cTn id="12" dur="1000"/>
                                        <p:tgtEl>
                                          <p:spTgt spid="384"/>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376"/>
                                        </p:tgtEl>
                                        <p:attrNameLst>
                                          <p:attrName>style.visibility</p:attrName>
                                        </p:attrNameLst>
                                      </p:cBhvr>
                                      <p:to>
                                        <p:strVal val="visible"/>
                                      </p:to>
                                    </p:set>
                                    <p:animEffect transition="in" filter="fade">
                                      <p:cBhvr>
                                        <p:cTn id="16" dur="1000"/>
                                        <p:tgtEl>
                                          <p:spTgt spid="37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90"/>
                                        </p:tgtEl>
                                        <p:attrNameLst>
                                          <p:attrName>style.visibility</p:attrName>
                                        </p:attrNameLst>
                                      </p:cBhvr>
                                      <p:to>
                                        <p:strVal val="visible"/>
                                      </p:to>
                                    </p:set>
                                    <p:animEffect transition="in" filter="fade">
                                      <p:cBhvr>
                                        <p:cTn id="21" dur="1000"/>
                                        <p:tgtEl>
                                          <p:spTgt spid="390"/>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379"/>
                                        </p:tgtEl>
                                        <p:attrNameLst>
                                          <p:attrName>style.visibility</p:attrName>
                                        </p:attrNameLst>
                                      </p:cBhvr>
                                      <p:to>
                                        <p:strVal val="visible"/>
                                      </p:to>
                                    </p:set>
                                    <p:animEffect transition="in" filter="fade">
                                      <p:cBhvr>
                                        <p:cTn id="25" dur="1000"/>
                                        <p:tgtEl>
                                          <p:spTgt spid="37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87"/>
                                        </p:tgtEl>
                                        <p:attrNameLst>
                                          <p:attrName>style.visibility</p:attrName>
                                        </p:attrNameLst>
                                      </p:cBhvr>
                                      <p:to>
                                        <p:strVal val="visible"/>
                                      </p:to>
                                    </p:set>
                                    <p:animEffect transition="in" filter="fade">
                                      <p:cBhvr>
                                        <p:cTn id="30" dur="1000"/>
                                        <p:tgtEl>
                                          <p:spTgt spid="38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81"/>
                                        </p:tgtEl>
                                        <p:attrNameLst>
                                          <p:attrName>style.visibility</p:attrName>
                                        </p:attrNameLst>
                                      </p:cBhvr>
                                      <p:to>
                                        <p:strVal val="visible"/>
                                      </p:to>
                                    </p:set>
                                    <p:animEffect transition="in" filter="fade">
                                      <p:cBhvr>
                                        <p:cTn id="35" dur="1000"/>
                                        <p:tgtEl>
                                          <p:spTgt spid="381"/>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380"/>
                                        </p:tgtEl>
                                        <p:attrNameLst>
                                          <p:attrName>style.visibility</p:attrName>
                                        </p:attrNameLst>
                                      </p:cBhvr>
                                      <p:to>
                                        <p:strVal val="visible"/>
                                      </p:to>
                                    </p:set>
                                    <p:animEffect transition="in" filter="fade">
                                      <p:cBhvr>
                                        <p:cTn id="39" dur="1000"/>
                                        <p:tgtEl>
                                          <p:spTgt spid="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398" name="Google Shape;398;p4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It's Alive!</a:t>
            </a:r>
            <a:endParaRPr/>
          </a:p>
        </p:txBody>
      </p:sp>
      <p:sp>
        <p:nvSpPr>
          <p:cNvPr id="399" name="Google Shape;399;p46"/>
          <p:cNvSpPr txBox="1">
            <a:spLocks noGrp="1"/>
          </p:cNvSpPr>
          <p:nvPr>
            <p:ph type="body" idx="1"/>
          </p:nvPr>
        </p:nvSpPr>
        <p:spPr>
          <a:xfrm>
            <a:off x="94050" y="860200"/>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 know about the isAlive method, we can use that to know when all the racers have finished. Let's use this to solve the issue with the finish times being incorrect.</a:t>
            </a:r>
            <a:endParaRPr/>
          </a:p>
        </p:txBody>
      </p:sp>
      <p:sp>
        <p:nvSpPr>
          <p:cNvPr id="400" name="Google Shape;400;p46"/>
          <p:cNvSpPr txBox="1">
            <a:spLocks noGrp="1"/>
          </p:cNvSpPr>
          <p:nvPr>
            <p:ph type="body" idx="2"/>
          </p:nvPr>
        </p:nvSpPr>
        <p:spPr>
          <a:xfrm>
            <a:off x="3875800" y="1857700"/>
            <a:ext cx="4870500" cy="2670957"/>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In </a:t>
            </a:r>
            <a:r>
              <a:rPr lang="en" dirty="0">
                <a:solidFill>
                  <a:srgbClr val="FF0000"/>
                </a:solidFill>
                <a:latin typeface="Courier New"/>
                <a:ea typeface="Courier New"/>
                <a:cs typeface="Courier New"/>
                <a:sym typeface="Courier New"/>
              </a:rPr>
              <a:t>ThreadRace</a:t>
            </a:r>
            <a:r>
              <a:rPr lang="en" dirty="0"/>
              <a:t>, after starting each racer, </a:t>
            </a:r>
            <a:r>
              <a:rPr lang="en" b="1" i="1" dirty="0">
                <a:solidFill>
                  <a:srgbClr val="FF0000"/>
                </a:solidFill>
              </a:rPr>
              <a:t>loop until</a:t>
            </a:r>
            <a:r>
              <a:rPr lang="en" dirty="0"/>
              <a:t> all racers have </a:t>
            </a:r>
            <a:r>
              <a:rPr lang="en" b="1" i="1" dirty="0">
                <a:solidFill>
                  <a:srgbClr val="FF0000"/>
                </a:solidFill>
              </a:rPr>
              <a:t>finished</a:t>
            </a:r>
            <a:r>
              <a:rPr lang="en" dirty="0"/>
              <a:t>.</a:t>
            </a:r>
            <a:endParaRPr dirty="0"/>
          </a:p>
          <a:p>
            <a:pPr marL="914400" lvl="1" indent="-298450" algn="l" rtl="0">
              <a:spcBef>
                <a:spcPts val="0"/>
              </a:spcBef>
              <a:spcAft>
                <a:spcPts val="0"/>
              </a:spcAft>
              <a:buSzPts val="1100"/>
              <a:buChar char="○"/>
            </a:pPr>
            <a:r>
              <a:rPr lang="en" dirty="0"/>
              <a:t>i.e. </a:t>
            </a:r>
            <a:r>
              <a:rPr lang="en" dirty="0">
                <a:highlight>
                  <a:srgbClr val="FFFF00"/>
                </a:highlight>
              </a:rPr>
              <a:t>their thread is no longer </a:t>
            </a:r>
            <a:r>
              <a:rPr lang="en" b="1" i="1" dirty="0">
                <a:solidFill>
                  <a:srgbClr val="FF0000"/>
                </a:solidFill>
                <a:highlight>
                  <a:srgbClr val="FFFF00"/>
                </a:highlight>
              </a:rPr>
              <a:t>alive</a:t>
            </a:r>
            <a:endParaRPr b="1" i="1" dirty="0">
              <a:solidFill>
                <a:srgbClr val="FF0000"/>
              </a:solidFill>
              <a:highlight>
                <a:srgbClr val="FFFF00"/>
              </a:highlight>
            </a:endParaRPr>
          </a:p>
          <a:p>
            <a:pPr marL="457200" lvl="0" indent="-311150" algn="l" rtl="0">
              <a:spcBef>
                <a:spcPts val="0"/>
              </a:spcBef>
              <a:spcAft>
                <a:spcPts val="0"/>
              </a:spcAft>
              <a:buSzPts val="1300"/>
              <a:buChar char="●"/>
            </a:pPr>
            <a:r>
              <a:rPr lang="en" dirty="0"/>
              <a:t>After they have all finished, print out their finish times.</a:t>
            </a:r>
            <a:endParaRPr dirty="0"/>
          </a:p>
          <a:p>
            <a:pPr marL="457200" lvl="0" indent="-311150" algn="l" rtl="0">
              <a:spcBef>
                <a:spcPts val="1000"/>
              </a:spcBef>
              <a:spcAft>
                <a:spcPts val="0"/>
              </a:spcAft>
              <a:buSzPts val="1300"/>
              <a:buChar char="●"/>
            </a:pPr>
            <a:r>
              <a:rPr lang="en" dirty="0"/>
              <a:t>Did you notice anything different about the times than when they were run serially?</a:t>
            </a:r>
            <a:endParaRPr dirty="0"/>
          </a:p>
          <a:p>
            <a:pPr marL="914400" lvl="1" indent="-298450" algn="l" rtl="0">
              <a:spcBef>
                <a:spcPts val="0"/>
              </a:spcBef>
              <a:spcAft>
                <a:spcPts val="0"/>
              </a:spcAft>
              <a:buSzPts val="1100"/>
              <a:buChar char="○"/>
            </a:pPr>
            <a:r>
              <a:rPr lang="en" dirty="0"/>
              <a:t>The first racer isn't slow anymore!</a:t>
            </a:r>
            <a:endParaRPr dirty="0"/>
          </a:p>
          <a:p>
            <a:pPr marL="457200" lvl="0" indent="-311150" algn="l" rtl="0">
              <a:spcBef>
                <a:spcPts val="1000"/>
              </a:spcBef>
              <a:spcAft>
                <a:spcPts val="0"/>
              </a:spcAft>
              <a:buSzPts val="1300"/>
              <a:buChar char="●"/>
            </a:pPr>
            <a:r>
              <a:rPr lang="en" dirty="0"/>
              <a:t>After you print out all the finish times, try having the racers run again by recalling their start methods.</a:t>
            </a:r>
            <a:endParaRPr dirty="0"/>
          </a:p>
          <a:p>
            <a:pPr marL="457200" lvl="0" indent="-311150" algn="l" rtl="0">
              <a:spcBef>
                <a:spcPts val="0"/>
              </a:spcBef>
              <a:spcAft>
                <a:spcPts val="0"/>
              </a:spcAft>
              <a:buSzPts val="1300"/>
              <a:buChar char="●"/>
            </a:pPr>
            <a:r>
              <a:rPr lang="en" dirty="0"/>
              <a:t>What happens?</a:t>
            </a:r>
            <a:endParaRPr dirty="0"/>
          </a:p>
        </p:txBody>
      </p:sp>
      <p:sp>
        <p:nvSpPr>
          <p:cNvPr id="401" name="Google Shape;401;p4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8.6</a:t>
            </a:r>
            <a:endParaRPr/>
          </a:p>
        </p:txBody>
      </p:sp>
      <p:pic>
        <p:nvPicPr>
          <p:cNvPr id="402" name="Google Shape;402;p46"/>
          <p:cNvPicPr preferRelativeResize="0"/>
          <p:nvPr/>
        </p:nvPicPr>
        <p:blipFill rotWithShape="1">
          <a:blip r:embed="rId3">
            <a:alphaModFix/>
          </a:blip>
          <a:srcRect l="19477" r="7300"/>
          <a:stretch/>
        </p:blipFill>
        <p:spPr>
          <a:xfrm>
            <a:off x="135575" y="1987625"/>
            <a:ext cx="3458550" cy="2361650"/>
          </a:xfrm>
          <a:prstGeom prst="rect">
            <a:avLst/>
          </a:prstGeom>
          <a:noFill/>
          <a:ln w="19050" cap="flat" cmpd="sng">
            <a:solidFill>
              <a:schemeClr val="dk1"/>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7"/>
          <p:cNvSpPr txBox="1">
            <a:spLocks noGrp="1"/>
          </p:cNvSpPr>
          <p:nvPr>
            <p:ph type="title"/>
          </p:nvPr>
        </p:nvSpPr>
        <p:spPr>
          <a:xfrm>
            <a:off x="102600" y="198350"/>
            <a:ext cx="4104000" cy="8451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2"/>
              </a:buClr>
              <a:buSzPts val="3300"/>
              <a:buFont typeface="Calibri"/>
              <a:buNone/>
            </a:pPr>
            <a:r>
              <a:rPr lang="en"/>
              <a:t>Implementing </a:t>
            </a:r>
            <a:r>
              <a:rPr lang="en">
                <a:latin typeface="Courier New"/>
                <a:ea typeface="Courier New"/>
                <a:cs typeface="Courier New"/>
                <a:sym typeface="Courier New"/>
              </a:rPr>
              <a:t>java.lang.Runnable</a:t>
            </a:r>
            <a:endParaRPr>
              <a:latin typeface="Courier New"/>
              <a:ea typeface="Courier New"/>
              <a:cs typeface="Courier New"/>
              <a:sym typeface="Courier New"/>
            </a:endParaRPr>
          </a:p>
        </p:txBody>
      </p:sp>
      <p:sp>
        <p:nvSpPr>
          <p:cNvPr id="408" name="Google Shape;408;p47"/>
          <p:cNvSpPr txBox="1">
            <a:spLocks noGrp="1"/>
          </p:cNvSpPr>
          <p:nvPr>
            <p:ph type="body" idx="1"/>
          </p:nvPr>
        </p:nvSpPr>
        <p:spPr>
          <a:xfrm>
            <a:off x="4644675" y="500925"/>
            <a:ext cx="4166400" cy="3648148"/>
          </a:xfrm>
          <a:prstGeom prst="rect">
            <a:avLst/>
          </a:prstGeom>
          <a:noFill/>
          <a:ln>
            <a:noFill/>
          </a:ln>
        </p:spPr>
        <p:txBody>
          <a:bodyPr spcFirstLastPara="1" wrap="square" lIns="68575" tIns="34275" rIns="68575" bIns="34275" anchor="t" anchorCtr="0">
            <a:spAutoFit/>
          </a:bodyPr>
          <a:lstStyle/>
          <a:p>
            <a:pPr marL="457200" lvl="0" indent="-317500" algn="l" rtl="0">
              <a:lnSpc>
                <a:spcPct val="115000"/>
              </a:lnSpc>
              <a:spcBef>
                <a:spcPts val="0"/>
              </a:spcBef>
              <a:spcAft>
                <a:spcPts val="0"/>
              </a:spcAft>
              <a:buSzPts val="1400"/>
              <a:buChar char="●"/>
            </a:pPr>
            <a:r>
              <a:rPr lang="en" sz="1400" dirty="0">
                <a:highlight>
                  <a:srgbClr val="FFFF00"/>
                </a:highlight>
              </a:rPr>
              <a:t>An alternate method is to implement the </a:t>
            </a:r>
            <a:r>
              <a:rPr lang="en" sz="1400" dirty="0">
                <a:solidFill>
                  <a:srgbClr val="FF0000"/>
                </a:solidFill>
                <a:highlight>
                  <a:srgbClr val="FFFF00"/>
                </a:highlight>
                <a:latin typeface="Courier New"/>
                <a:ea typeface="Courier New"/>
                <a:cs typeface="Courier New"/>
                <a:sym typeface="Courier New"/>
              </a:rPr>
              <a:t>java.lang.Runnable</a:t>
            </a:r>
            <a:r>
              <a:rPr lang="en" sz="1400" dirty="0">
                <a:highlight>
                  <a:srgbClr val="FFFF00"/>
                </a:highlight>
              </a:rPr>
              <a:t> interface</a:t>
            </a:r>
            <a:endParaRPr sz="1400" dirty="0">
              <a:highlight>
                <a:srgbClr val="FFFF00"/>
              </a:highlight>
            </a:endParaRPr>
          </a:p>
          <a:p>
            <a:pPr marL="914400" lvl="1" indent="-311150" algn="l" rtl="0">
              <a:lnSpc>
                <a:spcPct val="115000"/>
              </a:lnSpc>
              <a:spcBef>
                <a:spcPts val="1000"/>
              </a:spcBef>
              <a:spcAft>
                <a:spcPts val="0"/>
              </a:spcAft>
              <a:buSzPts val="1300"/>
              <a:buChar char="○"/>
            </a:pPr>
            <a:r>
              <a:rPr lang="en" sz="1300" dirty="0"/>
              <a:t>This is the same interface that </a:t>
            </a:r>
            <a:r>
              <a:rPr lang="en" sz="1300" dirty="0">
                <a:latin typeface="Courier New"/>
                <a:ea typeface="Courier New"/>
                <a:cs typeface="Courier New"/>
                <a:sym typeface="Courier New"/>
              </a:rPr>
              <a:t>Thread</a:t>
            </a:r>
            <a:r>
              <a:rPr lang="en" sz="1300" dirty="0"/>
              <a:t> implements</a:t>
            </a:r>
            <a:endParaRPr sz="1300" dirty="0"/>
          </a:p>
          <a:p>
            <a:pPr marL="457200" lvl="0" indent="-317500" algn="l" rtl="0">
              <a:lnSpc>
                <a:spcPct val="115000"/>
              </a:lnSpc>
              <a:spcBef>
                <a:spcPts val="1000"/>
              </a:spcBef>
              <a:spcAft>
                <a:spcPts val="0"/>
              </a:spcAft>
              <a:buSzPts val="1400"/>
              <a:buChar char="●"/>
            </a:pPr>
            <a:r>
              <a:rPr lang="en" sz="1400" dirty="0"/>
              <a:t>If you call run directly on a </a:t>
            </a:r>
            <a:r>
              <a:rPr lang="en" sz="1400" dirty="0">
                <a:latin typeface="Courier New"/>
                <a:ea typeface="Courier New"/>
                <a:cs typeface="Courier New"/>
                <a:sym typeface="Courier New"/>
              </a:rPr>
              <a:t>Runnable</a:t>
            </a:r>
            <a:r>
              <a:rPr lang="en" sz="1400" dirty="0"/>
              <a:t> instance the code will execute but in the </a:t>
            </a:r>
            <a:r>
              <a:rPr lang="en" sz="1400" b="1" i="1" dirty="0">
                <a:solidFill>
                  <a:srgbClr val="FF0000"/>
                </a:solidFill>
              </a:rPr>
              <a:t>same</a:t>
            </a:r>
            <a:r>
              <a:rPr lang="en" sz="1400" dirty="0"/>
              <a:t> thread</a:t>
            </a:r>
            <a:endParaRPr sz="1400" dirty="0"/>
          </a:p>
          <a:p>
            <a:pPr marL="457200" lvl="0" indent="-317500" algn="l" rtl="0">
              <a:lnSpc>
                <a:spcPct val="115000"/>
              </a:lnSpc>
              <a:spcBef>
                <a:spcPts val="1000"/>
              </a:spcBef>
              <a:spcAft>
                <a:spcPts val="0"/>
              </a:spcAft>
              <a:buSzPts val="1400"/>
              <a:buChar char="●"/>
            </a:pPr>
            <a:r>
              <a:rPr lang="en" sz="1400" dirty="0"/>
              <a:t>To run it in a </a:t>
            </a:r>
            <a:r>
              <a:rPr lang="en" sz="1400" b="1" i="1" dirty="0">
                <a:solidFill>
                  <a:srgbClr val="FF0000"/>
                </a:solidFill>
              </a:rPr>
              <a:t>separate </a:t>
            </a:r>
            <a:r>
              <a:rPr lang="en" sz="1400" dirty="0"/>
              <a:t>thread you must create a new thread and pass the runnable </a:t>
            </a:r>
            <a:r>
              <a:rPr lang="en" sz="1400" b="1" i="1" dirty="0">
                <a:solidFill>
                  <a:srgbClr val="FF0000"/>
                </a:solidFill>
              </a:rPr>
              <a:t>instance</a:t>
            </a:r>
            <a:r>
              <a:rPr lang="en" sz="1400" dirty="0"/>
              <a:t> to its constructor</a:t>
            </a:r>
            <a:endParaRPr sz="1400" dirty="0"/>
          </a:p>
          <a:p>
            <a:pPr marL="457200" lvl="0" indent="-317500" algn="l" rtl="0">
              <a:lnSpc>
                <a:spcPct val="115000"/>
              </a:lnSpc>
              <a:spcBef>
                <a:spcPts val="1000"/>
              </a:spcBef>
              <a:spcAft>
                <a:spcPts val="1000"/>
              </a:spcAft>
              <a:buSzPts val="1400"/>
              <a:buChar char="●"/>
            </a:pPr>
            <a:r>
              <a:rPr lang="en" sz="1400" dirty="0">
                <a:highlight>
                  <a:srgbClr val="FFFF00"/>
                </a:highlight>
              </a:rPr>
              <a:t>Then call </a:t>
            </a:r>
            <a:r>
              <a:rPr lang="en" sz="1400" dirty="0">
                <a:solidFill>
                  <a:srgbClr val="FF0000"/>
                </a:solidFill>
                <a:highlight>
                  <a:srgbClr val="FFFF00"/>
                </a:highlight>
                <a:latin typeface="Courier New"/>
                <a:ea typeface="Courier New"/>
                <a:cs typeface="Courier New"/>
                <a:sym typeface="Courier New"/>
              </a:rPr>
              <a:t>start</a:t>
            </a:r>
            <a:r>
              <a:rPr lang="en" sz="1400" dirty="0">
                <a:highlight>
                  <a:srgbClr val="FFFF00"/>
                </a:highlight>
              </a:rPr>
              <a:t> on the new thread as normal</a:t>
            </a:r>
            <a:endParaRPr sz="1400" dirty="0">
              <a:highlight>
                <a:srgbClr val="FFFF00"/>
              </a:highlight>
            </a:endParaRPr>
          </a:p>
        </p:txBody>
      </p:sp>
      <p:sp>
        <p:nvSpPr>
          <p:cNvPr id="409" name="Google Shape;409;p47"/>
          <p:cNvSpPr/>
          <p:nvPr/>
        </p:nvSpPr>
        <p:spPr>
          <a:xfrm>
            <a:off x="124200" y="1141425"/>
            <a:ext cx="4060800" cy="3574800"/>
          </a:xfrm>
          <a:prstGeom prst="rect">
            <a:avLst/>
          </a:prstGeom>
          <a:solidFill>
            <a:srgbClr val="FFFFFF"/>
          </a:solidFill>
          <a:ln w="28575" cap="flat" cmpd="sng">
            <a:solidFill>
              <a:schemeClr val="accent1"/>
            </a:solidFill>
            <a:prstDash val="solid"/>
            <a:miter lim="800000"/>
            <a:headEnd type="none" w="sm" len="sm"/>
            <a:tailEnd type="none" w="sm" len="sm"/>
          </a:ln>
        </p:spPr>
        <p:txBody>
          <a:bodyPr spcFirstLastPara="1" wrap="square" lIns="91425" tIns="91425" rIns="68575" bIns="91425" anchor="t" anchorCtr="0">
            <a:noAutofit/>
          </a:bodyPr>
          <a:lstStyle/>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RunnableExample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implements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Runnable</a:t>
            </a:r>
            <a:r>
              <a:rPr lang="en" sz="1050" dirty="0">
                <a:solidFill>
                  <a:srgbClr val="008000"/>
                </a:solidFill>
                <a:latin typeface="Consolas"/>
                <a:ea typeface="Consolas"/>
                <a:cs typeface="Consolas"/>
                <a:sym typeface="Consolas"/>
              </a:rPr>
              <a:t> </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2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final</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3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4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RunnableExample</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id</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5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6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7  </a:t>
            </a:r>
            <a:endParaRPr sz="1050" dirty="0">
              <a:solidFill>
                <a:srgbClr val="008000"/>
              </a:solidFill>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8      </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Override</a:t>
            </a:r>
            <a:endParaRPr sz="1050" dirty="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9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run</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10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System</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out</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latin typeface="Consolas"/>
                <a:ea typeface="Consolas"/>
                <a:cs typeface="Consolas"/>
                <a:sym typeface="Consolas"/>
              </a:rPr>
              <a:t> (</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11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12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13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static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main</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args</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14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Runnable</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a:t>
            </a:r>
            <a:r>
              <a:rPr lang="en" sz="1050" dirty="0">
                <a:latin typeface="Consolas"/>
                <a:ea typeface="Consolas"/>
                <a:cs typeface="Consolas"/>
                <a:sym typeface="Consolas"/>
              </a:rPr>
              <a:t> =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15 </a:t>
            </a:r>
            <a:r>
              <a:rPr lang="en" sz="1050" dirty="0">
                <a:latin typeface="Consolas"/>
                <a:ea typeface="Consolas"/>
                <a:cs typeface="Consolas"/>
                <a:sym typeface="Consolas"/>
              </a:rPr>
              <a:t>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RunnableExample</a:t>
            </a:r>
            <a:r>
              <a:rPr lang="en" sz="1050" dirty="0">
                <a:latin typeface="Consolas"/>
                <a:ea typeface="Consolas"/>
                <a:cs typeface="Consolas"/>
                <a:sym typeface="Consolas"/>
              </a:rPr>
              <a:t>(</a:t>
            </a:r>
            <a:r>
              <a:rPr lang="en" sz="1050" dirty="0">
                <a:solidFill>
                  <a:srgbClr val="098658"/>
                </a:solidFill>
                <a:latin typeface="Consolas"/>
                <a:ea typeface="Consolas"/>
                <a:cs typeface="Consolas"/>
                <a:sym typeface="Consolas"/>
              </a:rPr>
              <a:t>1</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16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17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Thread</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exampleThread</a:t>
            </a:r>
            <a:r>
              <a:rPr lang="en" sz="1050" dirty="0">
                <a:latin typeface="Consolas"/>
                <a:ea typeface="Consolas"/>
                <a:cs typeface="Consolas"/>
                <a:sym typeface="Consolas"/>
              </a:rPr>
              <a:t> =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18 </a:t>
            </a:r>
            <a:r>
              <a:rPr lang="en" sz="1050" dirty="0">
                <a:latin typeface="Consolas"/>
                <a:ea typeface="Consolas"/>
                <a:cs typeface="Consolas"/>
                <a:sym typeface="Consolas"/>
              </a:rPr>
              <a:t>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Thread</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example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19 </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exampleThread</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start</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20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21 </a:t>
            </a:r>
            <a:r>
              <a:rPr lang="en" sz="1050" dirty="0">
                <a:latin typeface="Consolas"/>
                <a:ea typeface="Consolas"/>
                <a:cs typeface="Consolas"/>
                <a:sym typeface="Consolas"/>
              </a:rPr>
              <a:t>}</a:t>
            </a:r>
            <a:endParaRPr sz="1050" dirty="0">
              <a:solidFill>
                <a:schemeClr val="dk1"/>
              </a:solidFill>
              <a:latin typeface="Consolas"/>
              <a:ea typeface="Consolas"/>
              <a:cs typeface="Consolas"/>
              <a:sym typeface="Consolas"/>
            </a:endParaRPr>
          </a:p>
        </p:txBody>
      </p:sp>
      <p:sp>
        <p:nvSpPr>
          <p:cNvPr id="410" name="Google Shape;410;p47"/>
          <p:cNvSpPr/>
          <p:nvPr/>
        </p:nvSpPr>
        <p:spPr>
          <a:xfrm>
            <a:off x="2748900" y="1934013"/>
            <a:ext cx="1292400" cy="622200"/>
          </a:xfrm>
          <a:prstGeom prst="rect">
            <a:avLst/>
          </a:prstGeom>
          <a:solidFill>
            <a:srgbClr val="FFF2CC"/>
          </a:solidFill>
          <a:ln w="1905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a:solidFill>
                  <a:schemeClr val="dk1"/>
                </a:solidFill>
              </a:rPr>
              <a:t>You m</a:t>
            </a:r>
            <a:r>
              <a:rPr lang="en" sz="1100">
                <a:solidFill>
                  <a:schemeClr val="dk1"/>
                </a:solidFill>
                <a:latin typeface="Arial"/>
                <a:ea typeface="Arial"/>
                <a:cs typeface="Arial"/>
                <a:sym typeface="Arial"/>
              </a:rPr>
              <a:t>ust create a new </a:t>
            </a:r>
            <a:r>
              <a:rPr lang="en" sz="1100">
                <a:solidFill>
                  <a:schemeClr val="dk1"/>
                </a:solidFill>
                <a:latin typeface="Courier New"/>
                <a:ea typeface="Courier New"/>
                <a:cs typeface="Courier New"/>
                <a:sym typeface="Courier New"/>
              </a:rPr>
              <a:t>Thread</a:t>
            </a:r>
            <a:r>
              <a:rPr lang="en" sz="1100">
                <a:solidFill>
                  <a:schemeClr val="dk1"/>
                </a:solidFill>
                <a:latin typeface="Arial"/>
                <a:ea typeface="Arial"/>
                <a:cs typeface="Arial"/>
                <a:sym typeface="Arial"/>
              </a:rPr>
              <a:t> that uses </a:t>
            </a:r>
            <a:r>
              <a:rPr lang="en" sz="1100">
                <a:solidFill>
                  <a:schemeClr val="dk1"/>
                </a:solidFill>
                <a:latin typeface="Courier New"/>
                <a:ea typeface="Courier New"/>
                <a:cs typeface="Courier New"/>
                <a:sym typeface="Courier New"/>
              </a:rPr>
              <a:t>Runnable</a:t>
            </a:r>
            <a:endParaRPr sz="1100">
              <a:latin typeface="Courier New"/>
              <a:ea typeface="Courier New"/>
              <a:cs typeface="Courier New"/>
              <a:sym typeface="Courier New"/>
            </a:endParaRPr>
          </a:p>
        </p:txBody>
      </p:sp>
      <p:sp>
        <p:nvSpPr>
          <p:cNvPr id="411" name="Google Shape;411;p47"/>
          <p:cNvSpPr/>
          <p:nvPr/>
        </p:nvSpPr>
        <p:spPr>
          <a:xfrm>
            <a:off x="900125" y="3759300"/>
            <a:ext cx="1989300" cy="552300"/>
          </a:xfrm>
          <a:prstGeom prst="rect">
            <a:avLst/>
          </a:prstGeom>
          <a:noFill/>
          <a:ln w="1905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cxnSp>
        <p:nvCxnSpPr>
          <p:cNvPr id="412" name="Google Shape;412;p47"/>
          <p:cNvCxnSpPr>
            <a:stCxn id="410" idx="2"/>
            <a:endCxn id="411" idx="3"/>
          </p:cNvCxnSpPr>
          <p:nvPr/>
        </p:nvCxnSpPr>
        <p:spPr>
          <a:xfrm rot="5400000">
            <a:off x="2402550" y="3042963"/>
            <a:ext cx="1479300" cy="505800"/>
          </a:xfrm>
          <a:prstGeom prst="bentConnector2">
            <a:avLst/>
          </a:prstGeom>
          <a:noFill/>
          <a:ln w="19050" cap="flat" cmpd="sng">
            <a:solidFill>
              <a:srgbClr val="FF0000"/>
            </a:solidFill>
            <a:prstDash val="solid"/>
            <a:miter lim="800000"/>
            <a:headEnd type="none" w="sm" len="sm"/>
            <a:tailEnd type="none" w="sm" len="sm"/>
          </a:ln>
        </p:spPr>
      </p:cxnSp>
      <p:sp>
        <p:nvSpPr>
          <p:cNvPr id="413" name="Google Shape;413;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0"/>
                                        </p:tgtEl>
                                        <p:attrNameLst>
                                          <p:attrName>style.visibility</p:attrName>
                                        </p:attrNameLst>
                                      </p:cBhvr>
                                      <p:to>
                                        <p:strVal val="visible"/>
                                      </p:to>
                                    </p:set>
                                    <p:animEffect transition="in" filter="fade">
                                      <p:cBhvr>
                                        <p:cTn id="7" dur="1000"/>
                                        <p:tgtEl>
                                          <p:spTgt spid="41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12"/>
                                        </p:tgtEl>
                                        <p:attrNameLst>
                                          <p:attrName>style.visibility</p:attrName>
                                        </p:attrNameLst>
                                      </p:cBhvr>
                                      <p:to>
                                        <p:strVal val="visible"/>
                                      </p:to>
                                    </p:set>
                                    <p:animEffect transition="in" filter="fade">
                                      <p:cBhvr>
                                        <p:cTn id="11" dur="1000"/>
                                        <p:tgtEl>
                                          <p:spTgt spid="412"/>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411"/>
                                        </p:tgtEl>
                                        <p:attrNameLst>
                                          <p:attrName>style.visibility</p:attrName>
                                        </p:attrNameLst>
                                      </p:cBhvr>
                                      <p:to>
                                        <p:strVal val="visible"/>
                                      </p:to>
                                    </p:set>
                                    <p:animEffect transition="in" filter="fade">
                                      <p:cBhvr>
                                        <p:cTn id="15" dur="1000"/>
                                        <p:tgtEl>
                                          <p:spTgt spid="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Implementing </a:t>
            </a:r>
            <a:r>
              <a:rPr lang="en">
                <a:latin typeface="Courier New"/>
                <a:ea typeface="Courier New"/>
                <a:cs typeface="Courier New"/>
                <a:sym typeface="Courier New"/>
              </a:rPr>
              <a:t>Runnable</a:t>
            </a:r>
            <a:endParaRPr>
              <a:latin typeface="Courier New"/>
              <a:ea typeface="Courier New"/>
              <a:cs typeface="Courier New"/>
              <a:sym typeface="Courier New"/>
            </a:endParaRPr>
          </a:p>
        </p:txBody>
      </p:sp>
      <p:sp>
        <p:nvSpPr>
          <p:cNvPr id="419" name="Google Shape;419;p48"/>
          <p:cNvSpPr txBox="1">
            <a:spLocks noGrp="1"/>
          </p:cNvSpPr>
          <p:nvPr>
            <p:ph type="sldNum" idx="12"/>
          </p:nvPr>
        </p:nvSpPr>
        <p:spPr>
          <a:xfrm>
            <a:off x="8525975" y="4854498"/>
            <a:ext cx="548700" cy="278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20" name="Google Shape;420;p48"/>
          <p:cNvSpPr/>
          <p:nvPr/>
        </p:nvSpPr>
        <p:spPr>
          <a:xfrm>
            <a:off x="2541600" y="1467250"/>
            <a:ext cx="4060800" cy="3574800"/>
          </a:xfrm>
          <a:prstGeom prst="rect">
            <a:avLst/>
          </a:prstGeom>
          <a:solidFill>
            <a:srgbClr val="FFFFFF"/>
          </a:solidFill>
          <a:ln w="19050" cap="flat" cmpd="sng">
            <a:solidFill>
              <a:schemeClr val="accent1"/>
            </a:solidFill>
            <a:prstDash val="solid"/>
            <a:miter lim="800000"/>
            <a:headEnd type="none" w="sm" len="sm"/>
            <a:tailEnd type="none" w="sm" len="sm"/>
          </a:ln>
        </p:spPr>
        <p:txBody>
          <a:bodyPr spcFirstLastPara="1" wrap="square" lIns="91425" tIns="91425" rIns="68575" bIns="91425" anchor="t" anchorCtr="0">
            <a:noAutofit/>
          </a:bodyPr>
          <a:lstStyle/>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RunnableExample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implements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2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spcBef>
                <a:spcPts val="0"/>
              </a:spcBef>
              <a:spcAft>
                <a:spcPts val="0"/>
              </a:spcAft>
              <a:buNone/>
            </a:pPr>
            <a:r>
              <a:rPr lang="en" sz="1050">
                <a:solidFill>
                  <a:srgbClr val="008000"/>
                </a:solidFill>
                <a:latin typeface="Consolas"/>
                <a:ea typeface="Consolas"/>
                <a:cs typeface="Consolas"/>
                <a:sym typeface="Consolas"/>
              </a:rPr>
              <a:t>3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4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RunnableExample</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5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6  </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spcBef>
                <a:spcPts val="0"/>
              </a:spcBef>
              <a:spcAft>
                <a:spcPts val="0"/>
              </a:spcAft>
              <a:buNone/>
            </a:pPr>
            <a:r>
              <a:rPr lang="en" sz="1050">
                <a:solidFill>
                  <a:srgbClr val="008000"/>
                </a:solidFill>
                <a:latin typeface="Consolas"/>
                <a:ea typeface="Consolas"/>
                <a:cs typeface="Consolas"/>
                <a:sym typeface="Consolas"/>
              </a:rPr>
              <a:t>7  </a:t>
            </a:r>
            <a:endParaRPr sz="1050">
              <a:solidFill>
                <a:srgbClr val="008000"/>
              </a:solidFill>
              <a:latin typeface="Consolas"/>
              <a:ea typeface="Consolas"/>
              <a:cs typeface="Consolas"/>
              <a:sym typeface="Consolas"/>
            </a:endParaRPr>
          </a:p>
          <a:p>
            <a:pPr marL="0" lvl="0" indent="0" algn="l" rtl="0">
              <a:spcBef>
                <a:spcPts val="0"/>
              </a:spcBef>
              <a:spcAft>
                <a:spcPts val="0"/>
              </a:spcAft>
              <a:buNone/>
            </a:pPr>
            <a:r>
              <a:rPr lang="en" sz="1050">
                <a:solidFill>
                  <a:srgbClr val="008000"/>
                </a:solidFill>
                <a:latin typeface="Consolas"/>
                <a:ea typeface="Consolas"/>
                <a:cs typeface="Consolas"/>
                <a:sym typeface="Consolas"/>
              </a:rPr>
              <a:t>8      </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Override</a:t>
            </a:r>
            <a:endParaRPr sz="105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9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10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11 </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12  </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13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14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 =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15 </a:t>
            </a: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RunnableExample</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1</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spcBef>
                <a:spcPts val="0"/>
              </a:spcBef>
              <a:spcAft>
                <a:spcPts val="0"/>
              </a:spcAft>
              <a:buNone/>
            </a:pPr>
            <a:r>
              <a:rPr lang="en" sz="1050">
                <a:solidFill>
                  <a:srgbClr val="008000"/>
                </a:solidFill>
                <a:latin typeface="Consolas"/>
                <a:ea typeface="Consolas"/>
                <a:cs typeface="Consolas"/>
                <a:sym typeface="Consolas"/>
              </a:rPr>
              <a:t>16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17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exampleThread</a:t>
            </a:r>
            <a:r>
              <a:rPr lang="en" sz="1050">
                <a:latin typeface="Consolas"/>
                <a:ea typeface="Consolas"/>
                <a:cs typeface="Consolas"/>
                <a:sym typeface="Consolas"/>
              </a:rPr>
              <a:t> =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18 </a:t>
            </a: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19 </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exampleThread</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start</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20 </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8000"/>
                </a:solidFill>
                <a:latin typeface="Consolas"/>
                <a:ea typeface="Consolas"/>
                <a:cs typeface="Consolas"/>
                <a:sym typeface="Consolas"/>
              </a:rPr>
              <a:t>21 </a:t>
            </a:r>
            <a:r>
              <a:rPr lang="en" sz="1050">
                <a:latin typeface="Consolas"/>
                <a:ea typeface="Consolas"/>
                <a:cs typeface="Consolas"/>
                <a:sym typeface="Consolas"/>
              </a:rPr>
              <a:t>}</a:t>
            </a:r>
            <a:endParaRPr sz="1050">
              <a:solidFill>
                <a:schemeClr val="dk1"/>
              </a:solidFill>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Implementing </a:t>
            </a:r>
            <a:r>
              <a:rPr lang="en">
                <a:latin typeface="Courier New"/>
                <a:ea typeface="Courier New"/>
                <a:cs typeface="Courier New"/>
                <a:sym typeface="Courier New"/>
              </a:rPr>
              <a:t>Runnable</a:t>
            </a:r>
            <a:endParaRPr>
              <a:latin typeface="Courier New"/>
              <a:ea typeface="Courier New"/>
              <a:cs typeface="Courier New"/>
              <a:sym typeface="Courier New"/>
            </a:endParaRPr>
          </a:p>
        </p:txBody>
      </p:sp>
      <p:sp>
        <p:nvSpPr>
          <p:cNvPr id="426" name="Google Shape;426;p49"/>
          <p:cNvSpPr txBox="1">
            <a:spLocks noGrp="1"/>
          </p:cNvSpPr>
          <p:nvPr>
            <p:ph type="sldNum" idx="12"/>
          </p:nvPr>
        </p:nvSpPr>
        <p:spPr>
          <a:xfrm>
            <a:off x="8525975" y="4854498"/>
            <a:ext cx="548700" cy="278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427" name="Google Shape;427;p49"/>
          <p:cNvSpPr/>
          <p:nvPr/>
        </p:nvSpPr>
        <p:spPr>
          <a:xfrm>
            <a:off x="2541600" y="1467250"/>
            <a:ext cx="4060800" cy="3574800"/>
          </a:xfrm>
          <a:prstGeom prst="rect">
            <a:avLst/>
          </a:prstGeom>
          <a:solidFill>
            <a:srgbClr val="FFFFFF"/>
          </a:solidFill>
          <a:ln w="19050" cap="flat" cmpd="sng">
            <a:solidFill>
              <a:schemeClr val="accent1"/>
            </a:solidFill>
            <a:prstDash val="solid"/>
            <a:miter lim="800000"/>
            <a:headEnd type="none" w="sm" len="sm"/>
            <a:tailEnd type="none" w="sm" len="sm"/>
          </a:ln>
        </p:spPr>
        <p:txBody>
          <a:bodyPr spcFirstLastPara="1" wrap="square" lIns="91425" tIns="91425" rIns="68575" bIns="91425" anchor="t" anchorCtr="0">
            <a:noAutofit/>
          </a:bodyPr>
          <a:lstStyle/>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RunnableExample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implements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Runnable</a:t>
            </a:r>
            <a:r>
              <a:rPr lang="en" sz="1050" dirty="0">
                <a:solidFill>
                  <a:srgbClr val="008000"/>
                </a:solidFill>
                <a:latin typeface="Consolas"/>
                <a:ea typeface="Consolas"/>
                <a:cs typeface="Consolas"/>
                <a:sym typeface="Consolas"/>
              </a:rPr>
              <a:t> </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2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final</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3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4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RunnableExample</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id</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5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6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7  </a:t>
            </a:r>
            <a:endParaRPr sz="1050" dirty="0">
              <a:solidFill>
                <a:srgbClr val="008000"/>
              </a:solidFill>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8      </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Override</a:t>
            </a:r>
            <a:endParaRPr sz="1050" dirty="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9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run</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10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System</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out</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latin typeface="Consolas"/>
                <a:ea typeface="Consolas"/>
                <a:cs typeface="Consolas"/>
                <a:sym typeface="Consolas"/>
              </a:rPr>
              <a:t> (</a:t>
            </a:r>
            <a:r>
              <a:rPr lang="en" sz="1050" dirty="0">
                <a:solidFill>
                  <a:srgbClr val="0070C1"/>
                </a:solidFill>
                <a:latin typeface="Consolas"/>
                <a:ea typeface="Consolas"/>
                <a:cs typeface="Consolas"/>
                <a:sym typeface="Consolas"/>
              </a:rPr>
              <a:t>id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11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12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13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static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main</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args</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14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Runnable</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a:t>
            </a:r>
            <a:r>
              <a:rPr lang="en" sz="1050" dirty="0">
                <a:latin typeface="Consolas"/>
                <a:ea typeface="Consolas"/>
                <a:cs typeface="Consolas"/>
                <a:sym typeface="Consolas"/>
              </a:rPr>
              <a:t> =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15 </a:t>
            </a:r>
            <a:r>
              <a:rPr lang="en" sz="1050" dirty="0">
                <a:latin typeface="Consolas"/>
                <a:ea typeface="Consolas"/>
                <a:cs typeface="Consolas"/>
                <a:sym typeface="Consolas"/>
              </a:rPr>
              <a:t>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RunnableExample</a:t>
            </a:r>
            <a:r>
              <a:rPr lang="en" sz="1050" dirty="0">
                <a:latin typeface="Consolas"/>
                <a:ea typeface="Consolas"/>
                <a:cs typeface="Consolas"/>
                <a:sym typeface="Consolas"/>
              </a:rPr>
              <a:t>(</a:t>
            </a:r>
            <a:r>
              <a:rPr lang="en" sz="1050" dirty="0">
                <a:solidFill>
                  <a:srgbClr val="098658"/>
                </a:solidFill>
                <a:latin typeface="Consolas"/>
                <a:ea typeface="Consolas"/>
                <a:cs typeface="Consolas"/>
                <a:sym typeface="Consolas"/>
              </a:rPr>
              <a:t>1</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08000"/>
                </a:solidFill>
                <a:latin typeface="Consolas"/>
                <a:ea typeface="Consolas"/>
                <a:cs typeface="Consolas"/>
                <a:sym typeface="Consolas"/>
              </a:rPr>
              <a:t>16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17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Thread</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exampleThread</a:t>
            </a:r>
            <a:r>
              <a:rPr lang="en" sz="1050" dirty="0">
                <a:latin typeface="Consolas"/>
                <a:ea typeface="Consolas"/>
                <a:cs typeface="Consolas"/>
                <a:sym typeface="Consolas"/>
              </a:rPr>
              <a:t> =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18 </a:t>
            </a:r>
            <a:r>
              <a:rPr lang="en" sz="1050" dirty="0">
                <a:latin typeface="Consolas"/>
                <a:ea typeface="Consolas"/>
                <a:cs typeface="Consolas"/>
                <a:sym typeface="Consolas"/>
              </a:rPr>
              <a:t>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Thread</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example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19 </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exampleThread</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start</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20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21 </a:t>
            </a:r>
            <a:r>
              <a:rPr lang="en" sz="1050" dirty="0">
                <a:latin typeface="Consolas"/>
                <a:ea typeface="Consolas"/>
                <a:cs typeface="Consolas"/>
                <a:sym typeface="Consolas"/>
              </a:rPr>
              <a:t>}</a:t>
            </a:r>
            <a:endParaRPr sz="1050" dirty="0">
              <a:solidFill>
                <a:schemeClr val="dk1"/>
              </a:solidFill>
              <a:latin typeface="Consolas"/>
              <a:ea typeface="Consolas"/>
              <a:cs typeface="Consolas"/>
              <a:sym typeface="Consolas"/>
            </a:endParaRPr>
          </a:p>
        </p:txBody>
      </p:sp>
      <p:sp>
        <p:nvSpPr>
          <p:cNvPr id="428" name="Google Shape;428;p49"/>
          <p:cNvSpPr txBox="1"/>
          <p:nvPr/>
        </p:nvSpPr>
        <p:spPr>
          <a:xfrm>
            <a:off x="121030" y="1458564"/>
            <a:ext cx="2314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Start by implementing the </a:t>
            </a:r>
            <a:r>
              <a:rPr lang="en" sz="1200">
                <a:solidFill>
                  <a:srgbClr val="FF0000"/>
                </a:solidFill>
                <a:latin typeface="Courier New"/>
                <a:ea typeface="Courier New"/>
                <a:cs typeface="Courier New"/>
                <a:sym typeface="Courier New"/>
              </a:rPr>
              <a:t>Runnable</a:t>
            </a:r>
            <a:r>
              <a:rPr lang="en" sz="1200">
                <a:latin typeface="Roboto"/>
                <a:ea typeface="Roboto"/>
                <a:cs typeface="Roboto"/>
                <a:sym typeface="Roboto"/>
              </a:rPr>
              <a:t> interface.</a:t>
            </a:r>
            <a:endParaRPr sz="1200">
              <a:latin typeface="Roboto"/>
              <a:ea typeface="Roboto"/>
              <a:cs typeface="Roboto"/>
              <a:sym typeface="Roboto"/>
            </a:endParaRPr>
          </a:p>
        </p:txBody>
      </p:sp>
      <p:grpSp>
        <p:nvGrpSpPr>
          <p:cNvPr id="429" name="Google Shape;429;p49"/>
          <p:cNvGrpSpPr/>
          <p:nvPr/>
        </p:nvGrpSpPr>
        <p:grpSpPr>
          <a:xfrm>
            <a:off x="1278280" y="1458564"/>
            <a:ext cx="5136095" cy="303886"/>
            <a:chOff x="1278280" y="1458564"/>
            <a:chExt cx="5136095" cy="303886"/>
          </a:xfrm>
        </p:grpSpPr>
        <p:sp>
          <p:nvSpPr>
            <p:cNvPr id="430" name="Google Shape;430;p49"/>
            <p:cNvSpPr/>
            <p:nvPr/>
          </p:nvSpPr>
          <p:spPr>
            <a:xfrm>
              <a:off x="4939275" y="1520350"/>
              <a:ext cx="1475100" cy="242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1" name="Google Shape;431;p49"/>
            <p:cNvCxnSpPr>
              <a:stCxn id="428" idx="0"/>
              <a:endCxn id="430" idx="0"/>
            </p:cNvCxnSpPr>
            <p:nvPr/>
          </p:nvCxnSpPr>
          <p:spPr>
            <a:xfrm rot="-5400000" flipH="1">
              <a:off x="3446680" y="-709836"/>
              <a:ext cx="61800" cy="4398600"/>
            </a:xfrm>
            <a:prstGeom prst="bentConnector3">
              <a:avLst>
                <a:gd name="adj1" fmla="val -218226"/>
              </a:avLst>
            </a:prstGeom>
            <a:noFill/>
            <a:ln w="19050" cap="flat" cmpd="sng">
              <a:solidFill>
                <a:srgbClr val="FF0000"/>
              </a:solidFill>
              <a:prstDash val="solid"/>
              <a:round/>
              <a:headEnd type="none" w="med" len="med"/>
              <a:tailEnd type="none" w="med" len="med"/>
            </a:ln>
          </p:spPr>
        </p:cxnSp>
      </p:grpSp>
      <p:sp>
        <p:nvSpPr>
          <p:cNvPr id="432" name="Google Shape;432;p49"/>
          <p:cNvSpPr txBox="1"/>
          <p:nvPr/>
        </p:nvSpPr>
        <p:spPr>
          <a:xfrm>
            <a:off x="121030" y="2147989"/>
            <a:ext cx="23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Courier New"/>
                <a:ea typeface="Courier New"/>
                <a:cs typeface="Courier New"/>
                <a:sym typeface="Courier New"/>
              </a:rPr>
              <a:t>Runnable</a:t>
            </a:r>
            <a:r>
              <a:rPr lang="en" sz="1200">
                <a:latin typeface="Roboto"/>
                <a:ea typeface="Roboto"/>
                <a:cs typeface="Roboto"/>
                <a:sym typeface="Roboto"/>
              </a:rPr>
              <a:t> is also in the </a:t>
            </a:r>
            <a:r>
              <a:rPr lang="en" sz="1200">
                <a:solidFill>
                  <a:srgbClr val="FF0000"/>
                </a:solidFill>
                <a:latin typeface="Courier New"/>
                <a:ea typeface="Courier New"/>
                <a:cs typeface="Courier New"/>
                <a:sym typeface="Courier New"/>
              </a:rPr>
              <a:t>java.lang</a:t>
            </a:r>
            <a:r>
              <a:rPr lang="en" sz="1200">
                <a:latin typeface="Roboto"/>
                <a:ea typeface="Roboto"/>
                <a:cs typeface="Roboto"/>
                <a:sym typeface="Roboto"/>
              </a:rPr>
              <a:t> package and doesn't need to be imported.</a:t>
            </a:r>
            <a:endParaRPr sz="1200">
              <a:latin typeface="Roboto"/>
              <a:ea typeface="Roboto"/>
              <a:cs typeface="Roboto"/>
              <a:sym typeface="Roboto"/>
            </a:endParaRPr>
          </a:p>
        </p:txBody>
      </p:sp>
      <p:sp>
        <p:nvSpPr>
          <p:cNvPr id="433" name="Google Shape;433;p49"/>
          <p:cNvSpPr txBox="1"/>
          <p:nvPr/>
        </p:nvSpPr>
        <p:spPr>
          <a:xfrm>
            <a:off x="121030" y="3022214"/>
            <a:ext cx="2314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Courier New"/>
                <a:ea typeface="Courier New"/>
                <a:cs typeface="Courier New"/>
                <a:sym typeface="Courier New"/>
              </a:rPr>
              <a:t>Runnable</a:t>
            </a:r>
            <a:r>
              <a:rPr lang="en" sz="1200">
                <a:latin typeface="Roboto"/>
                <a:ea typeface="Roboto"/>
                <a:cs typeface="Roboto"/>
                <a:sym typeface="Roboto"/>
              </a:rPr>
              <a:t> defines a single </a:t>
            </a:r>
            <a:r>
              <a:rPr lang="en" sz="1200" b="1" i="1">
                <a:solidFill>
                  <a:srgbClr val="FF0000"/>
                </a:solidFill>
                <a:latin typeface="Roboto"/>
                <a:ea typeface="Roboto"/>
                <a:cs typeface="Roboto"/>
                <a:sym typeface="Roboto"/>
              </a:rPr>
              <a:t>abstract </a:t>
            </a:r>
            <a:r>
              <a:rPr lang="en" sz="1200">
                <a:latin typeface="Roboto"/>
                <a:ea typeface="Roboto"/>
                <a:cs typeface="Roboto"/>
                <a:sym typeface="Roboto"/>
              </a:rPr>
              <a:t>method: </a:t>
            </a:r>
            <a:r>
              <a:rPr lang="en" sz="1200">
                <a:solidFill>
                  <a:srgbClr val="FF0000"/>
                </a:solidFill>
                <a:latin typeface="Courier New"/>
                <a:ea typeface="Courier New"/>
                <a:cs typeface="Courier New"/>
                <a:sym typeface="Courier New"/>
              </a:rPr>
              <a:t>run()</a:t>
            </a:r>
            <a:r>
              <a:rPr lang="en" sz="1200">
                <a:latin typeface="Roboto"/>
                <a:ea typeface="Roboto"/>
                <a:cs typeface="Roboto"/>
                <a:sym typeface="Roboto"/>
              </a:rPr>
              <a:t>. Because it is abstract, you </a:t>
            </a:r>
            <a:r>
              <a:rPr lang="en" sz="1200" b="1" i="1">
                <a:solidFill>
                  <a:srgbClr val="FF0000"/>
                </a:solidFill>
                <a:latin typeface="Roboto"/>
                <a:ea typeface="Roboto"/>
                <a:cs typeface="Roboto"/>
                <a:sym typeface="Roboto"/>
              </a:rPr>
              <a:t>must</a:t>
            </a:r>
            <a:r>
              <a:rPr lang="en" sz="1200">
                <a:solidFill>
                  <a:srgbClr val="FF0000"/>
                </a:solidFill>
                <a:latin typeface="Roboto"/>
                <a:ea typeface="Roboto"/>
                <a:cs typeface="Roboto"/>
                <a:sym typeface="Roboto"/>
              </a:rPr>
              <a:t> </a:t>
            </a:r>
            <a:r>
              <a:rPr lang="en" sz="1200">
                <a:latin typeface="Roboto"/>
                <a:ea typeface="Roboto"/>
                <a:cs typeface="Roboto"/>
                <a:sym typeface="Roboto"/>
              </a:rPr>
              <a:t>override it in your class.</a:t>
            </a:r>
            <a:endParaRPr sz="1200">
              <a:latin typeface="Roboto"/>
              <a:ea typeface="Roboto"/>
              <a:cs typeface="Roboto"/>
              <a:sym typeface="Roboto"/>
            </a:endParaRPr>
          </a:p>
        </p:txBody>
      </p:sp>
      <p:grpSp>
        <p:nvGrpSpPr>
          <p:cNvPr id="434" name="Google Shape;434;p49"/>
          <p:cNvGrpSpPr/>
          <p:nvPr/>
        </p:nvGrpSpPr>
        <p:grpSpPr>
          <a:xfrm>
            <a:off x="2435530" y="2614500"/>
            <a:ext cx="2859395" cy="869414"/>
            <a:chOff x="2435530" y="2614500"/>
            <a:chExt cx="2859395" cy="869414"/>
          </a:xfrm>
        </p:grpSpPr>
        <p:sp>
          <p:nvSpPr>
            <p:cNvPr id="435" name="Google Shape;435;p49"/>
            <p:cNvSpPr/>
            <p:nvPr/>
          </p:nvSpPr>
          <p:spPr>
            <a:xfrm>
              <a:off x="3049425" y="2614500"/>
              <a:ext cx="2245500" cy="834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6" name="Google Shape;436;p49"/>
            <p:cNvCxnSpPr>
              <a:stCxn id="433" idx="3"/>
              <a:endCxn id="435" idx="1"/>
            </p:cNvCxnSpPr>
            <p:nvPr/>
          </p:nvCxnSpPr>
          <p:spPr>
            <a:xfrm rot="10800000" flipH="1">
              <a:off x="2435530" y="3031814"/>
              <a:ext cx="613800" cy="452100"/>
            </a:xfrm>
            <a:prstGeom prst="bentConnector3">
              <a:avLst>
                <a:gd name="adj1" fmla="val 50008"/>
              </a:avLst>
            </a:prstGeom>
            <a:noFill/>
            <a:ln w="19050" cap="flat" cmpd="sng">
              <a:solidFill>
                <a:srgbClr val="FF0000"/>
              </a:solidFill>
              <a:prstDash val="solid"/>
              <a:round/>
              <a:headEnd type="none" w="med" len="med"/>
              <a:tailEnd type="none" w="med" len="med"/>
            </a:ln>
          </p:spPr>
        </p:cxnSp>
      </p:grpSp>
      <p:sp>
        <p:nvSpPr>
          <p:cNvPr id="437" name="Google Shape;437;p49"/>
          <p:cNvSpPr txBox="1"/>
          <p:nvPr/>
        </p:nvSpPr>
        <p:spPr>
          <a:xfrm>
            <a:off x="121030" y="4080939"/>
            <a:ext cx="23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You should include any code that you want to execute in a separate thread in this method.</a:t>
            </a:r>
            <a:endParaRPr sz="1200">
              <a:latin typeface="Roboto"/>
              <a:ea typeface="Roboto"/>
              <a:cs typeface="Roboto"/>
              <a:sym typeface="Roboto"/>
            </a:endParaRPr>
          </a:p>
        </p:txBody>
      </p:sp>
      <p:sp>
        <p:nvSpPr>
          <p:cNvPr id="438" name="Google Shape;438;p49"/>
          <p:cNvSpPr txBox="1"/>
          <p:nvPr/>
        </p:nvSpPr>
        <p:spPr>
          <a:xfrm>
            <a:off x="6706650" y="1458564"/>
            <a:ext cx="2314500" cy="1293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Just like </a:t>
            </a:r>
            <a:r>
              <a:rPr lang="en" sz="1200">
                <a:latin typeface="Courier New"/>
                <a:ea typeface="Courier New"/>
                <a:cs typeface="Courier New"/>
                <a:sym typeface="Courier New"/>
              </a:rPr>
              <a:t>Thread</a:t>
            </a:r>
            <a:r>
              <a:rPr lang="en" sz="1200">
                <a:latin typeface="Roboto"/>
                <a:ea typeface="Roboto"/>
                <a:cs typeface="Roboto"/>
                <a:sym typeface="Roboto"/>
              </a:rPr>
              <a:t>, we don't want to call </a:t>
            </a:r>
            <a:r>
              <a:rPr lang="en" sz="1200">
                <a:latin typeface="Courier New"/>
                <a:ea typeface="Courier New"/>
                <a:cs typeface="Courier New"/>
                <a:sym typeface="Courier New"/>
              </a:rPr>
              <a:t>run()</a:t>
            </a:r>
            <a:r>
              <a:rPr lang="en" sz="1200">
                <a:latin typeface="Roboto"/>
                <a:ea typeface="Roboto"/>
                <a:cs typeface="Roboto"/>
                <a:sym typeface="Roboto"/>
              </a:rPr>
              <a:t> directly on a </a:t>
            </a:r>
            <a:r>
              <a:rPr lang="en" sz="1200">
                <a:latin typeface="Courier New"/>
                <a:ea typeface="Courier New"/>
                <a:cs typeface="Courier New"/>
                <a:sym typeface="Courier New"/>
              </a:rPr>
              <a:t>Runnable</a:t>
            </a:r>
            <a:r>
              <a:rPr lang="en" sz="1200">
                <a:latin typeface="Roboto"/>
                <a:ea typeface="Roboto"/>
                <a:cs typeface="Roboto"/>
                <a:sym typeface="Roboto"/>
              </a:rPr>
              <a:t> from the main thread, but </a:t>
            </a:r>
            <a:r>
              <a:rPr lang="en" sz="1200" b="1" i="1">
                <a:solidFill>
                  <a:srgbClr val="FF0000"/>
                </a:solidFill>
                <a:latin typeface="Roboto"/>
                <a:ea typeface="Roboto"/>
                <a:cs typeface="Roboto"/>
                <a:sym typeface="Roboto"/>
              </a:rPr>
              <a:t>unlike</a:t>
            </a:r>
            <a:r>
              <a:rPr lang="en" sz="1200">
                <a:solidFill>
                  <a:srgbClr val="FF0000"/>
                </a:solidFill>
                <a:latin typeface="Roboto"/>
                <a:ea typeface="Roboto"/>
                <a:cs typeface="Roboto"/>
                <a:sym typeface="Roboto"/>
              </a:rPr>
              <a:t> </a:t>
            </a:r>
            <a:r>
              <a:rPr lang="en" sz="1200">
                <a:latin typeface="Courier New"/>
                <a:ea typeface="Courier New"/>
                <a:cs typeface="Courier New"/>
                <a:sym typeface="Courier New"/>
              </a:rPr>
              <a:t>Thread</a:t>
            </a:r>
            <a:r>
              <a:rPr lang="en" sz="1200">
                <a:latin typeface="Roboto"/>
                <a:ea typeface="Roboto"/>
                <a:cs typeface="Roboto"/>
                <a:sym typeface="Roboto"/>
              </a:rPr>
              <a:t>, a </a:t>
            </a:r>
            <a:r>
              <a:rPr lang="en" sz="1200">
                <a:latin typeface="Courier New"/>
                <a:ea typeface="Courier New"/>
                <a:cs typeface="Courier New"/>
                <a:sym typeface="Courier New"/>
              </a:rPr>
              <a:t>Runnable</a:t>
            </a:r>
            <a:r>
              <a:rPr lang="en" sz="1200">
                <a:latin typeface="Roboto"/>
                <a:ea typeface="Roboto"/>
                <a:cs typeface="Roboto"/>
                <a:sym typeface="Roboto"/>
              </a:rPr>
              <a:t> cannot be started on its own.</a:t>
            </a:r>
            <a:endParaRPr sz="1200">
              <a:latin typeface="Roboto"/>
              <a:ea typeface="Roboto"/>
              <a:cs typeface="Roboto"/>
              <a:sym typeface="Roboto"/>
            </a:endParaRPr>
          </a:p>
        </p:txBody>
      </p:sp>
      <p:sp>
        <p:nvSpPr>
          <p:cNvPr id="439" name="Google Shape;439;p49"/>
          <p:cNvSpPr txBox="1"/>
          <p:nvPr/>
        </p:nvSpPr>
        <p:spPr>
          <a:xfrm>
            <a:off x="6708475" y="2885189"/>
            <a:ext cx="23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Instead, we create a new </a:t>
            </a:r>
            <a:r>
              <a:rPr lang="en" sz="1200">
                <a:latin typeface="Courier New"/>
                <a:ea typeface="Courier New"/>
                <a:cs typeface="Courier New"/>
                <a:sym typeface="Courier New"/>
              </a:rPr>
              <a:t>Thread</a:t>
            </a:r>
            <a:r>
              <a:rPr lang="en" sz="1200">
                <a:latin typeface="Roboto"/>
                <a:ea typeface="Roboto"/>
                <a:cs typeface="Roboto"/>
                <a:sym typeface="Roboto"/>
              </a:rPr>
              <a:t> by passing the </a:t>
            </a:r>
            <a:r>
              <a:rPr lang="en" sz="1200">
                <a:latin typeface="Courier New"/>
                <a:ea typeface="Courier New"/>
                <a:cs typeface="Courier New"/>
                <a:sym typeface="Courier New"/>
              </a:rPr>
              <a:t>Runnable</a:t>
            </a:r>
            <a:r>
              <a:rPr lang="en" sz="1200">
                <a:latin typeface="Roboto"/>
                <a:ea typeface="Roboto"/>
                <a:cs typeface="Roboto"/>
                <a:sym typeface="Roboto"/>
              </a:rPr>
              <a:t> into is constructor.</a:t>
            </a:r>
            <a:endParaRPr sz="1200">
              <a:latin typeface="Roboto"/>
              <a:ea typeface="Roboto"/>
              <a:cs typeface="Roboto"/>
              <a:sym typeface="Roboto"/>
            </a:endParaRPr>
          </a:p>
        </p:txBody>
      </p:sp>
      <p:sp>
        <p:nvSpPr>
          <p:cNvPr id="440" name="Google Shape;440;p49"/>
          <p:cNvSpPr txBox="1"/>
          <p:nvPr/>
        </p:nvSpPr>
        <p:spPr>
          <a:xfrm>
            <a:off x="6708475" y="3757726"/>
            <a:ext cx="23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Then call </a:t>
            </a:r>
            <a:r>
              <a:rPr lang="en" sz="1200">
                <a:latin typeface="Courier New"/>
                <a:ea typeface="Courier New"/>
                <a:cs typeface="Courier New"/>
                <a:sym typeface="Courier New"/>
              </a:rPr>
              <a:t>start()</a:t>
            </a:r>
            <a:r>
              <a:rPr lang="en" sz="1200">
                <a:latin typeface="Roboto"/>
                <a:ea typeface="Roboto"/>
                <a:cs typeface="Roboto"/>
                <a:sym typeface="Roboto"/>
              </a:rPr>
              <a:t> on that thread to execute the runnable in a separate thread.</a:t>
            </a:r>
            <a:endParaRPr sz="1200">
              <a:latin typeface="Roboto"/>
              <a:ea typeface="Roboto"/>
              <a:cs typeface="Roboto"/>
              <a:sym typeface="Roboto"/>
            </a:endParaRPr>
          </a:p>
        </p:txBody>
      </p:sp>
      <p:grpSp>
        <p:nvGrpSpPr>
          <p:cNvPr id="441" name="Google Shape;441;p49"/>
          <p:cNvGrpSpPr/>
          <p:nvPr/>
        </p:nvGrpSpPr>
        <p:grpSpPr>
          <a:xfrm>
            <a:off x="3360675" y="3254639"/>
            <a:ext cx="3347800" cy="1450011"/>
            <a:chOff x="3360675" y="3254639"/>
            <a:chExt cx="3347800" cy="1450011"/>
          </a:xfrm>
        </p:grpSpPr>
        <p:sp>
          <p:nvSpPr>
            <p:cNvPr id="442" name="Google Shape;442;p49"/>
            <p:cNvSpPr/>
            <p:nvPr/>
          </p:nvSpPr>
          <p:spPr>
            <a:xfrm>
              <a:off x="3360675" y="4080950"/>
              <a:ext cx="1934100" cy="623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3" name="Google Shape;443;p49"/>
            <p:cNvCxnSpPr>
              <a:stCxn id="439" idx="1"/>
              <a:endCxn id="442" idx="3"/>
            </p:cNvCxnSpPr>
            <p:nvPr/>
          </p:nvCxnSpPr>
          <p:spPr>
            <a:xfrm flipH="1">
              <a:off x="5294875" y="3254639"/>
              <a:ext cx="1413600" cy="1138200"/>
            </a:xfrm>
            <a:prstGeom prst="bentConnector3">
              <a:avLst>
                <a:gd name="adj1" fmla="val 3526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28"/>
                                        </p:tgtEl>
                                        <p:attrNameLst>
                                          <p:attrName>style.visibility</p:attrName>
                                        </p:attrNameLst>
                                      </p:cBhvr>
                                      <p:to>
                                        <p:strVal val="visible"/>
                                      </p:to>
                                    </p:set>
                                    <p:animEffect transition="in" filter="fade">
                                      <p:cBhvr>
                                        <p:cTn id="7" dur="1000"/>
                                        <p:tgtEl>
                                          <p:spTgt spid="42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29"/>
                                        </p:tgtEl>
                                        <p:attrNameLst>
                                          <p:attrName>style.visibility</p:attrName>
                                        </p:attrNameLst>
                                      </p:cBhvr>
                                      <p:to>
                                        <p:strVal val="visible"/>
                                      </p:to>
                                    </p:set>
                                    <p:animEffect transition="in" filter="fade">
                                      <p:cBhvr>
                                        <p:cTn id="11" dur="1000"/>
                                        <p:tgtEl>
                                          <p:spTgt spid="42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32"/>
                                        </p:tgtEl>
                                        <p:attrNameLst>
                                          <p:attrName>style.visibility</p:attrName>
                                        </p:attrNameLst>
                                      </p:cBhvr>
                                      <p:to>
                                        <p:strVal val="visible"/>
                                      </p:to>
                                    </p:set>
                                    <p:animEffect transition="in" filter="fade">
                                      <p:cBhvr>
                                        <p:cTn id="16" dur="1000"/>
                                        <p:tgtEl>
                                          <p:spTgt spid="43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33"/>
                                        </p:tgtEl>
                                        <p:attrNameLst>
                                          <p:attrName>style.visibility</p:attrName>
                                        </p:attrNameLst>
                                      </p:cBhvr>
                                      <p:to>
                                        <p:strVal val="visible"/>
                                      </p:to>
                                    </p:set>
                                    <p:animEffect transition="in" filter="fade">
                                      <p:cBhvr>
                                        <p:cTn id="21" dur="1000"/>
                                        <p:tgtEl>
                                          <p:spTgt spid="433"/>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434"/>
                                        </p:tgtEl>
                                        <p:attrNameLst>
                                          <p:attrName>style.visibility</p:attrName>
                                        </p:attrNameLst>
                                      </p:cBhvr>
                                      <p:to>
                                        <p:strVal val="visible"/>
                                      </p:to>
                                    </p:set>
                                    <p:animEffect transition="in" filter="fade">
                                      <p:cBhvr>
                                        <p:cTn id="25" dur="1000"/>
                                        <p:tgtEl>
                                          <p:spTgt spid="43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37"/>
                                        </p:tgtEl>
                                        <p:attrNameLst>
                                          <p:attrName>style.visibility</p:attrName>
                                        </p:attrNameLst>
                                      </p:cBhvr>
                                      <p:to>
                                        <p:strVal val="visible"/>
                                      </p:to>
                                    </p:set>
                                    <p:animEffect transition="in" filter="fade">
                                      <p:cBhvr>
                                        <p:cTn id="30" dur="1000"/>
                                        <p:tgtEl>
                                          <p:spTgt spid="43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38"/>
                                        </p:tgtEl>
                                        <p:attrNameLst>
                                          <p:attrName>style.visibility</p:attrName>
                                        </p:attrNameLst>
                                      </p:cBhvr>
                                      <p:to>
                                        <p:strVal val="visible"/>
                                      </p:to>
                                    </p:set>
                                    <p:animEffect transition="in" filter="fade">
                                      <p:cBhvr>
                                        <p:cTn id="35" dur="1000"/>
                                        <p:tgtEl>
                                          <p:spTgt spid="43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39"/>
                                        </p:tgtEl>
                                        <p:attrNameLst>
                                          <p:attrName>style.visibility</p:attrName>
                                        </p:attrNameLst>
                                      </p:cBhvr>
                                      <p:to>
                                        <p:strVal val="visible"/>
                                      </p:to>
                                    </p:set>
                                    <p:animEffect transition="in" filter="fade">
                                      <p:cBhvr>
                                        <p:cTn id="40" dur="1000"/>
                                        <p:tgtEl>
                                          <p:spTgt spid="439"/>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441"/>
                                        </p:tgtEl>
                                        <p:attrNameLst>
                                          <p:attrName>style.visibility</p:attrName>
                                        </p:attrNameLst>
                                      </p:cBhvr>
                                      <p:to>
                                        <p:strVal val="visible"/>
                                      </p:to>
                                    </p:set>
                                    <p:animEffect transition="in" filter="fade">
                                      <p:cBhvr>
                                        <p:cTn id="44" dur="1000"/>
                                        <p:tgtEl>
                                          <p:spTgt spid="44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440"/>
                                        </p:tgtEl>
                                        <p:attrNameLst>
                                          <p:attrName>style.visibility</p:attrName>
                                        </p:attrNameLst>
                                      </p:cBhvr>
                                      <p:to>
                                        <p:strVal val="visible"/>
                                      </p:to>
                                    </p:set>
                                    <p:animEffect transition="in" filter="fade">
                                      <p:cBhvr>
                                        <p:cTn id="49" dur="1000"/>
                                        <p:tgtEl>
                                          <p:spTgt spid="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0"/>
          <p:cNvSpPr txBox="1">
            <a:spLocks noGrp="1"/>
          </p:cNvSpPr>
          <p:nvPr>
            <p:ph type="title"/>
          </p:nvPr>
        </p:nvSpPr>
        <p:spPr>
          <a:xfrm>
            <a:off x="1436850" y="100"/>
            <a:ext cx="7642500" cy="5967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0"/>
              </a:spcBef>
              <a:spcAft>
                <a:spcPts val="0"/>
              </a:spcAft>
              <a:buClr>
                <a:schemeClr val="dk2"/>
              </a:buClr>
              <a:buSzPts val="3300"/>
              <a:buFont typeface="Calibri"/>
              <a:buNone/>
            </a:pPr>
            <a:r>
              <a:rPr lang="en">
                <a:latin typeface="Courier New"/>
                <a:ea typeface="Courier New"/>
                <a:cs typeface="Courier New"/>
                <a:sym typeface="Courier New"/>
              </a:rPr>
              <a:t>RunnableRacer</a:t>
            </a:r>
            <a:endParaRPr>
              <a:latin typeface="Courier New"/>
              <a:ea typeface="Courier New"/>
              <a:cs typeface="Courier New"/>
              <a:sym typeface="Courier New"/>
            </a:endParaRPr>
          </a:p>
        </p:txBody>
      </p:sp>
      <p:sp>
        <p:nvSpPr>
          <p:cNvPr id="449" name="Google Shape;449;p50"/>
          <p:cNvSpPr txBox="1">
            <a:spLocks noGrp="1"/>
          </p:cNvSpPr>
          <p:nvPr>
            <p:ph type="body" idx="1"/>
          </p:nvPr>
        </p:nvSpPr>
        <p:spPr>
          <a:xfrm>
            <a:off x="65250" y="731625"/>
            <a:ext cx="8955900" cy="734100"/>
          </a:xfrm>
          <a:prstGeom prst="rect">
            <a:avLst/>
          </a:prstGeom>
          <a:noFill/>
          <a:ln>
            <a:noFill/>
          </a:ln>
        </p:spPr>
        <p:txBody>
          <a:bodyPr spcFirstLastPara="1" wrap="square" lIns="68575" tIns="34275" rIns="68575" bIns="34275" anchor="t" anchorCtr="0">
            <a:spAutoFit/>
          </a:bodyPr>
          <a:lstStyle/>
          <a:p>
            <a:pPr marL="0" lvl="0" indent="0" algn="l" rtl="0">
              <a:lnSpc>
                <a:spcPct val="90000"/>
              </a:lnSpc>
              <a:spcBef>
                <a:spcPts val="0"/>
              </a:spcBef>
              <a:spcAft>
                <a:spcPts val="1600"/>
              </a:spcAft>
              <a:buClr>
                <a:schemeClr val="dk1"/>
              </a:buClr>
              <a:buSzPts val="1800"/>
              <a:buNone/>
            </a:pPr>
            <a:r>
              <a:rPr lang="en"/>
              <a:t>We now know that there are two different ways to create and run code in a separate thread in a Java program. Let's examine the similarities and differences between extending </a:t>
            </a:r>
            <a:r>
              <a:rPr lang="en">
                <a:latin typeface="Courier New"/>
                <a:ea typeface="Courier New"/>
                <a:cs typeface="Courier New"/>
                <a:sym typeface="Courier New"/>
              </a:rPr>
              <a:t>Thread</a:t>
            </a:r>
            <a:r>
              <a:rPr lang="en"/>
              <a:t> and implementing </a:t>
            </a:r>
            <a:r>
              <a:rPr lang="en">
                <a:latin typeface="Courier New"/>
                <a:ea typeface="Courier New"/>
                <a:cs typeface="Courier New"/>
                <a:sym typeface="Courier New"/>
              </a:rPr>
              <a:t>Runnable</a:t>
            </a:r>
            <a:r>
              <a:rPr lang="en"/>
              <a:t> by repeating some of the earlier activities.</a:t>
            </a:r>
            <a:endParaRPr/>
          </a:p>
        </p:txBody>
      </p:sp>
      <p:sp>
        <p:nvSpPr>
          <p:cNvPr id="450" name="Google Shape;450;p50"/>
          <p:cNvSpPr txBox="1">
            <a:spLocks noGrp="1"/>
          </p:cNvSpPr>
          <p:nvPr>
            <p:ph type="body" idx="2"/>
          </p:nvPr>
        </p:nvSpPr>
        <p:spPr>
          <a:xfrm>
            <a:off x="3929675" y="1524350"/>
            <a:ext cx="5026200" cy="3493200"/>
          </a:xfrm>
          <a:prstGeom prst="rect">
            <a:avLst/>
          </a:prstGeom>
          <a:noFill/>
          <a:ln>
            <a:noFill/>
          </a:ln>
        </p:spPr>
        <p:txBody>
          <a:bodyPr spcFirstLastPara="1" wrap="square" lIns="68575" tIns="34275" rIns="68575" bIns="34275" anchor="t" anchorCtr="0">
            <a:spAutoFit/>
          </a:bodyPr>
          <a:lstStyle/>
          <a:p>
            <a:pPr marL="457200" lvl="0" indent="-311150" algn="l" rtl="0">
              <a:lnSpc>
                <a:spcPct val="115000"/>
              </a:lnSpc>
              <a:spcBef>
                <a:spcPts val="0"/>
              </a:spcBef>
              <a:spcAft>
                <a:spcPts val="0"/>
              </a:spcAft>
              <a:buSzPts val="1300"/>
              <a:buChar char="●"/>
            </a:pPr>
            <a:r>
              <a:rPr lang="en" dirty="0"/>
              <a:t>Create a new Java class named </a:t>
            </a:r>
            <a:r>
              <a:rPr lang="en" dirty="0">
                <a:solidFill>
                  <a:srgbClr val="FF0000"/>
                </a:solidFill>
                <a:latin typeface="Courier New"/>
                <a:ea typeface="Courier New"/>
                <a:cs typeface="Courier New"/>
                <a:sym typeface="Courier New"/>
              </a:rPr>
              <a:t>RunnableRacer</a:t>
            </a:r>
            <a:r>
              <a:rPr lang="en" dirty="0"/>
              <a:t> in the </a:t>
            </a:r>
            <a:r>
              <a:rPr lang="en" dirty="0">
                <a:solidFill>
                  <a:srgbClr val="FF0000"/>
                </a:solidFill>
                <a:latin typeface="Courier New"/>
                <a:ea typeface="Courier New"/>
                <a:cs typeface="Courier New"/>
                <a:sym typeface="Courier New"/>
              </a:rPr>
              <a:t>racing</a:t>
            </a:r>
            <a:r>
              <a:rPr lang="en" dirty="0">
                <a:solidFill>
                  <a:srgbClr val="FF0000"/>
                </a:solidFill>
              </a:rPr>
              <a:t> </a:t>
            </a:r>
            <a:r>
              <a:rPr lang="en" dirty="0"/>
              <a:t>package.</a:t>
            </a:r>
            <a:endParaRPr dirty="0"/>
          </a:p>
          <a:p>
            <a:pPr marL="914400" lvl="1" indent="-304800" algn="l" rtl="0">
              <a:lnSpc>
                <a:spcPct val="115000"/>
              </a:lnSpc>
              <a:spcBef>
                <a:spcPts val="0"/>
              </a:spcBef>
              <a:spcAft>
                <a:spcPts val="0"/>
              </a:spcAft>
              <a:buSzPts val="1200"/>
              <a:buChar char="○"/>
            </a:pPr>
            <a:r>
              <a:rPr lang="en" sz="1200" dirty="0"/>
              <a:t>Since </a:t>
            </a:r>
            <a:r>
              <a:rPr lang="en" sz="1200" dirty="0">
                <a:latin typeface="Courier New"/>
                <a:ea typeface="Courier New"/>
                <a:cs typeface="Courier New"/>
                <a:sym typeface="Courier New"/>
              </a:rPr>
              <a:t>Runnable</a:t>
            </a:r>
            <a:r>
              <a:rPr lang="en" sz="1200" dirty="0"/>
              <a:t> is an </a:t>
            </a:r>
            <a:r>
              <a:rPr lang="en" sz="1200" b="1" i="1" dirty="0">
                <a:solidFill>
                  <a:srgbClr val="FF0000"/>
                </a:solidFill>
              </a:rPr>
              <a:t>interface</a:t>
            </a:r>
            <a:r>
              <a:rPr lang="en" sz="1200" dirty="0"/>
              <a:t>, we don't have to copy all the code again.</a:t>
            </a:r>
            <a:endParaRPr sz="1200" dirty="0"/>
          </a:p>
          <a:p>
            <a:pPr marL="914400" lvl="1" indent="-304800" algn="l" rtl="0">
              <a:lnSpc>
                <a:spcPct val="115000"/>
              </a:lnSpc>
              <a:spcBef>
                <a:spcPts val="0"/>
              </a:spcBef>
              <a:spcAft>
                <a:spcPts val="0"/>
              </a:spcAft>
              <a:buSzPts val="1200"/>
              <a:buChar char="○"/>
            </a:pPr>
            <a:r>
              <a:rPr lang="en" sz="1200" dirty="0"/>
              <a:t>Instead, have </a:t>
            </a:r>
            <a:r>
              <a:rPr lang="en" sz="1200" dirty="0">
                <a:latin typeface="Courier New"/>
                <a:ea typeface="Courier New"/>
                <a:cs typeface="Courier New"/>
                <a:sym typeface="Courier New"/>
              </a:rPr>
              <a:t>RunnableRacer</a:t>
            </a:r>
            <a:r>
              <a:rPr lang="en" sz="1200" dirty="0"/>
              <a:t> </a:t>
            </a:r>
            <a:r>
              <a:rPr lang="en" sz="1200" b="1" i="1" dirty="0">
                <a:solidFill>
                  <a:srgbClr val="FF0000"/>
                </a:solidFill>
              </a:rPr>
              <a:t>extend</a:t>
            </a:r>
            <a:r>
              <a:rPr lang="en" sz="1200" dirty="0"/>
              <a:t> </a:t>
            </a:r>
            <a:r>
              <a:rPr lang="en" sz="1200" dirty="0">
                <a:latin typeface="Courier New"/>
                <a:ea typeface="Courier New"/>
                <a:cs typeface="Courier New"/>
                <a:sym typeface="Courier New"/>
              </a:rPr>
              <a:t>Racer</a:t>
            </a:r>
            <a:r>
              <a:rPr lang="en" sz="1200" dirty="0"/>
              <a:t> and </a:t>
            </a:r>
            <a:r>
              <a:rPr lang="en" sz="1200" b="1" i="1" dirty="0">
                <a:solidFill>
                  <a:srgbClr val="FF0000"/>
                </a:solidFill>
              </a:rPr>
              <a:t>implement</a:t>
            </a:r>
            <a:r>
              <a:rPr lang="en" sz="1200" dirty="0"/>
              <a:t> </a:t>
            </a:r>
            <a:r>
              <a:rPr lang="en" sz="1200" dirty="0">
                <a:latin typeface="Courier New"/>
                <a:ea typeface="Courier New"/>
                <a:cs typeface="Courier New"/>
                <a:sym typeface="Courier New"/>
              </a:rPr>
              <a:t>Runnable</a:t>
            </a:r>
            <a:r>
              <a:rPr lang="en" sz="1200" dirty="0"/>
              <a:t>.</a:t>
            </a:r>
            <a:endParaRPr sz="1200" dirty="0"/>
          </a:p>
          <a:p>
            <a:pPr marL="914400" lvl="1" indent="-304800" algn="l" rtl="0">
              <a:lnSpc>
                <a:spcPct val="115000"/>
              </a:lnSpc>
              <a:spcBef>
                <a:spcPts val="0"/>
              </a:spcBef>
              <a:spcAft>
                <a:spcPts val="0"/>
              </a:spcAft>
              <a:buSzPts val="1200"/>
              <a:buChar char="○"/>
            </a:pPr>
            <a:r>
              <a:rPr lang="en" sz="1200" dirty="0"/>
              <a:t>Now you only need to provide the constructors and run method. </a:t>
            </a:r>
            <a:endParaRPr sz="1200" dirty="0"/>
          </a:p>
          <a:p>
            <a:pPr marL="914400" lvl="1" indent="-304800" algn="l" rtl="0">
              <a:lnSpc>
                <a:spcPct val="115000"/>
              </a:lnSpc>
              <a:spcBef>
                <a:spcPts val="0"/>
              </a:spcBef>
              <a:spcAft>
                <a:spcPts val="0"/>
              </a:spcAft>
              <a:buSzPts val="1200"/>
              <a:buChar char="○"/>
            </a:pPr>
            <a:r>
              <a:rPr lang="en" sz="1200" dirty="0"/>
              <a:t>Much cleaner (that's why interfaces are often preferred over base classes).</a:t>
            </a:r>
            <a:endParaRPr sz="1200" dirty="0"/>
          </a:p>
          <a:p>
            <a:pPr marL="457200" lvl="0" indent="-311150" algn="l" rtl="0">
              <a:lnSpc>
                <a:spcPct val="115000"/>
              </a:lnSpc>
              <a:spcBef>
                <a:spcPts val="0"/>
              </a:spcBef>
              <a:spcAft>
                <a:spcPts val="0"/>
              </a:spcAft>
              <a:buSzPts val="1300"/>
              <a:buChar char="●"/>
            </a:pPr>
            <a:r>
              <a:rPr lang="en" b="1" i="1" dirty="0">
                <a:solidFill>
                  <a:srgbClr val="FF0000"/>
                </a:solidFill>
              </a:rPr>
              <a:t>Copy </a:t>
            </a:r>
            <a:r>
              <a:rPr lang="en" dirty="0">
                <a:latin typeface="Courier New"/>
                <a:ea typeface="Courier New"/>
                <a:cs typeface="Courier New"/>
                <a:sym typeface="Courier New"/>
              </a:rPr>
              <a:t>ThreadRace</a:t>
            </a:r>
            <a:r>
              <a:rPr lang="en" dirty="0"/>
              <a:t> and name it </a:t>
            </a:r>
            <a:r>
              <a:rPr lang="en" dirty="0">
                <a:solidFill>
                  <a:srgbClr val="FF0000"/>
                </a:solidFill>
                <a:latin typeface="Courier New"/>
                <a:ea typeface="Courier New"/>
                <a:cs typeface="Courier New"/>
                <a:sym typeface="Courier New"/>
              </a:rPr>
              <a:t>RunnableRace</a:t>
            </a:r>
            <a:r>
              <a:rPr lang="en" dirty="0"/>
              <a:t>.</a:t>
            </a:r>
            <a:endParaRPr dirty="0">
              <a:latin typeface="Courier New"/>
              <a:ea typeface="Courier New"/>
              <a:cs typeface="Courier New"/>
              <a:sym typeface="Courier New"/>
            </a:endParaRPr>
          </a:p>
          <a:p>
            <a:pPr marL="914400" lvl="1" indent="-304800" algn="l" rtl="0">
              <a:lnSpc>
                <a:spcPct val="115000"/>
              </a:lnSpc>
              <a:spcBef>
                <a:spcPts val="0"/>
              </a:spcBef>
              <a:spcAft>
                <a:spcPts val="0"/>
              </a:spcAft>
              <a:buSzPts val="1200"/>
              <a:buChar char="○"/>
            </a:pPr>
            <a:r>
              <a:rPr lang="en" sz="1200" dirty="0"/>
              <a:t>Change all the </a:t>
            </a:r>
            <a:r>
              <a:rPr lang="en" sz="1200" dirty="0">
                <a:latin typeface="Courier New"/>
                <a:ea typeface="Courier New"/>
                <a:cs typeface="Courier New"/>
                <a:sym typeface="Courier New"/>
              </a:rPr>
              <a:t>ThreadRacer</a:t>
            </a:r>
            <a:r>
              <a:rPr lang="en" sz="1200" dirty="0"/>
              <a:t>s to be </a:t>
            </a:r>
            <a:r>
              <a:rPr lang="en" sz="1200" dirty="0">
                <a:solidFill>
                  <a:srgbClr val="FF0000"/>
                </a:solidFill>
                <a:latin typeface="Courier New"/>
                <a:ea typeface="Courier New"/>
                <a:cs typeface="Courier New"/>
                <a:sym typeface="Courier New"/>
              </a:rPr>
              <a:t>RunnableRacer</a:t>
            </a:r>
            <a:r>
              <a:rPr lang="en" sz="1200" dirty="0"/>
              <a:t>s</a:t>
            </a:r>
            <a:endParaRPr sz="1200" dirty="0"/>
          </a:p>
          <a:p>
            <a:pPr marL="914400" lvl="1" indent="-304800" algn="l" rtl="0">
              <a:lnSpc>
                <a:spcPct val="115000"/>
              </a:lnSpc>
              <a:spcBef>
                <a:spcPts val="0"/>
              </a:spcBef>
              <a:spcAft>
                <a:spcPts val="0"/>
              </a:spcAft>
              <a:buSzPts val="1200"/>
              <a:buChar char="○"/>
            </a:pPr>
            <a:r>
              <a:rPr lang="en" sz="1200" dirty="0"/>
              <a:t>Instead of calling start on the racer, pass the racer into a </a:t>
            </a:r>
            <a:r>
              <a:rPr lang="en" sz="1200" b="1" i="1" dirty="0">
                <a:solidFill>
                  <a:srgbClr val="FF0000"/>
                </a:solidFill>
                <a:highlight>
                  <a:srgbClr val="FFFF00"/>
                </a:highlight>
              </a:rPr>
              <a:t>new thread</a:t>
            </a:r>
            <a:r>
              <a:rPr lang="en" sz="1200" dirty="0">
                <a:highlight>
                  <a:srgbClr val="FFFF00"/>
                </a:highlight>
              </a:rPr>
              <a:t> and call </a:t>
            </a:r>
            <a:r>
              <a:rPr lang="en" sz="1200" dirty="0">
                <a:highlight>
                  <a:srgbClr val="FFFF00"/>
                </a:highlight>
                <a:latin typeface="Courier New"/>
                <a:ea typeface="Courier New"/>
                <a:cs typeface="Courier New"/>
                <a:sym typeface="Courier New"/>
              </a:rPr>
              <a:t>start()</a:t>
            </a:r>
            <a:r>
              <a:rPr lang="en" sz="1200" dirty="0">
                <a:highlight>
                  <a:srgbClr val="FFFF00"/>
                </a:highlight>
              </a:rPr>
              <a:t> on the thread.</a:t>
            </a:r>
            <a:endParaRPr sz="1200" dirty="0">
              <a:highlight>
                <a:srgbClr val="FFFF00"/>
              </a:highlight>
            </a:endParaRPr>
          </a:p>
          <a:p>
            <a:pPr marL="914400" lvl="1" indent="-304800" algn="l" rtl="0">
              <a:lnSpc>
                <a:spcPct val="115000"/>
              </a:lnSpc>
              <a:spcBef>
                <a:spcPts val="0"/>
              </a:spcBef>
              <a:spcAft>
                <a:spcPts val="0"/>
              </a:spcAft>
              <a:buSzPts val="1200"/>
              <a:buChar char="○"/>
            </a:pPr>
            <a:r>
              <a:rPr lang="en" sz="1200" dirty="0">
                <a:highlight>
                  <a:srgbClr val="FFFF00"/>
                </a:highlight>
              </a:rPr>
              <a:t>You'll need to update the </a:t>
            </a:r>
            <a:r>
              <a:rPr lang="en" sz="1200" dirty="0">
                <a:highlight>
                  <a:srgbClr val="FFFF00"/>
                </a:highlight>
                <a:latin typeface="Courier New"/>
                <a:ea typeface="Courier New"/>
                <a:cs typeface="Courier New"/>
                <a:sym typeface="Courier New"/>
              </a:rPr>
              <a:t>isAlive</a:t>
            </a:r>
            <a:r>
              <a:rPr lang="en" sz="1200" dirty="0">
                <a:highlight>
                  <a:srgbClr val="FFFF00"/>
                </a:highlight>
              </a:rPr>
              <a:t> calls to be on the </a:t>
            </a:r>
            <a:r>
              <a:rPr lang="en" sz="1200" b="1" i="1" dirty="0">
                <a:solidFill>
                  <a:srgbClr val="FF0000"/>
                </a:solidFill>
                <a:highlight>
                  <a:srgbClr val="FFFF00"/>
                </a:highlight>
              </a:rPr>
              <a:t>threads</a:t>
            </a:r>
            <a:r>
              <a:rPr lang="en" sz="1200" dirty="0">
                <a:highlight>
                  <a:srgbClr val="FFFF00"/>
                </a:highlight>
              </a:rPr>
              <a:t> and not the racers.</a:t>
            </a:r>
            <a:endParaRPr sz="1200" dirty="0">
              <a:highlight>
                <a:srgbClr val="FFFF00"/>
              </a:highlight>
            </a:endParaRPr>
          </a:p>
        </p:txBody>
      </p:sp>
      <p:sp>
        <p:nvSpPr>
          <p:cNvPr id="451" name="Google Shape;451;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452" name="Google Shape;452;p5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8.7</a:t>
            </a:r>
            <a:endParaRPr/>
          </a:p>
        </p:txBody>
      </p:sp>
      <p:sp>
        <p:nvSpPr>
          <p:cNvPr id="453" name="Google Shape;453;p50"/>
          <p:cNvSpPr/>
          <p:nvPr/>
        </p:nvSpPr>
        <p:spPr>
          <a:xfrm>
            <a:off x="143825" y="1551575"/>
            <a:ext cx="3636300" cy="3493200"/>
          </a:xfrm>
          <a:prstGeom prst="rect">
            <a:avLst/>
          </a:prstGeom>
          <a:solidFill>
            <a:srgbClr val="FFFFFF"/>
          </a:solidFill>
          <a:ln w="19050" cap="flat" cmpd="sng">
            <a:solidFill>
              <a:schemeClr val="accent1"/>
            </a:solidFill>
            <a:prstDash val="solid"/>
            <a:miter lim="800000"/>
            <a:headEnd type="none" w="sm" len="sm"/>
            <a:tailEnd type="none" w="sm" len="sm"/>
          </a:ln>
        </p:spPr>
        <p:txBody>
          <a:bodyPr spcFirstLastPara="1" wrap="square" lIns="91425" tIns="91425" rIns="68575" bIns="91425" anchor="t" anchorCtr="0">
            <a:no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RunnableExample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Runnable</a:t>
            </a:r>
            <a:r>
              <a:rPr lang="en" sz="1000">
                <a:solidFill>
                  <a:srgbClr val="008000"/>
                </a:solidFill>
                <a:latin typeface="Consolas"/>
                <a:ea typeface="Consolas"/>
                <a:cs typeface="Consolas"/>
                <a:sym typeface="Consolas"/>
              </a:rPr>
              <a:t> </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70C1"/>
                </a:solidFill>
                <a:latin typeface="Consolas"/>
                <a:ea typeface="Consolas"/>
                <a:cs typeface="Consolas"/>
                <a:sym typeface="Consolas"/>
              </a:rPr>
              <a:t>id</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spcBef>
                <a:spcPts val="0"/>
              </a:spcBef>
              <a:spcAft>
                <a:spcPts val="0"/>
              </a:spcAft>
              <a:buNone/>
            </a:pPr>
            <a:r>
              <a:rPr lang="en" sz="1000">
                <a:solidFill>
                  <a:srgbClr val="008000"/>
                </a:solidFill>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RunnableExample</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id</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id</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id</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solidFill>
                  <a:srgbClr val="008000"/>
                </a:solidFill>
                <a:latin typeface="Consolas"/>
                <a:ea typeface="Consolas"/>
                <a:cs typeface="Consolas"/>
                <a:sym typeface="Consolas"/>
              </a:rPr>
              <a:t>  </a:t>
            </a:r>
            <a:endParaRPr sz="1000">
              <a:solidFill>
                <a:srgbClr val="008000"/>
              </a:solidFill>
              <a:latin typeface="Consolas"/>
              <a:ea typeface="Consolas"/>
              <a:cs typeface="Consolas"/>
              <a:sym typeface="Consolas"/>
            </a:endParaRPr>
          </a:p>
          <a:p>
            <a:pPr marL="0" lvl="0" indent="0" algn="l" rtl="0">
              <a:spcBef>
                <a:spcPts val="0"/>
              </a:spcBef>
              <a:spcAft>
                <a:spcPts val="0"/>
              </a:spcAft>
              <a:buNone/>
            </a:pPr>
            <a:r>
              <a:rPr lang="en" sz="1000">
                <a:solidFill>
                  <a:srgbClr val="008000"/>
                </a:solidFill>
                <a:latin typeface="Consolas"/>
                <a:ea typeface="Consolas"/>
                <a:cs typeface="Consolas"/>
                <a:sym typeface="Consolas"/>
              </a:rPr>
              <a:t>    </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Override</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run</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 (</a:t>
            </a:r>
            <a:r>
              <a:rPr lang="en" sz="1000">
                <a:solidFill>
                  <a:srgbClr val="0070C1"/>
                </a:solidFill>
                <a:latin typeface="Consolas"/>
                <a:ea typeface="Consolas"/>
                <a:cs typeface="Consolas"/>
                <a:sym typeface="Consolas"/>
              </a:rPr>
              <a:t>id</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8000"/>
                </a:solidFill>
                <a:latin typeface="Consolas"/>
                <a:ea typeface="Consolas"/>
                <a:cs typeface="Consolas"/>
                <a:sym typeface="Consolas"/>
              </a:rPr>
              <a:t>  </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main</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args</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Runnable</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example</a:t>
            </a:r>
            <a:r>
              <a:rPr lang="en" sz="1000">
                <a:latin typeface="Consolas"/>
                <a:ea typeface="Consolas"/>
                <a:cs typeface="Consolas"/>
                <a:sym typeface="Consolas"/>
              </a:rPr>
              <a:t> =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RunnableExample</a:t>
            </a:r>
            <a:r>
              <a:rPr lang="en" sz="1000">
                <a:latin typeface="Consolas"/>
                <a:ea typeface="Consolas"/>
                <a:cs typeface="Consolas"/>
                <a:sym typeface="Consolas"/>
              </a:rPr>
              <a:t>(</a:t>
            </a: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spcBef>
                <a:spcPts val="0"/>
              </a:spcBef>
              <a:spcAft>
                <a:spcPts val="0"/>
              </a:spcAft>
              <a:buNone/>
            </a:pPr>
            <a:r>
              <a:rPr lang="en" sz="1000">
                <a:solidFill>
                  <a:srgbClr val="008000"/>
                </a:solidFill>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Thread</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exampleThread</a:t>
            </a:r>
            <a:r>
              <a:rPr lang="en" sz="1000">
                <a:latin typeface="Consolas"/>
                <a:ea typeface="Consolas"/>
                <a:cs typeface="Consolas"/>
                <a:sym typeface="Consolas"/>
              </a:rPr>
              <a:t> =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Thread</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example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exampleThread</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start</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solidFill>
                <a:schemeClr val="dk1"/>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51"/>
          <p:cNvSpPr txBox="1"/>
          <p:nvPr/>
        </p:nvSpPr>
        <p:spPr>
          <a:xfrm>
            <a:off x="4699825" y="1490100"/>
            <a:ext cx="4255800" cy="3173100"/>
          </a:xfrm>
          <a:prstGeom prst="rect">
            <a:avLst/>
          </a:prstGeom>
          <a:solidFill>
            <a:srgbClr val="FFFFFF"/>
          </a:solidFill>
          <a:ln w="76200" cap="flat" cmpd="sng">
            <a:solidFill>
              <a:srgbClr val="783F0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rgbClr val="0000FF"/>
                </a:solidFill>
                <a:latin typeface="Caveat"/>
                <a:ea typeface="Caveat"/>
                <a:cs typeface="Caveat"/>
                <a:sym typeface="Caveat"/>
              </a:rPr>
              <a:t>IMPLEMENTING RUNNABLE</a:t>
            </a:r>
            <a:endParaRPr sz="2400" b="1">
              <a:solidFill>
                <a:srgbClr val="0000FF"/>
              </a:solidFill>
              <a:latin typeface="Caveat"/>
              <a:ea typeface="Caveat"/>
              <a:cs typeface="Caveat"/>
              <a:sym typeface="Caveat"/>
            </a:endParaRPr>
          </a:p>
        </p:txBody>
      </p:sp>
      <p:sp>
        <p:nvSpPr>
          <p:cNvPr id="459" name="Google Shape;459;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460" name="Google Shape;460;p5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urier New"/>
                <a:ea typeface="Courier New"/>
                <a:cs typeface="Courier New"/>
                <a:sym typeface="Courier New"/>
              </a:rPr>
              <a:t>Thread</a:t>
            </a:r>
            <a:r>
              <a:rPr lang="en"/>
              <a:t> vs. </a:t>
            </a:r>
            <a:r>
              <a:rPr lang="en">
                <a:latin typeface="Courier New"/>
                <a:ea typeface="Courier New"/>
                <a:cs typeface="Courier New"/>
                <a:sym typeface="Courier New"/>
              </a:rPr>
              <a:t>Runnable</a:t>
            </a:r>
            <a:endParaRPr>
              <a:latin typeface="Courier New"/>
              <a:ea typeface="Courier New"/>
              <a:cs typeface="Courier New"/>
              <a:sym typeface="Courier New"/>
            </a:endParaRPr>
          </a:p>
        </p:txBody>
      </p:sp>
      <p:sp>
        <p:nvSpPr>
          <p:cNvPr id="461" name="Google Shape;461;p51"/>
          <p:cNvSpPr txBox="1"/>
          <p:nvPr/>
        </p:nvSpPr>
        <p:spPr>
          <a:xfrm>
            <a:off x="154575" y="1490100"/>
            <a:ext cx="4255800" cy="3173100"/>
          </a:xfrm>
          <a:prstGeom prst="rect">
            <a:avLst/>
          </a:prstGeom>
          <a:solidFill>
            <a:srgbClr val="FFFFFF"/>
          </a:solidFill>
          <a:ln w="76200" cap="flat" cmpd="sng">
            <a:solidFill>
              <a:srgbClr val="783F0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rgbClr val="0000FF"/>
                </a:solidFill>
                <a:latin typeface="Caveat"/>
                <a:ea typeface="Caveat"/>
                <a:cs typeface="Caveat"/>
                <a:sym typeface="Caveat"/>
              </a:rPr>
              <a:t>EXTENDING THREAD</a:t>
            </a:r>
            <a:endParaRPr sz="2400" b="1">
              <a:solidFill>
                <a:srgbClr val="0000FF"/>
              </a:solidFill>
              <a:latin typeface="Caveat"/>
              <a:ea typeface="Caveat"/>
              <a:cs typeface="Caveat"/>
              <a:sym typeface="Caveat"/>
            </a:endParaRPr>
          </a:p>
        </p:txBody>
      </p:sp>
      <p:sp>
        <p:nvSpPr>
          <p:cNvPr id="462" name="Google Shape;462;p51"/>
          <p:cNvSpPr txBox="1"/>
          <p:nvPr/>
        </p:nvSpPr>
        <p:spPr>
          <a:xfrm>
            <a:off x="311725" y="2012000"/>
            <a:ext cx="3855900" cy="246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solidFill>
                  <a:srgbClr val="6AA84F"/>
                </a:solidFill>
                <a:latin typeface="Caveat"/>
                <a:ea typeface="Caveat"/>
                <a:cs typeface="Caveat"/>
                <a:sym typeface="Caveat"/>
              </a:rPr>
              <a:t>PROS</a:t>
            </a:r>
            <a:endParaRPr sz="2000">
              <a:solidFill>
                <a:srgbClr val="6AA84F"/>
              </a:solidFill>
              <a:latin typeface="Caveat"/>
              <a:ea typeface="Caveat"/>
              <a:cs typeface="Caveat"/>
              <a:sym typeface="Caveat"/>
            </a:endParaRPr>
          </a:p>
          <a:p>
            <a:pPr marL="0" lvl="0" indent="0" algn="l" rtl="0">
              <a:spcBef>
                <a:spcPts val="0"/>
              </a:spcBef>
              <a:spcAft>
                <a:spcPts val="0"/>
              </a:spcAft>
              <a:buNone/>
            </a:pPr>
            <a:r>
              <a:rPr lang="en" sz="2000">
                <a:solidFill>
                  <a:srgbClr val="6AA84F"/>
                </a:solidFill>
                <a:latin typeface="Caveat"/>
                <a:ea typeface="Caveat"/>
                <a:cs typeface="Caveat"/>
                <a:sym typeface="Caveat"/>
              </a:rPr>
              <a:t>+ (SLIGHTLY) LESS CODE</a:t>
            </a:r>
            <a:endParaRPr sz="2000">
              <a:solidFill>
                <a:srgbClr val="6AA84F"/>
              </a:solidFill>
              <a:latin typeface="Caveat"/>
              <a:ea typeface="Caveat"/>
              <a:cs typeface="Caveat"/>
              <a:sym typeface="Caveat"/>
            </a:endParaRPr>
          </a:p>
          <a:p>
            <a:pPr marL="0" lvl="0" indent="0" algn="l" rtl="0">
              <a:spcBef>
                <a:spcPts val="0"/>
              </a:spcBef>
              <a:spcAft>
                <a:spcPts val="0"/>
              </a:spcAft>
              <a:buNone/>
            </a:pPr>
            <a:r>
              <a:rPr lang="en" sz="2000">
                <a:solidFill>
                  <a:srgbClr val="6AA84F"/>
                </a:solidFill>
                <a:latin typeface="Caveat"/>
                <a:ea typeface="Caveat"/>
                <a:cs typeface="Caveat"/>
                <a:sym typeface="Caveat"/>
              </a:rPr>
              <a:t>+ SUBCLASS "IS A" THREAD (?)</a:t>
            </a:r>
            <a:endParaRPr sz="2000">
              <a:solidFill>
                <a:srgbClr val="6AA84F"/>
              </a:solidFill>
              <a:latin typeface="Caveat"/>
              <a:ea typeface="Caveat"/>
              <a:cs typeface="Caveat"/>
              <a:sym typeface="Caveat"/>
            </a:endParaRPr>
          </a:p>
          <a:p>
            <a:pPr marL="0" lvl="0" indent="0" algn="ctr" rtl="0">
              <a:spcBef>
                <a:spcPts val="1000"/>
              </a:spcBef>
              <a:spcAft>
                <a:spcPts val="0"/>
              </a:spcAft>
              <a:buNone/>
            </a:pPr>
            <a:r>
              <a:rPr lang="en" sz="2000">
                <a:solidFill>
                  <a:srgbClr val="FF0000"/>
                </a:solidFill>
                <a:latin typeface="Caveat"/>
                <a:ea typeface="Caveat"/>
                <a:cs typeface="Caveat"/>
                <a:sym typeface="Caveat"/>
              </a:rPr>
              <a:t>CONS</a:t>
            </a:r>
            <a:endParaRPr sz="2000">
              <a:solidFill>
                <a:srgbClr val="FF0000"/>
              </a:solidFill>
              <a:latin typeface="Caveat"/>
              <a:ea typeface="Caveat"/>
              <a:cs typeface="Caveat"/>
              <a:sym typeface="Caveat"/>
            </a:endParaRPr>
          </a:p>
          <a:p>
            <a:pPr marL="0" lvl="0" indent="0" algn="l" rtl="0">
              <a:spcBef>
                <a:spcPts val="0"/>
              </a:spcBef>
              <a:spcAft>
                <a:spcPts val="0"/>
              </a:spcAft>
              <a:buNone/>
            </a:pPr>
            <a:r>
              <a:rPr lang="en" sz="2000">
                <a:solidFill>
                  <a:srgbClr val="FF0000"/>
                </a:solidFill>
                <a:latin typeface="Caveat"/>
                <a:ea typeface="Caveat"/>
                <a:cs typeface="Caveat"/>
                <a:sym typeface="Caveat"/>
              </a:rPr>
              <a:t>- SINGLE INHERITANCE</a:t>
            </a:r>
            <a:endParaRPr sz="2000">
              <a:solidFill>
                <a:srgbClr val="FF0000"/>
              </a:solidFill>
              <a:latin typeface="Caveat"/>
              <a:ea typeface="Caveat"/>
              <a:cs typeface="Caveat"/>
              <a:sym typeface="Caveat"/>
            </a:endParaRPr>
          </a:p>
          <a:p>
            <a:pPr marL="0" lvl="0" indent="0" algn="l" rtl="0">
              <a:spcBef>
                <a:spcPts val="0"/>
              </a:spcBef>
              <a:spcAft>
                <a:spcPts val="0"/>
              </a:spcAft>
              <a:buNone/>
            </a:pPr>
            <a:r>
              <a:rPr lang="en" sz="2000">
                <a:solidFill>
                  <a:srgbClr val="FF0000"/>
                </a:solidFill>
                <a:latin typeface="Caveat"/>
                <a:ea typeface="Caveat"/>
                <a:cs typeface="Caveat"/>
                <a:sym typeface="Caveat"/>
              </a:rPr>
              <a:t>- RUN METHOD IS OPTIONAL</a:t>
            </a:r>
            <a:endParaRPr sz="2000">
              <a:solidFill>
                <a:srgbClr val="FF0000"/>
              </a:solidFill>
              <a:latin typeface="Caveat"/>
              <a:ea typeface="Caveat"/>
              <a:cs typeface="Caveat"/>
              <a:sym typeface="Caveat"/>
            </a:endParaRPr>
          </a:p>
          <a:p>
            <a:pPr marL="0" lvl="0" indent="0" algn="l" rtl="0">
              <a:spcBef>
                <a:spcPts val="0"/>
              </a:spcBef>
              <a:spcAft>
                <a:spcPts val="0"/>
              </a:spcAft>
              <a:buNone/>
            </a:pPr>
            <a:r>
              <a:rPr lang="en" sz="2000">
                <a:solidFill>
                  <a:srgbClr val="FF0000"/>
                </a:solidFill>
                <a:latin typeface="Caveat"/>
                <a:ea typeface="Caveat"/>
                <a:cs typeface="Caveat"/>
                <a:sym typeface="Caveat"/>
              </a:rPr>
              <a:t>- CANNOT BE RESTARTED</a:t>
            </a:r>
            <a:endParaRPr sz="2000">
              <a:solidFill>
                <a:srgbClr val="FF0000"/>
              </a:solidFill>
              <a:latin typeface="Caveat"/>
              <a:ea typeface="Caveat"/>
              <a:cs typeface="Caveat"/>
              <a:sym typeface="Caveat"/>
            </a:endParaRPr>
          </a:p>
        </p:txBody>
      </p:sp>
      <p:sp>
        <p:nvSpPr>
          <p:cNvPr id="463" name="Google Shape;463;p51"/>
          <p:cNvSpPr txBox="1"/>
          <p:nvPr/>
        </p:nvSpPr>
        <p:spPr>
          <a:xfrm>
            <a:off x="4899775" y="2012000"/>
            <a:ext cx="3855900" cy="246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dirty="0">
                <a:solidFill>
                  <a:srgbClr val="6AA84F"/>
                </a:solidFill>
                <a:latin typeface="Caveat"/>
                <a:ea typeface="Caveat"/>
                <a:cs typeface="Caveat"/>
                <a:sym typeface="Caveat"/>
              </a:rPr>
              <a:t>PROS</a:t>
            </a:r>
            <a:endParaRPr sz="2000" dirty="0">
              <a:solidFill>
                <a:srgbClr val="6AA84F"/>
              </a:solidFill>
              <a:latin typeface="Caveat"/>
              <a:ea typeface="Caveat"/>
              <a:cs typeface="Caveat"/>
              <a:sym typeface="Caveat"/>
            </a:endParaRPr>
          </a:p>
          <a:p>
            <a:pPr marL="0" lvl="0" indent="0" algn="l" rtl="0">
              <a:spcBef>
                <a:spcPts val="0"/>
              </a:spcBef>
              <a:spcAft>
                <a:spcPts val="0"/>
              </a:spcAft>
              <a:buNone/>
            </a:pPr>
            <a:r>
              <a:rPr lang="en" sz="2000" dirty="0">
                <a:solidFill>
                  <a:srgbClr val="6AA84F"/>
                </a:solidFill>
                <a:latin typeface="Caveat"/>
                <a:ea typeface="Caveat"/>
                <a:cs typeface="Caveat"/>
                <a:sym typeface="Caveat"/>
              </a:rPr>
              <a:t>+ MULTIPLE INHERITANCE</a:t>
            </a:r>
            <a:endParaRPr sz="2000" dirty="0">
              <a:solidFill>
                <a:srgbClr val="6AA84F"/>
              </a:solidFill>
              <a:latin typeface="Caveat"/>
              <a:ea typeface="Caveat"/>
              <a:cs typeface="Caveat"/>
              <a:sym typeface="Caveat"/>
            </a:endParaRPr>
          </a:p>
          <a:p>
            <a:pPr marL="0" lvl="0" indent="0" algn="l" rtl="0">
              <a:spcBef>
                <a:spcPts val="0"/>
              </a:spcBef>
              <a:spcAft>
                <a:spcPts val="0"/>
              </a:spcAft>
              <a:buNone/>
            </a:pPr>
            <a:r>
              <a:rPr lang="en" sz="2000" dirty="0">
                <a:solidFill>
                  <a:srgbClr val="6AA84F"/>
                </a:solidFill>
                <a:latin typeface="Caveat"/>
                <a:ea typeface="Caveat"/>
                <a:cs typeface="Caveat"/>
                <a:sym typeface="Caveat"/>
              </a:rPr>
              <a:t>+ </a:t>
            </a:r>
            <a:r>
              <a:rPr lang="en" sz="2000" u="sng" dirty="0">
                <a:solidFill>
                  <a:srgbClr val="6AA84F"/>
                </a:solidFill>
                <a:latin typeface="Caveat"/>
                <a:ea typeface="Caveat"/>
                <a:cs typeface="Caveat"/>
                <a:sym typeface="Caveat"/>
              </a:rPr>
              <a:t>MUST</a:t>
            </a:r>
            <a:r>
              <a:rPr lang="en" sz="2000" dirty="0">
                <a:solidFill>
                  <a:srgbClr val="6AA84F"/>
                </a:solidFill>
                <a:latin typeface="Caveat"/>
                <a:ea typeface="Caveat"/>
                <a:cs typeface="Caveat"/>
                <a:sym typeface="Caveat"/>
              </a:rPr>
              <a:t> OVERRIDE RUN</a:t>
            </a:r>
            <a:endParaRPr sz="2000" dirty="0">
              <a:solidFill>
                <a:srgbClr val="6AA84F"/>
              </a:solidFill>
              <a:latin typeface="Caveat"/>
              <a:ea typeface="Caveat"/>
              <a:cs typeface="Caveat"/>
              <a:sym typeface="Caveat"/>
            </a:endParaRPr>
          </a:p>
          <a:p>
            <a:pPr marL="0" lvl="0" indent="0" algn="l" rtl="0">
              <a:spcBef>
                <a:spcPts val="0"/>
              </a:spcBef>
              <a:spcAft>
                <a:spcPts val="0"/>
              </a:spcAft>
              <a:buNone/>
            </a:pPr>
            <a:r>
              <a:rPr lang="en" sz="2000" dirty="0">
                <a:solidFill>
                  <a:srgbClr val="6AA84F"/>
                </a:solidFill>
                <a:latin typeface="Caveat"/>
                <a:ea typeface="Caveat"/>
                <a:cs typeface="Caveat"/>
                <a:sym typeface="Caveat"/>
              </a:rPr>
              <a:t>+ CAN BE RESTARTED (NEW THREAD)</a:t>
            </a:r>
            <a:endParaRPr sz="2000" dirty="0">
              <a:solidFill>
                <a:srgbClr val="6AA84F"/>
              </a:solidFill>
              <a:latin typeface="Caveat"/>
              <a:ea typeface="Caveat"/>
              <a:cs typeface="Caveat"/>
              <a:sym typeface="Caveat"/>
            </a:endParaRPr>
          </a:p>
          <a:p>
            <a:pPr marL="0" lvl="0" indent="0" algn="l" rtl="0">
              <a:spcBef>
                <a:spcPts val="0"/>
              </a:spcBef>
              <a:spcAft>
                <a:spcPts val="0"/>
              </a:spcAft>
              <a:buNone/>
            </a:pPr>
            <a:r>
              <a:rPr lang="en" sz="2000" dirty="0">
                <a:solidFill>
                  <a:srgbClr val="6AA84F"/>
                </a:solidFill>
                <a:latin typeface="Caveat"/>
                <a:ea typeface="Caveat"/>
                <a:cs typeface="Caveat"/>
                <a:sym typeface="Caveat"/>
              </a:rPr>
              <a:t>+ CLASS "ISN'T A" THREAD (?)</a:t>
            </a:r>
            <a:endParaRPr sz="2000" dirty="0">
              <a:solidFill>
                <a:srgbClr val="6AA84F"/>
              </a:solidFill>
              <a:latin typeface="Caveat"/>
              <a:ea typeface="Caveat"/>
              <a:cs typeface="Caveat"/>
              <a:sym typeface="Caveat"/>
            </a:endParaRPr>
          </a:p>
          <a:p>
            <a:pPr marL="0" lvl="0" indent="0" algn="ctr" rtl="0">
              <a:spcBef>
                <a:spcPts val="1000"/>
              </a:spcBef>
              <a:spcAft>
                <a:spcPts val="0"/>
              </a:spcAft>
              <a:buNone/>
            </a:pPr>
            <a:r>
              <a:rPr lang="en" sz="2000" dirty="0">
                <a:solidFill>
                  <a:srgbClr val="FF0000"/>
                </a:solidFill>
                <a:latin typeface="Caveat"/>
                <a:ea typeface="Caveat"/>
                <a:cs typeface="Caveat"/>
                <a:sym typeface="Caveat"/>
              </a:rPr>
              <a:t>CONS</a:t>
            </a:r>
            <a:endParaRPr sz="2000" dirty="0">
              <a:solidFill>
                <a:srgbClr val="FF0000"/>
              </a:solidFill>
              <a:latin typeface="Caveat"/>
              <a:ea typeface="Caveat"/>
              <a:cs typeface="Caveat"/>
              <a:sym typeface="Caveat"/>
            </a:endParaRPr>
          </a:p>
          <a:p>
            <a:pPr marL="0" lvl="0" indent="0" algn="l" rtl="0">
              <a:spcBef>
                <a:spcPts val="0"/>
              </a:spcBef>
              <a:spcAft>
                <a:spcPts val="0"/>
              </a:spcAft>
              <a:buNone/>
            </a:pPr>
            <a:r>
              <a:rPr lang="en" sz="2000" dirty="0">
                <a:solidFill>
                  <a:srgbClr val="FF0000"/>
                </a:solidFill>
                <a:latin typeface="Caveat"/>
                <a:ea typeface="Caveat"/>
                <a:cs typeface="Caveat"/>
                <a:sym typeface="Caveat"/>
              </a:rPr>
              <a:t>- (SLIGHTLY) MORE CODE</a:t>
            </a:r>
            <a:endParaRPr sz="2000" dirty="0">
              <a:solidFill>
                <a:srgbClr val="FF0000"/>
              </a:solidFill>
              <a:latin typeface="Caveat"/>
              <a:ea typeface="Caveat"/>
              <a:cs typeface="Caveat"/>
              <a:sym typeface="Cavea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2">
                                            <p:txEl>
                                              <p:pRg st="0" end="0"/>
                                            </p:txEl>
                                          </p:spTgt>
                                        </p:tgtEl>
                                        <p:attrNameLst>
                                          <p:attrName>style.visibility</p:attrName>
                                        </p:attrNameLst>
                                      </p:cBhvr>
                                      <p:to>
                                        <p:strVal val="visible"/>
                                      </p:to>
                                    </p:set>
                                    <p:animEffect transition="in" filter="fade">
                                      <p:cBhvr>
                                        <p:cTn id="7" dur="1000"/>
                                        <p:tgtEl>
                                          <p:spTgt spid="4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2">
                                            <p:txEl>
                                              <p:pRg st="1" end="1"/>
                                            </p:txEl>
                                          </p:spTgt>
                                        </p:tgtEl>
                                        <p:attrNameLst>
                                          <p:attrName>style.visibility</p:attrName>
                                        </p:attrNameLst>
                                      </p:cBhvr>
                                      <p:to>
                                        <p:strVal val="visible"/>
                                      </p:to>
                                    </p:set>
                                    <p:animEffect transition="in" filter="fade">
                                      <p:cBhvr>
                                        <p:cTn id="12" dur="1000"/>
                                        <p:tgtEl>
                                          <p:spTgt spid="4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2">
                                            <p:txEl>
                                              <p:pRg st="2" end="2"/>
                                            </p:txEl>
                                          </p:spTgt>
                                        </p:tgtEl>
                                        <p:attrNameLst>
                                          <p:attrName>style.visibility</p:attrName>
                                        </p:attrNameLst>
                                      </p:cBhvr>
                                      <p:to>
                                        <p:strVal val="visible"/>
                                      </p:to>
                                    </p:set>
                                    <p:animEffect transition="in" filter="fade">
                                      <p:cBhvr>
                                        <p:cTn id="17" dur="1000"/>
                                        <p:tgtEl>
                                          <p:spTgt spid="46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62">
                                            <p:txEl>
                                              <p:pRg st="3" end="3"/>
                                            </p:txEl>
                                          </p:spTgt>
                                        </p:tgtEl>
                                        <p:attrNameLst>
                                          <p:attrName>style.visibility</p:attrName>
                                        </p:attrNameLst>
                                      </p:cBhvr>
                                      <p:to>
                                        <p:strVal val="visible"/>
                                      </p:to>
                                    </p:set>
                                    <p:animEffect transition="in" filter="fade">
                                      <p:cBhvr>
                                        <p:cTn id="22" dur="1000"/>
                                        <p:tgtEl>
                                          <p:spTgt spid="46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62">
                                            <p:txEl>
                                              <p:pRg st="4" end="4"/>
                                            </p:txEl>
                                          </p:spTgt>
                                        </p:tgtEl>
                                        <p:attrNameLst>
                                          <p:attrName>style.visibility</p:attrName>
                                        </p:attrNameLst>
                                      </p:cBhvr>
                                      <p:to>
                                        <p:strVal val="visible"/>
                                      </p:to>
                                    </p:set>
                                    <p:animEffect transition="in" filter="fade">
                                      <p:cBhvr>
                                        <p:cTn id="27" dur="1000"/>
                                        <p:tgtEl>
                                          <p:spTgt spid="46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62">
                                            <p:txEl>
                                              <p:pRg st="5" end="5"/>
                                            </p:txEl>
                                          </p:spTgt>
                                        </p:tgtEl>
                                        <p:attrNameLst>
                                          <p:attrName>style.visibility</p:attrName>
                                        </p:attrNameLst>
                                      </p:cBhvr>
                                      <p:to>
                                        <p:strVal val="visible"/>
                                      </p:to>
                                    </p:set>
                                    <p:animEffect transition="in" filter="fade">
                                      <p:cBhvr>
                                        <p:cTn id="32" dur="1000"/>
                                        <p:tgtEl>
                                          <p:spTgt spid="46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62">
                                            <p:txEl>
                                              <p:pRg st="6" end="6"/>
                                            </p:txEl>
                                          </p:spTgt>
                                        </p:tgtEl>
                                        <p:attrNameLst>
                                          <p:attrName>style.visibility</p:attrName>
                                        </p:attrNameLst>
                                      </p:cBhvr>
                                      <p:to>
                                        <p:strVal val="visible"/>
                                      </p:to>
                                    </p:set>
                                    <p:animEffect transition="in" filter="fade">
                                      <p:cBhvr>
                                        <p:cTn id="37" dur="1000"/>
                                        <p:tgtEl>
                                          <p:spTgt spid="46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63">
                                            <p:txEl>
                                              <p:pRg st="0" end="0"/>
                                            </p:txEl>
                                          </p:spTgt>
                                        </p:tgtEl>
                                        <p:attrNameLst>
                                          <p:attrName>style.visibility</p:attrName>
                                        </p:attrNameLst>
                                      </p:cBhvr>
                                      <p:to>
                                        <p:strVal val="visible"/>
                                      </p:to>
                                    </p:set>
                                    <p:animEffect transition="in" filter="fade">
                                      <p:cBhvr>
                                        <p:cTn id="42" dur="1000"/>
                                        <p:tgtEl>
                                          <p:spTgt spid="463">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63">
                                            <p:txEl>
                                              <p:pRg st="1" end="1"/>
                                            </p:txEl>
                                          </p:spTgt>
                                        </p:tgtEl>
                                        <p:attrNameLst>
                                          <p:attrName>style.visibility</p:attrName>
                                        </p:attrNameLst>
                                      </p:cBhvr>
                                      <p:to>
                                        <p:strVal val="visible"/>
                                      </p:to>
                                    </p:set>
                                    <p:animEffect transition="in" filter="fade">
                                      <p:cBhvr>
                                        <p:cTn id="47" dur="1000"/>
                                        <p:tgtEl>
                                          <p:spTgt spid="463">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63">
                                            <p:txEl>
                                              <p:pRg st="2" end="2"/>
                                            </p:txEl>
                                          </p:spTgt>
                                        </p:tgtEl>
                                        <p:attrNameLst>
                                          <p:attrName>style.visibility</p:attrName>
                                        </p:attrNameLst>
                                      </p:cBhvr>
                                      <p:to>
                                        <p:strVal val="visible"/>
                                      </p:to>
                                    </p:set>
                                    <p:animEffect transition="in" filter="fade">
                                      <p:cBhvr>
                                        <p:cTn id="52" dur="1000"/>
                                        <p:tgtEl>
                                          <p:spTgt spid="463">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63">
                                            <p:txEl>
                                              <p:pRg st="3" end="3"/>
                                            </p:txEl>
                                          </p:spTgt>
                                        </p:tgtEl>
                                        <p:attrNameLst>
                                          <p:attrName>style.visibility</p:attrName>
                                        </p:attrNameLst>
                                      </p:cBhvr>
                                      <p:to>
                                        <p:strVal val="visible"/>
                                      </p:to>
                                    </p:set>
                                    <p:animEffect transition="in" filter="fade">
                                      <p:cBhvr>
                                        <p:cTn id="57" dur="1000"/>
                                        <p:tgtEl>
                                          <p:spTgt spid="463">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63">
                                            <p:txEl>
                                              <p:pRg st="4" end="4"/>
                                            </p:txEl>
                                          </p:spTgt>
                                        </p:tgtEl>
                                        <p:attrNameLst>
                                          <p:attrName>style.visibility</p:attrName>
                                        </p:attrNameLst>
                                      </p:cBhvr>
                                      <p:to>
                                        <p:strVal val="visible"/>
                                      </p:to>
                                    </p:set>
                                    <p:animEffect transition="in" filter="fade">
                                      <p:cBhvr>
                                        <p:cTn id="62" dur="1000"/>
                                        <p:tgtEl>
                                          <p:spTgt spid="463">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63">
                                            <p:txEl>
                                              <p:pRg st="5" end="5"/>
                                            </p:txEl>
                                          </p:spTgt>
                                        </p:tgtEl>
                                        <p:attrNameLst>
                                          <p:attrName>style.visibility</p:attrName>
                                        </p:attrNameLst>
                                      </p:cBhvr>
                                      <p:to>
                                        <p:strVal val="visible"/>
                                      </p:to>
                                    </p:set>
                                    <p:animEffect transition="in" filter="fade">
                                      <p:cBhvr>
                                        <p:cTn id="67" dur="1000"/>
                                        <p:tgtEl>
                                          <p:spTgt spid="463">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63">
                                            <p:txEl>
                                              <p:pRg st="6" end="6"/>
                                            </p:txEl>
                                          </p:spTgt>
                                        </p:tgtEl>
                                        <p:attrNameLst>
                                          <p:attrName>style.visibility</p:attrName>
                                        </p:attrNameLst>
                                      </p:cBhvr>
                                      <p:to>
                                        <p:strVal val="visible"/>
                                      </p:to>
                                    </p:set>
                                    <p:animEffect transition="in" filter="fade">
                                      <p:cBhvr>
                                        <p:cTn id="72" dur="1000"/>
                                        <p:tgtEl>
                                          <p:spTgt spid="4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latin typeface="Courier New"/>
                <a:ea typeface="Courier New"/>
                <a:cs typeface="Courier New"/>
                <a:sym typeface="Courier New"/>
              </a:rPr>
              <a:t>LambdaRace</a:t>
            </a:r>
            <a:endParaRPr>
              <a:latin typeface="Courier New"/>
              <a:ea typeface="Courier New"/>
              <a:cs typeface="Courier New"/>
              <a:sym typeface="Courier New"/>
            </a:endParaRPr>
          </a:p>
        </p:txBody>
      </p:sp>
      <p:sp>
        <p:nvSpPr>
          <p:cNvPr id="469" name="Google Shape;469;p52"/>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highlight>
                  <a:srgbClr val="FFFF00"/>
                </a:highlight>
              </a:rPr>
              <a:t>The Runnable interface only defines a single method</a:t>
            </a:r>
            <a:r>
              <a:rPr lang="en" dirty="0"/>
              <a:t>. Hey! That means that its a </a:t>
            </a:r>
            <a:r>
              <a:rPr lang="en" i="1" dirty="0">
                <a:highlight>
                  <a:srgbClr val="FFFF00"/>
                </a:highlight>
              </a:rPr>
              <a:t>functional interface</a:t>
            </a:r>
            <a:r>
              <a:rPr lang="en" dirty="0">
                <a:highlight>
                  <a:srgbClr val="FFFF00"/>
                </a:highlight>
              </a:rPr>
              <a:t> and can be implemented using a lambda! </a:t>
            </a:r>
            <a:r>
              <a:rPr lang="en" dirty="0"/>
              <a:t>Let's create one final race using lambdas. We already have the racers so this should be fast. </a:t>
            </a:r>
            <a:endParaRPr dirty="0"/>
          </a:p>
        </p:txBody>
      </p:sp>
      <p:sp>
        <p:nvSpPr>
          <p:cNvPr id="470" name="Google Shape;470;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471" name="Google Shape;471;p52"/>
          <p:cNvSpPr txBox="1">
            <a:spLocks noGrp="1"/>
          </p:cNvSpPr>
          <p:nvPr>
            <p:ph type="body" idx="2"/>
          </p:nvPr>
        </p:nvSpPr>
        <p:spPr>
          <a:xfrm>
            <a:off x="3480725" y="1814150"/>
            <a:ext cx="5460000" cy="2278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In the </a:t>
            </a:r>
            <a:r>
              <a:rPr lang="en" dirty="0">
                <a:solidFill>
                  <a:srgbClr val="FF0000"/>
                </a:solidFill>
                <a:latin typeface="Courier New"/>
                <a:ea typeface="Courier New"/>
                <a:cs typeface="Courier New"/>
                <a:sym typeface="Courier New"/>
              </a:rPr>
              <a:t>racing</a:t>
            </a:r>
            <a:r>
              <a:rPr lang="en" dirty="0"/>
              <a:t> package</a:t>
            </a:r>
            <a:endParaRPr dirty="0"/>
          </a:p>
          <a:p>
            <a:pPr marL="457200" lvl="0" indent="-311150" algn="l" rtl="0">
              <a:spcBef>
                <a:spcPts val="1000"/>
              </a:spcBef>
              <a:spcAft>
                <a:spcPts val="0"/>
              </a:spcAft>
              <a:buSzPts val="1300"/>
              <a:buChar char="●"/>
            </a:pPr>
            <a:r>
              <a:rPr lang="en" dirty="0"/>
              <a:t>Make a copy of either your </a:t>
            </a:r>
            <a:r>
              <a:rPr lang="en" dirty="0">
                <a:latin typeface="Courier New"/>
                <a:ea typeface="Courier New"/>
                <a:cs typeface="Courier New"/>
                <a:sym typeface="Courier New"/>
              </a:rPr>
              <a:t>Race.java</a:t>
            </a:r>
            <a:r>
              <a:rPr lang="en" dirty="0"/>
              <a:t> or </a:t>
            </a:r>
            <a:r>
              <a:rPr lang="en" dirty="0">
                <a:latin typeface="Courier New"/>
                <a:ea typeface="Courier New"/>
                <a:cs typeface="Courier New"/>
                <a:sym typeface="Courier New"/>
              </a:rPr>
              <a:t>RunnableRacer.java</a:t>
            </a:r>
            <a:r>
              <a:rPr lang="en" dirty="0"/>
              <a:t> to a new class named </a:t>
            </a:r>
            <a:r>
              <a:rPr lang="en" dirty="0">
                <a:solidFill>
                  <a:srgbClr val="FF0000"/>
                </a:solidFill>
                <a:latin typeface="Courier New"/>
                <a:ea typeface="Courier New"/>
                <a:cs typeface="Courier New"/>
                <a:sym typeface="Courier New"/>
              </a:rPr>
              <a:t>LambdaRace</a:t>
            </a:r>
            <a:r>
              <a:rPr lang="en" dirty="0"/>
              <a:t>.</a:t>
            </a:r>
            <a:endParaRPr dirty="0"/>
          </a:p>
          <a:p>
            <a:pPr marL="457200" lvl="0" indent="-311150" algn="l" rtl="0">
              <a:spcBef>
                <a:spcPts val="1000"/>
              </a:spcBef>
              <a:spcAft>
                <a:spcPts val="0"/>
              </a:spcAft>
              <a:buSzPts val="1300"/>
              <a:buChar char="●"/>
            </a:pPr>
            <a:r>
              <a:rPr lang="en" dirty="0"/>
              <a:t>Modify the new class to use lambdas instead of the runnable interface.</a:t>
            </a:r>
            <a:endParaRPr dirty="0"/>
          </a:p>
          <a:p>
            <a:pPr marL="457200" lvl="0" indent="-311150" algn="l" rtl="0">
              <a:spcBef>
                <a:spcPts val="1000"/>
              </a:spcBef>
              <a:spcAft>
                <a:spcPts val="0"/>
              </a:spcAft>
              <a:buSzPts val="1300"/>
              <a:buChar char="●"/>
            </a:pPr>
            <a:r>
              <a:rPr lang="en" dirty="0"/>
              <a:t>You can use the example on the left as a guide.</a:t>
            </a:r>
            <a:endParaRPr dirty="0"/>
          </a:p>
          <a:p>
            <a:pPr marL="457200" lvl="0" indent="-311150" algn="l" rtl="0">
              <a:spcBef>
                <a:spcPts val="1000"/>
              </a:spcBef>
              <a:spcAft>
                <a:spcPts val="1000"/>
              </a:spcAft>
              <a:buSzPts val="1300"/>
              <a:buChar char="●"/>
            </a:pPr>
            <a:r>
              <a:rPr lang="en" dirty="0"/>
              <a:t>Run the class and verify everything works.</a:t>
            </a:r>
            <a:endParaRPr dirty="0"/>
          </a:p>
        </p:txBody>
      </p:sp>
      <p:sp>
        <p:nvSpPr>
          <p:cNvPr id="472" name="Google Shape;472;p5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8.8</a:t>
            </a:r>
            <a:endParaRPr/>
          </a:p>
        </p:txBody>
      </p:sp>
      <p:sp>
        <p:nvSpPr>
          <p:cNvPr id="473" name="Google Shape;473;p52"/>
          <p:cNvSpPr/>
          <p:nvPr/>
        </p:nvSpPr>
        <p:spPr>
          <a:xfrm>
            <a:off x="143825" y="1731012"/>
            <a:ext cx="3043200" cy="2886000"/>
          </a:xfrm>
          <a:prstGeom prst="rect">
            <a:avLst/>
          </a:prstGeom>
          <a:solidFill>
            <a:srgbClr val="FFFFFF"/>
          </a:solidFill>
          <a:ln w="19050" cap="flat" cmpd="sng">
            <a:solidFill>
              <a:schemeClr val="accent1"/>
            </a:solidFill>
            <a:prstDash val="solid"/>
            <a:miter lim="800000"/>
            <a:headEnd type="none" w="sm" len="sm"/>
            <a:tailEnd type="none" w="sm" len="sm"/>
          </a:ln>
        </p:spPr>
        <p:txBody>
          <a:bodyPr spcFirstLastPara="1" wrap="square" lIns="91425" tIns="91425" rIns="68575" bIns="91425" anchor="t" anchorCtr="0">
            <a:no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LambdaExample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id</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solidFill>
                  <a:srgbClr val="008000"/>
                </a:solidFill>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LambdaExample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id</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id</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id</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spcBef>
                <a:spcPts val="0"/>
              </a:spcBef>
              <a:spcAft>
                <a:spcPts val="0"/>
              </a:spcAft>
              <a:buNone/>
            </a:pPr>
            <a:r>
              <a:rPr lang="en" sz="900">
                <a:solidFill>
                  <a:srgbClr val="008000"/>
                </a:solidFill>
                <a:latin typeface="Consolas"/>
                <a:ea typeface="Consolas"/>
                <a:cs typeface="Consolas"/>
                <a:sym typeface="Consolas"/>
              </a:rPr>
              <a:t>  </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doStuff</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System</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out</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println</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id</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  </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static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main</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args</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LambdaExample </a:t>
            </a:r>
            <a:r>
              <a:rPr lang="en" sz="900">
                <a:solidFill>
                  <a:srgbClr val="001080"/>
                </a:solidFill>
                <a:latin typeface="Consolas"/>
                <a:ea typeface="Consolas"/>
                <a:cs typeface="Consolas"/>
                <a:sym typeface="Consolas"/>
              </a:rPr>
              <a:t>example</a:t>
            </a: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new</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LambdaExample</a:t>
            </a:r>
            <a:r>
              <a:rPr lang="en" sz="900">
                <a:latin typeface="Consolas"/>
                <a:ea typeface="Consolas"/>
                <a:cs typeface="Consolas"/>
                <a:sym typeface="Consolas"/>
              </a:rPr>
              <a:t>(</a:t>
            </a: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spcBef>
                <a:spcPts val="0"/>
              </a:spcBef>
              <a:spcAft>
                <a:spcPts val="0"/>
              </a:spcAft>
              <a:buNone/>
            </a:pPr>
            <a:r>
              <a:rPr lang="en" sz="900">
                <a:solidFill>
                  <a:srgbClr val="008000"/>
                </a:solidFill>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Thread</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exampleThread</a:t>
            </a: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new</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Thread</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example::doStuff</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exampleThread</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start</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solidFill>
                <a:schemeClr val="dk1"/>
              </a:solidFill>
              <a:latin typeface="Consolas"/>
              <a:ea typeface="Consolas"/>
              <a:cs typeface="Consolas"/>
              <a:sym typeface="Consolas"/>
            </a:endParaRPr>
          </a:p>
        </p:txBody>
      </p:sp>
      <p:sp>
        <p:nvSpPr>
          <p:cNvPr id="474" name="Google Shape;474;p52"/>
          <p:cNvSpPr txBox="1">
            <a:spLocks noGrp="1"/>
          </p:cNvSpPr>
          <p:nvPr>
            <p:ph type="body" idx="4"/>
          </p:nvPr>
        </p:nvSpPr>
        <p:spPr>
          <a:xfrm>
            <a:off x="143825" y="4687525"/>
            <a:ext cx="3043200" cy="369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Method reference example.</a:t>
            </a:r>
            <a:endParaRPr/>
          </a:p>
        </p:txBody>
      </p:sp>
      <p:sp>
        <p:nvSpPr>
          <p:cNvPr id="475" name="Google Shape;475;p52"/>
          <p:cNvSpPr/>
          <p:nvPr/>
        </p:nvSpPr>
        <p:spPr>
          <a:xfrm>
            <a:off x="1673857" y="4012809"/>
            <a:ext cx="1030800" cy="160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476" name="Google Shape;476;p52"/>
          <p:cNvCxnSpPr>
            <a:stCxn id="474" idx="3"/>
            <a:endCxn id="475" idx="2"/>
          </p:cNvCxnSpPr>
          <p:nvPr/>
        </p:nvCxnSpPr>
        <p:spPr>
          <a:xfrm rot="10800000">
            <a:off x="2189225" y="4173475"/>
            <a:ext cx="997800" cy="698700"/>
          </a:xfrm>
          <a:prstGeom prst="bentConnector4">
            <a:avLst>
              <a:gd name="adj1" fmla="val -23865"/>
              <a:gd name="adj2" fmla="val 63204"/>
            </a:avLst>
          </a:prstGeom>
          <a:noFill/>
          <a:ln w="19050" cap="flat" cmpd="sng">
            <a:solidFill>
              <a:srgbClr val="FF0000"/>
            </a:solidFill>
            <a:prstDash val="solid"/>
            <a:round/>
            <a:headEnd type="none" w="med" len="med"/>
            <a:tailEnd type="non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53"/>
          <p:cNvSpPr txBox="1">
            <a:spLocks noGrp="1"/>
          </p:cNvSpPr>
          <p:nvPr>
            <p:ph type="title"/>
          </p:nvPr>
        </p:nvSpPr>
        <p:spPr>
          <a:xfrm>
            <a:off x="1436850" y="100"/>
            <a:ext cx="7642500" cy="5967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0"/>
              </a:spcBef>
              <a:spcAft>
                <a:spcPts val="0"/>
              </a:spcAft>
              <a:buClr>
                <a:schemeClr val="dk2"/>
              </a:buClr>
              <a:buSzPts val="3300"/>
              <a:buFont typeface="Calibri"/>
              <a:buNone/>
            </a:pPr>
            <a:r>
              <a:rPr lang="en"/>
              <a:t>Lots of Racers</a:t>
            </a:r>
            <a:endParaRPr/>
          </a:p>
        </p:txBody>
      </p:sp>
      <p:sp>
        <p:nvSpPr>
          <p:cNvPr id="482" name="Google Shape;482;p53"/>
          <p:cNvSpPr txBox="1">
            <a:spLocks noGrp="1"/>
          </p:cNvSpPr>
          <p:nvPr>
            <p:ph type="body" idx="1"/>
          </p:nvPr>
        </p:nvSpPr>
        <p:spPr>
          <a:xfrm>
            <a:off x="65250" y="731625"/>
            <a:ext cx="8955900" cy="512400"/>
          </a:xfrm>
          <a:prstGeom prst="rect">
            <a:avLst/>
          </a:prstGeom>
          <a:noFill/>
          <a:ln>
            <a:noFill/>
          </a:ln>
        </p:spPr>
        <p:txBody>
          <a:bodyPr spcFirstLastPara="1" wrap="square" lIns="68575" tIns="34275" rIns="68575" bIns="34275" anchor="t" anchorCtr="0">
            <a:spAutoFit/>
          </a:bodyPr>
          <a:lstStyle/>
          <a:p>
            <a:pPr marL="0" lvl="0" indent="0" algn="l" rtl="0">
              <a:lnSpc>
                <a:spcPct val="90000"/>
              </a:lnSpc>
              <a:spcBef>
                <a:spcPts val="0"/>
              </a:spcBef>
              <a:spcAft>
                <a:spcPts val="1600"/>
              </a:spcAft>
              <a:buClr>
                <a:schemeClr val="dk1"/>
              </a:buClr>
              <a:buSzPts val="1800"/>
              <a:buNone/>
            </a:pPr>
            <a:r>
              <a:rPr lang="en" dirty="0"/>
              <a:t>Up until this point, we've only run a few racers at a time. What would happen if we tried running lots of threads all at the same time? Let's try it out!</a:t>
            </a:r>
            <a:endParaRPr dirty="0"/>
          </a:p>
        </p:txBody>
      </p:sp>
      <p:sp>
        <p:nvSpPr>
          <p:cNvPr id="483" name="Google Shape;483;p53"/>
          <p:cNvSpPr txBox="1">
            <a:spLocks noGrp="1"/>
          </p:cNvSpPr>
          <p:nvPr>
            <p:ph type="body" idx="2"/>
          </p:nvPr>
        </p:nvSpPr>
        <p:spPr>
          <a:xfrm>
            <a:off x="2871050" y="1435525"/>
            <a:ext cx="6032100" cy="3708000"/>
          </a:xfrm>
          <a:prstGeom prst="rect">
            <a:avLst/>
          </a:prstGeom>
          <a:noFill/>
          <a:ln>
            <a:noFill/>
          </a:ln>
        </p:spPr>
        <p:txBody>
          <a:bodyPr spcFirstLastPara="1" wrap="square" lIns="68575" tIns="34275" rIns="68575" bIns="34275" anchor="t" anchorCtr="0">
            <a:noAutofit/>
          </a:bodyPr>
          <a:lstStyle/>
          <a:p>
            <a:pPr marL="457200" lvl="0" indent="-311150" algn="l" rtl="0">
              <a:lnSpc>
                <a:spcPct val="115000"/>
              </a:lnSpc>
              <a:spcBef>
                <a:spcPts val="0"/>
              </a:spcBef>
              <a:spcAft>
                <a:spcPts val="0"/>
              </a:spcAft>
              <a:buSzPts val="1300"/>
              <a:buChar char="●"/>
            </a:pPr>
            <a:r>
              <a:rPr lang="en" dirty="0"/>
              <a:t>In the </a:t>
            </a:r>
            <a:r>
              <a:rPr lang="en" dirty="0">
                <a:latin typeface="Courier New"/>
                <a:ea typeface="Courier New"/>
                <a:cs typeface="Courier New"/>
                <a:sym typeface="Courier New"/>
              </a:rPr>
              <a:t>racing</a:t>
            </a:r>
            <a:r>
              <a:rPr lang="en" dirty="0"/>
              <a:t> package, create a new class named </a:t>
            </a:r>
            <a:r>
              <a:rPr lang="en" dirty="0">
                <a:solidFill>
                  <a:srgbClr val="FF0000"/>
                </a:solidFill>
                <a:latin typeface="Courier New"/>
                <a:ea typeface="Courier New"/>
                <a:cs typeface="Courier New"/>
                <a:sym typeface="Courier New"/>
              </a:rPr>
              <a:t>LotsORacers</a:t>
            </a:r>
            <a:r>
              <a:rPr lang="en" dirty="0"/>
              <a:t>.</a:t>
            </a:r>
            <a:endParaRPr dirty="0"/>
          </a:p>
          <a:p>
            <a:pPr marL="457200" lvl="0" indent="-311150" algn="l" rtl="0">
              <a:lnSpc>
                <a:spcPct val="115000"/>
              </a:lnSpc>
              <a:spcBef>
                <a:spcPts val="0"/>
              </a:spcBef>
              <a:spcAft>
                <a:spcPts val="0"/>
              </a:spcAft>
              <a:buSzPts val="1300"/>
              <a:buChar char="●"/>
            </a:pPr>
            <a:r>
              <a:rPr lang="en" dirty="0"/>
              <a:t>Add constants for </a:t>
            </a:r>
            <a:r>
              <a:rPr lang="en" dirty="0">
                <a:latin typeface="Courier New"/>
                <a:ea typeface="Courier New"/>
                <a:cs typeface="Courier New"/>
                <a:sym typeface="Courier New"/>
              </a:rPr>
              <a:t>NUM_RACERS</a:t>
            </a:r>
            <a:r>
              <a:rPr lang="en" dirty="0"/>
              <a:t>, </a:t>
            </a:r>
            <a:r>
              <a:rPr lang="en" dirty="0">
                <a:latin typeface="Courier New"/>
                <a:ea typeface="Courier New"/>
                <a:cs typeface="Courier New"/>
                <a:sym typeface="Courier New"/>
              </a:rPr>
              <a:t>NUM_LAPS</a:t>
            </a:r>
            <a:r>
              <a:rPr lang="en" dirty="0"/>
              <a:t>, and </a:t>
            </a:r>
            <a:r>
              <a:rPr lang="en" dirty="0">
                <a:latin typeface="Courier New"/>
                <a:ea typeface="Courier New"/>
                <a:cs typeface="Courier New"/>
                <a:sym typeface="Courier New"/>
              </a:rPr>
              <a:t>DEBUG</a:t>
            </a:r>
            <a:r>
              <a:rPr lang="en" dirty="0"/>
              <a:t>.</a:t>
            </a:r>
            <a:endParaRPr dirty="0"/>
          </a:p>
          <a:p>
            <a:pPr marL="457200" lvl="0" indent="-311150" algn="l" rtl="0">
              <a:lnSpc>
                <a:spcPct val="115000"/>
              </a:lnSpc>
              <a:spcBef>
                <a:spcPts val="0"/>
              </a:spcBef>
              <a:spcAft>
                <a:spcPts val="0"/>
              </a:spcAft>
              <a:buSzPts val="1300"/>
              <a:buChar char="●"/>
            </a:pPr>
            <a:r>
              <a:rPr lang="en" dirty="0"/>
              <a:t>In </a:t>
            </a:r>
            <a:r>
              <a:rPr lang="en" dirty="0">
                <a:latin typeface="Courier New"/>
                <a:ea typeface="Courier New"/>
                <a:cs typeface="Courier New"/>
                <a:sym typeface="Courier New"/>
              </a:rPr>
              <a:t>main</a:t>
            </a:r>
            <a:r>
              <a:rPr lang="en" dirty="0"/>
              <a:t>, use a </a:t>
            </a:r>
            <a:r>
              <a:rPr lang="en" b="1" i="1" dirty="0">
                <a:solidFill>
                  <a:srgbClr val="FF0000"/>
                </a:solidFill>
              </a:rPr>
              <a:t>for loop</a:t>
            </a:r>
            <a:r>
              <a:rPr lang="en" dirty="0"/>
              <a:t> to create and start </a:t>
            </a:r>
            <a:r>
              <a:rPr lang="en" b="1" i="1" dirty="0">
                <a:solidFill>
                  <a:srgbClr val="FF0000"/>
                </a:solidFill>
              </a:rPr>
              <a:t>one million racers</a:t>
            </a:r>
            <a:r>
              <a:rPr lang="en" dirty="0"/>
              <a:t> each in their own thread.</a:t>
            </a:r>
            <a:endParaRPr dirty="0"/>
          </a:p>
          <a:p>
            <a:pPr marL="914400" lvl="1" indent="-298450" algn="l" rtl="0">
              <a:lnSpc>
                <a:spcPct val="115000"/>
              </a:lnSpc>
              <a:spcBef>
                <a:spcPts val="0"/>
              </a:spcBef>
              <a:spcAft>
                <a:spcPts val="0"/>
              </a:spcAft>
              <a:buSzPts val="1100"/>
              <a:buChar char="○"/>
            </a:pPr>
            <a:r>
              <a:rPr lang="en" dirty="0"/>
              <a:t>You can create and start each racer/thread at the </a:t>
            </a:r>
            <a:r>
              <a:rPr lang="en" b="1" i="1" dirty="0">
                <a:solidFill>
                  <a:srgbClr val="FF0000"/>
                </a:solidFill>
              </a:rPr>
              <a:t>same</a:t>
            </a:r>
            <a:r>
              <a:rPr lang="en" dirty="0"/>
              <a:t> time.</a:t>
            </a:r>
            <a:endParaRPr dirty="0"/>
          </a:p>
          <a:p>
            <a:pPr marL="914400" lvl="1" indent="-298450" algn="l" rtl="0">
              <a:lnSpc>
                <a:spcPct val="115000"/>
              </a:lnSpc>
              <a:spcBef>
                <a:spcPts val="0"/>
              </a:spcBef>
              <a:spcAft>
                <a:spcPts val="0"/>
              </a:spcAft>
              <a:buSzPts val="1100"/>
              <a:buChar char="○"/>
            </a:pPr>
            <a:r>
              <a:rPr lang="en" dirty="0"/>
              <a:t>Each racer should run for 10 laps.</a:t>
            </a:r>
            <a:endParaRPr dirty="0"/>
          </a:p>
          <a:p>
            <a:pPr marL="914400" lvl="1" indent="-298450" algn="l" rtl="0">
              <a:lnSpc>
                <a:spcPct val="115000"/>
              </a:lnSpc>
              <a:spcBef>
                <a:spcPts val="0"/>
              </a:spcBef>
              <a:spcAft>
                <a:spcPts val="0"/>
              </a:spcAft>
              <a:buSzPts val="1100"/>
              <a:buChar char="○"/>
            </a:pPr>
            <a:r>
              <a:rPr lang="en" dirty="0"/>
              <a:t>I.E. We don't need to create all of them, then start all of them.</a:t>
            </a:r>
            <a:endParaRPr dirty="0"/>
          </a:p>
          <a:p>
            <a:pPr marL="1371600" lvl="2" indent="-292100" algn="l" rtl="0">
              <a:lnSpc>
                <a:spcPct val="115000"/>
              </a:lnSpc>
              <a:spcBef>
                <a:spcPts val="0"/>
              </a:spcBef>
              <a:spcAft>
                <a:spcPts val="0"/>
              </a:spcAft>
              <a:buSzPts val="1000"/>
              <a:buChar char="■"/>
            </a:pPr>
            <a:r>
              <a:rPr lang="en" sz="1000" dirty="0"/>
              <a:t>Yes this is </a:t>
            </a:r>
            <a:r>
              <a:rPr lang="en" sz="1000" b="1" i="1" dirty="0">
                <a:solidFill>
                  <a:srgbClr val="FF0000"/>
                </a:solidFill>
              </a:rPr>
              <a:t>unfair</a:t>
            </a:r>
            <a:r>
              <a:rPr lang="en" sz="1000" dirty="0"/>
              <a:t> but we'll deal with that later.</a:t>
            </a:r>
            <a:endParaRPr sz="1000" dirty="0"/>
          </a:p>
          <a:p>
            <a:pPr marL="914400" lvl="1" indent="-298450" algn="l" rtl="0">
              <a:lnSpc>
                <a:spcPct val="115000"/>
              </a:lnSpc>
              <a:spcBef>
                <a:spcPts val="0"/>
              </a:spcBef>
              <a:spcAft>
                <a:spcPts val="0"/>
              </a:spcAft>
              <a:buSzPts val="1100"/>
              <a:buChar char="○"/>
            </a:pPr>
            <a:r>
              <a:rPr lang="en" dirty="0"/>
              <a:t>Don't forget to call the </a:t>
            </a:r>
            <a:r>
              <a:rPr lang="en" dirty="0">
                <a:solidFill>
                  <a:srgbClr val="FF0000"/>
                </a:solidFill>
                <a:latin typeface="Courier New"/>
                <a:ea typeface="Courier New"/>
                <a:cs typeface="Courier New"/>
                <a:sym typeface="Courier New"/>
              </a:rPr>
              <a:t>start()</a:t>
            </a:r>
            <a:r>
              <a:rPr lang="en" dirty="0"/>
              <a:t> method on each thread.</a:t>
            </a:r>
            <a:endParaRPr dirty="0"/>
          </a:p>
          <a:p>
            <a:pPr marL="457200" lvl="0" indent="-311150" algn="l" rtl="0">
              <a:lnSpc>
                <a:spcPct val="115000"/>
              </a:lnSpc>
              <a:spcBef>
                <a:spcPts val="1000"/>
              </a:spcBef>
              <a:spcAft>
                <a:spcPts val="0"/>
              </a:spcAft>
              <a:buSzPts val="1300"/>
              <a:buChar char="●"/>
            </a:pPr>
            <a:r>
              <a:rPr lang="en" dirty="0"/>
              <a:t>While it appears to be quick, printing is actually pretty slow. When creating the racers, turn their </a:t>
            </a:r>
            <a:r>
              <a:rPr lang="en" dirty="0">
                <a:latin typeface="Courier New"/>
                <a:ea typeface="Courier New"/>
                <a:cs typeface="Courier New"/>
                <a:sym typeface="Courier New"/>
              </a:rPr>
              <a:t>debug</a:t>
            </a:r>
            <a:r>
              <a:rPr lang="en" dirty="0"/>
              <a:t> </a:t>
            </a:r>
            <a:r>
              <a:rPr lang="en" b="1" i="1" dirty="0">
                <a:solidFill>
                  <a:srgbClr val="FF0000"/>
                </a:solidFill>
              </a:rPr>
              <a:t>off</a:t>
            </a:r>
            <a:r>
              <a:rPr lang="en" dirty="0"/>
              <a:t>.</a:t>
            </a:r>
            <a:endParaRPr dirty="0"/>
          </a:p>
          <a:p>
            <a:pPr marL="457200" lvl="0" indent="-311150" algn="l" rtl="0">
              <a:lnSpc>
                <a:spcPct val="115000"/>
              </a:lnSpc>
              <a:spcBef>
                <a:spcPts val="0"/>
              </a:spcBef>
              <a:spcAft>
                <a:spcPts val="0"/>
              </a:spcAft>
              <a:buSzPts val="1300"/>
              <a:buChar char="●"/>
            </a:pPr>
            <a:r>
              <a:rPr lang="en" dirty="0"/>
              <a:t>Print that all the racers have started </a:t>
            </a:r>
            <a:r>
              <a:rPr lang="en" b="1" i="1" dirty="0">
                <a:solidFill>
                  <a:srgbClr val="FF0000"/>
                </a:solidFill>
              </a:rPr>
              <a:t>after</a:t>
            </a:r>
            <a:r>
              <a:rPr lang="en" dirty="0"/>
              <a:t> the for loop.</a:t>
            </a:r>
            <a:endParaRPr dirty="0"/>
          </a:p>
          <a:p>
            <a:pPr marL="914400" lvl="1" indent="-298450" algn="l" rtl="0">
              <a:lnSpc>
                <a:spcPct val="115000"/>
              </a:lnSpc>
              <a:spcBef>
                <a:spcPts val="0"/>
              </a:spcBef>
              <a:spcAft>
                <a:spcPts val="0"/>
              </a:spcAft>
              <a:buSzPts val="1100"/>
              <a:buChar char="○"/>
            </a:pPr>
            <a:r>
              <a:rPr lang="en" dirty="0"/>
              <a:t>This doesn't mean they all have finished but it's close enough for this activity.</a:t>
            </a:r>
            <a:endParaRPr dirty="0"/>
          </a:p>
          <a:p>
            <a:pPr marL="914400" lvl="1" indent="-298450" algn="l" rtl="0">
              <a:lnSpc>
                <a:spcPct val="115000"/>
              </a:lnSpc>
              <a:spcBef>
                <a:spcPts val="0"/>
              </a:spcBef>
              <a:spcAft>
                <a:spcPts val="0"/>
              </a:spcAft>
              <a:buSzPts val="1100"/>
              <a:buChar char="○"/>
            </a:pPr>
            <a:r>
              <a:rPr lang="en" b="1" i="1" dirty="0">
                <a:solidFill>
                  <a:srgbClr val="FF0000"/>
                </a:solidFill>
              </a:rPr>
              <a:t>Challenge</a:t>
            </a:r>
            <a:r>
              <a:rPr lang="en" dirty="0"/>
              <a:t>: Time how long it takes to run using </a:t>
            </a:r>
            <a:r>
              <a:rPr lang="en" dirty="0">
                <a:latin typeface="Courier New"/>
                <a:ea typeface="Courier New"/>
                <a:cs typeface="Courier New"/>
                <a:sym typeface="Courier New"/>
              </a:rPr>
              <a:t>System.nanoTime()</a:t>
            </a:r>
            <a:r>
              <a:rPr lang="en" dirty="0"/>
              <a:t>.</a:t>
            </a:r>
            <a:endParaRPr dirty="0"/>
          </a:p>
          <a:p>
            <a:pPr marL="457200" lvl="0" indent="-311150" algn="l" rtl="0">
              <a:lnSpc>
                <a:spcPct val="115000"/>
              </a:lnSpc>
              <a:spcBef>
                <a:spcPts val="1000"/>
              </a:spcBef>
              <a:spcAft>
                <a:spcPts val="0"/>
              </a:spcAft>
              <a:buSzPts val="1300"/>
              <a:buChar char="●"/>
            </a:pPr>
            <a:r>
              <a:rPr lang="en" dirty="0"/>
              <a:t>Execute your program and see how long it takes to finish.</a:t>
            </a:r>
            <a:endParaRPr dirty="0"/>
          </a:p>
          <a:p>
            <a:pPr marL="914400" lvl="1" indent="-298450" algn="l" rtl="0">
              <a:lnSpc>
                <a:spcPct val="115000"/>
              </a:lnSpc>
              <a:spcBef>
                <a:spcPts val="0"/>
              </a:spcBef>
              <a:spcAft>
                <a:spcPts val="0"/>
              </a:spcAft>
              <a:buSzPts val="1100"/>
              <a:buChar char="○"/>
            </a:pPr>
            <a:r>
              <a:rPr lang="en" dirty="0"/>
              <a:t>Warning: Your laptop fans might get a workout</a:t>
            </a:r>
            <a:endParaRPr dirty="0"/>
          </a:p>
        </p:txBody>
      </p:sp>
      <p:sp>
        <p:nvSpPr>
          <p:cNvPr id="484" name="Google Shape;484;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485" name="Google Shape;485;p5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8.9</a:t>
            </a:r>
            <a:endParaRPr/>
          </a:p>
        </p:txBody>
      </p:sp>
      <p:grpSp>
        <p:nvGrpSpPr>
          <p:cNvPr id="486" name="Google Shape;486;p53"/>
          <p:cNvGrpSpPr/>
          <p:nvPr/>
        </p:nvGrpSpPr>
        <p:grpSpPr>
          <a:xfrm>
            <a:off x="189000" y="2089525"/>
            <a:ext cx="2729426" cy="1535299"/>
            <a:chOff x="189000" y="1590700"/>
            <a:chExt cx="2729426" cy="1535299"/>
          </a:xfrm>
        </p:grpSpPr>
        <p:pic>
          <p:nvPicPr>
            <p:cNvPr id="487" name="Google Shape;487;p53"/>
            <p:cNvPicPr preferRelativeResize="0"/>
            <p:nvPr/>
          </p:nvPicPr>
          <p:blipFill>
            <a:blip r:embed="rId3">
              <a:alphaModFix/>
            </a:blip>
            <a:stretch>
              <a:fillRect/>
            </a:stretch>
          </p:blipFill>
          <p:spPr>
            <a:xfrm>
              <a:off x="189000" y="1590700"/>
              <a:ext cx="2729426" cy="1535299"/>
            </a:xfrm>
            <a:prstGeom prst="rect">
              <a:avLst/>
            </a:prstGeom>
            <a:noFill/>
            <a:ln w="19050" cap="flat" cmpd="sng">
              <a:solidFill>
                <a:schemeClr val="dk1"/>
              </a:solidFill>
              <a:prstDash val="solid"/>
              <a:round/>
              <a:headEnd type="none" w="sm" len="sm"/>
              <a:tailEnd type="none" w="sm" len="sm"/>
            </a:ln>
          </p:spPr>
        </p:pic>
        <p:sp>
          <p:nvSpPr>
            <p:cNvPr id="488" name="Google Shape;488;p53"/>
            <p:cNvSpPr/>
            <p:nvPr/>
          </p:nvSpPr>
          <p:spPr>
            <a:xfrm>
              <a:off x="2006400" y="1679400"/>
              <a:ext cx="626400" cy="670800"/>
            </a:xfrm>
            <a:prstGeom prst="rect">
              <a:avLst/>
            </a:prstGeom>
            <a:solidFill>
              <a:srgbClr val="AF19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89" name="Google Shape;489;p53"/>
            <p:cNvSpPr/>
            <p:nvPr/>
          </p:nvSpPr>
          <p:spPr>
            <a:xfrm>
              <a:off x="2009525" y="1685025"/>
              <a:ext cx="612100" cy="646501"/>
            </a:xfrm>
            <a:prstGeom prst="rect">
              <a:avLst/>
            </a:prstGeom>
          </p:spPr>
          <p:txBody>
            <a:bodyPr>
              <a:prstTxWarp prst="textPlain">
                <a:avLst/>
              </a:prstTxWarp>
            </a:bodyPr>
            <a:lstStyle/>
            <a:p>
              <a:pPr lvl="0" algn="ctr"/>
              <a:r>
                <a:rPr b="1" i="0">
                  <a:ln w="9525" cap="flat" cmpd="sng">
                    <a:solidFill>
                      <a:srgbClr val="000000"/>
                    </a:solidFill>
                    <a:prstDash val="solid"/>
                    <a:round/>
                    <a:headEnd type="none" w="sm" len="sm"/>
                    <a:tailEnd type="none" w="sm" len="sm"/>
                  </a:ln>
                  <a:gradFill>
                    <a:gsLst>
                      <a:gs pos="0">
                        <a:srgbClr val="F7EDCD"/>
                      </a:gs>
                      <a:gs pos="100000">
                        <a:srgbClr val="F1C232"/>
                      </a:gs>
                    </a:gsLst>
                    <a:path path="circle">
                      <a:fillToRect l="100000" b="100000"/>
                    </a:path>
                    <a:tileRect t="-100000" r="-100000"/>
                  </a:gradFill>
                  <a:latin typeface="Impact"/>
                </a:rPr>
                <a:t>1M</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54"/>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That took a while, but did it really need to?</a:t>
            </a:r>
            <a:endParaRPr dirty="0"/>
          </a:p>
          <a:p>
            <a:pPr marL="914400" lvl="1" indent="-298450" algn="l" rtl="0">
              <a:spcBef>
                <a:spcPts val="0"/>
              </a:spcBef>
              <a:spcAft>
                <a:spcPts val="0"/>
              </a:spcAft>
              <a:buSzPts val="1100"/>
              <a:buChar char="○"/>
            </a:pPr>
            <a:r>
              <a:rPr lang="en" dirty="0">
                <a:highlight>
                  <a:srgbClr val="FFFF00"/>
                </a:highlight>
              </a:rPr>
              <a:t>Most of the time in LotsORacers was from creating/tearing down the threads.</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Only a small amount was used for racing.</a:t>
            </a:r>
            <a:endParaRPr dirty="0">
              <a:highlight>
                <a:srgbClr val="FFFF00"/>
              </a:highlight>
            </a:endParaRPr>
          </a:p>
          <a:p>
            <a:pPr marL="457200" lvl="0" indent="-311150" algn="l" rtl="0">
              <a:spcBef>
                <a:spcPts val="1000"/>
              </a:spcBef>
              <a:spcAft>
                <a:spcPts val="0"/>
              </a:spcAft>
              <a:buSzPts val="1300"/>
              <a:buChar char="●"/>
            </a:pPr>
            <a:r>
              <a:rPr lang="en" dirty="0"/>
              <a:t>This is a common problem in Java which was fixed in Java 5 with </a:t>
            </a:r>
            <a:r>
              <a:rPr lang="en" dirty="0">
                <a:highlight>
                  <a:srgbClr val="FFFF00"/>
                </a:highlight>
              </a:rPr>
              <a:t>Executors</a:t>
            </a:r>
            <a:endParaRPr dirty="0">
              <a:highlight>
                <a:srgbClr val="FFFF00"/>
              </a:highlight>
            </a:endParaRPr>
          </a:p>
          <a:p>
            <a:pPr marL="457200" lvl="0" indent="-311150" algn="l" rtl="0">
              <a:spcBef>
                <a:spcPts val="1000"/>
              </a:spcBef>
              <a:spcAft>
                <a:spcPts val="0"/>
              </a:spcAft>
              <a:buSzPts val="1300"/>
              <a:buChar char="●"/>
            </a:pPr>
            <a:r>
              <a:rPr lang="en" dirty="0">
                <a:highlight>
                  <a:srgbClr val="FFFF00"/>
                </a:highlight>
              </a:rPr>
              <a:t>An Executor is a construct for managing program execution via Threads.</a:t>
            </a:r>
            <a:endParaRPr dirty="0">
              <a:highlight>
                <a:srgbClr val="FFFF00"/>
              </a:highlight>
            </a:endParaRPr>
          </a:p>
          <a:p>
            <a:pPr marL="457200" lvl="0" indent="-311150" algn="l" rtl="0">
              <a:spcBef>
                <a:spcPts val="1000"/>
              </a:spcBef>
              <a:spcAft>
                <a:spcPts val="0"/>
              </a:spcAft>
              <a:buSzPts val="1300"/>
              <a:buChar char="●"/>
            </a:pPr>
            <a:r>
              <a:rPr lang="en" dirty="0"/>
              <a:t>Java provides a convenient </a:t>
            </a:r>
            <a:r>
              <a:rPr lang="en" dirty="0">
                <a:highlight>
                  <a:srgbClr val="FFFF00"/>
                </a:highlight>
              </a:rPr>
              <a:t>ExecutorService</a:t>
            </a:r>
            <a:r>
              <a:rPr lang="en" dirty="0"/>
              <a:t> class that allows for easy management of an Executor.</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submit</a:t>
            </a:r>
            <a:r>
              <a:rPr lang="en" dirty="0"/>
              <a:t> - Submits a task for execution.</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shutdown</a:t>
            </a:r>
            <a:r>
              <a:rPr lang="en" dirty="0"/>
              <a:t> - stops the service after all currently submitted tasks have finished. New tasks cannot be submitted.</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shutdownNow</a:t>
            </a:r>
            <a:r>
              <a:rPr lang="en" dirty="0"/>
              <a:t> - Attempts to stop active tasks and stops the service.</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awaitTermination</a:t>
            </a:r>
            <a:r>
              <a:rPr lang="en" dirty="0"/>
              <a:t> - blocks until the service has finished.</a:t>
            </a:r>
            <a:endParaRPr dirty="0"/>
          </a:p>
        </p:txBody>
      </p:sp>
      <p:sp>
        <p:nvSpPr>
          <p:cNvPr id="495" name="Google Shape;495;p5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496" name="Google Shape;496;p54"/>
          <p:cNvSpPr txBox="1">
            <a:spLocks noGrp="1"/>
          </p:cNvSpPr>
          <p:nvPr>
            <p:ph type="body" idx="3"/>
          </p:nvPr>
        </p:nvSpPr>
        <p:spPr>
          <a:xfrm>
            <a:off x="5192225" y="3905116"/>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i="1">
                <a:solidFill>
                  <a:srgbClr val="FF0000"/>
                </a:solidFill>
              </a:rPr>
              <a:t>Executors </a:t>
            </a:r>
            <a:r>
              <a:rPr lang="en"/>
              <a:t>and the </a:t>
            </a:r>
            <a:r>
              <a:rPr lang="en" b="1" i="1">
                <a:solidFill>
                  <a:srgbClr val="FF0000"/>
                </a:solidFill>
              </a:rPr>
              <a:t>ExcutorService </a:t>
            </a:r>
            <a:r>
              <a:rPr lang="en"/>
              <a:t>are the modern way to run tasks in Java.</a:t>
            </a:r>
            <a:endParaRPr/>
          </a:p>
        </p:txBody>
      </p:sp>
      <p:sp>
        <p:nvSpPr>
          <p:cNvPr id="497" name="Google Shape;497;p54"/>
          <p:cNvSpPr txBox="1">
            <a:spLocks noGrp="1"/>
          </p:cNvSpPr>
          <p:nvPr>
            <p:ph type="title"/>
          </p:nvPr>
        </p:nvSpPr>
        <p:spPr>
          <a:xfrm>
            <a:off x="5264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ExecutorService</a:t>
            </a:r>
            <a:endParaRPr/>
          </a:p>
        </p:txBody>
      </p:sp>
      <p:sp>
        <p:nvSpPr>
          <p:cNvPr id="498" name="Google Shape;498;p54"/>
          <p:cNvSpPr txBox="1">
            <a:spLocks noGrp="1"/>
          </p:cNvSpPr>
          <p:nvPr>
            <p:ph type="body" idx="2"/>
          </p:nvPr>
        </p:nvSpPr>
        <p:spPr>
          <a:xfrm>
            <a:off x="5192225" y="1351636"/>
            <a:ext cx="3706500" cy="23409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1</a:t>
            </a:r>
            <a:r>
              <a:rPr lang="en" sz="1250">
                <a:solidFill>
                  <a:srgbClr val="267F99"/>
                </a:solidFill>
                <a:highlight>
                  <a:srgbClr val="FFFFFF"/>
                </a:highlight>
                <a:latin typeface="Consolas"/>
                <a:ea typeface="Consolas"/>
                <a:cs typeface="Consolas"/>
                <a:sym typeface="Consolas"/>
              </a:rPr>
              <a:t>  ExecutorService</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2</a:t>
            </a:r>
            <a:r>
              <a:rPr lang="en" sz="1250">
                <a:solidFill>
                  <a:srgbClr val="267F99"/>
                </a:solidFill>
                <a:highlight>
                  <a:srgbClr val="FFFFFF"/>
                </a:highlight>
                <a:latin typeface="Consolas"/>
                <a:ea typeface="Consolas"/>
                <a:cs typeface="Consolas"/>
                <a:sym typeface="Consolas"/>
              </a:rPr>
              <a:t>      Executors</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newCachedThreadPool</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3</a:t>
            </a:r>
            <a:r>
              <a:rPr lang="en" sz="1250">
                <a:solidFill>
                  <a:srgbClr val="AF00DB"/>
                </a:solidFill>
                <a:highlight>
                  <a:srgbClr val="FFFFFF"/>
                </a:highlight>
                <a:latin typeface="Consolas"/>
                <a:ea typeface="Consolas"/>
                <a:cs typeface="Consolas"/>
                <a:sym typeface="Consolas"/>
              </a:rPr>
              <a:t>  for</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int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&lt;=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10</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4</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String</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A31515"/>
                </a:solidFill>
                <a:highlight>
                  <a:srgbClr val="FFFFFF"/>
                </a:highlight>
                <a:latin typeface="Consolas"/>
                <a:ea typeface="Consolas"/>
                <a:cs typeface="Consolas"/>
                <a:sym typeface="Consolas"/>
              </a:rPr>
              <a:t>"Task "</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5</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submit</a:t>
            </a:r>
            <a:r>
              <a:rPr lang="en" sz="1250">
                <a:solidFill>
                  <a:srgbClr val="3B3B3B"/>
                </a:solidFill>
                <a:highlight>
                  <a:srgbClr val="FFFFFF"/>
                </a:highlight>
                <a:latin typeface="Consolas"/>
                <a:ea typeface="Consolas"/>
                <a:cs typeface="Consolas"/>
                <a:sym typeface="Consolas"/>
              </a:rPr>
              <a:t>(()</a:t>
            </a:r>
            <a:r>
              <a:rPr lang="en" sz="1250">
                <a:solidFill>
                  <a:srgbClr val="0000FF"/>
                </a:solidFill>
                <a:highlight>
                  <a:srgbClr val="FFFFFF"/>
                </a:highlight>
                <a:latin typeface="Consolas"/>
                <a:ea typeface="Consolas"/>
                <a:cs typeface="Consolas"/>
                <a:sym typeface="Consolas"/>
              </a:rPr>
              <a:t>-&gt;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6</a:t>
            </a:r>
            <a:r>
              <a:rPr lang="en" sz="1250">
                <a:solidFill>
                  <a:srgbClr val="267F99"/>
                </a:solidFill>
                <a:highlight>
                  <a:srgbClr val="FFFFFF"/>
                </a:highlight>
                <a:latin typeface="Consolas"/>
                <a:ea typeface="Consolas"/>
                <a:cs typeface="Consolas"/>
                <a:sym typeface="Consolas"/>
              </a:rPr>
              <a:t>         System</a:t>
            </a:r>
            <a:r>
              <a:rPr lang="en" sz="1250">
                <a:solidFill>
                  <a:srgbClr val="3B3B3B"/>
                </a:solidFill>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out</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println</a:t>
            </a:r>
            <a:r>
              <a:rPr lang="en" sz="1250">
                <a:solidFill>
                  <a:srgbClr val="3B3B3B"/>
                </a:solidFill>
                <a:highlight>
                  <a:srgbClr val="FFFFFF"/>
                </a:highlight>
                <a:latin typeface="Consolas"/>
                <a:ea typeface="Consolas"/>
                <a:cs typeface="Consolas"/>
                <a:sym typeface="Consolas"/>
              </a:rPr>
              <a:t>(</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7</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8</a:t>
            </a:r>
            <a:r>
              <a:rPr lang="en" sz="1250">
                <a:solidFill>
                  <a:srgbClr val="001080"/>
                </a:solidFill>
                <a:highlight>
                  <a:srgbClr val="FFFFFF"/>
                </a:highlight>
                <a:latin typeface="Consolas"/>
                <a:ea typeface="Consolas"/>
                <a:cs typeface="Consolas"/>
                <a:sym typeface="Consolas"/>
              </a:rPr>
              <a:t>  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shutdown</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spcBef>
                <a:spcPts val="0"/>
              </a:spcBef>
              <a:spcAft>
                <a:spcPts val="1600"/>
              </a:spcAft>
              <a:buNone/>
            </a:pPr>
            <a:endParaRPr sz="15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504" name="Google Shape;504;p5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ExecutorService in Detail</a:t>
            </a:r>
            <a:endParaRPr/>
          </a:p>
        </p:txBody>
      </p:sp>
      <p:sp>
        <p:nvSpPr>
          <p:cNvPr id="505" name="Google Shape;505;p55"/>
          <p:cNvSpPr txBox="1">
            <a:spLocks noGrp="1"/>
          </p:cNvSpPr>
          <p:nvPr>
            <p:ph type="body" idx="4294967295"/>
          </p:nvPr>
        </p:nvSpPr>
        <p:spPr>
          <a:xfrm>
            <a:off x="2718750" y="1834886"/>
            <a:ext cx="3706500" cy="23409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250" dirty="0">
                <a:solidFill>
                  <a:srgbClr val="008000"/>
                </a:solidFill>
                <a:highlight>
                  <a:srgbClr val="FFFFFF"/>
                </a:highlight>
                <a:latin typeface="Consolas"/>
                <a:ea typeface="Consolas"/>
                <a:cs typeface="Consolas"/>
                <a:sym typeface="Consolas"/>
              </a:rPr>
              <a:t>1</a:t>
            </a:r>
            <a:r>
              <a:rPr lang="en" sz="1250" dirty="0">
                <a:solidFill>
                  <a:srgbClr val="267F99"/>
                </a:solidFill>
                <a:highlight>
                  <a:srgbClr val="FFFFFF"/>
                </a:highlight>
                <a:latin typeface="Consolas"/>
                <a:ea typeface="Consolas"/>
                <a:cs typeface="Consolas"/>
                <a:sym typeface="Consolas"/>
              </a:rPr>
              <a:t>  ExecutorService</a:t>
            </a:r>
            <a:r>
              <a:rPr lang="en" sz="1250" dirty="0">
                <a:solidFill>
                  <a:srgbClr val="3B3B3B"/>
                </a:solidFill>
                <a:highlight>
                  <a:srgbClr val="FFFFFF"/>
                </a:highlight>
                <a:latin typeface="Consolas"/>
                <a:ea typeface="Consolas"/>
                <a:cs typeface="Consolas"/>
                <a:sym typeface="Consolas"/>
              </a:rPr>
              <a:t> </a:t>
            </a:r>
            <a:r>
              <a:rPr lang="en" sz="1250" dirty="0">
                <a:solidFill>
                  <a:srgbClr val="001080"/>
                </a:solidFill>
                <a:highlight>
                  <a:srgbClr val="FFFFFF"/>
                </a:highlight>
                <a:latin typeface="Consolas"/>
                <a:ea typeface="Consolas"/>
                <a:cs typeface="Consolas"/>
                <a:sym typeface="Consolas"/>
              </a:rPr>
              <a:t>exservice</a:t>
            </a:r>
            <a:r>
              <a:rPr lang="en" sz="1250" dirty="0">
                <a:solidFill>
                  <a:srgbClr val="3B3B3B"/>
                </a:solidFill>
                <a:highlight>
                  <a:srgbClr val="FFFFFF"/>
                </a:highlight>
                <a:latin typeface="Consolas"/>
                <a:ea typeface="Consolas"/>
                <a:cs typeface="Consolas"/>
                <a:sym typeface="Consolas"/>
              </a:rPr>
              <a:t> </a:t>
            </a:r>
            <a:r>
              <a:rPr lang="en" sz="1250" dirty="0">
                <a:solidFill>
                  <a:srgbClr val="000000"/>
                </a:solidFill>
                <a:highlight>
                  <a:srgbClr val="FFFFFF"/>
                </a:highlight>
                <a:latin typeface="Consolas"/>
                <a:ea typeface="Consolas"/>
                <a:cs typeface="Consolas"/>
                <a:sym typeface="Consolas"/>
              </a:rPr>
              <a:t>=</a:t>
            </a:r>
            <a:r>
              <a:rPr lang="en" sz="1250" dirty="0">
                <a:solidFill>
                  <a:srgbClr val="3B3B3B"/>
                </a:solidFill>
                <a:highlight>
                  <a:srgbClr val="FFFFFF"/>
                </a:highlight>
                <a:latin typeface="Consolas"/>
                <a:ea typeface="Consolas"/>
                <a:cs typeface="Consolas"/>
                <a:sym typeface="Consolas"/>
              </a:rPr>
              <a:t> </a:t>
            </a:r>
            <a:endParaRPr sz="12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dirty="0">
                <a:solidFill>
                  <a:srgbClr val="008000"/>
                </a:solidFill>
                <a:highlight>
                  <a:srgbClr val="FFFFFF"/>
                </a:highlight>
                <a:latin typeface="Consolas"/>
                <a:ea typeface="Consolas"/>
                <a:cs typeface="Consolas"/>
                <a:sym typeface="Consolas"/>
              </a:rPr>
              <a:t>2</a:t>
            </a:r>
            <a:r>
              <a:rPr lang="en" sz="1250" dirty="0">
                <a:solidFill>
                  <a:srgbClr val="267F99"/>
                </a:solidFill>
                <a:highlight>
                  <a:srgbClr val="FFFFFF"/>
                </a:highlight>
                <a:latin typeface="Consolas"/>
                <a:ea typeface="Consolas"/>
                <a:cs typeface="Consolas"/>
                <a:sym typeface="Consolas"/>
              </a:rPr>
              <a:t>      Executors</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newCachedThreadPool</a:t>
            </a:r>
            <a:r>
              <a:rPr lang="en" sz="1250" dirty="0">
                <a:solidFill>
                  <a:srgbClr val="3B3B3B"/>
                </a:solidFill>
                <a:highlight>
                  <a:srgbClr val="FFFFFF"/>
                </a:highlight>
                <a:latin typeface="Consolas"/>
                <a:ea typeface="Consolas"/>
                <a:cs typeface="Consolas"/>
                <a:sym typeface="Consolas"/>
              </a:rPr>
              <a:t>();</a:t>
            </a:r>
            <a:endParaRPr sz="12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dirty="0">
                <a:solidFill>
                  <a:srgbClr val="008000"/>
                </a:solidFill>
                <a:highlight>
                  <a:srgbClr val="FFFFFF"/>
                </a:highlight>
                <a:latin typeface="Consolas"/>
                <a:ea typeface="Consolas"/>
                <a:cs typeface="Consolas"/>
                <a:sym typeface="Consolas"/>
              </a:rPr>
              <a:t>3</a:t>
            </a:r>
            <a:r>
              <a:rPr lang="en" sz="1250" dirty="0">
                <a:solidFill>
                  <a:srgbClr val="AF00DB"/>
                </a:solidFill>
                <a:highlight>
                  <a:srgbClr val="FFFFFF"/>
                </a:highlight>
                <a:latin typeface="Consolas"/>
                <a:ea typeface="Consolas"/>
                <a:cs typeface="Consolas"/>
                <a:sym typeface="Consolas"/>
              </a:rPr>
              <a:t>  for</a:t>
            </a:r>
            <a:r>
              <a:rPr lang="en" sz="1250" dirty="0">
                <a:solidFill>
                  <a:srgbClr val="3B3B3B"/>
                </a:solidFill>
                <a:highlight>
                  <a:srgbClr val="FFFFFF"/>
                </a:highlight>
                <a:latin typeface="Consolas"/>
                <a:ea typeface="Consolas"/>
                <a:cs typeface="Consolas"/>
                <a:sym typeface="Consolas"/>
              </a:rPr>
              <a:t> (</a:t>
            </a:r>
            <a:r>
              <a:rPr lang="en" sz="1250" dirty="0">
                <a:solidFill>
                  <a:srgbClr val="267F99"/>
                </a:solidFill>
                <a:highlight>
                  <a:srgbClr val="FFFFFF"/>
                </a:highlight>
                <a:latin typeface="Consolas"/>
                <a:ea typeface="Consolas"/>
                <a:cs typeface="Consolas"/>
                <a:sym typeface="Consolas"/>
              </a:rPr>
              <a:t>int</a:t>
            </a:r>
            <a:r>
              <a:rPr lang="en" sz="1250" dirty="0">
                <a:solidFill>
                  <a:srgbClr val="3B3B3B"/>
                </a:solidFill>
                <a:highlight>
                  <a:srgbClr val="FFFFFF"/>
                </a:highlight>
                <a:latin typeface="Consolas"/>
                <a:ea typeface="Consolas"/>
                <a:cs typeface="Consolas"/>
                <a:sym typeface="Consolas"/>
              </a:rPr>
              <a:t> </a:t>
            </a:r>
            <a:r>
              <a:rPr lang="en" sz="1250" dirty="0">
                <a:solidFill>
                  <a:srgbClr val="001080"/>
                </a:solidFill>
                <a:highlight>
                  <a:srgbClr val="FFFFFF"/>
                </a:highlight>
                <a:latin typeface="Consolas"/>
                <a:ea typeface="Consolas"/>
                <a:cs typeface="Consolas"/>
                <a:sym typeface="Consolas"/>
              </a:rPr>
              <a:t>i</a:t>
            </a:r>
            <a:r>
              <a:rPr lang="en" sz="1250" dirty="0">
                <a:solidFill>
                  <a:srgbClr val="3B3B3B"/>
                </a:solidFill>
                <a:highlight>
                  <a:srgbClr val="FFFFFF"/>
                </a:highlight>
                <a:latin typeface="Consolas"/>
                <a:ea typeface="Consolas"/>
                <a:cs typeface="Consolas"/>
                <a:sym typeface="Consolas"/>
              </a:rPr>
              <a:t> </a:t>
            </a:r>
            <a:r>
              <a:rPr lang="en" sz="1250" dirty="0">
                <a:solidFill>
                  <a:srgbClr val="000000"/>
                </a:solidFill>
                <a:highlight>
                  <a:srgbClr val="FFFFFF"/>
                </a:highlight>
                <a:latin typeface="Consolas"/>
                <a:ea typeface="Consolas"/>
                <a:cs typeface="Consolas"/>
                <a:sym typeface="Consolas"/>
              </a:rPr>
              <a:t>=</a:t>
            </a:r>
            <a:r>
              <a:rPr lang="en" sz="1250" dirty="0">
                <a:solidFill>
                  <a:srgbClr val="3B3B3B"/>
                </a:solidFill>
                <a:highlight>
                  <a:srgbClr val="FFFFFF"/>
                </a:highlight>
                <a:latin typeface="Consolas"/>
                <a:ea typeface="Consolas"/>
                <a:cs typeface="Consolas"/>
                <a:sym typeface="Consolas"/>
              </a:rPr>
              <a:t> </a:t>
            </a:r>
            <a:r>
              <a:rPr lang="en" sz="1250" dirty="0">
                <a:solidFill>
                  <a:srgbClr val="098658"/>
                </a:solidFill>
                <a:highlight>
                  <a:srgbClr val="FFFFFF"/>
                </a:highlight>
                <a:latin typeface="Consolas"/>
                <a:ea typeface="Consolas"/>
                <a:cs typeface="Consolas"/>
                <a:sym typeface="Consolas"/>
              </a:rPr>
              <a:t>1</a:t>
            </a:r>
            <a:r>
              <a:rPr lang="en" sz="1250" dirty="0">
                <a:solidFill>
                  <a:srgbClr val="3B3B3B"/>
                </a:solidFill>
                <a:highlight>
                  <a:srgbClr val="FFFFFF"/>
                </a:highlight>
                <a:latin typeface="Consolas"/>
                <a:ea typeface="Consolas"/>
                <a:cs typeface="Consolas"/>
                <a:sym typeface="Consolas"/>
              </a:rPr>
              <a:t>; </a:t>
            </a:r>
            <a:r>
              <a:rPr lang="en" sz="1250" dirty="0">
                <a:solidFill>
                  <a:srgbClr val="001080"/>
                </a:solidFill>
                <a:highlight>
                  <a:srgbClr val="FFFFFF"/>
                </a:highlight>
                <a:latin typeface="Consolas"/>
                <a:ea typeface="Consolas"/>
                <a:cs typeface="Consolas"/>
                <a:sym typeface="Consolas"/>
              </a:rPr>
              <a:t>i</a:t>
            </a:r>
            <a:r>
              <a:rPr lang="en" sz="1250" dirty="0">
                <a:solidFill>
                  <a:srgbClr val="3B3B3B"/>
                </a:solidFill>
                <a:highlight>
                  <a:srgbClr val="FFFFFF"/>
                </a:highlight>
                <a:latin typeface="Consolas"/>
                <a:ea typeface="Consolas"/>
                <a:cs typeface="Consolas"/>
                <a:sym typeface="Consolas"/>
              </a:rPr>
              <a:t> </a:t>
            </a:r>
            <a:r>
              <a:rPr lang="en" sz="1250" dirty="0">
                <a:solidFill>
                  <a:srgbClr val="000000"/>
                </a:solidFill>
                <a:highlight>
                  <a:srgbClr val="FFFFFF"/>
                </a:highlight>
                <a:latin typeface="Consolas"/>
                <a:ea typeface="Consolas"/>
                <a:cs typeface="Consolas"/>
                <a:sym typeface="Consolas"/>
              </a:rPr>
              <a:t>&lt;=</a:t>
            </a:r>
            <a:r>
              <a:rPr lang="en" sz="1250" dirty="0">
                <a:solidFill>
                  <a:srgbClr val="3B3B3B"/>
                </a:solidFill>
                <a:highlight>
                  <a:srgbClr val="FFFFFF"/>
                </a:highlight>
                <a:latin typeface="Consolas"/>
                <a:ea typeface="Consolas"/>
                <a:cs typeface="Consolas"/>
                <a:sym typeface="Consolas"/>
              </a:rPr>
              <a:t> </a:t>
            </a:r>
            <a:r>
              <a:rPr lang="en" sz="1250" dirty="0">
                <a:solidFill>
                  <a:srgbClr val="098658"/>
                </a:solidFill>
                <a:highlight>
                  <a:srgbClr val="FFFFFF"/>
                </a:highlight>
                <a:latin typeface="Consolas"/>
                <a:ea typeface="Consolas"/>
                <a:cs typeface="Consolas"/>
                <a:sym typeface="Consolas"/>
              </a:rPr>
              <a:t>10</a:t>
            </a:r>
            <a:r>
              <a:rPr lang="en" sz="1250" dirty="0">
                <a:solidFill>
                  <a:srgbClr val="3B3B3B"/>
                </a:solidFill>
                <a:highlight>
                  <a:srgbClr val="FFFFFF"/>
                </a:highlight>
                <a:latin typeface="Consolas"/>
                <a:ea typeface="Consolas"/>
                <a:cs typeface="Consolas"/>
                <a:sym typeface="Consolas"/>
              </a:rPr>
              <a:t>; </a:t>
            </a:r>
            <a:r>
              <a:rPr lang="en" sz="1250" dirty="0">
                <a:solidFill>
                  <a:srgbClr val="001080"/>
                </a:solidFill>
                <a:highlight>
                  <a:srgbClr val="FFFFFF"/>
                </a:highlight>
                <a:latin typeface="Consolas"/>
                <a:ea typeface="Consolas"/>
                <a:cs typeface="Consolas"/>
                <a:sym typeface="Consolas"/>
              </a:rPr>
              <a:t>i</a:t>
            </a:r>
            <a:r>
              <a:rPr lang="en" sz="1250" dirty="0">
                <a:solidFill>
                  <a:srgbClr val="000000"/>
                </a:solidFill>
                <a:highlight>
                  <a:srgbClr val="FFFFFF"/>
                </a:highlight>
                <a:latin typeface="Consolas"/>
                <a:ea typeface="Consolas"/>
                <a:cs typeface="Consolas"/>
                <a:sym typeface="Consolas"/>
              </a:rPr>
              <a:t>++</a:t>
            </a:r>
            <a:r>
              <a:rPr lang="en" sz="1250" dirty="0">
                <a:solidFill>
                  <a:srgbClr val="3B3B3B"/>
                </a:solidFill>
                <a:highlight>
                  <a:srgbClr val="FFFFFF"/>
                </a:highlight>
                <a:latin typeface="Consolas"/>
                <a:ea typeface="Consolas"/>
                <a:cs typeface="Consolas"/>
                <a:sym typeface="Consolas"/>
              </a:rPr>
              <a:t>) {</a:t>
            </a:r>
            <a:endParaRPr sz="12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dirty="0">
                <a:solidFill>
                  <a:srgbClr val="008000"/>
                </a:solidFill>
                <a:highlight>
                  <a:srgbClr val="FFFFFF"/>
                </a:highlight>
                <a:latin typeface="Consolas"/>
                <a:ea typeface="Consolas"/>
                <a:cs typeface="Consolas"/>
                <a:sym typeface="Consolas"/>
              </a:rPr>
              <a:t>4</a:t>
            </a:r>
            <a:r>
              <a:rPr lang="en" sz="1250" dirty="0">
                <a:solidFill>
                  <a:srgbClr val="3B3B3B"/>
                </a:solidFill>
                <a:highlight>
                  <a:srgbClr val="FFFFFF"/>
                </a:highlight>
                <a:latin typeface="Consolas"/>
                <a:ea typeface="Consolas"/>
                <a:cs typeface="Consolas"/>
                <a:sym typeface="Consolas"/>
              </a:rPr>
              <a:t>     </a:t>
            </a:r>
            <a:r>
              <a:rPr lang="en" sz="1250" dirty="0">
                <a:solidFill>
                  <a:srgbClr val="267F99"/>
                </a:solidFill>
                <a:highlight>
                  <a:srgbClr val="FFFFFF"/>
                </a:highlight>
                <a:latin typeface="Consolas"/>
                <a:ea typeface="Consolas"/>
                <a:cs typeface="Consolas"/>
                <a:sym typeface="Consolas"/>
              </a:rPr>
              <a:t>String</a:t>
            </a:r>
            <a:r>
              <a:rPr lang="en" sz="1250" dirty="0">
                <a:solidFill>
                  <a:srgbClr val="3B3B3B"/>
                </a:solidFill>
                <a:highlight>
                  <a:srgbClr val="FFFFFF"/>
                </a:highlight>
                <a:latin typeface="Consolas"/>
                <a:ea typeface="Consolas"/>
                <a:cs typeface="Consolas"/>
                <a:sym typeface="Consolas"/>
              </a:rPr>
              <a:t> </a:t>
            </a:r>
            <a:r>
              <a:rPr lang="en" sz="1250" dirty="0">
                <a:solidFill>
                  <a:srgbClr val="001080"/>
                </a:solidFill>
                <a:highlight>
                  <a:srgbClr val="FFFFFF"/>
                </a:highlight>
                <a:latin typeface="Consolas"/>
                <a:ea typeface="Consolas"/>
                <a:cs typeface="Consolas"/>
                <a:sym typeface="Consolas"/>
              </a:rPr>
              <a:t>name</a:t>
            </a:r>
            <a:r>
              <a:rPr lang="en" sz="1250" dirty="0">
                <a:solidFill>
                  <a:srgbClr val="3B3B3B"/>
                </a:solidFill>
                <a:highlight>
                  <a:srgbClr val="FFFFFF"/>
                </a:highlight>
                <a:latin typeface="Consolas"/>
                <a:ea typeface="Consolas"/>
                <a:cs typeface="Consolas"/>
                <a:sym typeface="Consolas"/>
              </a:rPr>
              <a:t> </a:t>
            </a:r>
            <a:r>
              <a:rPr lang="en" sz="1250" dirty="0">
                <a:solidFill>
                  <a:srgbClr val="000000"/>
                </a:solidFill>
                <a:highlight>
                  <a:srgbClr val="FFFFFF"/>
                </a:highlight>
                <a:latin typeface="Consolas"/>
                <a:ea typeface="Consolas"/>
                <a:cs typeface="Consolas"/>
                <a:sym typeface="Consolas"/>
              </a:rPr>
              <a:t>=</a:t>
            </a:r>
            <a:r>
              <a:rPr lang="en" sz="1250" dirty="0">
                <a:solidFill>
                  <a:srgbClr val="3B3B3B"/>
                </a:solidFill>
                <a:highlight>
                  <a:srgbClr val="FFFFFF"/>
                </a:highlight>
                <a:latin typeface="Consolas"/>
                <a:ea typeface="Consolas"/>
                <a:cs typeface="Consolas"/>
                <a:sym typeface="Consolas"/>
              </a:rPr>
              <a:t> </a:t>
            </a:r>
            <a:r>
              <a:rPr lang="en" sz="1250" dirty="0">
                <a:solidFill>
                  <a:srgbClr val="A31515"/>
                </a:solidFill>
                <a:highlight>
                  <a:srgbClr val="FFFFFF"/>
                </a:highlight>
                <a:latin typeface="Consolas"/>
                <a:ea typeface="Consolas"/>
                <a:cs typeface="Consolas"/>
                <a:sym typeface="Consolas"/>
              </a:rPr>
              <a:t>"Task "</a:t>
            </a:r>
            <a:r>
              <a:rPr lang="en" sz="1250" dirty="0">
                <a:solidFill>
                  <a:srgbClr val="3B3B3B"/>
                </a:solidFill>
                <a:highlight>
                  <a:srgbClr val="FFFFFF"/>
                </a:highlight>
                <a:latin typeface="Consolas"/>
                <a:ea typeface="Consolas"/>
                <a:cs typeface="Consolas"/>
                <a:sym typeface="Consolas"/>
              </a:rPr>
              <a:t> </a:t>
            </a:r>
            <a:r>
              <a:rPr lang="en" sz="1250" dirty="0">
                <a:solidFill>
                  <a:srgbClr val="000000"/>
                </a:solidFill>
                <a:highlight>
                  <a:srgbClr val="FFFFFF"/>
                </a:highlight>
                <a:latin typeface="Consolas"/>
                <a:ea typeface="Consolas"/>
                <a:cs typeface="Consolas"/>
                <a:sym typeface="Consolas"/>
              </a:rPr>
              <a:t>+</a:t>
            </a:r>
            <a:r>
              <a:rPr lang="en" sz="1250" dirty="0">
                <a:solidFill>
                  <a:srgbClr val="3B3B3B"/>
                </a:solidFill>
                <a:highlight>
                  <a:srgbClr val="FFFFFF"/>
                </a:highlight>
                <a:latin typeface="Consolas"/>
                <a:ea typeface="Consolas"/>
                <a:cs typeface="Consolas"/>
                <a:sym typeface="Consolas"/>
              </a:rPr>
              <a:t> </a:t>
            </a:r>
            <a:r>
              <a:rPr lang="en" sz="1250" dirty="0">
                <a:solidFill>
                  <a:srgbClr val="001080"/>
                </a:solidFill>
                <a:highlight>
                  <a:srgbClr val="FFFFFF"/>
                </a:highlight>
                <a:latin typeface="Consolas"/>
                <a:ea typeface="Consolas"/>
                <a:cs typeface="Consolas"/>
                <a:sym typeface="Consolas"/>
              </a:rPr>
              <a:t>i</a:t>
            </a:r>
            <a:r>
              <a:rPr lang="en" sz="1250" dirty="0">
                <a:solidFill>
                  <a:srgbClr val="3B3B3B"/>
                </a:solidFill>
                <a:highlight>
                  <a:srgbClr val="FFFFFF"/>
                </a:highlight>
                <a:latin typeface="Consolas"/>
                <a:ea typeface="Consolas"/>
                <a:cs typeface="Consolas"/>
                <a:sym typeface="Consolas"/>
              </a:rPr>
              <a:t>;</a:t>
            </a:r>
            <a:endParaRPr sz="12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dirty="0">
                <a:solidFill>
                  <a:srgbClr val="008000"/>
                </a:solidFill>
                <a:highlight>
                  <a:srgbClr val="FFFFFF"/>
                </a:highlight>
                <a:latin typeface="Consolas"/>
                <a:ea typeface="Consolas"/>
                <a:cs typeface="Consolas"/>
                <a:sym typeface="Consolas"/>
              </a:rPr>
              <a:t>5</a:t>
            </a:r>
            <a:r>
              <a:rPr lang="en" sz="1250" dirty="0">
                <a:solidFill>
                  <a:srgbClr val="3B3B3B"/>
                </a:solidFill>
                <a:highlight>
                  <a:srgbClr val="FFFFFF"/>
                </a:highlight>
                <a:latin typeface="Consolas"/>
                <a:ea typeface="Consolas"/>
                <a:cs typeface="Consolas"/>
                <a:sym typeface="Consolas"/>
              </a:rPr>
              <a:t>     </a:t>
            </a:r>
            <a:r>
              <a:rPr lang="en" sz="1250" dirty="0">
                <a:solidFill>
                  <a:srgbClr val="001080"/>
                </a:solidFill>
                <a:highlight>
                  <a:srgbClr val="FFFFFF"/>
                </a:highlight>
                <a:latin typeface="Consolas"/>
                <a:ea typeface="Consolas"/>
                <a:cs typeface="Consolas"/>
                <a:sym typeface="Consolas"/>
              </a:rPr>
              <a:t>exservice</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submit</a:t>
            </a:r>
            <a:r>
              <a:rPr lang="en" sz="1250" dirty="0">
                <a:solidFill>
                  <a:srgbClr val="3B3B3B"/>
                </a:solidFill>
                <a:highlight>
                  <a:srgbClr val="FFFFFF"/>
                </a:highlight>
                <a:latin typeface="Consolas"/>
                <a:ea typeface="Consolas"/>
                <a:cs typeface="Consolas"/>
                <a:sym typeface="Consolas"/>
              </a:rPr>
              <a:t>(()</a:t>
            </a:r>
            <a:r>
              <a:rPr lang="en" sz="1250" dirty="0">
                <a:solidFill>
                  <a:srgbClr val="0000FF"/>
                </a:solidFill>
                <a:highlight>
                  <a:srgbClr val="FFFFFF"/>
                </a:highlight>
                <a:latin typeface="Consolas"/>
                <a:ea typeface="Consolas"/>
                <a:cs typeface="Consolas"/>
                <a:sym typeface="Consolas"/>
              </a:rPr>
              <a:t>-&gt;</a:t>
            </a:r>
            <a:r>
              <a:rPr lang="en" sz="1250" dirty="0">
                <a:solidFill>
                  <a:srgbClr val="3B3B3B"/>
                </a:solidFill>
                <a:highlight>
                  <a:srgbClr val="FFFFFF"/>
                </a:highlight>
                <a:latin typeface="Consolas"/>
                <a:ea typeface="Consolas"/>
                <a:cs typeface="Consolas"/>
                <a:sym typeface="Consolas"/>
              </a:rPr>
              <a:t> </a:t>
            </a:r>
            <a:endParaRPr sz="12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dirty="0">
                <a:solidFill>
                  <a:srgbClr val="008000"/>
                </a:solidFill>
                <a:highlight>
                  <a:srgbClr val="FFFFFF"/>
                </a:highlight>
                <a:latin typeface="Consolas"/>
                <a:ea typeface="Consolas"/>
                <a:cs typeface="Consolas"/>
                <a:sym typeface="Consolas"/>
              </a:rPr>
              <a:t>6</a:t>
            </a:r>
            <a:r>
              <a:rPr lang="en" sz="1250" dirty="0">
                <a:solidFill>
                  <a:srgbClr val="267F99"/>
                </a:solidFill>
                <a:highlight>
                  <a:srgbClr val="FFFFFF"/>
                </a:highlight>
                <a:latin typeface="Consolas"/>
                <a:ea typeface="Consolas"/>
                <a:cs typeface="Consolas"/>
                <a:sym typeface="Consolas"/>
              </a:rPr>
              <a:t>         System</a:t>
            </a:r>
            <a:r>
              <a:rPr lang="en" sz="1250" dirty="0">
                <a:solidFill>
                  <a:srgbClr val="3B3B3B"/>
                </a:solidFill>
                <a:highlight>
                  <a:srgbClr val="FFFFFF"/>
                </a:highlight>
                <a:latin typeface="Consolas"/>
                <a:ea typeface="Consolas"/>
                <a:cs typeface="Consolas"/>
                <a:sym typeface="Consolas"/>
              </a:rPr>
              <a:t>.</a:t>
            </a:r>
            <a:r>
              <a:rPr lang="en" sz="1250" dirty="0">
                <a:solidFill>
                  <a:srgbClr val="0070C1"/>
                </a:solidFill>
                <a:highlight>
                  <a:srgbClr val="FFFFFF"/>
                </a:highlight>
                <a:latin typeface="Consolas"/>
                <a:ea typeface="Consolas"/>
                <a:cs typeface="Consolas"/>
                <a:sym typeface="Consolas"/>
              </a:rPr>
              <a:t>out</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println</a:t>
            </a:r>
            <a:r>
              <a:rPr lang="en" sz="1250" dirty="0">
                <a:solidFill>
                  <a:srgbClr val="3B3B3B"/>
                </a:solidFill>
                <a:highlight>
                  <a:srgbClr val="FFFFFF"/>
                </a:highlight>
                <a:latin typeface="Consolas"/>
                <a:ea typeface="Consolas"/>
                <a:cs typeface="Consolas"/>
                <a:sym typeface="Consolas"/>
              </a:rPr>
              <a:t>(</a:t>
            </a:r>
            <a:r>
              <a:rPr lang="en" sz="1250" dirty="0">
                <a:solidFill>
                  <a:srgbClr val="001080"/>
                </a:solidFill>
                <a:highlight>
                  <a:srgbClr val="FFFFFF"/>
                </a:highlight>
                <a:latin typeface="Consolas"/>
                <a:ea typeface="Consolas"/>
                <a:cs typeface="Consolas"/>
                <a:sym typeface="Consolas"/>
              </a:rPr>
              <a:t>name</a:t>
            </a:r>
            <a:r>
              <a:rPr lang="en" sz="1250" dirty="0">
                <a:solidFill>
                  <a:srgbClr val="3B3B3B"/>
                </a:solidFill>
                <a:highlight>
                  <a:srgbClr val="FFFFFF"/>
                </a:highlight>
                <a:latin typeface="Consolas"/>
                <a:ea typeface="Consolas"/>
                <a:cs typeface="Consolas"/>
                <a:sym typeface="Consolas"/>
              </a:rPr>
              <a:t>));</a:t>
            </a:r>
            <a:endParaRPr sz="12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dirty="0">
                <a:solidFill>
                  <a:srgbClr val="008000"/>
                </a:solidFill>
                <a:highlight>
                  <a:srgbClr val="FFFFFF"/>
                </a:highlight>
                <a:latin typeface="Consolas"/>
                <a:ea typeface="Consolas"/>
                <a:cs typeface="Consolas"/>
                <a:sym typeface="Consolas"/>
              </a:rPr>
              <a:t>7</a:t>
            </a:r>
            <a:r>
              <a:rPr lang="en" sz="1250" dirty="0">
                <a:solidFill>
                  <a:srgbClr val="3B3B3B"/>
                </a:solidFill>
                <a:highlight>
                  <a:srgbClr val="FFFFFF"/>
                </a:highlight>
                <a:latin typeface="Consolas"/>
                <a:ea typeface="Consolas"/>
                <a:cs typeface="Consolas"/>
                <a:sym typeface="Consolas"/>
              </a:rPr>
              <a:t>  }</a:t>
            </a:r>
            <a:endParaRPr sz="125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dirty="0">
                <a:solidFill>
                  <a:srgbClr val="008000"/>
                </a:solidFill>
                <a:highlight>
                  <a:srgbClr val="FFFFFF"/>
                </a:highlight>
                <a:latin typeface="Consolas"/>
                <a:ea typeface="Consolas"/>
                <a:cs typeface="Consolas"/>
                <a:sym typeface="Consolas"/>
              </a:rPr>
              <a:t>8</a:t>
            </a:r>
            <a:r>
              <a:rPr lang="en" sz="1250" dirty="0">
                <a:solidFill>
                  <a:srgbClr val="001080"/>
                </a:solidFill>
                <a:highlight>
                  <a:srgbClr val="FFFFFF"/>
                </a:highlight>
                <a:latin typeface="Consolas"/>
                <a:ea typeface="Consolas"/>
                <a:cs typeface="Consolas"/>
                <a:sym typeface="Consolas"/>
              </a:rPr>
              <a:t>  exservice</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shutdown</a:t>
            </a:r>
            <a:r>
              <a:rPr lang="en" sz="1250" dirty="0">
                <a:solidFill>
                  <a:srgbClr val="3B3B3B"/>
                </a:solidFill>
                <a:highlight>
                  <a:srgbClr val="FFFFFF"/>
                </a:highlight>
                <a:latin typeface="Consolas"/>
                <a:ea typeface="Consolas"/>
                <a:cs typeface="Consolas"/>
                <a:sym typeface="Consolas"/>
              </a:rPr>
              <a:t>();</a:t>
            </a:r>
            <a:endParaRPr sz="1250" dirty="0">
              <a:solidFill>
                <a:srgbClr val="3B3B3B"/>
              </a:solidFill>
              <a:highlight>
                <a:srgbClr val="FFFFFF"/>
              </a:highlight>
              <a:latin typeface="Consolas"/>
              <a:ea typeface="Consolas"/>
              <a:cs typeface="Consolas"/>
              <a:sym typeface="Consolas"/>
            </a:endParaRPr>
          </a:p>
          <a:p>
            <a:pPr marL="0" lvl="0" indent="0" algn="l" rtl="0">
              <a:spcBef>
                <a:spcPts val="0"/>
              </a:spcBef>
              <a:spcAft>
                <a:spcPts val="1600"/>
              </a:spcAft>
              <a:buNone/>
            </a:pPr>
            <a:endParaRPr sz="1500" dirty="0"/>
          </a:p>
        </p:txBody>
      </p:sp>
      <p:sp>
        <p:nvSpPr>
          <p:cNvPr id="506" name="Google Shape;506;p55"/>
          <p:cNvSpPr txBox="1"/>
          <p:nvPr/>
        </p:nvSpPr>
        <p:spPr>
          <a:xfrm>
            <a:off x="121025" y="1458575"/>
            <a:ext cx="2423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Create an </a:t>
            </a:r>
            <a:r>
              <a:rPr lang="en" sz="1200" b="1" i="1">
                <a:solidFill>
                  <a:srgbClr val="FF0000"/>
                </a:solidFill>
                <a:latin typeface="Roboto"/>
                <a:ea typeface="Roboto"/>
                <a:cs typeface="Roboto"/>
                <a:sym typeface="Roboto"/>
              </a:rPr>
              <a:t>ExecutorService</a:t>
            </a:r>
            <a:r>
              <a:rPr lang="en" sz="1200">
                <a:latin typeface="Roboto"/>
                <a:ea typeface="Roboto"/>
                <a:cs typeface="Roboto"/>
                <a:sym typeface="Roboto"/>
              </a:rPr>
              <a:t> which has several implementations.</a:t>
            </a:r>
            <a:endParaRPr sz="1200">
              <a:latin typeface="Roboto"/>
              <a:ea typeface="Roboto"/>
              <a:cs typeface="Roboto"/>
              <a:sym typeface="Roboto"/>
            </a:endParaRPr>
          </a:p>
        </p:txBody>
      </p:sp>
      <p:sp>
        <p:nvSpPr>
          <p:cNvPr id="507" name="Google Shape;507;p55"/>
          <p:cNvSpPr/>
          <p:nvPr/>
        </p:nvSpPr>
        <p:spPr>
          <a:xfrm>
            <a:off x="3015150" y="1917736"/>
            <a:ext cx="3237000" cy="487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508" name="Google Shape;508;p55"/>
          <p:cNvCxnSpPr>
            <a:stCxn id="506" idx="3"/>
            <a:endCxn id="507" idx="0"/>
          </p:cNvCxnSpPr>
          <p:nvPr/>
        </p:nvCxnSpPr>
        <p:spPr>
          <a:xfrm>
            <a:off x="2544125" y="1735625"/>
            <a:ext cx="2089500" cy="182100"/>
          </a:xfrm>
          <a:prstGeom prst="bentConnector2">
            <a:avLst/>
          </a:prstGeom>
          <a:noFill/>
          <a:ln w="19050" cap="flat" cmpd="sng">
            <a:solidFill>
              <a:srgbClr val="FF0000"/>
            </a:solidFill>
            <a:prstDash val="solid"/>
            <a:round/>
            <a:headEnd type="none" w="med" len="med"/>
            <a:tailEnd type="none" w="med" len="med"/>
          </a:ln>
        </p:spPr>
      </p:cxnSp>
      <p:sp>
        <p:nvSpPr>
          <p:cNvPr id="509" name="Google Shape;509;p55"/>
          <p:cNvSpPr txBox="1"/>
          <p:nvPr/>
        </p:nvSpPr>
        <p:spPr>
          <a:xfrm>
            <a:off x="121025" y="2774900"/>
            <a:ext cx="2423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b="1" i="1">
                <a:solidFill>
                  <a:srgbClr val="FF0000"/>
                </a:solidFill>
                <a:latin typeface="Roboto"/>
                <a:ea typeface="Roboto"/>
                <a:cs typeface="Roboto"/>
                <a:sym typeface="Roboto"/>
              </a:rPr>
              <a:t>Submit tasks</a:t>
            </a:r>
            <a:r>
              <a:rPr lang="en" sz="1200">
                <a:latin typeface="Roboto"/>
                <a:ea typeface="Roboto"/>
                <a:cs typeface="Roboto"/>
                <a:sym typeface="Roboto"/>
              </a:rPr>
              <a:t> to the executor service.</a:t>
            </a:r>
            <a:endParaRPr sz="1200">
              <a:latin typeface="Roboto"/>
              <a:ea typeface="Roboto"/>
              <a:cs typeface="Roboto"/>
              <a:sym typeface="Roboto"/>
            </a:endParaRPr>
          </a:p>
        </p:txBody>
      </p:sp>
      <p:sp>
        <p:nvSpPr>
          <p:cNvPr id="510" name="Google Shape;510;p55"/>
          <p:cNvSpPr/>
          <p:nvPr/>
        </p:nvSpPr>
        <p:spPr>
          <a:xfrm>
            <a:off x="3015150" y="2951408"/>
            <a:ext cx="3237000" cy="487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511" name="Google Shape;511;p55"/>
          <p:cNvCxnSpPr>
            <a:stCxn id="509" idx="3"/>
            <a:endCxn id="510" idx="1"/>
          </p:cNvCxnSpPr>
          <p:nvPr/>
        </p:nvCxnSpPr>
        <p:spPr>
          <a:xfrm>
            <a:off x="2544125" y="3051950"/>
            <a:ext cx="471000" cy="143400"/>
          </a:xfrm>
          <a:prstGeom prst="bentConnector3">
            <a:avLst>
              <a:gd name="adj1" fmla="val 50003"/>
            </a:avLst>
          </a:prstGeom>
          <a:noFill/>
          <a:ln w="19050" cap="flat" cmpd="sng">
            <a:solidFill>
              <a:srgbClr val="FF0000"/>
            </a:solidFill>
            <a:prstDash val="solid"/>
            <a:round/>
            <a:headEnd type="none" w="med" len="med"/>
            <a:tailEnd type="none" w="med" len="med"/>
          </a:ln>
        </p:spPr>
      </p:cxnSp>
      <p:sp>
        <p:nvSpPr>
          <p:cNvPr id="512" name="Google Shape;512;p55"/>
          <p:cNvSpPr txBox="1"/>
          <p:nvPr/>
        </p:nvSpPr>
        <p:spPr>
          <a:xfrm>
            <a:off x="121025" y="4091225"/>
            <a:ext cx="2423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b="1" i="1">
                <a:solidFill>
                  <a:srgbClr val="FF0000"/>
                </a:solidFill>
                <a:latin typeface="Roboto"/>
                <a:ea typeface="Roboto"/>
                <a:cs typeface="Roboto"/>
                <a:sym typeface="Roboto"/>
              </a:rPr>
              <a:t>Stop</a:t>
            </a:r>
            <a:r>
              <a:rPr lang="en" sz="1200">
                <a:latin typeface="Roboto"/>
                <a:ea typeface="Roboto"/>
                <a:cs typeface="Roboto"/>
                <a:sym typeface="Roboto"/>
              </a:rPr>
              <a:t> the executor service after all tasks have started.</a:t>
            </a:r>
            <a:endParaRPr sz="1200">
              <a:latin typeface="Roboto"/>
              <a:ea typeface="Roboto"/>
              <a:cs typeface="Roboto"/>
              <a:sym typeface="Roboto"/>
            </a:endParaRPr>
          </a:p>
        </p:txBody>
      </p:sp>
      <p:sp>
        <p:nvSpPr>
          <p:cNvPr id="513" name="Google Shape;513;p55"/>
          <p:cNvSpPr/>
          <p:nvPr/>
        </p:nvSpPr>
        <p:spPr>
          <a:xfrm>
            <a:off x="3015150" y="3691308"/>
            <a:ext cx="3237000" cy="304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514" name="Google Shape;514;p55"/>
          <p:cNvCxnSpPr>
            <a:stCxn id="512" idx="3"/>
            <a:endCxn id="513" idx="2"/>
          </p:cNvCxnSpPr>
          <p:nvPr/>
        </p:nvCxnSpPr>
        <p:spPr>
          <a:xfrm rot="10800000" flipH="1">
            <a:off x="2544125" y="3995975"/>
            <a:ext cx="2089500" cy="372300"/>
          </a:xfrm>
          <a:prstGeom prst="bentConnector2">
            <a:avLst/>
          </a:prstGeom>
          <a:noFill/>
          <a:ln w="19050" cap="flat" cmpd="sng">
            <a:solidFill>
              <a:srgbClr val="FF0000"/>
            </a:solidFill>
            <a:prstDash val="solid"/>
            <a:round/>
            <a:headEnd type="none" w="med" len="med"/>
            <a:tailEnd type="none" w="med" len="med"/>
          </a:ln>
        </p:spPr>
      </p:cxnSp>
      <p:sp>
        <p:nvSpPr>
          <p:cNvPr id="515" name="Google Shape;515;p55"/>
          <p:cNvSpPr txBox="1"/>
          <p:nvPr/>
        </p:nvSpPr>
        <p:spPr>
          <a:xfrm>
            <a:off x="6598050" y="2173525"/>
            <a:ext cx="2423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We're using a </a:t>
            </a:r>
            <a:r>
              <a:rPr lang="en" sz="1200" b="1" i="1">
                <a:solidFill>
                  <a:srgbClr val="FF0000"/>
                </a:solidFill>
                <a:latin typeface="Roboto"/>
                <a:ea typeface="Roboto"/>
                <a:cs typeface="Roboto"/>
                <a:sym typeface="Roboto"/>
              </a:rPr>
              <a:t>cached thread pool</a:t>
            </a:r>
            <a:r>
              <a:rPr lang="en" sz="1200">
                <a:latin typeface="Roboto"/>
                <a:ea typeface="Roboto"/>
                <a:cs typeface="Roboto"/>
                <a:sym typeface="Roboto"/>
              </a:rPr>
              <a:t> for our executor service.</a:t>
            </a:r>
            <a:endParaRPr sz="1200">
              <a:latin typeface="Roboto"/>
              <a:ea typeface="Roboto"/>
              <a:cs typeface="Roboto"/>
              <a:sym typeface="Roboto"/>
            </a:endParaRPr>
          </a:p>
        </p:txBody>
      </p:sp>
      <p:sp>
        <p:nvSpPr>
          <p:cNvPr id="516" name="Google Shape;516;p55"/>
          <p:cNvSpPr txBox="1"/>
          <p:nvPr/>
        </p:nvSpPr>
        <p:spPr>
          <a:xfrm>
            <a:off x="6598050" y="3395650"/>
            <a:ext cx="2423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Tasks can be submitted as </a:t>
            </a:r>
            <a:r>
              <a:rPr lang="en" sz="1200" b="1" i="1">
                <a:solidFill>
                  <a:srgbClr val="FF0000"/>
                </a:solidFill>
                <a:latin typeface="Roboto"/>
                <a:ea typeface="Roboto"/>
                <a:cs typeface="Roboto"/>
                <a:sym typeface="Roboto"/>
              </a:rPr>
              <a:t>lambdas</a:t>
            </a:r>
            <a:r>
              <a:rPr lang="en" sz="1200">
                <a:latin typeface="Roboto"/>
                <a:ea typeface="Roboto"/>
                <a:cs typeface="Roboto"/>
                <a:sym typeface="Roboto"/>
              </a:rPr>
              <a:t> or </a:t>
            </a:r>
            <a:r>
              <a:rPr lang="en" sz="1200" b="1" i="1">
                <a:solidFill>
                  <a:srgbClr val="FF0000"/>
                </a:solidFill>
                <a:latin typeface="Roboto"/>
                <a:ea typeface="Roboto"/>
                <a:cs typeface="Roboto"/>
                <a:sym typeface="Roboto"/>
              </a:rPr>
              <a:t>Runnables</a:t>
            </a:r>
            <a:r>
              <a:rPr lang="en" sz="1200">
                <a:latin typeface="Roboto"/>
                <a:ea typeface="Roboto"/>
                <a:cs typeface="Roboto"/>
                <a:sym typeface="Roboto"/>
              </a:rPr>
              <a:t>.</a:t>
            </a:r>
            <a:endParaRPr sz="12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8"/>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5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09"/>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1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11"/>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12"/>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51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5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Executor Implementations</a:t>
            </a:r>
            <a:endParaRPr/>
          </a:p>
        </p:txBody>
      </p:sp>
      <p:sp>
        <p:nvSpPr>
          <p:cNvPr id="522" name="Google Shape;522;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523" name="Google Shape;523;p56"/>
          <p:cNvSpPr txBox="1"/>
          <p:nvPr/>
        </p:nvSpPr>
        <p:spPr>
          <a:xfrm>
            <a:off x="315925" y="1612875"/>
            <a:ext cx="3614700" cy="504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rgbClr val="4A6782"/>
                </a:solidFill>
                <a:uFill>
                  <a:noFill/>
                </a:u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newCachedThreadPool</a:t>
            </a:r>
            <a:r>
              <a:rPr lang="en">
                <a:solidFill>
                  <a:srgbClr val="353833"/>
                </a:solidFill>
                <a:latin typeface="Courier New"/>
                <a:ea typeface="Courier New"/>
                <a:cs typeface="Courier New"/>
                <a:sym typeface="Courier New"/>
              </a:rPr>
              <a:t>()</a:t>
            </a:r>
            <a:endParaRPr>
              <a:solidFill>
                <a:schemeClr val="dk2"/>
              </a:solidFill>
              <a:latin typeface="Roboto"/>
              <a:ea typeface="Roboto"/>
              <a:cs typeface="Roboto"/>
              <a:sym typeface="Roboto"/>
            </a:endParaRPr>
          </a:p>
        </p:txBody>
      </p:sp>
      <p:sp>
        <p:nvSpPr>
          <p:cNvPr id="524" name="Google Shape;524;p56"/>
          <p:cNvSpPr txBox="1"/>
          <p:nvPr/>
        </p:nvSpPr>
        <p:spPr>
          <a:xfrm>
            <a:off x="315925" y="2638900"/>
            <a:ext cx="3610500" cy="738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rgbClr val="4A6782"/>
                </a:solidFill>
                <a:uFill>
                  <a:noFill/>
                </a:uFill>
                <a:latin typeface="Courier New"/>
                <a:ea typeface="Courier New"/>
                <a:cs typeface="Courier New"/>
                <a:sym typeface="Courier New"/>
                <a:hlinkClick r:id="rId4">
                  <a:extLst>
                    <a:ext uri="{A12FA001-AC4F-418D-AE19-62706E023703}">
                      <ahyp:hlinkClr xmlns:ahyp="http://schemas.microsoft.com/office/drawing/2018/hyperlinkcolor" val="tx"/>
                    </a:ext>
                  </a:extLst>
                </a:hlinkClick>
              </a:rPr>
              <a:t>newFixedThreadPool</a:t>
            </a:r>
            <a:r>
              <a:rPr lang="en">
                <a:solidFill>
                  <a:srgbClr val="353833"/>
                </a:solidFill>
                <a:latin typeface="Courier New"/>
                <a:ea typeface="Courier New"/>
                <a:cs typeface="Courier New"/>
                <a:sym typeface="Courier New"/>
              </a:rPr>
              <a:t>(int nThreads)</a:t>
            </a:r>
            <a:endParaRPr b="1">
              <a:solidFill>
                <a:schemeClr val="dk2"/>
              </a:solidFill>
              <a:highlight>
                <a:srgbClr val="EEEEEF"/>
              </a:highlight>
              <a:latin typeface="Courier New"/>
              <a:ea typeface="Courier New"/>
              <a:cs typeface="Courier New"/>
              <a:sym typeface="Courier New"/>
            </a:endParaRPr>
          </a:p>
        </p:txBody>
      </p:sp>
      <p:sp>
        <p:nvSpPr>
          <p:cNvPr id="525" name="Google Shape;525;p56"/>
          <p:cNvSpPr txBox="1"/>
          <p:nvPr/>
        </p:nvSpPr>
        <p:spPr>
          <a:xfrm>
            <a:off x="315925" y="3899525"/>
            <a:ext cx="3610500" cy="504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a:solidFill>
                  <a:srgbClr val="4A6782"/>
                </a:solidFill>
                <a:uFill>
                  <a:noFill/>
                </a:uFill>
                <a:latin typeface="Courier New"/>
                <a:ea typeface="Courier New"/>
                <a:cs typeface="Courier New"/>
                <a:sym typeface="Courier New"/>
                <a:hlinkClick r:id="rId5">
                  <a:extLst>
                    <a:ext uri="{A12FA001-AC4F-418D-AE19-62706E023703}">
                      <ahyp:hlinkClr xmlns:ahyp="http://schemas.microsoft.com/office/drawing/2018/hyperlinkcolor" val="tx"/>
                    </a:ext>
                  </a:extLst>
                </a:hlinkClick>
              </a:rPr>
              <a:t>newSingleThreadExecutor</a:t>
            </a:r>
            <a:r>
              <a:rPr lang="en">
                <a:solidFill>
                  <a:srgbClr val="353833"/>
                </a:solidFill>
                <a:latin typeface="Courier New"/>
                <a:ea typeface="Courier New"/>
                <a:cs typeface="Courier New"/>
                <a:sym typeface="Courier New"/>
              </a:rPr>
              <a:t>()</a:t>
            </a:r>
            <a:endParaRPr b="1">
              <a:solidFill>
                <a:schemeClr val="dk2"/>
              </a:solidFill>
              <a:highlight>
                <a:srgbClr val="EEEEEF"/>
              </a:highlight>
              <a:latin typeface="Courier New"/>
              <a:ea typeface="Courier New"/>
              <a:cs typeface="Courier New"/>
              <a:sym typeface="Courier New"/>
            </a:endParaRPr>
          </a:p>
        </p:txBody>
      </p:sp>
      <p:sp>
        <p:nvSpPr>
          <p:cNvPr id="526" name="Google Shape;526;p56"/>
          <p:cNvSpPr txBox="1"/>
          <p:nvPr/>
        </p:nvSpPr>
        <p:spPr>
          <a:xfrm>
            <a:off x="3926525" y="1587975"/>
            <a:ext cx="45459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Adds threads to </a:t>
            </a:r>
            <a:r>
              <a:rPr lang="en" sz="1200" b="1" i="1">
                <a:solidFill>
                  <a:srgbClr val="FF0000"/>
                </a:solidFill>
                <a:latin typeface="Roboto"/>
                <a:ea typeface="Roboto"/>
                <a:cs typeface="Roboto"/>
                <a:sym typeface="Roboto"/>
              </a:rPr>
              <a:t>manage all current tasks</a:t>
            </a:r>
            <a:r>
              <a:rPr lang="en" sz="1200">
                <a:latin typeface="Roboto"/>
                <a:ea typeface="Roboto"/>
                <a:cs typeface="Roboto"/>
                <a:sym typeface="Roboto"/>
              </a:rPr>
              <a:t> but </a:t>
            </a:r>
            <a:r>
              <a:rPr lang="en" sz="1200" b="1" i="1">
                <a:solidFill>
                  <a:srgbClr val="FF0000"/>
                </a:solidFill>
                <a:latin typeface="Roboto"/>
                <a:ea typeface="Roboto"/>
                <a:cs typeface="Roboto"/>
                <a:sym typeface="Roboto"/>
              </a:rPr>
              <a:t>reuses threads</a:t>
            </a:r>
            <a:r>
              <a:rPr lang="en" sz="1200">
                <a:latin typeface="Roboto"/>
                <a:ea typeface="Roboto"/>
                <a:cs typeface="Roboto"/>
                <a:sym typeface="Roboto"/>
              </a:rPr>
              <a:t> after a task finishes rather than deleting the old thread.</a:t>
            </a:r>
            <a:endParaRPr sz="1200">
              <a:latin typeface="Roboto"/>
              <a:ea typeface="Roboto"/>
              <a:cs typeface="Roboto"/>
              <a:sym typeface="Roboto"/>
            </a:endParaRPr>
          </a:p>
        </p:txBody>
      </p:sp>
      <p:sp>
        <p:nvSpPr>
          <p:cNvPr id="527" name="Google Shape;527;p56"/>
          <p:cNvSpPr txBox="1"/>
          <p:nvPr/>
        </p:nvSpPr>
        <p:spPr>
          <a:xfrm>
            <a:off x="3930725" y="2638900"/>
            <a:ext cx="4545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b="1" i="1" dirty="0">
                <a:solidFill>
                  <a:srgbClr val="FF0000"/>
                </a:solidFill>
                <a:latin typeface="Roboto"/>
                <a:ea typeface="Roboto"/>
                <a:cs typeface="Roboto"/>
                <a:sym typeface="Roboto"/>
              </a:rPr>
              <a:t>Creates</a:t>
            </a:r>
            <a:r>
              <a:rPr lang="en" sz="1200" dirty="0">
                <a:latin typeface="Roboto"/>
                <a:ea typeface="Roboto"/>
                <a:cs typeface="Roboto"/>
                <a:sym typeface="Roboto"/>
              </a:rPr>
              <a:t> </a:t>
            </a:r>
            <a:r>
              <a:rPr lang="en" sz="1200" dirty="0">
                <a:solidFill>
                  <a:srgbClr val="FF0000"/>
                </a:solidFill>
                <a:latin typeface="Courier New"/>
                <a:ea typeface="Courier New"/>
                <a:cs typeface="Courier New"/>
                <a:sym typeface="Courier New"/>
              </a:rPr>
              <a:t>nThreads</a:t>
            </a:r>
            <a:r>
              <a:rPr lang="en" sz="1200" dirty="0">
                <a:latin typeface="Roboto"/>
                <a:ea typeface="Roboto"/>
                <a:cs typeface="Roboto"/>
                <a:sym typeface="Roboto"/>
              </a:rPr>
              <a:t> </a:t>
            </a:r>
            <a:r>
              <a:rPr lang="en" sz="1200" b="1" i="1" dirty="0">
                <a:solidFill>
                  <a:srgbClr val="FF0000"/>
                </a:solidFill>
                <a:latin typeface="Roboto"/>
                <a:ea typeface="Roboto"/>
                <a:cs typeface="Roboto"/>
                <a:sym typeface="Roboto"/>
              </a:rPr>
              <a:t>threads</a:t>
            </a:r>
            <a:r>
              <a:rPr lang="en" sz="1200" dirty="0">
                <a:latin typeface="Roboto"/>
                <a:ea typeface="Roboto"/>
                <a:cs typeface="Roboto"/>
                <a:sym typeface="Roboto"/>
              </a:rPr>
              <a:t> and services tasks on those threads. When all threads are in use, </a:t>
            </a:r>
            <a:r>
              <a:rPr lang="en" sz="1200" b="1" i="1" dirty="0">
                <a:solidFill>
                  <a:srgbClr val="FF0000"/>
                </a:solidFill>
                <a:latin typeface="Roboto"/>
                <a:ea typeface="Roboto"/>
                <a:cs typeface="Roboto"/>
                <a:sym typeface="Roboto"/>
              </a:rPr>
              <a:t>newer tasks wait</a:t>
            </a:r>
            <a:r>
              <a:rPr lang="en" sz="1200" dirty="0">
                <a:latin typeface="Roboto"/>
                <a:ea typeface="Roboto"/>
                <a:cs typeface="Roboto"/>
                <a:sym typeface="Roboto"/>
              </a:rPr>
              <a:t> to be started until a thread is free.</a:t>
            </a:r>
            <a:endParaRPr sz="1200" dirty="0">
              <a:latin typeface="Roboto"/>
              <a:ea typeface="Roboto"/>
              <a:cs typeface="Roboto"/>
              <a:sym typeface="Roboto"/>
            </a:endParaRPr>
          </a:p>
        </p:txBody>
      </p:sp>
      <p:sp>
        <p:nvSpPr>
          <p:cNvPr id="528" name="Google Shape;528;p56"/>
          <p:cNvSpPr txBox="1"/>
          <p:nvPr/>
        </p:nvSpPr>
        <p:spPr>
          <a:xfrm>
            <a:off x="3930725" y="3899525"/>
            <a:ext cx="45459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Creates a </a:t>
            </a:r>
            <a:r>
              <a:rPr lang="en" sz="1200" b="1" i="1" dirty="0">
                <a:solidFill>
                  <a:srgbClr val="FF0000"/>
                </a:solidFill>
                <a:latin typeface="Roboto"/>
                <a:ea typeface="Roboto"/>
                <a:cs typeface="Roboto"/>
                <a:sym typeface="Roboto"/>
              </a:rPr>
              <a:t>single thread</a:t>
            </a:r>
            <a:r>
              <a:rPr lang="en" sz="1200" dirty="0">
                <a:latin typeface="Roboto"/>
                <a:ea typeface="Roboto"/>
                <a:cs typeface="Roboto"/>
                <a:sym typeface="Roboto"/>
              </a:rPr>
              <a:t> and executes all tasks on it. Tasks will be </a:t>
            </a:r>
            <a:r>
              <a:rPr lang="en" sz="1200" b="1" i="1" dirty="0">
                <a:solidFill>
                  <a:srgbClr val="FF0000"/>
                </a:solidFill>
                <a:latin typeface="Roboto"/>
                <a:ea typeface="Roboto"/>
                <a:cs typeface="Roboto"/>
                <a:sym typeface="Roboto"/>
              </a:rPr>
              <a:t>completed in the order</a:t>
            </a:r>
            <a:r>
              <a:rPr lang="en" sz="1200" dirty="0">
                <a:latin typeface="Roboto"/>
                <a:ea typeface="Roboto"/>
                <a:cs typeface="Roboto"/>
                <a:sym typeface="Roboto"/>
              </a:rPr>
              <a:t> they are submitted.</a:t>
            </a:r>
            <a:endParaRPr sz="1200" dirty="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5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Lots of Fast Racers</a:t>
            </a:r>
            <a:endParaRPr/>
          </a:p>
        </p:txBody>
      </p:sp>
      <p:sp>
        <p:nvSpPr>
          <p:cNvPr id="534" name="Google Shape;534;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535" name="Google Shape;535;p5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try using the executor service to race our one million racers. You can use either the Cached Pool or Fixed Pool executor services. If you use a fixed pool, what should the size be?</a:t>
            </a:r>
            <a:endParaRPr/>
          </a:p>
        </p:txBody>
      </p:sp>
      <p:sp>
        <p:nvSpPr>
          <p:cNvPr id="536" name="Google Shape;536;p57"/>
          <p:cNvSpPr txBox="1">
            <a:spLocks noGrp="1"/>
          </p:cNvSpPr>
          <p:nvPr>
            <p:ph type="body" idx="2"/>
          </p:nvPr>
        </p:nvSpPr>
        <p:spPr>
          <a:xfrm>
            <a:off x="3226250" y="1534075"/>
            <a:ext cx="5715000" cy="2938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b="1" i="1" dirty="0">
                <a:solidFill>
                  <a:srgbClr val="FF0000"/>
                </a:solidFill>
              </a:rPr>
              <a:t>Modify </a:t>
            </a:r>
            <a:r>
              <a:rPr lang="en" dirty="0"/>
              <a:t>your existing </a:t>
            </a:r>
            <a:r>
              <a:rPr lang="en" dirty="0">
                <a:latin typeface="Courier New"/>
                <a:ea typeface="Courier New"/>
                <a:cs typeface="Courier New"/>
                <a:sym typeface="Courier New"/>
              </a:rPr>
              <a:t>LotsORacers</a:t>
            </a:r>
            <a:r>
              <a:rPr lang="en" dirty="0"/>
              <a:t> class to use an </a:t>
            </a:r>
            <a:r>
              <a:rPr lang="en" dirty="0">
                <a:solidFill>
                  <a:srgbClr val="FF0000"/>
                </a:solidFill>
                <a:latin typeface="Courier New"/>
                <a:ea typeface="Courier New"/>
                <a:cs typeface="Courier New"/>
                <a:sym typeface="Courier New"/>
              </a:rPr>
              <a:t>ExecutorService</a:t>
            </a:r>
            <a:r>
              <a:rPr lang="en" dirty="0"/>
              <a:t> for managing the threads/tasks.</a:t>
            </a:r>
            <a:endParaRPr dirty="0"/>
          </a:p>
          <a:p>
            <a:pPr marL="914400" lvl="1" indent="-298450" algn="l" rtl="0">
              <a:spcBef>
                <a:spcPts val="0"/>
              </a:spcBef>
              <a:spcAft>
                <a:spcPts val="0"/>
              </a:spcAft>
              <a:buSzPts val="1100"/>
              <a:buChar char="○"/>
            </a:pPr>
            <a:r>
              <a:rPr lang="en" dirty="0"/>
              <a:t>Using the lambda implementation, submit the lambdas directly to the executor service.</a:t>
            </a:r>
            <a:endParaRPr dirty="0"/>
          </a:p>
          <a:p>
            <a:pPr marL="457200" lvl="0" indent="-311150" algn="l" rtl="0">
              <a:spcBef>
                <a:spcPts val="0"/>
              </a:spcBef>
              <a:spcAft>
                <a:spcPts val="0"/>
              </a:spcAft>
              <a:buSzPts val="1300"/>
              <a:buChar char="●"/>
            </a:pPr>
            <a:r>
              <a:rPr lang="en" dirty="0"/>
              <a:t>If you use the Fixed Thread Pool, </a:t>
            </a:r>
            <a:r>
              <a:rPr lang="en" dirty="0">
                <a:highlight>
                  <a:srgbClr val="FFFF00"/>
                </a:highlight>
              </a:rPr>
              <a:t>set the size to the number of virtual cores your machine has</a:t>
            </a:r>
            <a:r>
              <a:rPr lang="en" dirty="0"/>
              <a:t>. </a:t>
            </a:r>
            <a:endParaRPr dirty="0"/>
          </a:p>
          <a:p>
            <a:pPr marL="914400" lvl="1" indent="-298450" algn="l" rtl="0">
              <a:spcBef>
                <a:spcPts val="0"/>
              </a:spcBef>
              <a:spcAft>
                <a:spcPts val="0"/>
              </a:spcAft>
              <a:buSzPts val="1100"/>
              <a:buChar char="○"/>
            </a:pPr>
            <a:r>
              <a:rPr lang="en" dirty="0">
                <a:highlight>
                  <a:srgbClr val="FFFF00"/>
                </a:highlight>
              </a:rPr>
              <a:t>If you don't know, 12 is a reasonable average for most systems.</a:t>
            </a:r>
            <a:endParaRPr dirty="0">
              <a:highlight>
                <a:srgbClr val="FFFF00"/>
              </a:highlight>
            </a:endParaRPr>
          </a:p>
          <a:p>
            <a:pPr marL="457200" lvl="0" indent="-311150" algn="l" rtl="0">
              <a:spcBef>
                <a:spcPts val="0"/>
              </a:spcBef>
              <a:spcAft>
                <a:spcPts val="0"/>
              </a:spcAft>
              <a:buSzPts val="1300"/>
              <a:buChar char="●"/>
            </a:pPr>
            <a:r>
              <a:rPr lang="en" dirty="0">
                <a:highlight>
                  <a:srgbClr val="FFFF00"/>
                </a:highlight>
              </a:rPr>
              <a:t>Don't forget to </a:t>
            </a:r>
            <a:r>
              <a:rPr lang="en" b="1" i="1" dirty="0">
                <a:solidFill>
                  <a:srgbClr val="FF0000"/>
                </a:solidFill>
                <a:highlight>
                  <a:srgbClr val="FFFF00"/>
                </a:highlight>
              </a:rPr>
              <a:t>shutdown </a:t>
            </a:r>
            <a:r>
              <a:rPr lang="en" dirty="0">
                <a:highlight>
                  <a:srgbClr val="FFFF00"/>
                </a:highlight>
              </a:rPr>
              <a:t>your executor service after you submit all the tasks or it will cause your program to hang at the end.</a:t>
            </a:r>
            <a:endParaRPr dirty="0">
              <a:highlight>
                <a:srgbClr val="FFFF00"/>
              </a:highlight>
            </a:endParaRPr>
          </a:p>
          <a:p>
            <a:pPr marL="457200" lvl="0" indent="-311150" algn="l" rtl="0">
              <a:spcBef>
                <a:spcPts val="0"/>
              </a:spcBef>
              <a:spcAft>
                <a:spcPts val="0"/>
              </a:spcAft>
              <a:buSzPts val="1300"/>
              <a:buChar char="●"/>
            </a:pPr>
            <a:r>
              <a:rPr lang="en" dirty="0"/>
              <a:t>Run the program again and see how long it takes to complete.</a:t>
            </a:r>
            <a:endParaRPr dirty="0"/>
          </a:p>
          <a:p>
            <a:pPr marL="914400" lvl="1" indent="-298450" algn="l" rtl="0">
              <a:spcBef>
                <a:spcPts val="0"/>
              </a:spcBef>
              <a:spcAft>
                <a:spcPts val="0"/>
              </a:spcAft>
              <a:buSzPts val="1100"/>
              <a:buChar char="○"/>
            </a:pPr>
            <a:r>
              <a:rPr lang="en" dirty="0"/>
              <a:t>Like last time, print something at the end so you know it's completed.</a:t>
            </a:r>
            <a:endParaRPr dirty="0"/>
          </a:p>
          <a:p>
            <a:pPr marL="914400" lvl="1" indent="-298450" algn="l" rtl="0">
              <a:spcBef>
                <a:spcPts val="0"/>
              </a:spcBef>
              <a:spcAft>
                <a:spcPts val="0"/>
              </a:spcAft>
              <a:buSzPts val="1100"/>
              <a:buChar char="○"/>
            </a:pPr>
            <a:r>
              <a:rPr lang="en" dirty="0"/>
              <a:t>If you have time, try running with the other executor service you didn't use and see if there is much of a difference.</a:t>
            </a:r>
            <a:endParaRPr dirty="0"/>
          </a:p>
        </p:txBody>
      </p:sp>
      <p:sp>
        <p:nvSpPr>
          <p:cNvPr id="537" name="Google Shape;537;p5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8.10</a:t>
            </a:r>
            <a:endParaRPr/>
          </a:p>
        </p:txBody>
      </p:sp>
      <p:sp>
        <p:nvSpPr>
          <p:cNvPr id="538" name="Google Shape;538;p57"/>
          <p:cNvSpPr txBox="1">
            <a:spLocks noGrp="1"/>
          </p:cNvSpPr>
          <p:nvPr>
            <p:ph type="body" idx="4"/>
          </p:nvPr>
        </p:nvSpPr>
        <p:spPr>
          <a:xfrm>
            <a:off x="202550" y="3652526"/>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While the example uses lambdas, you can also submit Runnables.</a:t>
            </a:r>
            <a:endParaRPr/>
          </a:p>
        </p:txBody>
      </p:sp>
      <p:sp>
        <p:nvSpPr>
          <p:cNvPr id="539" name="Google Shape;539;p57"/>
          <p:cNvSpPr txBox="1">
            <a:spLocks noGrp="1"/>
          </p:cNvSpPr>
          <p:nvPr>
            <p:ph type="body" idx="4"/>
          </p:nvPr>
        </p:nvSpPr>
        <p:spPr>
          <a:xfrm>
            <a:off x="202550" y="1534076"/>
            <a:ext cx="3023700" cy="20097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ExecutorService</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    Executors</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newCachedThreadPool</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AF00DB"/>
                </a:solidFill>
                <a:highlight>
                  <a:srgbClr val="FFFFFF"/>
                </a:highlight>
                <a:latin typeface="Consolas"/>
                <a:ea typeface="Consolas"/>
                <a:cs typeface="Consolas"/>
                <a:sym typeface="Consolas"/>
              </a:rPr>
              <a:t>for</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&lt;=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10</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"Task "</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submit</a:t>
            </a:r>
            <a:r>
              <a:rPr lang="en" sz="1000">
                <a:solidFill>
                  <a:srgbClr val="3B3B3B"/>
                </a:solidFill>
                <a:highlight>
                  <a:srgbClr val="FFFFFF"/>
                </a:highlight>
                <a:latin typeface="Consolas"/>
                <a:ea typeface="Consolas"/>
                <a:cs typeface="Consolas"/>
                <a:sym typeface="Consolas"/>
              </a:rPr>
              <a:t>(()</a:t>
            </a:r>
            <a:r>
              <a:rPr lang="en" sz="1000">
                <a:solidFill>
                  <a:srgbClr val="0000FF"/>
                </a:solidFill>
                <a:highlight>
                  <a:srgbClr val="FFFFFF"/>
                </a:highlight>
                <a:latin typeface="Consolas"/>
                <a:ea typeface="Consolas"/>
                <a:cs typeface="Consolas"/>
                <a:sym typeface="Consolas"/>
              </a:rPr>
              <a:t>-&gt;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       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shutdown</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spcBef>
                <a:spcPts val="0"/>
              </a:spcBef>
              <a:spcAft>
                <a:spcPts val="0"/>
              </a:spcAft>
              <a:buNone/>
            </a:pPr>
            <a:endParaRPr sz="1000"/>
          </a:p>
        </p:txBody>
      </p:sp>
      <p:sp>
        <p:nvSpPr>
          <p:cNvPr id="540" name="Google Shape;540;p57"/>
          <p:cNvSpPr txBox="1">
            <a:spLocks noGrp="1"/>
          </p:cNvSpPr>
          <p:nvPr>
            <p:ph type="body" idx="4"/>
          </p:nvPr>
        </p:nvSpPr>
        <p:spPr>
          <a:xfrm>
            <a:off x="202550" y="4315376"/>
            <a:ext cx="3023700" cy="5580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00">
                <a:solidFill>
                  <a:srgbClr val="267F99"/>
                </a:solidFill>
                <a:highlight>
                  <a:schemeClr val="lt1"/>
                </a:highlight>
                <a:latin typeface="Consolas"/>
                <a:ea typeface="Consolas"/>
                <a:cs typeface="Consolas"/>
                <a:sym typeface="Consolas"/>
              </a:rPr>
              <a:t>MyRunnable</a:t>
            </a:r>
            <a:r>
              <a:rPr lang="en" sz="1000">
                <a:solidFill>
                  <a:srgbClr val="3B3B3B"/>
                </a:solidFill>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runner</a:t>
            </a:r>
            <a:r>
              <a:rPr lang="en" sz="1000">
                <a:solidFill>
                  <a:srgbClr val="3B3B3B"/>
                </a:solidFill>
                <a:highlight>
                  <a:schemeClr val="lt1"/>
                </a:highlight>
                <a:latin typeface="Consolas"/>
                <a:ea typeface="Consolas"/>
                <a:cs typeface="Consolas"/>
                <a:sym typeface="Consolas"/>
              </a:rPr>
              <a:t> </a:t>
            </a:r>
            <a:r>
              <a:rPr lang="en" sz="1000">
                <a:highlight>
                  <a:schemeClr val="lt1"/>
                </a:highlight>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MyRunnable</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1</a:t>
            </a:r>
            <a:r>
              <a:rPr lang="en" sz="1050">
                <a:latin typeface="Consolas"/>
                <a:ea typeface="Consolas"/>
                <a:cs typeface="Consolas"/>
                <a:sym typeface="Consolas"/>
              </a:rPr>
              <a:t>)</a:t>
            </a:r>
            <a:r>
              <a:rPr lang="en" sz="1000">
                <a:solidFill>
                  <a:srgbClr val="3B3B3B"/>
                </a:solidFill>
                <a:highlight>
                  <a:schemeClr val="lt1"/>
                </a:highlight>
                <a:latin typeface="Consolas"/>
                <a:ea typeface="Consolas"/>
                <a:cs typeface="Consolas"/>
                <a:sym typeface="Consolas"/>
              </a:rPr>
              <a:t> </a:t>
            </a:r>
            <a:endParaRPr sz="1000">
              <a:solidFill>
                <a:srgbClr val="3B3B3B"/>
              </a:solidFill>
              <a:highlight>
                <a:schemeClr val="lt1"/>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submit</a:t>
            </a:r>
            <a:r>
              <a:rPr lang="en" sz="1000">
                <a:solidFill>
                  <a:srgbClr val="3B3B3B"/>
                </a:solidFill>
                <a:highlight>
                  <a:srgbClr val="FFFFFF"/>
                </a:highlight>
                <a:latin typeface="Consolas"/>
                <a:ea typeface="Consolas"/>
                <a:cs typeface="Consolas"/>
                <a:sym typeface="Consolas"/>
              </a:rPr>
              <a:t>(runner);</a:t>
            </a:r>
            <a:endParaRPr sz="1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58"/>
          <p:cNvSpPr txBox="1">
            <a:spLocks noGrp="1"/>
          </p:cNvSpPr>
          <p:nvPr>
            <p:ph type="title"/>
          </p:nvPr>
        </p:nvSpPr>
        <p:spPr>
          <a:xfrm>
            <a:off x="5188525" y="437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Analysis</a:t>
            </a:r>
            <a:endParaRPr/>
          </a:p>
        </p:txBody>
      </p:sp>
      <p:sp>
        <p:nvSpPr>
          <p:cNvPr id="546" name="Google Shape;546;p58"/>
          <p:cNvSpPr txBox="1">
            <a:spLocks noGrp="1"/>
          </p:cNvSpPr>
          <p:nvPr>
            <p:ph type="body" idx="1"/>
          </p:nvPr>
        </p:nvSpPr>
        <p:spPr>
          <a:xfrm>
            <a:off x="377475" y="119925"/>
            <a:ext cx="4166400" cy="4372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Over the last several activities, we've seen what happens when multiple threads are running at the same time</a:t>
            </a:r>
            <a:endParaRPr dirty="0"/>
          </a:p>
          <a:p>
            <a:pPr marL="457200" lvl="0" indent="-311150" algn="l" rtl="0">
              <a:spcBef>
                <a:spcPts val="0"/>
              </a:spcBef>
              <a:spcAft>
                <a:spcPts val="0"/>
              </a:spcAft>
              <a:buSzPts val="1300"/>
              <a:buChar char="●"/>
            </a:pPr>
            <a:r>
              <a:rPr lang="en" dirty="0"/>
              <a:t>All of their output is </a:t>
            </a:r>
            <a:r>
              <a:rPr lang="en" b="1" i="1" dirty="0">
                <a:solidFill>
                  <a:srgbClr val="FF0000"/>
                </a:solidFill>
              </a:rPr>
              <a:t>interleaved</a:t>
            </a:r>
            <a:endParaRPr b="1" i="1" dirty="0">
              <a:solidFill>
                <a:srgbClr val="FF0000"/>
              </a:solidFill>
            </a:endParaRPr>
          </a:p>
          <a:p>
            <a:pPr marL="914400" lvl="1" indent="-298450" algn="l" rtl="0">
              <a:spcBef>
                <a:spcPts val="0"/>
              </a:spcBef>
              <a:spcAft>
                <a:spcPts val="0"/>
              </a:spcAft>
              <a:buSzPts val="1100"/>
              <a:buChar char="○"/>
            </a:pPr>
            <a:r>
              <a:rPr lang="en" dirty="0"/>
              <a:t>Meaning some portion of the output from some threads occurs in between the output of the other threads</a:t>
            </a:r>
            <a:endParaRPr dirty="0"/>
          </a:p>
          <a:p>
            <a:pPr marL="457200" lvl="0" indent="-311150" algn="l" rtl="0">
              <a:spcBef>
                <a:spcPts val="0"/>
              </a:spcBef>
              <a:spcAft>
                <a:spcPts val="0"/>
              </a:spcAft>
              <a:buSzPts val="1300"/>
              <a:buChar char="●"/>
            </a:pPr>
            <a:r>
              <a:rPr lang="en" dirty="0"/>
              <a:t>Some of the threads may be running on the </a:t>
            </a:r>
            <a:r>
              <a:rPr lang="en" b="1" i="1" dirty="0">
                <a:solidFill>
                  <a:srgbClr val="FF0000"/>
                </a:solidFill>
              </a:rPr>
              <a:t>same core</a:t>
            </a:r>
            <a:r>
              <a:rPr lang="en" dirty="0"/>
              <a:t> in your system, others may be running on </a:t>
            </a:r>
            <a:r>
              <a:rPr lang="en" b="1" i="1" dirty="0">
                <a:solidFill>
                  <a:srgbClr val="FF0000"/>
                </a:solidFill>
              </a:rPr>
              <a:t>different cores</a:t>
            </a:r>
            <a:endParaRPr b="1" i="1" dirty="0">
              <a:solidFill>
                <a:srgbClr val="FF0000"/>
              </a:solidFill>
            </a:endParaRPr>
          </a:p>
          <a:p>
            <a:pPr marL="914400" lvl="1" indent="-298450" algn="l" rtl="0">
              <a:spcBef>
                <a:spcPts val="0"/>
              </a:spcBef>
              <a:spcAft>
                <a:spcPts val="0"/>
              </a:spcAft>
              <a:buSzPts val="1100"/>
              <a:buChar char="○"/>
            </a:pPr>
            <a:r>
              <a:rPr lang="en" dirty="0"/>
              <a:t>You have </a:t>
            </a:r>
            <a:r>
              <a:rPr lang="en" b="1" i="1" dirty="0">
                <a:solidFill>
                  <a:srgbClr val="FF0000"/>
                </a:solidFill>
              </a:rPr>
              <a:t>no control</a:t>
            </a:r>
            <a:r>
              <a:rPr lang="en" dirty="0"/>
              <a:t> over how your OS decides which core to run a process/thread on</a:t>
            </a:r>
            <a:endParaRPr dirty="0"/>
          </a:p>
          <a:p>
            <a:pPr marL="457200" lvl="0" indent="-311150" algn="l" rtl="0">
              <a:spcBef>
                <a:spcPts val="0"/>
              </a:spcBef>
              <a:spcAft>
                <a:spcPts val="0"/>
              </a:spcAft>
              <a:buSzPts val="1300"/>
              <a:buChar char="●"/>
            </a:pPr>
            <a:r>
              <a:rPr lang="en" dirty="0"/>
              <a:t>In the </a:t>
            </a:r>
            <a:r>
              <a:rPr lang="en" dirty="0">
                <a:latin typeface="Courier New"/>
                <a:ea typeface="Courier New"/>
                <a:cs typeface="Courier New"/>
                <a:sym typeface="Courier New"/>
              </a:rPr>
              <a:t>Racer</a:t>
            </a:r>
            <a:r>
              <a:rPr lang="en" dirty="0"/>
              <a:t> activities, we eventually added a level of control using a loop and </a:t>
            </a:r>
            <a:r>
              <a:rPr lang="en" dirty="0">
                <a:highlight>
                  <a:srgbClr val="FFFF00"/>
                </a:highlight>
                <a:latin typeface="Courier New"/>
                <a:ea typeface="Courier New"/>
                <a:cs typeface="Courier New"/>
                <a:sym typeface="Courier New"/>
              </a:rPr>
              <a:t>isAlive()</a:t>
            </a:r>
            <a:endParaRPr dirty="0">
              <a:highlight>
                <a:srgbClr val="FFFF00"/>
              </a:highlight>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This is known as a </a:t>
            </a:r>
            <a:r>
              <a:rPr lang="en" b="1" i="1" dirty="0">
                <a:solidFill>
                  <a:srgbClr val="FF0000"/>
                </a:solidFill>
              </a:rPr>
              <a:t>busy wait</a:t>
            </a:r>
            <a:r>
              <a:rPr lang="en" dirty="0"/>
              <a:t> because the CPU is in use while waiting for some event to occur</a:t>
            </a:r>
            <a:endParaRPr dirty="0"/>
          </a:p>
          <a:p>
            <a:pPr marL="914400" lvl="1" indent="-298450" algn="l" rtl="0">
              <a:spcBef>
                <a:spcPts val="0"/>
              </a:spcBef>
              <a:spcAft>
                <a:spcPts val="0"/>
              </a:spcAft>
              <a:buSzPts val="1100"/>
              <a:buChar char="○"/>
            </a:pPr>
            <a:r>
              <a:rPr lang="en" dirty="0">
                <a:highlight>
                  <a:srgbClr val="FFFF00"/>
                </a:highlight>
              </a:rPr>
              <a:t>In general, this is a </a:t>
            </a:r>
            <a:r>
              <a:rPr lang="en" b="1" i="1" dirty="0">
                <a:solidFill>
                  <a:srgbClr val="FF0000"/>
                </a:solidFill>
                <a:highlight>
                  <a:srgbClr val="FFFF00"/>
                </a:highlight>
              </a:rPr>
              <a:t>bad idea</a:t>
            </a:r>
            <a:r>
              <a:rPr lang="en" dirty="0">
                <a:highlight>
                  <a:srgbClr val="FFFF00"/>
                </a:highlight>
              </a:rPr>
              <a:t> </a:t>
            </a:r>
            <a:r>
              <a:rPr lang="en" dirty="0"/>
              <a:t>because it wastes a lot of CPU cycles but accomplishes no work</a:t>
            </a:r>
            <a:endParaRPr dirty="0"/>
          </a:p>
          <a:p>
            <a:pPr marL="914400" lvl="1" indent="-298450" algn="l" rtl="0">
              <a:spcBef>
                <a:spcPts val="0"/>
              </a:spcBef>
              <a:spcAft>
                <a:spcPts val="0"/>
              </a:spcAft>
              <a:buSzPts val="1100"/>
              <a:buChar char="○"/>
            </a:pPr>
            <a:r>
              <a:rPr lang="en" dirty="0"/>
              <a:t>Imagine trying to do this for the 1 million racers race!</a:t>
            </a:r>
            <a:endParaRPr dirty="0"/>
          </a:p>
        </p:txBody>
      </p:sp>
      <p:sp>
        <p:nvSpPr>
          <p:cNvPr id="547" name="Google Shape;547;p58"/>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548" name="Google Shape;548;p58"/>
          <p:cNvSpPr txBox="1">
            <a:spLocks noGrp="1"/>
          </p:cNvSpPr>
          <p:nvPr>
            <p:ph type="body" idx="3"/>
          </p:nvPr>
        </p:nvSpPr>
        <p:spPr>
          <a:xfrm>
            <a:off x="5518250" y="4221675"/>
            <a:ext cx="30471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a:t>
            </a:r>
            <a:r>
              <a:rPr lang="en" b="1" i="1">
                <a:solidFill>
                  <a:srgbClr val="FF0000"/>
                </a:solidFill>
              </a:rPr>
              <a:t>busy wait</a:t>
            </a:r>
            <a:r>
              <a:rPr lang="en"/>
              <a:t> is a waste of time and resources that could be used to run other processes.</a:t>
            </a:r>
            <a:endParaRPr/>
          </a:p>
        </p:txBody>
      </p:sp>
      <p:pic>
        <p:nvPicPr>
          <p:cNvPr id="549" name="Google Shape;549;p58"/>
          <p:cNvPicPr preferRelativeResize="0"/>
          <p:nvPr/>
        </p:nvPicPr>
        <p:blipFill>
          <a:blip r:embed="rId3">
            <a:alphaModFix/>
          </a:blip>
          <a:stretch>
            <a:fillRect/>
          </a:stretch>
        </p:blipFill>
        <p:spPr>
          <a:xfrm>
            <a:off x="5518250" y="986625"/>
            <a:ext cx="3047047" cy="3158848"/>
          </a:xfrm>
          <a:prstGeom prst="rect">
            <a:avLst/>
          </a:prstGeom>
          <a:noFill/>
          <a:ln>
            <a:noFill/>
          </a:ln>
        </p:spPr>
      </p:pic>
      <p:grpSp>
        <p:nvGrpSpPr>
          <p:cNvPr id="550" name="Google Shape;550;p58"/>
          <p:cNvGrpSpPr/>
          <p:nvPr/>
        </p:nvGrpSpPr>
        <p:grpSpPr>
          <a:xfrm>
            <a:off x="5734625" y="681825"/>
            <a:ext cx="1209000" cy="1194050"/>
            <a:chOff x="5734625" y="681825"/>
            <a:chExt cx="1209000" cy="1194050"/>
          </a:xfrm>
        </p:grpSpPr>
        <p:sp>
          <p:nvSpPr>
            <p:cNvPr id="551" name="Google Shape;551;p58"/>
            <p:cNvSpPr/>
            <p:nvPr/>
          </p:nvSpPr>
          <p:spPr>
            <a:xfrm>
              <a:off x="5734625" y="681825"/>
              <a:ext cx="1209000" cy="5976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Are you done yet?</a:t>
              </a:r>
              <a:endParaRPr sz="1200">
                <a:latin typeface="Roboto"/>
                <a:ea typeface="Roboto"/>
                <a:cs typeface="Roboto"/>
                <a:sym typeface="Roboto"/>
              </a:endParaRPr>
            </a:p>
          </p:txBody>
        </p:sp>
        <p:sp>
          <p:nvSpPr>
            <p:cNvPr id="552" name="Google Shape;552;p58"/>
            <p:cNvSpPr/>
            <p:nvPr/>
          </p:nvSpPr>
          <p:spPr>
            <a:xfrm>
              <a:off x="6285650" y="1217800"/>
              <a:ext cx="204225" cy="658075"/>
            </a:xfrm>
            <a:custGeom>
              <a:avLst/>
              <a:gdLst/>
              <a:ahLst/>
              <a:cxnLst/>
              <a:rect l="l" t="t" r="r" b="b"/>
              <a:pathLst>
                <a:path w="8169" h="26323" extrusionOk="0">
                  <a:moveTo>
                    <a:pt x="8169" y="303"/>
                  </a:moveTo>
                  <a:lnTo>
                    <a:pt x="908" y="26323"/>
                  </a:lnTo>
                  <a:lnTo>
                    <a:pt x="0" y="0"/>
                  </a:lnTo>
                </a:path>
              </a:pathLst>
            </a:custGeom>
            <a:solidFill>
              <a:schemeClr val="lt1"/>
            </a:solidFill>
            <a:ln w="9525" cap="flat" cmpd="sng">
              <a:solidFill>
                <a:srgbClr val="FFFFFF"/>
              </a:solidFill>
              <a:prstDash val="solid"/>
              <a:round/>
              <a:headEnd type="none" w="med" len="med"/>
              <a:tailEnd type="none" w="med" len="med"/>
            </a:ln>
          </p:spPr>
          <p:txBody>
            <a:bodyPr/>
            <a:lstStyle/>
            <a:p>
              <a:endParaRPr lang="en-US"/>
            </a:p>
          </p:txBody>
        </p:sp>
      </p:grpSp>
      <p:grpSp>
        <p:nvGrpSpPr>
          <p:cNvPr id="553" name="Google Shape;553;p58"/>
          <p:cNvGrpSpPr/>
          <p:nvPr/>
        </p:nvGrpSpPr>
        <p:grpSpPr>
          <a:xfrm>
            <a:off x="4955700" y="1385825"/>
            <a:ext cx="1209000" cy="733125"/>
            <a:chOff x="4955700" y="1385825"/>
            <a:chExt cx="1209000" cy="733125"/>
          </a:xfrm>
        </p:grpSpPr>
        <p:sp>
          <p:nvSpPr>
            <p:cNvPr id="554" name="Google Shape;554;p58"/>
            <p:cNvSpPr/>
            <p:nvPr/>
          </p:nvSpPr>
          <p:spPr>
            <a:xfrm>
              <a:off x="4955700" y="1385825"/>
              <a:ext cx="1209000" cy="5976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Are you done yet?</a:t>
              </a:r>
              <a:endParaRPr sz="1200">
                <a:latin typeface="Roboto"/>
                <a:ea typeface="Roboto"/>
                <a:cs typeface="Roboto"/>
                <a:sym typeface="Roboto"/>
              </a:endParaRPr>
            </a:p>
          </p:txBody>
        </p:sp>
        <p:sp>
          <p:nvSpPr>
            <p:cNvPr id="555" name="Google Shape;555;p58"/>
            <p:cNvSpPr/>
            <p:nvPr/>
          </p:nvSpPr>
          <p:spPr>
            <a:xfrm>
              <a:off x="5642725" y="1883425"/>
              <a:ext cx="290025" cy="235525"/>
            </a:xfrm>
            <a:custGeom>
              <a:avLst/>
              <a:gdLst/>
              <a:ahLst/>
              <a:cxnLst/>
              <a:rect l="l" t="t" r="r" b="b"/>
              <a:pathLst>
                <a:path w="11601" h="9421" extrusionOk="0">
                  <a:moveTo>
                    <a:pt x="0" y="2723"/>
                  </a:moveTo>
                  <a:lnTo>
                    <a:pt x="11601" y="9421"/>
                  </a:lnTo>
                  <a:lnTo>
                    <a:pt x="7564" y="0"/>
                  </a:lnTo>
                </a:path>
              </a:pathLst>
            </a:custGeom>
            <a:solidFill>
              <a:schemeClr val="lt1"/>
            </a:solidFill>
            <a:ln w="9525" cap="flat" cmpd="sng">
              <a:solidFill>
                <a:srgbClr val="FFFFFF"/>
              </a:solidFill>
              <a:prstDash val="solid"/>
              <a:round/>
              <a:headEnd type="none" w="med" len="med"/>
              <a:tailEnd type="none" w="med" len="med"/>
            </a:ln>
          </p:spPr>
          <p:txBody>
            <a:bodyPr/>
            <a:lstStyle/>
            <a:p>
              <a:endParaRPr lang="en-US"/>
            </a:p>
          </p:txBody>
        </p:sp>
      </p:grpSp>
      <p:grpSp>
        <p:nvGrpSpPr>
          <p:cNvPr id="556" name="Google Shape;556;p58"/>
          <p:cNvGrpSpPr/>
          <p:nvPr/>
        </p:nvGrpSpPr>
        <p:grpSpPr>
          <a:xfrm>
            <a:off x="4893900" y="2420975"/>
            <a:ext cx="1346375" cy="597600"/>
            <a:chOff x="4893900" y="2420975"/>
            <a:chExt cx="1346375" cy="597600"/>
          </a:xfrm>
        </p:grpSpPr>
        <p:sp>
          <p:nvSpPr>
            <p:cNvPr id="557" name="Google Shape;557;p58"/>
            <p:cNvSpPr/>
            <p:nvPr/>
          </p:nvSpPr>
          <p:spPr>
            <a:xfrm>
              <a:off x="4893900" y="2420975"/>
              <a:ext cx="1209000" cy="5976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Are you done yet?</a:t>
              </a:r>
              <a:endParaRPr sz="1200">
                <a:latin typeface="Roboto"/>
                <a:ea typeface="Roboto"/>
                <a:cs typeface="Roboto"/>
                <a:sym typeface="Roboto"/>
              </a:endParaRPr>
            </a:p>
          </p:txBody>
        </p:sp>
        <p:sp>
          <p:nvSpPr>
            <p:cNvPr id="558" name="Google Shape;558;p58"/>
            <p:cNvSpPr/>
            <p:nvPr/>
          </p:nvSpPr>
          <p:spPr>
            <a:xfrm>
              <a:off x="5967975" y="2617125"/>
              <a:ext cx="272300" cy="204225"/>
            </a:xfrm>
            <a:custGeom>
              <a:avLst/>
              <a:gdLst/>
              <a:ahLst/>
              <a:cxnLst/>
              <a:rect l="l" t="t" r="r" b="b"/>
              <a:pathLst>
                <a:path w="10892" h="8169" extrusionOk="0">
                  <a:moveTo>
                    <a:pt x="0" y="8169"/>
                  </a:moveTo>
                  <a:lnTo>
                    <a:pt x="10892" y="0"/>
                  </a:lnTo>
                  <a:lnTo>
                    <a:pt x="1210" y="908"/>
                  </a:lnTo>
                </a:path>
              </a:pathLst>
            </a:custGeom>
            <a:solidFill>
              <a:schemeClr val="lt1"/>
            </a:solidFill>
            <a:ln w="9525" cap="flat" cmpd="sng">
              <a:solidFill>
                <a:srgbClr val="FFFFFF"/>
              </a:solidFill>
              <a:prstDash val="solid"/>
              <a:round/>
              <a:headEnd type="none" w="med" len="med"/>
              <a:tailEnd type="none" w="med" len="med"/>
            </a:ln>
          </p:spPr>
          <p:txBody>
            <a:bodyPr/>
            <a:lstStyle/>
            <a:p>
              <a:endParaRPr lang="en-US"/>
            </a:p>
          </p:txBody>
        </p:sp>
      </p:grpSp>
      <p:grpSp>
        <p:nvGrpSpPr>
          <p:cNvPr id="559" name="Google Shape;559;p58"/>
          <p:cNvGrpSpPr/>
          <p:nvPr/>
        </p:nvGrpSpPr>
        <p:grpSpPr>
          <a:xfrm>
            <a:off x="4955700" y="2821350"/>
            <a:ext cx="1390475" cy="948950"/>
            <a:chOff x="4955700" y="2821350"/>
            <a:chExt cx="1390475" cy="948950"/>
          </a:xfrm>
        </p:grpSpPr>
        <p:sp>
          <p:nvSpPr>
            <p:cNvPr id="560" name="Google Shape;560;p58"/>
            <p:cNvSpPr/>
            <p:nvPr/>
          </p:nvSpPr>
          <p:spPr>
            <a:xfrm>
              <a:off x="4955700" y="3172700"/>
              <a:ext cx="1209000" cy="5976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Are you done yet?</a:t>
              </a:r>
              <a:endParaRPr sz="1200">
                <a:latin typeface="Roboto"/>
                <a:ea typeface="Roboto"/>
                <a:cs typeface="Roboto"/>
                <a:sym typeface="Roboto"/>
              </a:endParaRPr>
            </a:p>
          </p:txBody>
        </p:sp>
        <p:sp>
          <p:nvSpPr>
            <p:cNvPr id="561" name="Google Shape;561;p58"/>
            <p:cNvSpPr/>
            <p:nvPr/>
          </p:nvSpPr>
          <p:spPr>
            <a:xfrm>
              <a:off x="5930150" y="2821350"/>
              <a:ext cx="416025" cy="665650"/>
            </a:xfrm>
            <a:custGeom>
              <a:avLst/>
              <a:gdLst/>
              <a:ahLst/>
              <a:cxnLst/>
              <a:rect l="l" t="t" r="r" b="b"/>
              <a:pathLst>
                <a:path w="16641" h="26626" extrusionOk="0">
                  <a:moveTo>
                    <a:pt x="6354" y="26626"/>
                  </a:moveTo>
                  <a:lnTo>
                    <a:pt x="16641" y="0"/>
                  </a:lnTo>
                  <a:lnTo>
                    <a:pt x="0" y="20574"/>
                  </a:lnTo>
                </a:path>
              </a:pathLst>
            </a:custGeom>
            <a:solidFill>
              <a:schemeClr val="lt1"/>
            </a:solidFill>
            <a:ln w="9525" cap="flat" cmpd="sng">
              <a:solidFill>
                <a:srgbClr val="FFFFFF"/>
              </a:solidFill>
              <a:prstDash val="solid"/>
              <a:round/>
              <a:headEnd type="none" w="med" len="med"/>
              <a:tailEnd type="none" w="med" len="med"/>
            </a:ln>
          </p:spPr>
          <p:txBody>
            <a:bodyPr/>
            <a:lstStyle/>
            <a:p>
              <a:endParaRPr lang="en-US"/>
            </a:p>
          </p:txBody>
        </p:sp>
      </p:grpSp>
      <p:grpSp>
        <p:nvGrpSpPr>
          <p:cNvPr id="562" name="Google Shape;562;p58"/>
          <p:cNvGrpSpPr/>
          <p:nvPr/>
        </p:nvGrpSpPr>
        <p:grpSpPr>
          <a:xfrm>
            <a:off x="7329500" y="620250"/>
            <a:ext cx="681600" cy="1157275"/>
            <a:chOff x="7329500" y="620250"/>
            <a:chExt cx="681600" cy="1157275"/>
          </a:xfrm>
        </p:grpSpPr>
        <p:sp>
          <p:nvSpPr>
            <p:cNvPr id="563" name="Google Shape;563;p58"/>
            <p:cNvSpPr/>
            <p:nvPr/>
          </p:nvSpPr>
          <p:spPr>
            <a:xfrm>
              <a:off x="7329500" y="620250"/>
              <a:ext cx="681600" cy="5976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No.</a:t>
              </a:r>
              <a:endParaRPr>
                <a:latin typeface="Roboto"/>
                <a:ea typeface="Roboto"/>
                <a:cs typeface="Roboto"/>
                <a:sym typeface="Roboto"/>
              </a:endParaRPr>
            </a:p>
          </p:txBody>
        </p:sp>
        <p:sp>
          <p:nvSpPr>
            <p:cNvPr id="564" name="Google Shape;564;p58"/>
            <p:cNvSpPr/>
            <p:nvPr/>
          </p:nvSpPr>
          <p:spPr>
            <a:xfrm>
              <a:off x="7518575" y="1111900"/>
              <a:ext cx="204250" cy="665625"/>
            </a:xfrm>
            <a:custGeom>
              <a:avLst/>
              <a:gdLst/>
              <a:ahLst/>
              <a:cxnLst/>
              <a:rect l="l" t="t" r="r" b="b"/>
              <a:pathLst>
                <a:path w="8170" h="26625" extrusionOk="0">
                  <a:moveTo>
                    <a:pt x="8170" y="1816"/>
                  </a:moveTo>
                  <a:lnTo>
                    <a:pt x="0" y="26625"/>
                  </a:lnTo>
                  <a:lnTo>
                    <a:pt x="1816" y="0"/>
                  </a:lnTo>
                </a:path>
              </a:pathLst>
            </a:custGeom>
            <a:solidFill>
              <a:schemeClr val="lt1"/>
            </a:solidFill>
            <a:ln w="9525" cap="flat" cmpd="sng">
              <a:solidFill>
                <a:srgbClr val="FFFFFF"/>
              </a:solidFill>
              <a:prstDash val="solid"/>
              <a:round/>
              <a:headEnd type="none" w="med" len="med"/>
              <a:tailEnd type="none" w="med" len="med"/>
            </a:ln>
          </p:spPr>
          <p:txBody>
            <a:bodyPr/>
            <a:lstStyle/>
            <a:p>
              <a:endParaRPr lang="en-US"/>
            </a:p>
          </p:txBody>
        </p:sp>
      </p:grpSp>
      <p:grpSp>
        <p:nvGrpSpPr>
          <p:cNvPr id="565" name="Google Shape;565;p58"/>
          <p:cNvGrpSpPr/>
          <p:nvPr/>
        </p:nvGrpSpPr>
        <p:grpSpPr>
          <a:xfrm>
            <a:off x="7700125" y="1113025"/>
            <a:ext cx="947475" cy="868725"/>
            <a:chOff x="7700125" y="1113025"/>
            <a:chExt cx="947475" cy="868725"/>
          </a:xfrm>
        </p:grpSpPr>
        <p:sp>
          <p:nvSpPr>
            <p:cNvPr id="566" name="Google Shape;566;p58"/>
            <p:cNvSpPr/>
            <p:nvPr/>
          </p:nvSpPr>
          <p:spPr>
            <a:xfrm>
              <a:off x="7966000" y="1113025"/>
              <a:ext cx="681600" cy="5976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No.</a:t>
              </a:r>
              <a:endParaRPr>
                <a:latin typeface="Roboto"/>
                <a:ea typeface="Roboto"/>
                <a:cs typeface="Roboto"/>
                <a:sym typeface="Roboto"/>
              </a:endParaRPr>
            </a:p>
          </p:txBody>
        </p:sp>
        <p:sp>
          <p:nvSpPr>
            <p:cNvPr id="567" name="Google Shape;567;p58"/>
            <p:cNvSpPr/>
            <p:nvPr/>
          </p:nvSpPr>
          <p:spPr>
            <a:xfrm>
              <a:off x="7700125" y="1535475"/>
              <a:ext cx="521900" cy="446275"/>
            </a:xfrm>
            <a:custGeom>
              <a:avLst/>
              <a:gdLst/>
              <a:ahLst/>
              <a:cxnLst/>
              <a:rect l="l" t="t" r="r" b="b"/>
              <a:pathLst>
                <a:path w="20876" h="17851" extrusionOk="0">
                  <a:moveTo>
                    <a:pt x="20876" y="5447"/>
                  </a:moveTo>
                  <a:lnTo>
                    <a:pt x="0" y="17851"/>
                  </a:lnTo>
                  <a:lnTo>
                    <a:pt x="14825" y="0"/>
                  </a:lnTo>
                </a:path>
              </a:pathLst>
            </a:custGeom>
            <a:solidFill>
              <a:schemeClr val="lt1"/>
            </a:solidFill>
            <a:ln w="9525" cap="flat" cmpd="sng">
              <a:solidFill>
                <a:srgbClr val="FFFFFF"/>
              </a:solidFill>
              <a:prstDash val="solid"/>
              <a:round/>
              <a:headEnd type="none" w="med" len="med"/>
              <a:tailEnd type="none" w="med" len="med"/>
            </a:ln>
          </p:spPr>
          <p:txBody>
            <a:bodyPr/>
            <a:lstStyle/>
            <a:p>
              <a:endParaRPr lang="en-US"/>
            </a:p>
          </p:txBody>
        </p:sp>
      </p:grpSp>
      <p:grpSp>
        <p:nvGrpSpPr>
          <p:cNvPr id="568" name="Google Shape;568;p58"/>
          <p:cNvGrpSpPr/>
          <p:nvPr/>
        </p:nvGrpSpPr>
        <p:grpSpPr>
          <a:xfrm>
            <a:off x="7817050" y="1915925"/>
            <a:ext cx="1126650" cy="597600"/>
            <a:chOff x="7817050" y="1915925"/>
            <a:chExt cx="1126650" cy="597600"/>
          </a:xfrm>
        </p:grpSpPr>
        <p:sp>
          <p:nvSpPr>
            <p:cNvPr id="569" name="Google Shape;569;p58"/>
            <p:cNvSpPr/>
            <p:nvPr/>
          </p:nvSpPr>
          <p:spPr>
            <a:xfrm>
              <a:off x="8262100" y="1915925"/>
              <a:ext cx="681600" cy="5976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No.</a:t>
              </a:r>
              <a:endParaRPr>
                <a:latin typeface="Roboto"/>
                <a:ea typeface="Roboto"/>
                <a:cs typeface="Roboto"/>
                <a:sym typeface="Roboto"/>
              </a:endParaRPr>
            </a:p>
          </p:txBody>
        </p:sp>
        <p:sp>
          <p:nvSpPr>
            <p:cNvPr id="570" name="Google Shape;570;p58"/>
            <p:cNvSpPr/>
            <p:nvPr/>
          </p:nvSpPr>
          <p:spPr>
            <a:xfrm>
              <a:off x="7817050" y="2208675"/>
              <a:ext cx="548703" cy="158850"/>
            </a:xfrm>
            <a:custGeom>
              <a:avLst/>
              <a:gdLst/>
              <a:ahLst/>
              <a:cxnLst/>
              <a:rect l="l" t="t" r="r" b="b"/>
              <a:pathLst>
                <a:path w="26323" h="6354" extrusionOk="0">
                  <a:moveTo>
                    <a:pt x="26323" y="6354"/>
                  </a:moveTo>
                  <a:lnTo>
                    <a:pt x="0" y="2118"/>
                  </a:lnTo>
                  <a:lnTo>
                    <a:pt x="25113" y="0"/>
                  </a:lnTo>
                </a:path>
              </a:pathLst>
            </a:custGeom>
            <a:solidFill>
              <a:schemeClr val="lt1"/>
            </a:solidFill>
            <a:ln w="9525" cap="flat" cmpd="sng">
              <a:solidFill>
                <a:srgbClr val="FFFFFF"/>
              </a:solidFill>
              <a:prstDash val="solid"/>
              <a:round/>
              <a:headEnd type="none" w="med" len="med"/>
              <a:tailEnd type="none" w="med" len="med"/>
            </a:ln>
          </p:spPr>
          <p:txBody>
            <a:bodyPr/>
            <a:lstStyle/>
            <a:p>
              <a:endParaRPr lang="en-US"/>
            </a:p>
          </p:txBody>
        </p:sp>
      </p:grpSp>
      <p:grpSp>
        <p:nvGrpSpPr>
          <p:cNvPr id="571" name="Google Shape;571;p58"/>
          <p:cNvGrpSpPr/>
          <p:nvPr/>
        </p:nvGrpSpPr>
        <p:grpSpPr>
          <a:xfrm>
            <a:off x="7737950" y="2700350"/>
            <a:ext cx="1237125" cy="616075"/>
            <a:chOff x="7737950" y="2700350"/>
            <a:chExt cx="1237125" cy="616075"/>
          </a:xfrm>
        </p:grpSpPr>
        <p:sp>
          <p:nvSpPr>
            <p:cNvPr id="572" name="Google Shape;572;p58"/>
            <p:cNvSpPr/>
            <p:nvPr/>
          </p:nvSpPr>
          <p:spPr>
            <a:xfrm>
              <a:off x="8293475" y="2718825"/>
              <a:ext cx="681600" cy="5976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No.</a:t>
              </a:r>
              <a:endParaRPr>
                <a:latin typeface="Roboto"/>
                <a:ea typeface="Roboto"/>
                <a:cs typeface="Roboto"/>
                <a:sym typeface="Roboto"/>
              </a:endParaRPr>
            </a:p>
          </p:txBody>
        </p:sp>
        <p:sp>
          <p:nvSpPr>
            <p:cNvPr id="573" name="Google Shape;573;p58"/>
            <p:cNvSpPr/>
            <p:nvPr/>
          </p:nvSpPr>
          <p:spPr>
            <a:xfrm>
              <a:off x="7737950" y="2700350"/>
              <a:ext cx="680750" cy="385750"/>
            </a:xfrm>
            <a:custGeom>
              <a:avLst/>
              <a:gdLst/>
              <a:ahLst/>
              <a:cxnLst/>
              <a:rect l="l" t="t" r="r" b="b"/>
              <a:pathLst>
                <a:path w="27230" h="15430" extrusionOk="0">
                  <a:moveTo>
                    <a:pt x="27230" y="9379"/>
                  </a:moveTo>
                  <a:lnTo>
                    <a:pt x="0" y="0"/>
                  </a:lnTo>
                  <a:lnTo>
                    <a:pt x="25415" y="15430"/>
                  </a:lnTo>
                </a:path>
              </a:pathLst>
            </a:custGeom>
            <a:solidFill>
              <a:schemeClr val="lt1"/>
            </a:solidFill>
            <a:ln w="9525" cap="flat" cmpd="sng">
              <a:solidFill>
                <a:srgbClr val="FFFFFF"/>
              </a:solidFill>
              <a:prstDash val="solid"/>
              <a:round/>
              <a:headEnd type="none" w="med" len="med"/>
              <a:tailEnd type="non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8"/>
                                        </p:tgtEl>
                                        <p:attrNameLst>
                                          <p:attrName>style.visibility</p:attrName>
                                        </p:attrNameLst>
                                      </p:cBhvr>
                                      <p:to>
                                        <p:strVal val="visible"/>
                                      </p:to>
                                    </p:set>
                                    <p:animEffect transition="in" filter="fade">
                                      <p:cBhvr>
                                        <p:cTn id="7" dur="1000"/>
                                        <p:tgtEl>
                                          <p:spTgt spid="548"/>
                                        </p:tgtEl>
                                      </p:cBhvr>
                                    </p:animEffect>
                                  </p:childTnLst>
                                </p:cTn>
                              </p:par>
                              <p:par>
                                <p:cTn id="8" presetID="10" presetClass="entr" presetSubtype="0" fill="hold" nodeType="withEffect">
                                  <p:stCondLst>
                                    <p:cond delay="0"/>
                                  </p:stCondLst>
                                  <p:childTnLst>
                                    <p:set>
                                      <p:cBhvr>
                                        <p:cTn id="9" dur="1" fill="hold">
                                          <p:stCondLst>
                                            <p:cond delay="0"/>
                                          </p:stCondLst>
                                        </p:cTn>
                                        <p:tgtEl>
                                          <p:spTgt spid="549"/>
                                        </p:tgtEl>
                                        <p:attrNameLst>
                                          <p:attrName>style.visibility</p:attrName>
                                        </p:attrNameLst>
                                      </p:cBhvr>
                                      <p:to>
                                        <p:strVal val="visible"/>
                                      </p:to>
                                    </p:set>
                                    <p:animEffect transition="in" filter="fade">
                                      <p:cBhvr>
                                        <p:cTn id="10" dur="1000"/>
                                        <p:tgtEl>
                                          <p:spTgt spid="549"/>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550"/>
                                        </p:tgtEl>
                                        <p:attrNameLst>
                                          <p:attrName>style.visibility</p:attrName>
                                        </p:attrNameLst>
                                      </p:cBhvr>
                                      <p:to>
                                        <p:strVal val="visible"/>
                                      </p:to>
                                    </p:set>
                                    <p:animEffect transition="in" filter="fade">
                                      <p:cBhvr>
                                        <p:cTn id="14" dur="1000"/>
                                        <p:tgtEl>
                                          <p:spTgt spid="550"/>
                                        </p:tgtEl>
                                      </p:cBhvr>
                                    </p:animEffect>
                                  </p:childTnLst>
                                </p:cTn>
                              </p:par>
                            </p:childTnLst>
                          </p:cTn>
                        </p:par>
                        <p:par>
                          <p:cTn id="15" fill="hold">
                            <p:stCondLst>
                              <p:cond delay="2000"/>
                            </p:stCondLst>
                            <p:childTnLst>
                              <p:par>
                                <p:cTn id="16" presetID="10" presetClass="entr" presetSubtype="0" fill="hold" nodeType="afterEffect">
                                  <p:stCondLst>
                                    <p:cond delay="0"/>
                                  </p:stCondLst>
                                  <p:childTnLst>
                                    <p:set>
                                      <p:cBhvr>
                                        <p:cTn id="17" dur="1" fill="hold">
                                          <p:stCondLst>
                                            <p:cond delay="0"/>
                                          </p:stCondLst>
                                        </p:cTn>
                                        <p:tgtEl>
                                          <p:spTgt spid="562"/>
                                        </p:tgtEl>
                                        <p:attrNameLst>
                                          <p:attrName>style.visibility</p:attrName>
                                        </p:attrNameLst>
                                      </p:cBhvr>
                                      <p:to>
                                        <p:strVal val="visible"/>
                                      </p:to>
                                    </p:set>
                                    <p:animEffect transition="in" filter="fade">
                                      <p:cBhvr>
                                        <p:cTn id="18" dur="1000"/>
                                        <p:tgtEl>
                                          <p:spTgt spid="562"/>
                                        </p:tgtEl>
                                      </p:cBhvr>
                                    </p:animEffect>
                                  </p:childTnLst>
                                </p:cTn>
                              </p:par>
                            </p:childTnLst>
                          </p:cTn>
                        </p:par>
                        <p:par>
                          <p:cTn id="19" fill="hold">
                            <p:stCondLst>
                              <p:cond delay="3000"/>
                            </p:stCondLst>
                            <p:childTnLst>
                              <p:par>
                                <p:cTn id="20" presetID="10" presetClass="entr" presetSubtype="0" fill="hold" nodeType="afterEffect">
                                  <p:stCondLst>
                                    <p:cond delay="0"/>
                                  </p:stCondLst>
                                  <p:childTnLst>
                                    <p:set>
                                      <p:cBhvr>
                                        <p:cTn id="21" dur="1" fill="hold">
                                          <p:stCondLst>
                                            <p:cond delay="0"/>
                                          </p:stCondLst>
                                        </p:cTn>
                                        <p:tgtEl>
                                          <p:spTgt spid="553"/>
                                        </p:tgtEl>
                                        <p:attrNameLst>
                                          <p:attrName>style.visibility</p:attrName>
                                        </p:attrNameLst>
                                      </p:cBhvr>
                                      <p:to>
                                        <p:strVal val="visible"/>
                                      </p:to>
                                    </p:set>
                                    <p:animEffect transition="in" filter="fade">
                                      <p:cBhvr>
                                        <p:cTn id="22" dur="1000"/>
                                        <p:tgtEl>
                                          <p:spTgt spid="553"/>
                                        </p:tgtEl>
                                      </p:cBhvr>
                                    </p:animEffect>
                                  </p:childTnLst>
                                </p:cTn>
                              </p:par>
                            </p:childTnLst>
                          </p:cTn>
                        </p:par>
                        <p:par>
                          <p:cTn id="23" fill="hold">
                            <p:stCondLst>
                              <p:cond delay="4000"/>
                            </p:stCondLst>
                            <p:childTnLst>
                              <p:par>
                                <p:cTn id="24" presetID="10" presetClass="entr" presetSubtype="0" fill="hold" nodeType="afterEffect">
                                  <p:stCondLst>
                                    <p:cond delay="0"/>
                                  </p:stCondLst>
                                  <p:childTnLst>
                                    <p:set>
                                      <p:cBhvr>
                                        <p:cTn id="25" dur="1" fill="hold">
                                          <p:stCondLst>
                                            <p:cond delay="0"/>
                                          </p:stCondLst>
                                        </p:cTn>
                                        <p:tgtEl>
                                          <p:spTgt spid="565"/>
                                        </p:tgtEl>
                                        <p:attrNameLst>
                                          <p:attrName>style.visibility</p:attrName>
                                        </p:attrNameLst>
                                      </p:cBhvr>
                                      <p:to>
                                        <p:strVal val="visible"/>
                                      </p:to>
                                    </p:set>
                                    <p:animEffect transition="in" filter="fade">
                                      <p:cBhvr>
                                        <p:cTn id="26" dur="1000"/>
                                        <p:tgtEl>
                                          <p:spTgt spid="565"/>
                                        </p:tgtEl>
                                      </p:cBhvr>
                                    </p:animEffect>
                                  </p:childTnLst>
                                </p:cTn>
                              </p:par>
                            </p:childTnLst>
                          </p:cTn>
                        </p:par>
                        <p:par>
                          <p:cTn id="27" fill="hold">
                            <p:stCondLst>
                              <p:cond delay="5000"/>
                            </p:stCondLst>
                            <p:childTnLst>
                              <p:par>
                                <p:cTn id="28" presetID="10" presetClass="entr" presetSubtype="0" fill="hold" nodeType="afterEffect">
                                  <p:stCondLst>
                                    <p:cond delay="0"/>
                                  </p:stCondLst>
                                  <p:childTnLst>
                                    <p:set>
                                      <p:cBhvr>
                                        <p:cTn id="29" dur="1" fill="hold">
                                          <p:stCondLst>
                                            <p:cond delay="0"/>
                                          </p:stCondLst>
                                        </p:cTn>
                                        <p:tgtEl>
                                          <p:spTgt spid="556"/>
                                        </p:tgtEl>
                                        <p:attrNameLst>
                                          <p:attrName>style.visibility</p:attrName>
                                        </p:attrNameLst>
                                      </p:cBhvr>
                                      <p:to>
                                        <p:strVal val="visible"/>
                                      </p:to>
                                    </p:set>
                                    <p:animEffect transition="in" filter="fade">
                                      <p:cBhvr>
                                        <p:cTn id="30" dur="1000"/>
                                        <p:tgtEl>
                                          <p:spTgt spid="556"/>
                                        </p:tgtEl>
                                      </p:cBhvr>
                                    </p:animEffect>
                                  </p:childTnLst>
                                </p:cTn>
                              </p:par>
                            </p:childTnLst>
                          </p:cTn>
                        </p:par>
                        <p:par>
                          <p:cTn id="31" fill="hold">
                            <p:stCondLst>
                              <p:cond delay="6000"/>
                            </p:stCondLst>
                            <p:childTnLst>
                              <p:par>
                                <p:cTn id="32" presetID="10" presetClass="entr" presetSubtype="0" fill="hold" nodeType="afterEffect">
                                  <p:stCondLst>
                                    <p:cond delay="0"/>
                                  </p:stCondLst>
                                  <p:childTnLst>
                                    <p:set>
                                      <p:cBhvr>
                                        <p:cTn id="33" dur="1" fill="hold">
                                          <p:stCondLst>
                                            <p:cond delay="0"/>
                                          </p:stCondLst>
                                        </p:cTn>
                                        <p:tgtEl>
                                          <p:spTgt spid="568"/>
                                        </p:tgtEl>
                                        <p:attrNameLst>
                                          <p:attrName>style.visibility</p:attrName>
                                        </p:attrNameLst>
                                      </p:cBhvr>
                                      <p:to>
                                        <p:strVal val="visible"/>
                                      </p:to>
                                    </p:set>
                                    <p:animEffect transition="in" filter="fade">
                                      <p:cBhvr>
                                        <p:cTn id="34" dur="1000"/>
                                        <p:tgtEl>
                                          <p:spTgt spid="568"/>
                                        </p:tgtEl>
                                      </p:cBhvr>
                                    </p:animEffect>
                                  </p:childTnLst>
                                </p:cTn>
                              </p:par>
                            </p:childTnLst>
                          </p:cTn>
                        </p:par>
                        <p:par>
                          <p:cTn id="35" fill="hold">
                            <p:stCondLst>
                              <p:cond delay="7000"/>
                            </p:stCondLst>
                            <p:childTnLst>
                              <p:par>
                                <p:cTn id="36" presetID="10" presetClass="entr" presetSubtype="0" fill="hold" nodeType="afterEffect">
                                  <p:stCondLst>
                                    <p:cond delay="0"/>
                                  </p:stCondLst>
                                  <p:childTnLst>
                                    <p:set>
                                      <p:cBhvr>
                                        <p:cTn id="37" dur="1" fill="hold">
                                          <p:stCondLst>
                                            <p:cond delay="0"/>
                                          </p:stCondLst>
                                        </p:cTn>
                                        <p:tgtEl>
                                          <p:spTgt spid="559"/>
                                        </p:tgtEl>
                                        <p:attrNameLst>
                                          <p:attrName>style.visibility</p:attrName>
                                        </p:attrNameLst>
                                      </p:cBhvr>
                                      <p:to>
                                        <p:strVal val="visible"/>
                                      </p:to>
                                    </p:set>
                                    <p:animEffect transition="in" filter="fade">
                                      <p:cBhvr>
                                        <p:cTn id="38" dur="1000"/>
                                        <p:tgtEl>
                                          <p:spTgt spid="559"/>
                                        </p:tgtEl>
                                      </p:cBhvr>
                                    </p:animEffect>
                                  </p:childTnLst>
                                </p:cTn>
                              </p:par>
                            </p:childTnLst>
                          </p:cTn>
                        </p:par>
                        <p:par>
                          <p:cTn id="39" fill="hold">
                            <p:stCondLst>
                              <p:cond delay="8000"/>
                            </p:stCondLst>
                            <p:childTnLst>
                              <p:par>
                                <p:cTn id="40" presetID="10" presetClass="entr" presetSubtype="0" fill="hold" nodeType="afterEffect">
                                  <p:stCondLst>
                                    <p:cond delay="0"/>
                                  </p:stCondLst>
                                  <p:childTnLst>
                                    <p:set>
                                      <p:cBhvr>
                                        <p:cTn id="41" dur="1" fill="hold">
                                          <p:stCondLst>
                                            <p:cond delay="0"/>
                                          </p:stCondLst>
                                        </p:cTn>
                                        <p:tgtEl>
                                          <p:spTgt spid="571"/>
                                        </p:tgtEl>
                                        <p:attrNameLst>
                                          <p:attrName>style.visibility</p:attrName>
                                        </p:attrNameLst>
                                      </p:cBhvr>
                                      <p:to>
                                        <p:strVal val="visible"/>
                                      </p:to>
                                    </p:set>
                                    <p:animEffect transition="in" filter="fade">
                                      <p:cBhvr>
                                        <p:cTn id="42" dur="1000"/>
                                        <p:tgtEl>
                                          <p:spTgt spid="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579" name="Google Shape;579;p59"/>
          <p:cNvSpPr txBox="1">
            <a:spLocks noGrp="1"/>
          </p:cNvSpPr>
          <p:nvPr>
            <p:ph type="title"/>
          </p:nvPr>
        </p:nvSpPr>
        <p:spPr>
          <a:xfrm>
            <a:off x="311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AwaitTermination</a:t>
            </a:r>
            <a:endParaRPr/>
          </a:p>
        </p:txBody>
      </p:sp>
      <p:sp>
        <p:nvSpPr>
          <p:cNvPr id="580" name="Google Shape;580;p59"/>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We need some better way than </a:t>
            </a:r>
            <a:r>
              <a:rPr lang="en" dirty="0">
                <a:latin typeface="Courier New"/>
                <a:ea typeface="Courier New"/>
                <a:cs typeface="Courier New"/>
                <a:sym typeface="Courier New"/>
              </a:rPr>
              <a:t>isAlive</a:t>
            </a:r>
            <a:r>
              <a:rPr lang="en" dirty="0"/>
              <a:t> to know when all of our threads have finished.</a:t>
            </a:r>
            <a:endParaRPr dirty="0"/>
          </a:p>
          <a:p>
            <a:pPr marL="457200" lvl="0" indent="-311150" algn="l" rtl="0">
              <a:spcBef>
                <a:spcPts val="1000"/>
              </a:spcBef>
              <a:spcAft>
                <a:spcPts val="0"/>
              </a:spcAft>
              <a:buSzPts val="1300"/>
              <a:buChar char="●"/>
            </a:pPr>
            <a:r>
              <a:rPr lang="en" dirty="0"/>
              <a:t>While there are several mechanisms, </a:t>
            </a:r>
            <a:r>
              <a:rPr lang="en" dirty="0">
                <a:highlight>
                  <a:srgbClr val="FFFF00"/>
                </a:highlight>
                <a:latin typeface="Courier New"/>
                <a:ea typeface="Courier New"/>
                <a:cs typeface="Courier New"/>
                <a:sym typeface="Courier New"/>
              </a:rPr>
              <a:t>ExecutorService</a:t>
            </a:r>
            <a:r>
              <a:rPr lang="en" dirty="0">
                <a:highlight>
                  <a:srgbClr val="FFFF00"/>
                </a:highlight>
              </a:rPr>
              <a:t>'s </a:t>
            </a:r>
            <a:r>
              <a:rPr lang="en" dirty="0">
                <a:highlight>
                  <a:srgbClr val="FFFF00"/>
                </a:highlight>
                <a:latin typeface="Courier New"/>
                <a:ea typeface="Courier New"/>
                <a:cs typeface="Courier New"/>
                <a:sym typeface="Courier New"/>
              </a:rPr>
              <a:t>awaitTermination</a:t>
            </a:r>
            <a:r>
              <a:rPr lang="en" dirty="0">
                <a:highlight>
                  <a:srgbClr val="FFFF00"/>
                </a:highlight>
              </a:rPr>
              <a:t> is a convenient one that works with the service.</a:t>
            </a:r>
            <a:endParaRPr dirty="0">
              <a:highlight>
                <a:srgbClr val="FFFF00"/>
              </a:highlight>
            </a:endParaRPr>
          </a:p>
          <a:p>
            <a:pPr marL="457200" lvl="0" indent="-311150" algn="l" rtl="0">
              <a:spcBef>
                <a:spcPts val="1000"/>
              </a:spcBef>
              <a:spcAft>
                <a:spcPts val="0"/>
              </a:spcAft>
              <a:buSzPts val="1300"/>
              <a:buChar char="●"/>
            </a:pPr>
            <a:r>
              <a:rPr lang="en" dirty="0"/>
              <a:t>It takes two parameters:</a:t>
            </a:r>
            <a:endParaRPr dirty="0"/>
          </a:p>
          <a:p>
            <a:pPr marL="457200" lvl="0" indent="-311150" algn="l" rtl="0">
              <a:spcBef>
                <a:spcPts val="1000"/>
              </a:spcBef>
              <a:spcAft>
                <a:spcPts val="0"/>
              </a:spcAft>
              <a:buSzPts val="1300"/>
              <a:buChar char="●"/>
            </a:pPr>
            <a:r>
              <a:rPr lang="en" dirty="0">
                <a:solidFill>
                  <a:srgbClr val="FF0000"/>
                </a:solidFill>
                <a:highlight>
                  <a:srgbClr val="FFFF00"/>
                </a:highlight>
                <a:latin typeface="Courier New"/>
                <a:ea typeface="Courier New"/>
                <a:cs typeface="Courier New"/>
                <a:sym typeface="Courier New"/>
              </a:rPr>
              <a:t>timeout</a:t>
            </a:r>
            <a:r>
              <a:rPr lang="en" dirty="0">
                <a:highlight>
                  <a:srgbClr val="FFFF00"/>
                </a:highlight>
              </a:rPr>
              <a:t> - a </a:t>
            </a:r>
            <a:r>
              <a:rPr lang="en" dirty="0">
                <a:highlight>
                  <a:srgbClr val="FFFF00"/>
                </a:highlight>
                <a:latin typeface="Courier New"/>
                <a:ea typeface="Courier New"/>
                <a:cs typeface="Courier New"/>
                <a:sym typeface="Courier New"/>
              </a:rPr>
              <a:t>long</a:t>
            </a:r>
            <a:r>
              <a:rPr lang="en" dirty="0">
                <a:highlight>
                  <a:srgbClr val="FFFF00"/>
                </a:highlight>
              </a:rPr>
              <a:t> integer (64 bits) </a:t>
            </a:r>
            <a:r>
              <a:rPr lang="en" dirty="0"/>
              <a:t>that stores the number of time units to wait.</a:t>
            </a:r>
            <a:endParaRPr dirty="0"/>
          </a:p>
          <a:p>
            <a:pPr marL="457200" lvl="0" indent="-311150" algn="l" rtl="0">
              <a:spcBef>
                <a:spcPts val="1000"/>
              </a:spcBef>
              <a:spcAft>
                <a:spcPts val="0"/>
              </a:spcAft>
              <a:buSzPts val="1300"/>
              <a:buChar char="●"/>
            </a:pPr>
            <a:r>
              <a:rPr lang="en" dirty="0">
                <a:solidFill>
                  <a:srgbClr val="FF0000"/>
                </a:solidFill>
                <a:latin typeface="Courier New"/>
                <a:ea typeface="Courier New"/>
                <a:cs typeface="Courier New"/>
                <a:sym typeface="Courier New"/>
              </a:rPr>
              <a:t>unit</a:t>
            </a:r>
            <a:r>
              <a:rPr lang="en" dirty="0"/>
              <a:t> - a </a:t>
            </a:r>
            <a:r>
              <a:rPr lang="en" dirty="0">
                <a:latin typeface="Courier New"/>
                <a:ea typeface="Courier New"/>
                <a:cs typeface="Courier New"/>
                <a:sym typeface="Courier New"/>
              </a:rPr>
              <a:t>TimeUnit</a:t>
            </a:r>
            <a:r>
              <a:rPr lang="en" dirty="0"/>
              <a:t> that indicates how time is counted. Options include:</a:t>
            </a:r>
            <a:endParaRPr dirty="0"/>
          </a:p>
          <a:p>
            <a:pPr marL="914400" lvl="1" indent="-298450" algn="l" rtl="0">
              <a:spcBef>
                <a:spcPts val="0"/>
              </a:spcBef>
              <a:spcAft>
                <a:spcPts val="0"/>
              </a:spcAft>
              <a:buSzPts val="1100"/>
              <a:buChar char="○"/>
            </a:pPr>
            <a:r>
              <a:rPr lang="en" dirty="0"/>
              <a:t>NANOSECONDS - 1 billion per second</a:t>
            </a:r>
            <a:endParaRPr dirty="0"/>
          </a:p>
          <a:p>
            <a:pPr marL="914400" lvl="1" indent="-298450" algn="l" rtl="0">
              <a:spcBef>
                <a:spcPts val="0"/>
              </a:spcBef>
              <a:spcAft>
                <a:spcPts val="0"/>
              </a:spcAft>
              <a:buSzPts val="1100"/>
              <a:buChar char="○"/>
            </a:pPr>
            <a:r>
              <a:rPr lang="en" dirty="0"/>
              <a:t>MICROSECONDS - 1 million per second</a:t>
            </a:r>
            <a:endParaRPr dirty="0"/>
          </a:p>
          <a:p>
            <a:pPr marL="914400" lvl="1" indent="-298450" algn="l" rtl="0">
              <a:spcBef>
                <a:spcPts val="0"/>
              </a:spcBef>
              <a:spcAft>
                <a:spcPts val="0"/>
              </a:spcAft>
              <a:buSzPts val="1100"/>
              <a:buChar char="○"/>
            </a:pPr>
            <a:r>
              <a:rPr lang="en" dirty="0"/>
              <a:t>MILLISECONDS - 1 thousand per second</a:t>
            </a:r>
            <a:endParaRPr dirty="0"/>
          </a:p>
          <a:p>
            <a:pPr marL="914400" lvl="1" indent="-298450" algn="l" rtl="0">
              <a:spcBef>
                <a:spcPts val="0"/>
              </a:spcBef>
              <a:spcAft>
                <a:spcPts val="0"/>
              </a:spcAft>
              <a:buSzPts val="1100"/>
              <a:buChar char="○"/>
            </a:pPr>
            <a:r>
              <a:rPr lang="en" dirty="0"/>
              <a:t>SECONDS - 1 per second</a:t>
            </a:r>
            <a:endParaRPr dirty="0"/>
          </a:p>
          <a:p>
            <a:pPr marL="914400" lvl="1" indent="-298450" algn="l" rtl="0">
              <a:spcBef>
                <a:spcPts val="0"/>
              </a:spcBef>
              <a:spcAft>
                <a:spcPts val="0"/>
              </a:spcAft>
              <a:buSzPts val="1100"/>
              <a:buChar char="○"/>
            </a:pPr>
            <a:r>
              <a:rPr lang="en" dirty="0"/>
              <a:t>MINUTES - 1/60th per second</a:t>
            </a:r>
            <a:endParaRPr dirty="0"/>
          </a:p>
          <a:p>
            <a:pPr marL="914400" lvl="1" indent="-298450" algn="l" rtl="0">
              <a:spcBef>
                <a:spcPts val="0"/>
              </a:spcBef>
              <a:spcAft>
                <a:spcPts val="0"/>
              </a:spcAft>
              <a:buSzPts val="1100"/>
              <a:buChar char="○"/>
            </a:pPr>
            <a:r>
              <a:rPr lang="en" dirty="0"/>
              <a:t>HOURS - 1/3600th per second</a:t>
            </a:r>
            <a:endParaRPr dirty="0"/>
          </a:p>
          <a:p>
            <a:pPr marL="914400" lvl="1" indent="-298450" algn="l" rtl="0">
              <a:spcBef>
                <a:spcPts val="0"/>
              </a:spcBef>
              <a:spcAft>
                <a:spcPts val="0"/>
              </a:spcAft>
              <a:buSzPts val="1100"/>
              <a:buChar char="○"/>
            </a:pPr>
            <a:r>
              <a:rPr lang="en" dirty="0"/>
              <a:t>DAYS - 1/86,400th per second</a:t>
            </a:r>
            <a:endParaRPr dirty="0"/>
          </a:p>
        </p:txBody>
      </p:sp>
      <p:sp>
        <p:nvSpPr>
          <p:cNvPr id="581" name="Google Shape;581;p59"/>
          <p:cNvSpPr txBox="1">
            <a:spLocks noGrp="1"/>
          </p:cNvSpPr>
          <p:nvPr>
            <p:ph type="body" idx="3"/>
          </p:nvPr>
        </p:nvSpPr>
        <p:spPr>
          <a:xfrm>
            <a:off x="315425" y="3690591"/>
            <a:ext cx="3706500" cy="6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highlight>
                  <a:srgbClr val="FFFF00"/>
                </a:highlight>
              </a:rPr>
              <a:t>The </a:t>
            </a:r>
            <a:r>
              <a:rPr lang="en" dirty="0">
                <a:highlight>
                  <a:srgbClr val="FFFF00"/>
                </a:highlight>
                <a:latin typeface="Courier New"/>
                <a:ea typeface="Courier New"/>
                <a:cs typeface="Courier New"/>
                <a:sym typeface="Courier New"/>
              </a:rPr>
              <a:t>awaitTermination</a:t>
            </a:r>
            <a:r>
              <a:rPr lang="en" dirty="0">
                <a:highlight>
                  <a:srgbClr val="FFFF00"/>
                </a:highlight>
              </a:rPr>
              <a:t> requires you specify how long you're willing to wait. It returns true if all task completed and false otherwise.</a:t>
            </a:r>
            <a:endParaRPr dirty="0">
              <a:highlight>
                <a:srgbClr val="FFFF00"/>
              </a:highlight>
            </a:endParaRPr>
          </a:p>
        </p:txBody>
      </p:sp>
      <p:sp>
        <p:nvSpPr>
          <p:cNvPr id="582" name="Google Shape;582;p59"/>
          <p:cNvSpPr txBox="1">
            <a:spLocks noGrp="1"/>
          </p:cNvSpPr>
          <p:nvPr>
            <p:ph type="body" idx="2"/>
          </p:nvPr>
        </p:nvSpPr>
        <p:spPr>
          <a:xfrm>
            <a:off x="315425" y="1246298"/>
            <a:ext cx="3706500" cy="2312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1</a:t>
            </a:r>
            <a:r>
              <a:rPr lang="en" sz="1000">
                <a:solidFill>
                  <a:srgbClr val="267F99"/>
                </a:solidFill>
                <a:highlight>
                  <a:srgbClr val="FFFFFF"/>
                </a:highlight>
                <a:latin typeface="Consolas"/>
                <a:ea typeface="Consolas"/>
                <a:cs typeface="Consolas"/>
                <a:sym typeface="Consolas"/>
              </a:rPr>
              <a:t>  ExecutorService</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2</a:t>
            </a:r>
            <a:r>
              <a:rPr lang="en" sz="1000">
                <a:solidFill>
                  <a:srgbClr val="267F99"/>
                </a:solidFill>
                <a:highlight>
                  <a:srgbClr val="FFFFFF"/>
                </a:highlight>
                <a:latin typeface="Consolas"/>
                <a:ea typeface="Consolas"/>
                <a:cs typeface="Consolas"/>
                <a:sym typeface="Consolas"/>
              </a:rPr>
              <a:t>      Executors</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newCachedThreadPool</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3</a:t>
            </a:r>
            <a:r>
              <a:rPr lang="en" sz="1000">
                <a:solidFill>
                  <a:srgbClr val="AF00DB"/>
                </a:solidFill>
                <a:highlight>
                  <a:srgbClr val="FFFFFF"/>
                </a:highlight>
                <a:latin typeface="Consolas"/>
                <a:ea typeface="Consolas"/>
                <a:cs typeface="Consolas"/>
                <a:sym typeface="Consolas"/>
              </a:rPr>
              <a:t>  for</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&lt;=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10</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4</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"Task "</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5</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submit</a:t>
            </a:r>
            <a:r>
              <a:rPr lang="en" sz="1000">
                <a:solidFill>
                  <a:srgbClr val="3B3B3B"/>
                </a:solidFill>
                <a:highlight>
                  <a:srgbClr val="FFFFFF"/>
                </a:highlight>
                <a:latin typeface="Consolas"/>
                <a:ea typeface="Consolas"/>
                <a:cs typeface="Consolas"/>
                <a:sym typeface="Consolas"/>
              </a:rPr>
              <a:t>(()</a:t>
            </a:r>
            <a:r>
              <a:rPr lang="en" sz="1000">
                <a:solidFill>
                  <a:srgbClr val="0000FF"/>
                </a:solidFill>
                <a:highlight>
                  <a:srgbClr val="FFFFFF"/>
                </a:highlight>
                <a:latin typeface="Consolas"/>
                <a:ea typeface="Consolas"/>
                <a:cs typeface="Consolas"/>
                <a:sym typeface="Consolas"/>
              </a:rPr>
              <a:t>-&gt;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6</a:t>
            </a:r>
            <a:r>
              <a:rPr lang="en" sz="1000">
                <a:solidFill>
                  <a:srgbClr val="267F99"/>
                </a:solidFill>
                <a:highlight>
                  <a:srgbClr val="FFFFFF"/>
                </a:highlight>
                <a:latin typeface="Consolas"/>
                <a:ea typeface="Consolas"/>
                <a:cs typeface="Consolas"/>
                <a:sym typeface="Consolas"/>
              </a:rPr>
              <a:t>         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7</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8</a:t>
            </a:r>
            <a:r>
              <a:rPr lang="en" sz="1000">
                <a:solidFill>
                  <a:srgbClr val="001080"/>
                </a:solidFill>
                <a:highlight>
                  <a:srgbClr val="FFFFFF"/>
                </a:highlight>
                <a:latin typeface="Consolas"/>
                <a:ea typeface="Consolas"/>
                <a:cs typeface="Consolas"/>
                <a:sym typeface="Consolas"/>
              </a:rPr>
              <a:t>  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shutdown</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9</a:t>
            </a:r>
            <a:r>
              <a:rPr lang="en" sz="1000">
                <a:solidFill>
                  <a:srgbClr val="001080"/>
                </a:solidFill>
                <a:highlight>
                  <a:srgbClr val="FFFFFF"/>
                </a:highlight>
                <a:latin typeface="Consolas"/>
                <a:ea typeface="Consolas"/>
                <a:cs typeface="Consolas"/>
                <a:sym typeface="Consolas"/>
              </a:rPr>
              <a:t>  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awaitTermination</a:t>
            </a:r>
            <a:r>
              <a:rPr lang="en" sz="1000">
                <a:solidFill>
                  <a:srgbClr val="3B3B3B"/>
                </a:solidFill>
                <a:highlight>
                  <a:srgbClr val="FFFFFF"/>
                </a:highlight>
                <a:latin typeface="Consolas"/>
                <a:ea typeface="Consolas"/>
                <a:cs typeface="Consolas"/>
                <a:sym typeface="Consolas"/>
              </a:rPr>
              <a:t>(</a:t>
            </a:r>
            <a:r>
              <a:rPr lang="en" sz="1000">
                <a:solidFill>
                  <a:srgbClr val="098658"/>
                </a:solidFill>
                <a:highlight>
                  <a:srgbClr val="FFFFFF"/>
                </a:highlight>
                <a:latin typeface="Consolas"/>
                <a:ea typeface="Consolas"/>
                <a:cs typeface="Consolas"/>
                <a:sym typeface="Consolas"/>
              </a:rPr>
              <a:t>1</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TimeUnit</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SECONDS</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10</a:t>
            </a:r>
            <a:r>
              <a:rPr lang="en" sz="1000">
                <a:solidFill>
                  <a:srgbClr val="267F99"/>
                </a:solidFill>
                <a:highlight>
                  <a:srgbClr val="FFFFFF"/>
                </a:highlight>
                <a:latin typeface="Consolas"/>
                <a:ea typeface="Consolas"/>
                <a:cs typeface="Consolas"/>
                <a:sym typeface="Consolas"/>
              </a:rPr>
              <a:t> 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A31515"/>
                </a:solidFill>
                <a:highlight>
                  <a:srgbClr val="FFFFFF"/>
                </a:highlight>
                <a:latin typeface="Consolas"/>
                <a:ea typeface="Consolas"/>
                <a:cs typeface="Consolas"/>
                <a:sym typeface="Consolas"/>
              </a:rPr>
              <a:t>"All tasks completed."</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endParaRPr sz="1000">
              <a:solidFill>
                <a:srgbClr val="3B3B3B"/>
              </a:solidFill>
              <a:highlight>
                <a:srgbClr val="FFFFFF"/>
              </a:highlight>
              <a:latin typeface="Consolas"/>
              <a:ea typeface="Consolas"/>
              <a:cs typeface="Consolas"/>
              <a:sym typeface="Consolas"/>
            </a:endParaRPr>
          </a:p>
          <a:p>
            <a:pPr marL="0" lvl="0" indent="0" algn="l" rtl="0">
              <a:spcBef>
                <a:spcPts val="0"/>
              </a:spcBef>
              <a:spcAft>
                <a:spcPts val="1600"/>
              </a:spcAft>
              <a:buNone/>
            </a:pPr>
            <a:endParaRPr sz="1000"/>
          </a:p>
        </p:txBody>
      </p:sp>
      <p:sp>
        <p:nvSpPr>
          <p:cNvPr id="583" name="Google Shape;583;p59"/>
          <p:cNvSpPr txBox="1">
            <a:spLocks noGrp="1"/>
          </p:cNvSpPr>
          <p:nvPr>
            <p:ph type="body" idx="3"/>
          </p:nvPr>
        </p:nvSpPr>
        <p:spPr>
          <a:xfrm>
            <a:off x="311725" y="4491467"/>
            <a:ext cx="3706500" cy="5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This time bounds the method but has not impact on the running tasks.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6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Terminated!</a:t>
            </a:r>
            <a:endParaRPr/>
          </a:p>
        </p:txBody>
      </p:sp>
      <p:sp>
        <p:nvSpPr>
          <p:cNvPr id="589" name="Google Shape;589;p60"/>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Update one of your smaller races to use an ExecutorService. After every racer has finished, print out their finish time. </a:t>
            </a:r>
            <a:endParaRPr/>
          </a:p>
        </p:txBody>
      </p:sp>
      <p:sp>
        <p:nvSpPr>
          <p:cNvPr id="590" name="Google Shape;590;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591" name="Google Shape;591;p60"/>
          <p:cNvSpPr txBox="1">
            <a:spLocks noGrp="1"/>
          </p:cNvSpPr>
          <p:nvPr>
            <p:ph type="body" idx="4"/>
          </p:nvPr>
        </p:nvSpPr>
        <p:spPr>
          <a:xfrm>
            <a:off x="141600" y="3869900"/>
            <a:ext cx="34098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a:t>
            </a:r>
            <a:r>
              <a:rPr lang="en">
                <a:latin typeface="Courier New"/>
                <a:ea typeface="Courier New"/>
                <a:cs typeface="Courier New"/>
                <a:sym typeface="Courier New"/>
              </a:rPr>
              <a:t>awaitTermination</a:t>
            </a:r>
            <a:r>
              <a:rPr lang="en"/>
              <a:t> method requires a </a:t>
            </a:r>
            <a:r>
              <a:rPr lang="en" b="1" i="1">
                <a:solidFill>
                  <a:srgbClr val="FF0000"/>
                </a:solidFill>
              </a:rPr>
              <a:t>timeout</a:t>
            </a:r>
            <a:r>
              <a:rPr lang="en"/>
              <a:t> to ensure you aren't stuck waiting forever.</a:t>
            </a:r>
            <a:endParaRPr/>
          </a:p>
        </p:txBody>
      </p:sp>
      <p:sp>
        <p:nvSpPr>
          <p:cNvPr id="592" name="Google Shape;592;p60"/>
          <p:cNvSpPr txBox="1">
            <a:spLocks noGrp="1"/>
          </p:cNvSpPr>
          <p:nvPr>
            <p:ph type="body" idx="2"/>
          </p:nvPr>
        </p:nvSpPr>
        <p:spPr>
          <a:xfrm>
            <a:off x="3808625" y="1465325"/>
            <a:ext cx="5212500" cy="2478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your </a:t>
            </a:r>
            <a:r>
              <a:rPr lang="en" dirty="0">
                <a:latin typeface="Courier New"/>
                <a:ea typeface="Courier New"/>
                <a:cs typeface="Courier New"/>
                <a:sym typeface="Courier New"/>
              </a:rPr>
              <a:t>LambdaRace</a:t>
            </a:r>
            <a:r>
              <a:rPr lang="en" dirty="0"/>
              <a:t> class.</a:t>
            </a:r>
            <a:endParaRPr dirty="0"/>
          </a:p>
          <a:p>
            <a:pPr marL="457200" lvl="0" indent="-311150" algn="l" rtl="0">
              <a:spcBef>
                <a:spcPts val="1000"/>
              </a:spcBef>
              <a:spcAft>
                <a:spcPts val="0"/>
              </a:spcAft>
              <a:buSzPts val="1300"/>
              <a:buChar char="●"/>
            </a:pPr>
            <a:r>
              <a:rPr lang="en" dirty="0"/>
              <a:t>Update the race to use an </a:t>
            </a:r>
            <a:r>
              <a:rPr lang="en" dirty="0">
                <a:solidFill>
                  <a:srgbClr val="FF0000"/>
                </a:solidFill>
                <a:latin typeface="Courier New"/>
                <a:ea typeface="Courier New"/>
                <a:cs typeface="Courier New"/>
                <a:sym typeface="Courier New"/>
              </a:rPr>
              <a:t>ExecutorService</a:t>
            </a:r>
            <a:r>
              <a:rPr lang="en" dirty="0"/>
              <a:t> to run tasks rather than a </a:t>
            </a:r>
            <a:r>
              <a:rPr lang="en" dirty="0">
                <a:latin typeface="Courier New"/>
                <a:ea typeface="Courier New"/>
                <a:cs typeface="Courier New"/>
                <a:sym typeface="Courier New"/>
              </a:rPr>
              <a:t>Thread</a:t>
            </a:r>
            <a:r>
              <a:rPr lang="en" dirty="0"/>
              <a:t>.</a:t>
            </a:r>
            <a:endParaRPr dirty="0"/>
          </a:p>
          <a:p>
            <a:pPr marL="457200" lvl="0" indent="-311150" algn="l" rtl="0">
              <a:spcBef>
                <a:spcPts val="1000"/>
              </a:spcBef>
              <a:spcAft>
                <a:spcPts val="0"/>
              </a:spcAft>
              <a:buSzPts val="1300"/>
              <a:buChar char="●"/>
            </a:pPr>
            <a:r>
              <a:rPr lang="en" dirty="0"/>
              <a:t>After all of the tasks have been started, wait for the service to terminate using </a:t>
            </a:r>
            <a:r>
              <a:rPr lang="en" dirty="0">
                <a:solidFill>
                  <a:srgbClr val="FF0000"/>
                </a:solidFill>
                <a:latin typeface="Courier New"/>
                <a:ea typeface="Courier New"/>
                <a:cs typeface="Courier New"/>
                <a:sym typeface="Courier New"/>
              </a:rPr>
              <a:t>awaitTermination</a:t>
            </a:r>
            <a:r>
              <a:rPr lang="en" dirty="0"/>
              <a:t>.</a:t>
            </a:r>
            <a:endParaRPr dirty="0"/>
          </a:p>
          <a:p>
            <a:pPr marL="457200" lvl="0" indent="-311150" algn="l" rtl="0">
              <a:spcBef>
                <a:spcPts val="1000"/>
              </a:spcBef>
              <a:spcAft>
                <a:spcPts val="0"/>
              </a:spcAft>
              <a:buSzPts val="1300"/>
              <a:buChar char="●"/>
            </a:pPr>
            <a:r>
              <a:rPr lang="en" dirty="0"/>
              <a:t>Print the finish times for each racer after the </a:t>
            </a:r>
            <a:r>
              <a:rPr lang="en" b="1" i="1" dirty="0">
                <a:solidFill>
                  <a:srgbClr val="FF0000"/>
                </a:solidFill>
              </a:rPr>
              <a:t>race is over</a:t>
            </a:r>
            <a:r>
              <a:rPr lang="en" dirty="0"/>
              <a:t>.</a:t>
            </a:r>
            <a:endParaRPr dirty="0"/>
          </a:p>
          <a:p>
            <a:pPr marL="457200" lvl="0" indent="-311150" algn="l" rtl="0">
              <a:spcBef>
                <a:spcPts val="1000"/>
              </a:spcBef>
              <a:spcAft>
                <a:spcPts val="0"/>
              </a:spcAft>
              <a:buSzPts val="1300"/>
              <a:buChar char="●"/>
            </a:pPr>
            <a:r>
              <a:rPr lang="en" dirty="0"/>
              <a:t>What happens when you try to run this code?</a:t>
            </a:r>
            <a:endParaRPr dirty="0"/>
          </a:p>
          <a:p>
            <a:pPr marL="914400" lvl="1" indent="-298450" algn="l" rtl="0">
              <a:spcBef>
                <a:spcPts val="0"/>
              </a:spcBef>
              <a:spcAft>
                <a:spcPts val="0"/>
              </a:spcAft>
              <a:buSzPts val="1100"/>
              <a:buChar char="○"/>
            </a:pPr>
            <a:r>
              <a:rPr lang="en" dirty="0"/>
              <a:t>You </a:t>
            </a:r>
            <a:r>
              <a:rPr lang="en" b="1" dirty="0"/>
              <a:t>don't</a:t>
            </a:r>
            <a:r>
              <a:rPr lang="en" dirty="0"/>
              <a:t> need to fix it, we're going to talk about it on the next slide</a:t>
            </a:r>
            <a:endParaRPr dirty="0"/>
          </a:p>
        </p:txBody>
      </p:sp>
      <p:sp>
        <p:nvSpPr>
          <p:cNvPr id="593" name="Google Shape;593;p6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8.11</a:t>
            </a:r>
            <a:endParaRPr/>
          </a:p>
        </p:txBody>
      </p:sp>
      <p:sp>
        <p:nvSpPr>
          <p:cNvPr id="594" name="Google Shape;594;p60"/>
          <p:cNvSpPr txBox="1">
            <a:spLocks noGrp="1"/>
          </p:cNvSpPr>
          <p:nvPr>
            <p:ph type="body" idx="4"/>
          </p:nvPr>
        </p:nvSpPr>
        <p:spPr>
          <a:xfrm>
            <a:off x="141600" y="1465325"/>
            <a:ext cx="3409800" cy="22188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ExecutorService</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    Executors</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newCachedThreadPool</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AF00DB"/>
                </a:solidFill>
                <a:highlight>
                  <a:srgbClr val="FFFFFF"/>
                </a:highlight>
                <a:latin typeface="Consolas"/>
                <a:ea typeface="Consolas"/>
                <a:cs typeface="Consolas"/>
                <a:sym typeface="Consolas"/>
              </a:rPr>
              <a:t>for</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&lt;=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10</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"Task "</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submit</a:t>
            </a:r>
            <a:r>
              <a:rPr lang="en" sz="1000">
                <a:solidFill>
                  <a:srgbClr val="3B3B3B"/>
                </a:solidFill>
                <a:highlight>
                  <a:srgbClr val="FFFFFF"/>
                </a:highlight>
                <a:latin typeface="Consolas"/>
                <a:ea typeface="Consolas"/>
                <a:cs typeface="Consolas"/>
                <a:sym typeface="Consolas"/>
              </a:rPr>
              <a:t>(()</a:t>
            </a:r>
            <a:r>
              <a:rPr lang="en" sz="1000">
                <a:solidFill>
                  <a:srgbClr val="0000FF"/>
                </a:solidFill>
                <a:highlight>
                  <a:srgbClr val="FFFFFF"/>
                </a:highlight>
                <a:latin typeface="Consolas"/>
                <a:ea typeface="Consolas"/>
                <a:cs typeface="Consolas"/>
                <a:sym typeface="Consolas"/>
              </a:rPr>
              <a:t>-&gt;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       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shutdown</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awaitTermination</a:t>
            </a:r>
            <a:r>
              <a:rPr lang="en" sz="1000">
                <a:solidFill>
                  <a:srgbClr val="3B3B3B"/>
                </a:solidFill>
                <a:highlight>
                  <a:srgbClr val="FFFFFF"/>
                </a:highlight>
                <a:latin typeface="Consolas"/>
                <a:ea typeface="Consolas"/>
                <a:cs typeface="Consolas"/>
                <a:sym typeface="Consolas"/>
              </a:rPr>
              <a:t>(</a:t>
            </a:r>
            <a:r>
              <a:rPr lang="en" sz="1000">
                <a:solidFill>
                  <a:srgbClr val="098658"/>
                </a:solidFill>
                <a:highlight>
                  <a:srgbClr val="FFFFFF"/>
                </a:highlight>
                <a:latin typeface="Consolas"/>
                <a:ea typeface="Consolas"/>
                <a:cs typeface="Consolas"/>
                <a:sym typeface="Consolas"/>
              </a:rPr>
              <a:t>1</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TimeUnit</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SECONDS</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A31515"/>
                </a:solidFill>
                <a:highlight>
                  <a:srgbClr val="FFFFFF"/>
                </a:highlight>
                <a:latin typeface="Consolas"/>
                <a:ea typeface="Consolas"/>
                <a:cs typeface="Consolas"/>
                <a:sym typeface="Consolas"/>
              </a:rPr>
              <a:t>"All tasks completed."</a:t>
            </a:r>
            <a:r>
              <a:rPr lang="en" sz="1000">
                <a:solidFill>
                  <a:srgbClr val="3B3B3B"/>
                </a:solidFill>
                <a:highlight>
                  <a:srgbClr val="FFFFFF"/>
                </a:highlight>
                <a:latin typeface="Consolas"/>
                <a:ea typeface="Consolas"/>
                <a:cs typeface="Consolas"/>
                <a:sym typeface="Consolas"/>
              </a:rPr>
              <a:t>);</a:t>
            </a:r>
            <a:endParaRPr sz="1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61"/>
          <p:cNvSpPr txBox="1">
            <a:spLocks noGrp="1"/>
          </p:cNvSpPr>
          <p:nvPr>
            <p:ph type="sldNum" idx="12"/>
          </p:nvPr>
        </p:nvSpPr>
        <p:spPr>
          <a:xfrm>
            <a:off x="1950" y="4745575"/>
            <a:ext cx="3621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600" name="Google Shape;600;p61"/>
          <p:cNvSpPr txBox="1">
            <a:spLocks noGrp="1"/>
          </p:cNvSpPr>
          <p:nvPr>
            <p:ph type="title"/>
          </p:nvPr>
        </p:nvSpPr>
        <p:spPr>
          <a:xfrm>
            <a:off x="5192225" y="1961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700"/>
              <a:t>Thread States II</a:t>
            </a:r>
            <a:endParaRPr sz="2700"/>
          </a:p>
        </p:txBody>
      </p:sp>
      <p:sp>
        <p:nvSpPr>
          <p:cNvPr id="601" name="Google Shape;601;p61"/>
          <p:cNvSpPr txBox="1">
            <a:spLocks noGrp="1"/>
          </p:cNvSpPr>
          <p:nvPr>
            <p:ph type="body" idx="1"/>
          </p:nvPr>
        </p:nvSpPr>
        <p:spPr>
          <a:xfrm>
            <a:off x="34600" y="157775"/>
            <a:ext cx="4682400" cy="4576500"/>
          </a:xfrm>
          <a:prstGeom prst="rect">
            <a:avLst/>
          </a:prstGeom>
        </p:spPr>
        <p:txBody>
          <a:bodyPr spcFirstLastPara="1" wrap="square" lIns="91425" tIns="91425" rIns="91425" bIns="91425" anchor="ctr" anchorCtr="0">
            <a:spAutoFit/>
          </a:bodyPr>
          <a:lstStyle/>
          <a:p>
            <a:pPr marL="457200" lvl="0" indent="-304800" algn="l" rtl="0">
              <a:lnSpc>
                <a:spcPct val="100000"/>
              </a:lnSpc>
              <a:spcBef>
                <a:spcPts val="0"/>
              </a:spcBef>
              <a:spcAft>
                <a:spcPts val="0"/>
              </a:spcAft>
              <a:buSzPts val="1200"/>
              <a:buChar char="●"/>
            </a:pPr>
            <a:r>
              <a:rPr lang="en" sz="1200" dirty="0"/>
              <a:t>The </a:t>
            </a:r>
            <a:r>
              <a:rPr lang="en" sz="1200" dirty="0">
                <a:latin typeface="Courier New"/>
                <a:ea typeface="Courier New"/>
                <a:cs typeface="Courier New"/>
                <a:sym typeface="Courier New"/>
              </a:rPr>
              <a:t>ExecutorService</a:t>
            </a:r>
            <a:r>
              <a:rPr lang="en" sz="1200" dirty="0"/>
              <a:t> also runs </a:t>
            </a:r>
            <a:r>
              <a:rPr lang="en" sz="1200" dirty="0">
                <a:highlight>
                  <a:srgbClr val="FFFF00"/>
                </a:highlight>
              </a:rPr>
              <a:t>in a </a:t>
            </a:r>
            <a:r>
              <a:rPr lang="en" sz="1200" dirty="0">
                <a:highlight>
                  <a:srgbClr val="FFFF00"/>
                </a:highlight>
                <a:latin typeface="Courier New"/>
                <a:ea typeface="Courier New"/>
                <a:cs typeface="Courier New"/>
                <a:sym typeface="Courier New"/>
              </a:rPr>
              <a:t>Thread</a:t>
            </a:r>
            <a:r>
              <a:rPr lang="en" sz="1200" dirty="0">
                <a:highlight>
                  <a:srgbClr val="FFFF00"/>
                </a:highlight>
              </a:rPr>
              <a:t>. </a:t>
            </a:r>
            <a:r>
              <a:rPr lang="en" sz="1200" dirty="0"/>
              <a:t>In our case the </a:t>
            </a:r>
            <a:r>
              <a:rPr lang="en" sz="1200" dirty="0">
                <a:latin typeface="Courier New"/>
                <a:ea typeface="Courier New"/>
                <a:cs typeface="Courier New"/>
                <a:sym typeface="Courier New"/>
              </a:rPr>
              <a:t>main</a:t>
            </a:r>
            <a:r>
              <a:rPr lang="en" sz="1200" dirty="0"/>
              <a:t> thread.</a:t>
            </a:r>
            <a:endParaRPr sz="1200" dirty="0"/>
          </a:p>
          <a:p>
            <a:pPr marL="457200" lvl="0" indent="-304800" algn="l" rtl="0">
              <a:lnSpc>
                <a:spcPct val="100000"/>
              </a:lnSpc>
              <a:spcBef>
                <a:spcPts val="1000"/>
              </a:spcBef>
              <a:spcAft>
                <a:spcPts val="0"/>
              </a:spcAft>
              <a:buSzPts val="1200"/>
              <a:buChar char="●"/>
            </a:pPr>
            <a:r>
              <a:rPr lang="en" sz="1200" dirty="0">
                <a:highlight>
                  <a:srgbClr val="FFFF00"/>
                </a:highlight>
              </a:rPr>
              <a:t>Sometimes a thread needs to </a:t>
            </a:r>
            <a:r>
              <a:rPr lang="en" sz="1200" b="1" i="1" dirty="0">
                <a:solidFill>
                  <a:srgbClr val="FF0000"/>
                </a:solidFill>
                <a:highlight>
                  <a:srgbClr val="FFFF00"/>
                </a:highlight>
              </a:rPr>
              <a:t>wait</a:t>
            </a:r>
            <a:r>
              <a:rPr lang="en" sz="1200" dirty="0">
                <a:solidFill>
                  <a:srgbClr val="FF0000"/>
                </a:solidFill>
                <a:highlight>
                  <a:srgbClr val="FFFF00"/>
                </a:highlight>
              </a:rPr>
              <a:t> </a:t>
            </a:r>
            <a:r>
              <a:rPr lang="en" sz="1200" dirty="0">
                <a:highlight>
                  <a:srgbClr val="FFFF00"/>
                </a:highlight>
              </a:rPr>
              <a:t>for some </a:t>
            </a:r>
            <a:r>
              <a:rPr lang="en" sz="1200" b="1" i="1" dirty="0">
                <a:solidFill>
                  <a:srgbClr val="FF0000"/>
                </a:solidFill>
                <a:highlight>
                  <a:srgbClr val="FFFF00"/>
                </a:highlight>
              </a:rPr>
              <a:t>important event</a:t>
            </a:r>
            <a:r>
              <a:rPr lang="en" sz="1200" dirty="0">
                <a:highlight>
                  <a:srgbClr val="FFFF00"/>
                </a:highlight>
              </a:rPr>
              <a:t> to occur before it continues doing its work.</a:t>
            </a:r>
            <a:endParaRPr sz="1200" dirty="0">
              <a:highlight>
                <a:srgbClr val="FFFF00"/>
              </a:highlight>
            </a:endParaRPr>
          </a:p>
          <a:p>
            <a:pPr marL="457200" lvl="0" indent="-304800" algn="l" rtl="0">
              <a:lnSpc>
                <a:spcPct val="100000"/>
              </a:lnSpc>
              <a:spcBef>
                <a:spcPts val="1000"/>
              </a:spcBef>
              <a:spcAft>
                <a:spcPts val="0"/>
              </a:spcAft>
              <a:buSzPts val="1200"/>
              <a:buChar char="●"/>
            </a:pPr>
            <a:r>
              <a:rPr lang="en" sz="1200" dirty="0"/>
              <a:t>One example of this is the </a:t>
            </a:r>
            <a:r>
              <a:rPr lang="en" sz="1200" dirty="0">
                <a:latin typeface="Courier New"/>
                <a:ea typeface="Courier New"/>
                <a:cs typeface="Courier New"/>
                <a:sym typeface="Courier New"/>
              </a:rPr>
              <a:t>awaitTermination</a:t>
            </a:r>
            <a:r>
              <a:rPr lang="en" sz="1200" dirty="0"/>
              <a:t> method which waits:</a:t>
            </a:r>
            <a:endParaRPr sz="1200" dirty="0"/>
          </a:p>
          <a:p>
            <a:pPr marL="914400" lvl="1" indent="-304800" algn="l" rtl="0">
              <a:lnSpc>
                <a:spcPct val="100000"/>
              </a:lnSpc>
              <a:spcBef>
                <a:spcPts val="0"/>
              </a:spcBef>
              <a:spcAft>
                <a:spcPts val="0"/>
              </a:spcAft>
              <a:buSzPts val="1200"/>
              <a:buChar char="○"/>
            </a:pPr>
            <a:r>
              <a:rPr lang="en" sz="1200" dirty="0">
                <a:highlight>
                  <a:srgbClr val="FFFF00"/>
                </a:highlight>
              </a:rPr>
              <a:t>Until all the tasks have </a:t>
            </a:r>
            <a:r>
              <a:rPr lang="en" sz="1200" b="1" i="1" dirty="0">
                <a:solidFill>
                  <a:srgbClr val="FF0000"/>
                </a:solidFill>
                <a:highlight>
                  <a:srgbClr val="FFFF00"/>
                </a:highlight>
              </a:rPr>
              <a:t>completed</a:t>
            </a:r>
            <a:endParaRPr sz="1200" b="1" i="1" dirty="0">
              <a:solidFill>
                <a:srgbClr val="FF0000"/>
              </a:solidFill>
              <a:highlight>
                <a:srgbClr val="FFFF00"/>
              </a:highlight>
            </a:endParaRPr>
          </a:p>
          <a:p>
            <a:pPr marL="914400" lvl="1" indent="-304800" algn="l" rtl="0">
              <a:lnSpc>
                <a:spcPct val="100000"/>
              </a:lnSpc>
              <a:spcBef>
                <a:spcPts val="0"/>
              </a:spcBef>
              <a:spcAft>
                <a:spcPts val="0"/>
              </a:spcAft>
              <a:buSzPts val="1200"/>
              <a:buChar char="○"/>
            </a:pPr>
            <a:r>
              <a:rPr lang="en" sz="1200" dirty="0">
                <a:highlight>
                  <a:srgbClr val="FFFF00"/>
                </a:highlight>
              </a:rPr>
              <a:t>The </a:t>
            </a:r>
            <a:r>
              <a:rPr lang="en" sz="1200" b="1" i="1" dirty="0">
                <a:solidFill>
                  <a:srgbClr val="FF0000"/>
                </a:solidFill>
                <a:highlight>
                  <a:srgbClr val="FFFF00"/>
                </a:highlight>
              </a:rPr>
              <a:t>timeout </a:t>
            </a:r>
            <a:r>
              <a:rPr lang="en" sz="1200" dirty="0">
                <a:highlight>
                  <a:srgbClr val="FFFF00"/>
                </a:highlight>
              </a:rPr>
              <a:t>is reached</a:t>
            </a:r>
            <a:endParaRPr sz="1200" dirty="0">
              <a:highlight>
                <a:srgbClr val="FFFF00"/>
              </a:highlight>
            </a:endParaRPr>
          </a:p>
          <a:p>
            <a:pPr marL="914400" lvl="0" indent="0" algn="l" rtl="0">
              <a:lnSpc>
                <a:spcPct val="100000"/>
              </a:lnSpc>
              <a:spcBef>
                <a:spcPts val="0"/>
              </a:spcBef>
              <a:spcAft>
                <a:spcPts val="0"/>
              </a:spcAft>
              <a:buNone/>
            </a:pPr>
            <a:endParaRPr sz="1200" dirty="0"/>
          </a:p>
          <a:p>
            <a:pPr marL="457200" lvl="0" indent="-304800" algn="l" rtl="0">
              <a:lnSpc>
                <a:spcPct val="100000"/>
              </a:lnSpc>
              <a:spcBef>
                <a:spcPts val="0"/>
              </a:spcBef>
              <a:spcAft>
                <a:spcPts val="0"/>
              </a:spcAft>
              <a:buSzPts val="1200"/>
              <a:buChar char="●"/>
            </a:pPr>
            <a:r>
              <a:rPr lang="en" sz="1200" dirty="0"/>
              <a:t>While awaiting termination the thread enters the WAITING state. In this state the thread </a:t>
            </a:r>
            <a:r>
              <a:rPr lang="en" sz="1200" b="1" i="1" dirty="0">
                <a:solidFill>
                  <a:srgbClr val="FF0000"/>
                </a:solidFill>
              </a:rPr>
              <a:t>will not</a:t>
            </a:r>
            <a:r>
              <a:rPr lang="en" sz="1200" dirty="0"/>
              <a:t> be scheduled to run on the CPU.</a:t>
            </a:r>
            <a:endParaRPr sz="1200" dirty="0"/>
          </a:p>
          <a:p>
            <a:pPr marL="457200" lvl="0" indent="0" algn="l" rtl="0">
              <a:lnSpc>
                <a:spcPct val="100000"/>
              </a:lnSpc>
              <a:spcBef>
                <a:spcPts val="0"/>
              </a:spcBef>
              <a:spcAft>
                <a:spcPts val="0"/>
              </a:spcAft>
              <a:buNone/>
            </a:pPr>
            <a:endParaRPr sz="1200" dirty="0"/>
          </a:p>
          <a:p>
            <a:pPr marL="457200" lvl="0" indent="-304800" algn="l" rtl="0">
              <a:lnSpc>
                <a:spcPct val="100000"/>
              </a:lnSpc>
              <a:spcBef>
                <a:spcPts val="0"/>
              </a:spcBef>
              <a:spcAft>
                <a:spcPts val="0"/>
              </a:spcAft>
              <a:buSzPts val="1200"/>
              <a:buChar char="●"/>
            </a:pPr>
            <a:r>
              <a:rPr lang="en" sz="1200" dirty="0"/>
              <a:t>When a thread </a:t>
            </a:r>
            <a:r>
              <a:rPr lang="en" sz="1200" b="1" i="1" dirty="0">
                <a:solidFill>
                  <a:srgbClr val="FF0000"/>
                </a:solidFill>
              </a:rPr>
              <a:t>leaves the waiting state</a:t>
            </a:r>
            <a:r>
              <a:rPr lang="en" sz="1200" dirty="0"/>
              <a:t> it </a:t>
            </a:r>
            <a:r>
              <a:rPr lang="en" sz="1200" b="1" dirty="0"/>
              <a:t>does not</a:t>
            </a:r>
            <a:r>
              <a:rPr lang="en" sz="1200" dirty="0"/>
              <a:t> immediately start executing. Instead, it is </a:t>
            </a:r>
            <a:r>
              <a:rPr lang="en" sz="1200" b="1" i="1" dirty="0">
                <a:solidFill>
                  <a:srgbClr val="FF0000"/>
                </a:solidFill>
              </a:rPr>
              <a:t>scheduled for execution</a:t>
            </a:r>
            <a:r>
              <a:rPr lang="en" sz="1200" dirty="0"/>
              <a:t> at some point of time in the future by the Java scheduler.</a:t>
            </a:r>
            <a:endParaRPr sz="1200" dirty="0"/>
          </a:p>
          <a:p>
            <a:pPr marL="457200" lvl="0" indent="-304800" algn="l" rtl="0">
              <a:lnSpc>
                <a:spcPct val="100000"/>
              </a:lnSpc>
              <a:spcBef>
                <a:spcPts val="1000"/>
              </a:spcBef>
              <a:spcAft>
                <a:spcPts val="0"/>
              </a:spcAft>
              <a:buSzPts val="1200"/>
              <a:buChar char="●"/>
            </a:pPr>
            <a:r>
              <a:rPr lang="en" sz="1200" dirty="0"/>
              <a:t>Anytime a thread is waiting, it could generate the </a:t>
            </a:r>
            <a:r>
              <a:rPr lang="en" sz="1200" dirty="0">
                <a:solidFill>
                  <a:srgbClr val="FF0000"/>
                </a:solidFill>
                <a:latin typeface="Courier New"/>
                <a:ea typeface="Courier New"/>
                <a:cs typeface="Courier New"/>
                <a:sym typeface="Courier New"/>
              </a:rPr>
              <a:t>InterruptedException</a:t>
            </a:r>
            <a:r>
              <a:rPr lang="en" sz="1200" dirty="0"/>
              <a:t> checked exception.</a:t>
            </a:r>
            <a:endParaRPr sz="1200" dirty="0"/>
          </a:p>
          <a:p>
            <a:pPr marL="457200" lvl="0" indent="-304800" algn="l" rtl="0">
              <a:lnSpc>
                <a:spcPct val="100000"/>
              </a:lnSpc>
              <a:spcBef>
                <a:spcPts val="1000"/>
              </a:spcBef>
              <a:spcAft>
                <a:spcPts val="0"/>
              </a:spcAft>
              <a:buSzPts val="1200"/>
              <a:buChar char="●"/>
            </a:pPr>
            <a:r>
              <a:rPr lang="en" sz="1200" dirty="0"/>
              <a:t>We'll learn about other events that will cause a thread to wait later in this unit.</a:t>
            </a:r>
            <a:endParaRPr sz="1200" dirty="0"/>
          </a:p>
        </p:txBody>
      </p:sp>
      <p:sp>
        <p:nvSpPr>
          <p:cNvPr id="602" name="Google Shape;602;p61"/>
          <p:cNvSpPr txBox="1">
            <a:spLocks noGrp="1"/>
          </p:cNvSpPr>
          <p:nvPr>
            <p:ph type="body" idx="3"/>
          </p:nvPr>
        </p:nvSpPr>
        <p:spPr>
          <a:xfrm>
            <a:off x="5192225" y="408965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highlight>
                  <a:srgbClr val="FFFF00"/>
                </a:highlight>
              </a:rPr>
              <a:t>A </a:t>
            </a:r>
            <a:r>
              <a:rPr lang="en" b="1" i="1" dirty="0">
                <a:solidFill>
                  <a:srgbClr val="FF0000"/>
                </a:solidFill>
                <a:highlight>
                  <a:srgbClr val="FFFF00"/>
                </a:highlight>
              </a:rPr>
              <a:t>thread</a:t>
            </a:r>
            <a:r>
              <a:rPr lang="en" dirty="0">
                <a:solidFill>
                  <a:srgbClr val="FF0000"/>
                </a:solidFill>
                <a:highlight>
                  <a:srgbClr val="FFFF00"/>
                </a:highlight>
              </a:rPr>
              <a:t> </a:t>
            </a:r>
            <a:r>
              <a:rPr lang="en" dirty="0">
                <a:highlight>
                  <a:srgbClr val="FFFF00"/>
                </a:highlight>
              </a:rPr>
              <a:t>may exist in </a:t>
            </a:r>
            <a:r>
              <a:rPr lang="en" b="1" i="1" dirty="0">
                <a:solidFill>
                  <a:srgbClr val="FF0000"/>
                </a:solidFill>
                <a:highlight>
                  <a:srgbClr val="FFFF00"/>
                </a:highlight>
              </a:rPr>
              <a:t>exactly one</a:t>
            </a:r>
            <a:r>
              <a:rPr lang="en" dirty="0">
                <a:highlight>
                  <a:srgbClr val="FFFF00"/>
                </a:highlight>
              </a:rPr>
              <a:t> of several possible states at any given time. A thread that calls </a:t>
            </a:r>
            <a:r>
              <a:rPr lang="en" dirty="0">
                <a:highlight>
                  <a:srgbClr val="FFFF00"/>
                </a:highlight>
                <a:latin typeface="Courier New"/>
                <a:ea typeface="Courier New"/>
                <a:cs typeface="Courier New"/>
                <a:sym typeface="Courier New"/>
              </a:rPr>
              <a:t>ExecutorService.awaitTermination</a:t>
            </a:r>
            <a:r>
              <a:rPr lang="en" dirty="0">
                <a:highlight>
                  <a:srgbClr val="FFFF00"/>
                </a:highlight>
              </a:rPr>
              <a:t> is in the </a:t>
            </a:r>
            <a:r>
              <a:rPr lang="en" b="1" i="1" dirty="0">
                <a:solidFill>
                  <a:srgbClr val="FF0000"/>
                </a:solidFill>
                <a:highlight>
                  <a:srgbClr val="FFFF00"/>
                </a:highlight>
              </a:rPr>
              <a:t>waiting</a:t>
            </a:r>
            <a:r>
              <a:rPr lang="en" dirty="0">
                <a:solidFill>
                  <a:srgbClr val="FF0000"/>
                </a:solidFill>
                <a:highlight>
                  <a:srgbClr val="FFFF00"/>
                </a:highlight>
              </a:rPr>
              <a:t> </a:t>
            </a:r>
            <a:r>
              <a:rPr lang="en" dirty="0">
                <a:highlight>
                  <a:srgbClr val="FFFF00"/>
                </a:highlight>
              </a:rPr>
              <a:t>state.</a:t>
            </a:r>
            <a:endParaRPr dirty="0">
              <a:highlight>
                <a:srgbClr val="FFFF00"/>
              </a:highlight>
            </a:endParaRPr>
          </a:p>
        </p:txBody>
      </p:sp>
      <p:grpSp>
        <p:nvGrpSpPr>
          <p:cNvPr id="603" name="Google Shape;603;p61"/>
          <p:cNvGrpSpPr/>
          <p:nvPr/>
        </p:nvGrpSpPr>
        <p:grpSpPr>
          <a:xfrm>
            <a:off x="7110814" y="966713"/>
            <a:ext cx="1486500" cy="2952988"/>
            <a:chOff x="6958414" y="1195313"/>
            <a:chExt cx="1486500" cy="2952988"/>
          </a:xfrm>
        </p:grpSpPr>
        <p:sp>
          <p:nvSpPr>
            <p:cNvPr id="604" name="Google Shape;604;p61"/>
            <p:cNvSpPr/>
            <p:nvPr/>
          </p:nvSpPr>
          <p:spPr>
            <a:xfrm>
              <a:off x="6958414" y="1969300"/>
              <a:ext cx="1486500" cy="1411200"/>
            </a:xfrm>
            <a:prstGeom prst="roundRect">
              <a:avLst>
                <a:gd name="adj" fmla="val 9698"/>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61"/>
            <p:cNvSpPr/>
            <p:nvPr/>
          </p:nvSpPr>
          <p:spPr>
            <a:xfrm>
              <a:off x="7286250" y="1195313"/>
              <a:ext cx="831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606" name="Google Shape;606;p61"/>
            <p:cNvSpPr/>
            <p:nvPr/>
          </p:nvSpPr>
          <p:spPr>
            <a:xfrm>
              <a:off x="7029750" y="2049450"/>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sp>
          <p:nvSpPr>
            <p:cNvPr id="607" name="Google Shape;607;p61"/>
            <p:cNvSpPr/>
            <p:nvPr/>
          </p:nvSpPr>
          <p:spPr>
            <a:xfrm>
              <a:off x="7029750" y="29035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608" name="Google Shape;608;p61"/>
            <p:cNvSpPr/>
            <p:nvPr/>
          </p:nvSpPr>
          <p:spPr>
            <a:xfrm>
              <a:off x="7057607" y="3757700"/>
              <a:ext cx="13020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609" name="Google Shape;609;p61"/>
            <p:cNvCxnSpPr>
              <a:stCxn id="605" idx="2"/>
              <a:endCxn id="606" idx="0"/>
            </p:cNvCxnSpPr>
            <p:nvPr/>
          </p:nvCxnSpPr>
          <p:spPr>
            <a:xfrm>
              <a:off x="7702200" y="1585913"/>
              <a:ext cx="0" cy="463500"/>
            </a:xfrm>
            <a:prstGeom prst="straightConnector1">
              <a:avLst/>
            </a:prstGeom>
            <a:noFill/>
            <a:ln w="9525" cap="flat" cmpd="sng">
              <a:solidFill>
                <a:srgbClr val="FFFFFF"/>
              </a:solidFill>
              <a:prstDash val="solid"/>
              <a:round/>
              <a:headEnd type="none" w="med" len="med"/>
              <a:tailEnd type="triangle" w="med" len="med"/>
            </a:ln>
          </p:spPr>
        </p:cxnSp>
        <p:cxnSp>
          <p:nvCxnSpPr>
            <p:cNvPr id="610" name="Google Shape;610;p61"/>
            <p:cNvCxnSpPr>
              <a:stCxn id="607" idx="2"/>
              <a:endCxn id="608" idx="0"/>
            </p:cNvCxnSpPr>
            <p:nvPr/>
          </p:nvCxnSpPr>
          <p:spPr>
            <a:xfrm>
              <a:off x="7702200" y="3294175"/>
              <a:ext cx="6300" cy="463500"/>
            </a:xfrm>
            <a:prstGeom prst="straightConnector1">
              <a:avLst/>
            </a:prstGeom>
            <a:noFill/>
            <a:ln w="9525" cap="flat" cmpd="sng">
              <a:solidFill>
                <a:srgbClr val="FFFFFF"/>
              </a:solidFill>
              <a:prstDash val="solid"/>
              <a:round/>
              <a:headEnd type="none" w="med" len="med"/>
              <a:tailEnd type="triangle" w="med" len="med"/>
            </a:ln>
          </p:spPr>
        </p:cxnSp>
        <p:cxnSp>
          <p:nvCxnSpPr>
            <p:cNvPr id="611" name="Google Shape;611;p61"/>
            <p:cNvCxnSpPr/>
            <p:nvPr/>
          </p:nvCxnSpPr>
          <p:spPr>
            <a:xfrm>
              <a:off x="7333050" y="2445150"/>
              <a:ext cx="0" cy="470100"/>
            </a:xfrm>
            <a:prstGeom prst="straightConnector1">
              <a:avLst/>
            </a:prstGeom>
            <a:noFill/>
            <a:ln w="9525" cap="flat" cmpd="sng">
              <a:solidFill>
                <a:srgbClr val="FFFFFF"/>
              </a:solidFill>
              <a:prstDash val="solid"/>
              <a:round/>
              <a:headEnd type="none" w="med" len="med"/>
              <a:tailEnd type="triangle" w="med" len="med"/>
            </a:ln>
          </p:spPr>
        </p:cxnSp>
        <p:cxnSp>
          <p:nvCxnSpPr>
            <p:cNvPr id="612" name="Google Shape;612;p61"/>
            <p:cNvCxnSpPr/>
            <p:nvPr/>
          </p:nvCxnSpPr>
          <p:spPr>
            <a:xfrm rot="10800000">
              <a:off x="8094075" y="2445275"/>
              <a:ext cx="0" cy="470100"/>
            </a:xfrm>
            <a:prstGeom prst="straightConnector1">
              <a:avLst/>
            </a:prstGeom>
            <a:noFill/>
            <a:ln w="9525" cap="flat" cmpd="sng">
              <a:solidFill>
                <a:srgbClr val="FFFFFF"/>
              </a:solidFill>
              <a:prstDash val="solid"/>
              <a:round/>
              <a:headEnd type="none" w="med" len="med"/>
              <a:tailEnd type="triangle" w="med" len="med"/>
            </a:ln>
          </p:spPr>
        </p:cxnSp>
      </p:grpSp>
      <p:sp>
        <p:nvSpPr>
          <p:cNvPr id="613" name="Google Shape;613;p61"/>
          <p:cNvSpPr/>
          <p:nvPr/>
        </p:nvSpPr>
        <p:spPr>
          <a:xfrm>
            <a:off x="5347625" y="22843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WAITING</a:t>
            </a:r>
            <a:endParaRPr>
              <a:solidFill>
                <a:srgbClr val="FFFFFF"/>
              </a:solidFill>
            </a:endParaRPr>
          </a:p>
        </p:txBody>
      </p:sp>
      <p:cxnSp>
        <p:nvCxnSpPr>
          <p:cNvPr id="614" name="Google Shape;614;p61"/>
          <p:cNvCxnSpPr>
            <a:stCxn id="607" idx="1"/>
            <a:endCxn id="613" idx="2"/>
          </p:cNvCxnSpPr>
          <p:nvPr/>
        </p:nvCxnSpPr>
        <p:spPr>
          <a:xfrm rot="10800000">
            <a:off x="6019950" y="2674975"/>
            <a:ext cx="1162200" cy="195300"/>
          </a:xfrm>
          <a:prstGeom prst="curvedConnector2">
            <a:avLst/>
          </a:prstGeom>
          <a:noFill/>
          <a:ln w="9525" cap="flat" cmpd="sng">
            <a:solidFill>
              <a:srgbClr val="FFFFFF"/>
            </a:solidFill>
            <a:prstDash val="solid"/>
            <a:round/>
            <a:headEnd type="none" w="med" len="med"/>
            <a:tailEnd type="triangle" w="med" len="med"/>
          </a:ln>
        </p:spPr>
      </p:cxnSp>
      <p:cxnSp>
        <p:nvCxnSpPr>
          <p:cNvPr id="615" name="Google Shape;615;p61"/>
          <p:cNvCxnSpPr>
            <a:stCxn id="613" idx="0"/>
            <a:endCxn id="606" idx="1"/>
          </p:cNvCxnSpPr>
          <p:nvPr/>
        </p:nvCxnSpPr>
        <p:spPr>
          <a:xfrm rot="-5400000">
            <a:off x="6467075" y="1569175"/>
            <a:ext cx="268200" cy="1162200"/>
          </a:xfrm>
          <a:prstGeom prst="curvedConnector2">
            <a:avLst/>
          </a:prstGeom>
          <a:noFill/>
          <a:ln w="9525" cap="flat" cmpd="sng">
            <a:solidFill>
              <a:srgbClr val="FFFFFF"/>
            </a:solidFill>
            <a:prstDash val="solid"/>
            <a:round/>
            <a:headEnd type="none" w="med" len="med"/>
            <a:tailEnd type="triangle" w="med" len="med"/>
          </a:ln>
        </p:spPr>
      </p:cxnSp>
      <p:sp>
        <p:nvSpPr>
          <p:cNvPr id="616" name="Google Shape;616;p61"/>
          <p:cNvSpPr txBox="1"/>
          <p:nvPr/>
        </p:nvSpPr>
        <p:spPr>
          <a:xfrm>
            <a:off x="5451175" y="2853125"/>
            <a:ext cx="1635300" cy="72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FFFF"/>
                </a:solidFill>
                <a:latin typeface="Consolas"/>
                <a:ea typeface="Consolas"/>
                <a:cs typeface="Consolas"/>
                <a:sym typeface="Consolas"/>
              </a:rPr>
              <a:t>awaitTermination</a:t>
            </a:r>
            <a:endParaRPr sz="1100">
              <a:solidFill>
                <a:srgbClr val="FFFFFF"/>
              </a:solidFill>
              <a:latin typeface="Consolas"/>
              <a:ea typeface="Consolas"/>
              <a:cs typeface="Consolas"/>
              <a:sym typeface="Consolas"/>
            </a:endParaRPr>
          </a:p>
        </p:txBody>
      </p:sp>
      <p:sp>
        <p:nvSpPr>
          <p:cNvPr id="617" name="Google Shape;617;p61"/>
          <p:cNvSpPr txBox="1"/>
          <p:nvPr/>
        </p:nvSpPr>
        <p:spPr>
          <a:xfrm>
            <a:off x="5905921" y="1464308"/>
            <a:ext cx="1073100" cy="53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event occurs</a:t>
            </a:r>
            <a:endParaRPr sz="1100">
              <a:solidFill>
                <a:srgbClr val="FFFFFF"/>
              </a:solidFill>
            </a:endParaRPr>
          </a:p>
          <a:p>
            <a:pPr marL="0" lvl="0" indent="0" algn="ctr" rtl="0">
              <a:spcBef>
                <a:spcPts val="0"/>
              </a:spcBef>
              <a:spcAft>
                <a:spcPts val="0"/>
              </a:spcAft>
              <a:buNone/>
            </a:pPr>
            <a:r>
              <a:rPr lang="en" sz="1100" i="1">
                <a:solidFill>
                  <a:srgbClr val="FFFFFF"/>
                </a:solidFill>
              </a:rPr>
              <a:t>or</a:t>
            </a:r>
            <a:endParaRPr sz="1100">
              <a:solidFill>
                <a:srgbClr val="FFFFFF"/>
              </a:solidFill>
            </a:endParaRPr>
          </a:p>
          <a:p>
            <a:pPr marL="0" lvl="0" indent="0" algn="ctr" rtl="0">
              <a:spcBef>
                <a:spcPts val="0"/>
              </a:spcBef>
              <a:spcAft>
                <a:spcPts val="0"/>
              </a:spcAft>
              <a:buNone/>
            </a:pPr>
            <a:r>
              <a:rPr lang="en" sz="1100">
                <a:solidFill>
                  <a:srgbClr val="FFFFFF"/>
                </a:solidFill>
              </a:rPr>
              <a:t>interruption</a:t>
            </a:r>
            <a:endParaRPr sz="110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0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0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0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0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02"/>
                                        </p:tgtEl>
                                        <p:attrNameLst>
                                          <p:attrName>style.visibility</p:attrName>
                                        </p:attrNameLst>
                                      </p:cBhvr>
                                      <p:to>
                                        <p:strVal val="visible"/>
                                      </p:to>
                                    </p:set>
                                    <p:animEffect transition="in" filter="fade">
                                      <p:cBhvr>
                                        <p:cTn id="51" dur="1000"/>
                                        <p:tgtEl>
                                          <p:spTgt spid="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62"/>
          <p:cNvSpPr txBox="1">
            <a:spLocks noGrp="1"/>
          </p:cNvSpPr>
          <p:nvPr>
            <p:ph type="title"/>
          </p:nvPr>
        </p:nvSpPr>
        <p:spPr>
          <a:xfrm>
            <a:off x="5037600" y="500925"/>
            <a:ext cx="40317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2970"/>
              <a:buFont typeface="Calibri"/>
              <a:buNone/>
            </a:pPr>
            <a:r>
              <a:rPr lang="en" sz="2420">
                <a:latin typeface="Courier New"/>
                <a:ea typeface="Courier New"/>
                <a:cs typeface="Courier New"/>
                <a:sym typeface="Courier New"/>
              </a:rPr>
              <a:t>InterruptedException</a:t>
            </a:r>
            <a:endParaRPr sz="2420">
              <a:latin typeface="Courier New"/>
              <a:ea typeface="Courier New"/>
              <a:cs typeface="Courier New"/>
              <a:sym typeface="Courier New"/>
            </a:endParaRPr>
          </a:p>
        </p:txBody>
      </p:sp>
      <p:sp>
        <p:nvSpPr>
          <p:cNvPr id="623" name="Google Shape;623;p62"/>
          <p:cNvSpPr txBox="1">
            <a:spLocks noGrp="1"/>
          </p:cNvSpPr>
          <p:nvPr>
            <p:ph type="body" idx="1"/>
          </p:nvPr>
        </p:nvSpPr>
        <p:spPr>
          <a:xfrm>
            <a:off x="341400" y="196125"/>
            <a:ext cx="4230900" cy="4655700"/>
          </a:xfrm>
          <a:prstGeom prst="rect">
            <a:avLst/>
          </a:prstGeom>
          <a:noFill/>
          <a:ln>
            <a:noFill/>
          </a:ln>
        </p:spPr>
        <p:txBody>
          <a:bodyPr spcFirstLastPara="1" wrap="square" lIns="68575" tIns="34275" rIns="68575" bIns="34275" anchor="t" anchorCtr="0">
            <a:noAutofit/>
          </a:bodyPr>
          <a:lstStyle/>
          <a:p>
            <a:pPr marL="457200" lvl="0" indent="-304800" algn="l" rtl="0">
              <a:lnSpc>
                <a:spcPct val="115000"/>
              </a:lnSpc>
              <a:spcBef>
                <a:spcPts val="0"/>
              </a:spcBef>
              <a:spcAft>
                <a:spcPts val="0"/>
              </a:spcAft>
              <a:buSzPts val="1200"/>
              <a:buChar char="●"/>
            </a:pPr>
            <a:r>
              <a:rPr lang="en" sz="1200" dirty="0"/>
              <a:t>The full signature for </a:t>
            </a:r>
            <a:r>
              <a:rPr lang="en" sz="1200" dirty="0">
                <a:latin typeface="Courier New"/>
                <a:ea typeface="Courier New"/>
                <a:cs typeface="Courier New"/>
                <a:sym typeface="Courier New"/>
              </a:rPr>
              <a:t>awaitTermination</a:t>
            </a:r>
            <a:r>
              <a:rPr lang="en" sz="1200" dirty="0"/>
              <a:t> is</a:t>
            </a:r>
            <a:endParaRPr sz="1200" dirty="0"/>
          </a:p>
          <a:p>
            <a:pPr marL="0" lvl="0" indent="457200" algn="l" rtl="0">
              <a:lnSpc>
                <a:spcPct val="115000"/>
              </a:lnSpc>
              <a:spcBef>
                <a:spcPts val="1000"/>
              </a:spcBef>
              <a:spcAft>
                <a:spcPts val="0"/>
              </a:spcAft>
              <a:buNone/>
            </a:pPr>
            <a:r>
              <a:rPr lang="en" sz="1200" dirty="0">
                <a:solidFill>
                  <a:srgbClr val="FF0000"/>
                </a:solidFill>
                <a:latin typeface="Courier New"/>
                <a:ea typeface="Courier New"/>
                <a:cs typeface="Courier New"/>
                <a:sym typeface="Courier New"/>
              </a:rPr>
              <a:t>public boolean awaitTermination </a:t>
            </a:r>
            <a:endParaRPr sz="1200" dirty="0">
              <a:solidFill>
                <a:srgbClr val="FF0000"/>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 sz="1200" dirty="0">
                <a:solidFill>
                  <a:srgbClr val="FF0000"/>
                </a:solidFill>
                <a:latin typeface="Courier New"/>
                <a:ea typeface="Courier New"/>
                <a:cs typeface="Courier New"/>
                <a:sym typeface="Courier New"/>
              </a:rPr>
              <a:t>     	(long timeout, TimeUnit unit) </a:t>
            </a:r>
            <a:endParaRPr sz="1200" dirty="0">
              <a:solidFill>
                <a:srgbClr val="FF0000"/>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 sz="1200" dirty="0">
                <a:solidFill>
                  <a:srgbClr val="FF0000"/>
                </a:solidFill>
                <a:latin typeface="Courier New"/>
                <a:ea typeface="Courier New"/>
                <a:cs typeface="Courier New"/>
                <a:sym typeface="Courier New"/>
              </a:rPr>
              <a:t>     throws </a:t>
            </a:r>
            <a:r>
              <a:rPr lang="en" sz="1200" dirty="0">
                <a:solidFill>
                  <a:srgbClr val="FF0000"/>
                </a:solidFill>
                <a:highlight>
                  <a:srgbClr val="FFFF00"/>
                </a:highlight>
                <a:latin typeface="Courier New"/>
                <a:ea typeface="Courier New"/>
                <a:cs typeface="Courier New"/>
                <a:sym typeface="Courier New"/>
              </a:rPr>
              <a:t>InterruptedException</a:t>
            </a:r>
            <a:r>
              <a:rPr lang="en" sz="1200" dirty="0">
                <a:highlight>
                  <a:srgbClr val="FFFF00"/>
                </a:highlight>
                <a:latin typeface="Courier New"/>
                <a:ea typeface="Courier New"/>
                <a:cs typeface="Courier New"/>
                <a:sym typeface="Courier New"/>
              </a:rPr>
              <a:t> </a:t>
            </a:r>
            <a:endParaRPr sz="1200" dirty="0">
              <a:highlight>
                <a:srgbClr val="FFFF00"/>
              </a:highlight>
              <a:latin typeface="Courier New"/>
              <a:ea typeface="Courier New"/>
              <a:cs typeface="Courier New"/>
              <a:sym typeface="Courier New"/>
            </a:endParaRPr>
          </a:p>
          <a:p>
            <a:pPr marL="457200" lvl="0" indent="-304800" algn="l" rtl="0">
              <a:lnSpc>
                <a:spcPct val="115000"/>
              </a:lnSpc>
              <a:spcBef>
                <a:spcPts val="1000"/>
              </a:spcBef>
              <a:spcAft>
                <a:spcPts val="0"/>
              </a:spcAft>
              <a:buSzPts val="1200"/>
              <a:buChar char="●"/>
            </a:pPr>
            <a:r>
              <a:rPr lang="en" sz="1200" dirty="0"/>
              <a:t>The </a:t>
            </a:r>
            <a:r>
              <a:rPr lang="en" sz="1200" b="1" i="1" dirty="0">
                <a:solidFill>
                  <a:srgbClr val="FF0000"/>
                </a:solidFill>
              </a:rPr>
              <a:t>calling</a:t>
            </a:r>
            <a:r>
              <a:rPr lang="en" sz="1200" dirty="0">
                <a:solidFill>
                  <a:srgbClr val="FF0000"/>
                </a:solidFill>
              </a:rPr>
              <a:t> </a:t>
            </a:r>
            <a:r>
              <a:rPr lang="en" sz="1200" dirty="0"/>
              <a:t>thread is </a:t>
            </a:r>
            <a:r>
              <a:rPr lang="en" sz="1200" b="1" i="1" dirty="0">
                <a:solidFill>
                  <a:srgbClr val="FF0000"/>
                </a:solidFill>
              </a:rPr>
              <a:t>always</a:t>
            </a:r>
            <a:r>
              <a:rPr lang="en" sz="1200" dirty="0">
                <a:solidFill>
                  <a:srgbClr val="FF0000"/>
                </a:solidFill>
              </a:rPr>
              <a:t> </a:t>
            </a:r>
            <a:r>
              <a:rPr lang="en" sz="1200" dirty="0"/>
              <a:t>the one that awaits - </a:t>
            </a:r>
            <a:r>
              <a:rPr lang="en" sz="1200" i="1" dirty="0"/>
              <a:t>one thread cannot tell another thread to wait!</a:t>
            </a:r>
            <a:endParaRPr sz="1200" dirty="0"/>
          </a:p>
          <a:p>
            <a:pPr marL="457200" lvl="0" indent="-304800" algn="l" rtl="0">
              <a:lnSpc>
                <a:spcPct val="115000"/>
              </a:lnSpc>
              <a:spcBef>
                <a:spcPts val="1000"/>
              </a:spcBef>
              <a:spcAft>
                <a:spcPts val="0"/>
              </a:spcAft>
              <a:buSzPts val="1200"/>
              <a:buChar char="●"/>
            </a:pPr>
            <a:r>
              <a:rPr lang="en" sz="1200" dirty="0"/>
              <a:t>The exception occurs if a sleeping thread is ever </a:t>
            </a:r>
            <a:r>
              <a:rPr lang="en" sz="1200" b="1" i="1" dirty="0">
                <a:solidFill>
                  <a:srgbClr val="FF0000"/>
                </a:solidFill>
              </a:rPr>
              <a:t>interrupted</a:t>
            </a:r>
            <a:endParaRPr sz="1200" b="1" i="1" dirty="0">
              <a:solidFill>
                <a:srgbClr val="FF0000"/>
              </a:solidFill>
            </a:endParaRPr>
          </a:p>
          <a:p>
            <a:pPr marL="914400" lvl="1" indent="-298450" algn="l" rtl="0">
              <a:lnSpc>
                <a:spcPct val="115000"/>
              </a:lnSpc>
              <a:spcBef>
                <a:spcPts val="0"/>
              </a:spcBef>
              <a:spcAft>
                <a:spcPts val="0"/>
              </a:spcAft>
              <a:buClr>
                <a:srgbClr val="666666"/>
              </a:buClr>
              <a:buSzPts val="1100"/>
              <a:buChar char="○"/>
            </a:pPr>
            <a:r>
              <a:rPr lang="en" dirty="0">
                <a:solidFill>
                  <a:srgbClr val="666666"/>
                </a:solidFill>
                <a:highlight>
                  <a:srgbClr val="FFFF00"/>
                </a:highlight>
              </a:rPr>
              <a:t>A thread is only interrupted if </a:t>
            </a:r>
            <a:r>
              <a:rPr lang="en" dirty="0">
                <a:solidFill>
                  <a:srgbClr val="FF0000"/>
                </a:solidFill>
                <a:highlight>
                  <a:srgbClr val="FFFF00"/>
                </a:highlight>
                <a:latin typeface="Courier New"/>
                <a:ea typeface="Courier New"/>
                <a:cs typeface="Courier New"/>
                <a:sym typeface="Courier New"/>
              </a:rPr>
              <a:t>Thread.interrupt</a:t>
            </a:r>
            <a:r>
              <a:rPr lang="en" dirty="0">
                <a:solidFill>
                  <a:srgbClr val="666666"/>
                </a:solidFill>
                <a:highlight>
                  <a:srgbClr val="FFFF00"/>
                </a:highlight>
              </a:rPr>
              <a:t> is called on it while it is waiting.</a:t>
            </a:r>
            <a:endParaRPr dirty="0">
              <a:solidFill>
                <a:srgbClr val="666666"/>
              </a:solidFill>
              <a:highlight>
                <a:srgbClr val="FFFF00"/>
              </a:highlight>
            </a:endParaRPr>
          </a:p>
          <a:p>
            <a:pPr marL="914400" lvl="1" indent="-298450" algn="l" rtl="0">
              <a:lnSpc>
                <a:spcPct val="115000"/>
              </a:lnSpc>
              <a:spcBef>
                <a:spcPts val="0"/>
              </a:spcBef>
              <a:spcAft>
                <a:spcPts val="0"/>
              </a:spcAft>
              <a:buClr>
                <a:srgbClr val="666666"/>
              </a:buClr>
              <a:buSzPts val="1100"/>
              <a:buChar char="○"/>
            </a:pPr>
            <a:r>
              <a:rPr lang="en" dirty="0">
                <a:solidFill>
                  <a:srgbClr val="666666"/>
                </a:solidFill>
                <a:highlight>
                  <a:srgbClr val="FFFF00"/>
                </a:highlight>
              </a:rPr>
              <a:t>Normal exceptions will cause the thread to terminate.</a:t>
            </a:r>
            <a:endParaRPr dirty="0">
              <a:solidFill>
                <a:srgbClr val="666666"/>
              </a:solidFill>
              <a:highlight>
                <a:srgbClr val="FFFF00"/>
              </a:highlight>
            </a:endParaRPr>
          </a:p>
          <a:p>
            <a:pPr marL="457200" lvl="0" indent="-304800" algn="l" rtl="0">
              <a:lnSpc>
                <a:spcPct val="115000"/>
              </a:lnSpc>
              <a:spcBef>
                <a:spcPts val="1000"/>
              </a:spcBef>
              <a:spcAft>
                <a:spcPts val="0"/>
              </a:spcAft>
              <a:buSzPts val="1200"/>
              <a:buChar char="●"/>
            </a:pPr>
            <a:r>
              <a:rPr lang="en" sz="1200" dirty="0">
                <a:highlight>
                  <a:srgbClr val="FFFF00"/>
                </a:highlight>
              </a:rPr>
              <a:t>It is a </a:t>
            </a:r>
            <a:r>
              <a:rPr lang="en" sz="1200" b="1" i="1" dirty="0">
                <a:solidFill>
                  <a:srgbClr val="FF0000"/>
                </a:solidFill>
                <a:highlight>
                  <a:srgbClr val="FFFF00"/>
                </a:highlight>
                <a:latin typeface="Arial"/>
                <a:ea typeface="Arial"/>
                <a:cs typeface="Arial"/>
                <a:sym typeface="Arial"/>
              </a:rPr>
              <a:t>checked</a:t>
            </a:r>
            <a:r>
              <a:rPr lang="en" sz="1200" b="1" i="1" dirty="0">
                <a:solidFill>
                  <a:srgbClr val="FF0000"/>
                </a:solidFill>
                <a:highlight>
                  <a:srgbClr val="FFFF00"/>
                </a:highlight>
              </a:rPr>
              <a:t> </a:t>
            </a:r>
            <a:r>
              <a:rPr lang="en" sz="1200" dirty="0">
                <a:highlight>
                  <a:srgbClr val="FFFF00"/>
                </a:highlight>
              </a:rPr>
              <a:t>exception, which means it must be handled in order to compile</a:t>
            </a:r>
            <a:endParaRPr sz="1200" dirty="0">
              <a:highlight>
                <a:srgbClr val="FFFF00"/>
              </a:highlight>
            </a:endParaRPr>
          </a:p>
          <a:p>
            <a:pPr marL="457200" lvl="0" indent="-304800" algn="l" rtl="0">
              <a:lnSpc>
                <a:spcPct val="115000"/>
              </a:lnSpc>
              <a:spcBef>
                <a:spcPts val="1000"/>
              </a:spcBef>
              <a:spcAft>
                <a:spcPts val="0"/>
              </a:spcAft>
              <a:buSzPts val="1200"/>
              <a:buChar char="●"/>
            </a:pPr>
            <a:r>
              <a:rPr lang="en" sz="1200" i="1" dirty="0">
                <a:highlight>
                  <a:srgbClr val="FFFF00"/>
                </a:highlight>
              </a:rPr>
              <a:t>(Refresher)</a:t>
            </a:r>
            <a:r>
              <a:rPr lang="en" sz="1200" dirty="0">
                <a:highlight>
                  <a:srgbClr val="FFFF00"/>
                </a:highlight>
              </a:rPr>
              <a:t> The two ways to handle an exception are:</a:t>
            </a:r>
            <a:endParaRPr sz="1200" dirty="0">
              <a:highlight>
                <a:srgbClr val="FFFF00"/>
              </a:highlight>
            </a:endParaRPr>
          </a:p>
          <a:p>
            <a:pPr marL="914400" lvl="1" indent="-304800" algn="l" rtl="0">
              <a:lnSpc>
                <a:spcPct val="90000"/>
              </a:lnSpc>
              <a:spcBef>
                <a:spcPts val="0"/>
              </a:spcBef>
              <a:spcAft>
                <a:spcPts val="0"/>
              </a:spcAft>
              <a:buSzPts val="1200"/>
              <a:buChar char="○"/>
            </a:pPr>
            <a:r>
              <a:rPr lang="en" sz="1200" b="1" i="1" dirty="0">
                <a:solidFill>
                  <a:srgbClr val="FF0000"/>
                </a:solidFill>
                <a:highlight>
                  <a:srgbClr val="FFFF00"/>
                </a:highlight>
              </a:rPr>
              <a:t>Try-Catch</a:t>
            </a:r>
            <a:r>
              <a:rPr lang="en" sz="1200" dirty="0">
                <a:highlight>
                  <a:srgbClr val="FFFF00"/>
                </a:highlight>
              </a:rPr>
              <a:t> block</a:t>
            </a:r>
            <a:endParaRPr sz="1200" dirty="0">
              <a:highlight>
                <a:srgbClr val="FFFF00"/>
              </a:highlight>
            </a:endParaRPr>
          </a:p>
          <a:p>
            <a:pPr marL="914400" lvl="1" indent="-304800" algn="l" rtl="0">
              <a:lnSpc>
                <a:spcPct val="115000"/>
              </a:lnSpc>
              <a:spcBef>
                <a:spcPts val="800"/>
              </a:spcBef>
              <a:spcAft>
                <a:spcPts val="0"/>
              </a:spcAft>
              <a:buSzPts val="1200"/>
              <a:buChar char="○"/>
            </a:pPr>
            <a:r>
              <a:rPr lang="en" sz="1200" dirty="0">
                <a:highlight>
                  <a:srgbClr val="FFFF00"/>
                </a:highlight>
              </a:rPr>
              <a:t>Method is marked with </a:t>
            </a:r>
            <a:r>
              <a:rPr lang="en" sz="1200" b="1" i="1" dirty="0">
                <a:solidFill>
                  <a:srgbClr val="FF0000"/>
                </a:solidFill>
                <a:highlight>
                  <a:srgbClr val="FFFF00"/>
                </a:highlight>
              </a:rPr>
              <a:t>throws exception</a:t>
            </a:r>
            <a:endParaRPr sz="1200" b="1" i="1" dirty="0">
              <a:solidFill>
                <a:srgbClr val="FF0000"/>
              </a:solidFill>
              <a:highlight>
                <a:srgbClr val="FFFF00"/>
              </a:highlight>
            </a:endParaRPr>
          </a:p>
        </p:txBody>
      </p:sp>
      <p:sp>
        <p:nvSpPr>
          <p:cNvPr id="624" name="Google Shape;624;p62"/>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68575" tIns="34275" rIns="68575" bIns="34275" anchor="ctr" anchorCtr="0">
            <a:noAutofit/>
          </a:bodyPr>
          <a:lstStyle/>
          <a:p>
            <a:pPr marL="0" lvl="0" indent="0" algn="l" rtl="0">
              <a:lnSpc>
                <a:spcPct val="115000"/>
              </a:lnSpc>
              <a:spcBef>
                <a:spcPts val="0"/>
              </a:spcBef>
              <a:spcAft>
                <a:spcPts val="0"/>
              </a:spcAft>
              <a:buClr>
                <a:schemeClr val="dk2"/>
              </a:buClr>
              <a:buSzPts val="2300"/>
              <a:buNone/>
            </a:pPr>
            <a:r>
              <a:rPr lang="en"/>
              <a:t>You will have to handle the checked </a:t>
            </a:r>
            <a:r>
              <a:rPr lang="en">
                <a:latin typeface="Courier New"/>
                <a:ea typeface="Courier New"/>
                <a:cs typeface="Courier New"/>
                <a:sym typeface="Courier New"/>
              </a:rPr>
              <a:t>InterruptedException</a:t>
            </a:r>
            <a:r>
              <a:rPr lang="en"/>
              <a:t>. Unlike many other exceptions you will often </a:t>
            </a:r>
            <a:r>
              <a:rPr lang="en" b="1" i="1">
                <a:solidFill>
                  <a:srgbClr val="FF0000"/>
                </a:solidFill>
              </a:rPr>
              <a:t>ignore</a:t>
            </a:r>
            <a:r>
              <a:rPr lang="en"/>
              <a:t> this one. </a:t>
            </a:r>
            <a:endParaRPr/>
          </a:p>
        </p:txBody>
      </p:sp>
      <p:sp>
        <p:nvSpPr>
          <p:cNvPr id="625" name="Google Shape;625;p6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626" name="Google Shape;626;p62"/>
          <p:cNvSpPr txBox="1"/>
          <p:nvPr/>
        </p:nvSpPr>
        <p:spPr>
          <a:xfrm>
            <a:off x="5264725" y="1928238"/>
            <a:ext cx="3633900" cy="13722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00">
                <a:solidFill>
                  <a:srgbClr val="0000FF"/>
                </a:solidFill>
                <a:latin typeface="Consolas"/>
                <a:ea typeface="Consolas"/>
                <a:cs typeface="Consolas"/>
                <a:sym typeface="Consolas"/>
              </a:rPr>
              <a:t>  try</a:t>
            </a:r>
            <a:r>
              <a:rPr lang="en" sz="1200">
                <a:latin typeface="Consolas"/>
                <a:ea typeface="Consolas"/>
                <a:cs typeface="Consolas"/>
                <a:sym typeface="Consolas"/>
              </a:rPr>
              <a:t> {</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service</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awaitTermination</a:t>
            </a:r>
            <a:r>
              <a:rPr lang="en" sz="1200">
                <a:solidFill>
                  <a:srgbClr val="3B3B3B"/>
                </a:solidFill>
                <a:highlight>
                  <a:srgbClr val="FFFFFF"/>
                </a:highlight>
                <a:latin typeface="Consolas"/>
                <a:ea typeface="Consolas"/>
                <a:cs typeface="Consolas"/>
                <a:sym typeface="Consolas"/>
              </a:rPr>
              <a:t>(</a:t>
            </a:r>
            <a:r>
              <a:rPr lang="en" sz="1200">
                <a:solidFill>
                  <a:srgbClr val="098658"/>
                </a:solidFill>
                <a:highlight>
                  <a:srgbClr val="FFFFFF"/>
                </a:highlight>
                <a:latin typeface="Consolas"/>
                <a:ea typeface="Consolas"/>
                <a:cs typeface="Consolas"/>
                <a:sym typeface="Consolas"/>
              </a:rPr>
              <a:t>1</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SECONDS</a:t>
            </a:r>
            <a:r>
              <a:rPr lang="en" sz="1200">
                <a:solidFill>
                  <a:srgbClr val="3B3B3B"/>
                </a:solidFill>
                <a:highlight>
                  <a:srgbClr val="FFFFFF"/>
                </a:highlight>
                <a:latin typeface="Consolas"/>
                <a:ea typeface="Consolas"/>
                <a:cs typeface="Consolas"/>
                <a:sym typeface="Consolas"/>
              </a:rPr>
              <a:t>)</a:t>
            </a:r>
            <a:r>
              <a:rPr lang="en" sz="1200">
                <a:latin typeface="Consolas"/>
                <a:ea typeface="Consolas"/>
                <a:cs typeface="Consolas"/>
                <a:sym typeface="Consolas"/>
              </a:rPr>
              <a:t>;</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 </a:t>
            </a:r>
            <a:r>
              <a:rPr lang="en" sz="1200">
                <a:solidFill>
                  <a:srgbClr val="0000FF"/>
                </a:solidFill>
                <a:latin typeface="Consolas"/>
                <a:ea typeface="Consolas"/>
                <a:cs typeface="Consolas"/>
                <a:sym typeface="Consolas"/>
              </a:rPr>
              <a:t>catch</a:t>
            </a:r>
            <a:r>
              <a:rPr lang="en" sz="1200">
                <a:latin typeface="Consolas"/>
                <a:ea typeface="Consolas"/>
                <a:cs typeface="Consolas"/>
                <a:sym typeface="Consolas"/>
              </a:rPr>
              <a:t>(</a:t>
            </a:r>
            <a:r>
              <a:rPr lang="en" sz="1200">
                <a:solidFill>
                  <a:srgbClr val="0000FF"/>
                </a:solidFill>
                <a:latin typeface="Consolas"/>
                <a:ea typeface="Consolas"/>
                <a:cs typeface="Consolas"/>
                <a:sym typeface="Consolas"/>
              </a:rPr>
              <a:t>InterruptedException</a:t>
            </a:r>
            <a:r>
              <a:rPr lang="en" sz="1200">
                <a:latin typeface="Consolas"/>
                <a:ea typeface="Consolas"/>
                <a:cs typeface="Consolas"/>
                <a:sym typeface="Consolas"/>
              </a:rPr>
              <a:t> e) {</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System.out.println(</a:t>
            </a:r>
            <a:r>
              <a:rPr lang="en" sz="1200">
                <a:solidFill>
                  <a:srgbClr val="A31515"/>
                </a:solidFill>
                <a:latin typeface="Consolas"/>
                <a:ea typeface="Consolas"/>
                <a:cs typeface="Consolas"/>
                <a:sym typeface="Consolas"/>
              </a:rPr>
              <a:t>"Interrupted!"</a:t>
            </a:r>
            <a:r>
              <a:rPr lang="en" sz="1200">
                <a:latin typeface="Consolas"/>
                <a:ea typeface="Consolas"/>
                <a:cs typeface="Consolas"/>
                <a:sym typeface="Consolas"/>
              </a:rPr>
              <a:t>);</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a:t>
            </a:r>
            <a:endParaRPr sz="1200">
              <a:latin typeface="Consolas"/>
              <a:ea typeface="Consolas"/>
              <a:cs typeface="Consolas"/>
              <a:sym typeface="Consolas"/>
            </a:endParaRPr>
          </a:p>
        </p:txBody>
      </p:sp>
      <p:sp>
        <p:nvSpPr>
          <p:cNvPr id="627" name="Google Shape;627;p62"/>
          <p:cNvSpPr/>
          <p:nvPr/>
        </p:nvSpPr>
        <p:spPr>
          <a:xfrm>
            <a:off x="7012950" y="1259575"/>
            <a:ext cx="1886100" cy="549900"/>
          </a:xfrm>
          <a:prstGeom prst="rect">
            <a:avLst/>
          </a:prstGeom>
          <a:solidFill>
            <a:srgbClr val="FFF2CC"/>
          </a:solidFill>
          <a:ln w="1905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r>
              <a:rPr lang="en" sz="1000">
                <a:solidFill>
                  <a:srgbClr val="31394D"/>
                </a:solidFill>
              </a:rPr>
              <a:t>When calling </a:t>
            </a:r>
            <a:r>
              <a:rPr lang="en" sz="1000">
                <a:solidFill>
                  <a:srgbClr val="31394D"/>
                </a:solidFill>
                <a:latin typeface="Courier New"/>
                <a:ea typeface="Courier New"/>
                <a:cs typeface="Courier New"/>
                <a:sym typeface="Courier New"/>
              </a:rPr>
              <a:t>awaitTermination</a:t>
            </a:r>
            <a:endParaRPr sz="1000">
              <a:latin typeface="Courier New"/>
              <a:ea typeface="Courier New"/>
              <a:cs typeface="Courier New"/>
              <a:sym typeface="Courier New"/>
            </a:endParaRPr>
          </a:p>
        </p:txBody>
      </p:sp>
      <p:sp>
        <p:nvSpPr>
          <p:cNvPr id="628" name="Google Shape;628;p62"/>
          <p:cNvSpPr/>
          <p:nvPr/>
        </p:nvSpPr>
        <p:spPr>
          <a:xfrm>
            <a:off x="6424350" y="2235625"/>
            <a:ext cx="2278200" cy="256200"/>
          </a:xfrm>
          <a:prstGeom prst="rect">
            <a:avLst/>
          </a:prstGeom>
          <a:noFill/>
          <a:ln w="1905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cxnSp>
        <p:nvCxnSpPr>
          <p:cNvPr id="629" name="Google Shape;629;p62"/>
          <p:cNvCxnSpPr>
            <a:stCxn id="627" idx="2"/>
            <a:endCxn id="628" idx="0"/>
          </p:cNvCxnSpPr>
          <p:nvPr/>
        </p:nvCxnSpPr>
        <p:spPr>
          <a:xfrm rot="5400000">
            <a:off x="7546650" y="1826425"/>
            <a:ext cx="426300" cy="392400"/>
          </a:xfrm>
          <a:prstGeom prst="bentConnector3">
            <a:avLst>
              <a:gd name="adj1" fmla="val 49982"/>
            </a:avLst>
          </a:prstGeom>
          <a:noFill/>
          <a:ln w="19050" cap="flat" cmpd="sng">
            <a:solidFill>
              <a:srgbClr val="FF0000"/>
            </a:solidFill>
            <a:prstDash val="solid"/>
            <a:miter lim="800000"/>
            <a:headEnd type="none" w="sm" len="sm"/>
            <a:tailEnd type="triangle" w="sm" len="sm"/>
          </a:ln>
        </p:spPr>
      </p:cxnSp>
      <p:sp>
        <p:nvSpPr>
          <p:cNvPr id="630" name="Google Shape;630;p62"/>
          <p:cNvSpPr/>
          <p:nvPr/>
        </p:nvSpPr>
        <p:spPr>
          <a:xfrm>
            <a:off x="5984375" y="3420100"/>
            <a:ext cx="1971600" cy="417300"/>
          </a:xfrm>
          <a:prstGeom prst="rect">
            <a:avLst/>
          </a:prstGeom>
          <a:solidFill>
            <a:srgbClr val="FFF2CC"/>
          </a:solidFill>
          <a:ln w="1905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r>
              <a:rPr lang="en" sz="1000">
                <a:solidFill>
                  <a:srgbClr val="31394D"/>
                </a:solidFill>
              </a:rPr>
              <a:t>Catch the checked exception</a:t>
            </a:r>
            <a:endParaRPr sz="1000">
              <a:latin typeface="Courier New"/>
              <a:ea typeface="Courier New"/>
              <a:cs typeface="Courier New"/>
              <a:sym typeface="Courier New"/>
            </a:endParaRPr>
          </a:p>
        </p:txBody>
      </p:sp>
      <p:sp>
        <p:nvSpPr>
          <p:cNvPr id="631" name="Google Shape;631;p62"/>
          <p:cNvSpPr/>
          <p:nvPr/>
        </p:nvSpPr>
        <p:spPr>
          <a:xfrm>
            <a:off x="6192278" y="2500639"/>
            <a:ext cx="1863300" cy="229500"/>
          </a:xfrm>
          <a:prstGeom prst="rect">
            <a:avLst/>
          </a:prstGeom>
          <a:noFill/>
          <a:ln w="1905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FFFFFF"/>
              </a:solidFill>
              <a:latin typeface="Calibri"/>
              <a:ea typeface="Calibri"/>
              <a:cs typeface="Calibri"/>
              <a:sym typeface="Calibri"/>
            </a:endParaRPr>
          </a:p>
        </p:txBody>
      </p:sp>
      <p:cxnSp>
        <p:nvCxnSpPr>
          <p:cNvPr id="632" name="Google Shape;632;p62"/>
          <p:cNvCxnSpPr>
            <a:stCxn id="630" idx="3"/>
            <a:endCxn id="631" idx="3"/>
          </p:cNvCxnSpPr>
          <p:nvPr/>
        </p:nvCxnSpPr>
        <p:spPr>
          <a:xfrm rot="10800000" flipH="1">
            <a:off x="7955975" y="2615350"/>
            <a:ext cx="99600" cy="1013400"/>
          </a:xfrm>
          <a:prstGeom prst="bentConnector3">
            <a:avLst>
              <a:gd name="adj1" fmla="val 977786"/>
            </a:avLst>
          </a:prstGeom>
          <a:noFill/>
          <a:ln w="19050" cap="flat" cmpd="sng">
            <a:solidFill>
              <a:srgbClr val="FF0000"/>
            </a:solidFill>
            <a:prstDash val="solid"/>
            <a:miter lim="800000"/>
            <a:headEnd type="none" w="sm" len="sm"/>
            <a:tailEnd type="triangl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4"/>
                                        </p:tgtEl>
                                        <p:attrNameLst>
                                          <p:attrName>style.visibility</p:attrName>
                                        </p:attrNameLst>
                                      </p:cBhvr>
                                      <p:to>
                                        <p:strVal val="visible"/>
                                      </p:to>
                                    </p:set>
                                    <p:animEffect transition="in" filter="fade">
                                      <p:cBhvr>
                                        <p:cTn id="7" dur="1000"/>
                                        <p:tgtEl>
                                          <p:spTgt spid="6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7"/>
                                        </p:tgtEl>
                                        <p:attrNameLst>
                                          <p:attrName>style.visibility</p:attrName>
                                        </p:attrNameLst>
                                      </p:cBhvr>
                                      <p:to>
                                        <p:strVal val="visible"/>
                                      </p:to>
                                    </p:set>
                                    <p:animEffect transition="in" filter="fade">
                                      <p:cBhvr>
                                        <p:cTn id="12" dur="1000"/>
                                        <p:tgtEl>
                                          <p:spTgt spid="627"/>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629"/>
                                        </p:tgtEl>
                                        <p:attrNameLst>
                                          <p:attrName>style.visibility</p:attrName>
                                        </p:attrNameLst>
                                      </p:cBhvr>
                                      <p:to>
                                        <p:strVal val="visible"/>
                                      </p:to>
                                    </p:set>
                                    <p:animEffect transition="in" filter="fade">
                                      <p:cBhvr>
                                        <p:cTn id="16" dur="1000"/>
                                        <p:tgtEl>
                                          <p:spTgt spid="629"/>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628"/>
                                        </p:tgtEl>
                                        <p:attrNameLst>
                                          <p:attrName>style.visibility</p:attrName>
                                        </p:attrNameLst>
                                      </p:cBhvr>
                                      <p:to>
                                        <p:strVal val="visible"/>
                                      </p:to>
                                    </p:set>
                                    <p:animEffect transition="in" filter="fade">
                                      <p:cBhvr>
                                        <p:cTn id="20" dur="1000"/>
                                        <p:tgtEl>
                                          <p:spTgt spid="62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30"/>
                                        </p:tgtEl>
                                        <p:attrNameLst>
                                          <p:attrName>style.visibility</p:attrName>
                                        </p:attrNameLst>
                                      </p:cBhvr>
                                      <p:to>
                                        <p:strVal val="visible"/>
                                      </p:to>
                                    </p:set>
                                    <p:animEffect transition="in" filter="fade">
                                      <p:cBhvr>
                                        <p:cTn id="25" dur="1000"/>
                                        <p:tgtEl>
                                          <p:spTgt spid="630"/>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632"/>
                                        </p:tgtEl>
                                        <p:attrNameLst>
                                          <p:attrName>style.visibility</p:attrName>
                                        </p:attrNameLst>
                                      </p:cBhvr>
                                      <p:to>
                                        <p:strVal val="visible"/>
                                      </p:to>
                                    </p:set>
                                    <p:animEffect transition="in" filter="fade">
                                      <p:cBhvr>
                                        <p:cTn id="29" dur="1100"/>
                                        <p:tgtEl>
                                          <p:spTgt spid="632"/>
                                        </p:tgtEl>
                                      </p:cBhvr>
                                    </p:animEffect>
                                  </p:childTnLst>
                                </p:cTn>
                              </p:par>
                            </p:childTnLst>
                          </p:cTn>
                        </p:par>
                        <p:par>
                          <p:cTn id="30" fill="hold">
                            <p:stCondLst>
                              <p:cond delay="2100"/>
                            </p:stCondLst>
                            <p:childTnLst>
                              <p:par>
                                <p:cTn id="31" presetID="10" presetClass="entr" presetSubtype="0" fill="hold" nodeType="afterEffect">
                                  <p:stCondLst>
                                    <p:cond delay="0"/>
                                  </p:stCondLst>
                                  <p:childTnLst>
                                    <p:set>
                                      <p:cBhvr>
                                        <p:cTn id="32" dur="1" fill="hold">
                                          <p:stCondLst>
                                            <p:cond delay="0"/>
                                          </p:stCondLst>
                                        </p:cTn>
                                        <p:tgtEl>
                                          <p:spTgt spid="631"/>
                                        </p:tgtEl>
                                        <p:attrNameLst>
                                          <p:attrName>style.visibility</p:attrName>
                                        </p:attrNameLst>
                                      </p:cBhvr>
                                      <p:to>
                                        <p:strVal val="visible"/>
                                      </p:to>
                                    </p:set>
                                    <p:animEffect transition="in" filter="fade">
                                      <p:cBhvr>
                                        <p:cTn id="33" dur="1000"/>
                                        <p:tgtEl>
                                          <p:spTgt spid="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638" name="Google Shape;638;p6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Fix Issue</a:t>
            </a:r>
            <a:endParaRPr/>
          </a:p>
        </p:txBody>
      </p:sp>
      <p:sp>
        <p:nvSpPr>
          <p:cNvPr id="639" name="Google Shape;639;p6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 understand what causes an InterruptedException, let's protect against it and get or race back on track. </a:t>
            </a:r>
            <a:r>
              <a:rPr lang="en" sz="1400"/>
              <a:t>(</a:t>
            </a:r>
            <a:r>
              <a:rPr lang="en" sz="1400" i="1"/>
              <a:t>See what I did there</a:t>
            </a:r>
            <a:r>
              <a:rPr lang="en" sz="1400"/>
              <a:t>)</a:t>
            </a:r>
            <a:endParaRPr sz="1400"/>
          </a:p>
        </p:txBody>
      </p:sp>
      <p:sp>
        <p:nvSpPr>
          <p:cNvPr id="640" name="Google Shape;640;p63"/>
          <p:cNvSpPr txBox="1">
            <a:spLocks noGrp="1"/>
          </p:cNvSpPr>
          <p:nvPr>
            <p:ph type="body" idx="4"/>
          </p:nvPr>
        </p:nvSpPr>
        <p:spPr>
          <a:xfrm>
            <a:off x="141600" y="3348744"/>
            <a:ext cx="36339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InterruptedException is one of the few checked exceptions that you can ignore.</a:t>
            </a:r>
            <a:endParaRPr/>
          </a:p>
        </p:txBody>
      </p:sp>
      <p:sp>
        <p:nvSpPr>
          <p:cNvPr id="641" name="Google Shape;641;p63"/>
          <p:cNvSpPr txBox="1">
            <a:spLocks noGrp="1"/>
          </p:cNvSpPr>
          <p:nvPr>
            <p:ph type="body" idx="2"/>
          </p:nvPr>
        </p:nvSpPr>
        <p:spPr>
          <a:xfrm>
            <a:off x="3883675" y="1814950"/>
            <a:ext cx="5057400" cy="2830232"/>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Update your race file to handle the </a:t>
            </a:r>
            <a:r>
              <a:rPr lang="en" dirty="0">
                <a:latin typeface="Courier New"/>
                <a:ea typeface="Courier New"/>
                <a:cs typeface="Courier New"/>
                <a:sym typeface="Courier New"/>
              </a:rPr>
              <a:t>InterruptedExecption</a:t>
            </a:r>
            <a:r>
              <a:rPr lang="en" dirty="0"/>
              <a:t> case.</a:t>
            </a:r>
            <a:endParaRPr dirty="0"/>
          </a:p>
          <a:p>
            <a:pPr marL="457200" lvl="0" indent="-311150" algn="l" rtl="0">
              <a:spcBef>
                <a:spcPts val="1000"/>
              </a:spcBef>
              <a:spcAft>
                <a:spcPts val="0"/>
              </a:spcAft>
              <a:buSzPts val="1300"/>
              <a:buChar char="●"/>
            </a:pPr>
            <a:r>
              <a:rPr lang="en" dirty="0"/>
              <a:t>Since interrupting exceptions has to be explicitly called by the user application, they are safe to ignore.</a:t>
            </a:r>
            <a:endParaRPr dirty="0"/>
          </a:p>
          <a:p>
            <a:pPr marL="914400" lvl="1" indent="-298450" algn="l" rtl="0">
              <a:spcBef>
                <a:spcPts val="0"/>
              </a:spcBef>
              <a:spcAft>
                <a:spcPts val="0"/>
              </a:spcAft>
              <a:buSzPts val="1100"/>
              <a:buChar char="○"/>
            </a:pPr>
            <a:r>
              <a:rPr lang="en" dirty="0"/>
              <a:t>Unless you are calling </a:t>
            </a:r>
            <a:r>
              <a:rPr lang="en" dirty="0">
                <a:highlight>
                  <a:srgbClr val="FFFF00"/>
                </a:highlight>
                <a:latin typeface="Courier New"/>
                <a:ea typeface="Courier New"/>
                <a:cs typeface="Courier New"/>
                <a:sym typeface="Courier New"/>
              </a:rPr>
              <a:t>Thread.interrupt()</a:t>
            </a:r>
            <a:r>
              <a:rPr lang="en" dirty="0">
                <a:highlight>
                  <a:srgbClr val="FFFF00"/>
                </a:highlight>
              </a:rPr>
              <a:t>, </a:t>
            </a:r>
            <a:r>
              <a:rPr lang="en" dirty="0"/>
              <a:t>in which case you'd need to handle it.</a:t>
            </a:r>
            <a:endParaRPr dirty="0"/>
          </a:p>
          <a:p>
            <a:pPr marL="914400" lvl="1" indent="-298450" algn="l" rtl="0">
              <a:spcBef>
                <a:spcPts val="0"/>
              </a:spcBef>
              <a:spcAft>
                <a:spcPts val="0"/>
              </a:spcAft>
              <a:buSzPts val="1100"/>
              <a:buChar char="○"/>
            </a:pPr>
            <a:r>
              <a:rPr lang="en" dirty="0"/>
              <a:t>Or you call </a:t>
            </a:r>
            <a:r>
              <a:rPr lang="en" dirty="0">
                <a:latin typeface="Courier New"/>
                <a:ea typeface="Courier New"/>
                <a:cs typeface="Courier New"/>
                <a:sym typeface="Courier New"/>
              </a:rPr>
              <a:t>ExecutorService.shutdownNow()</a:t>
            </a:r>
            <a:r>
              <a:rPr lang="en" dirty="0"/>
              <a:t>, which you shouldn't be for our code.</a:t>
            </a:r>
            <a:endParaRPr dirty="0"/>
          </a:p>
          <a:p>
            <a:pPr marL="457200" lvl="0" indent="-311150" algn="l" rtl="0">
              <a:spcBef>
                <a:spcPts val="1000"/>
              </a:spcBef>
              <a:spcAft>
                <a:spcPts val="0"/>
              </a:spcAft>
              <a:buSzPts val="1300"/>
              <a:buChar char="●"/>
            </a:pPr>
            <a:r>
              <a:rPr lang="en" dirty="0"/>
              <a:t>Run your race and see that the finish times all print out correctly. Verify the winner was the first one to print the final lap message.</a:t>
            </a:r>
            <a:endParaRPr dirty="0"/>
          </a:p>
        </p:txBody>
      </p:sp>
      <p:sp>
        <p:nvSpPr>
          <p:cNvPr id="642" name="Google Shape;642;p6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8.12</a:t>
            </a:r>
            <a:endParaRPr/>
          </a:p>
        </p:txBody>
      </p:sp>
      <p:sp>
        <p:nvSpPr>
          <p:cNvPr id="643" name="Google Shape;643;p63"/>
          <p:cNvSpPr txBox="1"/>
          <p:nvPr/>
        </p:nvSpPr>
        <p:spPr>
          <a:xfrm>
            <a:off x="141600" y="1814938"/>
            <a:ext cx="3633900" cy="13722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00">
                <a:solidFill>
                  <a:srgbClr val="0000FF"/>
                </a:solidFill>
                <a:latin typeface="Consolas"/>
                <a:ea typeface="Consolas"/>
                <a:cs typeface="Consolas"/>
                <a:sym typeface="Consolas"/>
              </a:rPr>
              <a:t>  try</a:t>
            </a:r>
            <a:r>
              <a:rPr lang="en" sz="1200">
                <a:latin typeface="Consolas"/>
                <a:ea typeface="Consolas"/>
                <a:cs typeface="Consolas"/>
                <a:sym typeface="Consolas"/>
              </a:rPr>
              <a:t> {</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service</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awaitTermination</a:t>
            </a:r>
            <a:r>
              <a:rPr lang="en" sz="1200">
                <a:solidFill>
                  <a:srgbClr val="3B3B3B"/>
                </a:solidFill>
                <a:highlight>
                  <a:srgbClr val="FFFFFF"/>
                </a:highlight>
                <a:latin typeface="Consolas"/>
                <a:ea typeface="Consolas"/>
                <a:cs typeface="Consolas"/>
                <a:sym typeface="Consolas"/>
              </a:rPr>
              <a:t>(</a:t>
            </a:r>
            <a:r>
              <a:rPr lang="en" sz="1200">
                <a:solidFill>
                  <a:srgbClr val="098658"/>
                </a:solidFill>
                <a:highlight>
                  <a:srgbClr val="FFFFFF"/>
                </a:highlight>
                <a:latin typeface="Consolas"/>
                <a:ea typeface="Consolas"/>
                <a:cs typeface="Consolas"/>
                <a:sym typeface="Consolas"/>
              </a:rPr>
              <a:t>1</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SECONDS</a:t>
            </a:r>
            <a:r>
              <a:rPr lang="en" sz="1200">
                <a:solidFill>
                  <a:srgbClr val="3B3B3B"/>
                </a:solidFill>
                <a:highlight>
                  <a:srgbClr val="FFFFFF"/>
                </a:highlight>
                <a:latin typeface="Consolas"/>
                <a:ea typeface="Consolas"/>
                <a:cs typeface="Consolas"/>
                <a:sym typeface="Consolas"/>
              </a:rPr>
              <a:t>)</a:t>
            </a:r>
            <a:r>
              <a:rPr lang="en" sz="1200">
                <a:latin typeface="Consolas"/>
                <a:ea typeface="Consolas"/>
                <a:cs typeface="Consolas"/>
                <a:sym typeface="Consolas"/>
              </a:rPr>
              <a:t>;</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 </a:t>
            </a:r>
            <a:r>
              <a:rPr lang="en" sz="1200">
                <a:solidFill>
                  <a:srgbClr val="0000FF"/>
                </a:solidFill>
                <a:latin typeface="Consolas"/>
                <a:ea typeface="Consolas"/>
                <a:cs typeface="Consolas"/>
                <a:sym typeface="Consolas"/>
              </a:rPr>
              <a:t>catch</a:t>
            </a:r>
            <a:r>
              <a:rPr lang="en" sz="1200">
                <a:latin typeface="Consolas"/>
                <a:ea typeface="Consolas"/>
                <a:cs typeface="Consolas"/>
                <a:sym typeface="Consolas"/>
              </a:rPr>
              <a:t>(</a:t>
            </a:r>
            <a:r>
              <a:rPr lang="en" sz="1200">
                <a:solidFill>
                  <a:srgbClr val="0000FF"/>
                </a:solidFill>
                <a:latin typeface="Consolas"/>
                <a:ea typeface="Consolas"/>
                <a:cs typeface="Consolas"/>
                <a:sym typeface="Consolas"/>
              </a:rPr>
              <a:t>InterruptedException</a:t>
            </a:r>
            <a:r>
              <a:rPr lang="en" sz="1200">
                <a:latin typeface="Consolas"/>
                <a:ea typeface="Consolas"/>
                <a:cs typeface="Consolas"/>
                <a:sym typeface="Consolas"/>
              </a:rPr>
              <a:t> e) {</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System.out.println(</a:t>
            </a:r>
            <a:r>
              <a:rPr lang="en" sz="1200">
                <a:solidFill>
                  <a:srgbClr val="A31515"/>
                </a:solidFill>
                <a:latin typeface="Consolas"/>
                <a:ea typeface="Consolas"/>
                <a:cs typeface="Consolas"/>
                <a:sym typeface="Consolas"/>
              </a:rPr>
              <a:t>"Interrupted!"</a:t>
            </a:r>
            <a:r>
              <a:rPr lang="en" sz="1200">
                <a:latin typeface="Consolas"/>
                <a:ea typeface="Consolas"/>
                <a:cs typeface="Consolas"/>
                <a:sym typeface="Consolas"/>
              </a:rPr>
              <a:t>);</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a:t>
            </a:r>
            <a:endParaRPr sz="1200">
              <a:latin typeface="Consolas"/>
              <a:ea typeface="Consolas"/>
              <a:cs typeface="Consolas"/>
              <a:sym typeface="Consolas"/>
            </a:endParaRPr>
          </a:p>
        </p:txBody>
      </p:sp>
      <p:sp>
        <p:nvSpPr>
          <p:cNvPr id="644" name="Google Shape;644;p63"/>
          <p:cNvSpPr txBox="1"/>
          <p:nvPr/>
        </p:nvSpPr>
        <p:spPr>
          <a:xfrm>
            <a:off x="141600" y="4044388"/>
            <a:ext cx="3633900" cy="8706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00">
                <a:solidFill>
                  <a:srgbClr val="0000FF"/>
                </a:solidFill>
                <a:latin typeface="Consolas"/>
                <a:ea typeface="Consolas"/>
                <a:cs typeface="Consolas"/>
                <a:sym typeface="Consolas"/>
              </a:rPr>
              <a:t>  try</a:t>
            </a:r>
            <a:r>
              <a:rPr lang="en" sz="1200">
                <a:latin typeface="Consolas"/>
                <a:ea typeface="Consolas"/>
                <a:cs typeface="Consolas"/>
                <a:sym typeface="Consolas"/>
              </a:rPr>
              <a:t> {</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service</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awaitTermination</a:t>
            </a:r>
            <a:r>
              <a:rPr lang="en" sz="1200">
                <a:solidFill>
                  <a:srgbClr val="3B3B3B"/>
                </a:solidFill>
                <a:highlight>
                  <a:srgbClr val="FFFFFF"/>
                </a:highlight>
                <a:latin typeface="Consolas"/>
                <a:ea typeface="Consolas"/>
                <a:cs typeface="Consolas"/>
                <a:sym typeface="Consolas"/>
              </a:rPr>
              <a:t>(</a:t>
            </a:r>
            <a:r>
              <a:rPr lang="en" sz="1200">
                <a:solidFill>
                  <a:srgbClr val="098658"/>
                </a:solidFill>
                <a:highlight>
                  <a:srgbClr val="FFFFFF"/>
                </a:highlight>
                <a:latin typeface="Consolas"/>
                <a:ea typeface="Consolas"/>
                <a:cs typeface="Consolas"/>
                <a:sym typeface="Consolas"/>
              </a:rPr>
              <a:t>1</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SECONDS</a:t>
            </a:r>
            <a:r>
              <a:rPr lang="en" sz="1200">
                <a:solidFill>
                  <a:srgbClr val="3B3B3B"/>
                </a:solidFill>
                <a:highlight>
                  <a:srgbClr val="FFFFFF"/>
                </a:highlight>
                <a:latin typeface="Consolas"/>
                <a:ea typeface="Consolas"/>
                <a:cs typeface="Consolas"/>
                <a:sym typeface="Consolas"/>
              </a:rPr>
              <a:t>)</a:t>
            </a:r>
            <a:r>
              <a:rPr lang="en" sz="1200">
                <a:latin typeface="Consolas"/>
                <a:ea typeface="Consolas"/>
                <a:cs typeface="Consolas"/>
                <a:sym typeface="Consolas"/>
              </a:rPr>
              <a:t>;</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 </a:t>
            </a:r>
            <a:r>
              <a:rPr lang="en" sz="1200">
                <a:solidFill>
                  <a:srgbClr val="0000FF"/>
                </a:solidFill>
                <a:latin typeface="Consolas"/>
                <a:ea typeface="Consolas"/>
                <a:cs typeface="Consolas"/>
                <a:sym typeface="Consolas"/>
              </a:rPr>
              <a:t>catch</a:t>
            </a:r>
            <a:r>
              <a:rPr lang="en" sz="1200">
                <a:latin typeface="Consolas"/>
                <a:ea typeface="Consolas"/>
                <a:cs typeface="Consolas"/>
                <a:sym typeface="Consolas"/>
              </a:rPr>
              <a:t>(</a:t>
            </a:r>
            <a:r>
              <a:rPr lang="en" sz="1200">
                <a:solidFill>
                  <a:srgbClr val="0000FF"/>
                </a:solidFill>
                <a:latin typeface="Consolas"/>
                <a:ea typeface="Consolas"/>
                <a:cs typeface="Consolas"/>
                <a:sym typeface="Consolas"/>
              </a:rPr>
              <a:t>InterruptedException</a:t>
            </a:r>
            <a:r>
              <a:rPr lang="en" sz="1200">
                <a:latin typeface="Consolas"/>
                <a:ea typeface="Consolas"/>
                <a:cs typeface="Consolas"/>
                <a:sym typeface="Consolas"/>
              </a:rPr>
              <a:t> e) {}</a:t>
            </a:r>
            <a:endParaRPr sz="1200">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6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If you look at the output from your various races closely, you may notice some level of "unfairness". Let's see if we can find some examples.</a:t>
            </a:r>
            <a:endParaRPr dirty="0"/>
          </a:p>
        </p:txBody>
      </p:sp>
      <p:sp>
        <p:nvSpPr>
          <p:cNvPr id="650" name="Google Shape;650;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651" name="Google Shape;651;p64"/>
          <p:cNvSpPr txBox="1">
            <a:spLocks noGrp="1"/>
          </p:cNvSpPr>
          <p:nvPr>
            <p:ph type="body" idx="2"/>
          </p:nvPr>
        </p:nvSpPr>
        <p:spPr>
          <a:xfrm>
            <a:off x="3165300" y="1506050"/>
            <a:ext cx="5775900" cy="2989506"/>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In LotsORacers, try running a short race with only a few laps. For example, </a:t>
            </a:r>
            <a:r>
              <a:rPr lang="en" b="1" i="1" dirty="0">
                <a:solidFill>
                  <a:srgbClr val="FF0000"/>
                </a:solidFill>
              </a:rPr>
              <a:t>3 racers</a:t>
            </a:r>
            <a:r>
              <a:rPr lang="en" dirty="0"/>
              <a:t> with </a:t>
            </a:r>
            <a:r>
              <a:rPr lang="en" b="1" i="1" dirty="0">
                <a:solidFill>
                  <a:srgbClr val="FF0000"/>
                </a:solidFill>
              </a:rPr>
              <a:t>3 laps</a:t>
            </a:r>
            <a:r>
              <a:rPr lang="en" dirty="0"/>
              <a:t>.</a:t>
            </a:r>
            <a:endParaRPr dirty="0"/>
          </a:p>
          <a:p>
            <a:pPr marL="914400" lvl="1" indent="-298450" algn="l" rtl="0">
              <a:spcBef>
                <a:spcPts val="0"/>
              </a:spcBef>
              <a:spcAft>
                <a:spcPts val="0"/>
              </a:spcAft>
              <a:buSzPts val="1100"/>
              <a:buChar char="○"/>
            </a:pPr>
            <a:r>
              <a:rPr lang="en" dirty="0">
                <a:highlight>
                  <a:srgbClr val="FFFF00"/>
                </a:highlight>
              </a:rPr>
              <a:t>How does the order in which the racers started impact the winner?</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You may need to run the race several times to start to see a pattern</a:t>
            </a:r>
            <a:endParaRPr dirty="0">
              <a:highlight>
                <a:srgbClr val="FFFF00"/>
              </a:highlight>
            </a:endParaRPr>
          </a:p>
          <a:p>
            <a:pPr marL="457200" lvl="0" indent="-311150" algn="l" rtl="0">
              <a:spcBef>
                <a:spcPts val="1000"/>
              </a:spcBef>
              <a:spcAft>
                <a:spcPts val="0"/>
              </a:spcAft>
              <a:buSzPts val="1300"/>
              <a:buChar char="●"/>
            </a:pPr>
            <a:r>
              <a:rPr lang="en" dirty="0"/>
              <a:t>Now try running a big race. Say </a:t>
            </a:r>
            <a:r>
              <a:rPr lang="en" b="1" i="1" dirty="0">
                <a:solidFill>
                  <a:srgbClr val="FF0000"/>
                </a:solidFill>
              </a:rPr>
              <a:t>1000 racers for 10 laps</a:t>
            </a:r>
            <a:r>
              <a:rPr lang="en" dirty="0"/>
              <a:t>. Make sure you have </a:t>
            </a:r>
            <a:r>
              <a:rPr lang="en" b="1" i="1" dirty="0">
                <a:solidFill>
                  <a:srgbClr val="FF0000"/>
                </a:solidFill>
              </a:rPr>
              <a:t>debug enabled</a:t>
            </a:r>
            <a:r>
              <a:rPr lang="en" dirty="0"/>
              <a:t> so you can see the output.</a:t>
            </a:r>
            <a:endParaRPr dirty="0"/>
          </a:p>
          <a:p>
            <a:pPr marL="914400" lvl="1" indent="-298450" algn="l" rtl="0">
              <a:spcBef>
                <a:spcPts val="0"/>
              </a:spcBef>
              <a:spcAft>
                <a:spcPts val="0"/>
              </a:spcAft>
              <a:buSzPts val="1100"/>
              <a:buChar char="○"/>
            </a:pPr>
            <a:r>
              <a:rPr lang="en" dirty="0"/>
              <a:t>On average, can you make any assertions about the order in which a task is submitted and the order in which it finishes?</a:t>
            </a:r>
            <a:endParaRPr dirty="0"/>
          </a:p>
          <a:p>
            <a:pPr marL="914400" lvl="1" indent="-298450" algn="l" rtl="0">
              <a:spcBef>
                <a:spcPts val="0"/>
              </a:spcBef>
              <a:spcAft>
                <a:spcPts val="0"/>
              </a:spcAft>
              <a:buSzPts val="1100"/>
              <a:buChar char="○"/>
            </a:pPr>
            <a:r>
              <a:rPr lang="en" dirty="0"/>
              <a:t>It may be easier to see if you </a:t>
            </a:r>
            <a:r>
              <a:rPr lang="en" b="1" dirty="0"/>
              <a:t>redirect your output</a:t>
            </a:r>
            <a:r>
              <a:rPr lang="en" dirty="0"/>
              <a:t> to a file (preferably in the </a:t>
            </a:r>
            <a:r>
              <a:rPr lang="en" dirty="0">
                <a:latin typeface="Courier New"/>
                <a:ea typeface="Courier New"/>
                <a:cs typeface="Courier New"/>
                <a:sym typeface="Courier New"/>
              </a:rPr>
              <a:t>target</a:t>
            </a:r>
            <a:r>
              <a:rPr lang="en" dirty="0"/>
              <a:t> directory)</a:t>
            </a:r>
            <a:endParaRPr dirty="0"/>
          </a:p>
          <a:p>
            <a:pPr marL="457200" lvl="0" indent="-311150" algn="l" rtl="0">
              <a:spcBef>
                <a:spcPts val="1000"/>
              </a:spcBef>
              <a:spcAft>
                <a:spcPts val="0"/>
              </a:spcAft>
              <a:buSzPts val="1300"/>
              <a:buChar char="●"/>
            </a:pPr>
            <a:r>
              <a:rPr lang="en" b="1" i="1" dirty="0">
                <a:solidFill>
                  <a:srgbClr val="FF0000"/>
                </a:solidFill>
              </a:rPr>
              <a:t>Why</a:t>
            </a:r>
            <a:r>
              <a:rPr lang="en" dirty="0"/>
              <a:t> do you think this is happening?</a:t>
            </a:r>
            <a:endParaRPr dirty="0"/>
          </a:p>
          <a:p>
            <a:pPr marL="457200" lvl="0" indent="-311150" algn="l" rtl="0">
              <a:spcBef>
                <a:spcPts val="0"/>
              </a:spcBef>
              <a:spcAft>
                <a:spcPts val="0"/>
              </a:spcAft>
              <a:buSzPts val="1300"/>
              <a:buChar char="●"/>
            </a:pPr>
            <a:r>
              <a:rPr lang="en" dirty="0"/>
              <a:t>Write your answer as a </a:t>
            </a:r>
            <a:r>
              <a:rPr lang="en" b="1" i="1" dirty="0">
                <a:solidFill>
                  <a:srgbClr val="FF0000"/>
                </a:solidFill>
              </a:rPr>
              <a:t>comment</a:t>
            </a:r>
            <a:r>
              <a:rPr lang="en" dirty="0"/>
              <a:t> in the last file you tested.</a:t>
            </a:r>
            <a:endParaRPr dirty="0"/>
          </a:p>
        </p:txBody>
      </p:sp>
      <p:sp>
        <p:nvSpPr>
          <p:cNvPr id="652" name="Google Shape;652;p6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Unsportspersonlike Conduct</a:t>
            </a:r>
            <a:endParaRPr/>
          </a:p>
        </p:txBody>
      </p:sp>
      <p:sp>
        <p:nvSpPr>
          <p:cNvPr id="653" name="Google Shape;653;p6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8.13</a:t>
            </a:r>
            <a:endParaRPr/>
          </a:p>
        </p:txBody>
      </p:sp>
      <p:sp>
        <p:nvSpPr>
          <p:cNvPr id="654" name="Google Shape;654;p64"/>
          <p:cNvSpPr txBox="1">
            <a:spLocks noGrp="1"/>
          </p:cNvSpPr>
          <p:nvPr>
            <p:ph type="body" idx="4"/>
          </p:nvPr>
        </p:nvSpPr>
        <p:spPr>
          <a:xfrm>
            <a:off x="141600" y="4285299"/>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We want our race to be fair no matter which position you started in.</a:t>
            </a:r>
            <a:endParaRPr/>
          </a:p>
        </p:txBody>
      </p:sp>
      <p:pic>
        <p:nvPicPr>
          <p:cNvPr id="655" name="Google Shape;655;p64"/>
          <p:cNvPicPr preferRelativeResize="0"/>
          <p:nvPr/>
        </p:nvPicPr>
        <p:blipFill rotWithShape="1">
          <a:blip r:embed="rId3">
            <a:alphaModFix/>
          </a:blip>
          <a:srcRect l="16638" r="19124"/>
          <a:stretch/>
        </p:blipFill>
        <p:spPr>
          <a:xfrm>
            <a:off x="141600" y="1534575"/>
            <a:ext cx="3001808" cy="2622325"/>
          </a:xfrm>
          <a:prstGeom prst="rect">
            <a:avLst/>
          </a:prstGeom>
          <a:noFill/>
          <a:ln w="19050" cap="flat" cmpd="sng">
            <a:solidFill>
              <a:schemeClr val="dk1"/>
            </a:solidFill>
            <a:prstDash val="solid"/>
            <a:round/>
            <a:headEnd type="none" w="sm" len="sm"/>
            <a:tailEnd type="none" w="sm" len="sm"/>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65"/>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Creation and starting takes time, so the later you start the race the later you finish, in general.</a:t>
            </a:r>
            <a:endParaRPr dirty="0"/>
          </a:p>
          <a:p>
            <a:pPr marL="914400" lvl="1" indent="-298450" algn="l" rtl="0">
              <a:spcBef>
                <a:spcPts val="0"/>
              </a:spcBef>
              <a:spcAft>
                <a:spcPts val="0"/>
              </a:spcAft>
              <a:buSzPts val="1100"/>
              <a:buChar char="○"/>
            </a:pPr>
            <a:r>
              <a:rPr lang="en" dirty="0"/>
              <a:t>Because of the way the scheduler works, this isn't uniform but trends are apparent.</a:t>
            </a:r>
            <a:endParaRPr dirty="0"/>
          </a:p>
          <a:p>
            <a:pPr marL="457200" lvl="0" indent="-311150" algn="l" rtl="0">
              <a:spcBef>
                <a:spcPts val="1000"/>
              </a:spcBef>
              <a:spcAft>
                <a:spcPts val="0"/>
              </a:spcAft>
              <a:buSzPts val="1300"/>
              <a:buChar char="●"/>
            </a:pPr>
            <a:r>
              <a:rPr lang="en" dirty="0"/>
              <a:t>To stop this we need some way to ensure all of our threads are started but they don't actually start racing until told to.</a:t>
            </a:r>
            <a:endParaRPr dirty="0"/>
          </a:p>
          <a:p>
            <a:pPr marL="914400" lvl="1" indent="-298450" algn="l" rtl="0">
              <a:spcBef>
                <a:spcPts val="0"/>
              </a:spcBef>
              <a:spcAft>
                <a:spcPts val="0"/>
              </a:spcAft>
              <a:buSzPts val="1100"/>
              <a:buChar char="○"/>
            </a:pPr>
            <a:r>
              <a:rPr lang="en" dirty="0"/>
              <a:t>Think of it like the starting pistol for a foot race.</a:t>
            </a:r>
            <a:endParaRPr dirty="0"/>
          </a:p>
          <a:p>
            <a:pPr marL="457200" lvl="0" indent="-311150" algn="l" rtl="0">
              <a:spcBef>
                <a:spcPts val="1000"/>
              </a:spcBef>
              <a:spcAft>
                <a:spcPts val="0"/>
              </a:spcAft>
              <a:buSzPts val="1300"/>
              <a:buChar char="●"/>
            </a:pPr>
            <a:r>
              <a:rPr lang="en" dirty="0">
                <a:highlight>
                  <a:srgbClr val="FFFF00"/>
                </a:highlight>
              </a:rPr>
              <a:t>This is known as </a:t>
            </a:r>
            <a:r>
              <a:rPr lang="en" b="1" i="1" dirty="0">
                <a:solidFill>
                  <a:srgbClr val="FF0000"/>
                </a:solidFill>
                <a:highlight>
                  <a:srgbClr val="FFFF00"/>
                </a:highlight>
              </a:rPr>
              <a:t>thread synchronization</a:t>
            </a:r>
            <a:r>
              <a:rPr lang="en" dirty="0">
                <a:highlight>
                  <a:srgbClr val="FFFF00"/>
                </a:highlight>
              </a:rPr>
              <a:t>.</a:t>
            </a:r>
            <a:endParaRPr dirty="0">
              <a:highlight>
                <a:srgbClr val="FFFF00"/>
              </a:highlight>
            </a:endParaRPr>
          </a:p>
          <a:p>
            <a:pPr marL="457200" lvl="0" indent="-311150" algn="l" rtl="0">
              <a:spcBef>
                <a:spcPts val="1000"/>
              </a:spcBef>
              <a:spcAft>
                <a:spcPts val="0"/>
              </a:spcAft>
              <a:buSzPts val="1300"/>
              <a:buChar char="●"/>
            </a:pPr>
            <a:r>
              <a:rPr lang="en" dirty="0">
                <a:latin typeface="Courier New"/>
                <a:ea typeface="Courier New"/>
                <a:cs typeface="Courier New"/>
                <a:sym typeface="Courier New"/>
              </a:rPr>
              <a:t>CountDownLatch</a:t>
            </a:r>
            <a:r>
              <a:rPr lang="en" dirty="0"/>
              <a:t> is one of Java's thread synchronizers.</a:t>
            </a:r>
            <a:endParaRPr dirty="0"/>
          </a:p>
          <a:p>
            <a:pPr marL="457200" lvl="0" indent="-311150" algn="l" rtl="0">
              <a:spcBef>
                <a:spcPts val="1000"/>
              </a:spcBef>
              <a:spcAft>
                <a:spcPts val="0"/>
              </a:spcAft>
              <a:buSzPts val="1300"/>
              <a:buChar char="●"/>
            </a:pPr>
            <a:r>
              <a:rPr lang="en" dirty="0"/>
              <a:t>Upon construction you specify a </a:t>
            </a:r>
            <a:r>
              <a:rPr lang="en" b="1" i="1" dirty="0">
                <a:solidFill>
                  <a:srgbClr val="FF0000"/>
                </a:solidFill>
              </a:rPr>
              <a:t>starting</a:t>
            </a:r>
            <a:r>
              <a:rPr lang="en" dirty="0"/>
              <a:t> latch </a:t>
            </a:r>
            <a:r>
              <a:rPr lang="en" b="1" i="1" dirty="0">
                <a:solidFill>
                  <a:srgbClr val="FF0000"/>
                </a:solidFill>
              </a:rPr>
              <a:t>count</a:t>
            </a:r>
            <a:r>
              <a:rPr lang="en" dirty="0"/>
              <a:t>.</a:t>
            </a:r>
            <a:endParaRPr dirty="0"/>
          </a:p>
          <a:p>
            <a:pPr marL="457200" lvl="0" indent="-311150" algn="l" rtl="0">
              <a:spcBef>
                <a:spcPts val="1000"/>
              </a:spcBef>
              <a:spcAft>
                <a:spcPts val="0"/>
              </a:spcAft>
              <a:buSzPts val="1300"/>
              <a:buChar char="●"/>
            </a:pPr>
            <a:r>
              <a:rPr lang="en" dirty="0"/>
              <a:t>Participating threads </a:t>
            </a:r>
            <a:r>
              <a:rPr lang="en" b="1" i="1" dirty="0">
                <a:solidFill>
                  <a:srgbClr val="FF0000"/>
                </a:solidFill>
              </a:rPr>
              <a:t>wait until</a:t>
            </a:r>
            <a:r>
              <a:rPr lang="en" dirty="0"/>
              <a:t> the latch </a:t>
            </a:r>
            <a:r>
              <a:rPr lang="en" b="1" i="1" dirty="0">
                <a:solidFill>
                  <a:srgbClr val="FF0000"/>
                </a:solidFill>
              </a:rPr>
              <a:t>count reaches 0</a:t>
            </a:r>
            <a:r>
              <a:rPr lang="en" dirty="0"/>
              <a:t>, then they start running again. </a:t>
            </a:r>
            <a:endParaRPr dirty="0"/>
          </a:p>
        </p:txBody>
      </p:sp>
      <p:sp>
        <p:nvSpPr>
          <p:cNvPr id="661" name="Google Shape;661;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662" name="Google Shape;662;p65"/>
          <p:cNvSpPr txBox="1">
            <a:spLocks noGrp="1"/>
          </p:cNvSpPr>
          <p:nvPr>
            <p:ph type="title"/>
          </p:nvPr>
        </p:nvSpPr>
        <p:spPr>
          <a:xfrm>
            <a:off x="311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Synchronization</a:t>
            </a:r>
            <a:endParaRPr/>
          </a:p>
        </p:txBody>
      </p:sp>
      <p:sp>
        <p:nvSpPr>
          <p:cNvPr id="663" name="Google Shape;663;p65"/>
          <p:cNvSpPr txBox="1">
            <a:spLocks noGrp="1"/>
          </p:cNvSpPr>
          <p:nvPr>
            <p:ph type="body" idx="2"/>
          </p:nvPr>
        </p:nvSpPr>
        <p:spPr>
          <a:xfrm>
            <a:off x="315425" y="1286175"/>
            <a:ext cx="3706500" cy="2697300"/>
          </a:xfrm>
          <a:prstGeom prst="rect">
            <a:avLst/>
          </a:prstGeom>
          <a:solidFill>
            <a:schemeClr val="lt1"/>
          </a:solidFill>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rgbClr val="267F99"/>
                </a:solidFill>
                <a:highlight>
                  <a:srgbClr val="FFFFFF"/>
                </a:highlight>
                <a:latin typeface="Consolas"/>
                <a:ea typeface="Consolas"/>
                <a:cs typeface="Consolas"/>
                <a:sym typeface="Consolas"/>
              </a:rPr>
              <a:t>CountDownLatch</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CountDownLatch</a:t>
            </a:r>
            <a:r>
              <a:rPr lang="en" sz="1050">
                <a:solidFill>
                  <a:srgbClr val="3B3B3B"/>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1</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AF00DB"/>
                </a:solidFill>
                <a:highlight>
                  <a:srgbClr val="FFFFFF"/>
                </a:highlight>
                <a:latin typeface="Consolas"/>
                <a:ea typeface="Consolas"/>
                <a:cs typeface="Consolas"/>
                <a:sym typeface="Consolas"/>
              </a:rPr>
              <a:t>for</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98658"/>
                </a:solidFill>
                <a:highlight>
                  <a:srgbClr val="FFFFFF"/>
                </a:highlight>
                <a:latin typeface="Consolas"/>
                <a:ea typeface="Consolas"/>
                <a:cs typeface="Consolas"/>
                <a:sym typeface="Consolas"/>
              </a:rPr>
              <a:t>0</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&lt;</a:t>
            </a:r>
            <a:r>
              <a:rPr lang="en" sz="1050">
                <a:solidFill>
                  <a:srgbClr val="3B3B3B"/>
                </a:solidFill>
                <a:highlight>
                  <a:srgbClr val="FFFFFF"/>
                </a:highlight>
                <a:latin typeface="Consolas"/>
                <a:ea typeface="Consolas"/>
                <a:cs typeface="Consolas"/>
                <a:sym typeface="Consolas"/>
              </a:rPr>
              <a:t> </a:t>
            </a:r>
            <a:r>
              <a:rPr lang="en" sz="1050">
                <a:solidFill>
                  <a:srgbClr val="098658"/>
                </a:solidFill>
                <a:highlight>
                  <a:srgbClr val="FFFFFF"/>
                </a:highlight>
                <a:latin typeface="Consolas"/>
                <a:ea typeface="Consolas"/>
                <a:cs typeface="Consolas"/>
                <a:sym typeface="Consolas"/>
              </a:rPr>
              <a:t>3</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id</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98658"/>
                </a:solidFill>
                <a:highlight>
                  <a:srgbClr val="FFFFFF"/>
                </a:highlight>
                <a:latin typeface="Consolas"/>
                <a:ea typeface="Consolas"/>
                <a:cs typeface="Consolas"/>
                <a:sym typeface="Consolas"/>
              </a:rPr>
              <a:t>1</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executor</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submit</a:t>
            </a:r>
            <a:r>
              <a:rPr lang="en" sz="1050">
                <a:solidFill>
                  <a:srgbClr val="3B3B3B"/>
                </a:solidFill>
                <a:highlight>
                  <a:srgbClr val="FFFFFF"/>
                </a:highlight>
                <a:latin typeface="Consolas"/>
                <a:ea typeface="Consolas"/>
                <a:cs typeface="Consolas"/>
                <a:sym typeface="Consolas"/>
              </a:rPr>
              <a:t> ( () </a:t>
            </a:r>
            <a:r>
              <a:rPr lang="en" sz="1050">
                <a:solidFill>
                  <a:srgbClr val="0000FF"/>
                </a:solidFill>
                <a:highlight>
                  <a:srgbClr val="FFFFFF"/>
                </a:highlight>
                <a:latin typeface="Consolas"/>
                <a:ea typeface="Consolas"/>
                <a:cs typeface="Consolas"/>
                <a:sym typeface="Consolas"/>
              </a:rPr>
              <a:t>-&gt;</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"Goat "</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id</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 waits."</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try</a:t>
            </a:r>
            <a:r>
              <a:rPr lang="en" sz="1050">
                <a:solidFill>
                  <a:srgbClr val="3B3B3B"/>
                </a:solidFill>
                <a:highlight>
                  <a:srgbClr val="FFFFFF"/>
                </a:highlight>
                <a:latin typeface="Consolas"/>
                <a:ea typeface="Consolas"/>
                <a:cs typeface="Consolas"/>
                <a:sym typeface="Consolas"/>
              </a:rPr>
              <a:t> {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1080"/>
                </a:solidFill>
                <a:highlight>
                  <a:srgbClr val="FFFFFF"/>
                </a:highlight>
                <a:latin typeface="Consolas"/>
                <a:ea typeface="Consolas"/>
                <a:cs typeface="Consolas"/>
                <a:sym typeface="Consolas"/>
              </a:rPr>
              <a:t>      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await</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catch</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InterruptedException</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"Goat "</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id</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 left."</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"Opening the gate..."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1080"/>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countDown</a:t>
            </a:r>
            <a:r>
              <a:rPr lang="en" sz="1050">
                <a:solidFill>
                  <a:srgbClr val="3B3B3B"/>
                </a:solidFill>
                <a:highlight>
                  <a:srgbClr val="FFFFFF"/>
                </a:highlight>
                <a:latin typeface="Consolas"/>
                <a:ea typeface="Consolas"/>
                <a:cs typeface="Consolas"/>
                <a:sym typeface="Consolas"/>
              </a:rPr>
              <a:t>();</a:t>
            </a:r>
            <a:endParaRPr sz="105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1600"/>
              </a:spcAft>
              <a:buNone/>
            </a:pPr>
            <a:endParaRPr/>
          </a:p>
        </p:txBody>
      </p:sp>
      <p:sp>
        <p:nvSpPr>
          <p:cNvPr id="664" name="Google Shape;664;p65"/>
          <p:cNvSpPr txBox="1">
            <a:spLocks noGrp="1"/>
          </p:cNvSpPr>
          <p:nvPr>
            <p:ph type="body" idx="3"/>
          </p:nvPr>
        </p:nvSpPr>
        <p:spPr>
          <a:xfrm>
            <a:off x="3154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This example uses a count of 1 but the </a:t>
            </a:r>
            <a:r>
              <a:rPr lang="en" b="1" i="1">
                <a:solidFill>
                  <a:srgbClr val="FF0000"/>
                </a:solidFill>
              </a:rPr>
              <a:t>CountDownLatch </a:t>
            </a:r>
            <a:r>
              <a:rPr lang="en"/>
              <a:t>can start with any count.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66"/>
          <p:cNvSpPr/>
          <p:nvPr/>
        </p:nvSpPr>
        <p:spPr>
          <a:xfrm rot="10800000">
            <a:off x="5635950" y="1474175"/>
            <a:ext cx="3385200" cy="2839500"/>
          </a:xfrm>
          <a:prstGeom prst="rtTriangle">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670" name="Google Shape;670;p66"/>
          <p:cNvSpPr txBox="1">
            <a:spLocks noGrp="1"/>
          </p:cNvSpPr>
          <p:nvPr>
            <p:ph type="body" idx="4294967295"/>
          </p:nvPr>
        </p:nvSpPr>
        <p:spPr>
          <a:xfrm>
            <a:off x="6528500" y="1426950"/>
            <a:ext cx="2551500" cy="896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latin typeface="Arial"/>
                <a:ea typeface="Arial"/>
                <a:cs typeface="Arial"/>
                <a:sym typeface="Arial"/>
              </a:rPr>
              <a:t>Imagine the </a:t>
            </a:r>
            <a:r>
              <a:rPr lang="en" b="1" i="1">
                <a:solidFill>
                  <a:srgbClr val="FF0000"/>
                </a:solidFill>
                <a:latin typeface="Arial"/>
                <a:ea typeface="Arial"/>
                <a:cs typeface="Arial"/>
                <a:sym typeface="Arial"/>
              </a:rPr>
              <a:t>CountDownLatch </a:t>
            </a:r>
            <a:r>
              <a:rPr lang="en">
                <a:solidFill>
                  <a:srgbClr val="000000"/>
                </a:solidFill>
                <a:latin typeface="Arial"/>
                <a:ea typeface="Arial"/>
                <a:cs typeface="Arial"/>
                <a:sym typeface="Arial"/>
              </a:rPr>
              <a:t>as a troll guarding the pass to a green meadow. </a:t>
            </a:r>
            <a:endParaRPr>
              <a:solidFill>
                <a:srgbClr val="000000"/>
              </a:solidFill>
              <a:latin typeface="Arial"/>
              <a:ea typeface="Arial"/>
              <a:cs typeface="Arial"/>
              <a:sym typeface="Arial"/>
            </a:endParaRPr>
          </a:p>
        </p:txBody>
      </p:sp>
      <p:sp>
        <p:nvSpPr>
          <p:cNvPr id="671" name="Google Shape;671;p6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672" name="Google Shape;672;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grpSp>
        <p:nvGrpSpPr>
          <p:cNvPr id="673" name="Google Shape;673;p66"/>
          <p:cNvGrpSpPr/>
          <p:nvPr/>
        </p:nvGrpSpPr>
        <p:grpSpPr>
          <a:xfrm>
            <a:off x="3420088" y="1507775"/>
            <a:ext cx="2303825" cy="1971200"/>
            <a:chOff x="3386250" y="1770500"/>
            <a:chExt cx="2303825" cy="1971200"/>
          </a:xfrm>
        </p:grpSpPr>
        <p:cxnSp>
          <p:nvCxnSpPr>
            <p:cNvPr id="674" name="Google Shape;674;p66"/>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675" name="Google Shape;675;p66"/>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676" name="Google Shape;676;p66"/>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677" name="Google Shape;677;p66"/>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pic>
        <p:nvPicPr>
          <p:cNvPr id="678" name="Google Shape;678;p66"/>
          <p:cNvPicPr preferRelativeResize="0"/>
          <p:nvPr/>
        </p:nvPicPr>
        <p:blipFill>
          <a:blip r:embed="rId3">
            <a:alphaModFix/>
          </a:blip>
          <a:stretch>
            <a:fillRect/>
          </a:stretch>
        </p:blipFill>
        <p:spPr>
          <a:xfrm>
            <a:off x="4450725" y="1426938"/>
            <a:ext cx="2397175" cy="2638626"/>
          </a:xfrm>
          <a:prstGeom prst="rect">
            <a:avLst/>
          </a:prstGeom>
          <a:noFill/>
          <a:ln>
            <a:noFill/>
          </a:ln>
        </p:spPr>
      </p:pic>
      <p:grpSp>
        <p:nvGrpSpPr>
          <p:cNvPr id="679" name="Google Shape;679;p66"/>
          <p:cNvGrpSpPr/>
          <p:nvPr/>
        </p:nvGrpSpPr>
        <p:grpSpPr>
          <a:xfrm rot="3781804" flipH="1">
            <a:off x="6428110" y="3019319"/>
            <a:ext cx="2303709" cy="1971101"/>
            <a:chOff x="3386250" y="1770500"/>
            <a:chExt cx="2303825" cy="1971200"/>
          </a:xfrm>
        </p:grpSpPr>
        <p:cxnSp>
          <p:nvCxnSpPr>
            <p:cNvPr id="680" name="Google Shape;680;p66"/>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681" name="Google Shape;681;p66"/>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682" name="Google Shape;682;p66"/>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683" name="Google Shape;683;p66"/>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sp>
        <p:nvSpPr>
          <p:cNvPr id="684" name="Google Shape;684;p66"/>
          <p:cNvSpPr txBox="1"/>
          <p:nvPr/>
        </p:nvSpPr>
        <p:spPr>
          <a:xfrm>
            <a:off x="4517513" y="3963300"/>
            <a:ext cx="2081700" cy="48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674EA7"/>
                </a:solidFill>
                <a:latin typeface="Merriweather"/>
                <a:ea typeface="Merriweather"/>
                <a:cs typeface="Merriweather"/>
                <a:sym typeface="Merriweather"/>
              </a:rPr>
              <a:t>CountDownLatch (5)</a:t>
            </a:r>
            <a:endParaRPr b="1">
              <a:solidFill>
                <a:srgbClr val="674EA7"/>
              </a:solidFill>
              <a:latin typeface="Merriweather"/>
              <a:ea typeface="Merriweather"/>
              <a:cs typeface="Merriweather"/>
              <a:sym typeface="Merriweather"/>
            </a:endParaRPr>
          </a:p>
        </p:txBody>
      </p:sp>
      <p:sp>
        <p:nvSpPr>
          <p:cNvPr id="685" name="Google Shape;685;p66"/>
          <p:cNvSpPr txBox="1">
            <a:spLocks noGrp="1"/>
          </p:cNvSpPr>
          <p:nvPr>
            <p:ph type="body" idx="4294967295"/>
          </p:nvPr>
        </p:nvSpPr>
        <p:spPr>
          <a:xfrm>
            <a:off x="4559225" y="4367900"/>
            <a:ext cx="1998300" cy="39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1600"/>
              </a:spcAft>
              <a:buNone/>
            </a:pPr>
            <a:r>
              <a:rPr lang="en">
                <a:solidFill>
                  <a:srgbClr val="000000"/>
                </a:solidFill>
                <a:latin typeface="Arial"/>
                <a:ea typeface="Arial"/>
                <a:cs typeface="Arial"/>
                <a:sym typeface="Arial"/>
              </a:rPr>
              <a:t>With a strength of </a:t>
            </a:r>
            <a:r>
              <a:rPr lang="en" b="1" i="1">
                <a:solidFill>
                  <a:srgbClr val="FF0000"/>
                </a:solidFill>
                <a:latin typeface="Arial"/>
                <a:ea typeface="Arial"/>
                <a:cs typeface="Arial"/>
                <a:sym typeface="Arial"/>
              </a:rPr>
              <a:t>5</a:t>
            </a:r>
            <a:endParaRPr b="1" i="1">
              <a:solidFill>
                <a:srgbClr val="FF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67"/>
          <p:cNvSpPr/>
          <p:nvPr/>
        </p:nvSpPr>
        <p:spPr>
          <a:xfrm rot="10800000">
            <a:off x="5635950" y="1474175"/>
            <a:ext cx="3385200" cy="2839500"/>
          </a:xfrm>
          <a:prstGeom prst="rtTriangle">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691" name="Google Shape;691;p6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692" name="Google Shape;692;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pic>
        <p:nvPicPr>
          <p:cNvPr id="693" name="Google Shape;693;p67"/>
          <p:cNvPicPr preferRelativeResize="0"/>
          <p:nvPr/>
        </p:nvPicPr>
        <p:blipFill>
          <a:blip r:embed="rId3">
            <a:alphaModFix/>
          </a:blip>
          <a:stretch>
            <a:fillRect/>
          </a:stretch>
        </p:blipFill>
        <p:spPr>
          <a:xfrm flipH="1">
            <a:off x="1738147" y="2783150"/>
            <a:ext cx="1438877" cy="1423898"/>
          </a:xfrm>
          <a:prstGeom prst="rect">
            <a:avLst/>
          </a:prstGeom>
          <a:noFill/>
          <a:ln>
            <a:noFill/>
          </a:ln>
        </p:spPr>
      </p:pic>
      <p:grpSp>
        <p:nvGrpSpPr>
          <p:cNvPr id="694" name="Google Shape;694;p67"/>
          <p:cNvGrpSpPr/>
          <p:nvPr/>
        </p:nvGrpSpPr>
        <p:grpSpPr>
          <a:xfrm>
            <a:off x="3420088" y="1507775"/>
            <a:ext cx="2303825" cy="1971200"/>
            <a:chOff x="3386250" y="1770500"/>
            <a:chExt cx="2303825" cy="1971200"/>
          </a:xfrm>
        </p:grpSpPr>
        <p:cxnSp>
          <p:nvCxnSpPr>
            <p:cNvPr id="695" name="Google Shape;695;p67"/>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696" name="Google Shape;696;p67"/>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697" name="Google Shape;697;p67"/>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698" name="Google Shape;698;p67"/>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pic>
        <p:nvPicPr>
          <p:cNvPr id="699" name="Google Shape;699;p67"/>
          <p:cNvPicPr preferRelativeResize="0"/>
          <p:nvPr/>
        </p:nvPicPr>
        <p:blipFill>
          <a:blip r:embed="rId4">
            <a:alphaModFix/>
          </a:blip>
          <a:stretch>
            <a:fillRect/>
          </a:stretch>
        </p:blipFill>
        <p:spPr>
          <a:xfrm>
            <a:off x="4450725" y="1426938"/>
            <a:ext cx="2397175" cy="2638626"/>
          </a:xfrm>
          <a:prstGeom prst="rect">
            <a:avLst/>
          </a:prstGeom>
          <a:noFill/>
          <a:ln>
            <a:noFill/>
          </a:ln>
        </p:spPr>
      </p:pic>
      <p:grpSp>
        <p:nvGrpSpPr>
          <p:cNvPr id="700" name="Google Shape;700;p67"/>
          <p:cNvGrpSpPr/>
          <p:nvPr/>
        </p:nvGrpSpPr>
        <p:grpSpPr>
          <a:xfrm rot="3781804" flipH="1">
            <a:off x="6428110" y="3019319"/>
            <a:ext cx="2303709" cy="1971101"/>
            <a:chOff x="3386250" y="1770500"/>
            <a:chExt cx="2303825" cy="1971200"/>
          </a:xfrm>
        </p:grpSpPr>
        <p:cxnSp>
          <p:nvCxnSpPr>
            <p:cNvPr id="701" name="Google Shape;701;p67"/>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702" name="Google Shape;702;p67"/>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703" name="Google Shape;703;p67"/>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704" name="Google Shape;704;p67"/>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sp>
        <p:nvSpPr>
          <p:cNvPr id="705" name="Google Shape;705;p67"/>
          <p:cNvSpPr txBox="1"/>
          <p:nvPr/>
        </p:nvSpPr>
        <p:spPr>
          <a:xfrm>
            <a:off x="4517513" y="3963300"/>
            <a:ext cx="2081700" cy="48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674EA7"/>
                </a:solidFill>
                <a:latin typeface="Merriweather"/>
                <a:ea typeface="Merriweather"/>
                <a:cs typeface="Merriweather"/>
                <a:sym typeface="Merriweather"/>
              </a:rPr>
              <a:t>CountdownLatch (5)</a:t>
            </a:r>
            <a:endParaRPr b="1">
              <a:solidFill>
                <a:srgbClr val="674EA7"/>
              </a:solidFill>
              <a:latin typeface="Merriweather"/>
              <a:ea typeface="Merriweather"/>
              <a:cs typeface="Merriweather"/>
              <a:sym typeface="Merriweather"/>
            </a:endParaRPr>
          </a:p>
        </p:txBody>
      </p:sp>
      <p:sp>
        <p:nvSpPr>
          <p:cNvPr id="706" name="Google Shape;706;p67"/>
          <p:cNvSpPr/>
          <p:nvPr/>
        </p:nvSpPr>
        <p:spPr>
          <a:xfrm>
            <a:off x="2315100" y="2265650"/>
            <a:ext cx="1344000" cy="623700"/>
          </a:xfrm>
          <a:prstGeom prst="wedgeEllipseCallout">
            <a:avLst>
              <a:gd name="adj1" fmla="val -20833"/>
              <a:gd name="adj2" fmla="val 62500"/>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Can I pass?</a:t>
            </a:r>
            <a:endParaRPr>
              <a:solidFill>
                <a:schemeClr val="dk1"/>
              </a:solidFill>
              <a:latin typeface="Caveat"/>
              <a:ea typeface="Caveat"/>
              <a:cs typeface="Caveat"/>
              <a:sym typeface="Caveat"/>
            </a:endParaRPr>
          </a:p>
        </p:txBody>
      </p:sp>
      <p:sp>
        <p:nvSpPr>
          <p:cNvPr id="707" name="Google Shape;707;p67"/>
          <p:cNvSpPr/>
          <p:nvPr/>
        </p:nvSpPr>
        <p:spPr>
          <a:xfrm>
            <a:off x="6267025" y="1255950"/>
            <a:ext cx="1090500" cy="676200"/>
          </a:xfrm>
          <a:prstGeom prst="wedgeEllipseCallout">
            <a:avLst>
              <a:gd name="adj1" fmla="val -68106"/>
              <a:gd name="adj2" fmla="val 35738"/>
            </a:avLst>
          </a:prstGeom>
          <a:solidFill>
            <a:schemeClr val="lt1"/>
          </a:solidFill>
          <a:ln w="19050" cap="flat" cmpd="sng">
            <a:solidFill>
              <a:srgbClr val="674EA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351C75"/>
                </a:solidFill>
                <a:latin typeface="Impact"/>
                <a:ea typeface="Impact"/>
                <a:cs typeface="Impact"/>
                <a:sym typeface="Impact"/>
              </a:rPr>
              <a:t>NO!</a:t>
            </a:r>
            <a:endParaRPr sz="1900">
              <a:solidFill>
                <a:srgbClr val="351C75"/>
              </a:solidFill>
              <a:latin typeface="Impact"/>
              <a:ea typeface="Impact"/>
              <a:cs typeface="Impact"/>
              <a:sym typeface="Impact"/>
            </a:endParaRPr>
          </a:p>
        </p:txBody>
      </p:sp>
      <p:sp>
        <p:nvSpPr>
          <p:cNvPr id="708" name="Google Shape;708;p67"/>
          <p:cNvSpPr txBox="1">
            <a:spLocks noGrp="1"/>
          </p:cNvSpPr>
          <p:nvPr>
            <p:ph type="body" idx="4294967295"/>
          </p:nvPr>
        </p:nvSpPr>
        <p:spPr>
          <a:xfrm>
            <a:off x="1249300" y="4207050"/>
            <a:ext cx="2170800" cy="39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1600"/>
              </a:spcAft>
              <a:buNone/>
            </a:pPr>
            <a:r>
              <a:rPr lang="en">
                <a:solidFill>
                  <a:srgbClr val="000000"/>
                </a:solidFill>
                <a:latin typeface="Arial"/>
                <a:ea typeface="Arial"/>
                <a:cs typeface="Arial"/>
                <a:sym typeface="Arial"/>
              </a:rPr>
              <a:t>Goats have a strength of </a:t>
            </a:r>
            <a:r>
              <a:rPr lang="en" b="1" i="1">
                <a:solidFill>
                  <a:srgbClr val="FF0000"/>
                </a:solidFill>
                <a:latin typeface="Arial"/>
                <a:ea typeface="Arial"/>
                <a:cs typeface="Arial"/>
                <a:sym typeface="Arial"/>
              </a:rPr>
              <a:t>1</a:t>
            </a:r>
            <a:endParaRPr b="1" i="1">
              <a:solidFill>
                <a:srgbClr val="FF0000"/>
              </a:solidFill>
              <a:latin typeface="Arial"/>
              <a:ea typeface="Arial"/>
              <a:cs typeface="Arial"/>
              <a:sym typeface="Arial"/>
            </a:endParaRPr>
          </a:p>
        </p:txBody>
      </p:sp>
      <p:sp>
        <p:nvSpPr>
          <p:cNvPr id="709" name="Google Shape;709;p67"/>
          <p:cNvSpPr txBox="1">
            <a:spLocks noGrp="1"/>
          </p:cNvSpPr>
          <p:nvPr>
            <p:ph type="body" idx="4294967295"/>
          </p:nvPr>
        </p:nvSpPr>
        <p:spPr>
          <a:xfrm>
            <a:off x="199200" y="1426957"/>
            <a:ext cx="29172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latin typeface="Arial"/>
                <a:ea typeface="Arial"/>
                <a:cs typeface="Arial"/>
                <a:sym typeface="Arial"/>
              </a:rPr>
              <a:t>Goats trying to get to the meadow need to get past the troll.</a:t>
            </a:r>
            <a:endParaRPr b="1" i="1">
              <a:solidFill>
                <a:srgbClr val="FF0000"/>
              </a:solidFill>
              <a:latin typeface="Arial"/>
              <a:ea typeface="Arial"/>
              <a:cs typeface="Arial"/>
              <a:sym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68"/>
          <p:cNvSpPr/>
          <p:nvPr/>
        </p:nvSpPr>
        <p:spPr>
          <a:xfrm rot="10800000">
            <a:off x="5635950" y="1474175"/>
            <a:ext cx="3385200" cy="2839500"/>
          </a:xfrm>
          <a:prstGeom prst="rtTriangle">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715" name="Google Shape;715;p6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716" name="Google Shape;716;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pic>
        <p:nvPicPr>
          <p:cNvPr id="717" name="Google Shape;717;p68"/>
          <p:cNvPicPr preferRelativeResize="0"/>
          <p:nvPr/>
        </p:nvPicPr>
        <p:blipFill>
          <a:blip r:embed="rId3">
            <a:alphaModFix/>
          </a:blip>
          <a:stretch>
            <a:fillRect/>
          </a:stretch>
        </p:blipFill>
        <p:spPr>
          <a:xfrm flipH="1">
            <a:off x="1738147" y="2783150"/>
            <a:ext cx="1438877" cy="1423898"/>
          </a:xfrm>
          <a:prstGeom prst="rect">
            <a:avLst/>
          </a:prstGeom>
          <a:noFill/>
          <a:ln>
            <a:noFill/>
          </a:ln>
        </p:spPr>
      </p:pic>
      <p:grpSp>
        <p:nvGrpSpPr>
          <p:cNvPr id="718" name="Google Shape;718;p68"/>
          <p:cNvGrpSpPr/>
          <p:nvPr/>
        </p:nvGrpSpPr>
        <p:grpSpPr>
          <a:xfrm>
            <a:off x="3420088" y="1507775"/>
            <a:ext cx="2303825" cy="1971200"/>
            <a:chOff x="3386250" y="1770500"/>
            <a:chExt cx="2303825" cy="1971200"/>
          </a:xfrm>
        </p:grpSpPr>
        <p:cxnSp>
          <p:nvCxnSpPr>
            <p:cNvPr id="719" name="Google Shape;719;p68"/>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720" name="Google Shape;720;p68"/>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721" name="Google Shape;721;p68"/>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722" name="Google Shape;722;p68"/>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grpSp>
        <p:nvGrpSpPr>
          <p:cNvPr id="723" name="Google Shape;723;p68"/>
          <p:cNvGrpSpPr/>
          <p:nvPr/>
        </p:nvGrpSpPr>
        <p:grpSpPr>
          <a:xfrm rot="3781804" flipH="1">
            <a:off x="6428110" y="3019319"/>
            <a:ext cx="2303709" cy="1971101"/>
            <a:chOff x="3386250" y="1770500"/>
            <a:chExt cx="2303825" cy="1971200"/>
          </a:xfrm>
        </p:grpSpPr>
        <p:cxnSp>
          <p:nvCxnSpPr>
            <p:cNvPr id="724" name="Google Shape;724;p68"/>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725" name="Google Shape;725;p68"/>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726" name="Google Shape;726;p68"/>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727" name="Google Shape;727;p68"/>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sp>
        <p:nvSpPr>
          <p:cNvPr id="728" name="Google Shape;728;p68"/>
          <p:cNvSpPr txBox="1"/>
          <p:nvPr/>
        </p:nvSpPr>
        <p:spPr>
          <a:xfrm>
            <a:off x="4517513" y="3963300"/>
            <a:ext cx="2081700" cy="48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74EA7"/>
                </a:solidFill>
                <a:latin typeface="Merriweather"/>
                <a:ea typeface="Merriweather"/>
                <a:cs typeface="Merriweather"/>
                <a:sym typeface="Merriweather"/>
              </a:rPr>
              <a:t>CountDown()</a:t>
            </a:r>
            <a:endParaRPr b="1">
              <a:solidFill>
                <a:srgbClr val="674EA7"/>
              </a:solidFill>
              <a:latin typeface="Merriweather"/>
              <a:ea typeface="Merriweather"/>
              <a:cs typeface="Merriweather"/>
              <a:sym typeface="Merriweather"/>
            </a:endParaRPr>
          </a:p>
        </p:txBody>
      </p:sp>
      <p:sp>
        <p:nvSpPr>
          <p:cNvPr id="729" name="Google Shape;729;p68"/>
          <p:cNvSpPr/>
          <p:nvPr/>
        </p:nvSpPr>
        <p:spPr>
          <a:xfrm>
            <a:off x="2315100" y="2265650"/>
            <a:ext cx="1344000" cy="623700"/>
          </a:xfrm>
          <a:prstGeom prst="wedgeEllipseCallout">
            <a:avLst>
              <a:gd name="adj1" fmla="val -20833"/>
              <a:gd name="adj2" fmla="val 62500"/>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730" name="Google Shape;730;p68"/>
          <p:cNvSpPr txBox="1">
            <a:spLocks noGrp="1"/>
          </p:cNvSpPr>
          <p:nvPr>
            <p:ph type="body" idx="4294967295"/>
          </p:nvPr>
        </p:nvSpPr>
        <p:spPr>
          <a:xfrm>
            <a:off x="199200" y="1426957"/>
            <a:ext cx="29172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latin typeface="Arial"/>
                <a:ea typeface="Arial"/>
                <a:cs typeface="Arial"/>
                <a:sym typeface="Arial"/>
              </a:rPr>
              <a:t>One goat isn't strong enough, so it will have to wait for more goats.</a:t>
            </a:r>
            <a:endParaRPr b="1" i="1">
              <a:solidFill>
                <a:srgbClr val="FF0000"/>
              </a:solidFill>
              <a:latin typeface="Arial"/>
              <a:ea typeface="Arial"/>
              <a:cs typeface="Arial"/>
              <a:sym typeface="Arial"/>
            </a:endParaRPr>
          </a:p>
        </p:txBody>
      </p:sp>
      <p:sp>
        <p:nvSpPr>
          <p:cNvPr id="731" name="Google Shape;731;p68"/>
          <p:cNvSpPr txBox="1"/>
          <p:nvPr/>
        </p:nvSpPr>
        <p:spPr>
          <a:xfrm>
            <a:off x="1586025" y="4139075"/>
            <a:ext cx="1477500" cy="48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74EA7"/>
                </a:solidFill>
                <a:latin typeface="Merriweather"/>
                <a:ea typeface="Merriweather"/>
                <a:cs typeface="Merriweather"/>
                <a:sym typeface="Merriweather"/>
              </a:rPr>
              <a:t>await()</a:t>
            </a:r>
            <a:endParaRPr b="1">
              <a:solidFill>
                <a:srgbClr val="674EA7"/>
              </a:solidFill>
              <a:latin typeface="Merriweather"/>
              <a:ea typeface="Merriweather"/>
              <a:cs typeface="Merriweather"/>
              <a:sym typeface="Merriweather"/>
            </a:endParaRPr>
          </a:p>
        </p:txBody>
      </p:sp>
      <p:sp>
        <p:nvSpPr>
          <p:cNvPr id="732" name="Google Shape;732;p68"/>
          <p:cNvSpPr/>
          <p:nvPr/>
        </p:nvSpPr>
        <p:spPr>
          <a:xfrm>
            <a:off x="6267025" y="1255950"/>
            <a:ext cx="1090500" cy="676200"/>
          </a:xfrm>
          <a:prstGeom prst="wedgeEllipseCallout">
            <a:avLst>
              <a:gd name="adj1" fmla="val -68106"/>
              <a:gd name="adj2" fmla="val 35738"/>
            </a:avLst>
          </a:prstGeom>
          <a:solidFill>
            <a:schemeClr val="lt1"/>
          </a:solidFill>
          <a:ln w="19050" cap="flat" cmpd="sng">
            <a:solidFill>
              <a:srgbClr val="674EA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351C75"/>
                </a:solidFill>
                <a:latin typeface="Impact"/>
                <a:ea typeface="Impact"/>
                <a:cs typeface="Impact"/>
                <a:sym typeface="Impact"/>
              </a:rPr>
              <a:t>4</a:t>
            </a:r>
            <a:endParaRPr sz="1900">
              <a:solidFill>
                <a:srgbClr val="351C75"/>
              </a:solidFill>
              <a:latin typeface="Impact"/>
              <a:ea typeface="Impact"/>
              <a:cs typeface="Impact"/>
              <a:sym typeface="Impact"/>
            </a:endParaRPr>
          </a:p>
        </p:txBody>
      </p:sp>
      <p:sp>
        <p:nvSpPr>
          <p:cNvPr id="733" name="Google Shape;733;p68"/>
          <p:cNvSpPr txBox="1">
            <a:spLocks noGrp="1"/>
          </p:cNvSpPr>
          <p:nvPr>
            <p:ph type="body" idx="4294967295"/>
          </p:nvPr>
        </p:nvSpPr>
        <p:spPr>
          <a:xfrm>
            <a:off x="6671325" y="2181525"/>
            <a:ext cx="23973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latin typeface="Arial"/>
                <a:ea typeface="Arial"/>
                <a:cs typeface="Arial"/>
                <a:sym typeface="Arial"/>
              </a:rPr>
              <a:t>Each time a goat shows up the troll </a:t>
            </a:r>
            <a:r>
              <a:rPr lang="en" b="1" i="1">
                <a:solidFill>
                  <a:srgbClr val="FF0000"/>
                </a:solidFill>
                <a:latin typeface="Arial"/>
                <a:ea typeface="Arial"/>
                <a:cs typeface="Arial"/>
                <a:sym typeface="Arial"/>
              </a:rPr>
              <a:t>counts down</a:t>
            </a:r>
            <a:r>
              <a:rPr lang="en">
                <a:solidFill>
                  <a:srgbClr val="000000"/>
                </a:solidFill>
                <a:latin typeface="Arial"/>
                <a:ea typeface="Arial"/>
                <a:cs typeface="Arial"/>
                <a:sym typeface="Arial"/>
              </a:rPr>
              <a:t>.</a:t>
            </a:r>
            <a:endParaRPr b="1" i="1">
              <a:solidFill>
                <a:srgbClr val="FF0000"/>
              </a:solidFill>
              <a:latin typeface="Arial"/>
              <a:ea typeface="Arial"/>
              <a:cs typeface="Arial"/>
              <a:sym typeface="Arial"/>
            </a:endParaRPr>
          </a:p>
        </p:txBody>
      </p:sp>
      <p:pic>
        <p:nvPicPr>
          <p:cNvPr id="734" name="Google Shape;734;p68"/>
          <p:cNvPicPr preferRelativeResize="0"/>
          <p:nvPr/>
        </p:nvPicPr>
        <p:blipFill>
          <a:blip r:embed="rId4">
            <a:alphaModFix/>
          </a:blip>
          <a:stretch>
            <a:fillRect/>
          </a:stretch>
        </p:blipFill>
        <p:spPr>
          <a:xfrm>
            <a:off x="4450725" y="1426938"/>
            <a:ext cx="2397175" cy="2638626"/>
          </a:xfrm>
          <a:prstGeom prst="rect">
            <a:avLst/>
          </a:prstGeom>
          <a:noFill/>
          <a:ln>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69"/>
          <p:cNvSpPr/>
          <p:nvPr/>
        </p:nvSpPr>
        <p:spPr>
          <a:xfrm rot="10800000">
            <a:off x="5635950" y="1474175"/>
            <a:ext cx="3385200" cy="2839500"/>
          </a:xfrm>
          <a:prstGeom prst="rtTriangle">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740" name="Google Shape;740;p6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741" name="Google Shape;741;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grpSp>
        <p:nvGrpSpPr>
          <p:cNvPr id="742" name="Google Shape;742;p69"/>
          <p:cNvGrpSpPr/>
          <p:nvPr/>
        </p:nvGrpSpPr>
        <p:grpSpPr>
          <a:xfrm>
            <a:off x="3420088" y="1507775"/>
            <a:ext cx="2303825" cy="1971200"/>
            <a:chOff x="3386250" y="1770500"/>
            <a:chExt cx="2303825" cy="1971200"/>
          </a:xfrm>
        </p:grpSpPr>
        <p:cxnSp>
          <p:nvCxnSpPr>
            <p:cNvPr id="743" name="Google Shape;743;p69"/>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744" name="Google Shape;744;p69"/>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745" name="Google Shape;745;p69"/>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746" name="Google Shape;746;p69"/>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pic>
        <p:nvPicPr>
          <p:cNvPr id="747" name="Google Shape;747;p69"/>
          <p:cNvPicPr preferRelativeResize="0"/>
          <p:nvPr/>
        </p:nvPicPr>
        <p:blipFill>
          <a:blip r:embed="rId3">
            <a:alphaModFix/>
          </a:blip>
          <a:stretch>
            <a:fillRect/>
          </a:stretch>
        </p:blipFill>
        <p:spPr>
          <a:xfrm>
            <a:off x="4450725" y="1426938"/>
            <a:ext cx="2397175" cy="2638626"/>
          </a:xfrm>
          <a:prstGeom prst="rect">
            <a:avLst/>
          </a:prstGeom>
          <a:noFill/>
          <a:ln>
            <a:noFill/>
          </a:ln>
        </p:spPr>
      </p:pic>
      <p:grpSp>
        <p:nvGrpSpPr>
          <p:cNvPr id="748" name="Google Shape;748;p69"/>
          <p:cNvGrpSpPr/>
          <p:nvPr/>
        </p:nvGrpSpPr>
        <p:grpSpPr>
          <a:xfrm rot="3781804" flipH="1">
            <a:off x="6428110" y="3019319"/>
            <a:ext cx="2303709" cy="1971101"/>
            <a:chOff x="3386250" y="1770500"/>
            <a:chExt cx="2303825" cy="1971200"/>
          </a:xfrm>
        </p:grpSpPr>
        <p:cxnSp>
          <p:nvCxnSpPr>
            <p:cNvPr id="749" name="Google Shape;749;p69"/>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750" name="Google Shape;750;p69"/>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751" name="Google Shape;751;p69"/>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752" name="Google Shape;752;p69"/>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sp>
        <p:nvSpPr>
          <p:cNvPr id="753" name="Google Shape;753;p69"/>
          <p:cNvSpPr txBox="1"/>
          <p:nvPr/>
        </p:nvSpPr>
        <p:spPr>
          <a:xfrm>
            <a:off x="4517513" y="3963300"/>
            <a:ext cx="2081700" cy="48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74EA7"/>
                </a:solidFill>
                <a:latin typeface="Merriweather"/>
                <a:ea typeface="Merriweather"/>
                <a:cs typeface="Merriweather"/>
                <a:sym typeface="Merriweather"/>
              </a:rPr>
              <a:t>CountDown()</a:t>
            </a:r>
            <a:endParaRPr b="1">
              <a:solidFill>
                <a:srgbClr val="674EA7"/>
              </a:solidFill>
              <a:latin typeface="Merriweather"/>
              <a:ea typeface="Merriweather"/>
              <a:cs typeface="Merriweather"/>
              <a:sym typeface="Merriweather"/>
            </a:endParaRPr>
          </a:p>
        </p:txBody>
      </p:sp>
      <p:grpSp>
        <p:nvGrpSpPr>
          <p:cNvPr id="754" name="Google Shape;754;p69"/>
          <p:cNvGrpSpPr/>
          <p:nvPr/>
        </p:nvGrpSpPr>
        <p:grpSpPr>
          <a:xfrm>
            <a:off x="1738147" y="2265650"/>
            <a:ext cx="1920953" cy="1941398"/>
            <a:chOff x="1738147" y="2265650"/>
            <a:chExt cx="1920953" cy="1941398"/>
          </a:xfrm>
        </p:grpSpPr>
        <p:pic>
          <p:nvPicPr>
            <p:cNvPr id="755" name="Google Shape;755;p69"/>
            <p:cNvPicPr preferRelativeResize="0"/>
            <p:nvPr/>
          </p:nvPicPr>
          <p:blipFill>
            <a:blip r:embed="rId4">
              <a:alphaModFix/>
            </a:blip>
            <a:stretch>
              <a:fillRect/>
            </a:stretch>
          </p:blipFill>
          <p:spPr>
            <a:xfrm flipH="1">
              <a:off x="1738147" y="2783150"/>
              <a:ext cx="1438877" cy="1423898"/>
            </a:xfrm>
            <a:prstGeom prst="rect">
              <a:avLst/>
            </a:prstGeom>
            <a:noFill/>
            <a:ln>
              <a:noFill/>
            </a:ln>
          </p:spPr>
        </p:pic>
        <p:sp>
          <p:nvSpPr>
            <p:cNvPr id="756" name="Google Shape;756;p69"/>
            <p:cNvSpPr/>
            <p:nvPr/>
          </p:nvSpPr>
          <p:spPr>
            <a:xfrm>
              <a:off x="2315100" y="2265650"/>
              <a:ext cx="1344000" cy="623700"/>
            </a:xfrm>
            <a:prstGeom prst="wedgeEllipseCallout">
              <a:avLst>
                <a:gd name="adj1" fmla="val -20833"/>
                <a:gd name="adj2" fmla="val 62500"/>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grpSp>
      <p:pic>
        <p:nvPicPr>
          <p:cNvPr id="757" name="Google Shape;757;p69"/>
          <p:cNvPicPr preferRelativeResize="0"/>
          <p:nvPr/>
        </p:nvPicPr>
        <p:blipFill>
          <a:blip r:embed="rId5">
            <a:alphaModFix/>
          </a:blip>
          <a:stretch>
            <a:fillRect/>
          </a:stretch>
        </p:blipFill>
        <p:spPr>
          <a:xfrm flipH="1">
            <a:off x="422897" y="2118550"/>
            <a:ext cx="1438877" cy="1423898"/>
          </a:xfrm>
          <a:prstGeom prst="rect">
            <a:avLst/>
          </a:prstGeom>
          <a:noFill/>
          <a:ln>
            <a:noFill/>
          </a:ln>
        </p:spPr>
      </p:pic>
      <p:sp>
        <p:nvSpPr>
          <p:cNvPr id="758" name="Google Shape;758;p69"/>
          <p:cNvSpPr/>
          <p:nvPr/>
        </p:nvSpPr>
        <p:spPr>
          <a:xfrm>
            <a:off x="999850" y="1601050"/>
            <a:ext cx="1344000" cy="623700"/>
          </a:xfrm>
          <a:prstGeom prst="wedgeEllipseCallout">
            <a:avLst>
              <a:gd name="adj1" fmla="val -20833"/>
              <a:gd name="adj2" fmla="val 62500"/>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759" name="Google Shape;759;p69"/>
          <p:cNvSpPr txBox="1"/>
          <p:nvPr/>
        </p:nvSpPr>
        <p:spPr>
          <a:xfrm>
            <a:off x="260650" y="3429100"/>
            <a:ext cx="1477500" cy="48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74EA7"/>
                </a:solidFill>
                <a:latin typeface="Merriweather"/>
                <a:ea typeface="Merriweather"/>
                <a:cs typeface="Merriweather"/>
                <a:sym typeface="Merriweather"/>
              </a:rPr>
              <a:t>await()</a:t>
            </a:r>
            <a:endParaRPr b="1">
              <a:solidFill>
                <a:srgbClr val="674EA7"/>
              </a:solidFill>
              <a:latin typeface="Merriweather"/>
              <a:ea typeface="Merriweather"/>
              <a:cs typeface="Merriweather"/>
              <a:sym typeface="Merriweather"/>
            </a:endParaRPr>
          </a:p>
        </p:txBody>
      </p:sp>
      <p:sp>
        <p:nvSpPr>
          <p:cNvPr id="760" name="Google Shape;760;p69"/>
          <p:cNvSpPr/>
          <p:nvPr/>
        </p:nvSpPr>
        <p:spPr>
          <a:xfrm>
            <a:off x="6267025" y="1255950"/>
            <a:ext cx="1090500" cy="676200"/>
          </a:xfrm>
          <a:prstGeom prst="wedgeEllipseCallout">
            <a:avLst>
              <a:gd name="adj1" fmla="val -68106"/>
              <a:gd name="adj2" fmla="val 35738"/>
            </a:avLst>
          </a:prstGeom>
          <a:solidFill>
            <a:schemeClr val="lt1"/>
          </a:solidFill>
          <a:ln w="19050" cap="flat" cmpd="sng">
            <a:solidFill>
              <a:srgbClr val="674EA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351C75"/>
                </a:solidFill>
                <a:latin typeface="Impact"/>
                <a:ea typeface="Impact"/>
                <a:cs typeface="Impact"/>
                <a:sym typeface="Impact"/>
              </a:rPr>
              <a:t>3</a:t>
            </a:r>
            <a:endParaRPr sz="1900">
              <a:solidFill>
                <a:srgbClr val="351C75"/>
              </a:solidFill>
              <a:latin typeface="Impact"/>
              <a:ea typeface="Impact"/>
              <a:cs typeface="Impact"/>
              <a:sym typeface="Impac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70"/>
          <p:cNvSpPr/>
          <p:nvPr/>
        </p:nvSpPr>
        <p:spPr>
          <a:xfrm rot="10800000">
            <a:off x="5635950" y="1474175"/>
            <a:ext cx="3385200" cy="2839500"/>
          </a:xfrm>
          <a:prstGeom prst="rtTriangle">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766" name="Google Shape;766;p7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767" name="Google Shape;767;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grpSp>
        <p:nvGrpSpPr>
          <p:cNvPr id="768" name="Google Shape;768;p70"/>
          <p:cNvGrpSpPr/>
          <p:nvPr/>
        </p:nvGrpSpPr>
        <p:grpSpPr>
          <a:xfrm>
            <a:off x="3420088" y="1507775"/>
            <a:ext cx="2303825" cy="1971200"/>
            <a:chOff x="3386250" y="1770500"/>
            <a:chExt cx="2303825" cy="1971200"/>
          </a:xfrm>
        </p:grpSpPr>
        <p:cxnSp>
          <p:nvCxnSpPr>
            <p:cNvPr id="769" name="Google Shape;769;p70"/>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770" name="Google Shape;770;p70"/>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771" name="Google Shape;771;p70"/>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772" name="Google Shape;772;p70"/>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pic>
        <p:nvPicPr>
          <p:cNvPr id="773" name="Google Shape;773;p70"/>
          <p:cNvPicPr preferRelativeResize="0"/>
          <p:nvPr/>
        </p:nvPicPr>
        <p:blipFill>
          <a:blip r:embed="rId3">
            <a:alphaModFix/>
          </a:blip>
          <a:stretch>
            <a:fillRect/>
          </a:stretch>
        </p:blipFill>
        <p:spPr>
          <a:xfrm>
            <a:off x="4450725" y="1426938"/>
            <a:ext cx="2397175" cy="2638626"/>
          </a:xfrm>
          <a:prstGeom prst="rect">
            <a:avLst/>
          </a:prstGeom>
          <a:noFill/>
          <a:ln>
            <a:noFill/>
          </a:ln>
        </p:spPr>
      </p:pic>
      <p:grpSp>
        <p:nvGrpSpPr>
          <p:cNvPr id="774" name="Google Shape;774;p70"/>
          <p:cNvGrpSpPr/>
          <p:nvPr/>
        </p:nvGrpSpPr>
        <p:grpSpPr>
          <a:xfrm rot="3781804" flipH="1">
            <a:off x="6428110" y="3019319"/>
            <a:ext cx="2303709" cy="1971101"/>
            <a:chOff x="3386250" y="1770500"/>
            <a:chExt cx="2303825" cy="1971200"/>
          </a:xfrm>
        </p:grpSpPr>
        <p:cxnSp>
          <p:nvCxnSpPr>
            <p:cNvPr id="775" name="Google Shape;775;p70"/>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776" name="Google Shape;776;p70"/>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777" name="Google Shape;777;p70"/>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778" name="Google Shape;778;p70"/>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sp>
        <p:nvSpPr>
          <p:cNvPr id="779" name="Google Shape;779;p70"/>
          <p:cNvSpPr txBox="1"/>
          <p:nvPr/>
        </p:nvSpPr>
        <p:spPr>
          <a:xfrm>
            <a:off x="4517513" y="3963300"/>
            <a:ext cx="2081700" cy="48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74EA7"/>
                </a:solidFill>
                <a:latin typeface="Merriweather"/>
                <a:ea typeface="Merriweather"/>
                <a:cs typeface="Merriweather"/>
                <a:sym typeface="Merriweather"/>
              </a:rPr>
              <a:t>CountDown()</a:t>
            </a:r>
            <a:endParaRPr b="1">
              <a:solidFill>
                <a:srgbClr val="674EA7"/>
              </a:solidFill>
              <a:latin typeface="Merriweather"/>
              <a:ea typeface="Merriweather"/>
              <a:cs typeface="Merriweather"/>
              <a:sym typeface="Merriweather"/>
            </a:endParaRPr>
          </a:p>
        </p:txBody>
      </p:sp>
      <p:pic>
        <p:nvPicPr>
          <p:cNvPr id="780" name="Google Shape;780;p70"/>
          <p:cNvPicPr preferRelativeResize="0"/>
          <p:nvPr/>
        </p:nvPicPr>
        <p:blipFill>
          <a:blip r:embed="rId4">
            <a:alphaModFix/>
          </a:blip>
          <a:stretch>
            <a:fillRect/>
          </a:stretch>
        </p:blipFill>
        <p:spPr>
          <a:xfrm flipH="1">
            <a:off x="1738147" y="2783150"/>
            <a:ext cx="1438877" cy="1423898"/>
          </a:xfrm>
          <a:prstGeom prst="rect">
            <a:avLst/>
          </a:prstGeom>
          <a:noFill/>
          <a:ln>
            <a:noFill/>
          </a:ln>
        </p:spPr>
      </p:pic>
      <p:sp>
        <p:nvSpPr>
          <p:cNvPr id="781" name="Google Shape;781;p70"/>
          <p:cNvSpPr/>
          <p:nvPr/>
        </p:nvSpPr>
        <p:spPr>
          <a:xfrm>
            <a:off x="2315100" y="2265650"/>
            <a:ext cx="1344000" cy="623700"/>
          </a:xfrm>
          <a:prstGeom prst="wedgeEllipseCallout">
            <a:avLst>
              <a:gd name="adj1" fmla="val -20833"/>
              <a:gd name="adj2" fmla="val 62500"/>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pic>
        <p:nvPicPr>
          <p:cNvPr id="782" name="Google Shape;782;p70"/>
          <p:cNvPicPr preferRelativeResize="0"/>
          <p:nvPr/>
        </p:nvPicPr>
        <p:blipFill>
          <a:blip r:embed="rId5">
            <a:alphaModFix/>
          </a:blip>
          <a:stretch>
            <a:fillRect/>
          </a:stretch>
        </p:blipFill>
        <p:spPr>
          <a:xfrm flipH="1">
            <a:off x="422897" y="2118550"/>
            <a:ext cx="1438877" cy="1423898"/>
          </a:xfrm>
          <a:prstGeom prst="rect">
            <a:avLst/>
          </a:prstGeom>
          <a:noFill/>
          <a:ln>
            <a:noFill/>
          </a:ln>
        </p:spPr>
      </p:pic>
      <p:sp>
        <p:nvSpPr>
          <p:cNvPr id="783" name="Google Shape;783;p70"/>
          <p:cNvSpPr/>
          <p:nvPr/>
        </p:nvSpPr>
        <p:spPr>
          <a:xfrm>
            <a:off x="999850" y="1601050"/>
            <a:ext cx="1344000" cy="623700"/>
          </a:xfrm>
          <a:prstGeom prst="wedgeEllipseCallout">
            <a:avLst>
              <a:gd name="adj1" fmla="val -20833"/>
              <a:gd name="adj2" fmla="val 62500"/>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pic>
        <p:nvPicPr>
          <p:cNvPr id="784" name="Google Shape;784;p70"/>
          <p:cNvPicPr preferRelativeResize="0"/>
          <p:nvPr/>
        </p:nvPicPr>
        <p:blipFill>
          <a:blip r:embed="rId6">
            <a:alphaModFix/>
          </a:blip>
          <a:stretch>
            <a:fillRect/>
          </a:stretch>
        </p:blipFill>
        <p:spPr>
          <a:xfrm flipH="1">
            <a:off x="382447" y="3451656"/>
            <a:ext cx="1438877" cy="1423898"/>
          </a:xfrm>
          <a:prstGeom prst="rect">
            <a:avLst/>
          </a:prstGeom>
          <a:noFill/>
          <a:ln>
            <a:noFill/>
          </a:ln>
        </p:spPr>
      </p:pic>
      <p:sp>
        <p:nvSpPr>
          <p:cNvPr id="785" name="Google Shape;785;p70"/>
          <p:cNvSpPr/>
          <p:nvPr/>
        </p:nvSpPr>
        <p:spPr>
          <a:xfrm>
            <a:off x="959400" y="2934156"/>
            <a:ext cx="1344000" cy="623700"/>
          </a:xfrm>
          <a:prstGeom prst="wedgeEllipseCallout">
            <a:avLst>
              <a:gd name="adj1" fmla="val -20833"/>
              <a:gd name="adj2" fmla="val 62500"/>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786" name="Google Shape;786;p70"/>
          <p:cNvSpPr txBox="1"/>
          <p:nvPr/>
        </p:nvSpPr>
        <p:spPr>
          <a:xfrm>
            <a:off x="188750" y="4791175"/>
            <a:ext cx="1477500" cy="48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74EA7"/>
                </a:solidFill>
                <a:latin typeface="Merriweather"/>
                <a:ea typeface="Merriweather"/>
                <a:cs typeface="Merriweather"/>
                <a:sym typeface="Merriweather"/>
              </a:rPr>
              <a:t>await()</a:t>
            </a:r>
            <a:endParaRPr b="1">
              <a:solidFill>
                <a:srgbClr val="674EA7"/>
              </a:solidFill>
              <a:latin typeface="Merriweather"/>
              <a:ea typeface="Merriweather"/>
              <a:cs typeface="Merriweather"/>
              <a:sym typeface="Merriweather"/>
            </a:endParaRPr>
          </a:p>
        </p:txBody>
      </p:sp>
      <p:sp>
        <p:nvSpPr>
          <p:cNvPr id="787" name="Google Shape;787;p70"/>
          <p:cNvSpPr/>
          <p:nvPr/>
        </p:nvSpPr>
        <p:spPr>
          <a:xfrm>
            <a:off x="6267025" y="1255950"/>
            <a:ext cx="1090500" cy="676200"/>
          </a:xfrm>
          <a:prstGeom prst="wedgeEllipseCallout">
            <a:avLst>
              <a:gd name="adj1" fmla="val -68106"/>
              <a:gd name="adj2" fmla="val 35738"/>
            </a:avLst>
          </a:prstGeom>
          <a:solidFill>
            <a:schemeClr val="lt1"/>
          </a:solidFill>
          <a:ln w="19050" cap="flat" cmpd="sng">
            <a:solidFill>
              <a:srgbClr val="674EA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351C75"/>
                </a:solidFill>
                <a:latin typeface="Impact"/>
                <a:ea typeface="Impact"/>
                <a:cs typeface="Impact"/>
                <a:sym typeface="Impact"/>
              </a:rPr>
              <a:t>2</a:t>
            </a:r>
            <a:endParaRPr sz="1900">
              <a:solidFill>
                <a:srgbClr val="351C75"/>
              </a:solidFill>
              <a:latin typeface="Impact"/>
              <a:ea typeface="Impact"/>
              <a:cs typeface="Impact"/>
              <a:sym typeface="Impac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grpSp>
        <p:nvGrpSpPr>
          <p:cNvPr id="792" name="Google Shape;792;p71"/>
          <p:cNvGrpSpPr/>
          <p:nvPr/>
        </p:nvGrpSpPr>
        <p:grpSpPr>
          <a:xfrm rot="3781804" flipH="1">
            <a:off x="6428110" y="3019319"/>
            <a:ext cx="2303709" cy="1971101"/>
            <a:chOff x="3386250" y="1770500"/>
            <a:chExt cx="2303825" cy="1971200"/>
          </a:xfrm>
        </p:grpSpPr>
        <p:cxnSp>
          <p:nvCxnSpPr>
            <p:cNvPr id="793" name="Google Shape;793;p71"/>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794" name="Google Shape;794;p71"/>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795" name="Google Shape;795;p71"/>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796" name="Google Shape;796;p71"/>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sp>
        <p:nvSpPr>
          <p:cNvPr id="797" name="Google Shape;797;p71"/>
          <p:cNvSpPr/>
          <p:nvPr/>
        </p:nvSpPr>
        <p:spPr>
          <a:xfrm rot="10800000">
            <a:off x="5635950" y="1474175"/>
            <a:ext cx="3385200" cy="2839500"/>
          </a:xfrm>
          <a:prstGeom prst="rtTriangle">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pic>
        <p:nvPicPr>
          <p:cNvPr id="798" name="Google Shape;798;p71"/>
          <p:cNvPicPr preferRelativeResize="0"/>
          <p:nvPr/>
        </p:nvPicPr>
        <p:blipFill>
          <a:blip r:embed="rId3">
            <a:alphaModFix/>
          </a:blip>
          <a:stretch>
            <a:fillRect/>
          </a:stretch>
        </p:blipFill>
        <p:spPr>
          <a:xfrm flipH="1">
            <a:off x="1136872" y="1339750"/>
            <a:ext cx="1438877" cy="1423898"/>
          </a:xfrm>
          <a:prstGeom prst="rect">
            <a:avLst/>
          </a:prstGeom>
          <a:noFill/>
          <a:ln>
            <a:noFill/>
          </a:ln>
        </p:spPr>
      </p:pic>
      <p:sp>
        <p:nvSpPr>
          <p:cNvPr id="799" name="Google Shape;799;p7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800" name="Google Shape;800;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grpSp>
        <p:nvGrpSpPr>
          <p:cNvPr id="801" name="Google Shape;801;p71"/>
          <p:cNvGrpSpPr/>
          <p:nvPr/>
        </p:nvGrpSpPr>
        <p:grpSpPr>
          <a:xfrm>
            <a:off x="3420088" y="1507775"/>
            <a:ext cx="2303825" cy="1971200"/>
            <a:chOff x="3386250" y="1770500"/>
            <a:chExt cx="2303825" cy="1971200"/>
          </a:xfrm>
        </p:grpSpPr>
        <p:cxnSp>
          <p:nvCxnSpPr>
            <p:cNvPr id="802" name="Google Shape;802;p71"/>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803" name="Google Shape;803;p71"/>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804" name="Google Shape;804;p71"/>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805" name="Google Shape;805;p71"/>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pic>
        <p:nvPicPr>
          <p:cNvPr id="806" name="Google Shape;806;p71"/>
          <p:cNvPicPr preferRelativeResize="0"/>
          <p:nvPr/>
        </p:nvPicPr>
        <p:blipFill>
          <a:blip r:embed="rId4">
            <a:alphaModFix/>
          </a:blip>
          <a:stretch>
            <a:fillRect/>
          </a:stretch>
        </p:blipFill>
        <p:spPr>
          <a:xfrm>
            <a:off x="4450725" y="1426938"/>
            <a:ext cx="2397175" cy="2638626"/>
          </a:xfrm>
          <a:prstGeom prst="rect">
            <a:avLst/>
          </a:prstGeom>
          <a:noFill/>
          <a:ln>
            <a:noFill/>
          </a:ln>
        </p:spPr>
      </p:pic>
      <p:pic>
        <p:nvPicPr>
          <p:cNvPr id="807" name="Google Shape;807;p71"/>
          <p:cNvPicPr preferRelativeResize="0"/>
          <p:nvPr/>
        </p:nvPicPr>
        <p:blipFill>
          <a:blip r:embed="rId5">
            <a:alphaModFix/>
          </a:blip>
          <a:stretch>
            <a:fillRect/>
          </a:stretch>
        </p:blipFill>
        <p:spPr>
          <a:xfrm flipH="1">
            <a:off x="1738147" y="2783150"/>
            <a:ext cx="1438877" cy="1423898"/>
          </a:xfrm>
          <a:prstGeom prst="rect">
            <a:avLst/>
          </a:prstGeom>
          <a:noFill/>
          <a:ln>
            <a:noFill/>
          </a:ln>
        </p:spPr>
      </p:pic>
      <p:pic>
        <p:nvPicPr>
          <p:cNvPr id="808" name="Google Shape;808;p71"/>
          <p:cNvPicPr preferRelativeResize="0"/>
          <p:nvPr/>
        </p:nvPicPr>
        <p:blipFill>
          <a:blip r:embed="rId6">
            <a:alphaModFix/>
          </a:blip>
          <a:stretch>
            <a:fillRect/>
          </a:stretch>
        </p:blipFill>
        <p:spPr>
          <a:xfrm flipH="1">
            <a:off x="382447" y="3632925"/>
            <a:ext cx="1438877" cy="1423898"/>
          </a:xfrm>
          <a:prstGeom prst="rect">
            <a:avLst/>
          </a:prstGeom>
          <a:noFill/>
          <a:ln>
            <a:noFill/>
          </a:ln>
        </p:spPr>
      </p:pic>
      <p:pic>
        <p:nvPicPr>
          <p:cNvPr id="809" name="Google Shape;809;p71"/>
          <p:cNvPicPr preferRelativeResize="0"/>
          <p:nvPr/>
        </p:nvPicPr>
        <p:blipFill>
          <a:blip r:embed="rId7">
            <a:alphaModFix/>
          </a:blip>
          <a:stretch>
            <a:fillRect/>
          </a:stretch>
        </p:blipFill>
        <p:spPr>
          <a:xfrm flipH="1">
            <a:off x="2193397" y="3493900"/>
            <a:ext cx="1438877" cy="1423898"/>
          </a:xfrm>
          <a:prstGeom prst="rect">
            <a:avLst/>
          </a:prstGeom>
          <a:noFill/>
          <a:ln>
            <a:noFill/>
          </a:ln>
        </p:spPr>
      </p:pic>
      <p:sp>
        <p:nvSpPr>
          <p:cNvPr id="810" name="Google Shape;810;p71"/>
          <p:cNvSpPr txBox="1"/>
          <p:nvPr/>
        </p:nvSpPr>
        <p:spPr>
          <a:xfrm>
            <a:off x="2064113" y="4798725"/>
            <a:ext cx="1477500" cy="48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74EA7"/>
                </a:solidFill>
                <a:latin typeface="Merriweather"/>
                <a:ea typeface="Merriweather"/>
                <a:cs typeface="Merriweather"/>
                <a:sym typeface="Merriweather"/>
              </a:rPr>
              <a:t>await()</a:t>
            </a:r>
            <a:endParaRPr b="1">
              <a:solidFill>
                <a:srgbClr val="674EA7"/>
              </a:solidFill>
              <a:latin typeface="Merriweather"/>
              <a:ea typeface="Merriweather"/>
              <a:cs typeface="Merriweather"/>
              <a:sym typeface="Merriweather"/>
            </a:endParaRPr>
          </a:p>
        </p:txBody>
      </p:sp>
      <p:sp>
        <p:nvSpPr>
          <p:cNvPr id="811" name="Google Shape;811;p71"/>
          <p:cNvSpPr txBox="1"/>
          <p:nvPr/>
        </p:nvSpPr>
        <p:spPr>
          <a:xfrm>
            <a:off x="1051119" y="2595503"/>
            <a:ext cx="1477500" cy="48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74EA7"/>
                </a:solidFill>
                <a:latin typeface="Merriweather"/>
                <a:ea typeface="Merriweather"/>
                <a:cs typeface="Merriweather"/>
                <a:sym typeface="Merriweather"/>
              </a:rPr>
              <a:t>await()</a:t>
            </a:r>
            <a:endParaRPr b="1">
              <a:solidFill>
                <a:srgbClr val="674EA7"/>
              </a:solidFill>
              <a:latin typeface="Merriweather"/>
              <a:ea typeface="Merriweather"/>
              <a:cs typeface="Merriweather"/>
              <a:sym typeface="Merriweather"/>
            </a:endParaRPr>
          </a:p>
        </p:txBody>
      </p:sp>
      <p:pic>
        <p:nvPicPr>
          <p:cNvPr id="812" name="Google Shape;812;p71"/>
          <p:cNvPicPr preferRelativeResize="0"/>
          <p:nvPr/>
        </p:nvPicPr>
        <p:blipFill>
          <a:blip r:embed="rId8">
            <a:alphaModFix/>
          </a:blip>
          <a:stretch>
            <a:fillRect/>
          </a:stretch>
        </p:blipFill>
        <p:spPr>
          <a:xfrm flipH="1">
            <a:off x="422897" y="2118550"/>
            <a:ext cx="1438877" cy="1423898"/>
          </a:xfrm>
          <a:prstGeom prst="rect">
            <a:avLst/>
          </a:prstGeom>
          <a:noFill/>
          <a:ln>
            <a:noFill/>
          </a:ln>
        </p:spPr>
      </p:pic>
      <p:sp>
        <p:nvSpPr>
          <p:cNvPr id="813" name="Google Shape;813;p71"/>
          <p:cNvSpPr/>
          <p:nvPr/>
        </p:nvSpPr>
        <p:spPr>
          <a:xfrm>
            <a:off x="2315100" y="2265650"/>
            <a:ext cx="1344000" cy="623700"/>
          </a:xfrm>
          <a:prstGeom prst="wedgeEllipseCallout">
            <a:avLst>
              <a:gd name="adj1" fmla="val -20833"/>
              <a:gd name="adj2" fmla="val 62500"/>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814" name="Google Shape;814;p71"/>
          <p:cNvSpPr/>
          <p:nvPr/>
        </p:nvSpPr>
        <p:spPr>
          <a:xfrm>
            <a:off x="999850" y="1601050"/>
            <a:ext cx="1344000" cy="623700"/>
          </a:xfrm>
          <a:prstGeom prst="wedgeEllipseCallout">
            <a:avLst>
              <a:gd name="adj1" fmla="val -20833"/>
              <a:gd name="adj2" fmla="val 62500"/>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815" name="Google Shape;815;p71"/>
          <p:cNvSpPr/>
          <p:nvPr/>
        </p:nvSpPr>
        <p:spPr>
          <a:xfrm>
            <a:off x="959400" y="2934156"/>
            <a:ext cx="1344000" cy="623700"/>
          </a:xfrm>
          <a:prstGeom prst="wedgeEllipseCallout">
            <a:avLst>
              <a:gd name="adj1" fmla="val -20833"/>
              <a:gd name="adj2" fmla="val 62500"/>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816" name="Google Shape;816;p71"/>
          <p:cNvSpPr/>
          <p:nvPr/>
        </p:nvSpPr>
        <p:spPr>
          <a:xfrm>
            <a:off x="2884200" y="3080600"/>
            <a:ext cx="1344000" cy="623700"/>
          </a:xfrm>
          <a:prstGeom prst="wedgeEllipseCallout">
            <a:avLst>
              <a:gd name="adj1" fmla="val -20833"/>
              <a:gd name="adj2" fmla="val 62500"/>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817" name="Google Shape;817;p71"/>
          <p:cNvSpPr/>
          <p:nvPr/>
        </p:nvSpPr>
        <p:spPr>
          <a:xfrm>
            <a:off x="2130875" y="1288875"/>
            <a:ext cx="1344000" cy="623700"/>
          </a:xfrm>
          <a:prstGeom prst="wedgeEllipseCallout">
            <a:avLst>
              <a:gd name="adj1" fmla="val -33516"/>
              <a:gd name="adj2" fmla="val 53964"/>
            </a:avLst>
          </a:prstGeom>
          <a:no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818" name="Google Shape;818;p71"/>
          <p:cNvSpPr/>
          <p:nvPr/>
        </p:nvSpPr>
        <p:spPr>
          <a:xfrm>
            <a:off x="6267025" y="1255950"/>
            <a:ext cx="1090500" cy="676200"/>
          </a:xfrm>
          <a:prstGeom prst="wedgeEllipseCallout">
            <a:avLst>
              <a:gd name="adj1" fmla="val -68106"/>
              <a:gd name="adj2" fmla="val 35738"/>
            </a:avLst>
          </a:prstGeom>
          <a:solidFill>
            <a:schemeClr val="lt1"/>
          </a:solidFill>
          <a:ln w="19050" cap="flat" cmpd="sng">
            <a:solidFill>
              <a:srgbClr val="674EA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351C75"/>
                </a:solidFill>
                <a:latin typeface="Impact"/>
                <a:ea typeface="Impact"/>
                <a:cs typeface="Impact"/>
                <a:sym typeface="Impact"/>
              </a:rPr>
              <a:t>1</a:t>
            </a:r>
            <a:endParaRPr sz="1900">
              <a:solidFill>
                <a:srgbClr val="351C75"/>
              </a:solidFill>
              <a:latin typeface="Impact"/>
              <a:ea typeface="Impact"/>
              <a:cs typeface="Impact"/>
              <a:sym typeface="Impact"/>
            </a:endParaRPr>
          </a:p>
        </p:txBody>
      </p:sp>
      <p:sp>
        <p:nvSpPr>
          <p:cNvPr id="819" name="Google Shape;819;p71"/>
          <p:cNvSpPr/>
          <p:nvPr/>
        </p:nvSpPr>
        <p:spPr>
          <a:xfrm>
            <a:off x="6502525" y="1793550"/>
            <a:ext cx="1090500" cy="676200"/>
          </a:xfrm>
          <a:prstGeom prst="wedgeEllipseCallout">
            <a:avLst>
              <a:gd name="adj1" fmla="val -83755"/>
              <a:gd name="adj2" fmla="val -26619"/>
            </a:avLst>
          </a:prstGeom>
          <a:solidFill>
            <a:schemeClr val="lt1"/>
          </a:solidFill>
          <a:ln w="19050" cap="flat" cmpd="sng">
            <a:solidFill>
              <a:srgbClr val="674EA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351C75"/>
                </a:solidFill>
                <a:latin typeface="Impact"/>
                <a:ea typeface="Impact"/>
                <a:cs typeface="Impact"/>
                <a:sym typeface="Impact"/>
              </a:rPr>
              <a:t>0</a:t>
            </a:r>
            <a:endParaRPr sz="1900">
              <a:solidFill>
                <a:srgbClr val="351C75"/>
              </a:solidFill>
              <a:latin typeface="Impact"/>
              <a:ea typeface="Impact"/>
              <a:cs typeface="Impact"/>
              <a:sym typeface="Impact"/>
            </a:endParaRPr>
          </a:p>
        </p:txBody>
      </p:sp>
      <p:sp>
        <p:nvSpPr>
          <p:cNvPr id="820" name="Google Shape;820;p71"/>
          <p:cNvSpPr txBox="1"/>
          <p:nvPr/>
        </p:nvSpPr>
        <p:spPr>
          <a:xfrm>
            <a:off x="4517513" y="3963300"/>
            <a:ext cx="2081700" cy="48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74EA7"/>
                </a:solidFill>
                <a:latin typeface="Merriweather"/>
                <a:ea typeface="Merriweather"/>
                <a:cs typeface="Merriweather"/>
                <a:sym typeface="Merriweather"/>
              </a:rPr>
              <a:t>CountDown()</a:t>
            </a:r>
            <a:endParaRPr b="1">
              <a:solidFill>
                <a:srgbClr val="674EA7"/>
              </a:solidFill>
              <a:latin typeface="Merriweather"/>
              <a:ea typeface="Merriweather"/>
              <a:cs typeface="Merriweather"/>
              <a:sym typeface="Merriweather"/>
            </a:endParaRPr>
          </a:p>
        </p:txBody>
      </p:sp>
      <p:sp>
        <p:nvSpPr>
          <p:cNvPr id="821" name="Google Shape;821;p71"/>
          <p:cNvSpPr txBox="1"/>
          <p:nvPr/>
        </p:nvSpPr>
        <p:spPr>
          <a:xfrm>
            <a:off x="4517525" y="4207050"/>
            <a:ext cx="2081700" cy="48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674EA7"/>
                </a:solidFill>
                <a:latin typeface="Merriweather"/>
                <a:ea typeface="Merriweather"/>
                <a:cs typeface="Merriweather"/>
                <a:sym typeface="Merriweather"/>
              </a:rPr>
              <a:t>CountDown()</a:t>
            </a:r>
            <a:endParaRPr b="1">
              <a:solidFill>
                <a:srgbClr val="674EA7"/>
              </a:solidFill>
              <a:latin typeface="Merriweather"/>
              <a:ea typeface="Merriweather"/>
              <a:cs typeface="Merriweather"/>
              <a:sym typeface="Merriweather"/>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grpSp>
        <p:nvGrpSpPr>
          <p:cNvPr id="826" name="Google Shape;826;p72"/>
          <p:cNvGrpSpPr/>
          <p:nvPr/>
        </p:nvGrpSpPr>
        <p:grpSpPr>
          <a:xfrm rot="3781804" flipH="1">
            <a:off x="6428110" y="3019319"/>
            <a:ext cx="2303709" cy="1971101"/>
            <a:chOff x="3386250" y="1770500"/>
            <a:chExt cx="2303825" cy="1971200"/>
          </a:xfrm>
        </p:grpSpPr>
        <p:cxnSp>
          <p:nvCxnSpPr>
            <p:cNvPr id="827" name="Google Shape;827;p72"/>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828" name="Google Shape;828;p72"/>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829" name="Google Shape;829;p72"/>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830" name="Google Shape;830;p72"/>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sp>
        <p:nvSpPr>
          <p:cNvPr id="831" name="Google Shape;831;p72"/>
          <p:cNvSpPr/>
          <p:nvPr/>
        </p:nvSpPr>
        <p:spPr>
          <a:xfrm rot="10800000">
            <a:off x="5635950" y="1474175"/>
            <a:ext cx="3385200" cy="2839500"/>
          </a:xfrm>
          <a:prstGeom prst="rtTriangle">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832" name="Google Shape;832;p72"/>
          <p:cNvSpPr txBox="1">
            <a:spLocks noGrp="1"/>
          </p:cNvSpPr>
          <p:nvPr>
            <p:ph type="body" idx="4294967295"/>
          </p:nvPr>
        </p:nvSpPr>
        <p:spPr>
          <a:xfrm>
            <a:off x="6606000" y="1507775"/>
            <a:ext cx="2484300" cy="1029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latin typeface="Arial"/>
                <a:ea typeface="Arial"/>
                <a:cs typeface="Arial"/>
                <a:sym typeface="Arial"/>
              </a:rPr>
              <a:t>Once the troll has counted down to 0, the troll is overpowered by the goats. </a:t>
            </a:r>
            <a:endParaRPr>
              <a:solidFill>
                <a:srgbClr val="000000"/>
              </a:solidFill>
              <a:latin typeface="Arial"/>
              <a:ea typeface="Arial"/>
              <a:cs typeface="Arial"/>
              <a:sym typeface="Arial"/>
            </a:endParaRPr>
          </a:p>
          <a:p>
            <a:pPr marL="0" lvl="0" indent="0" algn="l" rtl="0">
              <a:spcBef>
                <a:spcPts val="0"/>
              </a:spcBef>
              <a:spcAft>
                <a:spcPts val="1600"/>
              </a:spcAft>
              <a:buNone/>
            </a:pPr>
            <a:r>
              <a:rPr lang="en">
                <a:solidFill>
                  <a:srgbClr val="000000"/>
                </a:solidFill>
                <a:latin typeface="Arial"/>
                <a:ea typeface="Arial"/>
                <a:cs typeface="Arial"/>
                <a:sym typeface="Arial"/>
              </a:rPr>
              <a:t>I.E. the latch is </a:t>
            </a:r>
            <a:r>
              <a:rPr lang="en" b="1" i="1">
                <a:solidFill>
                  <a:srgbClr val="FF0000"/>
                </a:solidFill>
                <a:latin typeface="Arial"/>
                <a:ea typeface="Arial"/>
                <a:cs typeface="Arial"/>
                <a:sym typeface="Arial"/>
              </a:rPr>
              <a:t>open</a:t>
            </a:r>
            <a:endParaRPr b="1" i="1">
              <a:solidFill>
                <a:srgbClr val="FF0000"/>
              </a:solidFill>
              <a:latin typeface="Arial"/>
              <a:ea typeface="Arial"/>
              <a:cs typeface="Arial"/>
              <a:sym typeface="Arial"/>
            </a:endParaRPr>
          </a:p>
        </p:txBody>
      </p:sp>
      <p:pic>
        <p:nvPicPr>
          <p:cNvPr id="833" name="Google Shape;833;p72"/>
          <p:cNvPicPr preferRelativeResize="0"/>
          <p:nvPr/>
        </p:nvPicPr>
        <p:blipFill>
          <a:blip r:embed="rId3">
            <a:alphaModFix/>
          </a:blip>
          <a:stretch>
            <a:fillRect/>
          </a:stretch>
        </p:blipFill>
        <p:spPr>
          <a:xfrm flipH="1">
            <a:off x="1136872" y="1339750"/>
            <a:ext cx="1438877" cy="1423898"/>
          </a:xfrm>
          <a:prstGeom prst="rect">
            <a:avLst/>
          </a:prstGeom>
          <a:noFill/>
          <a:ln>
            <a:noFill/>
          </a:ln>
        </p:spPr>
      </p:pic>
      <p:sp>
        <p:nvSpPr>
          <p:cNvPr id="834" name="Google Shape;834;p7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835" name="Google Shape;835;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grpSp>
        <p:nvGrpSpPr>
          <p:cNvPr id="836" name="Google Shape;836;p72"/>
          <p:cNvGrpSpPr/>
          <p:nvPr/>
        </p:nvGrpSpPr>
        <p:grpSpPr>
          <a:xfrm>
            <a:off x="3420088" y="1507775"/>
            <a:ext cx="2303825" cy="1971200"/>
            <a:chOff x="3386250" y="1770500"/>
            <a:chExt cx="2303825" cy="1971200"/>
          </a:xfrm>
        </p:grpSpPr>
        <p:cxnSp>
          <p:nvCxnSpPr>
            <p:cNvPr id="837" name="Google Shape;837;p72"/>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838" name="Google Shape;838;p72"/>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839" name="Google Shape;839;p72"/>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840" name="Google Shape;840;p72"/>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pic>
        <p:nvPicPr>
          <p:cNvPr id="841" name="Google Shape;841;p72"/>
          <p:cNvPicPr preferRelativeResize="0"/>
          <p:nvPr/>
        </p:nvPicPr>
        <p:blipFill>
          <a:blip r:embed="rId4">
            <a:alphaModFix/>
          </a:blip>
          <a:stretch>
            <a:fillRect/>
          </a:stretch>
        </p:blipFill>
        <p:spPr>
          <a:xfrm>
            <a:off x="4450725" y="1426938"/>
            <a:ext cx="2397175" cy="2638626"/>
          </a:xfrm>
          <a:prstGeom prst="rect">
            <a:avLst/>
          </a:prstGeom>
          <a:noFill/>
          <a:ln>
            <a:noFill/>
          </a:ln>
        </p:spPr>
      </p:pic>
      <p:pic>
        <p:nvPicPr>
          <p:cNvPr id="842" name="Google Shape;842;p72"/>
          <p:cNvPicPr preferRelativeResize="0"/>
          <p:nvPr/>
        </p:nvPicPr>
        <p:blipFill>
          <a:blip r:embed="rId5">
            <a:alphaModFix/>
          </a:blip>
          <a:stretch>
            <a:fillRect/>
          </a:stretch>
        </p:blipFill>
        <p:spPr>
          <a:xfrm flipH="1">
            <a:off x="1738147" y="2783150"/>
            <a:ext cx="1438877" cy="1423898"/>
          </a:xfrm>
          <a:prstGeom prst="rect">
            <a:avLst/>
          </a:prstGeom>
          <a:noFill/>
          <a:ln>
            <a:noFill/>
          </a:ln>
        </p:spPr>
      </p:pic>
      <p:pic>
        <p:nvPicPr>
          <p:cNvPr id="843" name="Google Shape;843;p72"/>
          <p:cNvPicPr preferRelativeResize="0"/>
          <p:nvPr/>
        </p:nvPicPr>
        <p:blipFill>
          <a:blip r:embed="rId6">
            <a:alphaModFix/>
          </a:blip>
          <a:stretch>
            <a:fillRect/>
          </a:stretch>
        </p:blipFill>
        <p:spPr>
          <a:xfrm flipH="1">
            <a:off x="382447" y="3632925"/>
            <a:ext cx="1438877" cy="1423898"/>
          </a:xfrm>
          <a:prstGeom prst="rect">
            <a:avLst/>
          </a:prstGeom>
          <a:noFill/>
          <a:ln>
            <a:noFill/>
          </a:ln>
        </p:spPr>
      </p:pic>
      <p:pic>
        <p:nvPicPr>
          <p:cNvPr id="844" name="Google Shape;844;p72"/>
          <p:cNvPicPr preferRelativeResize="0"/>
          <p:nvPr/>
        </p:nvPicPr>
        <p:blipFill>
          <a:blip r:embed="rId7">
            <a:alphaModFix/>
          </a:blip>
          <a:stretch>
            <a:fillRect/>
          </a:stretch>
        </p:blipFill>
        <p:spPr>
          <a:xfrm flipH="1">
            <a:off x="2193397" y="3493900"/>
            <a:ext cx="1438877" cy="1423898"/>
          </a:xfrm>
          <a:prstGeom prst="rect">
            <a:avLst/>
          </a:prstGeom>
          <a:noFill/>
          <a:ln>
            <a:noFill/>
          </a:ln>
        </p:spPr>
      </p:pic>
      <p:sp>
        <p:nvSpPr>
          <p:cNvPr id="845" name="Google Shape;845;p72"/>
          <p:cNvSpPr/>
          <p:nvPr/>
        </p:nvSpPr>
        <p:spPr>
          <a:xfrm>
            <a:off x="2717225" y="1507775"/>
            <a:ext cx="1344000" cy="623700"/>
          </a:xfrm>
          <a:prstGeom prst="wedgeEllipseCallout">
            <a:avLst>
              <a:gd name="adj1" fmla="val -55108"/>
              <a:gd name="adj2" fmla="val 102293"/>
            </a:avLst>
          </a:prstGeom>
          <a:solidFill>
            <a:schemeClr val="lt1"/>
          </a:solid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Caveat"/>
                <a:ea typeface="Caveat"/>
                <a:cs typeface="Caveat"/>
                <a:sym typeface="Caveat"/>
              </a:rPr>
              <a:t>CHARGE!!</a:t>
            </a:r>
            <a:endParaRPr b="1">
              <a:solidFill>
                <a:schemeClr val="dk1"/>
              </a:solidFill>
              <a:latin typeface="Caveat"/>
              <a:ea typeface="Caveat"/>
              <a:cs typeface="Caveat"/>
              <a:sym typeface="Caveat"/>
            </a:endParaRPr>
          </a:p>
        </p:txBody>
      </p:sp>
      <p:sp>
        <p:nvSpPr>
          <p:cNvPr id="846" name="Google Shape;846;p72"/>
          <p:cNvSpPr/>
          <p:nvPr/>
        </p:nvSpPr>
        <p:spPr>
          <a:xfrm>
            <a:off x="3437438" y="2855700"/>
            <a:ext cx="1586100" cy="1107600"/>
          </a:xfrm>
          <a:prstGeom prst="wedgeEllipseCallout">
            <a:avLst>
              <a:gd name="adj1" fmla="val 62527"/>
              <a:gd name="adj2" fmla="val -56252"/>
            </a:avLst>
          </a:prstGeom>
          <a:solidFill>
            <a:schemeClr val="lt1"/>
          </a:solidFill>
          <a:ln w="19050" cap="flat" cmpd="sng">
            <a:solidFill>
              <a:srgbClr val="674EA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351C75"/>
                </a:solidFill>
                <a:latin typeface="Impact"/>
                <a:ea typeface="Impact"/>
                <a:cs typeface="Impact"/>
                <a:sym typeface="Impact"/>
              </a:rPr>
              <a:t>Uh Oh!</a:t>
            </a:r>
            <a:endParaRPr sz="1800">
              <a:solidFill>
                <a:srgbClr val="351C75"/>
              </a:solidFill>
              <a:latin typeface="Impact"/>
              <a:ea typeface="Impact"/>
              <a:cs typeface="Impact"/>
              <a:sym typeface="Impact"/>
            </a:endParaRPr>
          </a:p>
          <a:p>
            <a:pPr marL="0" lvl="0" indent="0" algn="ctr" rtl="0">
              <a:spcBef>
                <a:spcPts val="0"/>
              </a:spcBef>
              <a:spcAft>
                <a:spcPts val="0"/>
              </a:spcAft>
              <a:buNone/>
            </a:pPr>
            <a:r>
              <a:rPr lang="en" sz="1800">
                <a:solidFill>
                  <a:srgbClr val="351C75"/>
                </a:solidFill>
                <a:latin typeface="Impact"/>
                <a:ea typeface="Impact"/>
                <a:cs typeface="Impact"/>
                <a:sym typeface="Impact"/>
              </a:rPr>
              <a:t>Too Many Goats!!</a:t>
            </a:r>
            <a:endParaRPr sz="1800">
              <a:solidFill>
                <a:srgbClr val="351C75"/>
              </a:solidFill>
              <a:latin typeface="Impact"/>
              <a:ea typeface="Impact"/>
              <a:cs typeface="Impact"/>
              <a:sym typeface="Impact"/>
            </a:endParaRPr>
          </a:p>
        </p:txBody>
      </p:sp>
      <p:pic>
        <p:nvPicPr>
          <p:cNvPr id="847" name="Google Shape;847;p72"/>
          <p:cNvPicPr preferRelativeResize="0"/>
          <p:nvPr/>
        </p:nvPicPr>
        <p:blipFill>
          <a:blip r:embed="rId8">
            <a:alphaModFix/>
          </a:blip>
          <a:stretch>
            <a:fillRect/>
          </a:stretch>
        </p:blipFill>
        <p:spPr>
          <a:xfrm flipH="1">
            <a:off x="422897" y="2118550"/>
            <a:ext cx="1438877" cy="1423898"/>
          </a:xfrm>
          <a:prstGeom prst="rect">
            <a:avLst/>
          </a:prstGeom>
          <a:noFill/>
          <a:ln>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p73"/>
          <p:cNvSpPr/>
          <p:nvPr/>
        </p:nvSpPr>
        <p:spPr>
          <a:xfrm rot="10800000">
            <a:off x="5635950" y="1474175"/>
            <a:ext cx="3385200" cy="2839500"/>
          </a:xfrm>
          <a:prstGeom prst="rtTriangle">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853" name="Google Shape;853;p73"/>
          <p:cNvSpPr txBox="1">
            <a:spLocks noGrp="1"/>
          </p:cNvSpPr>
          <p:nvPr>
            <p:ph type="body" idx="4294967295"/>
          </p:nvPr>
        </p:nvSpPr>
        <p:spPr>
          <a:xfrm>
            <a:off x="425288" y="3656375"/>
            <a:ext cx="2551500" cy="896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latin typeface="Arial"/>
                <a:ea typeface="Arial"/>
                <a:cs typeface="Arial"/>
                <a:sym typeface="Arial"/>
              </a:rPr>
              <a:t>Goats that show up </a:t>
            </a:r>
            <a:r>
              <a:rPr lang="en" b="1" i="1">
                <a:solidFill>
                  <a:srgbClr val="FF0000"/>
                </a:solidFill>
                <a:latin typeface="Arial"/>
                <a:ea typeface="Arial"/>
                <a:cs typeface="Arial"/>
                <a:sym typeface="Arial"/>
              </a:rPr>
              <a:t>after</a:t>
            </a:r>
            <a:r>
              <a:rPr lang="en">
                <a:solidFill>
                  <a:srgbClr val="000000"/>
                </a:solidFill>
                <a:latin typeface="Arial"/>
                <a:ea typeface="Arial"/>
                <a:cs typeface="Arial"/>
                <a:sym typeface="Arial"/>
              </a:rPr>
              <a:t> the troll is vanquished can freely </a:t>
            </a:r>
            <a:r>
              <a:rPr lang="en" b="1" i="1">
                <a:solidFill>
                  <a:srgbClr val="FF0000"/>
                </a:solidFill>
                <a:latin typeface="Arial"/>
                <a:ea typeface="Arial"/>
                <a:cs typeface="Arial"/>
                <a:sym typeface="Arial"/>
              </a:rPr>
              <a:t>pass through</a:t>
            </a:r>
            <a:r>
              <a:rPr lang="en">
                <a:solidFill>
                  <a:srgbClr val="000000"/>
                </a:solidFill>
                <a:latin typeface="Arial"/>
                <a:ea typeface="Arial"/>
                <a:cs typeface="Arial"/>
                <a:sym typeface="Arial"/>
              </a:rPr>
              <a:t> to the meadow.</a:t>
            </a:r>
            <a:endParaRPr>
              <a:solidFill>
                <a:srgbClr val="000000"/>
              </a:solidFill>
              <a:latin typeface="Arial"/>
              <a:ea typeface="Arial"/>
              <a:cs typeface="Arial"/>
              <a:sym typeface="Arial"/>
            </a:endParaRPr>
          </a:p>
        </p:txBody>
      </p:sp>
      <p:pic>
        <p:nvPicPr>
          <p:cNvPr id="854" name="Google Shape;854;p73"/>
          <p:cNvPicPr preferRelativeResize="0"/>
          <p:nvPr/>
        </p:nvPicPr>
        <p:blipFill>
          <a:blip r:embed="rId3">
            <a:alphaModFix/>
          </a:blip>
          <a:stretch>
            <a:fillRect/>
          </a:stretch>
        </p:blipFill>
        <p:spPr>
          <a:xfrm flipH="1">
            <a:off x="7942336" y="1507774"/>
            <a:ext cx="890011" cy="880745"/>
          </a:xfrm>
          <a:prstGeom prst="rect">
            <a:avLst/>
          </a:prstGeom>
          <a:noFill/>
          <a:ln>
            <a:noFill/>
          </a:ln>
        </p:spPr>
      </p:pic>
      <p:sp>
        <p:nvSpPr>
          <p:cNvPr id="855" name="Google Shape;855;p7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856" name="Google Shape;856;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grpSp>
        <p:nvGrpSpPr>
          <p:cNvPr id="857" name="Google Shape;857;p73"/>
          <p:cNvGrpSpPr/>
          <p:nvPr/>
        </p:nvGrpSpPr>
        <p:grpSpPr>
          <a:xfrm>
            <a:off x="3420088" y="1507775"/>
            <a:ext cx="2303825" cy="1971200"/>
            <a:chOff x="3386250" y="1770500"/>
            <a:chExt cx="2303825" cy="1971200"/>
          </a:xfrm>
        </p:grpSpPr>
        <p:cxnSp>
          <p:nvCxnSpPr>
            <p:cNvPr id="858" name="Google Shape;858;p73"/>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859" name="Google Shape;859;p73"/>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860" name="Google Shape;860;p73"/>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861" name="Google Shape;861;p73"/>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grpSp>
        <p:nvGrpSpPr>
          <p:cNvPr id="862" name="Google Shape;862;p73"/>
          <p:cNvGrpSpPr/>
          <p:nvPr/>
        </p:nvGrpSpPr>
        <p:grpSpPr>
          <a:xfrm rot="3781804" flipH="1">
            <a:off x="6428110" y="3019319"/>
            <a:ext cx="2303709" cy="1971101"/>
            <a:chOff x="3386250" y="1770500"/>
            <a:chExt cx="2303825" cy="1971200"/>
          </a:xfrm>
        </p:grpSpPr>
        <p:cxnSp>
          <p:nvCxnSpPr>
            <p:cNvPr id="863" name="Google Shape;863;p73"/>
            <p:cNvCxnSpPr/>
            <p:nvPr/>
          </p:nvCxnSpPr>
          <p:spPr>
            <a:xfrm>
              <a:off x="3659075" y="1770500"/>
              <a:ext cx="2031000" cy="1364400"/>
            </a:xfrm>
            <a:prstGeom prst="straightConnector1">
              <a:avLst/>
            </a:prstGeom>
            <a:noFill/>
            <a:ln w="152400" cap="flat" cmpd="sng">
              <a:solidFill>
                <a:srgbClr val="795E26"/>
              </a:solidFill>
              <a:prstDash val="solid"/>
              <a:round/>
              <a:headEnd type="none" w="med" len="med"/>
              <a:tailEnd type="none" w="med" len="med"/>
            </a:ln>
          </p:spPr>
        </p:cxnSp>
        <p:cxnSp>
          <p:nvCxnSpPr>
            <p:cNvPr id="864" name="Google Shape;864;p73"/>
            <p:cNvCxnSpPr/>
            <p:nvPr/>
          </p:nvCxnSpPr>
          <p:spPr>
            <a:xfrm>
              <a:off x="3386250" y="2336375"/>
              <a:ext cx="1930800" cy="1250700"/>
            </a:xfrm>
            <a:prstGeom prst="straightConnector1">
              <a:avLst/>
            </a:prstGeom>
            <a:noFill/>
            <a:ln w="152400" cap="flat" cmpd="sng">
              <a:solidFill>
                <a:srgbClr val="795E26"/>
              </a:solidFill>
              <a:prstDash val="solid"/>
              <a:round/>
              <a:headEnd type="none" w="med" len="med"/>
              <a:tailEnd type="none" w="med" len="med"/>
            </a:ln>
          </p:spPr>
        </p:cxnSp>
        <p:cxnSp>
          <p:nvCxnSpPr>
            <p:cNvPr id="865" name="Google Shape;865;p73"/>
            <p:cNvCxnSpPr/>
            <p:nvPr/>
          </p:nvCxnSpPr>
          <p:spPr>
            <a:xfrm flipH="1">
              <a:off x="4063150" y="2386900"/>
              <a:ext cx="525600" cy="818400"/>
            </a:xfrm>
            <a:prstGeom prst="straightConnector1">
              <a:avLst/>
            </a:prstGeom>
            <a:noFill/>
            <a:ln w="152400" cap="flat" cmpd="sng">
              <a:solidFill>
                <a:srgbClr val="795E26"/>
              </a:solidFill>
              <a:prstDash val="solid"/>
              <a:round/>
              <a:headEnd type="none" w="med" len="med"/>
              <a:tailEnd type="none" w="med" len="med"/>
            </a:ln>
          </p:spPr>
        </p:cxnSp>
        <p:cxnSp>
          <p:nvCxnSpPr>
            <p:cNvPr id="866" name="Google Shape;866;p73"/>
            <p:cNvCxnSpPr/>
            <p:nvPr/>
          </p:nvCxnSpPr>
          <p:spPr>
            <a:xfrm flipH="1">
              <a:off x="4892575" y="2923300"/>
              <a:ext cx="525600" cy="818400"/>
            </a:xfrm>
            <a:prstGeom prst="straightConnector1">
              <a:avLst/>
            </a:prstGeom>
            <a:noFill/>
            <a:ln w="152400" cap="flat" cmpd="sng">
              <a:solidFill>
                <a:srgbClr val="795E26"/>
              </a:solidFill>
              <a:prstDash val="solid"/>
              <a:round/>
              <a:headEnd type="none" w="med" len="med"/>
              <a:tailEnd type="none" w="med" len="med"/>
            </a:ln>
          </p:spPr>
        </p:cxnSp>
      </p:grpSp>
      <p:pic>
        <p:nvPicPr>
          <p:cNvPr id="867" name="Google Shape;867;p73"/>
          <p:cNvPicPr preferRelativeResize="0"/>
          <p:nvPr/>
        </p:nvPicPr>
        <p:blipFill>
          <a:blip r:embed="rId4">
            <a:alphaModFix/>
          </a:blip>
          <a:stretch>
            <a:fillRect/>
          </a:stretch>
        </p:blipFill>
        <p:spPr>
          <a:xfrm flipH="1">
            <a:off x="7438216" y="2053006"/>
            <a:ext cx="890011" cy="880745"/>
          </a:xfrm>
          <a:prstGeom prst="rect">
            <a:avLst/>
          </a:prstGeom>
          <a:noFill/>
          <a:ln>
            <a:noFill/>
          </a:ln>
        </p:spPr>
      </p:pic>
      <p:pic>
        <p:nvPicPr>
          <p:cNvPr id="868" name="Google Shape;868;p73"/>
          <p:cNvPicPr preferRelativeResize="0"/>
          <p:nvPr/>
        </p:nvPicPr>
        <p:blipFill>
          <a:blip r:embed="rId5">
            <a:alphaModFix/>
          </a:blip>
          <a:stretch>
            <a:fillRect/>
          </a:stretch>
        </p:blipFill>
        <p:spPr>
          <a:xfrm flipH="1">
            <a:off x="6883547" y="1250722"/>
            <a:ext cx="890011" cy="880745"/>
          </a:xfrm>
          <a:prstGeom prst="rect">
            <a:avLst/>
          </a:prstGeom>
          <a:noFill/>
          <a:ln>
            <a:noFill/>
          </a:ln>
        </p:spPr>
      </p:pic>
      <p:pic>
        <p:nvPicPr>
          <p:cNvPr id="869" name="Google Shape;869;p73"/>
          <p:cNvPicPr preferRelativeResize="0"/>
          <p:nvPr/>
        </p:nvPicPr>
        <p:blipFill>
          <a:blip r:embed="rId6">
            <a:alphaModFix/>
          </a:blip>
          <a:stretch>
            <a:fillRect/>
          </a:stretch>
        </p:blipFill>
        <p:spPr>
          <a:xfrm flipH="1">
            <a:off x="6388114" y="1731430"/>
            <a:ext cx="890011" cy="880745"/>
          </a:xfrm>
          <a:prstGeom prst="rect">
            <a:avLst/>
          </a:prstGeom>
          <a:noFill/>
          <a:ln>
            <a:noFill/>
          </a:ln>
        </p:spPr>
      </p:pic>
      <p:pic>
        <p:nvPicPr>
          <p:cNvPr id="870" name="Google Shape;870;p73"/>
          <p:cNvPicPr preferRelativeResize="0"/>
          <p:nvPr/>
        </p:nvPicPr>
        <p:blipFill>
          <a:blip r:embed="rId7">
            <a:alphaModFix/>
          </a:blip>
          <a:stretch>
            <a:fillRect/>
          </a:stretch>
        </p:blipFill>
        <p:spPr>
          <a:xfrm flipH="1">
            <a:off x="7942313" y="2571755"/>
            <a:ext cx="890011" cy="880745"/>
          </a:xfrm>
          <a:prstGeom prst="rect">
            <a:avLst/>
          </a:prstGeom>
          <a:noFill/>
          <a:ln>
            <a:noFill/>
          </a:ln>
        </p:spPr>
      </p:pic>
      <p:sp>
        <p:nvSpPr>
          <p:cNvPr id="871" name="Google Shape;871;p73"/>
          <p:cNvSpPr/>
          <p:nvPr/>
        </p:nvSpPr>
        <p:spPr>
          <a:xfrm>
            <a:off x="5723925" y="2582075"/>
            <a:ext cx="1344000" cy="623700"/>
          </a:xfrm>
          <a:prstGeom prst="wedgeEllipseCallout">
            <a:avLst>
              <a:gd name="adj1" fmla="val 73052"/>
              <a:gd name="adj2" fmla="val -27826"/>
            </a:avLst>
          </a:prstGeom>
          <a:solidFill>
            <a:schemeClr val="lt1"/>
          </a:solid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Caveat"/>
                <a:ea typeface="Caveat"/>
                <a:cs typeface="Caveat"/>
                <a:sym typeface="Caveat"/>
              </a:rPr>
              <a:t>nom nom …</a:t>
            </a:r>
            <a:endParaRPr b="1">
              <a:solidFill>
                <a:schemeClr val="dk1"/>
              </a:solidFill>
              <a:latin typeface="Caveat"/>
              <a:ea typeface="Caveat"/>
              <a:cs typeface="Caveat"/>
              <a:sym typeface="Caveat"/>
            </a:endParaRPr>
          </a:p>
        </p:txBody>
      </p:sp>
      <p:pic>
        <p:nvPicPr>
          <p:cNvPr id="872" name="Google Shape;872;p73"/>
          <p:cNvPicPr preferRelativeResize="0"/>
          <p:nvPr/>
        </p:nvPicPr>
        <p:blipFill>
          <a:blip r:embed="rId8">
            <a:alphaModFix/>
          </a:blip>
          <a:stretch>
            <a:fillRect/>
          </a:stretch>
        </p:blipFill>
        <p:spPr>
          <a:xfrm flipH="1">
            <a:off x="778147" y="2181975"/>
            <a:ext cx="1438877" cy="1423898"/>
          </a:xfrm>
          <a:prstGeom prst="rect">
            <a:avLst/>
          </a:prstGeom>
          <a:noFill/>
          <a:ln>
            <a:noFill/>
          </a:ln>
        </p:spPr>
      </p:pic>
      <p:sp>
        <p:nvSpPr>
          <p:cNvPr id="873" name="Google Shape;873;p73"/>
          <p:cNvSpPr/>
          <p:nvPr/>
        </p:nvSpPr>
        <p:spPr>
          <a:xfrm>
            <a:off x="1925225" y="1507775"/>
            <a:ext cx="1344000" cy="623700"/>
          </a:xfrm>
          <a:prstGeom prst="wedgeEllipseCallout">
            <a:avLst>
              <a:gd name="adj1" fmla="val -51066"/>
              <a:gd name="adj2" fmla="val 84472"/>
            </a:avLst>
          </a:prstGeom>
          <a:solidFill>
            <a:schemeClr val="lt1"/>
          </a:solidFill>
          <a:ln w="19050" cap="flat" cmpd="sng">
            <a:solidFill>
              <a:srgbClr val="795E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Caveat"/>
                <a:ea typeface="Caveat"/>
                <a:cs typeface="Caveat"/>
                <a:sym typeface="Caveat"/>
              </a:rPr>
              <a:t>wait for me!</a:t>
            </a:r>
            <a:endParaRPr b="1">
              <a:solidFill>
                <a:schemeClr val="dk1"/>
              </a:solidFill>
              <a:latin typeface="Caveat"/>
              <a:ea typeface="Caveat"/>
              <a:cs typeface="Caveat"/>
              <a:sym typeface="Caveat"/>
            </a:endParaRPr>
          </a:p>
        </p:txBody>
      </p:sp>
      <p:sp>
        <p:nvSpPr>
          <p:cNvPr id="874" name="Google Shape;874;p73"/>
          <p:cNvSpPr txBox="1">
            <a:spLocks noGrp="1"/>
          </p:cNvSpPr>
          <p:nvPr>
            <p:ph type="body" idx="4294967295"/>
          </p:nvPr>
        </p:nvSpPr>
        <p:spPr>
          <a:xfrm>
            <a:off x="3269213" y="4041200"/>
            <a:ext cx="2551500" cy="896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latin typeface="Arial"/>
                <a:ea typeface="Arial"/>
                <a:cs typeface="Arial"/>
                <a:sym typeface="Arial"/>
              </a:rPr>
              <a:t>The Troll is permanently vanquished. </a:t>
            </a:r>
            <a:r>
              <a:rPr lang="en">
                <a:solidFill>
                  <a:srgbClr val="000000"/>
                </a:solidFill>
                <a:latin typeface="Courier New"/>
                <a:ea typeface="Courier New"/>
                <a:cs typeface="Courier New"/>
                <a:sym typeface="Courier New"/>
              </a:rPr>
              <a:t>CountdownLatch</a:t>
            </a:r>
            <a:r>
              <a:rPr lang="en">
                <a:solidFill>
                  <a:srgbClr val="000000"/>
                </a:solidFill>
                <a:latin typeface="Arial"/>
                <a:ea typeface="Arial"/>
                <a:cs typeface="Arial"/>
                <a:sym typeface="Arial"/>
              </a:rPr>
              <a:t> </a:t>
            </a:r>
            <a:r>
              <a:rPr lang="en" b="1" i="1">
                <a:solidFill>
                  <a:srgbClr val="FF0000"/>
                </a:solidFill>
                <a:latin typeface="Arial"/>
                <a:ea typeface="Arial"/>
                <a:cs typeface="Arial"/>
                <a:sym typeface="Arial"/>
              </a:rPr>
              <a:t>cannot be restarted</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p7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Fair Start</a:t>
            </a:r>
            <a:endParaRPr/>
          </a:p>
        </p:txBody>
      </p:sp>
      <p:sp>
        <p:nvSpPr>
          <p:cNvPr id="880" name="Google Shape;880;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881" name="Google Shape;881;p7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 know about CountDownLatch, let's try using it. To ensure every racer gets a fair start have each of them wait on a latch. Once the main thread has created and started all the racers, the racers can be released to run by decrementing the latch.</a:t>
            </a:r>
            <a:endParaRPr/>
          </a:p>
        </p:txBody>
      </p:sp>
      <p:sp>
        <p:nvSpPr>
          <p:cNvPr id="882" name="Google Shape;882;p74"/>
          <p:cNvSpPr txBox="1">
            <a:spLocks noGrp="1"/>
          </p:cNvSpPr>
          <p:nvPr>
            <p:ph type="body" idx="2"/>
          </p:nvPr>
        </p:nvSpPr>
        <p:spPr>
          <a:xfrm>
            <a:off x="3345900" y="1671352"/>
            <a:ext cx="5595300" cy="3487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In your </a:t>
            </a:r>
            <a:r>
              <a:rPr lang="en">
                <a:latin typeface="Courier New"/>
                <a:ea typeface="Courier New"/>
                <a:cs typeface="Courier New"/>
                <a:sym typeface="Courier New"/>
              </a:rPr>
              <a:t>LotsORacers</a:t>
            </a:r>
            <a:r>
              <a:rPr lang="en"/>
              <a:t> class's </a:t>
            </a:r>
            <a:r>
              <a:rPr lang="en">
                <a:latin typeface="Courier New"/>
                <a:ea typeface="Courier New"/>
                <a:cs typeface="Courier New"/>
                <a:sym typeface="Courier New"/>
              </a:rPr>
              <a:t>main</a:t>
            </a:r>
            <a:r>
              <a:rPr lang="en"/>
              <a:t>, create a </a:t>
            </a:r>
            <a:r>
              <a:rPr lang="en">
                <a:solidFill>
                  <a:srgbClr val="FF0000"/>
                </a:solidFill>
                <a:latin typeface="Courier New"/>
                <a:ea typeface="Courier New"/>
                <a:cs typeface="Courier New"/>
                <a:sym typeface="Courier New"/>
              </a:rPr>
              <a:t>CountDownLatch</a:t>
            </a:r>
            <a:r>
              <a:rPr lang="en"/>
              <a:t>.</a:t>
            </a:r>
            <a:endParaRPr/>
          </a:p>
          <a:p>
            <a:pPr marL="914400" lvl="1" indent="-298450" algn="l" rtl="0">
              <a:spcBef>
                <a:spcPts val="0"/>
              </a:spcBef>
              <a:spcAft>
                <a:spcPts val="0"/>
              </a:spcAft>
              <a:buSzPts val="1100"/>
              <a:buChar char="○"/>
            </a:pPr>
            <a:r>
              <a:rPr lang="en"/>
              <a:t>What should the initial count be set to?</a:t>
            </a:r>
            <a:endParaRPr/>
          </a:p>
          <a:p>
            <a:pPr marL="914400" lvl="1" indent="-298450" algn="l" rtl="0">
              <a:spcBef>
                <a:spcPts val="0"/>
              </a:spcBef>
              <a:spcAft>
                <a:spcPts val="0"/>
              </a:spcAft>
              <a:buSzPts val="1100"/>
              <a:buChar char="○"/>
            </a:pPr>
            <a:r>
              <a:rPr lang="en"/>
              <a:t>Think about how many entities will be performing the count down and not the number waiting.</a:t>
            </a:r>
            <a:endParaRPr/>
          </a:p>
          <a:p>
            <a:pPr marL="457200" lvl="0" indent="-311150" algn="l" rtl="0">
              <a:spcBef>
                <a:spcPts val="0"/>
              </a:spcBef>
              <a:spcAft>
                <a:spcPts val="0"/>
              </a:spcAft>
              <a:buSzPts val="1300"/>
              <a:buChar char="●"/>
            </a:pPr>
            <a:r>
              <a:rPr lang="en"/>
              <a:t>For </a:t>
            </a:r>
            <a:r>
              <a:rPr lang="en" b="1" i="1">
                <a:solidFill>
                  <a:srgbClr val="FF0000"/>
                </a:solidFill>
              </a:rPr>
              <a:t>each racer</a:t>
            </a:r>
            <a:r>
              <a:rPr lang="en"/>
              <a:t>, have them </a:t>
            </a:r>
            <a:r>
              <a:rPr lang="en" b="1" i="1">
                <a:solidFill>
                  <a:srgbClr val="FF0000"/>
                </a:solidFill>
              </a:rPr>
              <a:t>await</a:t>
            </a:r>
            <a:r>
              <a:rPr lang="en"/>
              <a:t> on the </a:t>
            </a:r>
            <a:r>
              <a:rPr lang="en">
                <a:latin typeface="Courier New"/>
                <a:ea typeface="Courier New"/>
                <a:cs typeface="Courier New"/>
                <a:sym typeface="Courier New"/>
              </a:rPr>
              <a:t>CountDownLatch</a:t>
            </a:r>
            <a:r>
              <a:rPr lang="en"/>
              <a:t> before they start the race.</a:t>
            </a:r>
            <a:endParaRPr/>
          </a:p>
          <a:p>
            <a:pPr marL="914400" lvl="1" indent="-298450" algn="l" rtl="0">
              <a:spcBef>
                <a:spcPts val="0"/>
              </a:spcBef>
              <a:spcAft>
                <a:spcPts val="0"/>
              </a:spcAft>
              <a:buSzPts val="1100"/>
              <a:buChar char="○"/>
            </a:pPr>
            <a:r>
              <a:rPr lang="en"/>
              <a:t>Either pass the latch in during construction (dependency injection)</a:t>
            </a:r>
            <a:endParaRPr/>
          </a:p>
          <a:p>
            <a:pPr marL="914400" lvl="1" indent="-298450" algn="l" rtl="0">
              <a:spcBef>
                <a:spcPts val="0"/>
              </a:spcBef>
              <a:spcAft>
                <a:spcPts val="0"/>
              </a:spcAft>
              <a:buSzPts val="1100"/>
              <a:buChar char="○"/>
            </a:pPr>
            <a:r>
              <a:rPr lang="en"/>
              <a:t>Or add it into the lambda (if you are using them)</a:t>
            </a:r>
            <a:endParaRPr/>
          </a:p>
          <a:p>
            <a:pPr marL="457200" lvl="0" indent="-311150" algn="l" rtl="0">
              <a:spcBef>
                <a:spcPts val="0"/>
              </a:spcBef>
              <a:spcAft>
                <a:spcPts val="0"/>
              </a:spcAft>
              <a:buSzPts val="1300"/>
              <a:buChar char="●"/>
            </a:pPr>
            <a:r>
              <a:rPr lang="en"/>
              <a:t>Back in main, once all the racers have been started, perform a </a:t>
            </a:r>
            <a:r>
              <a:rPr lang="en">
                <a:solidFill>
                  <a:srgbClr val="FF0000"/>
                </a:solidFill>
                <a:latin typeface="Courier New"/>
                <a:ea typeface="Courier New"/>
                <a:cs typeface="Courier New"/>
                <a:sym typeface="Courier New"/>
              </a:rPr>
              <a:t>countDown</a:t>
            </a:r>
            <a:r>
              <a:rPr lang="en"/>
              <a:t> on the latch.</a:t>
            </a:r>
            <a:endParaRPr/>
          </a:p>
          <a:p>
            <a:pPr marL="457200" lvl="0" indent="-311150" algn="l" rtl="0">
              <a:spcBef>
                <a:spcPts val="0"/>
              </a:spcBef>
              <a:spcAft>
                <a:spcPts val="0"/>
              </a:spcAft>
              <a:buSzPts val="1300"/>
              <a:buChar char="●"/>
            </a:pPr>
            <a:r>
              <a:rPr lang="en"/>
              <a:t>Verify the racers are running in a </a:t>
            </a:r>
            <a:r>
              <a:rPr lang="en" b="1" i="1">
                <a:solidFill>
                  <a:srgbClr val="FF0000"/>
                </a:solidFill>
              </a:rPr>
              <a:t>random order</a:t>
            </a:r>
            <a:r>
              <a:rPr lang="en"/>
              <a:t>.</a:t>
            </a:r>
            <a:endParaRPr/>
          </a:p>
          <a:p>
            <a:pPr marL="914400" lvl="1" indent="-298450" algn="l" rtl="0">
              <a:spcBef>
                <a:spcPts val="0"/>
              </a:spcBef>
              <a:spcAft>
                <a:spcPts val="0"/>
              </a:spcAft>
              <a:buSzPts val="1100"/>
              <a:buChar char="○"/>
            </a:pPr>
            <a:r>
              <a:rPr lang="en"/>
              <a:t>Make sure debugging is turned on so you can see the racers</a:t>
            </a:r>
            <a:endParaRPr/>
          </a:p>
          <a:p>
            <a:pPr marL="914400" lvl="1" indent="-298450" algn="l" rtl="0">
              <a:spcBef>
                <a:spcPts val="0"/>
              </a:spcBef>
              <a:spcAft>
                <a:spcPts val="0"/>
              </a:spcAft>
              <a:buSzPts val="1100"/>
              <a:buChar char="○"/>
            </a:pPr>
            <a:r>
              <a:rPr lang="en"/>
              <a:t>If you are using a lot of racers, verify they</a:t>
            </a:r>
            <a:r>
              <a:rPr lang="en" b="1"/>
              <a:t> </a:t>
            </a:r>
            <a:r>
              <a:rPr lang="en" b="1" i="1">
                <a:solidFill>
                  <a:srgbClr val="FF0000"/>
                </a:solidFill>
              </a:rPr>
              <a:t>don't </a:t>
            </a:r>
            <a:r>
              <a:rPr lang="en"/>
              <a:t>generally follow the order in which they were created</a:t>
            </a:r>
            <a:endParaRPr/>
          </a:p>
          <a:p>
            <a:pPr marL="914400" lvl="1" indent="-298450" algn="l" rtl="0">
              <a:spcBef>
                <a:spcPts val="0"/>
              </a:spcBef>
              <a:spcAft>
                <a:spcPts val="0"/>
              </a:spcAft>
              <a:buSzPts val="1100"/>
              <a:buChar char="○"/>
            </a:pPr>
            <a:r>
              <a:rPr lang="en"/>
              <a:t>For only a few racers with low lap count (3, 3), verify the one that stars first </a:t>
            </a:r>
            <a:r>
              <a:rPr lang="en" b="1" i="1">
                <a:solidFill>
                  <a:srgbClr val="FF0000"/>
                </a:solidFill>
              </a:rPr>
              <a:t>isn't </a:t>
            </a:r>
            <a:r>
              <a:rPr lang="en"/>
              <a:t>always the one that wins.</a:t>
            </a:r>
            <a:endParaRPr/>
          </a:p>
        </p:txBody>
      </p:sp>
      <p:sp>
        <p:nvSpPr>
          <p:cNvPr id="883" name="Google Shape;883;p7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8.14</a:t>
            </a:r>
            <a:endParaRPr/>
          </a:p>
        </p:txBody>
      </p:sp>
      <p:sp>
        <p:nvSpPr>
          <p:cNvPr id="884" name="Google Shape;884;p74"/>
          <p:cNvSpPr txBox="1">
            <a:spLocks noGrp="1"/>
          </p:cNvSpPr>
          <p:nvPr>
            <p:ph type="body" idx="4"/>
          </p:nvPr>
        </p:nvSpPr>
        <p:spPr>
          <a:xfrm>
            <a:off x="141600" y="4110375"/>
            <a:ext cx="32043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Since await cause a thread to enter the </a:t>
            </a:r>
            <a:r>
              <a:rPr lang="en" b="1" i="1">
                <a:solidFill>
                  <a:srgbClr val="FF0000"/>
                </a:solidFill>
              </a:rPr>
              <a:t>waiting state</a:t>
            </a:r>
            <a:r>
              <a:rPr lang="en"/>
              <a:t>, it can throw an </a:t>
            </a:r>
            <a:r>
              <a:rPr lang="en">
                <a:latin typeface="Courier New"/>
                <a:ea typeface="Courier New"/>
                <a:cs typeface="Courier New"/>
                <a:sym typeface="Courier New"/>
              </a:rPr>
              <a:t>InterruptedException</a:t>
            </a:r>
            <a:r>
              <a:rPr lang="en"/>
              <a:t>.</a:t>
            </a:r>
            <a:endParaRPr/>
          </a:p>
        </p:txBody>
      </p:sp>
      <p:sp>
        <p:nvSpPr>
          <p:cNvPr id="885" name="Google Shape;885;p74"/>
          <p:cNvSpPr txBox="1">
            <a:spLocks noGrp="1"/>
          </p:cNvSpPr>
          <p:nvPr>
            <p:ph type="body" idx="4"/>
          </p:nvPr>
        </p:nvSpPr>
        <p:spPr>
          <a:xfrm>
            <a:off x="141600" y="1857750"/>
            <a:ext cx="3204300" cy="21240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267F99"/>
                </a:solidFill>
                <a:highlight>
                  <a:srgbClr val="FFFFFF"/>
                </a:highlight>
                <a:latin typeface="Consolas"/>
                <a:ea typeface="Consolas"/>
                <a:cs typeface="Consolas"/>
                <a:sym typeface="Consolas"/>
              </a:rPr>
              <a:t>CountDownLatch</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gate</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CountDownLatch</a:t>
            </a:r>
            <a:r>
              <a:rPr lang="en" sz="900">
                <a:solidFill>
                  <a:srgbClr val="3B3B3B"/>
                </a:solidFill>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1</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AF00DB"/>
                </a:solidFill>
                <a:highlight>
                  <a:srgbClr val="FFFFFF"/>
                </a:highlight>
                <a:latin typeface="Consolas"/>
                <a:ea typeface="Consolas"/>
                <a:cs typeface="Consolas"/>
                <a:sym typeface="Consolas"/>
              </a:rPr>
              <a:t>for</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0</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&lt;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id</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executor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submit</a:t>
            </a:r>
            <a:r>
              <a:rPr lang="en" sz="900">
                <a:solidFill>
                  <a:srgbClr val="3B3B3B"/>
                </a:solidFill>
                <a:highlight>
                  <a:srgbClr val="FFFFFF"/>
                </a:highlight>
                <a:latin typeface="Consolas"/>
                <a:ea typeface="Consolas"/>
                <a:cs typeface="Consolas"/>
                <a:sym typeface="Consolas"/>
              </a:rPr>
              <a:t> ( () </a:t>
            </a:r>
            <a:r>
              <a:rPr lang="en" sz="900">
                <a:solidFill>
                  <a:srgbClr val="0000FF"/>
                </a:solidFill>
                <a:highlight>
                  <a:srgbClr val="FFFFFF"/>
                </a:highlight>
                <a:latin typeface="Consolas"/>
                <a:ea typeface="Consolas"/>
                <a:cs typeface="Consolas"/>
                <a:sym typeface="Consolas"/>
              </a:rPr>
              <a:t>-&gt;</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System</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out</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println</a:t>
            </a:r>
            <a:r>
              <a:rPr lang="en" sz="900">
                <a:solidFill>
                  <a:srgbClr val="3B3B3B"/>
                </a:solidFill>
                <a:highlight>
                  <a:srgbClr val="FFFFFF"/>
                </a:highlight>
                <a:latin typeface="Consolas"/>
                <a:ea typeface="Consolas"/>
                <a:cs typeface="Consolas"/>
                <a:sym typeface="Consolas"/>
              </a:rPr>
              <a:t>(</a:t>
            </a:r>
            <a:r>
              <a:rPr lang="en" sz="900">
                <a:solidFill>
                  <a:srgbClr val="A31515"/>
                </a:solidFill>
                <a:highlight>
                  <a:srgbClr val="FFFFFF"/>
                </a:highlight>
                <a:latin typeface="Consolas"/>
                <a:ea typeface="Consolas"/>
                <a:cs typeface="Consolas"/>
                <a:sym typeface="Consolas"/>
              </a:rPr>
              <a:t>"Goat "</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id</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31515"/>
                </a:solidFill>
                <a:highlight>
                  <a:srgbClr val="FFFFFF"/>
                </a:highlight>
                <a:latin typeface="Consolas"/>
                <a:ea typeface="Consolas"/>
                <a:cs typeface="Consolas"/>
                <a:sym typeface="Consolas"/>
              </a:rPr>
              <a:t>" waits."</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1080"/>
                </a:solidFill>
                <a:highlight>
                  <a:srgbClr val="FFFFFF"/>
                </a:highlight>
                <a:latin typeface="Consolas"/>
                <a:ea typeface="Consolas"/>
                <a:cs typeface="Consolas"/>
                <a:sym typeface="Consolas"/>
              </a:rPr>
              <a:t>      gate</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await</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catch</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InterruptedException</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e</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System</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out</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println</a:t>
            </a:r>
            <a:r>
              <a:rPr lang="en" sz="900">
                <a:solidFill>
                  <a:srgbClr val="3B3B3B"/>
                </a:solidFill>
                <a:highlight>
                  <a:srgbClr val="FFFFFF"/>
                </a:highlight>
                <a:latin typeface="Consolas"/>
                <a:ea typeface="Consolas"/>
                <a:cs typeface="Consolas"/>
                <a:sym typeface="Consolas"/>
              </a:rPr>
              <a:t>(</a:t>
            </a:r>
            <a:r>
              <a:rPr lang="en" sz="900">
                <a:solidFill>
                  <a:srgbClr val="A31515"/>
                </a:solidFill>
                <a:highlight>
                  <a:srgbClr val="FFFFFF"/>
                </a:highlight>
                <a:latin typeface="Consolas"/>
                <a:ea typeface="Consolas"/>
                <a:cs typeface="Consolas"/>
                <a:sym typeface="Consolas"/>
              </a:rPr>
              <a:t>"Goat "</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id</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31515"/>
                </a:solidFill>
                <a:highlight>
                  <a:srgbClr val="FFFFFF"/>
                </a:highlight>
                <a:latin typeface="Consolas"/>
                <a:ea typeface="Consolas"/>
                <a:cs typeface="Consolas"/>
                <a:sym typeface="Consolas"/>
              </a:rPr>
              <a:t>" left."</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267F99"/>
                </a:solidFill>
                <a:highlight>
                  <a:srgbClr val="FFFFFF"/>
                </a:highlight>
                <a:latin typeface="Consolas"/>
                <a:ea typeface="Consolas"/>
                <a:cs typeface="Consolas"/>
                <a:sym typeface="Consolas"/>
              </a:rPr>
              <a:t>System</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out</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println</a:t>
            </a:r>
            <a:r>
              <a:rPr lang="en" sz="900">
                <a:solidFill>
                  <a:srgbClr val="3B3B3B"/>
                </a:solidFill>
                <a:highlight>
                  <a:srgbClr val="FFFFFF"/>
                </a:highlight>
                <a:latin typeface="Consolas"/>
                <a:ea typeface="Consolas"/>
                <a:cs typeface="Consolas"/>
                <a:sym typeface="Consolas"/>
              </a:rPr>
              <a:t>(</a:t>
            </a:r>
            <a:r>
              <a:rPr lang="en" sz="900">
                <a:solidFill>
                  <a:srgbClr val="A31515"/>
                </a:solidFill>
                <a:highlight>
                  <a:srgbClr val="FFFFFF"/>
                </a:highlight>
                <a:latin typeface="Consolas"/>
                <a:ea typeface="Consolas"/>
                <a:cs typeface="Consolas"/>
                <a:sym typeface="Consolas"/>
              </a:rPr>
              <a:t>"Opening the gate..."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1080"/>
                </a:solidFill>
                <a:highlight>
                  <a:srgbClr val="FFFFFF"/>
                </a:highlight>
                <a:latin typeface="Consolas"/>
                <a:ea typeface="Consolas"/>
                <a:cs typeface="Consolas"/>
                <a:sym typeface="Consolas"/>
              </a:rPr>
              <a:t>gate</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countDown</a:t>
            </a:r>
            <a:r>
              <a:rPr lang="en" sz="900">
                <a:solidFill>
                  <a:srgbClr val="3B3B3B"/>
                </a:solidFill>
                <a:highlight>
                  <a:srgbClr val="FFFFFF"/>
                </a:highlight>
                <a:latin typeface="Consolas"/>
                <a:ea typeface="Consolas"/>
                <a:cs typeface="Consolas"/>
                <a:sym typeface="Consolas"/>
              </a:rPr>
              <a:t>();</a:t>
            </a:r>
            <a:endParaRPr sz="9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75"/>
          <p:cNvSpPr txBox="1">
            <a:spLocks noGrp="1"/>
          </p:cNvSpPr>
          <p:nvPr>
            <p:ph type="title"/>
          </p:nvPr>
        </p:nvSpPr>
        <p:spPr>
          <a:xfrm>
            <a:off x="311725" y="500925"/>
            <a:ext cx="8520600" cy="6237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Sleep</a:t>
            </a:r>
            <a:endParaRPr/>
          </a:p>
        </p:txBody>
      </p:sp>
      <p:sp>
        <p:nvSpPr>
          <p:cNvPr id="891" name="Google Shape;891;p75"/>
          <p:cNvSpPr txBox="1">
            <a:spLocks noGrp="1"/>
          </p:cNvSpPr>
          <p:nvPr>
            <p:ph type="body" idx="1"/>
          </p:nvPr>
        </p:nvSpPr>
        <p:spPr>
          <a:xfrm>
            <a:off x="311700" y="1402575"/>
            <a:ext cx="8651400" cy="1827900"/>
          </a:xfrm>
          <a:prstGeom prst="rect">
            <a:avLst/>
          </a:prstGeom>
          <a:noFill/>
          <a:ln>
            <a:noFill/>
          </a:ln>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Char char="●"/>
            </a:pPr>
            <a:r>
              <a:rPr lang="en" sz="1400"/>
              <a:t>Sometimes a thread has </a:t>
            </a:r>
            <a:r>
              <a:rPr lang="en" sz="1400" b="1" i="1">
                <a:solidFill>
                  <a:srgbClr val="FF0000"/>
                </a:solidFill>
              </a:rPr>
              <a:t>nothing to do</a:t>
            </a:r>
            <a:r>
              <a:rPr lang="en" sz="1400"/>
              <a:t> for some period of time</a:t>
            </a:r>
            <a:endParaRPr sz="1400"/>
          </a:p>
          <a:p>
            <a:pPr marL="457200" lvl="0" indent="-317500" algn="l" rtl="0">
              <a:lnSpc>
                <a:spcPct val="115000"/>
              </a:lnSpc>
              <a:spcBef>
                <a:spcPts val="0"/>
              </a:spcBef>
              <a:spcAft>
                <a:spcPts val="0"/>
              </a:spcAft>
              <a:buSzPts val="1400"/>
              <a:buChar char="●"/>
            </a:pPr>
            <a:r>
              <a:rPr lang="en" sz="1400"/>
              <a:t>It can relinquish its time on a processor by using </a:t>
            </a:r>
            <a:r>
              <a:rPr lang="en" sz="1400">
                <a:latin typeface="Courier New"/>
                <a:ea typeface="Courier New"/>
                <a:cs typeface="Courier New"/>
                <a:sym typeface="Courier New"/>
              </a:rPr>
              <a:t>sleep(ms)</a:t>
            </a:r>
            <a:endParaRPr sz="1400">
              <a:latin typeface="Courier New"/>
              <a:ea typeface="Courier New"/>
              <a:cs typeface="Courier New"/>
              <a:sym typeface="Courier New"/>
            </a:endParaRPr>
          </a:p>
          <a:p>
            <a:pPr marL="457200" lvl="0" indent="-317500" algn="l" rtl="0">
              <a:lnSpc>
                <a:spcPct val="115000"/>
              </a:lnSpc>
              <a:spcBef>
                <a:spcPts val="0"/>
              </a:spcBef>
              <a:spcAft>
                <a:spcPts val="0"/>
              </a:spcAft>
              <a:buSzPts val="1400"/>
              <a:buChar char="●"/>
            </a:pPr>
            <a:r>
              <a:rPr lang="en" sz="1400"/>
              <a:t>This can be useful:</a:t>
            </a:r>
            <a:endParaRPr sz="1400"/>
          </a:p>
          <a:p>
            <a:pPr marL="914400" lvl="1" indent="-311150" algn="l" rtl="0">
              <a:lnSpc>
                <a:spcPct val="115000"/>
              </a:lnSpc>
              <a:spcBef>
                <a:spcPts val="0"/>
              </a:spcBef>
              <a:spcAft>
                <a:spcPts val="0"/>
              </a:spcAft>
              <a:buSzPts val="1300"/>
              <a:buChar char="○"/>
            </a:pPr>
            <a:r>
              <a:rPr lang="en" sz="1300"/>
              <a:t>to </a:t>
            </a:r>
            <a:r>
              <a:rPr lang="en" sz="1300" b="1" i="1">
                <a:solidFill>
                  <a:srgbClr val="FF0000"/>
                </a:solidFill>
              </a:rPr>
              <a:t>simulate </a:t>
            </a:r>
            <a:r>
              <a:rPr lang="en" sz="1300"/>
              <a:t>the passage of time</a:t>
            </a:r>
            <a:endParaRPr sz="1300"/>
          </a:p>
          <a:p>
            <a:pPr marL="914400" lvl="1" indent="-311150" algn="l" rtl="0">
              <a:lnSpc>
                <a:spcPct val="115000"/>
              </a:lnSpc>
              <a:spcBef>
                <a:spcPts val="0"/>
              </a:spcBef>
              <a:spcAft>
                <a:spcPts val="0"/>
              </a:spcAft>
              <a:buSzPts val="1300"/>
              <a:buChar char="○"/>
            </a:pPr>
            <a:r>
              <a:rPr lang="en" sz="1300"/>
              <a:t>to let other processes </a:t>
            </a:r>
            <a:r>
              <a:rPr lang="en" sz="1300" b="1" i="1">
                <a:solidFill>
                  <a:srgbClr val="FF0000"/>
                </a:solidFill>
              </a:rPr>
              <a:t>work</a:t>
            </a:r>
            <a:r>
              <a:rPr lang="en" sz="1300"/>
              <a:t> while this process waits</a:t>
            </a:r>
            <a:endParaRPr sz="1300"/>
          </a:p>
          <a:p>
            <a:pPr marL="457200" lvl="0" indent="-317500" algn="l" rtl="0">
              <a:lnSpc>
                <a:spcPct val="115000"/>
              </a:lnSpc>
              <a:spcBef>
                <a:spcPts val="0"/>
              </a:spcBef>
              <a:spcAft>
                <a:spcPts val="0"/>
              </a:spcAft>
              <a:buSzPts val="1400"/>
              <a:buChar char="●"/>
            </a:pPr>
            <a:r>
              <a:rPr lang="en" sz="1400"/>
              <a:t>Upon waking, the process </a:t>
            </a:r>
            <a:r>
              <a:rPr lang="en" sz="1400" b="1" i="1">
                <a:solidFill>
                  <a:srgbClr val="FF0000"/>
                </a:solidFill>
              </a:rPr>
              <a:t>must be </a:t>
            </a:r>
            <a:r>
              <a:rPr lang="en" b="1" i="1">
                <a:solidFill>
                  <a:srgbClr val="FF0000"/>
                </a:solidFill>
              </a:rPr>
              <a:t>scheduled</a:t>
            </a:r>
            <a:r>
              <a:rPr lang="en" sz="1400"/>
              <a:t> before it can run again</a:t>
            </a:r>
            <a:endParaRPr sz="1400"/>
          </a:p>
        </p:txBody>
      </p:sp>
      <p:graphicFrame>
        <p:nvGraphicFramePr>
          <p:cNvPr id="892" name="Google Shape;892;p75"/>
          <p:cNvGraphicFramePr/>
          <p:nvPr/>
        </p:nvGraphicFramePr>
        <p:xfrm>
          <a:off x="640080" y="3294509"/>
          <a:ext cx="7886700" cy="1028760"/>
        </p:xfrm>
        <a:graphic>
          <a:graphicData uri="http://schemas.openxmlformats.org/drawingml/2006/table">
            <a:tbl>
              <a:tblPr firstRow="1" bandRow="1">
                <a:noFill/>
                <a:tableStyleId>{A07C2E57-52A4-4090-9760-2D5068A43A11}</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gridCol w="876300">
                  <a:extLst>
                    <a:ext uri="{9D8B030D-6E8A-4147-A177-3AD203B41FA5}">
                      <a16:colId xmlns:a16="http://schemas.microsoft.com/office/drawing/2014/main" val="20004"/>
                    </a:ext>
                  </a:extLst>
                </a:gridCol>
                <a:gridCol w="876300">
                  <a:extLst>
                    <a:ext uri="{9D8B030D-6E8A-4147-A177-3AD203B41FA5}">
                      <a16:colId xmlns:a16="http://schemas.microsoft.com/office/drawing/2014/main" val="20005"/>
                    </a:ext>
                  </a:extLst>
                </a:gridCol>
                <a:gridCol w="876300">
                  <a:extLst>
                    <a:ext uri="{9D8B030D-6E8A-4147-A177-3AD203B41FA5}">
                      <a16:colId xmlns:a16="http://schemas.microsoft.com/office/drawing/2014/main" val="20006"/>
                    </a:ext>
                  </a:extLst>
                </a:gridCol>
                <a:gridCol w="876300">
                  <a:extLst>
                    <a:ext uri="{9D8B030D-6E8A-4147-A177-3AD203B41FA5}">
                      <a16:colId xmlns:a16="http://schemas.microsoft.com/office/drawing/2014/main" val="20007"/>
                    </a:ext>
                  </a:extLst>
                </a:gridCol>
                <a:gridCol w="876300">
                  <a:extLst>
                    <a:ext uri="{9D8B030D-6E8A-4147-A177-3AD203B41FA5}">
                      <a16:colId xmlns:a16="http://schemas.microsoft.com/office/drawing/2014/main" val="20008"/>
                    </a:ext>
                  </a:extLst>
                </a:gridCol>
              </a:tblGrid>
              <a:tr h="278150">
                <a:tc>
                  <a:txBody>
                    <a:bodyPr/>
                    <a:lstStyle/>
                    <a:p>
                      <a:pPr marL="0" marR="0" lvl="0" indent="0" algn="l" rtl="0">
                        <a:spcBef>
                          <a:spcPts val="0"/>
                        </a:spcBef>
                        <a:spcAft>
                          <a:spcPts val="0"/>
                        </a:spcAft>
                        <a:buNone/>
                      </a:pPr>
                      <a:r>
                        <a:rPr lang="en" sz="1500"/>
                        <a:t>thread1</a:t>
                      </a:r>
                      <a:endParaRPr sz="1100"/>
                    </a:p>
                  </a:txBody>
                  <a:tcPr marL="68600" marR="68600" marT="34300" marB="34300">
                    <a:lnR w="12700" cap="flat" cmpd="sng">
                      <a:solidFill>
                        <a:schemeClr val="dk1"/>
                      </a:solidFill>
                      <a:prstDash val="solid"/>
                      <a:round/>
                      <a:headEnd type="none" w="sm" len="sm"/>
                      <a:tailEnd type="none" w="sm" len="sm"/>
                    </a:lnR>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2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B w="9525" cap="flat" cmpd="sng">
                      <a:solidFill>
                        <a:schemeClr val="accent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B w="9525" cap="flat" cmpd="sng">
                      <a:solidFill>
                        <a:srgbClr val="000000">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500"/>
                        <a:t>thread2</a:t>
                      </a:r>
                      <a:endParaRPr sz="1100"/>
                    </a:p>
                  </a:txBody>
                  <a:tcPr marL="68600" marR="68600" marT="34300" marB="34300">
                    <a:lnR w="12700" cap="flat" cmpd="sng">
                      <a:solidFill>
                        <a:schemeClr val="accen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accent1"/>
                        </a:solidFill>
                      </a:endParaRPr>
                    </a:p>
                  </a:txBody>
                  <a:tcPr marL="68600" marR="68600" marT="34300" marB="34300">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accent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500"/>
                        <a:t>thread3</a:t>
                      </a:r>
                      <a:endParaRPr sz="1100"/>
                    </a:p>
                  </a:txBody>
                  <a:tcPr marL="68600" marR="68600" marT="34300" marB="34300">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accent1"/>
                      </a:solidFill>
                      <a:prstDash val="solid"/>
                      <a:round/>
                      <a:headEnd type="none" w="sm" len="sm"/>
                      <a:tailEnd type="none" w="sm" len="sm"/>
                    </a:lnT>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solidFill>
                      <a:schemeClr val="lt1"/>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solidFill>
                      <a:schemeClr val="lt1"/>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solidFill>
                      <a:schemeClr val="lt1"/>
                    </a:solidFill>
                  </a:tcPr>
                </a:tc>
                <a:tc>
                  <a:txBody>
                    <a:bodyPr/>
                    <a:lstStyle/>
                    <a:p>
                      <a:pPr marL="0" marR="0" lvl="0" indent="0" algn="l" rtl="0">
                        <a:spcBef>
                          <a:spcPts val="0"/>
                        </a:spcBef>
                        <a:spcAft>
                          <a:spcPts val="0"/>
                        </a:spcAft>
                        <a:buNone/>
                      </a:pPr>
                      <a:endParaRPr sz="1800"/>
                    </a:p>
                  </a:txBody>
                  <a:tcPr marL="68600" marR="6860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solidFill>
                      <a:schemeClr val="lt1"/>
                    </a:solidFill>
                  </a:tcPr>
                </a:tc>
                <a:extLst>
                  <a:ext uri="{0D108BD9-81ED-4DB2-BD59-A6C34878D82A}">
                    <a16:rowId xmlns:a16="http://schemas.microsoft.com/office/drawing/2014/main" val="10002"/>
                  </a:ext>
                </a:extLst>
              </a:tr>
            </a:tbl>
          </a:graphicData>
        </a:graphic>
      </p:graphicFrame>
      <p:sp>
        <p:nvSpPr>
          <p:cNvPr id="893" name="Google Shape;893;p75"/>
          <p:cNvSpPr/>
          <p:nvPr/>
        </p:nvSpPr>
        <p:spPr>
          <a:xfrm>
            <a:off x="549650" y="4407086"/>
            <a:ext cx="942600" cy="276900"/>
          </a:xfrm>
          <a:prstGeom prst="rect">
            <a:avLst/>
          </a:prstGeom>
          <a:solidFill>
            <a:srgbClr val="FFF2CC"/>
          </a:solidFill>
          <a:ln w="28575"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100">
                <a:latin typeface="Arial"/>
                <a:ea typeface="Arial"/>
                <a:cs typeface="Arial"/>
                <a:sym typeface="Arial"/>
              </a:rPr>
              <a:t>500 µs slice</a:t>
            </a:r>
            <a:endParaRPr sz="800"/>
          </a:p>
        </p:txBody>
      </p:sp>
      <p:sp>
        <p:nvSpPr>
          <p:cNvPr id="894" name="Google Shape;894;p75"/>
          <p:cNvSpPr/>
          <p:nvPr/>
        </p:nvSpPr>
        <p:spPr>
          <a:xfrm>
            <a:off x="2822204" y="3973789"/>
            <a:ext cx="872400" cy="349800"/>
          </a:xfrm>
          <a:prstGeom prst="rect">
            <a:avLst/>
          </a:prstGeom>
          <a:solidFill>
            <a:srgbClr val="4A86E8"/>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95" name="Google Shape;895;p75"/>
          <p:cNvSpPr/>
          <p:nvPr/>
        </p:nvSpPr>
        <p:spPr>
          <a:xfrm>
            <a:off x="2393775" y="3291400"/>
            <a:ext cx="421800" cy="349800"/>
          </a:xfrm>
          <a:prstGeom prst="rect">
            <a:avLst/>
          </a:prstGeom>
          <a:solidFill>
            <a:srgbClr val="4A86E8"/>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96" name="Google Shape;896;p75"/>
          <p:cNvSpPr/>
          <p:nvPr/>
        </p:nvSpPr>
        <p:spPr>
          <a:xfrm>
            <a:off x="6334486" y="3973789"/>
            <a:ext cx="872400" cy="349800"/>
          </a:xfrm>
          <a:prstGeom prst="rect">
            <a:avLst/>
          </a:prstGeom>
          <a:solidFill>
            <a:srgbClr val="4A86E8"/>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97" name="Google Shape;897;p75"/>
          <p:cNvSpPr/>
          <p:nvPr/>
        </p:nvSpPr>
        <p:spPr>
          <a:xfrm>
            <a:off x="3699961" y="3629251"/>
            <a:ext cx="872400" cy="349800"/>
          </a:xfrm>
          <a:prstGeom prst="rect">
            <a:avLst/>
          </a:prstGeom>
          <a:solidFill>
            <a:srgbClr val="4A86E8"/>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98" name="Google Shape;898;p75"/>
          <p:cNvSpPr/>
          <p:nvPr/>
        </p:nvSpPr>
        <p:spPr>
          <a:xfrm>
            <a:off x="4578387" y="3973789"/>
            <a:ext cx="872400" cy="349800"/>
          </a:xfrm>
          <a:prstGeom prst="rect">
            <a:avLst/>
          </a:prstGeom>
          <a:solidFill>
            <a:srgbClr val="4A86E8"/>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99" name="Google Shape;899;p75"/>
          <p:cNvSpPr/>
          <p:nvPr/>
        </p:nvSpPr>
        <p:spPr>
          <a:xfrm>
            <a:off x="5460851" y="3632721"/>
            <a:ext cx="872400" cy="349800"/>
          </a:xfrm>
          <a:prstGeom prst="rect">
            <a:avLst/>
          </a:prstGeom>
          <a:solidFill>
            <a:srgbClr val="4A86E8"/>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900" name="Google Shape;900;p75"/>
          <p:cNvSpPr/>
          <p:nvPr/>
        </p:nvSpPr>
        <p:spPr>
          <a:xfrm>
            <a:off x="7209736" y="3273365"/>
            <a:ext cx="872400" cy="349800"/>
          </a:xfrm>
          <a:prstGeom prst="rect">
            <a:avLst/>
          </a:prstGeom>
          <a:solidFill>
            <a:srgbClr val="4A86E8"/>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901" name="Google Shape;901;p75"/>
          <p:cNvSpPr/>
          <p:nvPr/>
        </p:nvSpPr>
        <p:spPr>
          <a:xfrm>
            <a:off x="8090590" y="3629251"/>
            <a:ext cx="872400" cy="349800"/>
          </a:xfrm>
          <a:prstGeom prst="rect">
            <a:avLst/>
          </a:prstGeom>
          <a:solidFill>
            <a:srgbClr val="4A86E8"/>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902" name="Google Shape;902;p75"/>
          <p:cNvSpPr/>
          <p:nvPr/>
        </p:nvSpPr>
        <p:spPr>
          <a:xfrm>
            <a:off x="2203997" y="4407125"/>
            <a:ext cx="1231500" cy="276900"/>
          </a:xfrm>
          <a:prstGeom prst="rect">
            <a:avLst/>
          </a:prstGeom>
          <a:solidFill>
            <a:srgbClr val="FFF2CC"/>
          </a:solidFill>
          <a:ln w="28575"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100"/>
              <a:t>Thread.s</a:t>
            </a:r>
            <a:r>
              <a:rPr lang="en" sz="1100">
                <a:latin typeface="Arial"/>
                <a:ea typeface="Arial"/>
                <a:cs typeface="Arial"/>
                <a:sym typeface="Arial"/>
              </a:rPr>
              <a:t>leep (1)</a:t>
            </a:r>
            <a:endParaRPr sz="800"/>
          </a:p>
        </p:txBody>
      </p:sp>
      <p:sp>
        <p:nvSpPr>
          <p:cNvPr id="903" name="Google Shape;903;p75"/>
          <p:cNvSpPr/>
          <p:nvPr/>
        </p:nvSpPr>
        <p:spPr>
          <a:xfrm>
            <a:off x="4112111" y="4407086"/>
            <a:ext cx="942600" cy="276900"/>
          </a:xfrm>
          <a:prstGeom prst="rect">
            <a:avLst/>
          </a:prstGeom>
          <a:solidFill>
            <a:srgbClr val="FFF2CC"/>
          </a:solidFill>
          <a:ln w="28575"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100">
                <a:latin typeface="Arial"/>
                <a:ea typeface="Arial"/>
                <a:cs typeface="Arial"/>
                <a:sym typeface="Arial"/>
              </a:rPr>
              <a:t>Sleep Over</a:t>
            </a:r>
            <a:endParaRPr sz="800"/>
          </a:p>
        </p:txBody>
      </p:sp>
      <p:cxnSp>
        <p:nvCxnSpPr>
          <p:cNvPr id="904" name="Google Shape;904;p75"/>
          <p:cNvCxnSpPr>
            <a:stCxn id="902" idx="0"/>
          </p:cNvCxnSpPr>
          <p:nvPr/>
        </p:nvCxnSpPr>
        <p:spPr>
          <a:xfrm rot="10800000" flipH="1">
            <a:off x="2819747" y="3256625"/>
            <a:ext cx="12600" cy="1150500"/>
          </a:xfrm>
          <a:prstGeom prst="straightConnector1">
            <a:avLst/>
          </a:prstGeom>
          <a:noFill/>
          <a:ln w="28575" cap="flat" cmpd="sng">
            <a:solidFill>
              <a:srgbClr val="FF0000"/>
            </a:solidFill>
            <a:prstDash val="dash"/>
            <a:miter lim="800000"/>
            <a:headEnd type="none" w="sm" len="sm"/>
            <a:tailEnd type="none" w="sm" len="sm"/>
          </a:ln>
        </p:spPr>
      </p:cxnSp>
      <p:cxnSp>
        <p:nvCxnSpPr>
          <p:cNvPr id="905" name="Google Shape;905;p75"/>
          <p:cNvCxnSpPr/>
          <p:nvPr/>
        </p:nvCxnSpPr>
        <p:spPr>
          <a:xfrm rot="10800000" flipH="1">
            <a:off x="4568309" y="3294398"/>
            <a:ext cx="15000" cy="1095600"/>
          </a:xfrm>
          <a:prstGeom prst="straightConnector1">
            <a:avLst/>
          </a:prstGeom>
          <a:noFill/>
          <a:ln w="28575" cap="flat" cmpd="sng">
            <a:solidFill>
              <a:srgbClr val="FF0000"/>
            </a:solidFill>
            <a:prstDash val="dash"/>
            <a:miter lim="800000"/>
            <a:headEnd type="none" w="sm" len="sm"/>
            <a:tailEnd type="none" w="sm" len="sm"/>
          </a:ln>
        </p:spPr>
      </p:cxnSp>
      <p:sp>
        <p:nvSpPr>
          <p:cNvPr id="906" name="Google Shape;906;p75"/>
          <p:cNvSpPr/>
          <p:nvPr/>
        </p:nvSpPr>
        <p:spPr>
          <a:xfrm>
            <a:off x="6363807" y="4420138"/>
            <a:ext cx="1737600" cy="276900"/>
          </a:xfrm>
          <a:prstGeom prst="rect">
            <a:avLst/>
          </a:prstGeom>
          <a:solidFill>
            <a:srgbClr val="FFF2CC"/>
          </a:solidFill>
          <a:ln w="28575"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100">
                <a:latin typeface="Arial"/>
                <a:ea typeface="Arial"/>
                <a:cs typeface="Arial"/>
                <a:sym typeface="Arial"/>
              </a:rPr>
              <a:t>Scheduler Assigns Slice</a:t>
            </a:r>
            <a:endParaRPr sz="800"/>
          </a:p>
        </p:txBody>
      </p:sp>
      <p:cxnSp>
        <p:nvCxnSpPr>
          <p:cNvPr id="907" name="Google Shape;907;p75"/>
          <p:cNvCxnSpPr/>
          <p:nvPr/>
        </p:nvCxnSpPr>
        <p:spPr>
          <a:xfrm rot="10800000" flipH="1">
            <a:off x="7204885" y="3313419"/>
            <a:ext cx="15000" cy="1095600"/>
          </a:xfrm>
          <a:prstGeom prst="straightConnector1">
            <a:avLst/>
          </a:prstGeom>
          <a:noFill/>
          <a:ln w="28575" cap="flat" cmpd="sng">
            <a:solidFill>
              <a:srgbClr val="FF0000"/>
            </a:solidFill>
            <a:prstDash val="dash"/>
            <a:miter lim="800000"/>
            <a:headEnd type="none" w="sm" len="sm"/>
            <a:tailEnd type="none" w="sm" len="sm"/>
          </a:ln>
        </p:spPr>
      </p:cxnSp>
      <p:sp>
        <p:nvSpPr>
          <p:cNvPr id="908" name="Google Shape;908;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animEffect transition="in" filter="fade">
                                      <p:cBhvr>
                                        <p:cTn id="7" dur="1000"/>
                                        <p:tgtEl>
                                          <p:spTgt spid="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91">
                                            <p:txEl>
                                              <p:pRg st="1" end="1"/>
                                            </p:txEl>
                                          </p:spTgt>
                                        </p:tgtEl>
                                        <p:attrNameLst>
                                          <p:attrName>style.visibility</p:attrName>
                                        </p:attrNameLst>
                                      </p:cBhvr>
                                      <p:to>
                                        <p:strVal val="visible"/>
                                      </p:to>
                                    </p:set>
                                    <p:animEffect transition="in" filter="fade">
                                      <p:cBhvr>
                                        <p:cTn id="12" dur="1000"/>
                                        <p:tgtEl>
                                          <p:spTgt spid="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91">
                                            <p:txEl>
                                              <p:pRg st="2" end="2"/>
                                            </p:txEl>
                                          </p:spTgt>
                                        </p:tgtEl>
                                        <p:attrNameLst>
                                          <p:attrName>style.visibility</p:attrName>
                                        </p:attrNameLst>
                                      </p:cBhvr>
                                      <p:to>
                                        <p:strVal val="visible"/>
                                      </p:to>
                                    </p:set>
                                    <p:animEffect transition="in" filter="fade">
                                      <p:cBhvr>
                                        <p:cTn id="17" dur="1000"/>
                                        <p:tgtEl>
                                          <p:spTgt spid="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91">
                                            <p:txEl>
                                              <p:pRg st="3" end="3"/>
                                            </p:txEl>
                                          </p:spTgt>
                                        </p:tgtEl>
                                        <p:attrNameLst>
                                          <p:attrName>style.visibility</p:attrName>
                                        </p:attrNameLst>
                                      </p:cBhvr>
                                      <p:to>
                                        <p:strVal val="visible"/>
                                      </p:to>
                                    </p:set>
                                    <p:animEffect transition="in" filter="fade">
                                      <p:cBhvr>
                                        <p:cTn id="22" dur="1000"/>
                                        <p:tgtEl>
                                          <p:spTgt spid="8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91">
                                            <p:txEl>
                                              <p:pRg st="4" end="4"/>
                                            </p:txEl>
                                          </p:spTgt>
                                        </p:tgtEl>
                                        <p:attrNameLst>
                                          <p:attrName>style.visibility</p:attrName>
                                        </p:attrNameLst>
                                      </p:cBhvr>
                                      <p:to>
                                        <p:strVal val="visible"/>
                                      </p:to>
                                    </p:set>
                                    <p:animEffect transition="in" filter="fade">
                                      <p:cBhvr>
                                        <p:cTn id="27" dur="1000"/>
                                        <p:tgtEl>
                                          <p:spTgt spid="8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91">
                                            <p:txEl>
                                              <p:pRg st="5" end="5"/>
                                            </p:txEl>
                                          </p:spTgt>
                                        </p:tgtEl>
                                        <p:attrNameLst>
                                          <p:attrName>style.visibility</p:attrName>
                                        </p:attrNameLst>
                                      </p:cBhvr>
                                      <p:to>
                                        <p:strVal val="visible"/>
                                      </p:to>
                                    </p:set>
                                    <p:animEffect transition="in" filter="fade">
                                      <p:cBhvr>
                                        <p:cTn id="32" dur="1000"/>
                                        <p:tgtEl>
                                          <p:spTgt spid="8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93"/>
                                        </p:tgtEl>
                                        <p:attrNameLst>
                                          <p:attrName>style.visibility</p:attrName>
                                        </p:attrNameLst>
                                      </p:cBhvr>
                                      <p:to>
                                        <p:strVal val="visible"/>
                                      </p:to>
                                    </p:set>
                                    <p:animEffect transition="in" filter="fade">
                                      <p:cBhvr>
                                        <p:cTn id="37" dur="1000"/>
                                        <p:tgtEl>
                                          <p:spTgt spid="89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02"/>
                                        </p:tgtEl>
                                        <p:attrNameLst>
                                          <p:attrName>style.visibility</p:attrName>
                                        </p:attrNameLst>
                                      </p:cBhvr>
                                      <p:to>
                                        <p:strVal val="visible"/>
                                      </p:to>
                                    </p:set>
                                    <p:animEffect transition="in" filter="fade">
                                      <p:cBhvr>
                                        <p:cTn id="42" dur="1000"/>
                                        <p:tgtEl>
                                          <p:spTgt spid="902"/>
                                        </p:tgtEl>
                                      </p:cBhvr>
                                    </p:animEffect>
                                  </p:childTnLst>
                                </p:cTn>
                              </p:par>
                              <p:par>
                                <p:cTn id="43" presetID="10" presetClass="entr" presetSubtype="0" fill="hold" nodeType="withEffect">
                                  <p:stCondLst>
                                    <p:cond delay="0"/>
                                  </p:stCondLst>
                                  <p:childTnLst>
                                    <p:set>
                                      <p:cBhvr>
                                        <p:cTn id="44" dur="1" fill="hold">
                                          <p:stCondLst>
                                            <p:cond delay="0"/>
                                          </p:stCondLst>
                                        </p:cTn>
                                        <p:tgtEl>
                                          <p:spTgt spid="904"/>
                                        </p:tgtEl>
                                        <p:attrNameLst>
                                          <p:attrName>style.visibility</p:attrName>
                                        </p:attrNameLst>
                                      </p:cBhvr>
                                      <p:to>
                                        <p:strVal val="visible"/>
                                      </p:to>
                                    </p:set>
                                    <p:animEffect transition="in" filter="fade">
                                      <p:cBhvr>
                                        <p:cTn id="45" dur="1000"/>
                                        <p:tgtEl>
                                          <p:spTgt spid="90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03"/>
                                        </p:tgtEl>
                                        <p:attrNameLst>
                                          <p:attrName>style.visibility</p:attrName>
                                        </p:attrNameLst>
                                      </p:cBhvr>
                                      <p:to>
                                        <p:strVal val="visible"/>
                                      </p:to>
                                    </p:set>
                                    <p:animEffect transition="in" filter="fade">
                                      <p:cBhvr>
                                        <p:cTn id="50" dur="1000"/>
                                        <p:tgtEl>
                                          <p:spTgt spid="903"/>
                                        </p:tgtEl>
                                      </p:cBhvr>
                                    </p:animEffect>
                                  </p:childTnLst>
                                </p:cTn>
                              </p:par>
                              <p:par>
                                <p:cTn id="51" presetID="10" presetClass="entr" presetSubtype="0" fill="hold" nodeType="withEffect">
                                  <p:stCondLst>
                                    <p:cond delay="0"/>
                                  </p:stCondLst>
                                  <p:childTnLst>
                                    <p:set>
                                      <p:cBhvr>
                                        <p:cTn id="52" dur="1" fill="hold">
                                          <p:stCondLst>
                                            <p:cond delay="0"/>
                                          </p:stCondLst>
                                        </p:cTn>
                                        <p:tgtEl>
                                          <p:spTgt spid="905"/>
                                        </p:tgtEl>
                                        <p:attrNameLst>
                                          <p:attrName>style.visibility</p:attrName>
                                        </p:attrNameLst>
                                      </p:cBhvr>
                                      <p:to>
                                        <p:strVal val="visible"/>
                                      </p:to>
                                    </p:set>
                                    <p:animEffect transition="in" filter="fade">
                                      <p:cBhvr>
                                        <p:cTn id="53" dur="1000"/>
                                        <p:tgtEl>
                                          <p:spTgt spid="90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906"/>
                                        </p:tgtEl>
                                        <p:attrNameLst>
                                          <p:attrName>style.visibility</p:attrName>
                                        </p:attrNameLst>
                                      </p:cBhvr>
                                      <p:to>
                                        <p:strVal val="visible"/>
                                      </p:to>
                                    </p:set>
                                    <p:animEffect transition="in" filter="fade">
                                      <p:cBhvr>
                                        <p:cTn id="58" dur="1000"/>
                                        <p:tgtEl>
                                          <p:spTgt spid="906"/>
                                        </p:tgtEl>
                                      </p:cBhvr>
                                    </p:animEffect>
                                  </p:childTnLst>
                                </p:cTn>
                              </p:par>
                              <p:par>
                                <p:cTn id="59" presetID="10" presetClass="entr" presetSubtype="0" fill="hold" nodeType="withEffect">
                                  <p:stCondLst>
                                    <p:cond delay="0"/>
                                  </p:stCondLst>
                                  <p:childTnLst>
                                    <p:set>
                                      <p:cBhvr>
                                        <p:cTn id="60" dur="1" fill="hold">
                                          <p:stCondLst>
                                            <p:cond delay="0"/>
                                          </p:stCondLst>
                                        </p:cTn>
                                        <p:tgtEl>
                                          <p:spTgt spid="907"/>
                                        </p:tgtEl>
                                        <p:attrNameLst>
                                          <p:attrName>style.visibility</p:attrName>
                                        </p:attrNameLst>
                                      </p:cBhvr>
                                      <p:to>
                                        <p:strVal val="visible"/>
                                      </p:to>
                                    </p:set>
                                    <p:animEffect transition="in" filter="fade">
                                      <p:cBhvr>
                                        <p:cTn id="61" dur="1000"/>
                                        <p:tgtEl>
                                          <p:spTgt spid="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76"/>
          <p:cNvSpPr txBox="1">
            <a:spLocks noGrp="1"/>
          </p:cNvSpPr>
          <p:nvPr>
            <p:ph type="title"/>
          </p:nvPr>
        </p:nvSpPr>
        <p:spPr>
          <a:xfrm>
            <a:off x="1436850" y="100"/>
            <a:ext cx="7642500" cy="5967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0"/>
              </a:spcBef>
              <a:spcAft>
                <a:spcPts val="0"/>
              </a:spcAft>
              <a:buClr>
                <a:schemeClr val="dk2"/>
              </a:buClr>
              <a:buSzPts val="3300"/>
              <a:buFont typeface="Calibri"/>
              <a:buNone/>
            </a:pPr>
            <a:r>
              <a:rPr lang="en"/>
              <a:t>Using Sleep to Simulate Time Passing</a:t>
            </a:r>
            <a:endParaRPr/>
          </a:p>
        </p:txBody>
      </p:sp>
      <p:sp>
        <p:nvSpPr>
          <p:cNvPr id="914" name="Google Shape;914;p76"/>
          <p:cNvSpPr txBox="1">
            <a:spLocks noGrp="1"/>
          </p:cNvSpPr>
          <p:nvPr>
            <p:ph type="body" idx="1"/>
          </p:nvPr>
        </p:nvSpPr>
        <p:spPr>
          <a:xfrm>
            <a:off x="65250" y="731625"/>
            <a:ext cx="8955900" cy="734100"/>
          </a:xfrm>
          <a:prstGeom prst="rect">
            <a:avLst/>
          </a:prstGeom>
          <a:noFill/>
          <a:ln>
            <a:noFill/>
          </a:ln>
        </p:spPr>
        <p:txBody>
          <a:bodyPr spcFirstLastPara="1" wrap="square" lIns="68575" tIns="34275" rIns="68575" bIns="34275" anchor="t" anchorCtr="0">
            <a:spAutoFit/>
          </a:bodyPr>
          <a:lstStyle/>
          <a:p>
            <a:pPr marL="0" lvl="0" indent="0" algn="l" rtl="0">
              <a:lnSpc>
                <a:spcPct val="90000"/>
              </a:lnSpc>
              <a:spcBef>
                <a:spcPts val="0"/>
              </a:spcBef>
              <a:spcAft>
                <a:spcPts val="1600"/>
              </a:spcAft>
              <a:buClr>
                <a:schemeClr val="dk1"/>
              </a:buClr>
              <a:buSzPts val="1800"/>
              <a:buNone/>
            </a:pPr>
            <a:r>
              <a:rPr lang="en"/>
              <a:t>Currently, if you ran the racers and viewed their finish times with debugging off, you'd notice they had incredibly small race time. (10</a:t>
            </a:r>
            <a:r>
              <a:rPr lang="en" baseline="30000"/>
              <a:t>-7</a:t>
            </a:r>
            <a:r>
              <a:rPr lang="en"/>
              <a:t> or less). Instead of relying solely on the scheduler for determining who wins let's add some small amount of variable time to each lap.</a:t>
            </a:r>
            <a:endParaRPr/>
          </a:p>
        </p:txBody>
      </p:sp>
      <p:sp>
        <p:nvSpPr>
          <p:cNvPr id="915" name="Google Shape;915;p76"/>
          <p:cNvSpPr txBox="1">
            <a:spLocks noGrp="1"/>
          </p:cNvSpPr>
          <p:nvPr>
            <p:ph type="body" idx="2"/>
          </p:nvPr>
        </p:nvSpPr>
        <p:spPr>
          <a:xfrm>
            <a:off x="3477200" y="1600550"/>
            <a:ext cx="5456400" cy="3050400"/>
          </a:xfrm>
          <a:prstGeom prst="rect">
            <a:avLst/>
          </a:prstGeom>
          <a:noFill/>
          <a:ln>
            <a:noFill/>
          </a:ln>
        </p:spPr>
        <p:txBody>
          <a:bodyPr spcFirstLastPara="1" wrap="square" lIns="68575" tIns="34275" rIns="68575" bIns="34275" anchor="t" anchorCtr="0">
            <a:noAutofit/>
          </a:bodyPr>
          <a:lstStyle/>
          <a:p>
            <a:pPr marL="457200" lvl="0" indent="-317500" algn="l" rtl="0">
              <a:lnSpc>
                <a:spcPct val="115000"/>
              </a:lnSpc>
              <a:spcBef>
                <a:spcPts val="0"/>
              </a:spcBef>
              <a:spcAft>
                <a:spcPts val="0"/>
              </a:spcAft>
              <a:buSzPts val="1400"/>
              <a:buChar char="●"/>
            </a:pPr>
            <a:r>
              <a:rPr lang="en" sz="1400"/>
              <a:t>Inside Racer  add a Sleep at the start of each lap.</a:t>
            </a:r>
            <a:endParaRPr sz="1400"/>
          </a:p>
          <a:p>
            <a:pPr marL="914400" lvl="1" indent="-304800" algn="l" rtl="0">
              <a:lnSpc>
                <a:spcPct val="115000"/>
              </a:lnSpc>
              <a:spcBef>
                <a:spcPts val="0"/>
              </a:spcBef>
              <a:spcAft>
                <a:spcPts val="0"/>
              </a:spcAft>
              <a:buSzPts val="1200"/>
              <a:buChar char="○"/>
            </a:pPr>
            <a:r>
              <a:rPr lang="en" sz="1200"/>
              <a:t>Sleep a random time between 20 and 100 milliseconds.</a:t>
            </a:r>
            <a:endParaRPr sz="1200"/>
          </a:p>
          <a:p>
            <a:pPr marL="914400" lvl="1" indent="-304800" algn="l" rtl="0">
              <a:lnSpc>
                <a:spcPct val="115000"/>
              </a:lnSpc>
              <a:spcBef>
                <a:spcPts val="0"/>
              </a:spcBef>
              <a:spcAft>
                <a:spcPts val="0"/>
              </a:spcAft>
              <a:buSzPts val="1200"/>
              <a:buChar char="○"/>
            </a:pPr>
            <a:r>
              <a:rPr lang="en" sz="1200"/>
              <a:t>Longer sleep times would result in large races taking forever to finish.</a:t>
            </a:r>
            <a:endParaRPr sz="1200"/>
          </a:p>
          <a:p>
            <a:pPr marL="457200" lvl="0" indent="-317500" algn="l" rtl="0">
              <a:lnSpc>
                <a:spcPct val="115000"/>
              </a:lnSpc>
              <a:spcBef>
                <a:spcPts val="1000"/>
              </a:spcBef>
              <a:spcAft>
                <a:spcPts val="0"/>
              </a:spcAft>
              <a:buSzPts val="1400"/>
              <a:buChar char="●"/>
            </a:pPr>
            <a:r>
              <a:rPr lang="en" sz="1400"/>
              <a:t>Run your race again with 10 racers, 10 laps, and debug enabled. </a:t>
            </a:r>
            <a:endParaRPr sz="1400"/>
          </a:p>
          <a:p>
            <a:pPr marL="914400" lvl="1" indent="-304800" algn="l" rtl="0">
              <a:lnSpc>
                <a:spcPct val="115000"/>
              </a:lnSpc>
              <a:spcBef>
                <a:spcPts val="0"/>
              </a:spcBef>
              <a:spcAft>
                <a:spcPts val="0"/>
              </a:spcAft>
              <a:buSzPts val="1200"/>
              <a:buChar char="○"/>
            </a:pPr>
            <a:r>
              <a:rPr lang="en" sz="1200"/>
              <a:t>You should see very few instances of racers completing multiple laps before another racer does.</a:t>
            </a:r>
            <a:endParaRPr sz="1200"/>
          </a:p>
          <a:p>
            <a:pPr marL="914400" lvl="1" indent="-304800" algn="l" rtl="0">
              <a:lnSpc>
                <a:spcPct val="115000"/>
              </a:lnSpc>
              <a:spcBef>
                <a:spcPts val="0"/>
              </a:spcBef>
              <a:spcAft>
                <a:spcPts val="0"/>
              </a:spcAft>
              <a:buSzPts val="1200"/>
              <a:buChar char="○"/>
            </a:pPr>
            <a:r>
              <a:rPr lang="en" sz="1200"/>
              <a:t>When you run a lot of racers (1000+) it may seem like we've gone backwards with the later racers finishing last. Try running it a few times to see if that is always the case.</a:t>
            </a:r>
            <a:endParaRPr sz="1200"/>
          </a:p>
        </p:txBody>
      </p:sp>
      <p:sp>
        <p:nvSpPr>
          <p:cNvPr id="916" name="Google Shape;916;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917" name="Google Shape;917;p7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8.15</a:t>
            </a:r>
            <a:endParaRPr/>
          </a:p>
        </p:txBody>
      </p:sp>
      <p:sp>
        <p:nvSpPr>
          <p:cNvPr id="918" name="Google Shape;918;p76"/>
          <p:cNvSpPr txBox="1"/>
          <p:nvPr/>
        </p:nvSpPr>
        <p:spPr>
          <a:xfrm>
            <a:off x="151125" y="1885650"/>
            <a:ext cx="3371400" cy="1372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00">
                <a:solidFill>
                  <a:srgbClr val="0000FF"/>
                </a:solidFill>
                <a:latin typeface="Consolas"/>
                <a:ea typeface="Consolas"/>
                <a:cs typeface="Consolas"/>
                <a:sym typeface="Consolas"/>
              </a:rPr>
              <a:t>try</a:t>
            </a:r>
            <a:r>
              <a:rPr lang="en" sz="1200">
                <a:latin typeface="Consolas"/>
                <a:ea typeface="Consolas"/>
                <a:cs typeface="Consolas"/>
                <a:sym typeface="Consolas"/>
              </a:rPr>
              <a:t> {</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Thread.sleep(</a:t>
            </a:r>
            <a:r>
              <a:rPr lang="en" sz="1200">
                <a:solidFill>
                  <a:srgbClr val="098658"/>
                </a:solidFill>
                <a:latin typeface="Consolas"/>
                <a:ea typeface="Consolas"/>
                <a:cs typeface="Consolas"/>
                <a:sym typeface="Consolas"/>
              </a:rPr>
              <a:t>500</a:t>
            </a:r>
            <a:r>
              <a:rPr lang="en" sz="1200">
                <a:latin typeface="Consolas"/>
                <a:ea typeface="Consolas"/>
                <a:cs typeface="Consolas"/>
                <a:sym typeface="Consolas"/>
              </a:rPr>
              <a:t>);</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catch</a:t>
            </a:r>
            <a:r>
              <a:rPr lang="en" sz="1200">
                <a:latin typeface="Consolas"/>
                <a:ea typeface="Consolas"/>
                <a:cs typeface="Consolas"/>
                <a:sym typeface="Consolas"/>
              </a:rPr>
              <a:t>(</a:t>
            </a:r>
            <a:r>
              <a:rPr lang="en" sz="1200">
                <a:solidFill>
                  <a:srgbClr val="0000FF"/>
                </a:solidFill>
                <a:latin typeface="Consolas"/>
                <a:ea typeface="Consolas"/>
                <a:cs typeface="Consolas"/>
                <a:sym typeface="Consolas"/>
              </a:rPr>
              <a:t>InterruptedException</a:t>
            </a:r>
            <a:r>
              <a:rPr lang="en" sz="1200">
                <a:latin typeface="Consolas"/>
                <a:ea typeface="Consolas"/>
                <a:cs typeface="Consolas"/>
                <a:sym typeface="Consolas"/>
              </a:rPr>
              <a:t> e) {</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   System.out.println(</a:t>
            </a:r>
            <a:r>
              <a:rPr lang="en" sz="1200">
                <a:solidFill>
                  <a:srgbClr val="A31515"/>
                </a:solidFill>
                <a:latin typeface="Consolas"/>
                <a:ea typeface="Consolas"/>
                <a:cs typeface="Consolas"/>
                <a:sym typeface="Consolas"/>
              </a:rPr>
              <a:t>"Interrupted!"</a:t>
            </a:r>
            <a:r>
              <a:rPr lang="en" sz="1200">
                <a:latin typeface="Consolas"/>
                <a:ea typeface="Consolas"/>
                <a:cs typeface="Consolas"/>
                <a:sym typeface="Consolas"/>
              </a:rPr>
              <a:t>);</a:t>
            </a:r>
            <a:endParaRPr sz="1200">
              <a:latin typeface="Consolas"/>
              <a:ea typeface="Consolas"/>
              <a:cs typeface="Consolas"/>
              <a:sym typeface="Consolas"/>
            </a:endParaRPr>
          </a:p>
          <a:p>
            <a:pPr marL="0" lvl="0" indent="0" algn="l" rtl="0">
              <a:lnSpc>
                <a:spcPct val="135714"/>
              </a:lnSpc>
              <a:spcBef>
                <a:spcPts val="0"/>
              </a:spcBef>
              <a:spcAft>
                <a:spcPts val="0"/>
              </a:spcAft>
              <a:buNone/>
            </a:pPr>
            <a:r>
              <a:rPr lang="en" sz="1200">
                <a:latin typeface="Consolas"/>
                <a:ea typeface="Consolas"/>
                <a:cs typeface="Consolas"/>
                <a:sym typeface="Consolas"/>
              </a:rPr>
              <a:t>}</a:t>
            </a:r>
            <a:endParaRPr>
              <a:latin typeface="Roboto"/>
              <a:ea typeface="Roboto"/>
              <a:cs typeface="Roboto"/>
              <a:sym typeface="Roboto"/>
            </a:endParaRPr>
          </a:p>
        </p:txBody>
      </p:sp>
      <p:sp>
        <p:nvSpPr>
          <p:cNvPr id="919" name="Google Shape;919;p76"/>
          <p:cNvSpPr txBox="1">
            <a:spLocks noGrp="1"/>
          </p:cNvSpPr>
          <p:nvPr>
            <p:ph type="body" idx="4"/>
          </p:nvPr>
        </p:nvSpPr>
        <p:spPr>
          <a:xfrm>
            <a:off x="151125" y="3385325"/>
            <a:ext cx="33714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Sleeping is a </a:t>
            </a:r>
            <a:r>
              <a:rPr lang="en" b="1" i="1">
                <a:solidFill>
                  <a:srgbClr val="FF0000"/>
                </a:solidFill>
              </a:rPr>
              <a:t>good</a:t>
            </a:r>
            <a:r>
              <a:rPr lang="en"/>
              <a:t> way to </a:t>
            </a:r>
            <a:r>
              <a:rPr lang="en" b="1" i="1">
                <a:solidFill>
                  <a:srgbClr val="FF0000"/>
                </a:solidFill>
              </a:rPr>
              <a:t>add time</a:t>
            </a:r>
            <a:r>
              <a:rPr lang="en"/>
              <a:t> to a game or simulation to slow it down or </a:t>
            </a:r>
            <a:r>
              <a:rPr lang="en" b="1" i="1">
                <a:solidFill>
                  <a:srgbClr val="FF0000"/>
                </a:solidFill>
              </a:rPr>
              <a:t>simulate work</a:t>
            </a:r>
            <a:r>
              <a:rPr lang="en"/>
              <a:t>.</a:t>
            </a:r>
            <a:endParaRPr/>
          </a:p>
        </p:txBody>
      </p:sp>
      <p:sp>
        <p:nvSpPr>
          <p:cNvPr id="920" name="Google Shape;920;p76"/>
          <p:cNvSpPr txBox="1">
            <a:spLocks noGrp="1"/>
          </p:cNvSpPr>
          <p:nvPr>
            <p:ph type="body" idx="4"/>
          </p:nvPr>
        </p:nvSpPr>
        <p:spPr>
          <a:xfrm>
            <a:off x="151125" y="4066900"/>
            <a:ext cx="33714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Sleep is </a:t>
            </a:r>
            <a:r>
              <a:rPr lang="en" b="1" i="1">
                <a:solidFill>
                  <a:srgbClr val="FF0000"/>
                </a:solidFill>
              </a:rPr>
              <a:t>bad</a:t>
            </a:r>
            <a:r>
              <a:rPr lang="en"/>
              <a:t> for making real time objects like </a:t>
            </a:r>
            <a:r>
              <a:rPr lang="en" b="1" i="1">
                <a:solidFill>
                  <a:srgbClr val="FF0000"/>
                </a:solidFill>
              </a:rPr>
              <a:t>clocks</a:t>
            </a:r>
            <a:r>
              <a:rPr lang="en"/>
              <a:t> and </a:t>
            </a:r>
            <a:r>
              <a:rPr lang="en" b="1" i="1">
                <a:solidFill>
                  <a:srgbClr val="FF0000"/>
                </a:solidFill>
              </a:rPr>
              <a:t>shouldn't</a:t>
            </a:r>
            <a:r>
              <a:rPr lang="en"/>
              <a:t> be used to hide concurrency issues.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77"/>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Our race is shaping up to be quite the adventure. Now we just need a good way to find out the winner. Right now the only way to do that is by looking for who finished the final lap first which is pretty painful for 1M racers. Instead, let's keep track of all the racer finish times.</a:t>
            </a:r>
            <a:endParaRPr/>
          </a:p>
        </p:txBody>
      </p:sp>
      <p:sp>
        <p:nvSpPr>
          <p:cNvPr id="926" name="Google Shape;926;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927" name="Google Shape;927;p77"/>
          <p:cNvSpPr txBox="1">
            <a:spLocks noGrp="1"/>
          </p:cNvSpPr>
          <p:nvPr>
            <p:ph type="body" idx="2"/>
          </p:nvPr>
        </p:nvSpPr>
        <p:spPr>
          <a:xfrm>
            <a:off x="3165300" y="2013125"/>
            <a:ext cx="5775900" cy="2942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In </a:t>
            </a:r>
            <a:r>
              <a:rPr lang="en">
                <a:latin typeface="Courier New"/>
                <a:ea typeface="Courier New"/>
                <a:cs typeface="Courier New"/>
                <a:sym typeface="Courier New"/>
              </a:rPr>
              <a:t>LotsORacers</a:t>
            </a:r>
            <a:r>
              <a:rPr lang="en"/>
              <a:t>, create a </a:t>
            </a:r>
            <a:r>
              <a:rPr lang="en">
                <a:latin typeface="Courier New"/>
                <a:ea typeface="Courier New"/>
                <a:cs typeface="Courier New"/>
                <a:sym typeface="Courier New"/>
              </a:rPr>
              <a:t>List</a:t>
            </a:r>
            <a:r>
              <a:rPr lang="en"/>
              <a:t> of </a:t>
            </a:r>
            <a:r>
              <a:rPr lang="en">
                <a:latin typeface="Courier New"/>
                <a:ea typeface="Courier New"/>
                <a:cs typeface="Courier New"/>
                <a:sym typeface="Courier New"/>
              </a:rPr>
              <a:t>Racers</a:t>
            </a:r>
            <a:r>
              <a:rPr lang="en"/>
              <a:t> to hold the racers.</a:t>
            </a:r>
            <a:endParaRPr/>
          </a:p>
          <a:p>
            <a:pPr marL="457200" lvl="0" indent="-311150" algn="l" rtl="0">
              <a:spcBef>
                <a:spcPts val="0"/>
              </a:spcBef>
              <a:spcAft>
                <a:spcPts val="0"/>
              </a:spcAft>
              <a:buSzPts val="1300"/>
              <a:buChar char="●"/>
            </a:pPr>
            <a:r>
              <a:rPr lang="en"/>
              <a:t>As each racer reaches the finish line, add them to the list of racers.</a:t>
            </a:r>
            <a:endParaRPr/>
          </a:p>
          <a:p>
            <a:pPr marL="914400" lvl="1" indent="-298450" algn="l" rtl="0">
              <a:spcBef>
                <a:spcPts val="0"/>
              </a:spcBef>
              <a:spcAft>
                <a:spcPts val="0"/>
              </a:spcAft>
              <a:buSzPts val="1100"/>
              <a:buChar char="○"/>
            </a:pPr>
            <a:r>
              <a:rPr lang="en"/>
              <a:t>Like the latch, you'll need to </a:t>
            </a:r>
            <a:r>
              <a:rPr lang="en" b="1" i="1">
                <a:solidFill>
                  <a:srgbClr val="FF0000"/>
                </a:solidFill>
              </a:rPr>
              <a:t>pass</a:t>
            </a:r>
            <a:r>
              <a:rPr lang="en"/>
              <a:t> the list to the racer or use a </a:t>
            </a:r>
            <a:r>
              <a:rPr lang="en" b="1" i="1">
                <a:solidFill>
                  <a:srgbClr val="FF0000"/>
                </a:solidFill>
              </a:rPr>
              <a:t>lambda</a:t>
            </a:r>
            <a:endParaRPr b="1" i="1">
              <a:solidFill>
                <a:srgbClr val="FF0000"/>
              </a:solidFill>
            </a:endParaRPr>
          </a:p>
          <a:p>
            <a:pPr marL="457200" lvl="0" indent="-311150" algn="l" rtl="0">
              <a:spcBef>
                <a:spcPts val="0"/>
              </a:spcBef>
              <a:spcAft>
                <a:spcPts val="0"/>
              </a:spcAft>
              <a:buSzPts val="1300"/>
              <a:buChar char="●"/>
            </a:pPr>
            <a:r>
              <a:rPr lang="en"/>
              <a:t>Once the race is over, print out the </a:t>
            </a:r>
            <a:r>
              <a:rPr lang="en" b="1" i="1">
                <a:solidFill>
                  <a:srgbClr val="FF0000"/>
                </a:solidFill>
              </a:rPr>
              <a:t>finish time</a:t>
            </a:r>
            <a:r>
              <a:rPr lang="en"/>
              <a:t> for each racer.</a:t>
            </a:r>
            <a:endParaRPr/>
          </a:p>
          <a:p>
            <a:pPr marL="914400" lvl="1" indent="-298450" algn="l" rtl="0">
              <a:spcBef>
                <a:spcPts val="0"/>
              </a:spcBef>
              <a:spcAft>
                <a:spcPts val="0"/>
              </a:spcAft>
              <a:buSzPts val="1100"/>
              <a:buChar char="○"/>
            </a:pPr>
            <a:r>
              <a:rPr lang="en"/>
              <a:t>Example: </a:t>
            </a:r>
            <a:r>
              <a:rPr lang="en">
                <a:latin typeface="Courier New"/>
                <a:ea typeface="Courier New"/>
                <a:cs typeface="Courier New"/>
                <a:sym typeface="Courier New"/>
              </a:rPr>
              <a:t>Racer 8 finished in 0.4539599 seconds</a:t>
            </a:r>
            <a:endParaRPr>
              <a:latin typeface="Courier New"/>
              <a:ea typeface="Courier New"/>
              <a:cs typeface="Courier New"/>
              <a:sym typeface="Courier New"/>
            </a:endParaRPr>
          </a:p>
          <a:p>
            <a:pPr marL="457200" lvl="0" indent="-311150" algn="l" rtl="0">
              <a:spcBef>
                <a:spcPts val="0"/>
              </a:spcBef>
              <a:spcAft>
                <a:spcPts val="0"/>
              </a:spcAft>
              <a:buSzPts val="1300"/>
              <a:buChar char="●"/>
            </a:pPr>
            <a:r>
              <a:rPr lang="en"/>
              <a:t>Run the race with debug turned off (</a:t>
            </a:r>
            <a:r>
              <a:rPr lang="en">
                <a:latin typeface="Courier New"/>
                <a:ea typeface="Courier New"/>
                <a:cs typeface="Courier New"/>
                <a:sym typeface="Courier New"/>
              </a:rPr>
              <a:t>false</a:t>
            </a:r>
            <a:r>
              <a:rPr lang="en"/>
              <a:t>) and look at the finishing times. (</a:t>
            </a:r>
            <a:r>
              <a:rPr lang="en" i="1"/>
              <a:t>For large races you may want to redirect the output to a file</a:t>
            </a:r>
            <a:r>
              <a:rPr lang="en"/>
              <a:t>)</a:t>
            </a:r>
            <a:endParaRPr/>
          </a:p>
          <a:p>
            <a:pPr marL="457200" lvl="0" indent="-311150" algn="l" rtl="0">
              <a:spcBef>
                <a:spcPts val="0"/>
              </a:spcBef>
              <a:spcAft>
                <a:spcPts val="0"/>
              </a:spcAft>
              <a:buSzPts val="1300"/>
              <a:buChar char="●"/>
            </a:pPr>
            <a:r>
              <a:rPr lang="en" b="1" i="1">
                <a:solidFill>
                  <a:srgbClr val="FF0000"/>
                </a:solidFill>
              </a:rPr>
              <a:t>Challenge</a:t>
            </a:r>
            <a:r>
              <a:rPr lang="en"/>
              <a:t>: Print out a special message just for the winner.</a:t>
            </a:r>
            <a:endParaRPr/>
          </a:p>
          <a:p>
            <a:pPr marL="457200" lvl="0" indent="-311150" algn="l" rtl="0">
              <a:spcBef>
                <a:spcPts val="0"/>
              </a:spcBef>
              <a:spcAft>
                <a:spcPts val="0"/>
              </a:spcAft>
              <a:buSzPts val="1300"/>
              <a:buChar char="●"/>
            </a:pPr>
            <a:r>
              <a:rPr lang="en" b="1" i="1">
                <a:solidFill>
                  <a:srgbClr val="FF0000"/>
                </a:solidFill>
              </a:rPr>
              <a:t>Challenge</a:t>
            </a:r>
            <a:r>
              <a:rPr lang="en" b="1" i="1" baseline="30000">
                <a:solidFill>
                  <a:srgbClr val="FF0000"/>
                </a:solidFill>
              </a:rPr>
              <a:t>2</a:t>
            </a:r>
            <a:r>
              <a:rPr lang="en"/>
              <a:t>: Use a CountDownLatch instead of awaitTermination to know when the race is over.</a:t>
            </a:r>
            <a:endParaRPr/>
          </a:p>
          <a:p>
            <a:pPr marL="457200" lvl="0" indent="-311150" algn="l" rtl="0">
              <a:spcBef>
                <a:spcPts val="1000"/>
              </a:spcBef>
              <a:spcAft>
                <a:spcPts val="0"/>
              </a:spcAft>
              <a:buSzPts val="1300"/>
              <a:buChar char="●"/>
            </a:pPr>
            <a:r>
              <a:rPr lang="en"/>
              <a:t>After testing, print out the number of racers in the list of racers.</a:t>
            </a:r>
            <a:endParaRPr/>
          </a:p>
          <a:p>
            <a:pPr marL="914400" lvl="1" indent="-298450" algn="l" rtl="0">
              <a:spcBef>
                <a:spcPts val="0"/>
              </a:spcBef>
              <a:spcAft>
                <a:spcPts val="0"/>
              </a:spcAft>
              <a:buSzPts val="1100"/>
              <a:buChar char="○"/>
            </a:pPr>
            <a:r>
              <a:rPr lang="en"/>
              <a:t>Did everyone finish?</a:t>
            </a:r>
            <a:endParaRPr/>
          </a:p>
        </p:txBody>
      </p:sp>
      <p:sp>
        <p:nvSpPr>
          <p:cNvPr id="928" name="Google Shape;928;p7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And the Winner Is?</a:t>
            </a:r>
            <a:endParaRPr/>
          </a:p>
        </p:txBody>
      </p:sp>
      <p:sp>
        <p:nvSpPr>
          <p:cNvPr id="929" name="Google Shape;929;p7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8.16</a:t>
            </a:r>
            <a:endParaRPr/>
          </a:p>
        </p:txBody>
      </p:sp>
      <p:sp>
        <p:nvSpPr>
          <p:cNvPr id="930" name="Google Shape;930;p77"/>
          <p:cNvSpPr txBox="1">
            <a:spLocks noGrp="1"/>
          </p:cNvSpPr>
          <p:nvPr>
            <p:ph type="body" idx="4"/>
          </p:nvPr>
        </p:nvSpPr>
        <p:spPr>
          <a:xfrm>
            <a:off x="141600" y="41569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While looking at the output, do you notice anything unexpected? Try running the code a few times.</a:t>
            </a:r>
            <a:endParaRPr/>
          </a:p>
        </p:txBody>
      </p:sp>
      <p:pic>
        <p:nvPicPr>
          <p:cNvPr id="931" name="Google Shape;931;p77"/>
          <p:cNvPicPr preferRelativeResize="0"/>
          <p:nvPr/>
        </p:nvPicPr>
        <p:blipFill rotWithShape="1">
          <a:blip r:embed="rId3">
            <a:alphaModFix/>
          </a:blip>
          <a:srcRect r="9281"/>
          <a:stretch/>
        </p:blipFill>
        <p:spPr>
          <a:xfrm>
            <a:off x="141600" y="2193350"/>
            <a:ext cx="3023699" cy="1873369"/>
          </a:xfrm>
          <a:prstGeom prst="rect">
            <a:avLst/>
          </a:prstGeom>
          <a:noFill/>
          <a:ln w="19050" cap="flat" cmpd="sng">
            <a:solidFill>
              <a:schemeClr val="dk1"/>
            </a:solidFill>
            <a:prstDash val="solid"/>
            <a:round/>
            <a:headEnd type="none" w="sm" len="sm"/>
            <a:tailEnd type="none" w="sm" len="sm"/>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78"/>
          <p:cNvSpPr txBox="1">
            <a:spLocks noGrp="1"/>
          </p:cNvSpPr>
          <p:nvPr>
            <p:ph type="title"/>
          </p:nvPr>
        </p:nvSpPr>
        <p:spPr>
          <a:xfrm>
            <a:off x="311725" y="309175"/>
            <a:ext cx="37065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Race Conditions</a:t>
            </a:r>
            <a:endParaRPr/>
          </a:p>
        </p:txBody>
      </p:sp>
      <p:sp>
        <p:nvSpPr>
          <p:cNvPr id="937" name="Google Shape;937;p78"/>
          <p:cNvSpPr txBox="1">
            <a:spLocks noGrp="1"/>
          </p:cNvSpPr>
          <p:nvPr>
            <p:ph type="body" idx="1"/>
          </p:nvPr>
        </p:nvSpPr>
        <p:spPr>
          <a:xfrm>
            <a:off x="4644675" y="500925"/>
            <a:ext cx="4166400" cy="4432200"/>
          </a:xfrm>
          <a:prstGeom prst="rect">
            <a:avLst/>
          </a:prstGeom>
          <a:noFill/>
          <a:ln>
            <a:noFill/>
          </a:ln>
        </p:spPr>
        <p:txBody>
          <a:bodyPr spcFirstLastPara="1" wrap="square" lIns="68575" tIns="34275" rIns="68575" bIns="34275" anchor="t" anchorCtr="0">
            <a:normAutofit fontScale="92500" lnSpcReduction="10000"/>
          </a:bodyPr>
          <a:lstStyle/>
          <a:p>
            <a:pPr marL="457200" lvl="0" indent="-317500" algn="l" rtl="0">
              <a:lnSpc>
                <a:spcPct val="115000"/>
              </a:lnSpc>
              <a:spcBef>
                <a:spcPts val="0"/>
              </a:spcBef>
              <a:spcAft>
                <a:spcPts val="0"/>
              </a:spcAft>
              <a:buSzPts val="1400"/>
              <a:buChar char="●"/>
            </a:pPr>
            <a:r>
              <a:rPr lang="en" sz="1400"/>
              <a:t>What happened when you ran the last activity?</a:t>
            </a:r>
            <a:endParaRPr sz="1400"/>
          </a:p>
          <a:p>
            <a:pPr marL="457200" lvl="0" indent="-317500" algn="l" rtl="0">
              <a:lnSpc>
                <a:spcPct val="115000"/>
              </a:lnSpc>
              <a:spcBef>
                <a:spcPts val="1000"/>
              </a:spcBef>
              <a:spcAft>
                <a:spcPts val="0"/>
              </a:spcAft>
              <a:buSzPts val="1400"/>
              <a:buChar char="●"/>
            </a:pPr>
            <a:r>
              <a:rPr lang="en" sz="1400"/>
              <a:t>Most java statements take </a:t>
            </a:r>
            <a:r>
              <a:rPr lang="en" sz="1400" b="1" i="1">
                <a:solidFill>
                  <a:srgbClr val="FF0000"/>
                </a:solidFill>
              </a:rPr>
              <a:t>multiple </a:t>
            </a:r>
            <a:r>
              <a:rPr lang="en" sz="1400"/>
              <a:t>cpu cycles to execute</a:t>
            </a:r>
            <a:endParaRPr sz="1400"/>
          </a:p>
          <a:p>
            <a:pPr marL="457200" lvl="0" indent="-317500" algn="l" rtl="0">
              <a:lnSpc>
                <a:spcPct val="115000"/>
              </a:lnSpc>
              <a:spcBef>
                <a:spcPts val="1000"/>
              </a:spcBef>
              <a:spcAft>
                <a:spcPts val="0"/>
              </a:spcAft>
              <a:buSzPts val="1400"/>
              <a:buChar char="●"/>
            </a:pPr>
            <a:r>
              <a:rPr lang="en" sz="1400"/>
              <a:t>This can be problematic when multiple threads are using the same </a:t>
            </a:r>
            <a:r>
              <a:rPr lang="en" sz="1400" b="1" i="1">
                <a:solidFill>
                  <a:srgbClr val="FF0000"/>
                </a:solidFill>
              </a:rPr>
              <a:t>shared resource</a:t>
            </a:r>
            <a:endParaRPr sz="1400" b="1" i="1">
              <a:solidFill>
                <a:srgbClr val="FF0000"/>
              </a:solidFill>
            </a:endParaRPr>
          </a:p>
          <a:p>
            <a:pPr marL="457200" lvl="0" indent="-317500" algn="l" rtl="0">
              <a:lnSpc>
                <a:spcPct val="115000"/>
              </a:lnSpc>
              <a:spcBef>
                <a:spcPts val="1000"/>
              </a:spcBef>
              <a:spcAft>
                <a:spcPts val="0"/>
              </a:spcAft>
              <a:buSzPts val="1400"/>
              <a:buChar char="●"/>
            </a:pPr>
            <a:r>
              <a:rPr lang="en" sz="1400"/>
              <a:t>In activity 8.16 the </a:t>
            </a:r>
            <a:r>
              <a:rPr lang="en">
                <a:latin typeface="Courier New"/>
                <a:ea typeface="Courier New"/>
                <a:cs typeface="Courier New"/>
                <a:sym typeface="Courier New"/>
              </a:rPr>
              <a:t>List</a:t>
            </a:r>
            <a:r>
              <a:rPr lang="en"/>
              <a:t> of </a:t>
            </a:r>
            <a:r>
              <a:rPr lang="en">
                <a:latin typeface="Courier New"/>
                <a:ea typeface="Courier New"/>
                <a:cs typeface="Courier New"/>
                <a:sym typeface="Courier New"/>
              </a:rPr>
              <a:t>Racers</a:t>
            </a:r>
            <a:r>
              <a:rPr lang="en" sz="1400"/>
              <a:t> was the shared resource</a:t>
            </a:r>
            <a:endParaRPr sz="1400"/>
          </a:p>
          <a:p>
            <a:pPr marL="457200" lvl="0" indent="-317500" algn="l" rtl="0">
              <a:lnSpc>
                <a:spcPct val="115000"/>
              </a:lnSpc>
              <a:spcBef>
                <a:spcPts val="1000"/>
              </a:spcBef>
              <a:spcAft>
                <a:spcPts val="0"/>
              </a:spcAft>
              <a:buSzPts val="1400"/>
              <a:buChar char="●"/>
            </a:pPr>
            <a:r>
              <a:rPr lang="en" sz="1400"/>
              <a:t>Thus between </a:t>
            </a:r>
            <a:r>
              <a:rPr lang="en" sz="1400" b="1" i="1">
                <a:solidFill>
                  <a:srgbClr val="FF0000"/>
                </a:solidFill>
              </a:rPr>
              <a:t>retrieving</a:t>
            </a:r>
            <a:r>
              <a:rPr lang="en" sz="1400"/>
              <a:t> a value and </a:t>
            </a:r>
            <a:r>
              <a:rPr lang="en" sz="1400" b="1" i="1">
                <a:solidFill>
                  <a:srgbClr val="FF0000"/>
                </a:solidFill>
              </a:rPr>
              <a:t>using</a:t>
            </a:r>
            <a:r>
              <a:rPr lang="en" sz="1400"/>
              <a:t> that value the active thread may change</a:t>
            </a:r>
            <a:endParaRPr sz="1400"/>
          </a:p>
          <a:p>
            <a:pPr marL="914400" lvl="1" indent="-311150" algn="l" rtl="0">
              <a:lnSpc>
                <a:spcPct val="115000"/>
              </a:lnSpc>
              <a:spcBef>
                <a:spcPts val="0"/>
              </a:spcBef>
              <a:spcAft>
                <a:spcPts val="0"/>
              </a:spcAft>
              <a:buSzPts val="1300"/>
              <a:buChar char="○"/>
            </a:pPr>
            <a:r>
              <a:rPr lang="en" sz="1300"/>
              <a:t>This is known as a </a:t>
            </a:r>
            <a:r>
              <a:rPr lang="en" sz="1300" b="1" i="1">
                <a:solidFill>
                  <a:srgbClr val="FF0000"/>
                </a:solidFill>
              </a:rPr>
              <a:t>context switch</a:t>
            </a:r>
            <a:endParaRPr sz="1300" b="1" i="1">
              <a:solidFill>
                <a:srgbClr val="FF0000"/>
              </a:solidFill>
            </a:endParaRPr>
          </a:p>
          <a:p>
            <a:pPr marL="457200" lvl="0" indent="-317500" algn="l" rtl="0">
              <a:lnSpc>
                <a:spcPct val="115000"/>
              </a:lnSpc>
              <a:spcBef>
                <a:spcPts val="1000"/>
              </a:spcBef>
              <a:spcAft>
                <a:spcPts val="0"/>
              </a:spcAft>
              <a:buSzPts val="1400"/>
              <a:buChar char="●"/>
            </a:pPr>
            <a:r>
              <a:rPr lang="en" sz="1400"/>
              <a:t>The shared value could be changed without the original thread knowing, making the usage incorrect</a:t>
            </a:r>
            <a:endParaRPr sz="1400"/>
          </a:p>
          <a:p>
            <a:pPr marL="457200" lvl="0" indent="-317500" algn="l" rtl="0">
              <a:lnSpc>
                <a:spcPct val="115000"/>
              </a:lnSpc>
              <a:spcBef>
                <a:spcPts val="1000"/>
              </a:spcBef>
              <a:spcAft>
                <a:spcPts val="1000"/>
              </a:spcAft>
              <a:buSzPts val="1400"/>
              <a:buChar char="●"/>
            </a:pPr>
            <a:r>
              <a:rPr lang="en" sz="1400"/>
              <a:t>This issue is known as a </a:t>
            </a:r>
            <a:r>
              <a:rPr lang="en" sz="1400" b="1" i="1">
                <a:solidFill>
                  <a:srgbClr val="FF0000"/>
                </a:solidFill>
              </a:rPr>
              <a:t>race condition</a:t>
            </a:r>
            <a:r>
              <a:rPr lang="en" sz="1400"/>
              <a:t> because all the threads are racing to try and use/update the shared resource</a:t>
            </a:r>
            <a:endParaRPr sz="1400"/>
          </a:p>
        </p:txBody>
      </p:sp>
      <p:sp>
        <p:nvSpPr>
          <p:cNvPr id="938" name="Google Shape;938;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939" name="Google Shape;939;p78"/>
          <p:cNvSpPr/>
          <p:nvPr/>
        </p:nvSpPr>
        <p:spPr>
          <a:xfrm>
            <a:off x="589975" y="2109600"/>
            <a:ext cx="1375200" cy="2115000"/>
          </a:xfrm>
          <a:prstGeom prst="roundRect">
            <a:avLst>
              <a:gd name="adj" fmla="val 16667"/>
            </a:avLst>
          </a:prstGeom>
          <a:solidFill>
            <a:srgbClr val="FFFFFF"/>
          </a:solidFill>
          <a:ln w="19050"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rPr>
              <a:t>Thread 1</a:t>
            </a:r>
            <a:endParaRPr sz="1100" b="1">
              <a:solidFill>
                <a:schemeClr val="dk2"/>
              </a:solidFill>
            </a:endParaRPr>
          </a:p>
          <a:p>
            <a:pPr marL="0" lvl="0" indent="0" algn="l" rtl="0">
              <a:spcBef>
                <a:spcPts val="0"/>
              </a:spcBef>
              <a:spcAft>
                <a:spcPts val="0"/>
              </a:spcAft>
              <a:buNone/>
            </a:pPr>
            <a:r>
              <a:rPr lang="en" sz="1100" i="1">
                <a:solidFill>
                  <a:schemeClr val="dk2"/>
                </a:solidFill>
              </a:rPr>
              <a:t>(size == 5)</a:t>
            </a:r>
            <a:endParaRPr sz="1100" i="1">
              <a:solidFill>
                <a:schemeClr val="dk2"/>
              </a:solidFill>
            </a:endParaRPr>
          </a:p>
          <a:p>
            <a:pPr marL="0" lvl="0" indent="0" algn="l" rtl="0">
              <a:spcBef>
                <a:spcPts val="0"/>
              </a:spcBef>
              <a:spcAft>
                <a:spcPts val="0"/>
              </a:spcAft>
              <a:buNone/>
            </a:pPr>
            <a:r>
              <a:rPr lang="en" sz="1100">
                <a:solidFill>
                  <a:schemeClr val="dk2"/>
                </a:solidFill>
              </a:rPr>
              <a:t>a[size] = 10</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a:solidFill>
                  <a:schemeClr val="dk2"/>
                </a:solidFill>
              </a:rPr>
              <a:t>size++</a:t>
            </a:r>
            <a:endParaRPr sz="1100">
              <a:solidFill>
                <a:schemeClr val="dk2"/>
              </a:solidFill>
            </a:endParaRPr>
          </a:p>
          <a:p>
            <a:pPr marL="0" lvl="0" indent="0" algn="l" rtl="0">
              <a:spcBef>
                <a:spcPts val="0"/>
              </a:spcBef>
              <a:spcAft>
                <a:spcPts val="0"/>
              </a:spcAft>
              <a:buNone/>
            </a:pPr>
            <a:r>
              <a:rPr lang="en" sz="1100" i="1">
                <a:solidFill>
                  <a:schemeClr val="dk2"/>
                </a:solidFill>
              </a:rPr>
              <a:t>(size == 6)</a:t>
            </a:r>
            <a:endParaRPr sz="1100" i="1">
              <a:solidFill>
                <a:schemeClr val="dk2"/>
              </a:solidFill>
            </a:endParaRPr>
          </a:p>
        </p:txBody>
      </p:sp>
      <p:sp>
        <p:nvSpPr>
          <p:cNvPr id="940" name="Google Shape;940;p78"/>
          <p:cNvSpPr/>
          <p:nvPr/>
        </p:nvSpPr>
        <p:spPr>
          <a:xfrm>
            <a:off x="2428300" y="2109600"/>
            <a:ext cx="1375200" cy="2115000"/>
          </a:xfrm>
          <a:prstGeom prst="roundRect">
            <a:avLst>
              <a:gd name="adj" fmla="val 16667"/>
            </a:avLst>
          </a:prstGeom>
          <a:solidFill>
            <a:srgbClr val="FFFFFF"/>
          </a:solidFill>
          <a:ln w="19050"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rPr>
              <a:t>Thread 2</a:t>
            </a:r>
            <a:endParaRPr sz="1100" b="1">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i="1">
                <a:solidFill>
                  <a:schemeClr val="dk2"/>
                </a:solidFill>
              </a:rPr>
              <a:t>(size == 5)</a:t>
            </a:r>
            <a:endParaRPr sz="1100" i="1">
              <a:solidFill>
                <a:schemeClr val="dk2"/>
              </a:solidFill>
            </a:endParaRPr>
          </a:p>
          <a:p>
            <a:pPr marL="0" lvl="0" indent="0" algn="l" rtl="0">
              <a:spcBef>
                <a:spcPts val="0"/>
              </a:spcBef>
              <a:spcAft>
                <a:spcPts val="0"/>
              </a:spcAft>
              <a:buNone/>
            </a:pPr>
            <a:r>
              <a:rPr lang="en" sz="1100">
                <a:solidFill>
                  <a:schemeClr val="dk2"/>
                </a:solidFill>
              </a:rPr>
              <a:t>a[size] = 7</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endParaRPr sz="1100">
              <a:solidFill>
                <a:schemeClr val="dk2"/>
              </a:solidFill>
            </a:endParaRPr>
          </a:p>
        </p:txBody>
      </p:sp>
      <p:sp>
        <p:nvSpPr>
          <p:cNvPr id="941" name="Google Shape;941;p78"/>
          <p:cNvSpPr/>
          <p:nvPr/>
        </p:nvSpPr>
        <p:spPr>
          <a:xfrm>
            <a:off x="589975" y="2831218"/>
            <a:ext cx="1375200" cy="262800"/>
          </a:xfrm>
          <a:prstGeom prst="roundRect">
            <a:avLst>
              <a:gd name="adj" fmla="val 16667"/>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0000"/>
                </a:solidFill>
              </a:rPr>
              <a:t>Context Switch </a:t>
            </a:r>
            <a:endParaRPr sz="1200">
              <a:solidFill>
                <a:srgbClr val="FF0000"/>
              </a:solidFill>
            </a:endParaRPr>
          </a:p>
        </p:txBody>
      </p:sp>
      <p:sp>
        <p:nvSpPr>
          <p:cNvPr id="942" name="Google Shape;942;p78"/>
          <p:cNvSpPr/>
          <p:nvPr/>
        </p:nvSpPr>
        <p:spPr>
          <a:xfrm>
            <a:off x="1971094" y="2885987"/>
            <a:ext cx="445200" cy="148800"/>
          </a:xfrm>
          <a:prstGeom prst="rightArrow">
            <a:avLst>
              <a:gd name="adj1" fmla="val 50000"/>
              <a:gd name="adj2" fmla="val 50000"/>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78"/>
          <p:cNvSpPr/>
          <p:nvPr/>
        </p:nvSpPr>
        <p:spPr>
          <a:xfrm>
            <a:off x="2422250" y="3343181"/>
            <a:ext cx="1375200" cy="262800"/>
          </a:xfrm>
          <a:prstGeom prst="roundRect">
            <a:avLst>
              <a:gd name="adj" fmla="val 16667"/>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0000"/>
                </a:solidFill>
              </a:rPr>
              <a:t>Context Switch </a:t>
            </a:r>
            <a:endParaRPr sz="1200">
              <a:solidFill>
                <a:srgbClr val="FF0000"/>
              </a:solidFill>
            </a:endParaRPr>
          </a:p>
        </p:txBody>
      </p:sp>
      <p:sp>
        <p:nvSpPr>
          <p:cNvPr id="944" name="Google Shape;944;p78"/>
          <p:cNvSpPr/>
          <p:nvPr/>
        </p:nvSpPr>
        <p:spPr>
          <a:xfrm rot="10800000">
            <a:off x="1971094" y="3400174"/>
            <a:ext cx="445200" cy="148800"/>
          </a:xfrm>
          <a:prstGeom prst="rightArrow">
            <a:avLst>
              <a:gd name="adj1" fmla="val 50000"/>
              <a:gd name="adj2" fmla="val 50000"/>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78"/>
          <p:cNvSpPr/>
          <p:nvPr/>
        </p:nvSpPr>
        <p:spPr>
          <a:xfrm>
            <a:off x="311725" y="4339200"/>
            <a:ext cx="3706500" cy="623700"/>
          </a:xfrm>
          <a:prstGeom prst="rect">
            <a:avLst/>
          </a:prstGeom>
          <a:solidFill>
            <a:srgbClr val="FFF2CC"/>
          </a:solidFill>
          <a:ln w="1905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200">
                <a:solidFill>
                  <a:schemeClr val="dk1"/>
                </a:solidFill>
              </a:rPr>
              <a:t>List only has </a:t>
            </a:r>
            <a:r>
              <a:rPr lang="en" sz="1200" b="1" i="1">
                <a:solidFill>
                  <a:srgbClr val="FF0000"/>
                </a:solidFill>
              </a:rPr>
              <a:t>size - 1</a:t>
            </a:r>
            <a:r>
              <a:rPr lang="en" sz="1200">
                <a:solidFill>
                  <a:schemeClr val="dk1"/>
                </a:solidFill>
              </a:rPr>
              <a:t> elements in it now. Thread 1's addition was lost and Thread 2 may generate an exception the next time it tries to add an item.</a:t>
            </a:r>
            <a:endParaRPr sz="900"/>
          </a:p>
        </p:txBody>
      </p:sp>
      <p:sp>
        <p:nvSpPr>
          <p:cNvPr id="946" name="Google Shape;946;p78"/>
          <p:cNvSpPr/>
          <p:nvPr/>
        </p:nvSpPr>
        <p:spPr>
          <a:xfrm>
            <a:off x="1110775" y="1037497"/>
            <a:ext cx="2108400" cy="929400"/>
          </a:xfrm>
          <a:prstGeom prst="rect">
            <a:avLst/>
          </a:prstGeom>
          <a:solidFill>
            <a:srgbClr val="FFFFFF"/>
          </a:solidFill>
          <a:ln w="19050" cap="flat" cmpd="sng">
            <a:solidFill>
              <a:srgbClr val="0000FF"/>
            </a:solidFill>
            <a:prstDash val="solid"/>
            <a:miter lim="800000"/>
            <a:headEnd type="none" w="sm" len="sm"/>
            <a:tailEnd type="none" w="sm" len="sm"/>
          </a:ln>
        </p:spPr>
        <p:txBody>
          <a:bodyPr spcFirstLastPara="1" wrap="square" lIns="68575" tIns="34275" rIns="68575" bIns="34275" anchor="t" anchorCtr="0">
            <a:noAutofit/>
          </a:bodyPr>
          <a:lstStyle/>
          <a:p>
            <a:pPr marL="0" lvl="0" indent="0" algn="l" rtl="0">
              <a:lnSpc>
                <a:spcPct val="130434"/>
              </a:lnSpc>
              <a:spcBef>
                <a:spcPts val="0"/>
              </a:spcBef>
              <a:spcAft>
                <a:spcPts val="0"/>
              </a:spcAft>
              <a:buNone/>
            </a:pPr>
            <a:r>
              <a:rPr lang="en" sz="900">
                <a:solidFill>
                  <a:srgbClr val="008000"/>
                </a:solidFill>
                <a:highlight>
                  <a:srgbClr val="FFFFFF"/>
                </a:highlight>
                <a:latin typeface="Consolas"/>
                <a:ea typeface="Consolas"/>
                <a:cs typeface="Consolas"/>
                <a:sym typeface="Consolas"/>
              </a:rPr>
              <a:t>// Simplified ArrayList add</a:t>
            </a:r>
            <a:endParaRPr sz="900">
              <a:solidFill>
                <a:srgbClr val="0000FF"/>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sz="900">
                <a:solidFill>
                  <a:srgbClr val="0000FF"/>
                </a:solidFill>
                <a:highlight>
                  <a:srgbClr val="FFFFFF"/>
                </a:highlight>
                <a:latin typeface="Consolas"/>
                <a:ea typeface="Consolas"/>
                <a:cs typeface="Consolas"/>
                <a:sym typeface="Consolas"/>
              </a:rPr>
              <a:t>private</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add </a:t>
            </a:r>
            <a:r>
              <a:rPr lang="en" sz="900">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e</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elementData</a:t>
            </a:r>
            <a:r>
              <a:rPr lang="en" sz="900">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size</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e</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size</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endParaRPr sz="900">
              <a:solidFill>
                <a:srgbClr val="0000FF"/>
              </a:solidFill>
              <a:highlight>
                <a:srgbClr val="FFFFFF"/>
              </a:highlight>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1"/>
                                        </p:tgtEl>
                                        <p:attrNameLst>
                                          <p:attrName>style.visibility</p:attrName>
                                        </p:attrNameLst>
                                      </p:cBhvr>
                                      <p:to>
                                        <p:strVal val="visible"/>
                                      </p:to>
                                    </p:set>
                                    <p:animEffect transition="in" filter="fade">
                                      <p:cBhvr>
                                        <p:cTn id="7" dur="1000"/>
                                        <p:tgtEl>
                                          <p:spTgt spid="941"/>
                                        </p:tgtEl>
                                      </p:cBhvr>
                                    </p:animEffect>
                                  </p:childTnLst>
                                </p:cTn>
                              </p:par>
                              <p:par>
                                <p:cTn id="8" presetID="10" presetClass="entr" presetSubtype="0" fill="hold" nodeType="withEffect">
                                  <p:stCondLst>
                                    <p:cond delay="0"/>
                                  </p:stCondLst>
                                  <p:childTnLst>
                                    <p:set>
                                      <p:cBhvr>
                                        <p:cTn id="9" dur="1" fill="hold">
                                          <p:stCondLst>
                                            <p:cond delay="0"/>
                                          </p:stCondLst>
                                        </p:cTn>
                                        <p:tgtEl>
                                          <p:spTgt spid="942"/>
                                        </p:tgtEl>
                                        <p:attrNameLst>
                                          <p:attrName>style.visibility</p:attrName>
                                        </p:attrNameLst>
                                      </p:cBhvr>
                                      <p:to>
                                        <p:strVal val="visible"/>
                                      </p:to>
                                    </p:set>
                                    <p:animEffect transition="in" filter="fade">
                                      <p:cBhvr>
                                        <p:cTn id="10" dur="1000"/>
                                        <p:tgtEl>
                                          <p:spTgt spid="94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43"/>
                                        </p:tgtEl>
                                        <p:attrNameLst>
                                          <p:attrName>style.visibility</p:attrName>
                                        </p:attrNameLst>
                                      </p:cBhvr>
                                      <p:to>
                                        <p:strVal val="visible"/>
                                      </p:to>
                                    </p:set>
                                    <p:animEffect transition="in" filter="fade">
                                      <p:cBhvr>
                                        <p:cTn id="15" dur="1000"/>
                                        <p:tgtEl>
                                          <p:spTgt spid="943"/>
                                        </p:tgtEl>
                                      </p:cBhvr>
                                    </p:animEffect>
                                  </p:childTnLst>
                                </p:cTn>
                              </p:par>
                              <p:par>
                                <p:cTn id="16" presetID="10" presetClass="entr" presetSubtype="0" fill="hold" nodeType="withEffect">
                                  <p:stCondLst>
                                    <p:cond delay="0"/>
                                  </p:stCondLst>
                                  <p:childTnLst>
                                    <p:set>
                                      <p:cBhvr>
                                        <p:cTn id="17" dur="1" fill="hold">
                                          <p:stCondLst>
                                            <p:cond delay="0"/>
                                          </p:stCondLst>
                                        </p:cTn>
                                        <p:tgtEl>
                                          <p:spTgt spid="944"/>
                                        </p:tgtEl>
                                        <p:attrNameLst>
                                          <p:attrName>style.visibility</p:attrName>
                                        </p:attrNameLst>
                                      </p:cBhvr>
                                      <p:to>
                                        <p:strVal val="visible"/>
                                      </p:to>
                                    </p:set>
                                    <p:animEffect transition="in" filter="fade">
                                      <p:cBhvr>
                                        <p:cTn id="18" dur="1000"/>
                                        <p:tgtEl>
                                          <p:spTgt spid="94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45"/>
                                        </p:tgtEl>
                                        <p:attrNameLst>
                                          <p:attrName>style.visibility</p:attrName>
                                        </p:attrNameLst>
                                      </p:cBhvr>
                                      <p:to>
                                        <p:strVal val="visible"/>
                                      </p:to>
                                    </p:set>
                                    <p:animEffect transition="in" filter="fade">
                                      <p:cBhvr>
                                        <p:cTn id="23" dur="1000"/>
                                        <p:tgtEl>
                                          <p:spTgt spid="9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79"/>
          <p:cNvSpPr txBox="1">
            <a:spLocks noGrp="1"/>
          </p:cNvSpPr>
          <p:nvPr>
            <p:ph type="title"/>
          </p:nvPr>
        </p:nvSpPr>
        <p:spPr>
          <a:xfrm>
            <a:off x="5264725" y="500925"/>
            <a:ext cx="3706500" cy="6381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2"/>
              </a:buClr>
              <a:buSzPct val="117857"/>
              <a:buFont typeface="Calibri"/>
              <a:buNone/>
            </a:pPr>
            <a:r>
              <a:rPr lang="en"/>
              <a:t>Thread Safety/Critical Regions</a:t>
            </a:r>
            <a:endParaRPr/>
          </a:p>
        </p:txBody>
      </p:sp>
      <p:sp>
        <p:nvSpPr>
          <p:cNvPr id="952" name="Google Shape;952;p79"/>
          <p:cNvSpPr txBox="1">
            <a:spLocks noGrp="1"/>
          </p:cNvSpPr>
          <p:nvPr>
            <p:ph type="body" idx="1"/>
          </p:nvPr>
        </p:nvSpPr>
        <p:spPr>
          <a:xfrm>
            <a:off x="301275" y="500925"/>
            <a:ext cx="4166400" cy="4432200"/>
          </a:xfrm>
          <a:prstGeom prst="rect">
            <a:avLst/>
          </a:prstGeom>
          <a:noFill/>
          <a:ln>
            <a:noFill/>
          </a:ln>
        </p:spPr>
        <p:txBody>
          <a:bodyPr spcFirstLastPara="1" wrap="square" lIns="68575" tIns="34275" rIns="68575" bIns="34275" anchor="t" anchorCtr="0">
            <a:normAutofit lnSpcReduction="10000"/>
          </a:bodyPr>
          <a:lstStyle/>
          <a:p>
            <a:pPr marL="457200" lvl="0" indent="-317500" algn="l" rtl="0">
              <a:lnSpc>
                <a:spcPct val="115000"/>
              </a:lnSpc>
              <a:spcBef>
                <a:spcPts val="0"/>
              </a:spcBef>
              <a:spcAft>
                <a:spcPts val="0"/>
              </a:spcAft>
              <a:buSzPts val="1400"/>
              <a:buChar char="●"/>
            </a:pPr>
            <a:r>
              <a:rPr lang="en" sz="1400"/>
              <a:t>Areas of code in which a </a:t>
            </a:r>
            <a:r>
              <a:rPr lang="en" sz="1400" b="1" i="1">
                <a:solidFill>
                  <a:srgbClr val="FF0000"/>
                </a:solidFill>
              </a:rPr>
              <a:t>shared resource</a:t>
            </a:r>
            <a:r>
              <a:rPr lang="en" sz="1400"/>
              <a:t> is used are known as a </a:t>
            </a:r>
            <a:r>
              <a:rPr lang="en" sz="1400" b="1" i="1">
                <a:solidFill>
                  <a:srgbClr val="FF0000"/>
                </a:solidFill>
              </a:rPr>
              <a:t>critical region</a:t>
            </a:r>
            <a:endParaRPr sz="1400" b="1" i="1">
              <a:solidFill>
                <a:srgbClr val="FF0000"/>
              </a:solidFill>
            </a:endParaRPr>
          </a:p>
          <a:p>
            <a:pPr marL="457200" lvl="0" indent="-317500" algn="l" rtl="0">
              <a:lnSpc>
                <a:spcPct val="115000"/>
              </a:lnSpc>
              <a:spcBef>
                <a:spcPts val="1000"/>
              </a:spcBef>
              <a:spcAft>
                <a:spcPts val="0"/>
              </a:spcAft>
              <a:buSzPts val="1400"/>
              <a:buChar char="●"/>
            </a:pPr>
            <a:r>
              <a:rPr lang="en" sz="1400"/>
              <a:t>Unless something is done to </a:t>
            </a:r>
            <a:r>
              <a:rPr lang="en" sz="1400" b="1" i="1">
                <a:solidFill>
                  <a:srgbClr val="FF0000"/>
                </a:solidFill>
              </a:rPr>
              <a:t>protect</a:t>
            </a:r>
            <a:r>
              <a:rPr lang="en" sz="1400"/>
              <a:t> the critical region it is </a:t>
            </a:r>
            <a:r>
              <a:rPr lang="en" sz="1400" b="1" i="1">
                <a:solidFill>
                  <a:srgbClr val="FF0000"/>
                </a:solidFill>
              </a:rPr>
              <a:t>unsafe</a:t>
            </a:r>
            <a:r>
              <a:rPr lang="en" sz="1400"/>
              <a:t> to run that code in a multi-threaded environment</a:t>
            </a:r>
            <a:endParaRPr sz="1400"/>
          </a:p>
          <a:p>
            <a:pPr marL="457200" lvl="0" indent="-317500" algn="l" rtl="0">
              <a:lnSpc>
                <a:spcPct val="115000"/>
              </a:lnSpc>
              <a:spcBef>
                <a:spcPts val="1000"/>
              </a:spcBef>
              <a:spcAft>
                <a:spcPts val="0"/>
              </a:spcAft>
              <a:buSzPts val="1400"/>
              <a:buChar char="●"/>
            </a:pPr>
            <a:r>
              <a:rPr lang="en" sz="1400"/>
              <a:t>More generally this is referred to as </a:t>
            </a:r>
            <a:r>
              <a:rPr lang="en" sz="1400" b="1" i="1">
                <a:solidFill>
                  <a:srgbClr val="FF0000"/>
                </a:solidFill>
              </a:rPr>
              <a:t>Thread Safety</a:t>
            </a:r>
            <a:r>
              <a:rPr lang="en" sz="1400"/>
              <a:t> or being </a:t>
            </a:r>
            <a:r>
              <a:rPr lang="en" sz="1400" b="1" i="1">
                <a:solidFill>
                  <a:srgbClr val="FF0000"/>
                </a:solidFill>
              </a:rPr>
              <a:t>Thread Safe</a:t>
            </a:r>
            <a:endParaRPr sz="1400" b="1" i="1">
              <a:solidFill>
                <a:srgbClr val="FF0000"/>
              </a:solidFill>
            </a:endParaRPr>
          </a:p>
          <a:p>
            <a:pPr marL="457200" lvl="0" indent="-317500" algn="l" rtl="0">
              <a:lnSpc>
                <a:spcPct val="115000"/>
              </a:lnSpc>
              <a:spcBef>
                <a:spcPts val="1000"/>
              </a:spcBef>
              <a:spcAft>
                <a:spcPts val="0"/>
              </a:spcAft>
              <a:buSzPts val="1400"/>
              <a:buChar char="●"/>
            </a:pPr>
            <a:r>
              <a:rPr lang="en" sz="1400"/>
              <a:t>Java does provide </a:t>
            </a:r>
            <a:r>
              <a:rPr lang="en" sz="1400" b="1" i="1">
                <a:solidFill>
                  <a:srgbClr val="FF0000"/>
                </a:solidFill>
              </a:rPr>
              <a:t>thread safe versions</a:t>
            </a:r>
            <a:r>
              <a:rPr lang="en" sz="1400"/>
              <a:t> for some of its most commonly used components, however</a:t>
            </a:r>
            <a:endParaRPr sz="1400"/>
          </a:p>
          <a:p>
            <a:pPr marL="914400" lvl="1" indent="-311150" algn="l" rtl="0">
              <a:lnSpc>
                <a:spcPct val="115000"/>
              </a:lnSpc>
              <a:spcBef>
                <a:spcPts val="1000"/>
              </a:spcBef>
              <a:spcAft>
                <a:spcPts val="0"/>
              </a:spcAft>
              <a:buSzPts val="1300"/>
              <a:buChar char="○"/>
            </a:pPr>
            <a:r>
              <a:rPr lang="en" sz="1300"/>
              <a:t>You will need to carefully check the documentation to see if the version you are using is thread safe or if there is a thread safe alternate version</a:t>
            </a:r>
            <a:endParaRPr sz="1300"/>
          </a:p>
          <a:p>
            <a:pPr marL="914400" lvl="1" indent="-311150" algn="l" rtl="0">
              <a:lnSpc>
                <a:spcPct val="115000"/>
              </a:lnSpc>
              <a:spcBef>
                <a:spcPts val="1000"/>
              </a:spcBef>
              <a:spcAft>
                <a:spcPts val="1000"/>
              </a:spcAft>
              <a:buSzPts val="1300"/>
              <a:buChar char="○"/>
            </a:pPr>
            <a:r>
              <a:rPr lang="en" sz="1300"/>
              <a:t>Many things, including what you write, </a:t>
            </a:r>
            <a:r>
              <a:rPr lang="en" sz="1300" b="1" i="1">
                <a:solidFill>
                  <a:srgbClr val="FF0000"/>
                </a:solidFill>
              </a:rPr>
              <a:t>will not have</a:t>
            </a:r>
            <a:r>
              <a:rPr lang="en" sz="1300"/>
              <a:t> a thread safe version</a:t>
            </a:r>
            <a:endParaRPr sz="1300"/>
          </a:p>
        </p:txBody>
      </p:sp>
      <p:sp>
        <p:nvSpPr>
          <p:cNvPr id="953" name="Google Shape;953;p79"/>
          <p:cNvSpPr txBox="1">
            <a:spLocks noGrp="1"/>
          </p:cNvSpPr>
          <p:nvPr>
            <p:ph type="body" idx="3"/>
          </p:nvPr>
        </p:nvSpPr>
        <p:spPr>
          <a:xfrm>
            <a:off x="5192200" y="3809907"/>
            <a:ext cx="3706500" cy="551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2"/>
              </a:buClr>
              <a:buSzPts val="2300"/>
              <a:buNone/>
            </a:pPr>
            <a:r>
              <a:rPr lang="en" b="1" i="1">
                <a:solidFill>
                  <a:srgbClr val="FF0000"/>
                </a:solidFill>
              </a:rPr>
              <a:t>Critical regions</a:t>
            </a:r>
            <a:r>
              <a:rPr lang="en"/>
              <a:t> are locations in code that work with a </a:t>
            </a:r>
            <a:r>
              <a:rPr lang="en" b="1" i="1">
                <a:solidFill>
                  <a:srgbClr val="FF0000"/>
                </a:solidFill>
              </a:rPr>
              <a:t>shared mutable resource</a:t>
            </a:r>
            <a:r>
              <a:rPr lang="en"/>
              <a:t>. </a:t>
            </a:r>
            <a:endParaRPr/>
          </a:p>
        </p:txBody>
      </p:sp>
      <p:sp>
        <p:nvSpPr>
          <p:cNvPr id="954" name="Google Shape;954;p79"/>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grpSp>
        <p:nvGrpSpPr>
          <p:cNvPr id="955" name="Google Shape;955;p79"/>
          <p:cNvGrpSpPr/>
          <p:nvPr/>
        </p:nvGrpSpPr>
        <p:grpSpPr>
          <a:xfrm>
            <a:off x="5501475" y="1490297"/>
            <a:ext cx="3087987" cy="2162913"/>
            <a:chOff x="5922000" y="2222400"/>
            <a:chExt cx="2554800" cy="1731300"/>
          </a:xfrm>
        </p:grpSpPr>
        <p:sp>
          <p:nvSpPr>
            <p:cNvPr id="956" name="Google Shape;956;p79"/>
            <p:cNvSpPr/>
            <p:nvPr/>
          </p:nvSpPr>
          <p:spPr>
            <a:xfrm>
              <a:off x="5922000" y="2222400"/>
              <a:ext cx="2554800" cy="1731300"/>
            </a:xfrm>
            <a:prstGeom prst="roundRect">
              <a:avLst>
                <a:gd name="adj" fmla="val 16667"/>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57" name="Google Shape;957;p79"/>
            <p:cNvPicPr preferRelativeResize="0"/>
            <p:nvPr/>
          </p:nvPicPr>
          <p:blipFill rotWithShape="1">
            <a:blip r:embed="rId3">
              <a:alphaModFix/>
            </a:blip>
            <a:srcRect l="5404" t="21217" r="5279" b="22084"/>
            <a:stretch/>
          </p:blipFill>
          <p:spPr>
            <a:xfrm>
              <a:off x="6012250" y="2329550"/>
              <a:ext cx="2363075" cy="1500200"/>
            </a:xfrm>
            <a:prstGeom prst="rect">
              <a:avLst/>
            </a:prstGeom>
            <a:noFill/>
            <a:ln>
              <a:noFill/>
            </a:ln>
          </p:spPr>
        </p:pic>
      </p:grpSp>
      <p:sp>
        <p:nvSpPr>
          <p:cNvPr id="958" name="Google Shape;958;p79"/>
          <p:cNvSpPr txBox="1">
            <a:spLocks noGrp="1"/>
          </p:cNvSpPr>
          <p:nvPr>
            <p:ph type="body" idx="3"/>
          </p:nvPr>
        </p:nvSpPr>
        <p:spPr>
          <a:xfrm>
            <a:off x="5192200" y="4460232"/>
            <a:ext cx="3706500" cy="551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2"/>
              </a:buClr>
              <a:buSzPts val="2300"/>
              <a:buNone/>
            </a:pPr>
            <a:r>
              <a:rPr lang="en"/>
              <a:t>Care needs to be exercised when working in a critical region to make sure nothing bad happens.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3"/>
                                        </p:tgtEl>
                                        <p:attrNameLst>
                                          <p:attrName>style.visibility</p:attrName>
                                        </p:attrNameLst>
                                      </p:cBhvr>
                                      <p:to>
                                        <p:strVal val="visible"/>
                                      </p:to>
                                    </p:set>
                                    <p:animEffect transition="in" filter="fade">
                                      <p:cBhvr>
                                        <p:cTn id="7" dur="1000"/>
                                        <p:tgtEl>
                                          <p:spTgt spid="9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8"/>
                                        </p:tgtEl>
                                        <p:attrNameLst>
                                          <p:attrName>style.visibility</p:attrName>
                                        </p:attrNameLst>
                                      </p:cBhvr>
                                      <p:to>
                                        <p:strVal val="visible"/>
                                      </p:to>
                                    </p:set>
                                    <p:animEffect transition="in" filter="fade">
                                      <p:cBhvr>
                                        <p:cTn id="12" dur="1000"/>
                                        <p:tgtEl>
                                          <p:spTgt spid="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80"/>
          <p:cNvSpPr txBox="1">
            <a:spLocks noGrp="1"/>
          </p:cNvSpPr>
          <p:nvPr>
            <p:ph type="body" idx="1"/>
          </p:nvPr>
        </p:nvSpPr>
        <p:spPr>
          <a:xfrm>
            <a:off x="65250" y="731625"/>
            <a:ext cx="8955900" cy="291000"/>
          </a:xfrm>
          <a:prstGeom prst="rect">
            <a:avLst/>
          </a:prstGeom>
          <a:noFill/>
          <a:ln>
            <a:noFill/>
          </a:ln>
        </p:spPr>
        <p:txBody>
          <a:bodyPr spcFirstLastPara="1" wrap="square" lIns="68575" tIns="34275" rIns="68575" bIns="34275" anchor="t" anchorCtr="0">
            <a:spAutoFit/>
          </a:bodyPr>
          <a:lstStyle/>
          <a:p>
            <a:pPr marL="0" lvl="0" indent="0" algn="l" rtl="0">
              <a:lnSpc>
                <a:spcPct val="90000"/>
              </a:lnSpc>
              <a:spcBef>
                <a:spcPts val="0"/>
              </a:spcBef>
              <a:spcAft>
                <a:spcPts val="1600"/>
              </a:spcAft>
              <a:buClr>
                <a:schemeClr val="dk1"/>
              </a:buClr>
              <a:buSzPts val="1800"/>
              <a:buNone/>
            </a:pPr>
            <a:r>
              <a:rPr lang="en"/>
              <a:t>Given the code examples below, identify the critical regions (draw a box).</a:t>
            </a:r>
            <a:endParaRPr/>
          </a:p>
        </p:txBody>
      </p:sp>
      <p:sp>
        <p:nvSpPr>
          <p:cNvPr id="965" name="Google Shape;965;p80"/>
          <p:cNvSpPr txBox="1">
            <a:spLocks noGrp="1"/>
          </p:cNvSpPr>
          <p:nvPr>
            <p:ph type="title"/>
          </p:nvPr>
        </p:nvSpPr>
        <p:spPr>
          <a:xfrm>
            <a:off x="1436850" y="100"/>
            <a:ext cx="7642500" cy="5967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0"/>
              </a:spcBef>
              <a:spcAft>
                <a:spcPts val="0"/>
              </a:spcAft>
              <a:buClr>
                <a:schemeClr val="dk2"/>
              </a:buClr>
              <a:buSzPts val="3300"/>
              <a:buFont typeface="Calibri"/>
              <a:buNone/>
            </a:pPr>
            <a:r>
              <a:rPr lang="en"/>
              <a:t>Critical Regions</a:t>
            </a:r>
            <a:endParaRPr/>
          </a:p>
        </p:txBody>
      </p:sp>
      <p:sp>
        <p:nvSpPr>
          <p:cNvPr id="966" name="Google Shape;966;p80"/>
          <p:cNvSpPr/>
          <p:nvPr/>
        </p:nvSpPr>
        <p:spPr>
          <a:xfrm>
            <a:off x="273425" y="1207077"/>
            <a:ext cx="4106400" cy="37089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91425" rIns="68575" bIns="91425" anchor="t" anchorCtr="0">
            <a:noAutofit/>
          </a:bodyPr>
          <a:lstStyle/>
          <a:p>
            <a:pPr marL="0" marR="0" lvl="0" indent="0" algn="l" rtl="0">
              <a:spcBef>
                <a:spcPts val="0"/>
              </a:spcBef>
              <a:spcAft>
                <a:spcPts val="0"/>
              </a:spcAft>
              <a:buNone/>
            </a:pPr>
            <a:r>
              <a:rPr lang="en" sz="1100">
                <a:solidFill>
                  <a:schemeClr val="dk1"/>
                </a:solidFill>
                <a:latin typeface="Consolas"/>
                <a:ea typeface="Consolas"/>
                <a:cs typeface="Consolas"/>
                <a:sym typeface="Consolas"/>
              </a:rPr>
              <a:t>1   // from MyArrayList.java</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2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3   @Override</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4   public void add(E element)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5     if(size == elements.length)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6       elements = Arrays.copyOf(elements, size*2);</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7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8     elements[size] = element;</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9     size++;</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10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11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12  @Override</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13  public E get(int index)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14    return (E)elements[index];</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15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16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17  @Override</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18  public int size()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19    return size;</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20  }</a:t>
            </a:r>
            <a:endParaRPr sz="1100"/>
          </a:p>
        </p:txBody>
      </p:sp>
      <p:sp>
        <p:nvSpPr>
          <p:cNvPr id="967" name="Google Shape;967;p80"/>
          <p:cNvSpPr/>
          <p:nvPr/>
        </p:nvSpPr>
        <p:spPr>
          <a:xfrm>
            <a:off x="4624778" y="1193150"/>
            <a:ext cx="4042800" cy="37089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91425" rIns="68575" bIns="91425" anchor="t" anchorCtr="0">
            <a:noAutofit/>
          </a:bodyPr>
          <a:lstStyle/>
          <a:p>
            <a:pPr marL="0" marR="0" lvl="0" indent="0" algn="l" rtl="0">
              <a:spcBef>
                <a:spcPts val="0"/>
              </a:spcBef>
              <a:spcAft>
                <a:spcPts val="0"/>
              </a:spcAft>
              <a:buNone/>
            </a:pPr>
            <a:r>
              <a:rPr lang="en" sz="1100">
                <a:solidFill>
                  <a:schemeClr val="dk1"/>
                </a:solidFill>
                <a:latin typeface="Consolas"/>
                <a:ea typeface="Consolas"/>
                <a:cs typeface="Consolas"/>
                <a:sym typeface="Consolas"/>
              </a:rPr>
              <a:t>1   public class Racer implements Runnable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2     private final List&lt;Integer&gt; numbers;</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3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4     public Racer(List&lt;Integer&gt; numbers)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5       this.numbers = numbers;</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6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7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8     public void run()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9       for(int i=0; i&lt;1000; i++)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10         numbers.add(i);</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11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12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13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14    public static void main(String[] args)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15      List&lt;Integer&gt; numbers = new ArrayList&lt;&gt;();</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16      for(int n=0; n&lt;10; n++)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17         Racer racer = new Racer(numbers);</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18         Thread thread = new Thread(racer);</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19         thread.start();</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20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21   }}</a:t>
            </a:r>
            <a:endParaRPr sz="1100"/>
          </a:p>
        </p:txBody>
      </p:sp>
      <p:sp>
        <p:nvSpPr>
          <p:cNvPr id="968" name="Google Shape;968;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969" name="Google Shape;969;p8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8.17</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p81"/>
          <p:cNvSpPr txBox="1">
            <a:spLocks noGrp="1"/>
          </p:cNvSpPr>
          <p:nvPr>
            <p:ph type="body" idx="1"/>
          </p:nvPr>
        </p:nvSpPr>
        <p:spPr>
          <a:xfrm>
            <a:off x="65250" y="731625"/>
            <a:ext cx="8955900" cy="291000"/>
          </a:xfrm>
          <a:prstGeom prst="rect">
            <a:avLst/>
          </a:prstGeom>
          <a:noFill/>
          <a:ln>
            <a:noFill/>
          </a:ln>
        </p:spPr>
        <p:txBody>
          <a:bodyPr spcFirstLastPara="1" wrap="square" lIns="68575" tIns="34275" rIns="68575" bIns="34275" anchor="t" anchorCtr="0">
            <a:spAutoFit/>
          </a:bodyPr>
          <a:lstStyle/>
          <a:p>
            <a:pPr marL="0" lvl="0" indent="0" algn="l" rtl="0">
              <a:lnSpc>
                <a:spcPct val="90000"/>
              </a:lnSpc>
              <a:spcBef>
                <a:spcPts val="0"/>
              </a:spcBef>
              <a:spcAft>
                <a:spcPts val="1600"/>
              </a:spcAft>
              <a:buClr>
                <a:schemeClr val="dk1"/>
              </a:buClr>
              <a:buSzPts val="1800"/>
              <a:buNone/>
            </a:pPr>
            <a:r>
              <a:rPr lang="en"/>
              <a:t>Given the code examples below, identify the critical regions (draw a box).</a:t>
            </a:r>
            <a:endParaRPr/>
          </a:p>
        </p:txBody>
      </p:sp>
      <p:sp>
        <p:nvSpPr>
          <p:cNvPr id="976" name="Google Shape;976;p81"/>
          <p:cNvSpPr txBox="1">
            <a:spLocks noGrp="1"/>
          </p:cNvSpPr>
          <p:nvPr>
            <p:ph type="title"/>
          </p:nvPr>
        </p:nvSpPr>
        <p:spPr>
          <a:xfrm>
            <a:off x="1436850" y="100"/>
            <a:ext cx="7642500" cy="5967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0"/>
              </a:spcBef>
              <a:spcAft>
                <a:spcPts val="0"/>
              </a:spcAft>
              <a:buClr>
                <a:schemeClr val="dk2"/>
              </a:buClr>
              <a:buSzPts val="3300"/>
              <a:buFont typeface="Calibri"/>
              <a:buNone/>
            </a:pPr>
            <a:r>
              <a:rPr lang="en"/>
              <a:t>Critical Regions</a:t>
            </a:r>
            <a:endParaRPr/>
          </a:p>
        </p:txBody>
      </p:sp>
      <p:sp>
        <p:nvSpPr>
          <p:cNvPr id="977" name="Google Shape;977;p81"/>
          <p:cNvSpPr/>
          <p:nvPr/>
        </p:nvSpPr>
        <p:spPr>
          <a:xfrm>
            <a:off x="273425" y="1207077"/>
            <a:ext cx="4106400" cy="37089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91425" rIns="68575" bIns="91425" anchor="t" anchorCtr="0">
            <a:noAutofit/>
          </a:bodyPr>
          <a:lstStyle/>
          <a:p>
            <a:pPr marL="0" marR="0" lvl="0" indent="0" algn="l" rtl="0">
              <a:spcBef>
                <a:spcPts val="0"/>
              </a:spcBef>
              <a:spcAft>
                <a:spcPts val="0"/>
              </a:spcAft>
              <a:buNone/>
            </a:pPr>
            <a:r>
              <a:rPr lang="en" sz="1100">
                <a:solidFill>
                  <a:schemeClr val="dk1"/>
                </a:solidFill>
                <a:latin typeface="Consolas"/>
                <a:ea typeface="Consolas"/>
                <a:cs typeface="Consolas"/>
                <a:sym typeface="Consolas"/>
              </a:rPr>
              <a:t>1   // from MyArrayList.java</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2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3   @Override</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4   public void add(E element)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5     if(size == elements.length)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6       elements = Arrays.copyOf(elements, size*2);</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7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8     elements[size] = element;</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9     size++;</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10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11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12  @Override</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13  public E get(int index)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14    return (E)elements[index];</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15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16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17  @Override</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18  public int size()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19    return size;</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20  }</a:t>
            </a:r>
            <a:endParaRPr sz="1100"/>
          </a:p>
        </p:txBody>
      </p:sp>
      <p:sp>
        <p:nvSpPr>
          <p:cNvPr id="978" name="Google Shape;978;p81"/>
          <p:cNvSpPr/>
          <p:nvPr/>
        </p:nvSpPr>
        <p:spPr>
          <a:xfrm>
            <a:off x="4624778" y="1193150"/>
            <a:ext cx="4042800" cy="37089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91425" rIns="68575" bIns="91425" anchor="t" anchorCtr="0">
            <a:noAutofit/>
          </a:bodyPr>
          <a:lstStyle/>
          <a:p>
            <a:pPr marL="0" marR="0" lvl="0" indent="0" algn="l" rtl="0">
              <a:spcBef>
                <a:spcPts val="0"/>
              </a:spcBef>
              <a:spcAft>
                <a:spcPts val="0"/>
              </a:spcAft>
              <a:buNone/>
            </a:pPr>
            <a:r>
              <a:rPr lang="en" sz="1100">
                <a:solidFill>
                  <a:schemeClr val="dk1"/>
                </a:solidFill>
                <a:latin typeface="Consolas"/>
                <a:ea typeface="Consolas"/>
                <a:cs typeface="Consolas"/>
                <a:sym typeface="Consolas"/>
              </a:rPr>
              <a:t>1   public class Racer implements Runnable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2     private final List&lt;Integer&gt; numbers;</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3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4     public Racer(List&lt;Integer&gt; numbers)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5       this.numbers = numbers;</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6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7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8     public void run()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9       for(int i=0; i&lt;1000; i++)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10         numbers.add(i);</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11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12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13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14    public static void main(String[] args)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15      List&lt;Integer&gt; numbers = new ArrayList&lt;&gt;();</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16      for(int n=0; n&lt;10; n++)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17         Racer racer = new Racer(numbers);</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18         Thread thread = new Thread(racer);</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19         thread.start();</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20      }</a:t>
            </a:r>
            <a:endParaRPr sz="1100"/>
          </a:p>
          <a:p>
            <a:pPr marL="0" marR="0" lvl="0" indent="0" algn="l" rtl="0">
              <a:spcBef>
                <a:spcPts val="0"/>
              </a:spcBef>
              <a:spcAft>
                <a:spcPts val="0"/>
              </a:spcAft>
              <a:buNone/>
            </a:pPr>
            <a:r>
              <a:rPr lang="en" sz="1100">
                <a:solidFill>
                  <a:schemeClr val="dk1"/>
                </a:solidFill>
                <a:latin typeface="Consolas"/>
                <a:ea typeface="Consolas"/>
                <a:cs typeface="Consolas"/>
                <a:sym typeface="Consolas"/>
              </a:rPr>
              <a:t>21   }}</a:t>
            </a:r>
            <a:endParaRPr sz="1100"/>
          </a:p>
        </p:txBody>
      </p:sp>
      <p:sp>
        <p:nvSpPr>
          <p:cNvPr id="979" name="Google Shape;979;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980" name="Google Shape;980;p8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8.17</a:t>
            </a:r>
            <a:endParaRPr/>
          </a:p>
        </p:txBody>
      </p:sp>
      <p:sp>
        <p:nvSpPr>
          <p:cNvPr id="981" name="Google Shape;981;p81"/>
          <p:cNvSpPr/>
          <p:nvPr/>
        </p:nvSpPr>
        <p:spPr>
          <a:xfrm>
            <a:off x="332825" y="1965575"/>
            <a:ext cx="3936900" cy="852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81"/>
          <p:cNvSpPr/>
          <p:nvPr/>
        </p:nvSpPr>
        <p:spPr>
          <a:xfrm>
            <a:off x="332825" y="3477386"/>
            <a:ext cx="3886500" cy="208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81"/>
          <p:cNvSpPr/>
          <p:nvPr/>
        </p:nvSpPr>
        <p:spPr>
          <a:xfrm>
            <a:off x="4666975" y="2775300"/>
            <a:ext cx="3685800" cy="208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81"/>
          <p:cNvSpPr/>
          <p:nvPr/>
        </p:nvSpPr>
        <p:spPr>
          <a:xfrm>
            <a:off x="332825" y="4314874"/>
            <a:ext cx="3886500" cy="208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graphicFrame>
        <p:nvGraphicFramePr>
          <p:cNvPr id="989" name="Google Shape;989;p82"/>
          <p:cNvGraphicFramePr/>
          <p:nvPr/>
        </p:nvGraphicFramePr>
        <p:xfrm>
          <a:off x="-10" y="-9"/>
          <a:ext cx="9143975" cy="5143500"/>
        </p:xfrm>
        <a:graphic>
          <a:graphicData uri="http://schemas.openxmlformats.org/drawingml/2006/table">
            <a:tbl>
              <a:tblPr>
                <a:noFill/>
                <a:tableStyleId>{08F4506A-C2C8-4940-B2F5-69D01CD15942}</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882350">
                <a:tc rowSpan="5">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rowSpan="3">
                  <a:txBody>
                    <a:bodyPr/>
                    <a:lstStyle/>
                    <a:p>
                      <a:pPr marL="0" lvl="0" indent="0" algn="l" rtl="0">
                        <a:spcBef>
                          <a:spcPts val="0"/>
                        </a:spcBef>
                        <a:spcAft>
                          <a:spcPts val="0"/>
                        </a:spcAft>
                        <a:buNone/>
                      </a:pPr>
                      <a:r>
                        <a:rPr lang="en" sz="1000" u="sng">
                          <a:solidFill>
                            <a:schemeClr val="hlink"/>
                          </a:solidFill>
                          <a:hlinkClick r:id="rId3"/>
                        </a:rPr>
                        <a:t>Thread</a:t>
                      </a:r>
                      <a:endParaRPr sz="1000"/>
                    </a:p>
                    <a:p>
                      <a:pPr marL="0" lvl="0" indent="0" algn="l" rtl="0">
                        <a:spcBef>
                          <a:spcPts val="0"/>
                        </a:spcBef>
                        <a:spcAft>
                          <a:spcPts val="0"/>
                        </a:spcAft>
                        <a:buNone/>
                      </a:pPr>
                      <a:r>
                        <a:rPr lang="en" sz="1000">
                          <a:latin typeface="Courier New"/>
                          <a:ea typeface="Courier New"/>
                          <a:cs typeface="Courier New"/>
                          <a:sym typeface="Courier New"/>
                        </a:rPr>
                        <a:t>public class ThreadExample extends Thread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private final int id;</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ThreadExample(int id)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this.id = id;</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void run()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System.out.println(id);</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static void main(String[] args)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Thread example = new ThreadExample(1);</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example.start();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rowSpan="4">
                  <a:txBody>
                    <a:bodyPr/>
                    <a:lstStyle/>
                    <a:p>
                      <a:pPr marL="0" lvl="0" indent="0" algn="l" rtl="0">
                        <a:spcBef>
                          <a:spcPts val="0"/>
                        </a:spcBef>
                        <a:spcAft>
                          <a:spcPts val="0"/>
                        </a:spcAft>
                        <a:buNone/>
                      </a:pPr>
                      <a:r>
                        <a:rPr lang="en" sz="1000" u="sng">
                          <a:solidFill>
                            <a:schemeClr val="hlink"/>
                          </a:solidFill>
                          <a:hlinkClick r:id="rId4"/>
                        </a:rPr>
                        <a:t>Runnable</a:t>
                      </a:r>
                      <a:endParaRPr sz="1000"/>
                    </a:p>
                    <a:p>
                      <a:pPr marL="0" lvl="0" indent="0" algn="l" rtl="0">
                        <a:spcBef>
                          <a:spcPts val="0"/>
                        </a:spcBef>
                        <a:spcAft>
                          <a:spcPts val="0"/>
                        </a:spcAft>
                        <a:buNone/>
                      </a:pPr>
                      <a:r>
                        <a:rPr lang="en" sz="1000">
                          <a:latin typeface="Courier New"/>
                          <a:ea typeface="Courier New"/>
                          <a:cs typeface="Courier New"/>
                          <a:sym typeface="Courier New"/>
                        </a:rPr>
                        <a:t>public class RunnableExample implements Runnable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private final int id;</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RunnableExample(int id)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this.id = id;</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void run()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System.out.println (id);</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static void main(String[] args)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Runnable example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new RunnableExample(1);</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Thread exampleThread = new Thread(example);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exampleThread.start();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41575">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r h="1673300">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976100">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5"/>
                        </a:rPr>
                        <a:t>Thread States</a:t>
                      </a:r>
                      <a:r>
                        <a:rPr lang="en" sz="1000"/>
                        <a:t> (isAlive)</a:t>
                      </a:r>
                      <a:br>
                        <a:rPr lang="en" sz="1000"/>
                      </a:br>
                      <a:r>
                        <a:rPr lang="en" sz="1000">
                          <a:latin typeface="Courier New"/>
                          <a:ea typeface="Courier New"/>
                          <a:cs typeface="Courier New"/>
                          <a:sym typeface="Courier New"/>
                        </a:rPr>
                        <a:t>Thread example = new ThreadExample(1);</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example.start();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while (example.isAlive())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System.out.println(“Done!”};</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3"/>
                  </a:ext>
                </a:extLst>
              </a:tr>
              <a:tr h="970175">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6"/>
                        </a:rPr>
                        <a:t>Sleep</a:t>
                      </a:r>
                      <a:endParaRPr sz="1000"/>
                    </a:p>
                    <a:p>
                      <a:pPr marL="0" lvl="0" indent="0" algn="l" rtl="0">
                        <a:spcBef>
                          <a:spcPts val="0"/>
                        </a:spcBef>
                        <a:spcAft>
                          <a:spcPts val="0"/>
                        </a:spcAft>
                        <a:buNone/>
                      </a:pPr>
                      <a:r>
                        <a:rPr lang="en" sz="1000">
                          <a:latin typeface="Courier New"/>
                          <a:ea typeface="Courier New"/>
                          <a:cs typeface="Courier New"/>
                          <a:sym typeface="Courier New"/>
                        </a:rPr>
                        <a:t>Thread.sleep(ms)</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990" name="Google Shape;990;p82"/>
          <p:cNvSpPr txBox="1"/>
          <p:nvPr/>
        </p:nvSpPr>
        <p:spPr>
          <a:xfrm rot="-5400000">
            <a:off x="-2378350" y="2377688"/>
            <a:ext cx="5151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10: Concurrent Programming </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83"/>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996" name="Google Shape;996;p83"/>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997" name="Google Shape;997;p83"/>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998" name="Google Shape;998;p83"/>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999" name="Google Shape;999;p83"/>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1000" name="Google Shape;1000;p83"/>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1001" name="Google Shape;1001;p83"/>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1002" name="Google Shape;1002;p83"/>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Processes &amp; Threads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Time Slice</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Scheduler</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Courier New"/>
              <a:buChar char="●"/>
            </a:pPr>
            <a:r>
              <a:rPr lang="en" sz="1600" i="1">
                <a:solidFill>
                  <a:srgbClr val="FF0000"/>
                </a:solidFill>
                <a:latin typeface="Courier New"/>
                <a:ea typeface="Courier New"/>
                <a:cs typeface="Courier New"/>
                <a:sym typeface="Courier New"/>
              </a:rPr>
              <a:t>Thread</a:t>
            </a:r>
            <a:endParaRPr sz="1400" i="1">
              <a:solidFill>
                <a:srgbClr val="FF0000"/>
              </a:solidFill>
              <a:latin typeface="Courier New"/>
              <a:ea typeface="Courier New"/>
              <a:cs typeface="Courier New"/>
              <a:sym typeface="Courier New"/>
            </a:endParaRPr>
          </a:p>
          <a:p>
            <a:pPr marL="457200" lvl="0" indent="-330200" algn="l" rtl="0">
              <a:lnSpc>
                <a:spcPct val="100000"/>
              </a:lnSpc>
              <a:spcBef>
                <a:spcPts val="0"/>
              </a:spcBef>
              <a:spcAft>
                <a:spcPts val="0"/>
              </a:spcAft>
              <a:buClr>
                <a:srgbClr val="FF0000"/>
              </a:buClr>
              <a:buSzPts val="1600"/>
              <a:buFont typeface="Courier New"/>
              <a:buChar char="●"/>
            </a:pPr>
            <a:r>
              <a:rPr lang="en" sz="1600" i="1">
                <a:solidFill>
                  <a:srgbClr val="FF0000"/>
                </a:solidFill>
                <a:latin typeface="Courier New"/>
                <a:ea typeface="Courier New"/>
                <a:cs typeface="Courier New"/>
                <a:sym typeface="Courier New"/>
              </a:rPr>
              <a:t>Runnable</a:t>
            </a:r>
            <a:endParaRPr sz="1600" i="1">
              <a:solidFill>
                <a:srgbClr val="FF0000"/>
              </a:solidFill>
              <a:latin typeface="Courier New"/>
              <a:ea typeface="Courier New"/>
              <a:cs typeface="Courier New"/>
              <a:sym typeface="Courier New"/>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Interleaving</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sleep</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InterruptedException</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ExecutorService</a:t>
            </a:r>
            <a:endParaRPr sz="1600">
              <a:solidFill>
                <a:srgbClr val="FF0000"/>
              </a:solidFill>
              <a:latin typeface="Shadows Into Light"/>
              <a:ea typeface="Shadows Into Light"/>
              <a:cs typeface="Shadows Into Light"/>
              <a:sym typeface="Shadows Into Light"/>
            </a:endParaRPr>
          </a:p>
        </p:txBody>
      </p:sp>
      <p:sp>
        <p:nvSpPr>
          <p:cNvPr id="1003" name="Google Shape;1003;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1171</TotalTime>
  <Words>10303</Words>
  <Application>Microsoft Office PowerPoint</Application>
  <PresentationFormat>On-screen Show (16:9)</PresentationFormat>
  <Paragraphs>1234</Paragraphs>
  <Slides>52</Slides>
  <Notes>52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52</vt:i4>
      </vt:variant>
    </vt:vector>
  </HeadingPairs>
  <TitlesOfParts>
    <vt:vector size="65" baseType="lpstr">
      <vt:lpstr>Arial</vt:lpstr>
      <vt:lpstr>Calibri</vt:lpstr>
      <vt:lpstr>Caveat</vt:lpstr>
      <vt:lpstr>Consolas</vt:lpstr>
      <vt:lpstr>Courier New</vt:lpstr>
      <vt:lpstr>Impact</vt:lpstr>
      <vt:lpstr>Merriweather</vt:lpstr>
      <vt:lpstr>Noto Sans Symbols</vt:lpstr>
      <vt:lpstr>Roboto</vt:lpstr>
      <vt:lpstr>Shadows Into Light</vt:lpstr>
      <vt:lpstr>Wingdings</vt:lpstr>
      <vt:lpstr>Paradigm</vt:lpstr>
      <vt:lpstr>Paradigm</vt:lpstr>
      <vt:lpstr>GCIS-124 Software Development &amp; Problem Solving</vt:lpstr>
      <vt:lpstr>Threads</vt:lpstr>
      <vt:lpstr>Let's Race</vt:lpstr>
      <vt:lpstr>More Racers</vt:lpstr>
      <vt:lpstr>Processes</vt:lpstr>
      <vt:lpstr>How Many Threads!?</vt:lpstr>
      <vt:lpstr>Time Sharing</vt:lpstr>
      <vt:lpstr>Extending java.lang.Thread</vt:lpstr>
      <vt:lpstr>A Closer Look at Extending Thread</vt:lpstr>
      <vt:lpstr>A Closer Look at Extending Thread</vt:lpstr>
      <vt:lpstr>The Thread Scheduler</vt:lpstr>
      <vt:lpstr>ThreadRacer</vt:lpstr>
      <vt:lpstr>Multithreading</vt:lpstr>
      <vt:lpstr>Thread States I</vt:lpstr>
      <vt:lpstr>It's Alive!</vt:lpstr>
      <vt:lpstr>Implementing java.lang.Runnable</vt:lpstr>
      <vt:lpstr>A Closer Look at Implementing Runnable</vt:lpstr>
      <vt:lpstr>A Closer Look at Implementing Runnable</vt:lpstr>
      <vt:lpstr>RunnableRacer</vt:lpstr>
      <vt:lpstr>Thread vs. Runnable</vt:lpstr>
      <vt:lpstr>LambdaRace</vt:lpstr>
      <vt:lpstr>Lots of Racers</vt:lpstr>
      <vt:lpstr>ExecutorService</vt:lpstr>
      <vt:lpstr>ExecutorService in Detail</vt:lpstr>
      <vt:lpstr>Executor Implementations</vt:lpstr>
      <vt:lpstr>Lots of Fast Racers</vt:lpstr>
      <vt:lpstr>Analysis</vt:lpstr>
      <vt:lpstr>AwaitTermination</vt:lpstr>
      <vt:lpstr>Terminated!</vt:lpstr>
      <vt:lpstr>Thread States II</vt:lpstr>
      <vt:lpstr>InterruptedException</vt:lpstr>
      <vt:lpstr>Fix Issue</vt:lpstr>
      <vt:lpstr>Unsportspersonlike Conduct</vt:lpstr>
      <vt:lpstr>Synchronization</vt:lpstr>
      <vt:lpstr>Story Time (or how CountDownLatch works)</vt:lpstr>
      <vt:lpstr>Story Time (or how CountDownLatch works)</vt:lpstr>
      <vt:lpstr>Story Time (or how CountDownLatch works)</vt:lpstr>
      <vt:lpstr>Story Time (or how CountDownLatch works)</vt:lpstr>
      <vt:lpstr>Story Time (or how CountDownLatch works)</vt:lpstr>
      <vt:lpstr>Story Time (or how CountDownLatch works)</vt:lpstr>
      <vt:lpstr>Story Time (or how CountDownLatch works)</vt:lpstr>
      <vt:lpstr>Story Time (or how CountDownLatch works)</vt:lpstr>
      <vt:lpstr>Fair Start</vt:lpstr>
      <vt:lpstr>Sleep</vt:lpstr>
      <vt:lpstr>Using Sleep to Simulate Time Passing</vt:lpstr>
      <vt:lpstr>And the Winner Is?</vt:lpstr>
      <vt:lpstr>Race Conditions</vt:lpstr>
      <vt:lpstr>Thread Safety/Critical Regions</vt:lpstr>
      <vt:lpstr>Critical Regions</vt:lpstr>
      <vt:lpstr>Critical Regions</vt:lpstr>
      <vt:lpstr>PowerPoint Presentation</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29</cp:revision>
  <dcterms:modified xsi:type="dcterms:W3CDTF">2026-03-05T21:25:30Z</dcterms:modified>
</cp:coreProperties>
</file>