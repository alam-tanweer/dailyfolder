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9" r:id="rId1"/>
    <p:sldMasterId id="2147483680" r:id="rId2"/>
  </p:sldMasterIdLst>
  <p:notesMasterIdLst>
    <p:notesMasterId r:id="rId6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1E8307-4E6B-4154-8BF4-D3231BAD3CED}">
  <a:tblStyle styleId="{F61E8307-4E6B-4154-8BF4-D3231BAD3CE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614" autoAdjust="0"/>
  </p:normalViewPr>
  <p:slideViewPr>
    <p:cSldViewPr snapToGrid="0">
      <p:cViewPr varScale="1">
        <p:scale>
          <a:sx n="117" d="100"/>
          <a:sy n="117" d="100"/>
        </p:scale>
        <p:origin x="14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134745c178_0_18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134745c178_0_18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134745c178_0_19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134745c178_0_19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An </a:t>
            </a:r>
            <a:r>
              <a:rPr lang="en-US" b="1" dirty="0"/>
              <a:t>N-</a:t>
            </a:r>
            <a:r>
              <a:rPr lang="en-US" b="1" dirty="0" err="1"/>
              <a:t>ary</a:t>
            </a:r>
            <a:r>
              <a:rPr lang="en-US" b="1" dirty="0"/>
              <a:t> tree</a:t>
            </a:r>
            <a:r>
              <a:rPr lang="en-US" dirty="0"/>
              <a:t> (also called a </a:t>
            </a:r>
            <a:r>
              <a:rPr lang="en-US" i="1" dirty="0"/>
              <a:t>general tree</a:t>
            </a:r>
            <a:r>
              <a:rPr lang="en-US" dirty="0"/>
              <a:t>) is a tree where:</a:t>
            </a:r>
          </a:p>
          <a:p>
            <a:r>
              <a:rPr lang="en-US" dirty="0"/>
              <a:t>Each node can have </a:t>
            </a:r>
            <a:r>
              <a:rPr lang="en-US" b="1" dirty="0"/>
              <a:t>0 to N children</a:t>
            </a:r>
            <a:r>
              <a:rPr lang="en-US" dirty="0"/>
              <a:t> </a:t>
            </a:r>
          </a:p>
          <a:p>
            <a:r>
              <a:rPr lang="en-US" dirty="0"/>
              <a:t>There is </a:t>
            </a:r>
            <a:r>
              <a:rPr lang="en-US" b="1" dirty="0"/>
              <a:t>no fixed limit like 2</a:t>
            </a:r>
            <a:r>
              <a:rPr lang="en-US" dirty="0"/>
              <a:t> </a:t>
            </a:r>
          </a:p>
          <a:p>
            <a:r>
              <a:rPr lang="en-US" dirty="0"/>
              <a:t>N can be any number (3, 5, 10… even dynamic) </a:t>
            </a:r>
          </a:p>
          <a:p>
            <a:r>
              <a:rPr lang="en-US" dirty="0"/>
              <a:t>👉 Example:</a:t>
            </a:r>
          </a:p>
          <a:p>
            <a:endParaRPr lang="en-US" dirty="0"/>
          </a:p>
          <a:p>
            <a:r>
              <a:rPr lang="en-US" dirty="0"/>
              <a:t>Binary Search Tree</a:t>
            </a:r>
          </a:p>
          <a:p>
            <a:r>
              <a:rPr lang="en-US" b="1" dirty="0"/>
              <a:t>What it shows:</a:t>
            </a:r>
          </a:p>
          <a:p>
            <a:r>
              <a:rPr lang="en-US" dirty="0"/>
              <a:t>Root = </a:t>
            </a:r>
            <a:r>
              <a:rPr lang="en-US" b="1" dirty="0"/>
              <a:t>5</a:t>
            </a:r>
            <a:r>
              <a:rPr lang="en-US" dirty="0"/>
              <a:t> </a:t>
            </a:r>
          </a:p>
          <a:p>
            <a:r>
              <a:rPr lang="en-US" dirty="0"/>
              <a:t>Left subtree: 3 → 2, 4 </a:t>
            </a:r>
          </a:p>
          <a:p>
            <a:r>
              <a:rPr lang="en-US" dirty="0"/>
              <a:t>Right subtree: 8 → 9 </a:t>
            </a:r>
          </a:p>
          <a:p>
            <a:r>
              <a:rPr lang="en-US" b="1" dirty="0"/>
              <a:t>✅ Key Rule (VERY IMPORTANT):</a:t>
            </a:r>
          </a:p>
          <a:p>
            <a:r>
              <a:rPr lang="en-US" dirty="0"/>
              <a:t>For every node:</a:t>
            </a:r>
          </a:p>
          <a:p>
            <a:r>
              <a:rPr lang="en-US" dirty="0"/>
              <a:t>Left subtree → </a:t>
            </a:r>
            <a:r>
              <a:rPr lang="en-US" b="1" dirty="0"/>
              <a:t>values &lt; node</a:t>
            </a:r>
            <a:r>
              <a:rPr lang="en-US" dirty="0"/>
              <a:t> </a:t>
            </a:r>
          </a:p>
          <a:p>
            <a:r>
              <a:rPr lang="en-US" dirty="0"/>
              <a:t>Right subtree → </a:t>
            </a:r>
            <a:r>
              <a:rPr lang="en-US" b="1" dirty="0"/>
              <a:t>values &gt; node</a:t>
            </a:r>
            <a:r>
              <a:rPr lang="en-US" dirty="0"/>
              <a:t> </a:t>
            </a:r>
          </a:p>
          <a:p>
            <a:r>
              <a:rPr lang="en-US" b="1" dirty="0"/>
              <a:t>✔️ Check the tree:</a:t>
            </a:r>
          </a:p>
          <a:p>
            <a:r>
              <a:rPr lang="en-US" dirty="0"/>
              <a:t>3 &lt; 5 ✔️ </a:t>
            </a:r>
          </a:p>
          <a:p>
            <a:r>
              <a:rPr lang="en-US" dirty="0"/>
              <a:t>2 &lt; 3 ✔️ </a:t>
            </a:r>
          </a:p>
          <a:p>
            <a:r>
              <a:rPr lang="en-US" dirty="0"/>
              <a:t>4 &gt; 3 but &lt; 5 ✔️ </a:t>
            </a:r>
          </a:p>
          <a:p>
            <a:r>
              <a:rPr lang="en-US" dirty="0"/>
              <a:t>8 &gt; 5 ✔️ </a:t>
            </a:r>
          </a:p>
          <a:p>
            <a:r>
              <a:rPr lang="en-US" dirty="0"/>
              <a:t>9 &gt; 8 ✔️ </a:t>
            </a:r>
          </a:p>
          <a:p>
            <a:r>
              <a:rPr lang="en-US" dirty="0"/>
              <a:t>➡️ Everything follows the rule → </a:t>
            </a:r>
            <a:r>
              <a:rPr lang="en-US" b="1" dirty="0"/>
              <a:t>Valid BST</a:t>
            </a:r>
            <a:endParaRPr lang="en-US" dirty="0"/>
          </a:p>
          <a:p>
            <a:endParaRPr lang="en-US" dirty="0"/>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0" name="Google Shape;52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0" name="Google Shape;59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2134745c178_0_2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2134745c178_0_2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2134745c178_0_22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2134745c178_0_2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7" name="Google Shape;82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134745c178_0_2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2134745c178_0_2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8" name="Google Shape;90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134745c178_0_23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6" name="Google Shape;946;g2134745c178_0_2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134745c178_0_24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7" name="Google Shape;987;g2134745c178_0_2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6" name="Google Shape;105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3" name="Google Shape;106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134745c178_0_24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2134745c178_0_2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134745c178_0_25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2134745c178_0_2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2134745c178_0_25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 name="Google Shape;1099;g2134745c178_0_2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134745c178_0_25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9" name="Google Shape;1109;g2134745c178_0_2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2134745c178_0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9" name="Google Shape;1119;g2134745c178_0_3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2134745c178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1" name="Google Shape;1151;g2134745c178_0_3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Here the Path should be F and B</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g2134745c178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3" name="Google Shape;1183;g2134745c178_0_4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g2134745c178_0_2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8" name="Google Shape;1208;g2134745c178_0_26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g2134745c178_0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2" name="Google Shape;1282;g2134745c178_0_5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2134745c178_0_5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5" name="Google Shape;1355;g2134745c178_0_5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g2134745c178_0_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0" name="Google Shape;1400;g2134745c178_0_6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9"/>
        <p:cNvGrpSpPr/>
        <p:nvPr/>
      </p:nvGrpSpPr>
      <p:grpSpPr>
        <a:xfrm>
          <a:off x="0" y="0"/>
          <a:ext cx="0" cy="0"/>
          <a:chOff x="0" y="0"/>
          <a:chExt cx="0" cy="0"/>
        </a:xfrm>
      </p:grpSpPr>
      <p:sp>
        <p:nvSpPr>
          <p:cNvPr id="1430" name="Google Shape;1430;g2134745c178_0_27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1" name="Google Shape;1431;g2134745c178_0_27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g2134745c178_0_2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5" name="Google Shape;1505;g2134745c178_0_2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2134745c178_0_7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5" name="Google Shape;1515;g2134745c178_0_7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3"/>
        <p:cNvGrpSpPr/>
        <p:nvPr/>
      </p:nvGrpSpPr>
      <p:grpSpPr>
        <a:xfrm>
          <a:off x="0" y="0"/>
          <a:ext cx="0" cy="0"/>
          <a:chOff x="0" y="0"/>
          <a:chExt cx="0" cy="0"/>
        </a:xfrm>
      </p:grpSpPr>
      <p:sp>
        <p:nvSpPr>
          <p:cNvPr id="1524" name="Google Shape;1524;g2134745c178_0_7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5" name="Google Shape;1525;g2134745c178_0_7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3"/>
        <p:cNvGrpSpPr/>
        <p:nvPr/>
      </p:nvGrpSpPr>
      <p:grpSpPr>
        <a:xfrm>
          <a:off x="0" y="0"/>
          <a:ext cx="0" cy="0"/>
          <a:chOff x="0" y="0"/>
          <a:chExt cx="0" cy="0"/>
        </a:xfrm>
      </p:grpSpPr>
      <p:sp>
        <p:nvSpPr>
          <p:cNvPr id="1534" name="Google Shape;1534;g2134745c178_0_7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5" name="Google Shape;1535;g2134745c178_0_7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4"/>
        <p:cNvGrpSpPr/>
        <p:nvPr/>
      </p:nvGrpSpPr>
      <p:grpSpPr>
        <a:xfrm>
          <a:off x="0" y="0"/>
          <a:ext cx="0" cy="0"/>
          <a:chOff x="0" y="0"/>
          <a:chExt cx="0" cy="0"/>
        </a:xfrm>
      </p:grpSpPr>
      <p:sp>
        <p:nvSpPr>
          <p:cNvPr id="1585" name="Google Shape;1585;g2134745c178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6" name="Google Shape;1586;g2134745c178_0_7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4"/>
        <p:cNvGrpSpPr/>
        <p:nvPr/>
      </p:nvGrpSpPr>
      <p:grpSpPr>
        <a:xfrm>
          <a:off x="0" y="0"/>
          <a:ext cx="0" cy="0"/>
          <a:chOff x="0" y="0"/>
          <a:chExt cx="0" cy="0"/>
        </a:xfrm>
      </p:grpSpPr>
      <p:sp>
        <p:nvSpPr>
          <p:cNvPr id="1625" name="Google Shape;1625;g2134745c178_0_8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6" name="Google Shape;1626;g2134745c178_0_8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0"/>
        <p:cNvGrpSpPr/>
        <p:nvPr/>
      </p:nvGrpSpPr>
      <p:grpSpPr>
        <a:xfrm>
          <a:off x="0" y="0"/>
          <a:ext cx="0" cy="0"/>
          <a:chOff x="0" y="0"/>
          <a:chExt cx="0" cy="0"/>
        </a:xfrm>
      </p:grpSpPr>
      <p:sp>
        <p:nvSpPr>
          <p:cNvPr id="1651" name="Google Shape;1651;g2134745c178_0_2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2" name="Google Shape;1652;g2134745c178_0_27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p:cNvGrpSpPr/>
        <p:nvPr/>
      </p:nvGrpSpPr>
      <p:grpSpPr>
        <a:xfrm>
          <a:off x="0" y="0"/>
          <a:ext cx="0" cy="0"/>
          <a:chOff x="0" y="0"/>
          <a:chExt cx="0" cy="0"/>
        </a:xfrm>
      </p:grpSpPr>
      <p:sp>
        <p:nvSpPr>
          <p:cNvPr id="1759" name="Google Shape;1759;g2134745c178_0_9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0" name="Google Shape;1760;g2134745c178_0_9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2134745c178_0_9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0" name="Google Shape;1770;g2134745c178_0_9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8"/>
        <p:cNvGrpSpPr/>
        <p:nvPr/>
      </p:nvGrpSpPr>
      <p:grpSpPr>
        <a:xfrm>
          <a:off x="0" y="0"/>
          <a:ext cx="0" cy="0"/>
          <a:chOff x="0" y="0"/>
          <a:chExt cx="0" cy="0"/>
        </a:xfrm>
      </p:grpSpPr>
      <p:sp>
        <p:nvSpPr>
          <p:cNvPr id="1779" name="Google Shape;1779;g2134745c178_0_9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0" name="Google Shape;1780;g2134745c178_0_9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2134745c178_0_9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0" name="Google Shape;1790;g2134745c178_0_9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p:cNvGrpSpPr/>
        <p:nvPr/>
      </p:nvGrpSpPr>
      <p:grpSpPr>
        <a:xfrm>
          <a:off x="0" y="0"/>
          <a:ext cx="0" cy="0"/>
          <a:chOff x="0" y="0"/>
          <a:chExt cx="0" cy="0"/>
        </a:xfrm>
      </p:grpSpPr>
      <p:sp>
        <p:nvSpPr>
          <p:cNvPr id="1799" name="Google Shape;1799;g2134745c178_0_1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0" name="Google Shape;1800;g2134745c178_0_11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5"/>
        <p:cNvGrpSpPr/>
        <p:nvPr/>
      </p:nvGrpSpPr>
      <p:grpSpPr>
        <a:xfrm>
          <a:off x="0" y="0"/>
          <a:ext cx="0" cy="0"/>
          <a:chOff x="0" y="0"/>
          <a:chExt cx="0" cy="0"/>
        </a:xfrm>
      </p:grpSpPr>
      <p:sp>
        <p:nvSpPr>
          <p:cNvPr id="1826" name="Google Shape;1826;g2134745c178_0_29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7" name="Google Shape;1827;g2134745c178_0_29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7"/>
        <p:cNvGrpSpPr/>
        <p:nvPr/>
      </p:nvGrpSpPr>
      <p:grpSpPr>
        <a:xfrm>
          <a:off x="0" y="0"/>
          <a:ext cx="0" cy="0"/>
          <a:chOff x="0" y="0"/>
          <a:chExt cx="0" cy="0"/>
        </a:xfrm>
      </p:grpSpPr>
      <p:sp>
        <p:nvSpPr>
          <p:cNvPr id="1948" name="Google Shape;1948;g2134745c178_0_1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9" name="Google Shape;1949;g2134745c178_0_13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9"/>
        <p:cNvGrpSpPr/>
        <p:nvPr/>
      </p:nvGrpSpPr>
      <p:grpSpPr>
        <a:xfrm>
          <a:off x="0" y="0"/>
          <a:ext cx="0" cy="0"/>
          <a:chOff x="0" y="0"/>
          <a:chExt cx="0" cy="0"/>
        </a:xfrm>
      </p:grpSpPr>
      <p:sp>
        <p:nvSpPr>
          <p:cNvPr id="1980" name="Google Shape;1980;g2134745c178_0_1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1" name="Google Shape;1981;g2134745c178_0_13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3"/>
        <p:cNvGrpSpPr/>
        <p:nvPr/>
      </p:nvGrpSpPr>
      <p:grpSpPr>
        <a:xfrm>
          <a:off x="0" y="0"/>
          <a:ext cx="0" cy="0"/>
          <a:chOff x="0" y="0"/>
          <a:chExt cx="0" cy="0"/>
        </a:xfrm>
      </p:grpSpPr>
      <p:sp>
        <p:nvSpPr>
          <p:cNvPr id="2024" name="Google Shape;2024;g2134745c178_0_30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5" name="Google Shape;2025;g2134745c178_0_30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1"/>
        <p:cNvGrpSpPr/>
        <p:nvPr/>
      </p:nvGrpSpPr>
      <p:grpSpPr>
        <a:xfrm>
          <a:off x="0" y="0"/>
          <a:ext cx="0" cy="0"/>
          <a:chOff x="0" y="0"/>
          <a:chExt cx="0" cy="0"/>
        </a:xfrm>
      </p:grpSpPr>
      <p:sp>
        <p:nvSpPr>
          <p:cNvPr id="2052" name="Google Shape;2052;g2134745c178_0_1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3" name="Google Shape;2053;g2134745c178_0_14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3"/>
        <p:cNvGrpSpPr/>
        <p:nvPr/>
      </p:nvGrpSpPr>
      <p:grpSpPr>
        <a:xfrm>
          <a:off x="0" y="0"/>
          <a:ext cx="0" cy="0"/>
          <a:chOff x="0" y="0"/>
          <a:chExt cx="0" cy="0"/>
        </a:xfrm>
      </p:grpSpPr>
      <p:sp>
        <p:nvSpPr>
          <p:cNvPr id="2134" name="Google Shape;2134;g2134745c178_0_1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5" name="Google Shape;2135;g2134745c178_0_14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1"/>
        <p:cNvGrpSpPr/>
        <p:nvPr/>
      </p:nvGrpSpPr>
      <p:grpSpPr>
        <a:xfrm>
          <a:off x="0" y="0"/>
          <a:ext cx="0" cy="0"/>
          <a:chOff x="0" y="0"/>
          <a:chExt cx="0" cy="0"/>
        </a:xfrm>
      </p:grpSpPr>
      <p:sp>
        <p:nvSpPr>
          <p:cNvPr id="2162" name="Google Shape;2162;g2134745c178_0_1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3" name="Google Shape;2163;g2134745c178_0_1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1"/>
        <p:cNvGrpSpPr/>
        <p:nvPr/>
      </p:nvGrpSpPr>
      <p:grpSpPr>
        <a:xfrm>
          <a:off x="0" y="0"/>
          <a:ext cx="0" cy="0"/>
          <a:chOff x="0" y="0"/>
          <a:chExt cx="0" cy="0"/>
        </a:xfrm>
      </p:grpSpPr>
      <p:sp>
        <p:nvSpPr>
          <p:cNvPr id="2172" name="Google Shape;2172;g2134745c178_0_15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3" name="Google Shape;2173;g2134745c178_0_15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2"/>
        <p:cNvGrpSpPr/>
        <p:nvPr/>
      </p:nvGrpSpPr>
      <p:grpSpPr>
        <a:xfrm>
          <a:off x="0" y="0"/>
          <a:ext cx="0" cy="0"/>
          <a:chOff x="0" y="0"/>
          <a:chExt cx="0" cy="0"/>
        </a:xfrm>
      </p:grpSpPr>
      <p:sp>
        <p:nvSpPr>
          <p:cNvPr id="2183" name="Google Shape;2183;g2134745c178_0_1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4" name="Google Shape;2184;g2134745c178_0_15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3"/>
        <p:cNvGrpSpPr/>
        <p:nvPr/>
      </p:nvGrpSpPr>
      <p:grpSpPr>
        <a:xfrm>
          <a:off x="0" y="0"/>
          <a:ext cx="0" cy="0"/>
          <a:chOff x="0" y="0"/>
          <a:chExt cx="0" cy="0"/>
        </a:xfrm>
      </p:grpSpPr>
      <p:sp>
        <p:nvSpPr>
          <p:cNvPr id="2194" name="Google Shape;2194;g2134745c178_0_1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5" name="Google Shape;2195;g2134745c178_0_1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5"/>
        <p:cNvGrpSpPr/>
        <p:nvPr/>
      </p:nvGrpSpPr>
      <p:grpSpPr>
        <a:xfrm>
          <a:off x="0" y="0"/>
          <a:ext cx="0" cy="0"/>
          <a:chOff x="0" y="0"/>
          <a:chExt cx="0" cy="0"/>
        </a:xfrm>
      </p:grpSpPr>
      <p:sp>
        <p:nvSpPr>
          <p:cNvPr id="2206" name="Google Shape;2206;g2134745c178_0_1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7" name="Google Shape;2207;g2134745c178_0_15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8"/>
        <p:cNvGrpSpPr/>
        <p:nvPr/>
      </p:nvGrpSpPr>
      <p:grpSpPr>
        <a:xfrm>
          <a:off x="0" y="0"/>
          <a:ext cx="0" cy="0"/>
          <a:chOff x="0" y="0"/>
          <a:chExt cx="0" cy="0"/>
        </a:xfrm>
      </p:grpSpPr>
      <p:sp>
        <p:nvSpPr>
          <p:cNvPr id="2239" name="Google Shape;2239;g2134745c178_0_1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0" name="Google Shape;2240;g2134745c178_0_15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2"/>
        <p:cNvGrpSpPr/>
        <p:nvPr/>
      </p:nvGrpSpPr>
      <p:grpSpPr>
        <a:xfrm>
          <a:off x="0" y="0"/>
          <a:ext cx="0" cy="0"/>
          <a:chOff x="0" y="0"/>
          <a:chExt cx="0" cy="0"/>
        </a:xfrm>
      </p:grpSpPr>
      <p:sp>
        <p:nvSpPr>
          <p:cNvPr id="2273" name="Google Shape;2273;g2134745c178_0_16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4" name="Google Shape;2274;g2134745c178_0_16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4"/>
        <p:cNvGrpSpPr/>
        <p:nvPr/>
      </p:nvGrpSpPr>
      <p:grpSpPr>
        <a:xfrm>
          <a:off x="0" y="0"/>
          <a:ext cx="0" cy="0"/>
          <a:chOff x="0" y="0"/>
          <a:chExt cx="0" cy="0"/>
        </a:xfrm>
      </p:grpSpPr>
      <p:sp>
        <p:nvSpPr>
          <p:cNvPr id="2315" name="Google Shape;2315;g2134745c178_0_1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6" name="Google Shape;2316;g2134745c178_0_16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1"/>
        <p:cNvGrpSpPr/>
        <p:nvPr/>
      </p:nvGrpSpPr>
      <p:grpSpPr>
        <a:xfrm>
          <a:off x="0" y="0"/>
          <a:ext cx="0" cy="0"/>
          <a:chOff x="0" y="0"/>
          <a:chExt cx="0" cy="0"/>
        </a:xfrm>
      </p:grpSpPr>
      <p:sp>
        <p:nvSpPr>
          <p:cNvPr id="2362" name="Google Shape;2362;g2134745c178_0_1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3" name="Google Shape;2363;g2134745c178_0_17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1"/>
        <p:cNvGrpSpPr/>
        <p:nvPr/>
      </p:nvGrpSpPr>
      <p:grpSpPr>
        <a:xfrm>
          <a:off x="0" y="0"/>
          <a:ext cx="0" cy="0"/>
          <a:chOff x="0" y="0"/>
          <a:chExt cx="0" cy="0"/>
        </a:xfrm>
      </p:grpSpPr>
      <p:sp>
        <p:nvSpPr>
          <p:cNvPr id="2372" name="Google Shape;2372;g2134745c178_0_17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3" name="Google Shape;2373;g2134745c178_0_17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4"/>
        <p:cNvGrpSpPr/>
        <p:nvPr/>
      </p:nvGrpSpPr>
      <p:grpSpPr>
        <a:xfrm>
          <a:off x="0" y="0"/>
          <a:ext cx="0" cy="0"/>
          <a:chOff x="0" y="0"/>
          <a:chExt cx="0" cy="0"/>
        </a:xfrm>
      </p:grpSpPr>
      <p:sp>
        <p:nvSpPr>
          <p:cNvPr id="2395" name="Google Shape;2395;g2134745c178_0_1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6" name="Google Shape;2396;g2134745c178_0_17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8"/>
        <p:cNvGrpSpPr/>
        <p:nvPr/>
      </p:nvGrpSpPr>
      <p:grpSpPr>
        <a:xfrm>
          <a:off x="0" y="0"/>
          <a:ext cx="0" cy="0"/>
          <a:chOff x="0" y="0"/>
          <a:chExt cx="0" cy="0"/>
        </a:xfrm>
      </p:grpSpPr>
      <p:sp>
        <p:nvSpPr>
          <p:cNvPr id="2419" name="Google Shape;2419;g2134745c178_0_17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0" name="Google Shape;2420;g2134745c178_0_17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3"/>
        <p:cNvGrpSpPr/>
        <p:nvPr/>
      </p:nvGrpSpPr>
      <p:grpSpPr>
        <a:xfrm>
          <a:off x="0" y="0"/>
          <a:ext cx="0" cy="0"/>
          <a:chOff x="0" y="0"/>
          <a:chExt cx="0" cy="0"/>
        </a:xfrm>
      </p:grpSpPr>
      <p:sp>
        <p:nvSpPr>
          <p:cNvPr id="2434" name="Google Shape;2434;g2134745c178_0_1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5" name="Google Shape;2435;g2134745c178_0_17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3"/>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1">
  <p:cSld name="AUTOLAYOUT_1">
    <p:bg>
      <p:bgPr>
        <a:solidFill>
          <a:srgbClr val="FFFFFF"/>
        </a:solidFill>
        <a:effectLst/>
      </p:bgPr>
    </p:bg>
    <p:spTree>
      <p:nvGrpSpPr>
        <p:cNvPr id="1"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3600"/>
              <a:buNone/>
              <a:defRPr sz="3600" b="1">
                <a:solidFill>
                  <a:schemeClr val="dk1"/>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4" name="Google Shape;24;p4"/>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4"/>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7" name="Google Shape;27;p4"/>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8" name="Google Shape;28;p4"/>
          <p:cNvSpPr txBox="1">
            <a:spLocks noGrp="1"/>
          </p:cNvSpPr>
          <p:nvPr>
            <p:ph type="title" idx="4"/>
          </p:nvPr>
        </p:nvSpPr>
        <p:spPr>
          <a:xfrm>
            <a:off x="427525" y="32875"/>
            <a:ext cx="933900" cy="749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29"/>
        <p:cNvGrpSpPr/>
        <p:nvPr/>
      </p:nvGrpSpPr>
      <p:grpSpPr>
        <a:xfrm>
          <a:off x="0" y="0"/>
          <a:ext cx="0" cy="0"/>
          <a:chOff x="0" y="0"/>
          <a:chExt cx="0" cy="0"/>
        </a:xfrm>
      </p:grpSpPr>
      <p:sp>
        <p:nvSpPr>
          <p:cNvPr id="30" name="Google Shape;30;p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5"/>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34" name="Google Shape;34;p5"/>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36" name="Google Shape;36;p5"/>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38" name="Google Shape;38;p5"/>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9"/>
        <p:cNvGrpSpPr/>
        <p:nvPr/>
      </p:nvGrpSpPr>
      <p:grpSpPr>
        <a:xfrm>
          <a:off x="0" y="0"/>
          <a:ext cx="0" cy="0"/>
          <a:chOff x="0" y="0"/>
          <a:chExt cx="0" cy="0"/>
        </a:xfrm>
      </p:grpSpPr>
      <p:sp>
        <p:nvSpPr>
          <p:cNvPr id="40" name="Google Shape;40;p6"/>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1" name="Google Shape;41;p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6"/>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3" name="Google Shape;43;p6"/>
          <p:cNvSpPr txBox="1">
            <a:spLocks noGrp="1"/>
          </p:cNvSpPr>
          <p:nvPr>
            <p:ph type="body" idx="1"/>
          </p:nvPr>
        </p:nvSpPr>
        <p:spPr>
          <a:xfrm>
            <a:off x="46446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4" name="Google Shape;4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45" name="Google Shape;45;p6"/>
          <p:cNvSpPr txBox="1">
            <a:spLocks noGrp="1"/>
          </p:cNvSpPr>
          <p:nvPr>
            <p:ph type="body" idx="2"/>
          </p:nvPr>
        </p:nvSpPr>
        <p:spPr>
          <a:xfrm>
            <a:off x="3154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46" name="Google Shape;46;p6"/>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50" name="Google Shape;50;p7"/>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7"/>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52" name="Google Shape;52;p7"/>
          <p:cNvSpPr txBox="1">
            <a:spLocks noGrp="1"/>
          </p:cNvSpPr>
          <p:nvPr>
            <p:ph type="body" idx="1"/>
          </p:nvPr>
        </p:nvSpPr>
        <p:spPr>
          <a:xfrm>
            <a:off x="3012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3" name="Google Shape;53;p7"/>
          <p:cNvSpPr txBox="1">
            <a:spLocks noGrp="1"/>
          </p:cNvSpPr>
          <p:nvPr>
            <p:ph type="body" idx="2"/>
          </p:nvPr>
        </p:nvSpPr>
        <p:spPr>
          <a:xfrm>
            <a:off x="51922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54" name="Google Shape;5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5"/>
        <p:cNvGrpSpPr/>
        <p:nvPr/>
      </p:nvGrpSpPr>
      <p:grpSpPr>
        <a:xfrm>
          <a:off x="0" y="0"/>
          <a:ext cx="0" cy="0"/>
          <a:chOff x="0" y="0"/>
          <a:chExt cx="0" cy="0"/>
        </a:xfrm>
      </p:grpSpPr>
      <p:sp>
        <p:nvSpPr>
          <p:cNvPr id="56" name="Google Shape;56;p8"/>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8"/>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58" name="Google Shape;58;p8"/>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9" name="Google Shape;59;p8"/>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60" name="Google Shape;60;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3"/>
        <p:cNvGrpSpPr/>
        <p:nvPr/>
      </p:nvGrpSpPr>
      <p:grpSpPr>
        <a:xfrm>
          <a:off x="0" y="0"/>
          <a:ext cx="0" cy="0"/>
          <a:chOff x="0" y="0"/>
          <a:chExt cx="0" cy="0"/>
        </a:xfrm>
      </p:grpSpPr>
      <p:sp>
        <p:nvSpPr>
          <p:cNvPr id="64" name="Google Shape;64;p10"/>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65" name="Google Shape;65;p10"/>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1600"/>
              </a:spcBef>
              <a:spcAft>
                <a:spcPts val="0"/>
              </a:spcAft>
              <a:buClr>
                <a:schemeClr val="accent2"/>
              </a:buClr>
              <a:buSzPts val="1100"/>
              <a:buChar char="○"/>
              <a:defRPr>
                <a:solidFill>
                  <a:schemeClr val="accent2"/>
                </a:solidFill>
              </a:defRPr>
            </a:lvl2pPr>
            <a:lvl3pPr marL="1371600" lvl="2" indent="-298450" algn="l">
              <a:lnSpc>
                <a:spcPct val="115000"/>
              </a:lnSpc>
              <a:spcBef>
                <a:spcPts val="1600"/>
              </a:spcBef>
              <a:spcAft>
                <a:spcPts val="0"/>
              </a:spcAft>
              <a:buClr>
                <a:schemeClr val="accent2"/>
              </a:buClr>
              <a:buSzPts val="1100"/>
              <a:buChar char="■"/>
              <a:defRPr>
                <a:solidFill>
                  <a:schemeClr val="accent2"/>
                </a:solidFill>
              </a:defRPr>
            </a:lvl3pPr>
            <a:lvl4pPr marL="1828800" lvl="3" indent="-298450" algn="l">
              <a:lnSpc>
                <a:spcPct val="115000"/>
              </a:lnSpc>
              <a:spcBef>
                <a:spcPts val="1600"/>
              </a:spcBef>
              <a:spcAft>
                <a:spcPts val="0"/>
              </a:spcAft>
              <a:buClr>
                <a:schemeClr val="accent2"/>
              </a:buClr>
              <a:buSzPts val="1100"/>
              <a:buChar char="●"/>
              <a:defRPr>
                <a:solidFill>
                  <a:schemeClr val="accent2"/>
                </a:solidFill>
              </a:defRPr>
            </a:lvl4pPr>
            <a:lvl5pPr marL="2286000" lvl="4" indent="-298450" algn="l">
              <a:lnSpc>
                <a:spcPct val="115000"/>
              </a:lnSpc>
              <a:spcBef>
                <a:spcPts val="1600"/>
              </a:spcBef>
              <a:spcAft>
                <a:spcPts val="0"/>
              </a:spcAft>
              <a:buClr>
                <a:schemeClr val="accent2"/>
              </a:buClr>
              <a:buSzPts val="1100"/>
              <a:buChar char="○"/>
              <a:defRPr>
                <a:solidFill>
                  <a:schemeClr val="accent2"/>
                </a:solidFill>
              </a:defRPr>
            </a:lvl5pPr>
            <a:lvl6pPr marL="2743200" lvl="5" indent="-298450" algn="l">
              <a:lnSpc>
                <a:spcPct val="115000"/>
              </a:lnSpc>
              <a:spcBef>
                <a:spcPts val="1600"/>
              </a:spcBef>
              <a:spcAft>
                <a:spcPts val="0"/>
              </a:spcAft>
              <a:buClr>
                <a:schemeClr val="accent2"/>
              </a:buClr>
              <a:buSzPts val="1100"/>
              <a:buChar char="■"/>
              <a:defRPr>
                <a:solidFill>
                  <a:schemeClr val="accent2"/>
                </a:solidFill>
              </a:defRPr>
            </a:lvl6pPr>
            <a:lvl7pPr marL="3200400" lvl="6" indent="-298450" algn="l">
              <a:lnSpc>
                <a:spcPct val="115000"/>
              </a:lnSpc>
              <a:spcBef>
                <a:spcPts val="1600"/>
              </a:spcBef>
              <a:spcAft>
                <a:spcPts val="0"/>
              </a:spcAft>
              <a:buClr>
                <a:schemeClr val="accent2"/>
              </a:buClr>
              <a:buSzPts val="1100"/>
              <a:buChar char="●"/>
              <a:defRPr>
                <a:solidFill>
                  <a:schemeClr val="accent2"/>
                </a:solidFill>
              </a:defRPr>
            </a:lvl7pPr>
            <a:lvl8pPr marL="3657600" lvl="7" indent="-298450" algn="l">
              <a:lnSpc>
                <a:spcPct val="115000"/>
              </a:lnSpc>
              <a:spcBef>
                <a:spcPts val="1600"/>
              </a:spcBef>
              <a:spcAft>
                <a:spcPts val="0"/>
              </a:spcAft>
              <a:buClr>
                <a:schemeClr val="accent2"/>
              </a:buClr>
              <a:buSzPts val="1100"/>
              <a:buChar char="○"/>
              <a:defRPr>
                <a:solidFill>
                  <a:schemeClr val="accent2"/>
                </a:solidFill>
              </a:defRPr>
            </a:lvl8pPr>
            <a:lvl9pPr marL="4114800" lvl="8" indent="-298450" algn="l">
              <a:lnSpc>
                <a:spcPct val="115000"/>
              </a:lnSpc>
              <a:spcBef>
                <a:spcPts val="1600"/>
              </a:spcBef>
              <a:spcAft>
                <a:spcPts val="1600"/>
              </a:spcAft>
              <a:buClr>
                <a:schemeClr val="accent2"/>
              </a:buClr>
              <a:buSzPts val="1100"/>
              <a:buChar char="■"/>
              <a:defRPr>
                <a:solidFill>
                  <a:schemeClr val="accent2"/>
                </a:solidFill>
              </a:defRPr>
            </a:lvl9pPr>
          </a:lstStyle>
          <a:p>
            <a:endParaRPr/>
          </a:p>
        </p:txBody>
      </p:sp>
      <p:sp>
        <p:nvSpPr>
          <p:cNvPr id="66" name="Google Shape;66;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67"/>
        <p:cNvGrpSpPr/>
        <p:nvPr/>
      </p:nvGrpSpPr>
      <p:grpSpPr>
        <a:xfrm>
          <a:off x="0" y="0"/>
          <a:ext cx="0" cy="0"/>
          <a:chOff x="0" y="0"/>
          <a:chExt cx="0" cy="0"/>
        </a:xfrm>
      </p:grpSpPr>
      <p:sp>
        <p:nvSpPr>
          <p:cNvPr id="68" name="Google Shape;68;p11"/>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69" name="Google Shape;69;p11"/>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70" name="Google Shape;70;p11"/>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71" name="Google Shape;71;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74" name="Google Shape;7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5"/>
        <p:cNvGrpSpPr/>
        <p:nvPr/>
      </p:nvGrpSpPr>
      <p:grpSpPr>
        <a:xfrm>
          <a:off x="0" y="0"/>
          <a:ext cx="0" cy="0"/>
          <a:chOff x="0" y="0"/>
          <a:chExt cx="0" cy="0"/>
        </a:xfrm>
      </p:grpSpPr>
      <p:sp>
        <p:nvSpPr>
          <p:cNvPr id="76" name="Google Shape;76;p13"/>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3"/>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78" name="Google Shape;78;p13"/>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79" name="Google Shape;79;p13"/>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80" name="Google Shape;80;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1"/>
        <p:cNvGrpSpPr/>
        <p:nvPr/>
      </p:nvGrpSpPr>
      <p:grpSpPr>
        <a:xfrm>
          <a:off x="0" y="0"/>
          <a:ext cx="0" cy="0"/>
          <a:chOff x="0" y="0"/>
          <a:chExt cx="0" cy="0"/>
        </a:xfrm>
      </p:grpSpPr>
      <p:sp>
        <p:nvSpPr>
          <p:cNvPr id="82" name="Google Shape;82;p14"/>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4"/>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84" name="Google Shape;84;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85"/>
        <p:cNvGrpSpPr/>
        <p:nvPr/>
      </p:nvGrpSpPr>
      <p:grpSpPr>
        <a:xfrm>
          <a:off x="0" y="0"/>
          <a:ext cx="0" cy="0"/>
          <a:chOff x="0" y="0"/>
          <a:chExt cx="0" cy="0"/>
        </a:xfrm>
      </p:grpSpPr>
      <p:sp>
        <p:nvSpPr>
          <p:cNvPr id="86" name="Google Shape;86;p1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8" name="Google Shape;88;p1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89" name="Google Shape;89;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 name="Google Shape;92;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93" name="Google Shape;93;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8"/>
        <p:cNvGrpSpPr/>
        <p:nvPr/>
      </p:nvGrpSpPr>
      <p:grpSpPr>
        <a:xfrm>
          <a:off x="0" y="0"/>
          <a:ext cx="0" cy="0"/>
          <a:chOff x="0" y="0"/>
          <a:chExt cx="0" cy="0"/>
        </a:xfrm>
      </p:grpSpPr>
      <p:sp>
        <p:nvSpPr>
          <p:cNvPr id="99" name="Google Shape;99;p1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00" name="Google Shape;100;p18"/>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1" name="Google Shape;101;p18"/>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03"/>
        <p:cNvGrpSpPr/>
        <p:nvPr/>
      </p:nvGrpSpPr>
      <p:grpSpPr>
        <a:xfrm>
          <a:off x="0" y="0"/>
          <a:ext cx="0" cy="0"/>
          <a:chOff x="0" y="0"/>
          <a:chExt cx="0" cy="0"/>
        </a:xfrm>
      </p:grpSpPr>
      <p:sp>
        <p:nvSpPr>
          <p:cNvPr id="104" name="Google Shape;104;p1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05" name="Google Shape;105;p1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06" name="Google Shape;106;p19"/>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7" name="Google Shape;10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8"/>
        <p:cNvGrpSpPr/>
        <p:nvPr/>
      </p:nvGrpSpPr>
      <p:grpSpPr>
        <a:xfrm>
          <a:off x="0" y="0"/>
          <a:ext cx="0" cy="0"/>
          <a:chOff x="0" y="0"/>
          <a:chExt cx="0" cy="0"/>
        </a:xfrm>
      </p:grpSpPr>
      <p:sp>
        <p:nvSpPr>
          <p:cNvPr id="109" name="Google Shape;109;p20"/>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10" name="Google Shape;110;p20"/>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0"/>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2" name="Google Shape;112;p20"/>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3" name="Google Shape;113;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4" name="Google Shape;114;p20"/>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15" name="Google Shape;115;p20"/>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6"/>
        <p:cNvGrpSpPr/>
        <p:nvPr/>
      </p:nvGrpSpPr>
      <p:grpSpPr>
        <a:xfrm>
          <a:off x="0" y="0"/>
          <a:ext cx="0" cy="0"/>
          <a:chOff x="0" y="0"/>
          <a:chExt cx="0" cy="0"/>
        </a:xfrm>
      </p:grpSpPr>
      <p:sp>
        <p:nvSpPr>
          <p:cNvPr id="117" name="Google Shape;117;p2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9" name="Google Shape;119;p21"/>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0" name="Google Shape;120;p21"/>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1" name="Google Shape;121;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sp>
        <p:nvSpPr>
          <p:cNvPr id="123" name="Google Shape;123;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5" name="Google Shape;12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6"/>
        <p:cNvGrpSpPr/>
        <p:nvPr/>
      </p:nvGrpSpPr>
      <p:grpSpPr>
        <a:xfrm>
          <a:off x="0" y="0"/>
          <a:ext cx="0" cy="0"/>
          <a:chOff x="0" y="0"/>
          <a:chExt cx="0" cy="0"/>
        </a:xfrm>
      </p:grpSpPr>
      <p:sp>
        <p:nvSpPr>
          <p:cNvPr id="127" name="Google Shape;127;p2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29" name="Google Shape;129;p2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23"/>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1" name="Google Shape;131;p23"/>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2" name="Google Shape;132;p23"/>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33" name="Google Shape;133;p2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6" name="Google Shape;13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7"/>
        <p:cNvGrpSpPr/>
        <p:nvPr/>
      </p:nvGrpSpPr>
      <p:grpSpPr>
        <a:xfrm>
          <a:off x="0" y="0"/>
          <a:ext cx="0" cy="0"/>
          <a:chOff x="0" y="0"/>
          <a:chExt cx="0" cy="0"/>
        </a:xfrm>
      </p:grpSpPr>
      <p:sp>
        <p:nvSpPr>
          <p:cNvPr id="138" name="Google Shape;138;p25"/>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5"/>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0" name="Google Shape;140;p25"/>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41" name="Google Shape;141;p25"/>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2" name="Google Shape;142;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3"/>
        <p:cNvGrpSpPr/>
        <p:nvPr/>
      </p:nvGrpSpPr>
      <p:grpSpPr>
        <a:xfrm>
          <a:off x="0" y="0"/>
          <a:ext cx="0" cy="0"/>
          <a:chOff x="0" y="0"/>
          <a:chExt cx="0" cy="0"/>
        </a:xfrm>
      </p:grpSpPr>
      <p:sp>
        <p:nvSpPr>
          <p:cNvPr id="144" name="Google Shape;144;p26"/>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6"/>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46" name="Google Shape;14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47"/>
        <p:cNvGrpSpPr/>
        <p:nvPr/>
      </p:nvGrpSpPr>
      <p:grpSpPr>
        <a:xfrm>
          <a:off x="0" y="0"/>
          <a:ext cx="0" cy="0"/>
          <a:chOff x="0" y="0"/>
          <a:chExt cx="0" cy="0"/>
        </a:xfrm>
      </p:grpSpPr>
      <p:sp>
        <p:nvSpPr>
          <p:cNvPr id="148" name="Google Shape;148;p27"/>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49" name="Google Shape;149;p27"/>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50" name="Google Shape;15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1"/>
        <p:cNvGrpSpPr/>
        <p:nvPr/>
      </p:nvGrpSpPr>
      <p:grpSpPr>
        <a:xfrm>
          <a:off x="0" y="0"/>
          <a:ext cx="0" cy="0"/>
          <a:chOff x="0" y="0"/>
          <a:chExt cx="0" cy="0"/>
        </a:xfrm>
      </p:grpSpPr>
      <p:sp>
        <p:nvSpPr>
          <p:cNvPr id="152" name="Google Shape;152;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53"/>
        <p:cNvGrpSpPr/>
        <p:nvPr/>
      </p:nvGrpSpPr>
      <p:grpSpPr>
        <a:xfrm>
          <a:off x="0" y="0"/>
          <a:ext cx="0" cy="0"/>
          <a:chOff x="0" y="0"/>
          <a:chExt cx="0" cy="0"/>
        </a:xfrm>
      </p:grpSpPr>
      <p:sp>
        <p:nvSpPr>
          <p:cNvPr id="154" name="Google Shape;154;p2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6" name="Google Shape;156;p2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7" name="Google Shape;157;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158"/>
        <p:cNvGrpSpPr/>
        <p:nvPr/>
      </p:nvGrpSpPr>
      <p:grpSpPr>
        <a:xfrm>
          <a:off x="0" y="0"/>
          <a:ext cx="0" cy="0"/>
          <a:chOff x="0" y="0"/>
          <a:chExt cx="0" cy="0"/>
        </a:xfrm>
      </p:grpSpPr>
      <p:sp>
        <p:nvSpPr>
          <p:cNvPr id="159" name="Google Shape;159;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0" name="Google Shape;160;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1" name="Google Shape;16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162"/>
        <p:cNvGrpSpPr/>
        <p:nvPr/>
      </p:nvGrpSpPr>
      <p:grpSpPr>
        <a:xfrm>
          <a:off x="0" y="0"/>
          <a:ext cx="0" cy="0"/>
          <a:chOff x="0" y="0"/>
          <a:chExt cx="0" cy="0"/>
        </a:xfrm>
      </p:grpSpPr>
      <p:cxnSp>
        <p:nvCxnSpPr>
          <p:cNvPr id="163" name="Google Shape;163;p31"/>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164" name="Google Shape;164;p31"/>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5" name="Google Shape;165;p3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6" name="Google Shape;166;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167"/>
        <p:cNvGrpSpPr/>
        <p:nvPr/>
      </p:nvGrpSpPr>
      <p:grpSpPr>
        <a:xfrm>
          <a:off x="0" y="0"/>
          <a:ext cx="0" cy="0"/>
          <a:chOff x="0" y="0"/>
          <a:chExt cx="0" cy="0"/>
        </a:xfrm>
      </p:grpSpPr>
      <p:sp>
        <p:nvSpPr>
          <p:cNvPr id="168" name="Google Shape;168;p3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2"/>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0" name="Google Shape;170;p3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71" name="Google Shape;171;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172"/>
        <p:cNvGrpSpPr/>
        <p:nvPr/>
      </p:nvGrpSpPr>
      <p:grpSpPr>
        <a:xfrm>
          <a:off x="0" y="0"/>
          <a:ext cx="0" cy="0"/>
          <a:chOff x="0" y="0"/>
          <a:chExt cx="0" cy="0"/>
        </a:xfrm>
      </p:grpSpPr>
      <p:sp>
        <p:nvSpPr>
          <p:cNvPr id="173" name="Google Shape;173;p33"/>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3"/>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75" name="Google Shape;175;p33"/>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76" name="Google Shape;176;p33"/>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77" name="Google Shape;177;p33"/>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3"/>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79" name="Google Shape;179;p33"/>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3"/>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81" name="Google Shape;181;p33"/>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96" name="Google Shape;96;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97" name="Google Shape;97;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4"/>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GCIS-124</a:t>
            </a:r>
            <a:endParaRPr/>
          </a:p>
          <a:p>
            <a:pPr marL="0" lvl="0" indent="0" algn="l" rtl="0">
              <a:lnSpc>
                <a:spcPct val="100000"/>
              </a:lnSpc>
              <a:spcBef>
                <a:spcPts val="0"/>
              </a:spcBef>
              <a:spcAft>
                <a:spcPts val="0"/>
              </a:spcAft>
              <a:buSzPts val="3600"/>
              <a:buNone/>
            </a:pPr>
            <a:r>
              <a:rPr lang="en" sz="3100"/>
              <a:t>Software Development &amp; Problem Solving</a:t>
            </a:r>
            <a:endParaRPr sz="3100"/>
          </a:p>
        </p:txBody>
      </p:sp>
      <p:sp>
        <p:nvSpPr>
          <p:cNvPr id="187" name="Google Shape;187;p34"/>
          <p:cNvSpPr txBox="1">
            <a:spLocks noGrp="1"/>
          </p:cNvSpPr>
          <p:nvPr>
            <p:ph type="subTitle" idx="1"/>
          </p:nvPr>
        </p:nvSpPr>
        <p:spPr>
          <a:xfrm>
            <a:off x="311700" y="1878550"/>
            <a:ext cx="4741200" cy="950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sz="2600" i="1"/>
              <a:t>12: Data Structures IV</a:t>
            </a:r>
            <a:endParaRPr sz="2600" i="1">
              <a:solidFill>
                <a:srgbClr val="FF0000"/>
              </a:solidFill>
            </a:endParaRPr>
          </a:p>
        </p:txBody>
      </p:sp>
      <p:grpSp>
        <p:nvGrpSpPr>
          <p:cNvPr id="188" name="Google Shape;188;p34"/>
          <p:cNvGrpSpPr/>
          <p:nvPr/>
        </p:nvGrpSpPr>
        <p:grpSpPr>
          <a:xfrm>
            <a:off x="5001999" y="4264475"/>
            <a:ext cx="3908400" cy="738300"/>
            <a:chOff x="5001999" y="4264475"/>
            <a:chExt cx="3908400" cy="738300"/>
          </a:xfrm>
        </p:grpSpPr>
        <p:sp>
          <p:nvSpPr>
            <p:cNvPr id="189" name="Google Shape;189;p34"/>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0" name="Google Shape;190;p34"/>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5"/>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Graphs</a:t>
            </a:r>
            <a:endParaRPr/>
          </a:p>
        </p:txBody>
      </p:sp>
      <p:sp>
        <p:nvSpPr>
          <p:cNvPr id="196" name="Google Shape;196;p35"/>
          <p:cNvSpPr txBox="1">
            <a:spLocks noGrp="1"/>
          </p:cNvSpPr>
          <p:nvPr>
            <p:ph type="body" idx="1"/>
          </p:nvPr>
        </p:nvSpPr>
        <p:spPr>
          <a:xfrm>
            <a:off x="4644675" y="272325"/>
            <a:ext cx="4166400" cy="45534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In this unit we will learn about a new kind of data structure: the </a:t>
            </a:r>
            <a:r>
              <a:rPr lang="en" b="1" i="1" dirty="0">
                <a:solidFill>
                  <a:srgbClr val="FF0000"/>
                </a:solidFill>
                <a:highlight>
                  <a:srgbClr val="FFFF00"/>
                </a:highlight>
              </a:rPr>
              <a:t>graph</a:t>
            </a:r>
            <a:r>
              <a:rPr lang="en" dirty="0"/>
              <a:t>.</a:t>
            </a:r>
            <a:endParaRPr dirty="0"/>
          </a:p>
          <a:p>
            <a:pPr marL="914400" lvl="1" indent="-298450" algn="l" rtl="0">
              <a:lnSpc>
                <a:spcPct val="115000"/>
              </a:lnSpc>
              <a:spcBef>
                <a:spcPts val="0"/>
              </a:spcBef>
              <a:spcAft>
                <a:spcPts val="0"/>
              </a:spcAft>
              <a:buSzPts val="1100"/>
              <a:buChar char="○"/>
            </a:pPr>
            <a:r>
              <a:rPr lang="en" dirty="0"/>
              <a:t>A graph comprises </a:t>
            </a:r>
            <a:r>
              <a:rPr lang="en" b="1" i="1" dirty="0">
                <a:solidFill>
                  <a:srgbClr val="FF0000"/>
                </a:solidFill>
                <a:highlight>
                  <a:srgbClr val="FFFF00"/>
                </a:highlight>
              </a:rPr>
              <a:t>vertices</a:t>
            </a:r>
            <a:r>
              <a:rPr lang="en" dirty="0"/>
              <a:t>, each of which holds some kind of </a:t>
            </a:r>
            <a:r>
              <a:rPr lang="en" b="1" i="1" dirty="0">
                <a:solidFill>
                  <a:srgbClr val="FF0000"/>
                </a:solidFill>
              </a:rPr>
              <a:t>data</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Two </a:t>
            </a:r>
            <a:r>
              <a:rPr lang="en" b="1" i="1" dirty="0">
                <a:solidFill>
                  <a:srgbClr val="FF0000"/>
                </a:solidFill>
                <a:highlight>
                  <a:srgbClr val="FFFF00"/>
                </a:highlight>
              </a:rPr>
              <a:t>vertices</a:t>
            </a:r>
            <a:r>
              <a:rPr lang="en" dirty="0">
                <a:solidFill>
                  <a:srgbClr val="FF0000"/>
                </a:solidFill>
                <a:highlight>
                  <a:srgbClr val="FFFF00"/>
                </a:highlight>
              </a:rPr>
              <a:t> </a:t>
            </a:r>
            <a:r>
              <a:rPr lang="en" dirty="0">
                <a:highlight>
                  <a:srgbClr val="FFFF00"/>
                </a:highlight>
              </a:rPr>
              <a:t>may be connected by an </a:t>
            </a:r>
            <a:r>
              <a:rPr lang="en" b="1" i="1" dirty="0">
                <a:solidFill>
                  <a:srgbClr val="FF0000"/>
                </a:solidFill>
                <a:highlight>
                  <a:srgbClr val="FFFF00"/>
                </a:highlight>
              </a:rPr>
              <a:t>edge</a:t>
            </a:r>
            <a:r>
              <a:rPr lang="en" dirty="0">
                <a:highlight>
                  <a:srgbClr val="FFFF00"/>
                </a:highlight>
              </a:rPr>
              <a:t>. </a:t>
            </a:r>
            <a:r>
              <a:rPr lang="en" dirty="0"/>
              <a:t>If so, they are said to be </a:t>
            </a:r>
            <a:r>
              <a:rPr lang="en" b="1" i="1" dirty="0">
                <a:solidFill>
                  <a:srgbClr val="FF0000"/>
                </a:solidFill>
                <a:highlight>
                  <a:srgbClr val="FFFF00"/>
                </a:highlight>
              </a:rPr>
              <a:t>neighbors</a:t>
            </a:r>
            <a:r>
              <a:rPr lang="en" dirty="0"/>
              <a:t>.</a:t>
            </a:r>
            <a:endParaRPr dirty="0"/>
          </a:p>
          <a:p>
            <a:pPr marL="914400" lvl="1" indent="-298450" algn="l" rtl="0">
              <a:lnSpc>
                <a:spcPct val="115000"/>
              </a:lnSpc>
              <a:spcBef>
                <a:spcPts val="0"/>
              </a:spcBef>
              <a:spcAft>
                <a:spcPts val="0"/>
              </a:spcAft>
              <a:buSzPts val="1100"/>
              <a:buChar char="○"/>
            </a:pPr>
            <a:r>
              <a:rPr lang="en" dirty="0"/>
              <a:t>Graphs can be used to </a:t>
            </a:r>
            <a:r>
              <a:rPr lang="en" dirty="0">
                <a:highlight>
                  <a:srgbClr val="FFFF00"/>
                </a:highlight>
              </a:rPr>
              <a:t>model complex data sets representing entities with lots of connections between them</a:t>
            </a:r>
            <a:r>
              <a:rPr lang="en" dirty="0"/>
              <a:t> including </a:t>
            </a:r>
            <a:r>
              <a:rPr lang="en" dirty="0">
                <a:highlight>
                  <a:srgbClr val="FFFF00"/>
                </a:highlight>
              </a:rPr>
              <a:t>computer networks, airports, highway systems</a:t>
            </a:r>
            <a:r>
              <a:rPr lang="en" dirty="0"/>
              <a:t>, and so on.</a:t>
            </a:r>
            <a:endParaRPr dirty="0"/>
          </a:p>
          <a:p>
            <a:pPr marL="457200" lvl="0" indent="-311150" algn="l" rtl="0">
              <a:lnSpc>
                <a:spcPct val="115000"/>
              </a:lnSpc>
              <a:spcBef>
                <a:spcPts val="1000"/>
              </a:spcBef>
              <a:spcAft>
                <a:spcPts val="0"/>
              </a:spcAft>
              <a:buSzPts val="1300"/>
              <a:buChar char="●"/>
            </a:pPr>
            <a:r>
              <a:rPr lang="en" dirty="0"/>
              <a:t>We will be exploring several different aspects of graphs, including:</a:t>
            </a:r>
            <a:endParaRPr dirty="0"/>
          </a:p>
          <a:p>
            <a:pPr marL="914400" lvl="1" indent="-298450" algn="l" rtl="0">
              <a:lnSpc>
                <a:spcPct val="115000"/>
              </a:lnSpc>
              <a:spcBef>
                <a:spcPts val="0"/>
              </a:spcBef>
              <a:spcAft>
                <a:spcPts val="0"/>
              </a:spcAft>
              <a:buSzPts val="1100"/>
              <a:buChar char="○"/>
            </a:pPr>
            <a:r>
              <a:rPr lang="en" dirty="0">
                <a:highlight>
                  <a:srgbClr val="FFFF00"/>
                </a:highlight>
              </a:rPr>
              <a:t>Graph</a:t>
            </a:r>
            <a:r>
              <a:rPr lang="en" dirty="0"/>
              <a:t> Terminology </a:t>
            </a:r>
            <a:endParaRPr dirty="0"/>
          </a:p>
          <a:p>
            <a:pPr marL="914400" lvl="1" indent="-298450" algn="l" rtl="0">
              <a:lnSpc>
                <a:spcPct val="115000"/>
              </a:lnSpc>
              <a:spcBef>
                <a:spcPts val="0"/>
              </a:spcBef>
              <a:spcAft>
                <a:spcPts val="0"/>
              </a:spcAft>
              <a:buSzPts val="1100"/>
              <a:buChar char="○"/>
            </a:pPr>
            <a:r>
              <a:rPr lang="en" dirty="0"/>
              <a:t>The Graph </a:t>
            </a:r>
            <a:r>
              <a:rPr lang="en" dirty="0">
                <a:highlight>
                  <a:srgbClr val="FFFF00"/>
                </a:highlight>
              </a:rPr>
              <a:t>ADT</a:t>
            </a:r>
            <a:r>
              <a:rPr lang="en" dirty="0"/>
              <a:t> </a:t>
            </a:r>
            <a:endParaRPr dirty="0"/>
          </a:p>
          <a:p>
            <a:pPr marL="914400" lvl="1" indent="-298450" algn="l" rtl="0">
              <a:lnSpc>
                <a:spcPct val="115000"/>
              </a:lnSpc>
              <a:spcBef>
                <a:spcPts val="0"/>
              </a:spcBef>
              <a:spcAft>
                <a:spcPts val="0"/>
              </a:spcAft>
              <a:buSzPts val="1100"/>
              <a:buChar char="○"/>
            </a:pPr>
            <a:r>
              <a:rPr lang="en" dirty="0"/>
              <a:t>Implementing a Graph using </a:t>
            </a:r>
            <a:r>
              <a:rPr lang="en" dirty="0">
                <a:highlight>
                  <a:srgbClr val="FFFF00"/>
                </a:highlight>
              </a:rPr>
              <a:t>Adjacency Lists </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Breadth-First Search </a:t>
            </a:r>
            <a:r>
              <a:rPr lang="en" dirty="0"/>
              <a:t>&amp; Path </a:t>
            </a:r>
            <a:endParaRPr dirty="0"/>
          </a:p>
          <a:p>
            <a:pPr marL="914400" lvl="1" indent="-298450" algn="l" rtl="0">
              <a:lnSpc>
                <a:spcPct val="115000"/>
              </a:lnSpc>
              <a:spcBef>
                <a:spcPts val="0"/>
              </a:spcBef>
              <a:spcAft>
                <a:spcPts val="0"/>
              </a:spcAft>
              <a:buSzPts val="1100"/>
              <a:buChar char="○"/>
            </a:pPr>
            <a:r>
              <a:rPr lang="en" dirty="0">
                <a:highlight>
                  <a:srgbClr val="FFFF00"/>
                </a:highlight>
              </a:rPr>
              <a:t>Depth-First Search </a:t>
            </a:r>
            <a:r>
              <a:rPr lang="en" dirty="0"/>
              <a:t>&amp; Path</a:t>
            </a:r>
            <a:endParaRPr dirty="0"/>
          </a:p>
          <a:p>
            <a:pPr marL="457200" lvl="0" indent="-311150" algn="l" rtl="0">
              <a:lnSpc>
                <a:spcPct val="115000"/>
              </a:lnSpc>
              <a:spcBef>
                <a:spcPts val="1000"/>
              </a:spcBef>
              <a:spcAft>
                <a:spcPts val="0"/>
              </a:spcAft>
              <a:buSzPts val="1300"/>
              <a:buChar char="●"/>
            </a:pPr>
            <a:r>
              <a:rPr lang="en" dirty="0"/>
              <a:t>To begin we will specifically be focusing on </a:t>
            </a:r>
            <a:r>
              <a:rPr lang="en" b="1" i="1" dirty="0">
                <a:solidFill>
                  <a:srgbClr val="FF0000"/>
                </a:solidFill>
              </a:rPr>
              <a:t>graph terminology</a:t>
            </a:r>
            <a:r>
              <a:rPr lang="en" dirty="0"/>
              <a:t> and implementing a graph using </a:t>
            </a:r>
            <a:r>
              <a:rPr lang="en" b="1" i="1" dirty="0">
                <a:solidFill>
                  <a:srgbClr val="FF0000"/>
                </a:solidFill>
              </a:rPr>
              <a:t>adjacency lists</a:t>
            </a:r>
            <a:r>
              <a:rPr lang="en" dirty="0"/>
              <a:t>.</a:t>
            </a:r>
            <a:endParaRPr dirty="0"/>
          </a:p>
        </p:txBody>
      </p:sp>
      <p:sp>
        <p:nvSpPr>
          <p:cNvPr id="197" name="Google Shape;197;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sp>
        <p:nvSpPr>
          <p:cNvPr id="198" name="Google Shape;198;p35"/>
          <p:cNvSpPr txBox="1">
            <a:spLocks noGrp="1"/>
          </p:cNvSpPr>
          <p:nvPr>
            <p:ph type="body" idx="3"/>
          </p:nvPr>
        </p:nvSpPr>
        <p:spPr>
          <a:xfrm>
            <a:off x="260425" y="4221933"/>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A </a:t>
            </a:r>
            <a:r>
              <a:rPr lang="en" b="1" i="1">
                <a:solidFill>
                  <a:srgbClr val="FF0000"/>
                </a:solidFill>
              </a:rPr>
              <a:t>social network</a:t>
            </a:r>
            <a:r>
              <a:rPr lang="en">
                <a:solidFill>
                  <a:srgbClr val="FF0000"/>
                </a:solidFill>
              </a:rPr>
              <a:t> </a:t>
            </a:r>
            <a:r>
              <a:rPr lang="en"/>
              <a:t>is a kind of graph that includes people who are connected based on whether or not they follow each other on the network.</a:t>
            </a:r>
            <a:endParaRPr sz="1200"/>
          </a:p>
        </p:txBody>
      </p:sp>
      <p:sp>
        <p:nvSpPr>
          <p:cNvPr id="199" name="Google Shape;199;p35"/>
          <p:cNvSpPr/>
          <p:nvPr/>
        </p:nvSpPr>
        <p:spPr>
          <a:xfrm>
            <a:off x="3379953" y="2803847"/>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35"/>
          <p:cNvSpPr/>
          <p:nvPr/>
        </p:nvSpPr>
        <p:spPr>
          <a:xfrm>
            <a:off x="3329513" y="2180354"/>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1" name="Google Shape;201;p35"/>
          <p:cNvCxnSpPr>
            <a:stCxn id="202" idx="1"/>
            <a:endCxn id="203" idx="5"/>
          </p:cNvCxnSpPr>
          <p:nvPr/>
        </p:nvCxnSpPr>
        <p:spPr>
          <a:xfrm rot="10800000">
            <a:off x="1093681" y="1647834"/>
            <a:ext cx="296700" cy="274800"/>
          </a:xfrm>
          <a:prstGeom prst="straightConnector1">
            <a:avLst/>
          </a:prstGeom>
          <a:noFill/>
          <a:ln w="19050" cap="flat" cmpd="sng">
            <a:solidFill>
              <a:srgbClr val="FF9900"/>
            </a:solidFill>
            <a:prstDash val="solid"/>
            <a:round/>
            <a:headEnd type="none" w="sm" len="sm"/>
            <a:tailEnd type="none" w="sm" len="sm"/>
          </a:ln>
        </p:spPr>
      </p:cxnSp>
      <p:cxnSp>
        <p:nvCxnSpPr>
          <p:cNvPr id="204" name="Google Shape;204;p35"/>
          <p:cNvCxnSpPr>
            <a:endCxn id="205" idx="4"/>
          </p:cNvCxnSpPr>
          <p:nvPr/>
        </p:nvCxnSpPr>
        <p:spPr>
          <a:xfrm rot="10800000">
            <a:off x="1502620" y="1376824"/>
            <a:ext cx="0" cy="499500"/>
          </a:xfrm>
          <a:prstGeom prst="straightConnector1">
            <a:avLst/>
          </a:prstGeom>
          <a:noFill/>
          <a:ln w="19050" cap="flat" cmpd="sng">
            <a:solidFill>
              <a:srgbClr val="FF9900"/>
            </a:solidFill>
            <a:prstDash val="solid"/>
            <a:round/>
            <a:headEnd type="none" w="sm" len="sm"/>
            <a:tailEnd type="none" w="sm" len="sm"/>
          </a:ln>
        </p:spPr>
      </p:cxnSp>
      <p:cxnSp>
        <p:nvCxnSpPr>
          <p:cNvPr id="206" name="Google Shape;206;p35"/>
          <p:cNvCxnSpPr>
            <a:stCxn id="202" idx="2"/>
            <a:endCxn id="207" idx="6"/>
          </p:cNvCxnSpPr>
          <p:nvPr/>
        </p:nvCxnSpPr>
        <p:spPr>
          <a:xfrm flipH="1">
            <a:off x="907090" y="2034873"/>
            <a:ext cx="436800" cy="36600"/>
          </a:xfrm>
          <a:prstGeom prst="straightConnector1">
            <a:avLst/>
          </a:prstGeom>
          <a:noFill/>
          <a:ln w="19050" cap="flat" cmpd="sng">
            <a:solidFill>
              <a:srgbClr val="FF9900"/>
            </a:solidFill>
            <a:prstDash val="solid"/>
            <a:round/>
            <a:headEnd type="none" w="sm" len="sm"/>
            <a:tailEnd type="none" w="sm" len="sm"/>
          </a:ln>
        </p:spPr>
      </p:cxnSp>
      <p:cxnSp>
        <p:nvCxnSpPr>
          <p:cNvPr id="208" name="Google Shape;208;p35"/>
          <p:cNvCxnSpPr>
            <a:stCxn id="202" idx="3"/>
            <a:endCxn id="209" idx="7"/>
          </p:cNvCxnSpPr>
          <p:nvPr/>
        </p:nvCxnSpPr>
        <p:spPr>
          <a:xfrm flipH="1">
            <a:off x="1135981" y="2147111"/>
            <a:ext cx="254400" cy="348300"/>
          </a:xfrm>
          <a:prstGeom prst="straightConnector1">
            <a:avLst/>
          </a:prstGeom>
          <a:noFill/>
          <a:ln w="19050" cap="flat" cmpd="sng">
            <a:solidFill>
              <a:srgbClr val="FF9900"/>
            </a:solidFill>
            <a:prstDash val="solid"/>
            <a:round/>
            <a:headEnd type="none" w="sm" len="sm"/>
            <a:tailEnd type="none" w="sm" len="sm"/>
          </a:ln>
        </p:spPr>
      </p:cxnSp>
      <p:cxnSp>
        <p:nvCxnSpPr>
          <p:cNvPr id="210" name="Google Shape;210;p35"/>
          <p:cNvCxnSpPr>
            <a:stCxn id="211" idx="2"/>
            <a:endCxn id="212" idx="6"/>
          </p:cNvCxnSpPr>
          <p:nvPr/>
        </p:nvCxnSpPr>
        <p:spPr>
          <a:xfrm flipH="1">
            <a:off x="991243" y="3013325"/>
            <a:ext cx="430200" cy="79800"/>
          </a:xfrm>
          <a:prstGeom prst="straightConnector1">
            <a:avLst/>
          </a:prstGeom>
          <a:noFill/>
          <a:ln w="19050" cap="flat" cmpd="sng">
            <a:solidFill>
              <a:srgbClr val="FF9900"/>
            </a:solidFill>
            <a:prstDash val="solid"/>
            <a:round/>
            <a:headEnd type="none" w="sm" len="sm"/>
            <a:tailEnd type="none" w="sm" len="sm"/>
          </a:ln>
        </p:spPr>
      </p:cxnSp>
      <p:cxnSp>
        <p:nvCxnSpPr>
          <p:cNvPr id="213" name="Google Shape;213;p35"/>
          <p:cNvCxnSpPr>
            <a:stCxn id="211" idx="4"/>
            <a:endCxn id="214" idx="0"/>
          </p:cNvCxnSpPr>
          <p:nvPr/>
        </p:nvCxnSpPr>
        <p:spPr>
          <a:xfrm flipH="1">
            <a:off x="1407673" y="3172054"/>
            <a:ext cx="172500" cy="390300"/>
          </a:xfrm>
          <a:prstGeom prst="straightConnector1">
            <a:avLst/>
          </a:prstGeom>
          <a:noFill/>
          <a:ln w="19050" cap="flat" cmpd="sng">
            <a:solidFill>
              <a:srgbClr val="FF9900"/>
            </a:solidFill>
            <a:prstDash val="solid"/>
            <a:round/>
            <a:headEnd type="none" w="sm" len="sm"/>
            <a:tailEnd type="none" w="sm" len="sm"/>
          </a:ln>
        </p:spPr>
      </p:cxnSp>
      <p:cxnSp>
        <p:nvCxnSpPr>
          <p:cNvPr id="215" name="Google Shape;215;p35"/>
          <p:cNvCxnSpPr>
            <a:stCxn id="216" idx="4"/>
            <a:endCxn id="217" idx="0"/>
          </p:cNvCxnSpPr>
          <p:nvPr/>
        </p:nvCxnSpPr>
        <p:spPr>
          <a:xfrm flipH="1">
            <a:off x="2276066" y="3378917"/>
            <a:ext cx="78300" cy="380100"/>
          </a:xfrm>
          <a:prstGeom prst="straightConnector1">
            <a:avLst/>
          </a:prstGeom>
          <a:noFill/>
          <a:ln w="19050" cap="flat" cmpd="sng">
            <a:solidFill>
              <a:srgbClr val="FF9900"/>
            </a:solidFill>
            <a:prstDash val="solid"/>
            <a:round/>
            <a:headEnd type="none" w="sm" len="sm"/>
            <a:tailEnd type="none" w="sm" len="sm"/>
          </a:ln>
        </p:spPr>
      </p:cxnSp>
      <p:cxnSp>
        <p:nvCxnSpPr>
          <p:cNvPr id="218" name="Google Shape;218;p35"/>
          <p:cNvCxnSpPr>
            <a:stCxn id="216" idx="5"/>
            <a:endCxn id="219" idx="1"/>
          </p:cNvCxnSpPr>
          <p:nvPr/>
        </p:nvCxnSpPr>
        <p:spPr>
          <a:xfrm>
            <a:off x="2466604" y="3332426"/>
            <a:ext cx="298200" cy="335700"/>
          </a:xfrm>
          <a:prstGeom prst="straightConnector1">
            <a:avLst/>
          </a:prstGeom>
          <a:noFill/>
          <a:ln w="19050" cap="flat" cmpd="sng">
            <a:solidFill>
              <a:srgbClr val="FF9900"/>
            </a:solidFill>
            <a:prstDash val="solid"/>
            <a:round/>
            <a:headEnd type="none" w="sm" len="sm"/>
            <a:tailEnd type="none" w="sm" len="sm"/>
          </a:ln>
        </p:spPr>
      </p:cxnSp>
      <p:cxnSp>
        <p:nvCxnSpPr>
          <p:cNvPr id="220" name="Google Shape;220;p35"/>
          <p:cNvCxnSpPr>
            <a:stCxn id="221" idx="4"/>
            <a:endCxn id="222" idx="1"/>
          </p:cNvCxnSpPr>
          <p:nvPr/>
        </p:nvCxnSpPr>
        <p:spPr>
          <a:xfrm>
            <a:off x="2784151" y="2895790"/>
            <a:ext cx="412500" cy="454800"/>
          </a:xfrm>
          <a:prstGeom prst="straightConnector1">
            <a:avLst/>
          </a:prstGeom>
          <a:noFill/>
          <a:ln w="19050" cap="flat" cmpd="sng">
            <a:solidFill>
              <a:srgbClr val="FF9900"/>
            </a:solidFill>
            <a:prstDash val="solid"/>
            <a:round/>
            <a:headEnd type="none" w="sm" len="sm"/>
            <a:tailEnd type="none" w="sm" len="sm"/>
          </a:ln>
        </p:spPr>
      </p:cxnSp>
      <p:cxnSp>
        <p:nvCxnSpPr>
          <p:cNvPr id="223" name="Google Shape;223;p35"/>
          <p:cNvCxnSpPr>
            <a:stCxn id="221" idx="6"/>
            <a:endCxn id="199" idx="2"/>
          </p:cNvCxnSpPr>
          <p:nvPr/>
        </p:nvCxnSpPr>
        <p:spPr>
          <a:xfrm>
            <a:off x="2942880" y="2737061"/>
            <a:ext cx="437100" cy="225600"/>
          </a:xfrm>
          <a:prstGeom prst="straightConnector1">
            <a:avLst/>
          </a:prstGeom>
          <a:noFill/>
          <a:ln w="19050" cap="flat" cmpd="sng">
            <a:solidFill>
              <a:srgbClr val="FF9900"/>
            </a:solidFill>
            <a:prstDash val="solid"/>
            <a:round/>
            <a:headEnd type="none" w="sm" len="sm"/>
            <a:tailEnd type="none" w="sm" len="sm"/>
          </a:ln>
        </p:spPr>
      </p:cxnSp>
      <p:cxnSp>
        <p:nvCxnSpPr>
          <p:cNvPr id="224" name="Google Shape;224;p35"/>
          <p:cNvCxnSpPr>
            <a:stCxn id="221" idx="7"/>
            <a:endCxn id="200" idx="2"/>
          </p:cNvCxnSpPr>
          <p:nvPr/>
        </p:nvCxnSpPr>
        <p:spPr>
          <a:xfrm rot="10800000" flipH="1">
            <a:off x="2896389" y="2339222"/>
            <a:ext cx="433200" cy="285600"/>
          </a:xfrm>
          <a:prstGeom prst="straightConnector1">
            <a:avLst/>
          </a:prstGeom>
          <a:noFill/>
          <a:ln w="19050" cap="flat" cmpd="sng">
            <a:solidFill>
              <a:srgbClr val="FF9900"/>
            </a:solidFill>
            <a:prstDash val="solid"/>
            <a:round/>
            <a:headEnd type="none" w="sm" len="sm"/>
            <a:tailEnd type="none" w="sm" len="sm"/>
          </a:ln>
        </p:spPr>
      </p:cxnSp>
      <p:cxnSp>
        <p:nvCxnSpPr>
          <p:cNvPr id="225" name="Google Shape;225;p35"/>
          <p:cNvCxnSpPr>
            <a:stCxn id="221" idx="0"/>
            <a:endCxn id="226" idx="4"/>
          </p:cNvCxnSpPr>
          <p:nvPr/>
        </p:nvCxnSpPr>
        <p:spPr>
          <a:xfrm rot="10800000" flipH="1">
            <a:off x="2784151" y="2099831"/>
            <a:ext cx="360300" cy="478500"/>
          </a:xfrm>
          <a:prstGeom prst="straightConnector1">
            <a:avLst/>
          </a:prstGeom>
          <a:noFill/>
          <a:ln w="19050" cap="flat" cmpd="sng">
            <a:solidFill>
              <a:srgbClr val="FF9900"/>
            </a:solidFill>
            <a:prstDash val="solid"/>
            <a:round/>
            <a:headEnd type="none" w="sm" len="sm"/>
            <a:tailEnd type="none" w="sm" len="sm"/>
          </a:ln>
        </p:spPr>
      </p:cxnSp>
      <p:cxnSp>
        <p:nvCxnSpPr>
          <p:cNvPr id="227" name="Google Shape;227;p35"/>
          <p:cNvCxnSpPr>
            <a:stCxn id="228" idx="0"/>
            <a:endCxn id="229" idx="4"/>
          </p:cNvCxnSpPr>
          <p:nvPr/>
        </p:nvCxnSpPr>
        <p:spPr>
          <a:xfrm rot="10800000" flipH="1">
            <a:off x="2646873" y="1503810"/>
            <a:ext cx="180300" cy="345600"/>
          </a:xfrm>
          <a:prstGeom prst="straightConnector1">
            <a:avLst/>
          </a:prstGeom>
          <a:noFill/>
          <a:ln w="19050" cap="flat" cmpd="sng">
            <a:solidFill>
              <a:srgbClr val="FF9900"/>
            </a:solidFill>
            <a:prstDash val="solid"/>
            <a:round/>
            <a:headEnd type="none" w="sm" len="sm"/>
            <a:tailEnd type="none" w="sm" len="sm"/>
          </a:ln>
        </p:spPr>
      </p:cxnSp>
      <p:cxnSp>
        <p:nvCxnSpPr>
          <p:cNvPr id="230" name="Google Shape;230;p35"/>
          <p:cNvCxnSpPr>
            <a:stCxn id="202" idx="7"/>
            <a:endCxn id="231" idx="3"/>
          </p:cNvCxnSpPr>
          <p:nvPr/>
        </p:nvCxnSpPr>
        <p:spPr>
          <a:xfrm rot="10800000" flipH="1">
            <a:off x="1614858" y="1293534"/>
            <a:ext cx="462900" cy="629100"/>
          </a:xfrm>
          <a:prstGeom prst="straightConnector1">
            <a:avLst/>
          </a:prstGeom>
          <a:noFill/>
          <a:ln w="19050" cap="flat" cmpd="sng">
            <a:solidFill>
              <a:srgbClr val="FF9900"/>
            </a:solidFill>
            <a:prstDash val="solid"/>
            <a:round/>
            <a:headEnd type="none" w="sm" len="sm"/>
            <a:tailEnd type="none" w="sm" len="sm"/>
          </a:ln>
        </p:spPr>
      </p:cxnSp>
      <p:cxnSp>
        <p:nvCxnSpPr>
          <p:cNvPr id="232" name="Google Shape;232;p35"/>
          <p:cNvCxnSpPr>
            <a:stCxn id="212" idx="7"/>
            <a:endCxn id="209" idx="4"/>
          </p:cNvCxnSpPr>
          <p:nvPr/>
        </p:nvCxnSpPr>
        <p:spPr>
          <a:xfrm rot="10800000" flipH="1">
            <a:off x="944694" y="2766186"/>
            <a:ext cx="79200" cy="214800"/>
          </a:xfrm>
          <a:prstGeom prst="straightConnector1">
            <a:avLst/>
          </a:prstGeom>
          <a:noFill/>
          <a:ln w="19050" cap="flat" cmpd="sng">
            <a:solidFill>
              <a:srgbClr val="EA9999"/>
            </a:solidFill>
            <a:prstDash val="solid"/>
            <a:round/>
            <a:headEnd type="none" w="sm" len="sm"/>
            <a:tailEnd type="none" w="sm" len="sm"/>
          </a:ln>
        </p:spPr>
      </p:cxnSp>
      <p:cxnSp>
        <p:nvCxnSpPr>
          <p:cNvPr id="233" name="Google Shape;233;p35"/>
          <p:cNvCxnSpPr>
            <a:stCxn id="211" idx="6"/>
            <a:endCxn id="216" idx="2"/>
          </p:cNvCxnSpPr>
          <p:nvPr/>
        </p:nvCxnSpPr>
        <p:spPr>
          <a:xfrm>
            <a:off x="1738902" y="3013325"/>
            <a:ext cx="456600" cy="207000"/>
          </a:xfrm>
          <a:prstGeom prst="straightConnector1">
            <a:avLst/>
          </a:prstGeom>
          <a:noFill/>
          <a:ln w="19050" cap="flat" cmpd="sng">
            <a:solidFill>
              <a:srgbClr val="FF9900"/>
            </a:solidFill>
            <a:prstDash val="solid"/>
            <a:round/>
            <a:headEnd type="none" w="sm" len="sm"/>
            <a:tailEnd type="none" w="sm" len="sm"/>
          </a:ln>
        </p:spPr>
      </p:cxnSp>
      <p:grpSp>
        <p:nvGrpSpPr>
          <p:cNvPr id="234" name="Google Shape;234;p35"/>
          <p:cNvGrpSpPr/>
          <p:nvPr/>
        </p:nvGrpSpPr>
        <p:grpSpPr>
          <a:xfrm>
            <a:off x="748458" y="1181284"/>
            <a:ext cx="2677985" cy="2736346"/>
            <a:chOff x="4912352" y="756750"/>
            <a:chExt cx="3251955" cy="3322825"/>
          </a:xfrm>
        </p:grpSpPr>
        <p:cxnSp>
          <p:nvCxnSpPr>
            <p:cNvPr id="235" name="Google Shape;235;p35"/>
            <p:cNvCxnSpPr>
              <a:stCxn id="203" idx="4"/>
              <a:endCxn id="207" idx="7"/>
            </p:cNvCxnSpPr>
            <p:nvPr/>
          </p:nvCxnSpPr>
          <p:spPr>
            <a:xfrm flipH="1">
              <a:off x="5048776" y="1379700"/>
              <a:ext cx="146400" cy="321900"/>
            </a:xfrm>
            <a:prstGeom prst="straightConnector1">
              <a:avLst/>
            </a:prstGeom>
            <a:noFill/>
            <a:ln w="19050" cap="flat" cmpd="sng">
              <a:solidFill>
                <a:srgbClr val="FFFF00"/>
              </a:solidFill>
              <a:prstDash val="solid"/>
              <a:round/>
              <a:headEnd type="none" w="sm" len="sm"/>
              <a:tailEnd type="none" w="sm" len="sm"/>
            </a:ln>
          </p:spPr>
        </p:cxnSp>
        <p:cxnSp>
          <p:nvCxnSpPr>
            <p:cNvPr id="236" name="Google Shape;236;p35"/>
            <p:cNvCxnSpPr>
              <a:stCxn id="205" idx="6"/>
              <a:endCxn id="231" idx="2"/>
            </p:cNvCxnSpPr>
            <p:nvPr/>
          </p:nvCxnSpPr>
          <p:spPr>
            <a:xfrm rot="10800000" flipH="1">
              <a:off x="6020901" y="756750"/>
              <a:ext cx="449100" cy="44700"/>
            </a:xfrm>
            <a:prstGeom prst="straightConnector1">
              <a:avLst/>
            </a:prstGeom>
            <a:noFill/>
            <a:ln w="19050" cap="flat" cmpd="sng">
              <a:solidFill>
                <a:srgbClr val="FFFF00"/>
              </a:solidFill>
              <a:prstDash val="solid"/>
              <a:round/>
              <a:headEnd type="none" w="sm" len="sm"/>
              <a:tailEnd type="none" w="sm" len="sm"/>
            </a:ln>
          </p:spPr>
        </p:cxnSp>
        <p:cxnSp>
          <p:nvCxnSpPr>
            <p:cNvPr id="237" name="Google Shape;237;p35"/>
            <p:cNvCxnSpPr>
              <a:stCxn id="205" idx="5"/>
              <a:endCxn id="228" idx="1"/>
            </p:cNvCxnSpPr>
            <p:nvPr/>
          </p:nvCxnSpPr>
          <p:spPr>
            <a:xfrm>
              <a:off x="5964446" y="937745"/>
              <a:ext cx="1116900" cy="686700"/>
            </a:xfrm>
            <a:prstGeom prst="straightConnector1">
              <a:avLst/>
            </a:prstGeom>
            <a:noFill/>
            <a:ln w="19050" cap="flat" cmpd="sng">
              <a:solidFill>
                <a:srgbClr val="FFFF00"/>
              </a:solidFill>
              <a:prstDash val="solid"/>
              <a:round/>
              <a:headEnd type="none" w="sm" len="sm"/>
              <a:tailEnd type="none" w="sm" len="sm"/>
            </a:ln>
          </p:spPr>
        </p:cxnSp>
        <p:cxnSp>
          <p:nvCxnSpPr>
            <p:cNvPr id="238" name="Google Shape;238;p35"/>
            <p:cNvCxnSpPr>
              <a:stCxn id="205" idx="3"/>
              <a:endCxn id="209" idx="0"/>
            </p:cNvCxnSpPr>
            <p:nvPr/>
          </p:nvCxnSpPr>
          <p:spPr>
            <a:xfrm flipH="1">
              <a:off x="5246657" y="937745"/>
              <a:ext cx="445200" cy="1358100"/>
            </a:xfrm>
            <a:prstGeom prst="straightConnector1">
              <a:avLst/>
            </a:prstGeom>
            <a:noFill/>
            <a:ln w="19050" cap="flat" cmpd="sng">
              <a:solidFill>
                <a:srgbClr val="FFFF00"/>
              </a:solidFill>
              <a:prstDash val="solid"/>
              <a:round/>
              <a:headEnd type="none" w="sm" len="sm"/>
              <a:tailEnd type="none" w="sm" len="sm"/>
            </a:ln>
          </p:spPr>
        </p:cxnSp>
        <p:cxnSp>
          <p:nvCxnSpPr>
            <p:cNvPr id="239" name="Google Shape;239;p35"/>
            <p:cNvCxnSpPr>
              <a:stCxn id="212" idx="0"/>
              <a:endCxn id="207" idx="4"/>
            </p:cNvCxnSpPr>
            <p:nvPr/>
          </p:nvCxnSpPr>
          <p:spPr>
            <a:xfrm rot="10800000">
              <a:off x="4912352" y="2030425"/>
              <a:ext cx="102000" cy="855300"/>
            </a:xfrm>
            <a:prstGeom prst="straightConnector1">
              <a:avLst/>
            </a:prstGeom>
            <a:noFill/>
            <a:ln w="19050" cap="flat" cmpd="sng">
              <a:solidFill>
                <a:srgbClr val="FFFF00"/>
              </a:solidFill>
              <a:prstDash val="solid"/>
              <a:round/>
              <a:headEnd type="none" w="sm" len="sm"/>
              <a:tailEnd type="none" w="sm" len="sm"/>
            </a:ln>
          </p:spPr>
        </p:cxnSp>
        <p:cxnSp>
          <p:nvCxnSpPr>
            <p:cNvPr id="240" name="Google Shape;240;p35"/>
            <p:cNvCxnSpPr>
              <a:stCxn id="217" idx="1"/>
              <a:endCxn id="211" idx="5"/>
            </p:cNvCxnSpPr>
            <p:nvPr/>
          </p:nvCxnSpPr>
          <p:spPr>
            <a:xfrm rot="10800000">
              <a:off x="6058531" y="3117731"/>
              <a:ext cx="572400" cy="825600"/>
            </a:xfrm>
            <a:prstGeom prst="straightConnector1">
              <a:avLst/>
            </a:prstGeom>
            <a:noFill/>
            <a:ln w="19050" cap="flat" cmpd="sng">
              <a:solidFill>
                <a:srgbClr val="FFFF00"/>
              </a:solidFill>
              <a:prstDash val="solid"/>
              <a:round/>
              <a:headEnd type="none" w="sm" len="sm"/>
              <a:tailEnd type="none" w="sm" len="sm"/>
            </a:ln>
          </p:spPr>
        </p:cxnSp>
        <p:cxnSp>
          <p:nvCxnSpPr>
            <p:cNvPr id="241" name="Google Shape;241;p35"/>
            <p:cNvCxnSpPr>
              <a:stCxn id="217" idx="7"/>
              <a:endCxn id="221" idx="3"/>
            </p:cNvCxnSpPr>
            <p:nvPr/>
          </p:nvCxnSpPr>
          <p:spPr>
            <a:xfrm rot="10800000" flipH="1">
              <a:off x="6903521" y="2782331"/>
              <a:ext cx="344400" cy="1161000"/>
            </a:xfrm>
            <a:prstGeom prst="straightConnector1">
              <a:avLst/>
            </a:prstGeom>
            <a:noFill/>
            <a:ln w="19050" cap="flat" cmpd="sng">
              <a:solidFill>
                <a:srgbClr val="FFFF00"/>
              </a:solidFill>
              <a:prstDash val="solid"/>
              <a:round/>
              <a:headEnd type="none" w="sm" len="sm"/>
              <a:tailEnd type="none" w="sm" len="sm"/>
            </a:ln>
          </p:spPr>
        </p:cxnSp>
        <p:cxnSp>
          <p:nvCxnSpPr>
            <p:cNvPr id="242" name="Google Shape;242;p35"/>
            <p:cNvCxnSpPr>
              <a:stCxn id="216" idx="6"/>
              <a:endCxn id="222" idx="2"/>
            </p:cNvCxnSpPr>
            <p:nvPr/>
          </p:nvCxnSpPr>
          <p:spPr>
            <a:xfrm>
              <a:off x="7055201" y="3232650"/>
              <a:ext cx="773700" cy="294600"/>
            </a:xfrm>
            <a:prstGeom prst="straightConnector1">
              <a:avLst/>
            </a:prstGeom>
            <a:noFill/>
            <a:ln w="19050" cap="flat" cmpd="sng">
              <a:solidFill>
                <a:srgbClr val="FFFF00"/>
              </a:solidFill>
              <a:prstDash val="solid"/>
              <a:round/>
              <a:headEnd type="none" w="sm" len="sm"/>
              <a:tailEnd type="none" w="sm" len="sm"/>
            </a:ln>
          </p:spPr>
        </p:cxnSp>
        <p:cxnSp>
          <p:nvCxnSpPr>
            <p:cNvPr id="243" name="Google Shape;243;p35"/>
            <p:cNvCxnSpPr>
              <a:stCxn id="214" idx="6"/>
              <a:endCxn id="217" idx="2"/>
            </p:cNvCxnSpPr>
            <p:nvPr/>
          </p:nvCxnSpPr>
          <p:spPr>
            <a:xfrm>
              <a:off x="5905501" y="3840775"/>
              <a:ext cx="669000" cy="238800"/>
            </a:xfrm>
            <a:prstGeom prst="straightConnector1">
              <a:avLst/>
            </a:prstGeom>
            <a:noFill/>
            <a:ln w="19050" cap="flat" cmpd="sng">
              <a:solidFill>
                <a:srgbClr val="FFFF00"/>
              </a:solidFill>
              <a:prstDash val="solid"/>
              <a:round/>
              <a:headEnd type="none" w="sm" len="sm"/>
              <a:tailEnd type="none" w="sm" len="sm"/>
            </a:ln>
          </p:spPr>
        </p:cxnSp>
        <p:cxnSp>
          <p:nvCxnSpPr>
            <p:cNvPr id="244" name="Google Shape;244;p35"/>
            <p:cNvCxnSpPr>
              <a:stCxn id="229" idx="5"/>
              <a:endCxn id="226" idx="0"/>
            </p:cNvCxnSpPr>
            <p:nvPr/>
          </p:nvCxnSpPr>
          <p:spPr>
            <a:xfrm>
              <a:off x="7572821" y="1091920"/>
              <a:ext cx="249300" cy="394800"/>
            </a:xfrm>
            <a:prstGeom prst="straightConnector1">
              <a:avLst/>
            </a:prstGeom>
            <a:noFill/>
            <a:ln w="19050" cap="flat" cmpd="sng">
              <a:solidFill>
                <a:srgbClr val="FFFF00"/>
              </a:solidFill>
              <a:prstDash val="solid"/>
              <a:round/>
              <a:headEnd type="none" w="sm" len="sm"/>
              <a:tailEnd type="none" w="sm" len="sm"/>
            </a:ln>
          </p:spPr>
        </p:cxnSp>
        <p:cxnSp>
          <p:nvCxnSpPr>
            <p:cNvPr id="245" name="Google Shape;245;p35"/>
            <p:cNvCxnSpPr>
              <a:stCxn id="229" idx="2"/>
              <a:endCxn id="209" idx="6"/>
            </p:cNvCxnSpPr>
            <p:nvPr/>
          </p:nvCxnSpPr>
          <p:spPr>
            <a:xfrm flipH="1">
              <a:off x="5439577" y="955625"/>
              <a:ext cx="1804200" cy="1533000"/>
            </a:xfrm>
            <a:prstGeom prst="straightConnector1">
              <a:avLst/>
            </a:prstGeom>
            <a:noFill/>
            <a:ln w="19050" cap="flat" cmpd="sng">
              <a:solidFill>
                <a:srgbClr val="FFFF00"/>
              </a:solidFill>
              <a:prstDash val="solid"/>
              <a:round/>
              <a:headEnd type="none" w="sm" len="sm"/>
              <a:tailEnd type="none" w="sm" len="sm"/>
            </a:ln>
          </p:spPr>
        </p:cxnSp>
        <p:cxnSp>
          <p:nvCxnSpPr>
            <p:cNvPr id="246" name="Google Shape;246;p35"/>
            <p:cNvCxnSpPr>
              <a:stCxn id="226" idx="4"/>
              <a:endCxn id="222" idx="0"/>
            </p:cNvCxnSpPr>
            <p:nvPr/>
          </p:nvCxnSpPr>
          <p:spPr>
            <a:xfrm>
              <a:off x="7822026" y="1872175"/>
              <a:ext cx="199500" cy="1462500"/>
            </a:xfrm>
            <a:prstGeom prst="straightConnector1">
              <a:avLst/>
            </a:prstGeom>
            <a:noFill/>
            <a:ln w="19050" cap="flat" cmpd="sng">
              <a:solidFill>
                <a:srgbClr val="FFFF00"/>
              </a:solidFill>
              <a:prstDash val="solid"/>
              <a:round/>
              <a:headEnd type="none" w="sm" len="sm"/>
              <a:tailEnd type="none" w="sm" len="sm"/>
            </a:ln>
          </p:spPr>
        </p:cxnSp>
        <p:cxnSp>
          <p:nvCxnSpPr>
            <p:cNvPr id="247" name="Google Shape;247;p35"/>
            <p:cNvCxnSpPr>
              <a:stCxn id="199" idx="1"/>
              <a:endCxn id="228" idx="5"/>
            </p:cNvCxnSpPr>
            <p:nvPr/>
          </p:nvCxnSpPr>
          <p:spPr>
            <a:xfrm rot="10800000">
              <a:off x="7354007" y="1897031"/>
              <a:ext cx="810300" cy="886500"/>
            </a:xfrm>
            <a:prstGeom prst="straightConnector1">
              <a:avLst/>
            </a:prstGeom>
            <a:noFill/>
            <a:ln w="19050" cap="flat" cmpd="sng">
              <a:solidFill>
                <a:srgbClr val="FFFF00"/>
              </a:solidFill>
              <a:prstDash val="solid"/>
              <a:round/>
              <a:headEnd type="none" w="sm" len="sm"/>
              <a:tailEnd type="none" w="sm" len="sm"/>
            </a:ln>
          </p:spPr>
        </p:cxnSp>
        <p:cxnSp>
          <p:nvCxnSpPr>
            <p:cNvPr id="248" name="Google Shape;248;p35"/>
            <p:cNvCxnSpPr>
              <a:stCxn id="211" idx="0"/>
              <a:endCxn id="202" idx="4"/>
            </p:cNvCxnSpPr>
            <p:nvPr/>
          </p:nvCxnSpPr>
          <p:spPr>
            <a:xfrm rot="10800000">
              <a:off x="5828126" y="1985901"/>
              <a:ext cx="94200" cy="802800"/>
            </a:xfrm>
            <a:prstGeom prst="straightConnector1">
              <a:avLst/>
            </a:prstGeom>
            <a:noFill/>
            <a:ln w="19050" cap="flat" cmpd="sng">
              <a:solidFill>
                <a:srgbClr val="FFFF00"/>
              </a:solidFill>
              <a:prstDash val="solid"/>
              <a:round/>
              <a:headEnd type="none" w="sm" len="sm"/>
              <a:tailEnd type="none" w="sm" len="sm"/>
            </a:ln>
          </p:spPr>
        </p:cxnSp>
      </p:grpSp>
      <p:sp>
        <p:nvSpPr>
          <p:cNvPr id="212" name="Google Shape;212;p35"/>
          <p:cNvSpPr/>
          <p:nvPr/>
        </p:nvSpPr>
        <p:spPr>
          <a:xfrm>
            <a:off x="673726" y="2934495"/>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35"/>
          <p:cNvSpPr/>
          <p:nvPr/>
        </p:nvSpPr>
        <p:spPr>
          <a:xfrm>
            <a:off x="1248858" y="3562249"/>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35"/>
          <p:cNvSpPr/>
          <p:nvPr/>
        </p:nvSpPr>
        <p:spPr>
          <a:xfrm>
            <a:off x="2117218" y="3758942"/>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35"/>
          <p:cNvSpPr/>
          <p:nvPr/>
        </p:nvSpPr>
        <p:spPr>
          <a:xfrm>
            <a:off x="2718415" y="3621541"/>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35"/>
          <p:cNvSpPr/>
          <p:nvPr/>
        </p:nvSpPr>
        <p:spPr>
          <a:xfrm>
            <a:off x="2668387" y="1186328"/>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35"/>
          <p:cNvSpPr/>
          <p:nvPr/>
        </p:nvSpPr>
        <p:spPr>
          <a:xfrm>
            <a:off x="2031286" y="1022534"/>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35"/>
          <p:cNvSpPr/>
          <p:nvPr/>
        </p:nvSpPr>
        <p:spPr>
          <a:xfrm>
            <a:off x="1343890" y="1059365"/>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35"/>
          <p:cNvSpPr/>
          <p:nvPr/>
        </p:nvSpPr>
        <p:spPr>
          <a:xfrm>
            <a:off x="822635" y="1376824"/>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35"/>
          <p:cNvSpPr/>
          <p:nvPr/>
        </p:nvSpPr>
        <p:spPr>
          <a:xfrm>
            <a:off x="589729" y="1912799"/>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35"/>
          <p:cNvSpPr/>
          <p:nvPr/>
        </p:nvSpPr>
        <p:spPr>
          <a:xfrm>
            <a:off x="865107" y="2448774"/>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9" name="Google Shape;249;p35"/>
          <p:cNvCxnSpPr>
            <a:stCxn id="250" idx="1"/>
            <a:endCxn id="202" idx="5"/>
          </p:cNvCxnSpPr>
          <p:nvPr/>
        </p:nvCxnSpPr>
        <p:spPr>
          <a:xfrm rot="10800000">
            <a:off x="1614754" y="2147215"/>
            <a:ext cx="356400" cy="260100"/>
          </a:xfrm>
          <a:prstGeom prst="straightConnector1">
            <a:avLst/>
          </a:prstGeom>
          <a:noFill/>
          <a:ln w="19050" cap="flat" cmpd="sng">
            <a:solidFill>
              <a:srgbClr val="6AA84F"/>
            </a:solidFill>
            <a:prstDash val="solid"/>
            <a:round/>
            <a:headEnd type="none" w="sm" len="sm"/>
            <a:tailEnd type="none" w="sm" len="sm"/>
          </a:ln>
        </p:spPr>
      </p:cxnSp>
      <p:cxnSp>
        <p:nvCxnSpPr>
          <p:cNvPr id="251" name="Google Shape;251;p35"/>
          <p:cNvCxnSpPr>
            <a:stCxn id="250" idx="7"/>
            <a:endCxn id="228" idx="3"/>
          </p:cNvCxnSpPr>
          <p:nvPr/>
        </p:nvCxnSpPr>
        <p:spPr>
          <a:xfrm rot="10800000" flipH="1">
            <a:off x="2195631" y="2120515"/>
            <a:ext cx="339000" cy="286800"/>
          </a:xfrm>
          <a:prstGeom prst="straightConnector1">
            <a:avLst/>
          </a:prstGeom>
          <a:noFill/>
          <a:ln w="19050" cap="flat" cmpd="sng">
            <a:solidFill>
              <a:srgbClr val="6AA84F"/>
            </a:solidFill>
            <a:prstDash val="solid"/>
            <a:round/>
            <a:headEnd type="none" w="sm" len="sm"/>
            <a:tailEnd type="none" w="sm" len="sm"/>
          </a:ln>
        </p:spPr>
      </p:cxnSp>
      <p:cxnSp>
        <p:nvCxnSpPr>
          <p:cNvPr id="252" name="Google Shape;252;p35"/>
          <p:cNvCxnSpPr>
            <a:stCxn id="250" idx="6"/>
            <a:endCxn id="221" idx="1"/>
          </p:cNvCxnSpPr>
          <p:nvPr/>
        </p:nvCxnSpPr>
        <p:spPr>
          <a:xfrm>
            <a:off x="2242122" y="2519554"/>
            <a:ext cx="429900" cy="105300"/>
          </a:xfrm>
          <a:prstGeom prst="straightConnector1">
            <a:avLst/>
          </a:prstGeom>
          <a:noFill/>
          <a:ln w="19050" cap="flat" cmpd="sng">
            <a:solidFill>
              <a:srgbClr val="6AA84F"/>
            </a:solidFill>
            <a:prstDash val="solid"/>
            <a:round/>
            <a:headEnd type="none" w="sm" len="sm"/>
            <a:tailEnd type="none" w="sm" len="sm"/>
          </a:ln>
        </p:spPr>
      </p:cxnSp>
      <p:cxnSp>
        <p:nvCxnSpPr>
          <p:cNvPr id="253" name="Google Shape;253;p35"/>
          <p:cNvCxnSpPr>
            <a:stCxn id="250" idx="5"/>
            <a:endCxn id="216" idx="0"/>
          </p:cNvCxnSpPr>
          <p:nvPr/>
        </p:nvCxnSpPr>
        <p:spPr>
          <a:xfrm>
            <a:off x="2195631" y="2631792"/>
            <a:ext cx="158700" cy="429600"/>
          </a:xfrm>
          <a:prstGeom prst="straightConnector1">
            <a:avLst/>
          </a:prstGeom>
          <a:noFill/>
          <a:ln w="19050" cap="flat" cmpd="sng">
            <a:solidFill>
              <a:srgbClr val="6AA84F"/>
            </a:solidFill>
            <a:prstDash val="solid"/>
            <a:round/>
            <a:headEnd type="none" w="sm" len="sm"/>
            <a:tailEnd type="none" w="sm" len="sm"/>
          </a:ln>
        </p:spPr>
      </p:cxnSp>
      <p:cxnSp>
        <p:nvCxnSpPr>
          <p:cNvPr id="254" name="Google Shape;254;p35"/>
          <p:cNvCxnSpPr>
            <a:stCxn id="250" idx="3"/>
            <a:endCxn id="211" idx="7"/>
          </p:cNvCxnSpPr>
          <p:nvPr/>
        </p:nvCxnSpPr>
        <p:spPr>
          <a:xfrm flipH="1">
            <a:off x="1692454" y="2631792"/>
            <a:ext cx="278700" cy="269400"/>
          </a:xfrm>
          <a:prstGeom prst="straightConnector1">
            <a:avLst/>
          </a:prstGeom>
          <a:noFill/>
          <a:ln w="19050" cap="flat" cmpd="sng">
            <a:solidFill>
              <a:srgbClr val="6AA84F"/>
            </a:solidFill>
            <a:prstDash val="solid"/>
            <a:round/>
            <a:headEnd type="none" w="sm" len="sm"/>
            <a:tailEnd type="none" w="sm" len="sm"/>
          </a:ln>
        </p:spPr>
      </p:cxnSp>
      <p:sp>
        <p:nvSpPr>
          <p:cNvPr id="250" name="Google Shape;250;p35"/>
          <p:cNvSpPr/>
          <p:nvPr/>
        </p:nvSpPr>
        <p:spPr>
          <a:xfrm>
            <a:off x="1924663" y="2360824"/>
            <a:ext cx="317459" cy="317459"/>
          </a:xfrm>
          <a:prstGeom prst="smileyFace">
            <a:avLst>
              <a:gd name="adj" fmla="val 4653"/>
            </a:avLst>
          </a:prstGeom>
          <a:solidFill>
            <a:srgbClr val="FF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35"/>
          <p:cNvSpPr/>
          <p:nvPr/>
        </p:nvSpPr>
        <p:spPr>
          <a:xfrm>
            <a:off x="2625421" y="2578331"/>
            <a:ext cx="317459" cy="317459"/>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35"/>
          <p:cNvSpPr/>
          <p:nvPr/>
        </p:nvSpPr>
        <p:spPr>
          <a:xfrm>
            <a:off x="2195636" y="3061458"/>
            <a:ext cx="317459" cy="317459"/>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35"/>
          <p:cNvSpPr/>
          <p:nvPr/>
        </p:nvSpPr>
        <p:spPr>
          <a:xfrm>
            <a:off x="1421443" y="2854595"/>
            <a:ext cx="317459" cy="317459"/>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35"/>
          <p:cNvSpPr/>
          <p:nvPr/>
        </p:nvSpPr>
        <p:spPr>
          <a:xfrm>
            <a:off x="2488143" y="1849410"/>
            <a:ext cx="317459" cy="317459"/>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35"/>
          <p:cNvSpPr/>
          <p:nvPr/>
        </p:nvSpPr>
        <p:spPr>
          <a:xfrm>
            <a:off x="1343890" y="1876143"/>
            <a:ext cx="317459" cy="317459"/>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35"/>
          <p:cNvSpPr/>
          <p:nvPr/>
        </p:nvSpPr>
        <p:spPr>
          <a:xfrm>
            <a:off x="3150176" y="3304082"/>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35"/>
          <p:cNvSpPr/>
          <p:nvPr/>
        </p:nvSpPr>
        <p:spPr>
          <a:xfrm>
            <a:off x="2985846" y="1782377"/>
            <a:ext cx="317459" cy="317459"/>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98"/>
                                        </p:tgtEl>
                                        <p:attrNameLst>
                                          <p:attrName>style.visibility</p:attrName>
                                        </p:attrNameLst>
                                      </p:cBhvr>
                                      <p:to>
                                        <p:strVal val="visible"/>
                                      </p:to>
                                    </p:set>
                                    <p:animEffect transition="in" filter="fade">
                                      <p:cBhvr>
                                        <p:cTn id="51" dur="10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6"/>
          <p:cNvSpPr txBox="1">
            <a:spLocks noGrp="1"/>
          </p:cNvSpPr>
          <p:nvPr>
            <p:ph type="title"/>
          </p:nvPr>
        </p:nvSpPr>
        <p:spPr>
          <a:xfrm>
            <a:off x="4926675" y="202554"/>
            <a:ext cx="41379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500"/>
              <a:t>Review: Abstract Data</a:t>
            </a:r>
            <a:endParaRPr sz="2500"/>
          </a:p>
          <a:p>
            <a:pPr marL="0" lvl="0" indent="0" algn="l" rtl="0">
              <a:lnSpc>
                <a:spcPct val="100000"/>
              </a:lnSpc>
              <a:spcBef>
                <a:spcPts val="0"/>
              </a:spcBef>
              <a:spcAft>
                <a:spcPts val="0"/>
              </a:spcAft>
              <a:buSzPts val="2800"/>
              <a:buNone/>
            </a:pPr>
            <a:r>
              <a:rPr lang="en" sz="2500"/>
              <a:t> Types</a:t>
            </a:r>
            <a:endParaRPr sz="2500"/>
          </a:p>
        </p:txBody>
      </p:sp>
      <p:sp>
        <p:nvSpPr>
          <p:cNvPr id="260" name="Google Shape;260;p36"/>
          <p:cNvSpPr txBox="1">
            <a:spLocks noGrp="1"/>
          </p:cNvSpPr>
          <p:nvPr>
            <p:ph type="body" idx="1"/>
          </p:nvPr>
        </p:nvSpPr>
        <p:spPr>
          <a:xfrm>
            <a:off x="170675" y="75875"/>
            <a:ext cx="4560300" cy="4771500"/>
          </a:xfrm>
          <a:prstGeom prst="rect">
            <a:avLst/>
          </a:prstGeom>
          <a:noFill/>
          <a:ln>
            <a:noFill/>
          </a:ln>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An </a:t>
            </a:r>
            <a:r>
              <a:rPr lang="en" b="1" i="1" dirty="0">
                <a:solidFill>
                  <a:srgbClr val="FF0000"/>
                </a:solidFill>
                <a:highlight>
                  <a:srgbClr val="FFFF00"/>
                </a:highlight>
              </a:rPr>
              <a:t>abstract data type</a:t>
            </a:r>
            <a:r>
              <a:rPr lang="en" dirty="0">
                <a:highlight>
                  <a:srgbClr val="FFFF00"/>
                </a:highlight>
              </a:rPr>
              <a:t> (</a:t>
            </a:r>
            <a:r>
              <a:rPr lang="en" b="1" i="1" dirty="0">
                <a:solidFill>
                  <a:srgbClr val="FF0000"/>
                </a:solidFill>
                <a:highlight>
                  <a:srgbClr val="FFFF00"/>
                </a:highlight>
              </a:rPr>
              <a:t>ADT</a:t>
            </a:r>
            <a:r>
              <a:rPr lang="en" dirty="0">
                <a:highlight>
                  <a:srgbClr val="FFFF00"/>
                </a:highlight>
              </a:rPr>
              <a:t>) </a:t>
            </a:r>
            <a:r>
              <a:rPr lang="en" b="1" i="1" dirty="0">
                <a:solidFill>
                  <a:srgbClr val="FF0000"/>
                </a:solidFill>
                <a:highlight>
                  <a:srgbClr val="FFFF00"/>
                </a:highlight>
              </a:rPr>
              <a:t>defines</a:t>
            </a:r>
            <a:r>
              <a:rPr lang="en" dirty="0">
                <a:solidFill>
                  <a:srgbClr val="FF0000"/>
                </a:solidFill>
                <a:highlight>
                  <a:srgbClr val="FFFF00"/>
                </a:highlight>
              </a:rPr>
              <a:t> </a:t>
            </a:r>
            <a:r>
              <a:rPr lang="en" dirty="0"/>
              <a:t>the behavior of a data structure from the perspective of its user, but </a:t>
            </a:r>
            <a:r>
              <a:rPr lang="en" b="1" i="1" dirty="0">
                <a:solidFill>
                  <a:srgbClr val="FF0000"/>
                </a:solidFill>
              </a:rPr>
              <a:t>does not</a:t>
            </a:r>
            <a:r>
              <a:rPr lang="en" dirty="0">
                <a:solidFill>
                  <a:srgbClr val="FF0000"/>
                </a:solidFill>
              </a:rPr>
              <a:t> </a:t>
            </a:r>
            <a:r>
              <a:rPr lang="en" dirty="0"/>
              <a:t>provide any implementation details.</a:t>
            </a:r>
            <a:endParaRPr dirty="0"/>
          </a:p>
          <a:p>
            <a:pPr marL="457200" lvl="0" indent="-311150" algn="l" rtl="0">
              <a:lnSpc>
                <a:spcPct val="100000"/>
              </a:lnSpc>
              <a:spcBef>
                <a:spcPts val="1000"/>
              </a:spcBef>
              <a:spcAft>
                <a:spcPts val="0"/>
              </a:spcAft>
              <a:buSzPts val="1300"/>
              <a:buChar char="●"/>
            </a:pPr>
            <a:r>
              <a:rPr lang="en" dirty="0"/>
              <a:t>So far in this course we have explored many different ADTs, including:</a:t>
            </a:r>
            <a:endParaRPr dirty="0"/>
          </a:p>
          <a:p>
            <a:pPr marL="914400" lvl="1" indent="-298450" algn="l" rtl="0">
              <a:lnSpc>
                <a:spcPct val="100000"/>
              </a:lnSpc>
              <a:spcBef>
                <a:spcPts val="0"/>
              </a:spcBef>
              <a:spcAft>
                <a:spcPts val="0"/>
              </a:spcAft>
              <a:buSzPts val="1100"/>
              <a:buChar char="○"/>
            </a:pPr>
            <a:r>
              <a:rPr lang="en" dirty="0"/>
              <a:t>Stacks</a:t>
            </a:r>
            <a:endParaRPr dirty="0"/>
          </a:p>
          <a:p>
            <a:pPr marL="914400" lvl="1" indent="-298450" algn="l" rtl="0">
              <a:lnSpc>
                <a:spcPct val="100000"/>
              </a:lnSpc>
              <a:spcBef>
                <a:spcPts val="0"/>
              </a:spcBef>
              <a:spcAft>
                <a:spcPts val="0"/>
              </a:spcAft>
              <a:buSzPts val="1100"/>
              <a:buChar char="○"/>
            </a:pPr>
            <a:r>
              <a:rPr lang="en" dirty="0"/>
              <a:t>Queues</a:t>
            </a:r>
            <a:endParaRPr dirty="0"/>
          </a:p>
          <a:p>
            <a:pPr marL="914400" lvl="1" indent="-298450" algn="l" rtl="0">
              <a:lnSpc>
                <a:spcPct val="100000"/>
              </a:lnSpc>
              <a:spcBef>
                <a:spcPts val="0"/>
              </a:spcBef>
              <a:spcAft>
                <a:spcPts val="0"/>
              </a:spcAft>
              <a:buSzPts val="1100"/>
              <a:buChar char="○"/>
            </a:pPr>
            <a:r>
              <a:rPr lang="en" dirty="0"/>
              <a:t>Lists</a:t>
            </a:r>
            <a:endParaRPr dirty="0"/>
          </a:p>
          <a:p>
            <a:pPr marL="914400" lvl="1" indent="-298450" algn="l" rtl="0">
              <a:lnSpc>
                <a:spcPct val="100000"/>
              </a:lnSpc>
              <a:spcBef>
                <a:spcPts val="0"/>
              </a:spcBef>
              <a:spcAft>
                <a:spcPts val="0"/>
              </a:spcAft>
              <a:buSzPts val="1100"/>
              <a:buChar char="○"/>
            </a:pPr>
            <a:r>
              <a:rPr lang="en" dirty="0"/>
              <a:t>Binary Trees/Binary Search Trees</a:t>
            </a:r>
            <a:endParaRPr dirty="0"/>
          </a:p>
          <a:p>
            <a:pPr marL="914400" lvl="1" indent="-298450" algn="l" rtl="0">
              <a:lnSpc>
                <a:spcPct val="100000"/>
              </a:lnSpc>
              <a:spcBef>
                <a:spcPts val="0"/>
              </a:spcBef>
              <a:spcAft>
                <a:spcPts val="0"/>
              </a:spcAft>
              <a:buSzPts val="1100"/>
              <a:buChar char="○"/>
            </a:pPr>
            <a:r>
              <a:rPr lang="en" dirty="0"/>
              <a:t>Heaps</a:t>
            </a:r>
            <a:endParaRPr dirty="0"/>
          </a:p>
          <a:p>
            <a:pPr marL="914400" lvl="1" indent="-298450" algn="l" rtl="0">
              <a:lnSpc>
                <a:spcPct val="100000"/>
              </a:lnSpc>
              <a:spcBef>
                <a:spcPts val="0"/>
              </a:spcBef>
              <a:spcAft>
                <a:spcPts val="0"/>
              </a:spcAft>
              <a:buSzPts val="1100"/>
              <a:buChar char="○"/>
            </a:pPr>
            <a:r>
              <a:rPr lang="en" dirty="0"/>
              <a:t>Maps (Dictionaries)</a:t>
            </a:r>
            <a:endParaRPr dirty="0"/>
          </a:p>
          <a:p>
            <a:pPr marL="914400" lvl="1" indent="-298450" algn="l" rtl="0">
              <a:lnSpc>
                <a:spcPct val="100000"/>
              </a:lnSpc>
              <a:spcBef>
                <a:spcPts val="0"/>
              </a:spcBef>
              <a:spcAft>
                <a:spcPts val="0"/>
              </a:spcAft>
              <a:buSzPts val="1100"/>
              <a:buChar char="○"/>
            </a:pPr>
            <a:r>
              <a:rPr lang="en" dirty="0"/>
              <a:t>Sets</a:t>
            </a:r>
            <a:endParaRPr dirty="0"/>
          </a:p>
          <a:p>
            <a:pPr marL="457200" lvl="0" indent="-311150" algn="l" rtl="0">
              <a:lnSpc>
                <a:spcPct val="100000"/>
              </a:lnSpc>
              <a:spcBef>
                <a:spcPts val="1000"/>
              </a:spcBef>
              <a:spcAft>
                <a:spcPts val="0"/>
              </a:spcAft>
              <a:buSzPts val="1300"/>
              <a:buChar char="●"/>
            </a:pPr>
            <a:r>
              <a:rPr lang="en" dirty="0"/>
              <a:t>We have also discussed implementing several of these abstract data types in more than one way, for example:</a:t>
            </a:r>
            <a:endParaRPr dirty="0"/>
          </a:p>
          <a:p>
            <a:pPr marL="914400" lvl="1" indent="-298450" algn="l" rtl="0">
              <a:lnSpc>
                <a:spcPct val="100000"/>
              </a:lnSpc>
              <a:spcBef>
                <a:spcPts val="0"/>
              </a:spcBef>
              <a:spcAft>
                <a:spcPts val="0"/>
              </a:spcAft>
              <a:buSzPts val="1100"/>
              <a:buChar char="○"/>
            </a:pPr>
            <a:r>
              <a:rPr lang="en" b="1" i="1" dirty="0">
                <a:solidFill>
                  <a:srgbClr val="FF0000"/>
                </a:solidFill>
              </a:rPr>
              <a:t>Node-based</a:t>
            </a:r>
            <a:r>
              <a:rPr lang="en" dirty="0"/>
              <a:t> vs. </a:t>
            </a:r>
            <a:r>
              <a:rPr lang="en" b="1" i="1" dirty="0">
                <a:solidFill>
                  <a:srgbClr val="FF0000"/>
                </a:solidFill>
              </a:rPr>
              <a:t>array-based</a:t>
            </a:r>
            <a:r>
              <a:rPr lang="en" dirty="0"/>
              <a:t> queues and lists.</a:t>
            </a:r>
            <a:endParaRPr dirty="0"/>
          </a:p>
          <a:p>
            <a:pPr marL="914400" lvl="1" indent="-298450" algn="l" rtl="0">
              <a:lnSpc>
                <a:spcPct val="100000"/>
              </a:lnSpc>
              <a:spcBef>
                <a:spcPts val="0"/>
              </a:spcBef>
              <a:spcAft>
                <a:spcPts val="0"/>
              </a:spcAft>
              <a:buSzPts val="1100"/>
              <a:buChar char="○"/>
            </a:pPr>
            <a:r>
              <a:rPr lang="en" dirty="0"/>
              <a:t>Maps that use </a:t>
            </a:r>
            <a:r>
              <a:rPr lang="en" b="1" i="1" dirty="0">
                <a:solidFill>
                  <a:srgbClr val="FF0000"/>
                </a:solidFill>
              </a:rPr>
              <a:t>trees</a:t>
            </a:r>
            <a:r>
              <a:rPr lang="en" dirty="0"/>
              <a:t> vs. </a:t>
            </a:r>
            <a:r>
              <a:rPr lang="en" b="1" i="1" dirty="0">
                <a:solidFill>
                  <a:srgbClr val="FF0000"/>
                </a:solidFill>
              </a:rPr>
              <a:t>hashing</a:t>
            </a:r>
            <a:r>
              <a:rPr lang="en" dirty="0"/>
              <a:t>.</a:t>
            </a:r>
            <a:endParaRPr dirty="0"/>
          </a:p>
          <a:p>
            <a:pPr marL="457200" lvl="0" indent="-311150" algn="l" rtl="0">
              <a:lnSpc>
                <a:spcPct val="100000"/>
              </a:lnSpc>
              <a:spcBef>
                <a:spcPts val="1000"/>
              </a:spcBef>
              <a:spcAft>
                <a:spcPts val="0"/>
              </a:spcAft>
              <a:buSzPts val="1300"/>
              <a:buChar char="●"/>
            </a:pPr>
            <a:r>
              <a:rPr lang="en" dirty="0"/>
              <a:t>We have also been introduced to the </a:t>
            </a:r>
            <a:r>
              <a:rPr lang="en" b="1" i="1" dirty="0">
                <a:solidFill>
                  <a:srgbClr val="FF0000"/>
                </a:solidFill>
              </a:rPr>
              <a:t>Java Collections Framework</a:t>
            </a:r>
            <a:r>
              <a:rPr lang="en" dirty="0"/>
              <a:t> (</a:t>
            </a:r>
            <a:r>
              <a:rPr lang="en" b="1" i="1" dirty="0">
                <a:solidFill>
                  <a:srgbClr val="FF0000"/>
                </a:solidFill>
              </a:rPr>
              <a:t>JCF</a:t>
            </a:r>
            <a:r>
              <a:rPr lang="en" dirty="0"/>
              <a:t>), including:</a:t>
            </a:r>
            <a:endParaRPr dirty="0"/>
          </a:p>
          <a:p>
            <a:pPr marL="914400" lvl="1" indent="-298450" algn="l" rtl="0">
              <a:lnSpc>
                <a:spcPct val="100000"/>
              </a:lnSpc>
              <a:spcBef>
                <a:spcPts val="0"/>
              </a:spcBef>
              <a:spcAft>
                <a:spcPts val="0"/>
              </a:spcAft>
              <a:buSzPts val="1100"/>
              <a:buChar char="○"/>
            </a:pPr>
            <a:r>
              <a:rPr lang="en" dirty="0"/>
              <a:t>Java's implementations of many data structures.</a:t>
            </a:r>
            <a:endParaRPr dirty="0"/>
          </a:p>
          <a:p>
            <a:pPr marL="914400" lvl="1" indent="-298450" algn="l" rtl="0">
              <a:lnSpc>
                <a:spcPct val="100000"/>
              </a:lnSpc>
              <a:spcBef>
                <a:spcPts val="0"/>
              </a:spcBef>
              <a:spcAft>
                <a:spcPts val="0"/>
              </a:spcAft>
              <a:buSzPts val="1100"/>
              <a:buChar char="○"/>
            </a:pPr>
            <a:r>
              <a:rPr lang="en" dirty="0">
                <a:latin typeface="Courier New"/>
                <a:ea typeface="Courier New"/>
                <a:cs typeface="Courier New"/>
                <a:sym typeface="Courier New"/>
              </a:rPr>
              <a:t>Iterable</a:t>
            </a:r>
            <a:r>
              <a:rPr lang="en" dirty="0"/>
              <a:t> &amp; </a:t>
            </a:r>
            <a:r>
              <a:rPr lang="en" dirty="0">
                <a:latin typeface="Courier New"/>
                <a:ea typeface="Courier New"/>
                <a:cs typeface="Courier New"/>
                <a:sym typeface="Courier New"/>
              </a:rPr>
              <a:t>Iterator</a:t>
            </a:r>
            <a:endParaRPr dirty="0">
              <a:latin typeface="Courier New"/>
              <a:ea typeface="Courier New"/>
              <a:cs typeface="Courier New"/>
              <a:sym typeface="Courier New"/>
            </a:endParaRPr>
          </a:p>
          <a:p>
            <a:pPr marL="914400" lvl="1" indent="-298450" algn="l" rtl="0">
              <a:lnSpc>
                <a:spcPct val="100000"/>
              </a:lnSpc>
              <a:spcBef>
                <a:spcPts val="0"/>
              </a:spcBef>
              <a:spcAft>
                <a:spcPts val="0"/>
              </a:spcAft>
              <a:buSzPts val="1100"/>
              <a:buFont typeface="Courier New"/>
              <a:buChar char="○"/>
            </a:pPr>
            <a:r>
              <a:rPr lang="en" dirty="0">
                <a:latin typeface="Courier New"/>
                <a:ea typeface="Courier New"/>
                <a:cs typeface="Courier New"/>
                <a:sym typeface="Courier New"/>
              </a:rPr>
              <a:t>Comparable</a:t>
            </a:r>
            <a:r>
              <a:rPr lang="en" dirty="0"/>
              <a:t> &amp; </a:t>
            </a:r>
            <a:r>
              <a:rPr lang="en" dirty="0">
                <a:latin typeface="Courier New"/>
                <a:ea typeface="Courier New"/>
                <a:cs typeface="Courier New"/>
                <a:sym typeface="Courier New"/>
              </a:rPr>
              <a:t>Comparator</a:t>
            </a:r>
            <a:endParaRPr dirty="0">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latin typeface="Courier New"/>
                <a:ea typeface="Courier New"/>
                <a:cs typeface="Courier New"/>
                <a:sym typeface="Courier New"/>
              </a:rPr>
              <a:t>Collection</a:t>
            </a:r>
            <a:r>
              <a:rPr lang="en" dirty="0"/>
              <a:t> &amp; </a:t>
            </a:r>
            <a:r>
              <a:rPr lang="en" dirty="0">
                <a:latin typeface="Courier New"/>
                <a:ea typeface="Courier New"/>
                <a:cs typeface="Courier New"/>
                <a:sym typeface="Courier New"/>
              </a:rPr>
              <a:t>Collections</a:t>
            </a:r>
            <a:endParaRPr dirty="0">
              <a:latin typeface="Courier New"/>
              <a:ea typeface="Courier New"/>
              <a:cs typeface="Courier New"/>
              <a:sym typeface="Courier New"/>
            </a:endParaRPr>
          </a:p>
        </p:txBody>
      </p:sp>
      <p:sp>
        <p:nvSpPr>
          <p:cNvPr id="261" name="Google Shape;261;p36"/>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3</a:t>
            </a:fld>
            <a:endParaRPr/>
          </a:p>
        </p:txBody>
      </p:sp>
      <p:sp>
        <p:nvSpPr>
          <p:cNvPr id="262" name="Google Shape;262;p36"/>
          <p:cNvSpPr txBox="1">
            <a:spLocks noGrp="1"/>
          </p:cNvSpPr>
          <p:nvPr>
            <p:ph type="body" idx="3"/>
          </p:nvPr>
        </p:nvSpPr>
        <p:spPr>
          <a:xfrm>
            <a:off x="4923400" y="1024750"/>
            <a:ext cx="4137900" cy="55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By now we all understand that, not only can each abstract data type be implemented in </a:t>
            </a:r>
            <a:r>
              <a:rPr lang="en" b="1" i="1">
                <a:solidFill>
                  <a:srgbClr val="FF0000"/>
                </a:solidFill>
              </a:rPr>
              <a:t>more than one way</a:t>
            </a:r>
            <a:r>
              <a:rPr lang="en"/>
              <a:t>...</a:t>
            </a:r>
            <a:endParaRPr/>
          </a:p>
        </p:txBody>
      </p:sp>
      <p:sp>
        <p:nvSpPr>
          <p:cNvPr id="263" name="Google Shape;263;p36"/>
          <p:cNvSpPr txBox="1">
            <a:spLocks noGrp="1"/>
          </p:cNvSpPr>
          <p:nvPr>
            <p:ph type="body" idx="3"/>
          </p:nvPr>
        </p:nvSpPr>
        <p:spPr>
          <a:xfrm>
            <a:off x="4926675" y="1672856"/>
            <a:ext cx="4137900" cy="55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t>...but that </a:t>
            </a:r>
            <a:r>
              <a:rPr lang="en" dirty="0">
                <a:highlight>
                  <a:srgbClr val="FFFF00"/>
                </a:highlight>
              </a:rPr>
              <a:t>each implementation has different strengths and weaknesses </a:t>
            </a:r>
            <a:r>
              <a:rPr lang="en" dirty="0"/>
              <a:t>under different circumstances, e.g. </a:t>
            </a:r>
            <a:r>
              <a:rPr lang="en" b="1" i="1" dirty="0">
                <a:solidFill>
                  <a:srgbClr val="FF0000"/>
                </a:solidFill>
              </a:rPr>
              <a:t>lists</a:t>
            </a:r>
            <a:r>
              <a:rPr lang="en" dirty="0"/>
              <a:t>...</a:t>
            </a:r>
            <a:endParaRPr dirty="0"/>
          </a:p>
        </p:txBody>
      </p:sp>
      <p:graphicFrame>
        <p:nvGraphicFramePr>
          <p:cNvPr id="264" name="Google Shape;264;p36"/>
          <p:cNvGraphicFramePr/>
          <p:nvPr/>
        </p:nvGraphicFramePr>
        <p:xfrm>
          <a:off x="4908375" y="2309761"/>
          <a:ext cx="4167950" cy="1958350"/>
        </p:xfrm>
        <a:graphic>
          <a:graphicData uri="http://schemas.openxmlformats.org/drawingml/2006/table">
            <a:tbl>
              <a:tblPr>
                <a:noFill/>
                <a:tableStyleId>{F61E8307-4E6B-4154-8BF4-D3231BAD3CED}</a:tableStyleId>
              </a:tblPr>
              <a:tblGrid>
                <a:gridCol w="1202700">
                  <a:extLst>
                    <a:ext uri="{9D8B030D-6E8A-4147-A177-3AD203B41FA5}">
                      <a16:colId xmlns:a16="http://schemas.microsoft.com/office/drawing/2014/main" val="20000"/>
                    </a:ext>
                  </a:extLst>
                </a:gridCol>
                <a:gridCol w="1482625">
                  <a:extLst>
                    <a:ext uri="{9D8B030D-6E8A-4147-A177-3AD203B41FA5}">
                      <a16:colId xmlns:a16="http://schemas.microsoft.com/office/drawing/2014/main" val="20001"/>
                    </a:ext>
                  </a:extLst>
                </a:gridCol>
                <a:gridCol w="1482625">
                  <a:extLst>
                    <a:ext uri="{9D8B030D-6E8A-4147-A177-3AD203B41FA5}">
                      <a16:colId xmlns:a16="http://schemas.microsoft.com/office/drawing/2014/main" val="20002"/>
                    </a:ext>
                  </a:extLst>
                </a:gridCol>
              </a:tblGrid>
              <a:tr h="155077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rgbClr val="FFFFFF"/>
                          </a:solidFill>
                        </a:rPr>
                        <a:t>If you...</a:t>
                      </a:r>
                      <a:endParaRPr sz="12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0757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rgbClr val="FFFFFF"/>
                          </a:solidFill>
                        </a:rPr>
                        <a:t>...then choose:</a:t>
                      </a:r>
                      <a:endParaRPr sz="12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pSp>
        <p:nvGrpSpPr>
          <p:cNvPr id="265" name="Google Shape;265;p36"/>
          <p:cNvGrpSpPr/>
          <p:nvPr/>
        </p:nvGrpSpPr>
        <p:grpSpPr>
          <a:xfrm>
            <a:off x="6111075" y="2373483"/>
            <a:ext cx="2979058" cy="1882811"/>
            <a:chOff x="6111075" y="2278947"/>
            <a:chExt cx="2979058" cy="1882811"/>
          </a:xfrm>
        </p:grpSpPr>
        <p:sp>
          <p:nvSpPr>
            <p:cNvPr id="266" name="Google Shape;266;p36"/>
            <p:cNvSpPr txBox="1"/>
            <p:nvPr/>
          </p:nvSpPr>
          <p:spPr>
            <a:xfrm>
              <a:off x="6111075" y="2285374"/>
              <a:ext cx="1482600" cy="1427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Always Append at the End</a:t>
              </a:r>
              <a:endParaRPr sz="12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15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Never Insert or remove in the middle</a:t>
              </a:r>
              <a:endParaRPr sz="12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15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Need Random Access</a:t>
              </a:r>
              <a:endParaRPr sz="12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Know the maximum number of elements </a:t>
              </a:r>
              <a:endParaRPr sz="1200" b="0" i="0" u="none" strike="noStrike" cap="none">
                <a:solidFill>
                  <a:srgbClr val="FF0000"/>
                </a:solidFill>
                <a:latin typeface="Shadows Into Light"/>
                <a:ea typeface="Shadows Into Light"/>
                <a:cs typeface="Shadows Into Light"/>
                <a:sym typeface="Shadows Into Light"/>
              </a:endParaRPr>
            </a:p>
          </p:txBody>
        </p:sp>
        <p:sp>
          <p:nvSpPr>
            <p:cNvPr id="267" name="Google Shape;267;p36"/>
            <p:cNvSpPr txBox="1"/>
            <p:nvPr/>
          </p:nvSpPr>
          <p:spPr>
            <a:xfrm>
              <a:off x="6111075" y="3768158"/>
              <a:ext cx="1482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FF0000"/>
                  </a:solidFill>
                  <a:latin typeface="Shadows Into Light"/>
                  <a:ea typeface="Shadows Into Light"/>
                  <a:cs typeface="Shadows Into Light"/>
                  <a:sym typeface="Shadows Into Light"/>
                </a:rPr>
                <a:t>Array List</a:t>
              </a:r>
              <a:endParaRPr sz="1900" b="0" i="0" u="none" strike="noStrike" cap="none">
                <a:solidFill>
                  <a:srgbClr val="FF0000"/>
                </a:solidFill>
                <a:latin typeface="Shadows Into Light"/>
                <a:ea typeface="Shadows Into Light"/>
                <a:cs typeface="Shadows Into Light"/>
                <a:sym typeface="Shadows Into Light"/>
              </a:endParaRPr>
            </a:p>
          </p:txBody>
        </p:sp>
        <p:sp>
          <p:nvSpPr>
            <p:cNvPr id="268" name="Google Shape;268;p36"/>
            <p:cNvSpPr txBox="1"/>
            <p:nvPr/>
          </p:nvSpPr>
          <p:spPr>
            <a:xfrm>
              <a:off x="7593762" y="2278947"/>
              <a:ext cx="1482600" cy="1427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Always Insert or Remove at head </a:t>
              </a:r>
              <a:r>
                <a:rPr lang="en" sz="1200" b="0" i="0" u="sng" strike="noStrike" cap="none">
                  <a:solidFill>
                    <a:srgbClr val="FF0000"/>
                  </a:solidFill>
                  <a:latin typeface="Shadows Into Light"/>
                  <a:ea typeface="Shadows Into Light"/>
                  <a:cs typeface="Shadows Into Light"/>
                  <a:sym typeface="Shadows Into Light"/>
                </a:rPr>
                <a:t>and</a:t>
              </a:r>
              <a:r>
                <a:rPr lang="en" sz="1200" b="0" i="0" u="none" strike="noStrike" cap="none">
                  <a:solidFill>
                    <a:srgbClr val="FF0000"/>
                  </a:solidFill>
                  <a:latin typeface="Shadows Into Light"/>
                  <a:ea typeface="Shadows Into Light"/>
                  <a:cs typeface="Shadows Into Light"/>
                  <a:sym typeface="Shadows Into Light"/>
                </a:rPr>
                <a:t> tail</a:t>
              </a:r>
              <a:endParaRPr sz="12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Don't need random access</a:t>
              </a:r>
              <a:endParaRPr sz="12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Don't know the maximum number of elements</a:t>
              </a:r>
              <a:endParaRPr sz="1200" b="0" i="0" u="none" strike="noStrike" cap="none">
                <a:solidFill>
                  <a:srgbClr val="FF0000"/>
                </a:solidFill>
                <a:latin typeface="Shadows Into Light"/>
                <a:ea typeface="Shadows Into Light"/>
                <a:cs typeface="Shadows Into Light"/>
                <a:sym typeface="Shadows Into Light"/>
              </a:endParaRPr>
            </a:p>
          </p:txBody>
        </p:sp>
        <p:sp>
          <p:nvSpPr>
            <p:cNvPr id="269" name="Google Shape;269;p36"/>
            <p:cNvSpPr txBox="1"/>
            <p:nvPr/>
          </p:nvSpPr>
          <p:spPr>
            <a:xfrm>
              <a:off x="7607533" y="3768158"/>
              <a:ext cx="1482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FF0000"/>
                  </a:solidFill>
                  <a:latin typeface="Shadows Into Light"/>
                  <a:ea typeface="Shadows Into Light"/>
                  <a:cs typeface="Shadows Into Light"/>
                  <a:sym typeface="Shadows Into Light"/>
                </a:rPr>
                <a:t>Linked List</a:t>
              </a:r>
              <a:endParaRPr sz="1900" b="0" i="0" u="none" strike="noStrike" cap="none">
                <a:solidFill>
                  <a:srgbClr val="FF0000"/>
                </a:solidFill>
                <a:latin typeface="Shadows Into Light"/>
                <a:ea typeface="Shadows Into Light"/>
                <a:cs typeface="Shadows Into Light"/>
                <a:sym typeface="Shadows Into Light"/>
              </a:endParaRPr>
            </a:p>
          </p:txBody>
        </p:sp>
      </p:grpSp>
      <p:sp>
        <p:nvSpPr>
          <p:cNvPr id="270" name="Google Shape;270;p36"/>
          <p:cNvSpPr txBox="1"/>
          <p:nvPr/>
        </p:nvSpPr>
        <p:spPr>
          <a:xfrm>
            <a:off x="4923400" y="4344936"/>
            <a:ext cx="41379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Understanding which operations are needed </a:t>
            </a:r>
            <a:r>
              <a:rPr lang="en" sz="1200" b="1" i="1" u="none" strike="noStrike" cap="none">
                <a:solidFill>
                  <a:srgbClr val="FF0000"/>
                </a:solidFill>
                <a:latin typeface="Arial"/>
                <a:ea typeface="Arial"/>
                <a:cs typeface="Arial"/>
                <a:sym typeface="Arial"/>
              </a:rPr>
              <a:t>the most frequently</a:t>
            </a:r>
            <a:r>
              <a:rPr lang="en" sz="1200" b="0" i="0" u="none" strike="noStrike" cap="none">
                <a:solidFill>
                  <a:srgbClr val="000000"/>
                </a:solidFill>
                <a:latin typeface="Arial"/>
                <a:ea typeface="Arial"/>
                <a:cs typeface="Arial"/>
                <a:sym typeface="Arial"/>
              </a:rPr>
              <a:t> will help you choose the most efficient implementation to solve a specific problem.</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6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60">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0">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0">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0">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60">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62"/>
                                        </p:tgtEl>
                                        <p:attrNameLst>
                                          <p:attrName>style.visibility</p:attrName>
                                        </p:attrNameLst>
                                      </p:cBhvr>
                                      <p:to>
                                        <p:strVal val="visible"/>
                                      </p:to>
                                    </p:set>
                                    <p:animEffect transition="in" filter="fade">
                                      <p:cBhvr>
                                        <p:cTn id="75" dur="1000"/>
                                        <p:tgtEl>
                                          <p:spTgt spid="262"/>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263"/>
                                        </p:tgtEl>
                                        <p:attrNameLst>
                                          <p:attrName>style.visibility</p:attrName>
                                        </p:attrNameLst>
                                      </p:cBhvr>
                                      <p:to>
                                        <p:strVal val="visible"/>
                                      </p:to>
                                    </p:set>
                                    <p:animEffect transition="in" filter="fade">
                                      <p:cBhvr>
                                        <p:cTn id="80" dur="1000"/>
                                        <p:tgtEl>
                                          <p:spTgt spid="263"/>
                                        </p:tgtEl>
                                      </p:cBhvr>
                                    </p:animEffect>
                                  </p:childTnLst>
                                </p:cTn>
                              </p:par>
                            </p:childTnLst>
                          </p:cTn>
                        </p:par>
                        <p:par>
                          <p:cTn id="81" fill="hold">
                            <p:stCondLst>
                              <p:cond delay="1000"/>
                            </p:stCondLst>
                            <p:childTnLst>
                              <p:par>
                                <p:cTn id="82" presetID="10" presetClass="entr" presetSubtype="0" fill="hold" nodeType="afterEffect">
                                  <p:stCondLst>
                                    <p:cond delay="0"/>
                                  </p:stCondLst>
                                  <p:childTnLst>
                                    <p:set>
                                      <p:cBhvr>
                                        <p:cTn id="83" dur="1" fill="hold">
                                          <p:stCondLst>
                                            <p:cond delay="0"/>
                                          </p:stCondLst>
                                        </p:cTn>
                                        <p:tgtEl>
                                          <p:spTgt spid="265"/>
                                        </p:tgtEl>
                                        <p:attrNameLst>
                                          <p:attrName>style.visibility</p:attrName>
                                        </p:attrNameLst>
                                      </p:cBhvr>
                                      <p:to>
                                        <p:strVal val="visible"/>
                                      </p:to>
                                    </p:set>
                                    <p:animEffect transition="in" filter="fade">
                                      <p:cBhvr>
                                        <p:cTn id="84" dur="1000"/>
                                        <p:tgtEl>
                                          <p:spTgt spid="265"/>
                                        </p:tgtEl>
                                      </p:cBhvr>
                                    </p:animEffect>
                                  </p:childTnLst>
                                </p:cTn>
                              </p:par>
                              <p:par>
                                <p:cTn id="85" presetID="10" presetClass="entr" presetSubtype="0" fill="hold" nodeType="withEffect">
                                  <p:stCondLst>
                                    <p:cond delay="0"/>
                                  </p:stCondLst>
                                  <p:childTnLst>
                                    <p:set>
                                      <p:cBhvr>
                                        <p:cTn id="86" dur="1" fill="hold">
                                          <p:stCondLst>
                                            <p:cond delay="0"/>
                                          </p:stCondLst>
                                        </p:cTn>
                                        <p:tgtEl>
                                          <p:spTgt spid="264"/>
                                        </p:tgtEl>
                                        <p:attrNameLst>
                                          <p:attrName>style.visibility</p:attrName>
                                        </p:attrNameLst>
                                      </p:cBhvr>
                                      <p:to>
                                        <p:strVal val="visible"/>
                                      </p:to>
                                    </p:set>
                                    <p:animEffect transition="in" filter="fade">
                                      <p:cBhvr>
                                        <p:cTn id="87" dur="1000"/>
                                        <p:tgtEl>
                                          <p:spTgt spid="26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70"/>
                                        </p:tgtEl>
                                        <p:attrNameLst>
                                          <p:attrName>style.visibility</p:attrName>
                                        </p:attrNameLst>
                                      </p:cBhvr>
                                      <p:to>
                                        <p:strVal val="visible"/>
                                      </p:to>
                                    </p:set>
                                    <p:animEffect transition="in" filter="fade">
                                      <p:cBhvr>
                                        <p:cTn id="92" dur="10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7"/>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Lots of different data structures can be created by connecting nodes together. We have discussed several of them over the course of the past two units. Examine each picture below and indicate the type of data structure that is being represented. Be as specific as possible with the information given.</a:t>
            </a:r>
            <a:endParaRPr/>
          </a:p>
        </p:txBody>
      </p:sp>
      <p:sp>
        <p:nvSpPr>
          <p:cNvPr id="276" name="Google Shape;276;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77" name="Google Shape;277;p3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Data Structures</a:t>
            </a:r>
            <a:endParaRPr/>
          </a:p>
        </p:txBody>
      </p:sp>
      <p:sp>
        <p:nvSpPr>
          <p:cNvPr id="278" name="Google Shape;278;p3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12.1</a:t>
            </a:r>
            <a:endParaRPr/>
          </a:p>
        </p:txBody>
      </p:sp>
      <p:graphicFrame>
        <p:nvGraphicFramePr>
          <p:cNvPr id="279" name="Google Shape;279;p37"/>
          <p:cNvGraphicFramePr/>
          <p:nvPr/>
        </p:nvGraphicFramePr>
        <p:xfrm>
          <a:off x="366876" y="1975812"/>
          <a:ext cx="8380300" cy="2999700"/>
        </p:xfrm>
        <a:graphic>
          <a:graphicData uri="http://schemas.openxmlformats.org/drawingml/2006/table">
            <a:tbl>
              <a:tblPr>
                <a:noFill/>
                <a:tableStyleId>{F61E8307-4E6B-4154-8BF4-D3231BAD3CED}</a:tableStyleId>
              </a:tblPr>
              <a:tblGrid>
                <a:gridCol w="2095075">
                  <a:extLst>
                    <a:ext uri="{9D8B030D-6E8A-4147-A177-3AD203B41FA5}">
                      <a16:colId xmlns:a16="http://schemas.microsoft.com/office/drawing/2014/main" val="20000"/>
                    </a:ext>
                  </a:extLst>
                </a:gridCol>
                <a:gridCol w="2095075">
                  <a:extLst>
                    <a:ext uri="{9D8B030D-6E8A-4147-A177-3AD203B41FA5}">
                      <a16:colId xmlns:a16="http://schemas.microsoft.com/office/drawing/2014/main" val="20001"/>
                    </a:ext>
                  </a:extLst>
                </a:gridCol>
                <a:gridCol w="2095075">
                  <a:extLst>
                    <a:ext uri="{9D8B030D-6E8A-4147-A177-3AD203B41FA5}">
                      <a16:colId xmlns:a16="http://schemas.microsoft.com/office/drawing/2014/main" val="20002"/>
                    </a:ext>
                  </a:extLst>
                </a:gridCol>
                <a:gridCol w="2095075">
                  <a:extLst>
                    <a:ext uri="{9D8B030D-6E8A-4147-A177-3AD203B41FA5}">
                      <a16:colId xmlns:a16="http://schemas.microsoft.com/office/drawing/2014/main" val="20003"/>
                    </a:ext>
                  </a:extLst>
                </a:gridCol>
              </a:tblGrid>
              <a:tr h="2515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83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280" name="Google Shape;280;p37"/>
          <p:cNvGrpSpPr/>
          <p:nvPr/>
        </p:nvGrpSpPr>
        <p:grpSpPr>
          <a:xfrm>
            <a:off x="1305701" y="2566412"/>
            <a:ext cx="302150" cy="321400"/>
            <a:chOff x="1015875" y="2025525"/>
            <a:chExt cx="302150" cy="321400"/>
          </a:xfrm>
        </p:grpSpPr>
        <p:sp>
          <p:nvSpPr>
            <p:cNvPr id="281" name="Google Shape;281;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82" name="Google Shape;282;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A</a:t>
              </a:r>
              <a:endParaRPr sz="1400" b="0" i="0" u="none" strike="noStrike" cap="none">
                <a:solidFill>
                  <a:srgbClr val="FFFFFF"/>
                </a:solidFill>
                <a:latin typeface="Roboto"/>
                <a:ea typeface="Roboto"/>
                <a:cs typeface="Roboto"/>
                <a:sym typeface="Roboto"/>
              </a:endParaRPr>
            </a:p>
          </p:txBody>
        </p:sp>
      </p:grpSp>
      <p:grpSp>
        <p:nvGrpSpPr>
          <p:cNvPr id="283" name="Google Shape;283;p37"/>
          <p:cNvGrpSpPr/>
          <p:nvPr/>
        </p:nvGrpSpPr>
        <p:grpSpPr>
          <a:xfrm>
            <a:off x="1305701" y="3099812"/>
            <a:ext cx="302150" cy="321400"/>
            <a:chOff x="1015875" y="2025525"/>
            <a:chExt cx="302150" cy="321400"/>
          </a:xfrm>
        </p:grpSpPr>
        <p:sp>
          <p:nvSpPr>
            <p:cNvPr id="284" name="Google Shape;284;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85" name="Google Shape;285;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B</a:t>
              </a:r>
              <a:endParaRPr sz="1400" b="0" i="0" u="none" strike="noStrike" cap="none">
                <a:solidFill>
                  <a:srgbClr val="FFFFFF"/>
                </a:solidFill>
                <a:latin typeface="Roboto"/>
                <a:ea typeface="Roboto"/>
                <a:cs typeface="Roboto"/>
                <a:sym typeface="Roboto"/>
              </a:endParaRPr>
            </a:p>
          </p:txBody>
        </p:sp>
      </p:grpSp>
      <p:cxnSp>
        <p:nvCxnSpPr>
          <p:cNvPr id="286" name="Google Shape;286;p37"/>
          <p:cNvCxnSpPr/>
          <p:nvPr/>
        </p:nvCxnSpPr>
        <p:spPr>
          <a:xfrm>
            <a:off x="1456751" y="2900571"/>
            <a:ext cx="0" cy="212100"/>
          </a:xfrm>
          <a:prstGeom prst="straightConnector1">
            <a:avLst/>
          </a:prstGeom>
          <a:noFill/>
          <a:ln w="19050" cap="flat" cmpd="sng">
            <a:solidFill>
              <a:srgbClr val="FF0000"/>
            </a:solidFill>
            <a:prstDash val="solid"/>
            <a:round/>
            <a:headEnd type="none" w="sm" len="sm"/>
            <a:tailEnd type="triangle" w="med" len="med"/>
          </a:ln>
        </p:spPr>
      </p:cxnSp>
      <p:grpSp>
        <p:nvGrpSpPr>
          <p:cNvPr id="287" name="Google Shape;287;p37"/>
          <p:cNvGrpSpPr/>
          <p:nvPr/>
        </p:nvGrpSpPr>
        <p:grpSpPr>
          <a:xfrm>
            <a:off x="1305701" y="3633212"/>
            <a:ext cx="302150" cy="321400"/>
            <a:chOff x="1015875" y="2025525"/>
            <a:chExt cx="302150" cy="321400"/>
          </a:xfrm>
        </p:grpSpPr>
        <p:sp>
          <p:nvSpPr>
            <p:cNvPr id="288" name="Google Shape;288;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89" name="Google Shape;289;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C</a:t>
              </a:r>
              <a:endParaRPr sz="1400" b="0" i="0" u="none" strike="noStrike" cap="none">
                <a:solidFill>
                  <a:srgbClr val="FFFFFF"/>
                </a:solidFill>
                <a:latin typeface="Roboto"/>
                <a:ea typeface="Roboto"/>
                <a:cs typeface="Roboto"/>
                <a:sym typeface="Roboto"/>
              </a:endParaRPr>
            </a:p>
          </p:txBody>
        </p:sp>
      </p:grpSp>
      <p:cxnSp>
        <p:nvCxnSpPr>
          <p:cNvPr id="290" name="Google Shape;290;p37"/>
          <p:cNvCxnSpPr/>
          <p:nvPr/>
        </p:nvCxnSpPr>
        <p:spPr>
          <a:xfrm>
            <a:off x="1456751" y="3433971"/>
            <a:ext cx="0" cy="212100"/>
          </a:xfrm>
          <a:prstGeom prst="straightConnector1">
            <a:avLst/>
          </a:prstGeom>
          <a:noFill/>
          <a:ln w="19050" cap="flat" cmpd="sng">
            <a:solidFill>
              <a:srgbClr val="FF0000"/>
            </a:solidFill>
            <a:prstDash val="solid"/>
            <a:round/>
            <a:headEnd type="none" w="sm" len="sm"/>
            <a:tailEnd type="triangle" w="med" len="med"/>
          </a:ln>
        </p:spPr>
      </p:cxnSp>
      <p:cxnSp>
        <p:nvCxnSpPr>
          <p:cNvPr id="291" name="Google Shape;291;p37"/>
          <p:cNvCxnSpPr>
            <a:stCxn id="292" idx="1"/>
            <a:endCxn id="293" idx="0"/>
          </p:cNvCxnSpPr>
          <p:nvPr/>
        </p:nvCxnSpPr>
        <p:spPr>
          <a:xfrm flipH="1">
            <a:off x="5266601" y="2727062"/>
            <a:ext cx="230100" cy="399300"/>
          </a:xfrm>
          <a:prstGeom prst="curvedConnector2">
            <a:avLst/>
          </a:prstGeom>
          <a:noFill/>
          <a:ln w="19050" cap="flat" cmpd="sng">
            <a:solidFill>
              <a:srgbClr val="FF0000"/>
            </a:solidFill>
            <a:prstDash val="solid"/>
            <a:round/>
            <a:headEnd type="none" w="sm" len="sm"/>
            <a:tailEnd type="triangle" w="med" len="med"/>
          </a:ln>
        </p:spPr>
      </p:cxnSp>
      <p:cxnSp>
        <p:nvCxnSpPr>
          <p:cNvPr id="294" name="Google Shape;294;p37"/>
          <p:cNvCxnSpPr>
            <a:stCxn id="292" idx="3"/>
            <a:endCxn id="295" idx="0"/>
          </p:cNvCxnSpPr>
          <p:nvPr/>
        </p:nvCxnSpPr>
        <p:spPr>
          <a:xfrm>
            <a:off x="5798801" y="2727062"/>
            <a:ext cx="230100" cy="399300"/>
          </a:xfrm>
          <a:prstGeom prst="curvedConnector2">
            <a:avLst/>
          </a:prstGeom>
          <a:noFill/>
          <a:ln w="19050" cap="flat" cmpd="sng">
            <a:solidFill>
              <a:srgbClr val="FF0000"/>
            </a:solidFill>
            <a:prstDash val="solid"/>
            <a:round/>
            <a:headEnd type="none" w="sm" len="sm"/>
            <a:tailEnd type="triangle" w="med" len="med"/>
          </a:ln>
        </p:spPr>
      </p:cxnSp>
      <p:grpSp>
        <p:nvGrpSpPr>
          <p:cNvPr id="296" name="Google Shape;296;p37"/>
          <p:cNvGrpSpPr/>
          <p:nvPr/>
        </p:nvGrpSpPr>
        <p:grpSpPr>
          <a:xfrm>
            <a:off x="5115701" y="3119112"/>
            <a:ext cx="302150" cy="302100"/>
            <a:chOff x="1015875" y="2044825"/>
            <a:chExt cx="302150" cy="302100"/>
          </a:xfrm>
        </p:grpSpPr>
        <p:sp>
          <p:nvSpPr>
            <p:cNvPr id="297" name="Google Shape;297;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93" name="Google Shape;293;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3</a:t>
              </a:r>
              <a:endParaRPr sz="1400" b="0" i="0" u="none" strike="noStrike" cap="none">
                <a:solidFill>
                  <a:srgbClr val="FFFFFF"/>
                </a:solidFill>
                <a:latin typeface="Roboto"/>
                <a:ea typeface="Roboto"/>
                <a:cs typeface="Roboto"/>
                <a:sym typeface="Roboto"/>
              </a:endParaRPr>
            </a:p>
          </p:txBody>
        </p:sp>
      </p:grpSp>
      <p:cxnSp>
        <p:nvCxnSpPr>
          <p:cNvPr id="298" name="Google Shape;298;p37"/>
          <p:cNvCxnSpPr>
            <a:stCxn id="293" idx="1"/>
            <a:endCxn id="299" idx="0"/>
          </p:cNvCxnSpPr>
          <p:nvPr/>
        </p:nvCxnSpPr>
        <p:spPr>
          <a:xfrm flipH="1">
            <a:off x="4885601" y="3264099"/>
            <a:ext cx="230100" cy="395700"/>
          </a:xfrm>
          <a:prstGeom prst="curvedConnector2">
            <a:avLst/>
          </a:prstGeom>
          <a:noFill/>
          <a:ln w="19050" cap="flat" cmpd="sng">
            <a:solidFill>
              <a:srgbClr val="FF0000"/>
            </a:solidFill>
            <a:prstDash val="solid"/>
            <a:round/>
            <a:headEnd type="none" w="sm" len="sm"/>
            <a:tailEnd type="triangle" w="med" len="med"/>
          </a:ln>
        </p:spPr>
      </p:cxnSp>
      <p:cxnSp>
        <p:nvCxnSpPr>
          <p:cNvPr id="300" name="Google Shape;300;p37"/>
          <p:cNvCxnSpPr>
            <a:stCxn id="293" idx="3"/>
            <a:endCxn id="301" idx="0"/>
          </p:cNvCxnSpPr>
          <p:nvPr/>
        </p:nvCxnSpPr>
        <p:spPr>
          <a:xfrm>
            <a:off x="54178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302" name="Google Shape;302;p37"/>
          <p:cNvGrpSpPr/>
          <p:nvPr/>
        </p:nvGrpSpPr>
        <p:grpSpPr>
          <a:xfrm>
            <a:off x="5496701" y="3652512"/>
            <a:ext cx="302150" cy="302100"/>
            <a:chOff x="1015875" y="2044825"/>
            <a:chExt cx="302150" cy="302100"/>
          </a:xfrm>
        </p:grpSpPr>
        <p:sp>
          <p:nvSpPr>
            <p:cNvPr id="303" name="Google Shape;303;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01" name="Google Shape;301;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304" name="Google Shape;304;p37"/>
          <p:cNvGrpSpPr/>
          <p:nvPr/>
        </p:nvGrpSpPr>
        <p:grpSpPr>
          <a:xfrm>
            <a:off x="4734701" y="3652512"/>
            <a:ext cx="302150" cy="302100"/>
            <a:chOff x="1015875" y="2044825"/>
            <a:chExt cx="302150" cy="302100"/>
          </a:xfrm>
        </p:grpSpPr>
        <p:sp>
          <p:nvSpPr>
            <p:cNvPr id="305" name="Google Shape;305;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99" name="Google Shape;299;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2</a:t>
              </a:r>
              <a:endParaRPr sz="1400" b="0" i="0" u="none" strike="noStrike" cap="none">
                <a:solidFill>
                  <a:srgbClr val="FFFFFF"/>
                </a:solidFill>
                <a:latin typeface="Roboto"/>
                <a:ea typeface="Roboto"/>
                <a:cs typeface="Roboto"/>
                <a:sym typeface="Roboto"/>
              </a:endParaRPr>
            </a:p>
          </p:txBody>
        </p:sp>
      </p:grpSp>
      <p:grpSp>
        <p:nvGrpSpPr>
          <p:cNvPr id="306" name="Google Shape;306;p37"/>
          <p:cNvGrpSpPr/>
          <p:nvPr/>
        </p:nvGrpSpPr>
        <p:grpSpPr>
          <a:xfrm>
            <a:off x="5496701" y="2566412"/>
            <a:ext cx="302150" cy="321400"/>
            <a:chOff x="1015875" y="2025525"/>
            <a:chExt cx="302150" cy="321400"/>
          </a:xfrm>
        </p:grpSpPr>
        <p:sp>
          <p:nvSpPr>
            <p:cNvPr id="307" name="Google Shape;307;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92" name="Google Shape;292;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5</a:t>
              </a:r>
              <a:endParaRPr sz="1400" b="0" i="0" u="none" strike="noStrike" cap="none">
                <a:solidFill>
                  <a:srgbClr val="FFFFFF"/>
                </a:solidFill>
                <a:latin typeface="Roboto"/>
                <a:ea typeface="Roboto"/>
                <a:cs typeface="Roboto"/>
                <a:sym typeface="Roboto"/>
              </a:endParaRPr>
            </a:p>
          </p:txBody>
        </p:sp>
      </p:grpSp>
      <p:cxnSp>
        <p:nvCxnSpPr>
          <p:cNvPr id="308" name="Google Shape;308;p37"/>
          <p:cNvCxnSpPr>
            <a:stCxn id="295" idx="3"/>
            <a:endCxn id="309" idx="0"/>
          </p:cNvCxnSpPr>
          <p:nvPr/>
        </p:nvCxnSpPr>
        <p:spPr>
          <a:xfrm>
            <a:off x="61798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310" name="Google Shape;310;p37"/>
          <p:cNvGrpSpPr/>
          <p:nvPr/>
        </p:nvGrpSpPr>
        <p:grpSpPr>
          <a:xfrm>
            <a:off x="5877701" y="3119112"/>
            <a:ext cx="302150" cy="302100"/>
            <a:chOff x="1015875" y="2044825"/>
            <a:chExt cx="302150" cy="302100"/>
          </a:xfrm>
        </p:grpSpPr>
        <p:sp>
          <p:nvSpPr>
            <p:cNvPr id="311" name="Google Shape;311;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295" name="Google Shape;295;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312" name="Google Shape;312;p37"/>
          <p:cNvGrpSpPr/>
          <p:nvPr/>
        </p:nvGrpSpPr>
        <p:grpSpPr>
          <a:xfrm>
            <a:off x="6258701" y="3652512"/>
            <a:ext cx="302150" cy="302100"/>
            <a:chOff x="1015875" y="2044825"/>
            <a:chExt cx="302150" cy="302100"/>
          </a:xfrm>
        </p:grpSpPr>
        <p:sp>
          <p:nvSpPr>
            <p:cNvPr id="313" name="Google Shape;313;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09" name="Google Shape;309;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9</a:t>
              </a:r>
              <a:endParaRPr sz="1400" b="0" i="0" u="none" strike="noStrike" cap="none">
                <a:solidFill>
                  <a:srgbClr val="FFFFFF"/>
                </a:solidFill>
                <a:latin typeface="Roboto"/>
                <a:ea typeface="Roboto"/>
                <a:cs typeface="Roboto"/>
                <a:sym typeface="Roboto"/>
              </a:endParaRPr>
            </a:p>
          </p:txBody>
        </p:sp>
      </p:grpSp>
      <p:cxnSp>
        <p:nvCxnSpPr>
          <p:cNvPr id="314" name="Google Shape;314;p37"/>
          <p:cNvCxnSpPr>
            <a:stCxn id="315" idx="1"/>
            <a:endCxn id="316" idx="0"/>
          </p:cNvCxnSpPr>
          <p:nvPr/>
        </p:nvCxnSpPr>
        <p:spPr>
          <a:xfrm flipH="1">
            <a:off x="3133001" y="2727062"/>
            <a:ext cx="230100" cy="399300"/>
          </a:xfrm>
          <a:prstGeom prst="curvedConnector2">
            <a:avLst/>
          </a:prstGeom>
          <a:noFill/>
          <a:ln w="19050" cap="flat" cmpd="sng">
            <a:solidFill>
              <a:srgbClr val="FF0000"/>
            </a:solidFill>
            <a:prstDash val="solid"/>
            <a:round/>
            <a:headEnd type="none" w="sm" len="sm"/>
            <a:tailEnd type="triangle" w="med" len="med"/>
          </a:ln>
        </p:spPr>
      </p:cxnSp>
      <p:cxnSp>
        <p:nvCxnSpPr>
          <p:cNvPr id="317" name="Google Shape;317;p37"/>
          <p:cNvCxnSpPr>
            <a:stCxn id="315" idx="3"/>
            <a:endCxn id="318" idx="0"/>
          </p:cNvCxnSpPr>
          <p:nvPr/>
        </p:nvCxnSpPr>
        <p:spPr>
          <a:xfrm>
            <a:off x="3665201" y="2727062"/>
            <a:ext cx="230100" cy="399300"/>
          </a:xfrm>
          <a:prstGeom prst="curvedConnector2">
            <a:avLst/>
          </a:prstGeom>
          <a:noFill/>
          <a:ln w="19050" cap="flat" cmpd="sng">
            <a:solidFill>
              <a:srgbClr val="FF0000"/>
            </a:solidFill>
            <a:prstDash val="solid"/>
            <a:round/>
            <a:headEnd type="none" w="sm" len="sm"/>
            <a:tailEnd type="triangle" w="med" len="med"/>
          </a:ln>
        </p:spPr>
      </p:cxnSp>
      <p:grpSp>
        <p:nvGrpSpPr>
          <p:cNvPr id="319" name="Google Shape;319;p37"/>
          <p:cNvGrpSpPr/>
          <p:nvPr/>
        </p:nvGrpSpPr>
        <p:grpSpPr>
          <a:xfrm>
            <a:off x="2982101" y="3119112"/>
            <a:ext cx="302150" cy="302100"/>
            <a:chOff x="1015875" y="2044825"/>
            <a:chExt cx="302150" cy="302100"/>
          </a:xfrm>
        </p:grpSpPr>
        <p:sp>
          <p:nvSpPr>
            <p:cNvPr id="320" name="Google Shape;320;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16" name="Google Shape;316;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6</a:t>
              </a:r>
              <a:endParaRPr sz="1400" b="0" i="0" u="none" strike="noStrike" cap="none">
                <a:solidFill>
                  <a:srgbClr val="FFFFFF"/>
                </a:solidFill>
                <a:latin typeface="Roboto"/>
                <a:ea typeface="Roboto"/>
                <a:cs typeface="Roboto"/>
                <a:sym typeface="Roboto"/>
              </a:endParaRPr>
            </a:p>
          </p:txBody>
        </p:sp>
      </p:grpSp>
      <p:cxnSp>
        <p:nvCxnSpPr>
          <p:cNvPr id="321" name="Google Shape;321;p37"/>
          <p:cNvCxnSpPr>
            <a:stCxn id="316" idx="1"/>
            <a:endCxn id="322" idx="0"/>
          </p:cNvCxnSpPr>
          <p:nvPr/>
        </p:nvCxnSpPr>
        <p:spPr>
          <a:xfrm flipH="1">
            <a:off x="2752301" y="3264099"/>
            <a:ext cx="229800" cy="395700"/>
          </a:xfrm>
          <a:prstGeom prst="curvedConnector2">
            <a:avLst/>
          </a:prstGeom>
          <a:noFill/>
          <a:ln w="19050" cap="flat" cmpd="sng">
            <a:solidFill>
              <a:srgbClr val="FF0000"/>
            </a:solidFill>
            <a:prstDash val="solid"/>
            <a:round/>
            <a:headEnd type="none" w="sm" len="sm"/>
            <a:tailEnd type="triangle" w="med" len="med"/>
          </a:ln>
        </p:spPr>
      </p:cxnSp>
      <p:cxnSp>
        <p:nvCxnSpPr>
          <p:cNvPr id="323" name="Google Shape;323;p37"/>
          <p:cNvCxnSpPr>
            <a:stCxn id="316" idx="3"/>
            <a:endCxn id="324" idx="0"/>
          </p:cNvCxnSpPr>
          <p:nvPr/>
        </p:nvCxnSpPr>
        <p:spPr>
          <a:xfrm>
            <a:off x="32842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325" name="Google Shape;325;p37"/>
          <p:cNvGrpSpPr/>
          <p:nvPr/>
        </p:nvGrpSpPr>
        <p:grpSpPr>
          <a:xfrm>
            <a:off x="3363101" y="3652512"/>
            <a:ext cx="302150" cy="302100"/>
            <a:chOff x="1015875" y="2044825"/>
            <a:chExt cx="302150" cy="302100"/>
          </a:xfrm>
        </p:grpSpPr>
        <p:sp>
          <p:nvSpPr>
            <p:cNvPr id="326" name="Google Shape;326;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24" name="Google Shape;324;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5</a:t>
              </a:r>
              <a:endParaRPr sz="1400" b="0" i="0" u="none" strike="noStrike" cap="none">
                <a:solidFill>
                  <a:srgbClr val="FFFFFF"/>
                </a:solidFill>
                <a:latin typeface="Roboto"/>
                <a:ea typeface="Roboto"/>
                <a:cs typeface="Roboto"/>
                <a:sym typeface="Roboto"/>
              </a:endParaRPr>
            </a:p>
          </p:txBody>
        </p:sp>
      </p:grpSp>
      <p:grpSp>
        <p:nvGrpSpPr>
          <p:cNvPr id="327" name="Google Shape;327;p37"/>
          <p:cNvGrpSpPr/>
          <p:nvPr/>
        </p:nvGrpSpPr>
        <p:grpSpPr>
          <a:xfrm>
            <a:off x="2601101" y="3652512"/>
            <a:ext cx="302150" cy="302100"/>
            <a:chOff x="1015875" y="2044825"/>
            <a:chExt cx="302150" cy="302100"/>
          </a:xfrm>
        </p:grpSpPr>
        <p:sp>
          <p:nvSpPr>
            <p:cNvPr id="328" name="Google Shape;328;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22" name="Google Shape;322;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329" name="Google Shape;329;p37"/>
          <p:cNvGrpSpPr/>
          <p:nvPr/>
        </p:nvGrpSpPr>
        <p:grpSpPr>
          <a:xfrm>
            <a:off x="3363101" y="2566412"/>
            <a:ext cx="302150" cy="321400"/>
            <a:chOff x="1015875" y="2025525"/>
            <a:chExt cx="302150" cy="321400"/>
          </a:xfrm>
        </p:grpSpPr>
        <p:sp>
          <p:nvSpPr>
            <p:cNvPr id="330" name="Google Shape;330;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15" name="Google Shape;315;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7</a:t>
              </a:r>
              <a:endParaRPr sz="1400" b="0" i="0" u="none" strike="noStrike" cap="none">
                <a:solidFill>
                  <a:srgbClr val="FFFFFF"/>
                </a:solidFill>
                <a:latin typeface="Roboto"/>
                <a:ea typeface="Roboto"/>
                <a:cs typeface="Roboto"/>
                <a:sym typeface="Roboto"/>
              </a:endParaRPr>
            </a:p>
          </p:txBody>
        </p:sp>
      </p:grpSp>
      <p:cxnSp>
        <p:nvCxnSpPr>
          <p:cNvPr id="331" name="Google Shape;331;p37"/>
          <p:cNvCxnSpPr>
            <a:stCxn id="318" idx="3"/>
            <a:endCxn id="332" idx="0"/>
          </p:cNvCxnSpPr>
          <p:nvPr/>
        </p:nvCxnSpPr>
        <p:spPr>
          <a:xfrm>
            <a:off x="40462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333" name="Google Shape;333;p37"/>
          <p:cNvGrpSpPr/>
          <p:nvPr/>
        </p:nvGrpSpPr>
        <p:grpSpPr>
          <a:xfrm>
            <a:off x="3744101" y="3119112"/>
            <a:ext cx="302150" cy="302100"/>
            <a:chOff x="1015875" y="2044825"/>
            <a:chExt cx="302150" cy="302100"/>
          </a:xfrm>
        </p:grpSpPr>
        <p:sp>
          <p:nvSpPr>
            <p:cNvPr id="334" name="Google Shape;334;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18" name="Google Shape;318;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335" name="Google Shape;335;p37"/>
          <p:cNvGrpSpPr/>
          <p:nvPr/>
        </p:nvGrpSpPr>
        <p:grpSpPr>
          <a:xfrm>
            <a:off x="4125101" y="3652512"/>
            <a:ext cx="302150" cy="302100"/>
            <a:chOff x="1015875" y="2044825"/>
            <a:chExt cx="302150" cy="302100"/>
          </a:xfrm>
        </p:grpSpPr>
        <p:sp>
          <p:nvSpPr>
            <p:cNvPr id="336" name="Google Shape;336;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32" name="Google Shape;332;p37"/>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9</a:t>
              </a:r>
              <a:endParaRPr sz="1400" b="0" i="0" u="none" strike="noStrike" cap="none">
                <a:solidFill>
                  <a:srgbClr val="FFFFFF"/>
                </a:solidFill>
                <a:latin typeface="Roboto"/>
                <a:ea typeface="Roboto"/>
                <a:cs typeface="Roboto"/>
                <a:sym typeface="Roboto"/>
              </a:endParaRPr>
            </a:p>
          </p:txBody>
        </p:sp>
      </p:grpSp>
      <p:grpSp>
        <p:nvGrpSpPr>
          <p:cNvPr id="337" name="Google Shape;337;p37"/>
          <p:cNvGrpSpPr/>
          <p:nvPr/>
        </p:nvGrpSpPr>
        <p:grpSpPr>
          <a:xfrm>
            <a:off x="7730760" y="2274412"/>
            <a:ext cx="302150" cy="321400"/>
            <a:chOff x="1015875" y="2025525"/>
            <a:chExt cx="302150" cy="321400"/>
          </a:xfrm>
        </p:grpSpPr>
        <p:sp>
          <p:nvSpPr>
            <p:cNvPr id="338" name="Google Shape;338;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39" name="Google Shape;339;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9</a:t>
              </a:r>
              <a:endParaRPr sz="1400" b="0" i="0" u="none" strike="noStrike" cap="none">
                <a:solidFill>
                  <a:srgbClr val="FFFFFF"/>
                </a:solidFill>
                <a:latin typeface="Roboto"/>
                <a:ea typeface="Roboto"/>
                <a:cs typeface="Roboto"/>
                <a:sym typeface="Roboto"/>
              </a:endParaRPr>
            </a:p>
          </p:txBody>
        </p:sp>
      </p:grpSp>
      <p:grpSp>
        <p:nvGrpSpPr>
          <p:cNvPr id="340" name="Google Shape;340;p37"/>
          <p:cNvGrpSpPr/>
          <p:nvPr/>
        </p:nvGrpSpPr>
        <p:grpSpPr>
          <a:xfrm>
            <a:off x="7730760" y="2807812"/>
            <a:ext cx="302150" cy="321400"/>
            <a:chOff x="1015875" y="2025525"/>
            <a:chExt cx="302150" cy="321400"/>
          </a:xfrm>
        </p:grpSpPr>
        <p:sp>
          <p:nvSpPr>
            <p:cNvPr id="341" name="Google Shape;341;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42" name="Google Shape;342;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7</a:t>
              </a:r>
              <a:endParaRPr sz="1400" b="0" i="0" u="none" strike="noStrike" cap="none">
                <a:solidFill>
                  <a:srgbClr val="FFFFFF"/>
                </a:solidFill>
                <a:latin typeface="Roboto"/>
                <a:ea typeface="Roboto"/>
                <a:cs typeface="Roboto"/>
                <a:sym typeface="Roboto"/>
              </a:endParaRPr>
            </a:p>
          </p:txBody>
        </p:sp>
      </p:grpSp>
      <p:grpSp>
        <p:nvGrpSpPr>
          <p:cNvPr id="343" name="Google Shape;343;p37"/>
          <p:cNvGrpSpPr/>
          <p:nvPr/>
        </p:nvGrpSpPr>
        <p:grpSpPr>
          <a:xfrm>
            <a:off x="7173101" y="3176012"/>
            <a:ext cx="302150" cy="321400"/>
            <a:chOff x="1015875" y="2025525"/>
            <a:chExt cx="302150" cy="321400"/>
          </a:xfrm>
        </p:grpSpPr>
        <p:sp>
          <p:nvSpPr>
            <p:cNvPr id="344" name="Google Shape;344;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45" name="Google Shape;345;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346" name="Google Shape;346;p37"/>
          <p:cNvGrpSpPr/>
          <p:nvPr/>
        </p:nvGrpSpPr>
        <p:grpSpPr>
          <a:xfrm>
            <a:off x="8316101" y="3176012"/>
            <a:ext cx="302150" cy="321400"/>
            <a:chOff x="1015875" y="2025525"/>
            <a:chExt cx="302150" cy="321400"/>
          </a:xfrm>
        </p:grpSpPr>
        <p:sp>
          <p:nvSpPr>
            <p:cNvPr id="347" name="Google Shape;347;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48" name="Google Shape;348;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349" name="Google Shape;349;p37"/>
          <p:cNvGrpSpPr/>
          <p:nvPr/>
        </p:nvGrpSpPr>
        <p:grpSpPr>
          <a:xfrm>
            <a:off x="8316135" y="3709412"/>
            <a:ext cx="314975" cy="321400"/>
            <a:chOff x="1003050" y="2025525"/>
            <a:chExt cx="314975" cy="321400"/>
          </a:xfrm>
        </p:grpSpPr>
        <p:sp>
          <p:nvSpPr>
            <p:cNvPr id="350" name="Google Shape;350;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51" name="Google Shape;351;p37"/>
            <p:cNvSpPr txBox="1"/>
            <p:nvPr/>
          </p:nvSpPr>
          <p:spPr>
            <a:xfrm>
              <a:off x="1003050"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352" name="Google Shape;352;p37"/>
          <p:cNvGrpSpPr/>
          <p:nvPr/>
        </p:nvGrpSpPr>
        <p:grpSpPr>
          <a:xfrm>
            <a:off x="7643160" y="3709412"/>
            <a:ext cx="302150" cy="321400"/>
            <a:chOff x="1015875" y="2025525"/>
            <a:chExt cx="302150" cy="321400"/>
          </a:xfrm>
        </p:grpSpPr>
        <p:sp>
          <p:nvSpPr>
            <p:cNvPr id="353" name="Google Shape;353;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54" name="Google Shape;354;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6</a:t>
              </a:r>
              <a:endParaRPr sz="1400" b="0" i="0" u="none" strike="noStrike" cap="none">
                <a:solidFill>
                  <a:srgbClr val="FFFFFF"/>
                </a:solidFill>
                <a:latin typeface="Roboto"/>
                <a:ea typeface="Roboto"/>
                <a:cs typeface="Roboto"/>
                <a:sym typeface="Roboto"/>
              </a:endParaRPr>
            </a:p>
          </p:txBody>
        </p:sp>
      </p:grpSp>
      <p:grpSp>
        <p:nvGrpSpPr>
          <p:cNvPr id="355" name="Google Shape;355;p37"/>
          <p:cNvGrpSpPr/>
          <p:nvPr/>
        </p:nvGrpSpPr>
        <p:grpSpPr>
          <a:xfrm>
            <a:off x="7173135" y="3709412"/>
            <a:ext cx="314975" cy="321400"/>
            <a:chOff x="1003050" y="2025525"/>
            <a:chExt cx="314975" cy="321400"/>
          </a:xfrm>
        </p:grpSpPr>
        <p:sp>
          <p:nvSpPr>
            <p:cNvPr id="356" name="Google Shape;356;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57" name="Google Shape;357;p37"/>
            <p:cNvSpPr txBox="1"/>
            <p:nvPr/>
          </p:nvSpPr>
          <p:spPr>
            <a:xfrm>
              <a:off x="1003050"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358" name="Google Shape;358;p37"/>
          <p:cNvGrpSpPr/>
          <p:nvPr/>
        </p:nvGrpSpPr>
        <p:grpSpPr>
          <a:xfrm>
            <a:off x="6715935" y="3709412"/>
            <a:ext cx="302150" cy="321400"/>
            <a:chOff x="1015875" y="2025525"/>
            <a:chExt cx="302150" cy="321400"/>
          </a:xfrm>
        </p:grpSpPr>
        <p:sp>
          <p:nvSpPr>
            <p:cNvPr id="359" name="Google Shape;359;p37"/>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60" name="Google Shape;360;p37"/>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3</a:t>
              </a:r>
              <a:endParaRPr sz="1400" b="0" i="0" u="none" strike="noStrike" cap="none">
                <a:solidFill>
                  <a:srgbClr val="FFFFFF"/>
                </a:solidFill>
                <a:latin typeface="Roboto"/>
                <a:ea typeface="Roboto"/>
                <a:cs typeface="Roboto"/>
                <a:sym typeface="Roboto"/>
              </a:endParaRPr>
            </a:p>
          </p:txBody>
        </p:sp>
      </p:grpSp>
      <p:cxnSp>
        <p:nvCxnSpPr>
          <p:cNvPr id="361" name="Google Shape;361;p37"/>
          <p:cNvCxnSpPr>
            <a:stCxn id="339" idx="2"/>
            <a:endCxn id="342" idx="0"/>
          </p:cNvCxnSpPr>
          <p:nvPr/>
        </p:nvCxnSpPr>
        <p:spPr>
          <a:xfrm rot="-5400000" flipH="1">
            <a:off x="7776060" y="2701462"/>
            <a:ext cx="212100" cy="600"/>
          </a:xfrm>
          <a:prstGeom prst="curvedConnector3">
            <a:avLst>
              <a:gd name="adj1" fmla="val 50000"/>
            </a:avLst>
          </a:prstGeom>
          <a:noFill/>
          <a:ln w="19050" cap="flat" cmpd="sng">
            <a:solidFill>
              <a:srgbClr val="FF0000"/>
            </a:solidFill>
            <a:prstDash val="solid"/>
            <a:round/>
            <a:headEnd type="none" w="sm" len="sm"/>
            <a:tailEnd type="triangle" w="med" len="med"/>
          </a:ln>
        </p:spPr>
      </p:cxnSp>
      <p:cxnSp>
        <p:nvCxnSpPr>
          <p:cNvPr id="362" name="Google Shape;362;p37"/>
          <p:cNvCxnSpPr>
            <a:stCxn id="342" idx="1"/>
            <a:endCxn id="345" idx="0"/>
          </p:cNvCxnSpPr>
          <p:nvPr/>
        </p:nvCxnSpPr>
        <p:spPr>
          <a:xfrm flipH="1">
            <a:off x="7324260" y="2968462"/>
            <a:ext cx="406500" cy="207600"/>
          </a:xfrm>
          <a:prstGeom prst="curvedConnector2">
            <a:avLst/>
          </a:prstGeom>
          <a:noFill/>
          <a:ln w="19050" cap="flat" cmpd="sng">
            <a:solidFill>
              <a:srgbClr val="FF0000"/>
            </a:solidFill>
            <a:prstDash val="solid"/>
            <a:round/>
            <a:headEnd type="none" w="sm" len="sm"/>
            <a:tailEnd type="triangle" w="med" len="med"/>
          </a:ln>
        </p:spPr>
      </p:cxnSp>
      <p:cxnSp>
        <p:nvCxnSpPr>
          <p:cNvPr id="363" name="Google Shape;363;p37"/>
          <p:cNvCxnSpPr>
            <a:stCxn id="342" idx="3"/>
            <a:endCxn id="348" idx="0"/>
          </p:cNvCxnSpPr>
          <p:nvPr/>
        </p:nvCxnSpPr>
        <p:spPr>
          <a:xfrm>
            <a:off x="8032860" y="2968462"/>
            <a:ext cx="434400" cy="207600"/>
          </a:xfrm>
          <a:prstGeom prst="curvedConnector2">
            <a:avLst/>
          </a:prstGeom>
          <a:noFill/>
          <a:ln w="19050" cap="flat" cmpd="sng">
            <a:solidFill>
              <a:srgbClr val="FF0000"/>
            </a:solidFill>
            <a:prstDash val="solid"/>
            <a:round/>
            <a:headEnd type="none" w="sm" len="sm"/>
            <a:tailEnd type="triangle" w="med" len="med"/>
          </a:ln>
        </p:spPr>
      </p:cxnSp>
      <p:cxnSp>
        <p:nvCxnSpPr>
          <p:cNvPr id="364" name="Google Shape;364;p37"/>
          <p:cNvCxnSpPr>
            <a:stCxn id="348" idx="2"/>
            <a:endCxn id="351" idx="0"/>
          </p:cNvCxnSpPr>
          <p:nvPr/>
        </p:nvCxnSpPr>
        <p:spPr>
          <a:xfrm rot="-5400000" flipH="1">
            <a:off x="8361401" y="3603062"/>
            <a:ext cx="212100" cy="600"/>
          </a:xfrm>
          <a:prstGeom prst="curvedConnector3">
            <a:avLst>
              <a:gd name="adj1" fmla="val 50000"/>
            </a:avLst>
          </a:prstGeom>
          <a:noFill/>
          <a:ln w="19050" cap="flat" cmpd="sng">
            <a:solidFill>
              <a:srgbClr val="FF0000"/>
            </a:solidFill>
            <a:prstDash val="solid"/>
            <a:round/>
            <a:headEnd type="none" w="sm" len="sm"/>
            <a:tailEnd type="triangle" w="med" len="med"/>
          </a:ln>
        </p:spPr>
      </p:cxnSp>
      <p:cxnSp>
        <p:nvCxnSpPr>
          <p:cNvPr id="365" name="Google Shape;365;p37"/>
          <p:cNvCxnSpPr>
            <a:stCxn id="345" idx="2"/>
            <a:endCxn id="357" idx="0"/>
          </p:cNvCxnSpPr>
          <p:nvPr/>
        </p:nvCxnSpPr>
        <p:spPr>
          <a:xfrm rot="-5400000" flipH="1">
            <a:off x="7218401" y="3603062"/>
            <a:ext cx="212100" cy="600"/>
          </a:xfrm>
          <a:prstGeom prst="curvedConnector3">
            <a:avLst>
              <a:gd name="adj1" fmla="val 50000"/>
            </a:avLst>
          </a:prstGeom>
          <a:noFill/>
          <a:ln w="19050" cap="flat" cmpd="sng">
            <a:solidFill>
              <a:srgbClr val="FF0000"/>
            </a:solidFill>
            <a:prstDash val="solid"/>
            <a:round/>
            <a:headEnd type="none" w="sm" len="sm"/>
            <a:tailEnd type="triangle" w="med" len="med"/>
          </a:ln>
        </p:spPr>
      </p:cxnSp>
      <p:cxnSp>
        <p:nvCxnSpPr>
          <p:cNvPr id="366" name="Google Shape;366;p37"/>
          <p:cNvCxnSpPr>
            <a:stCxn id="345" idx="1"/>
            <a:endCxn id="360" idx="0"/>
          </p:cNvCxnSpPr>
          <p:nvPr/>
        </p:nvCxnSpPr>
        <p:spPr>
          <a:xfrm flipH="1">
            <a:off x="6867101" y="3336662"/>
            <a:ext cx="306000" cy="372900"/>
          </a:xfrm>
          <a:prstGeom prst="curvedConnector2">
            <a:avLst/>
          </a:prstGeom>
          <a:noFill/>
          <a:ln w="19050" cap="flat" cmpd="sng">
            <a:solidFill>
              <a:srgbClr val="FF0000"/>
            </a:solidFill>
            <a:prstDash val="solid"/>
            <a:round/>
            <a:headEnd type="none" w="sm" len="sm"/>
            <a:tailEnd type="triangle" w="med" len="med"/>
          </a:ln>
        </p:spPr>
      </p:cxnSp>
      <p:cxnSp>
        <p:nvCxnSpPr>
          <p:cNvPr id="367" name="Google Shape;367;p37"/>
          <p:cNvCxnSpPr>
            <a:stCxn id="345" idx="3"/>
            <a:endCxn id="354" idx="0"/>
          </p:cNvCxnSpPr>
          <p:nvPr/>
        </p:nvCxnSpPr>
        <p:spPr>
          <a:xfrm>
            <a:off x="7475201" y="3336662"/>
            <a:ext cx="318900" cy="372900"/>
          </a:xfrm>
          <a:prstGeom prst="curvedConnector2">
            <a:avLst/>
          </a:prstGeom>
          <a:noFill/>
          <a:ln w="19050" cap="flat" cmpd="sng">
            <a:solidFill>
              <a:srgbClr val="FF0000"/>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8"/>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Lots of different data structures can be created by connecting nodes together. We have discussed several of them over the course of the past two units. Examine each picture below and indicate the type of data structure that is being represented. Be as specific as possible with the information given.</a:t>
            </a:r>
            <a:endParaRPr/>
          </a:p>
        </p:txBody>
      </p:sp>
      <p:sp>
        <p:nvSpPr>
          <p:cNvPr id="373" name="Google Shape;373;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374" name="Google Shape;374;p3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Identifying Data Structures</a:t>
            </a:r>
            <a:endParaRPr/>
          </a:p>
        </p:txBody>
      </p:sp>
      <p:sp>
        <p:nvSpPr>
          <p:cNvPr id="375" name="Google Shape;375;p3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12.1</a:t>
            </a:r>
            <a:endParaRPr/>
          </a:p>
        </p:txBody>
      </p:sp>
      <p:graphicFrame>
        <p:nvGraphicFramePr>
          <p:cNvPr id="376" name="Google Shape;376;p38"/>
          <p:cNvGraphicFramePr/>
          <p:nvPr/>
        </p:nvGraphicFramePr>
        <p:xfrm>
          <a:off x="366876" y="1975812"/>
          <a:ext cx="8380300" cy="2999700"/>
        </p:xfrm>
        <a:graphic>
          <a:graphicData uri="http://schemas.openxmlformats.org/drawingml/2006/table">
            <a:tbl>
              <a:tblPr>
                <a:noFill/>
                <a:tableStyleId>{F61E8307-4E6B-4154-8BF4-D3231BAD3CED}</a:tableStyleId>
              </a:tblPr>
              <a:tblGrid>
                <a:gridCol w="2095075">
                  <a:extLst>
                    <a:ext uri="{9D8B030D-6E8A-4147-A177-3AD203B41FA5}">
                      <a16:colId xmlns:a16="http://schemas.microsoft.com/office/drawing/2014/main" val="20000"/>
                    </a:ext>
                  </a:extLst>
                </a:gridCol>
                <a:gridCol w="2095075">
                  <a:extLst>
                    <a:ext uri="{9D8B030D-6E8A-4147-A177-3AD203B41FA5}">
                      <a16:colId xmlns:a16="http://schemas.microsoft.com/office/drawing/2014/main" val="20001"/>
                    </a:ext>
                  </a:extLst>
                </a:gridCol>
                <a:gridCol w="2095075">
                  <a:extLst>
                    <a:ext uri="{9D8B030D-6E8A-4147-A177-3AD203B41FA5}">
                      <a16:colId xmlns:a16="http://schemas.microsoft.com/office/drawing/2014/main" val="20002"/>
                    </a:ext>
                  </a:extLst>
                </a:gridCol>
                <a:gridCol w="2095075">
                  <a:extLst>
                    <a:ext uri="{9D8B030D-6E8A-4147-A177-3AD203B41FA5}">
                      <a16:colId xmlns:a16="http://schemas.microsoft.com/office/drawing/2014/main" val="20003"/>
                    </a:ext>
                  </a:extLst>
                </a:gridCol>
              </a:tblGrid>
              <a:tr h="2515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83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377" name="Google Shape;377;p38"/>
          <p:cNvGrpSpPr/>
          <p:nvPr/>
        </p:nvGrpSpPr>
        <p:grpSpPr>
          <a:xfrm>
            <a:off x="1305701" y="2566412"/>
            <a:ext cx="302150" cy="321400"/>
            <a:chOff x="1015875" y="2025525"/>
            <a:chExt cx="302150" cy="321400"/>
          </a:xfrm>
        </p:grpSpPr>
        <p:sp>
          <p:nvSpPr>
            <p:cNvPr id="378" name="Google Shape;378;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79" name="Google Shape;379;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A</a:t>
              </a:r>
              <a:endParaRPr sz="1400" b="0" i="0" u="none" strike="noStrike" cap="none">
                <a:solidFill>
                  <a:srgbClr val="FFFFFF"/>
                </a:solidFill>
                <a:latin typeface="Roboto"/>
                <a:ea typeface="Roboto"/>
                <a:cs typeface="Roboto"/>
                <a:sym typeface="Roboto"/>
              </a:endParaRPr>
            </a:p>
          </p:txBody>
        </p:sp>
      </p:grpSp>
      <p:grpSp>
        <p:nvGrpSpPr>
          <p:cNvPr id="380" name="Google Shape;380;p38"/>
          <p:cNvGrpSpPr/>
          <p:nvPr/>
        </p:nvGrpSpPr>
        <p:grpSpPr>
          <a:xfrm>
            <a:off x="1305701" y="3099812"/>
            <a:ext cx="302150" cy="321400"/>
            <a:chOff x="1015875" y="2025525"/>
            <a:chExt cx="302150" cy="321400"/>
          </a:xfrm>
        </p:grpSpPr>
        <p:sp>
          <p:nvSpPr>
            <p:cNvPr id="381" name="Google Shape;381;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82" name="Google Shape;382;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B</a:t>
              </a:r>
              <a:endParaRPr sz="1400" b="0" i="0" u="none" strike="noStrike" cap="none">
                <a:solidFill>
                  <a:srgbClr val="FFFFFF"/>
                </a:solidFill>
                <a:latin typeface="Roboto"/>
                <a:ea typeface="Roboto"/>
                <a:cs typeface="Roboto"/>
                <a:sym typeface="Roboto"/>
              </a:endParaRPr>
            </a:p>
          </p:txBody>
        </p:sp>
      </p:grpSp>
      <p:cxnSp>
        <p:nvCxnSpPr>
          <p:cNvPr id="383" name="Google Shape;383;p38"/>
          <p:cNvCxnSpPr/>
          <p:nvPr/>
        </p:nvCxnSpPr>
        <p:spPr>
          <a:xfrm>
            <a:off x="1456751" y="2900571"/>
            <a:ext cx="0" cy="212100"/>
          </a:xfrm>
          <a:prstGeom prst="straightConnector1">
            <a:avLst/>
          </a:prstGeom>
          <a:noFill/>
          <a:ln w="19050" cap="flat" cmpd="sng">
            <a:solidFill>
              <a:srgbClr val="FF0000"/>
            </a:solidFill>
            <a:prstDash val="solid"/>
            <a:round/>
            <a:headEnd type="none" w="sm" len="sm"/>
            <a:tailEnd type="triangle" w="med" len="med"/>
          </a:ln>
        </p:spPr>
      </p:cxnSp>
      <p:grpSp>
        <p:nvGrpSpPr>
          <p:cNvPr id="384" name="Google Shape;384;p38"/>
          <p:cNvGrpSpPr/>
          <p:nvPr/>
        </p:nvGrpSpPr>
        <p:grpSpPr>
          <a:xfrm>
            <a:off x="1305701" y="3633212"/>
            <a:ext cx="302150" cy="321400"/>
            <a:chOff x="1015875" y="2025525"/>
            <a:chExt cx="302150" cy="321400"/>
          </a:xfrm>
        </p:grpSpPr>
        <p:sp>
          <p:nvSpPr>
            <p:cNvPr id="385" name="Google Shape;385;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86" name="Google Shape;386;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C</a:t>
              </a:r>
              <a:endParaRPr sz="1400" b="0" i="0" u="none" strike="noStrike" cap="none">
                <a:solidFill>
                  <a:srgbClr val="FFFFFF"/>
                </a:solidFill>
                <a:latin typeface="Roboto"/>
                <a:ea typeface="Roboto"/>
                <a:cs typeface="Roboto"/>
                <a:sym typeface="Roboto"/>
              </a:endParaRPr>
            </a:p>
          </p:txBody>
        </p:sp>
      </p:grpSp>
      <p:cxnSp>
        <p:nvCxnSpPr>
          <p:cNvPr id="387" name="Google Shape;387;p38"/>
          <p:cNvCxnSpPr/>
          <p:nvPr/>
        </p:nvCxnSpPr>
        <p:spPr>
          <a:xfrm>
            <a:off x="1456751" y="3433971"/>
            <a:ext cx="0" cy="212100"/>
          </a:xfrm>
          <a:prstGeom prst="straightConnector1">
            <a:avLst/>
          </a:prstGeom>
          <a:noFill/>
          <a:ln w="19050" cap="flat" cmpd="sng">
            <a:solidFill>
              <a:srgbClr val="FF0000"/>
            </a:solidFill>
            <a:prstDash val="solid"/>
            <a:round/>
            <a:headEnd type="none" w="sm" len="sm"/>
            <a:tailEnd type="triangle" w="med" len="med"/>
          </a:ln>
        </p:spPr>
      </p:cxnSp>
      <p:cxnSp>
        <p:nvCxnSpPr>
          <p:cNvPr id="388" name="Google Shape;388;p38"/>
          <p:cNvCxnSpPr>
            <a:stCxn id="389" idx="1"/>
            <a:endCxn id="390" idx="0"/>
          </p:cNvCxnSpPr>
          <p:nvPr/>
        </p:nvCxnSpPr>
        <p:spPr>
          <a:xfrm flipH="1">
            <a:off x="5266601" y="2727062"/>
            <a:ext cx="230100" cy="399300"/>
          </a:xfrm>
          <a:prstGeom prst="curvedConnector2">
            <a:avLst/>
          </a:prstGeom>
          <a:noFill/>
          <a:ln w="19050" cap="flat" cmpd="sng">
            <a:solidFill>
              <a:srgbClr val="FF0000"/>
            </a:solidFill>
            <a:prstDash val="solid"/>
            <a:round/>
            <a:headEnd type="none" w="sm" len="sm"/>
            <a:tailEnd type="triangle" w="med" len="med"/>
          </a:ln>
        </p:spPr>
      </p:cxnSp>
      <p:cxnSp>
        <p:nvCxnSpPr>
          <p:cNvPr id="391" name="Google Shape;391;p38"/>
          <p:cNvCxnSpPr>
            <a:stCxn id="389" idx="3"/>
            <a:endCxn id="392" idx="0"/>
          </p:cNvCxnSpPr>
          <p:nvPr/>
        </p:nvCxnSpPr>
        <p:spPr>
          <a:xfrm>
            <a:off x="5798801" y="2727062"/>
            <a:ext cx="230100" cy="399300"/>
          </a:xfrm>
          <a:prstGeom prst="curvedConnector2">
            <a:avLst/>
          </a:prstGeom>
          <a:noFill/>
          <a:ln w="19050" cap="flat" cmpd="sng">
            <a:solidFill>
              <a:srgbClr val="FF0000"/>
            </a:solidFill>
            <a:prstDash val="solid"/>
            <a:round/>
            <a:headEnd type="none" w="sm" len="sm"/>
            <a:tailEnd type="triangle" w="med" len="med"/>
          </a:ln>
        </p:spPr>
      </p:cxnSp>
      <p:grpSp>
        <p:nvGrpSpPr>
          <p:cNvPr id="393" name="Google Shape;393;p38"/>
          <p:cNvGrpSpPr/>
          <p:nvPr/>
        </p:nvGrpSpPr>
        <p:grpSpPr>
          <a:xfrm>
            <a:off x="5115701" y="3119112"/>
            <a:ext cx="302150" cy="302100"/>
            <a:chOff x="1015875" y="2044825"/>
            <a:chExt cx="302150" cy="302100"/>
          </a:xfrm>
        </p:grpSpPr>
        <p:sp>
          <p:nvSpPr>
            <p:cNvPr id="394" name="Google Shape;394;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90" name="Google Shape;390;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3</a:t>
              </a:r>
              <a:endParaRPr sz="1400" b="0" i="0" u="none" strike="noStrike" cap="none">
                <a:solidFill>
                  <a:srgbClr val="FFFFFF"/>
                </a:solidFill>
                <a:latin typeface="Roboto"/>
                <a:ea typeface="Roboto"/>
                <a:cs typeface="Roboto"/>
                <a:sym typeface="Roboto"/>
              </a:endParaRPr>
            </a:p>
          </p:txBody>
        </p:sp>
      </p:grpSp>
      <p:cxnSp>
        <p:nvCxnSpPr>
          <p:cNvPr id="395" name="Google Shape;395;p38"/>
          <p:cNvCxnSpPr>
            <a:stCxn id="390" idx="1"/>
            <a:endCxn id="396" idx="0"/>
          </p:cNvCxnSpPr>
          <p:nvPr/>
        </p:nvCxnSpPr>
        <p:spPr>
          <a:xfrm flipH="1">
            <a:off x="4885601" y="3264099"/>
            <a:ext cx="230100" cy="395700"/>
          </a:xfrm>
          <a:prstGeom prst="curvedConnector2">
            <a:avLst/>
          </a:prstGeom>
          <a:noFill/>
          <a:ln w="19050" cap="flat" cmpd="sng">
            <a:solidFill>
              <a:srgbClr val="FF0000"/>
            </a:solidFill>
            <a:prstDash val="solid"/>
            <a:round/>
            <a:headEnd type="none" w="sm" len="sm"/>
            <a:tailEnd type="triangle" w="med" len="med"/>
          </a:ln>
        </p:spPr>
      </p:cxnSp>
      <p:cxnSp>
        <p:nvCxnSpPr>
          <p:cNvPr id="397" name="Google Shape;397;p38"/>
          <p:cNvCxnSpPr>
            <a:stCxn id="390" idx="3"/>
            <a:endCxn id="398" idx="0"/>
          </p:cNvCxnSpPr>
          <p:nvPr/>
        </p:nvCxnSpPr>
        <p:spPr>
          <a:xfrm>
            <a:off x="54178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399" name="Google Shape;399;p38"/>
          <p:cNvGrpSpPr/>
          <p:nvPr/>
        </p:nvGrpSpPr>
        <p:grpSpPr>
          <a:xfrm>
            <a:off x="5496701" y="3652512"/>
            <a:ext cx="302150" cy="302100"/>
            <a:chOff x="1015875" y="2044825"/>
            <a:chExt cx="302150" cy="302100"/>
          </a:xfrm>
        </p:grpSpPr>
        <p:sp>
          <p:nvSpPr>
            <p:cNvPr id="400" name="Google Shape;400;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98" name="Google Shape;398;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401" name="Google Shape;401;p38"/>
          <p:cNvGrpSpPr/>
          <p:nvPr/>
        </p:nvGrpSpPr>
        <p:grpSpPr>
          <a:xfrm>
            <a:off x="4734701" y="3652512"/>
            <a:ext cx="302150" cy="302100"/>
            <a:chOff x="1015875" y="2044825"/>
            <a:chExt cx="302150" cy="302100"/>
          </a:xfrm>
        </p:grpSpPr>
        <p:sp>
          <p:nvSpPr>
            <p:cNvPr id="402" name="Google Shape;402;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96" name="Google Shape;396;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2</a:t>
              </a:r>
              <a:endParaRPr sz="1400" b="0" i="0" u="none" strike="noStrike" cap="none">
                <a:solidFill>
                  <a:srgbClr val="FFFFFF"/>
                </a:solidFill>
                <a:latin typeface="Roboto"/>
                <a:ea typeface="Roboto"/>
                <a:cs typeface="Roboto"/>
                <a:sym typeface="Roboto"/>
              </a:endParaRPr>
            </a:p>
          </p:txBody>
        </p:sp>
      </p:grpSp>
      <p:grpSp>
        <p:nvGrpSpPr>
          <p:cNvPr id="403" name="Google Shape;403;p38"/>
          <p:cNvGrpSpPr/>
          <p:nvPr/>
        </p:nvGrpSpPr>
        <p:grpSpPr>
          <a:xfrm>
            <a:off x="5496701" y="2566412"/>
            <a:ext cx="302150" cy="321400"/>
            <a:chOff x="1015875" y="2025525"/>
            <a:chExt cx="302150" cy="321400"/>
          </a:xfrm>
        </p:grpSpPr>
        <p:sp>
          <p:nvSpPr>
            <p:cNvPr id="404" name="Google Shape;404;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89" name="Google Shape;389;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5</a:t>
              </a:r>
              <a:endParaRPr sz="1400" b="0" i="0" u="none" strike="noStrike" cap="none">
                <a:solidFill>
                  <a:srgbClr val="FFFFFF"/>
                </a:solidFill>
                <a:latin typeface="Roboto"/>
                <a:ea typeface="Roboto"/>
                <a:cs typeface="Roboto"/>
                <a:sym typeface="Roboto"/>
              </a:endParaRPr>
            </a:p>
          </p:txBody>
        </p:sp>
      </p:grpSp>
      <p:cxnSp>
        <p:nvCxnSpPr>
          <p:cNvPr id="405" name="Google Shape;405;p38"/>
          <p:cNvCxnSpPr>
            <a:stCxn id="392" idx="3"/>
            <a:endCxn id="406" idx="0"/>
          </p:cNvCxnSpPr>
          <p:nvPr/>
        </p:nvCxnSpPr>
        <p:spPr>
          <a:xfrm>
            <a:off x="61798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407" name="Google Shape;407;p38"/>
          <p:cNvGrpSpPr/>
          <p:nvPr/>
        </p:nvGrpSpPr>
        <p:grpSpPr>
          <a:xfrm>
            <a:off x="5877701" y="3119112"/>
            <a:ext cx="302150" cy="302100"/>
            <a:chOff x="1015875" y="2044825"/>
            <a:chExt cx="302150" cy="302100"/>
          </a:xfrm>
        </p:grpSpPr>
        <p:sp>
          <p:nvSpPr>
            <p:cNvPr id="408" name="Google Shape;408;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92" name="Google Shape;392;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409" name="Google Shape;409;p38"/>
          <p:cNvGrpSpPr/>
          <p:nvPr/>
        </p:nvGrpSpPr>
        <p:grpSpPr>
          <a:xfrm>
            <a:off x="6258701" y="3652512"/>
            <a:ext cx="302150" cy="302100"/>
            <a:chOff x="1015875" y="2044825"/>
            <a:chExt cx="302150" cy="302100"/>
          </a:xfrm>
        </p:grpSpPr>
        <p:sp>
          <p:nvSpPr>
            <p:cNvPr id="410" name="Google Shape;410;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06" name="Google Shape;406;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9</a:t>
              </a:r>
              <a:endParaRPr sz="1400" b="0" i="0" u="none" strike="noStrike" cap="none">
                <a:solidFill>
                  <a:srgbClr val="FFFFFF"/>
                </a:solidFill>
                <a:latin typeface="Roboto"/>
                <a:ea typeface="Roboto"/>
                <a:cs typeface="Roboto"/>
                <a:sym typeface="Roboto"/>
              </a:endParaRPr>
            </a:p>
          </p:txBody>
        </p:sp>
      </p:grpSp>
      <p:cxnSp>
        <p:nvCxnSpPr>
          <p:cNvPr id="411" name="Google Shape;411;p38"/>
          <p:cNvCxnSpPr>
            <a:stCxn id="412" idx="1"/>
            <a:endCxn id="413" idx="0"/>
          </p:cNvCxnSpPr>
          <p:nvPr/>
        </p:nvCxnSpPr>
        <p:spPr>
          <a:xfrm flipH="1">
            <a:off x="3133001" y="2727062"/>
            <a:ext cx="230100" cy="399300"/>
          </a:xfrm>
          <a:prstGeom prst="curvedConnector2">
            <a:avLst/>
          </a:prstGeom>
          <a:noFill/>
          <a:ln w="19050" cap="flat" cmpd="sng">
            <a:solidFill>
              <a:srgbClr val="FF0000"/>
            </a:solidFill>
            <a:prstDash val="solid"/>
            <a:round/>
            <a:headEnd type="none" w="sm" len="sm"/>
            <a:tailEnd type="triangle" w="med" len="med"/>
          </a:ln>
        </p:spPr>
      </p:cxnSp>
      <p:cxnSp>
        <p:nvCxnSpPr>
          <p:cNvPr id="414" name="Google Shape;414;p38"/>
          <p:cNvCxnSpPr>
            <a:stCxn id="412" idx="3"/>
            <a:endCxn id="415" idx="0"/>
          </p:cNvCxnSpPr>
          <p:nvPr/>
        </p:nvCxnSpPr>
        <p:spPr>
          <a:xfrm>
            <a:off x="3665201" y="2727062"/>
            <a:ext cx="230100" cy="399300"/>
          </a:xfrm>
          <a:prstGeom prst="curvedConnector2">
            <a:avLst/>
          </a:prstGeom>
          <a:noFill/>
          <a:ln w="19050" cap="flat" cmpd="sng">
            <a:solidFill>
              <a:srgbClr val="FF0000"/>
            </a:solidFill>
            <a:prstDash val="solid"/>
            <a:round/>
            <a:headEnd type="none" w="sm" len="sm"/>
            <a:tailEnd type="triangle" w="med" len="med"/>
          </a:ln>
        </p:spPr>
      </p:cxnSp>
      <p:grpSp>
        <p:nvGrpSpPr>
          <p:cNvPr id="416" name="Google Shape;416;p38"/>
          <p:cNvGrpSpPr/>
          <p:nvPr/>
        </p:nvGrpSpPr>
        <p:grpSpPr>
          <a:xfrm>
            <a:off x="2982101" y="3119112"/>
            <a:ext cx="302150" cy="302100"/>
            <a:chOff x="1015875" y="2044825"/>
            <a:chExt cx="302150" cy="302100"/>
          </a:xfrm>
        </p:grpSpPr>
        <p:sp>
          <p:nvSpPr>
            <p:cNvPr id="417" name="Google Shape;417;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13" name="Google Shape;413;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6</a:t>
              </a:r>
              <a:endParaRPr sz="1400" b="0" i="0" u="none" strike="noStrike" cap="none">
                <a:solidFill>
                  <a:srgbClr val="FFFFFF"/>
                </a:solidFill>
                <a:latin typeface="Roboto"/>
                <a:ea typeface="Roboto"/>
                <a:cs typeface="Roboto"/>
                <a:sym typeface="Roboto"/>
              </a:endParaRPr>
            </a:p>
          </p:txBody>
        </p:sp>
      </p:grpSp>
      <p:cxnSp>
        <p:nvCxnSpPr>
          <p:cNvPr id="418" name="Google Shape;418;p38"/>
          <p:cNvCxnSpPr>
            <a:stCxn id="413" idx="1"/>
            <a:endCxn id="419" idx="0"/>
          </p:cNvCxnSpPr>
          <p:nvPr/>
        </p:nvCxnSpPr>
        <p:spPr>
          <a:xfrm flipH="1">
            <a:off x="2752301" y="3264099"/>
            <a:ext cx="229800" cy="395700"/>
          </a:xfrm>
          <a:prstGeom prst="curvedConnector2">
            <a:avLst/>
          </a:prstGeom>
          <a:noFill/>
          <a:ln w="19050" cap="flat" cmpd="sng">
            <a:solidFill>
              <a:srgbClr val="FF0000"/>
            </a:solidFill>
            <a:prstDash val="solid"/>
            <a:round/>
            <a:headEnd type="none" w="sm" len="sm"/>
            <a:tailEnd type="triangle" w="med" len="med"/>
          </a:ln>
        </p:spPr>
      </p:cxnSp>
      <p:cxnSp>
        <p:nvCxnSpPr>
          <p:cNvPr id="420" name="Google Shape;420;p38"/>
          <p:cNvCxnSpPr>
            <a:stCxn id="413" idx="3"/>
            <a:endCxn id="421" idx="0"/>
          </p:cNvCxnSpPr>
          <p:nvPr/>
        </p:nvCxnSpPr>
        <p:spPr>
          <a:xfrm>
            <a:off x="32842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422" name="Google Shape;422;p38"/>
          <p:cNvGrpSpPr/>
          <p:nvPr/>
        </p:nvGrpSpPr>
        <p:grpSpPr>
          <a:xfrm>
            <a:off x="3363101" y="3652512"/>
            <a:ext cx="302150" cy="302100"/>
            <a:chOff x="1015875" y="2044825"/>
            <a:chExt cx="302150" cy="302100"/>
          </a:xfrm>
        </p:grpSpPr>
        <p:sp>
          <p:nvSpPr>
            <p:cNvPr id="423" name="Google Shape;423;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21" name="Google Shape;421;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5</a:t>
              </a:r>
              <a:endParaRPr sz="1400" b="0" i="0" u="none" strike="noStrike" cap="none">
                <a:solidFill>
                  <a:srgbClr val="FFFFFF"/>
                </a:solidFill>
                <a:latin typeface="Roboto"/>
                <a:ea typeface="Roboto"/>
                <a:cs typeface="Roboto"/>
                <a:sym typeface="Roboto"/>
              </a:endParaRPr>
            </a:p>
          </p:txBody>
        </p:sp>
      </p:grpSp>
      <p:grpSp>
        <p:nvGrpSpPr>
          <p:cNvPr id="424" name="Google Shape;424;p38"/>
          <p:cNvGrpSpPr/>
          <p:nvPr/>
        </p:nvGrpSpPr>
        <p:grpSpPr>
          <a:xfrm>
            <a:off x="2601101" y="3652512"/>
            <a:ext cx="302150" cy="302100"/>
            <a:chOff x="1015875" y="2044825"/>
            <a:chExt cx="302150" cy="302100"/>
          </a:xfrm>
        </p:grpSpPr>
        <p:sp>
          <p:nvSpPr>
            <p:cNvPr id="425" name="Google Shape;425;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19" name="Google Shape;419;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426" name="Google Shape;426;p38"/>
          <p:cNvGrpSpPr/>
          <p:nvPr/>
        </p:nvGrpSpPr>
        <p:grpSpPr>
          <a:xfrm>
            <a:off x="3363101" y="2566412"/>
            <a:ext cx="302150" cy="321400"/>
            <a:chOff x="1015875" y="2025525"/>
            <a:chExt cx="302150" cy="321400"/>
          </a:xfrm>
        </p:grpSpPr>
        <p:sp>
          <p:nvSpPr>
            <p:cNvPr id="427" name="Google Shape;427;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12" name="Google Shape;412;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7</a:t>
              </a:r>
              <a:endParaRPr sz="1400" b="0" i="0" u="none" strike="noStrike" cap="none">
                <a:solidFill>
                  <a:srgbClr val="FFFFFF"/>
                </a:solidFill>
                <a:latin typeface="Roboto"/>
                <a:ea typeface="Roboto"/>
                <a:cs typeface="Roboto"/>
                <a:sym typeface="Roboto"/>
              </a:endParaRPr>
            </a:p>
          </p:txBody>
        </p:sp>
      </p:grpSp>
      <p:cxnSp>
        <p:nvCxnSpPr>
          <p:cNvPr id="428" name="Google Shape;428;p38"/>
          <p:cNvCxnSpPr>
            <a:stCxn id="415" idx="3"/>
            <a:endCxn id="429" idx="0"/>
          </p:cNvCxnSpPr>
          <p:nvPr/>
        </p:nvCxnSpPr>
        <p:spPr>
          <a:xfrm>
            <a:off x="4046201" y="3264099"/>
            <a:ext cx="230100" cy="395700"/>
          </a:xfrm>
          <a:prstGeom prst="curvedConnector2">
            <a:avLst/>
          </a:prstGeom>
          <a:noFill/>
          <a:ln w="19050" cap="flat" cmpd="sng">
            <a:solidFill>
              <a:srgbClr val="FF0000"/>
            </a:solidFill>
            <a:prstDash val="solid"/>
            <a:round/>
            <a:headEnd type="none" w="sm" len="sm"/>
            <a:tailEnd type="triangle" w="med" len="med"/>
          </a:ln>
        </p:spPr>
      </p:cxnSp>
      <p:grpSp>
        <p:nvGrpSpPr>
          <p:cNvPr id="430" name="Google Shape;430;p38"/>
          <p:cNvGrpSpPr/>
          <p:nvPr/>
        </p:nvGrpSpPr>
        <p:grpSpPr>
          <a:xfrm>
            <a:off x="3744101" y="3119112"/>
            <a:ext cx="302150" cy="302100"/>
            <a:chOff x="1015875" y="2044825"/>
            <a:chExt cx="302150" cy="302100"/>
          </a:xfrm>
        </p:grpSpPr>
        <p:sp>
          <p:nvSpPr>
            <p:cNvPr id="431" name="Google Shape;431;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15" name="Google Shape;415;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432" name="Google Shape;432;p38"/>
          <p:cNvGrpSpPr/>
          <p:nvPr/>
        </p:nvGrpSpPr>
        <p:grpSpPr>
          <a:xfrm>
            <a:off x="4125101" y="3652512"/>
            <a:ext cx="302150" cy="302100"/>
            <a:chOff x="1015875" y="2044825"/>
            <a:chExt cx="302150" cy="302100"/>
          </a:xfrm>
        </p:grpSpPr>
        <p:sp>
          <p:nvSpPr>
            <p:cNvPr id="433" name="Google Shape;433;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29" name="Google Shape;429;p38"/>
            <p:cNvSpPr txBox="1"/>
            <p:nvPr/>
          </p:nvSpPr>
          <p:spPr>
            <a:xfrm>
              <a:off x="1015875" y="2051962"/>
              <a:ext cx="302100" cy="27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9</a:t>
              </a:r>
              <a:endParaRPr sz="1400" b="0" i="0" u="none" strike="noStrike" cap="none">
                <a:solidFill>
                  <a:srgbClr val="FFFFFF"/>
                </a:solidFill>
                <a:latin typeface="Roboto"/>
                <a:ea typeface="Roboto"/>
                <a:cs typeface="Roboto"/>
                <a:sym typeface="Roboto"/>
              </a:endParaRPr>
            </a:p>
          </p:txBody>
        </p:sp>
      </p:grpSp>
      <p:grpSp>
        <p:nvGrpSpPr>
          <p:cNvPr id="434" name="Google Shape;434;p38"/>
          <p:cNvGrpSpPr/>
          <p:nvPr/>
        </p:nvGrpSpPr>
        <p:grpSpPr>
          <a:xfrm>
            <a:off x="7730760" y="2274412"/>
            <a:ext cx="302150" cy="321400"/>
            <a:chOff x="1015875" y="2025525"/>
            <a:chExt cx="302150" cy="321400"/>
          </a:xfrm>
        </p:grpSpPr>
        <p:sp>
          <p:nvSpPr>
            <p:cNvPr id="435" name="Google Shape;435;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36" name="Google Shape;436;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9</a:t>
              </a:r>
              <a:endParaRPr sz="1400" b="0" i="0" u="none" strike="noStrike" cap="none">
                <a:solidFill>
                  <a:srgbClr val="FFFFFF"/>
                </a:solidFill>
                <a:latin typeface="Roboto"/>
                <a:ea typeface="Roboto"/>
                <a:cs typeface="Roboto"/>
                <a:sym typeface="Roboto"/>
              </a:endParaRPr>
            </a:p>
          </p:txBody>
        </p:sp>
      </p:grpSp>
      <p:grpSp>
        <p:nvGrpSpPr>
          <p:cNvPr id="437" name="Google Shape;437;p38"/>
          <p:cNvGrpSpPr/>
          <p:nvPr/>
        </p:nvGrpSpPr>
        <p:grpSpPr>
          <a:xfrm>
            <a:off x="7730760" y="2807812"/>
            <a:ext cx="302150" cy="321400"/>
            <a:chOff x="1015875" y="2025525"/>
            <a:chExt cx="302150" cy="321400"/>
          </a:xfrm>
        </p:grpSpPr>
        <p:sp>
          <p:nvSpPr>
            <p:cNvPr id="438" name="Google Shape;438;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39" name="Google Shape;439;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7</a:t>
              </a:r>
              <a:endParaRPr sz="1400" b="0" i="0" u="none" strike="noStrike" cap="none">
                <a:solidFill>
                  <a:srgbClr val="FFFFFF"/>
                </a:solidFill>
                <a:latin typeface="Roboto"/>
                <a:ea typeface="Roboto"/>
                <a:cs typeface="Roboto"/>
                <a:sym typeface="Roboto"/>
              </a:endParaRPr>
            </a:p>
          </p:txBody>
        </p:sp>
      </p:grpSp>
      <p:grpSp>
        <p:nvGrpSpPr>
          <p:cNvPr id="440" name="Google Shape;440;p38"/>
          <p:cNvGrpSpPr/>
          <p:nvPr/>
        </p:nvGrpSpPr>
        <p:grpSpPr>
          <a:xfrm>
            <a:off x="7173101" y="3176012"/>
            <a:ext cx="302150" cy="321400"/>
            <a:chOff x="1015875" y="2025525"/>
            <a:chExt cx="302150" cy="321400"/>
          </a:xfrm>
        </p:grpSpPr>
        <p:sp>
          <p:nvSpPr>
            <p:cNvPr id="441" name="Google Shape;441;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42" name="Google Shape;442;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443" name="Google Shape;443;p38"/>
          <p:cNvGrpSpPr/>
          <p:nvPr/>
        </p:nvGrpSpPr>
        <p:grpSpPr>
          <a:xfrm>
            <a:off x="8316101" y="3176012"/>
            <a:ext cx="302150" cy="321400"/>
            <a:chOff x="1015875" y="2025525"/>
            <a:chExt cx="302150" cy="321400"/>
          </a:xfrm>
        </p:grpSpPr>
        <p:sp>
          <p:nvSpPr>
            <p:cNvPr id="444" name="Google Shape;444;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45" name="Google Shape;445;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446" name="Google Shape;446;p38"/>
          <p:cNvGrpSpPr/>
          <p:nvPr/>
        </p:nvGrpSpPr>
        <p:grpSpPr>
          <a:xfrm>
            <a:off x="8316135" y="3709412"/>
            <a:ext cx="314975" cy="321400"/>
            <a:chOff x="1003050" y="2025525"/>
            <a:chExt cx="314975" cy="321400"/>
          </a:xfrm>
        </p:grpSpPr>
        <p:sp>
          <p:nvSpPr>
            <p:cNvPr id="447" name="Google Shape;447;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48" name="Google Shape;448;p38"/>
            <p:cNvSpPr txBox="1"/>
            <p:nvPr/>
          </p:nvSpPr>
          <p:spPr>
            <a:xfrm>
              <a:off x="1003050"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8</a:t>
              </a:r>
              <a:endParaRPr sz="1400" b="0" i="0" u="none" strike="noStrike" cap="none">
                <a:solidFill>
                  <a:srgbClr val="FFFFFF"/>
                </a:solidFill>
                <a:latin typeface="Roboto"/>
                <a:ea typeface="Roboto"/>
                <a:cs typeface="Roboto"/>
                <a:sym typeface="Roboto"/>
              </a:endParaRPr>
            </a:p>
          </p:txBody>
        </p:sp>
      </p:grpSp>
      <p:grpSp>
        <p:nvGrpSpPr>
          <p:cNvPr id="449" name="Google Shape;449;p38"/>
          <p:cNvGrpSpPr/>
          <p:nvPr/>
        </p:nvGrpSpPr>
        <p:grpSpPr>
          <a:xfrm>
            <a:off x="7643160" y="3709412"/>
            <a:ext cx="302150" cy="321400"/>
            <a:chOff x="1015875" y="2025525"/>
            <a:chExt cx="302150" cy="321400"/>
          </a:xfrm>
        </p:grpSpPr>
        <p:sp>
          <p:nvSpPr>
            <p:cNvPr id="450" name="Google Shape;450;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51" name="Google Shape;451;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6</a:t>
              </a:r>
              <a:endParaRPr sz="1400" b="0" i="0" u="none" strike="noStrike" cap="none">
                <a:solidFill>
                  <a:srgbClr val="FFFFFF"/>
                </a:solidFill>
                <a:latin typeface="Roboto"/>
                <a:ea typeface="Roboto"/>
                <a:cs typeface="Roboto"/>
                <a:sym typeface="Roboto"/>
              </a:endParaRPr>
            </a:p>
          </p:txBody>
        </p:sp>
      </p:grpSp>
      <p:grpSp>
        <p:nvGrpSpPr>
          <p:cNvPr id="452" name="Google Shape;452;p38"/>
          <p:cNvGrpSpPr/>
          <p:nvPr/>
        </p:nvGrpSpPr>
        <p:grpSpPr>
          <a:xfrm>
            <a:off x="7173135" y="3709412"/>
            <a:ext cx="314975" cy="321400"/>
            <a:chOff x="1003050" y="2025525"/>
            <a:chExt cx="314975" cy="321400"/>
          </a:xfrm>
        </p:grpSpPr>
        <p:sp>
          <p:nvSpPr>
            <p:cNvPr id="453" name="Google Shape;453;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54" name="Google Shape;454;p38"/>
            <p:cNvSpPr txBox="1"/>
            <p:nvPr/>
          </p:nvSpPr>
          <p:spPr>
            <a:xfrm>
              <a:off x="1003050"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4</a:t>
              </a:r>
              <a:endParaRPr sz="1400" b="0" i="0" u="none" strike="noStrike" cap="none">
                <a:solidFill>
                  <a:srgbClr val="FFFFFF"/>
                </a:solidFill>
                <a:latin typeface="Roboto"/>
                <a:ea typeface="Roboto"/>
                <a:cs typeface="Roboto"/>
                <a:sym typeface="Roboto"/>
              </a:endParaRPr>
            </a:p>
          </p:txBody>
        </p:sp>
      </p:grpSp>
      <p:grpSp>
        <p:nvGrpSpPr>
          <p:cNvPr id="455" name="Google Shape;455;p38"/>
          <p:cNvGrpSpPr/>
          <p:nvPr/>
        </p:nvGrpSpPr>
        <p:grpSpPr>
          <a:xfrm>
            <a:off x="6715935" y="3709412"/>
            <a:ext cx="302150" cy="321400"/>
            <a:chOff x="1015875" y="2025525"/>
            <a:chExt cx="302150" cy="321400"/>
          </a:xfrm>
        </p:grpSpPr>
        <p:sp>
          <p:nvSpPr>
            <p:cNvPr id="456" name="Google Shape;456;p38"/>
            <p:cNvSpPr/>
            <p:nvPr/>
          </p:nvSpPr>
          <p:spPr>
            <a:xfrm>
              <a:off x="1015925" y="2044825"/>
              <a:ext cx="302100" cy="302100"/>
            </a:xfrm>
            <a:prstGeom prst="ellipse">
              <a:avLst/>
            </a:prstGeom>
            <a:solidFill>
              <a:srgbClr val="4A86E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457" name="Google Shape;457;p38"/>
            <p:cNvSpPr txBox="1"/>
            <p:nvPr/>
          </p:nvSpPr>
          <p:spPr>
            <a:xfrm>
              <a:off x="1015875" y="2025525"/>
              <a:ext cx="302100" cy="32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Roboto"/>
                  <a:ea typeface="Roboto"/>
                  <a:cs typeface="Roboto"/>
                  <a:sym typeface="Roboto"/>
                </a:rPr>
                <a:t>3</a:t>
              </a:r>
              <a:endParaRPr sz="1400" b="0" i="0" u="none" strike="noStrike" cap="none">
                <a:solidFill>
                  <a:srgbClr val="FFFFFF"/>
                </a:solidFill>
                <a:latin typeface="Roboto"/>
                <a:ea typeface="Roboto"/>
                <a:cs typeface="Roboto"/>
                <a:sym typeface="Roboto"/>
              </a:endParaRPr>
            </a:p>
          </p:txBody>
        </p:sp>
      </p:grpSp>
      <p:cxnSp>
        <p:nvCxnSpPr>
          <p:cNvPr id="458" name="Google Shape;458;p38"/>
          <p:cNvCxnSpPr>
            <a:stCxn id="436" idx="2"/>
            <a:endCxn id="439" idx="0"/>
          </p:cNvCxnSpPr>
          <p:nvPr/>
        </p:nvCxnSpPr>
        <p:spPr>
          <a:xfrm rot="-5400000" flipH="1">
            <a:off x="7776060" y="2701462"/>
            <a:ext cx="212100" cy="600"/>
          </a:xfrm>
          <a:prstGeom prst="curvedConnector3">
            <a:avLst>
              <a:gd name="adj1" fmla="val 50000"/>
            </a:avLst>
          </a:prstGeom>
          <a:noFill/>
          <a:ln w="19050" cap="flat" cmpd="sng">
            <a:solidFill>
              <a:srgbClr val="FF0000"/>
            </a:solidFill>
            <a:prstDash val="solid"/>
            <a:round/>
            <a:headEnd type="none" w="sm" len="sm"/>
            <a:tailEnd type="triangle" w="med" len="med"/>
          </a:ln>
        </p:spPr>
      </p:cxnSp>
      <p:cxnSp>
        <p:nvCxnSpPr>
          <p:cNvPr id="459" name="Google Shape;459;p38"/>
          <p:cNvCxnSpPr>
            <a:stCxn id="439" idx="1"/>
            <a:endCxn id="442" idx="0"/>
          </p:cNvCxnSpPr>
          <p:nvPr/>
        </p:nvCxnSpPr>
        <p:spPr>
          <a:xfrm flipH="1">
            <a:off x="7324260" y="2968462"/>
            <a:ext cx="406500" cy="207600"/>
          </a:xfrm>
          <a:prstGeom prst="curvedConnector2">
            <a:avLst/>
          </a:prstGeom>
          <a:noFill/>
          <a:ln w="19050" cap="flat" cmpd="sng">
            <a:solidFill>
              <a:srgbClr val="FF0000"/>
            </a:solidFill>
            <a:prstDash val="solid"/>
            <a:round/>
            <a:headEnd type="none" w="sm" len="sm"/>
            <a:tailEnd type="triangle" w="med" len="med"/>
          </a:ln>
        </p:spPr>
      </p:cxnSp>
      <p:cxnSp>
        <p:nvCxnSpPr>
          <p:cNvPr id="460" name="Google Shape;460;p38"/>
          <p:cNvCxnSpPr>
            <a:stCxn id="439" idx="3"/>
            <a:endCxn id="445" idx="0"/>
          </p:cNvCxnSpPr>
          <p:nvPr/>
        </p:nvCxnSpPr>
        <p:spPr>
          <a:xfrm>
            <a:off x="8032860" y="2968462"/>
            <a:ext cx="434400" cy="207600"/>
          </a:xfrm>
          <a:prstGeom prst="curvedConnector2">
            <a:avLst/>
          </a:prstGeom>
          <a:noFill/>
          <a:ln w="19050" cap="flat" cmpd="sng">
            <a:solidFill>
              <a:srgbClr val="FF0000"/>
            </a:solidFill>
            <a:prstDash val="solid"/>
            <a:round/>
            <a:headEnd type="none" w="sm" len="sm"/>
            <a:tailEnd type="triangle" w="med" len="med"/>
          </a:ln>
        </p:spPr>
      </p:cxnSp>
      <p:cxnSp>
        <p:nvCxnSpPr>
          <p:cNvPr id="461" name="Google Shape;461;p38"/>
          <p:cNvCxnSpPr>
            <a:stCxn id="445" idx="2"/>
            <a:endCxn id="448" idx="0"/>
          </p:cNvCxnSpPr>
          <p:nvPr/>
        </p:nvCxnSpPr>
        <p:spPr>
          <a:xfrm rot="-5400000" flipH="1">
            <a:off x="8361401" y="3603062"/>
            <a:ext cx="212100" cy="600"/>
          </a:xfrm>
          <a:prstGeom prst="curvedConnector3">
            <a:avLst>
              <a:gd name="adj1" fmla="val 50000"/>
            </a:avLst>
          </a:prstGeom>
          <a:noFill/>
          <a:ln w="19050" cap="flat" cmpd="sng">
            <a:solidFill>
              <a:srgbClr val="FF0000"/>
            </a:solidFill>
            <a:prstDash val="solid"/>
            <a:round/>
            <a:headEnd type="none" w="sm" len="sm"/>
            <a:tailEnd type="triangle" w="med" len="med"/>
          </a:ln>
        </p:spPr>
      </p:cxnSp>
      <p:cxnSp>
        <p:nvCxnSpPr>
          <p:cNvPr id="462" name="Google Shape;462;p38"/>
          <p:cNvCxnSpPr>
            <a:stCxn id="442" idx="2"/>
            <a:endCxn id="454" idx="0"/>
          </p:cNvCxnSpPr>
          <p:nvPr/>
        </p:nvCxnSpPr>
        <p:spPr>
          <a:xfrm rot="-5400000" flipH="1">
            <a:off x="7218401" y="3603062"/>
            <a:ext cx="212100" cy="600"/>
          </a:xfrm>
          <a:prstGeom prst="curvedConnector3">
            <a:avLst>
              <a:gd name="adj1" fmla="val 50000"/>
            </a:avLst>
          </a:prstGeom>
          <a:noFill/>
          <a:ln w="19050" cap="flat" cmpd="sng">
            <a:solidFill>
              <a:srgbClr val="FF0000"/>
            </a:solidFill>
            <a:prstDash val="solid"/>
            <a:round/>
            <a:headEnd type="none" w="sm" len="sm"/>
            <a:tailEnd type="triangle" w="med" len="med"/>
          </a:ln>
        </p:spPr>
      </p:cxnSp>
      <p:cxnSp>
        <p:nvCxnSpPr>
          <p:cNvPr id="463" name="Google Shape;463;p38"/>
          <p:cNvCxnSpPr>
            <a:stCxn id="442" idx="1"/>
            <a:endCxn id="457" idx="0"/>
          </p:cNvCxnSpPr>
          <p:nvPr/>
        </p:nvCxnSpPr>
        <p:spPr>
          <a:xfrm flipH="1">
            <a:off x="6867101" y="3336662"/>
            <a:ext cx="306000" cy="372900"/>
          </a:xfrm>
          <a:prstGeom prst="curvedConnector2">
            <a:avLst/>
          </a:prstGeom>
          <a:noFill/>
          <a:ln w="19050" cap="flat" cmpd="sng">
            <a:solidFill>
              <a:srgbClr val="FF0000"/>
            </a:solidFill>
            <a:prstDash val="solid"/>
            <a:round/>
            <a:headEnd type="none" w="sm" len="sm"/>
            <a:tailEnd type="triangle" w="med" len="med"/>
          </a:ln>
        </p:spPr>
      </p:cxnSp>
      <p:cxnSp>
        <p:nvCxnSpPr>
          <p:cNvPr id="464" name="Google Shape;464;p38"/>
          <p:cNvCxnSpPr>
            <a:stCxn id="442" idx="3"/>
            <a:endCxn id="451" idx="0"/>
          </p:cNvCxnSpPr>
          <p:nvPr/>
        </p:nvCxnSpPr>
        <p:spPr>
          <a:xfrm>
            <a:off x="7475201" y="3336662"/>
            <a:ext cx="318900" cy="372900"/>
          </a:xfrm>
          <a:prstGeom prst="curvedConnector2">
            <a:avLst/>
          </a:prstGeom>
          <a:noFill/>
          <a:ln w="19050" cap="flat" cmpd="sng">
            <a:solidFill>
              <a:srgbClr val="FF0000"/>
            </a:solidFill>
            <a:prstDash val="solid"/>
            <a:round/>
            <a:headEnd type="none" w="sm" len="sm"/>
            <a:tailEnd type="triangle" w="med" len="med"/>
          </a:ln>
        </p:spPr>
      </p:cxnSp>
      <p:sp>
        <p:nvSpPr>
          <p:cNvPr id="465" name="Google Shape;465;p38"/>
          <p:cNvSpPr txBox="1"/>
          <p:nvPr/>
        </p:nvSpPr>
        <p:spPr>
          <a:xfrm>
            <a:off x="411550" y="4545211"/>
            <a:ext cx="1999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LINKED SEQUENCE</a:t>
            </a:r>
            <a:endParaRPr sz="14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(LIST, STACK, QUEUE?)</a:t>
            </a:r>
            <a:endParaRPr sz="1400" b="0" i="0" u="none" strike="noStrike" cap="none">
              <a:solidFill>
                <a:srgbClr val="FF0000"/>
              </a:solidFill>
              <a:latin typeface="Shadows Into Light"/>
              <a:ea typeface="Shadows Into Light"/>
              <a:cs typeface="Shadows Into Light"/>
              <a:sym typeface="Shadows Into Light"/>
            </a:endParaRPr>
          </a:p>
        </p:txBody>
      </p:sp>
      <p:sp>
        <p:nvSpPr>
          <p:cNvPr id="466" name="Google Shape;466;p38"/>
          <p:cNvSpPr txBox="1"/>
          <p:nvPr/>
        </p:nvSpPr>
        <p:spPr>
          <a:xfrm>
            <a:off x="2525862" y="4545211"/>
            <a:ext cx="1999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BINARY TREE</a:t>
            </a:r>
            <a:endParaRPr sz="14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(5 &lt; 6)</a:t>
            </a:r>
            <a:endParaRPr sz="1400" b="0" i="0" u="none" strike="noStrike" cap="none">
              <a:solidFill>
                <a:srgbClr val="FF0000"/>
              </a:solidFill>
              <a:latin typeface="Shadows Into Light"/>
              <a:ea typeface="Shadows Into Light"/>
              <a:cs typeface="Shadows Into Light"/>
              <a:sym typeface="Shadows Into Light"/>
            </a:endParaRPr>
          </a:p>
        </p:txBody>
      </p:sp>
      <p:sp>
        <p:nvSpPr>
          <p:cNvPr id="467" name="Google Shape;467;p38"/>
          <p:cNvSpPr txBox="1"/>
          <p:nvPr/>
        </p:nvSpPr>
        <p:spPr>
          <a:xfrm>
            <a:off x="4659462" y="4545211"/>
            <a:ext cx="1999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FF0000"/>
                </a:solidFill>
                <a:latin typeface="Shadows Into Light"/>
                <a:ea typeface="Shadows Into Light"/>
                <a:cs typeface="Shadows Into Light"/>
                <a:sym typeface="Shadows Into Light"/>
              </a:rPr>
              <a:t>BINARY SEARCH TREE</a:t>
            </a:r>
            <a:endParaRPr sz="1400" b="0" i="0" u="none" strike="noStrike" cap="none" dirty="0">
              <a:solidFill>
                <a:srgbClr val="FF0000"/>
              </a:solidFill>
              <a:latin typeface="Shadows Into Light"/>
              <a:ea typeface="Shadows Into Light"/>
              <a:cs typeface="Shadows Into Light"/>
              <a:sym typeface="Shadows Into Light"/>
            </a:endParaRPr>
          </a:p>
        </p:txBody>
      </p:sp>
      <p:sp>
        <p:nvSpPr>
          <p:cNvPr id="468" name="Google Shape;468;p38"/>
          <p:cNvSpPr txBox="1"/>
          <p:nvPr/>
        </p:nvSpPr>
        <p:spPr>
          <a:xfrm>
            <a:off x="6716862" y="4545211"/>
            <a:ext cx="1999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N-ARY TREE</a:t>
            </a:r>
            <a:endParaRPr sz="1400" b="0" i="0" u="none" strike="noStrike" cap="none">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65"/>
                                        </p:tgtEl>
                                        <p:attrNameLst>
                                          <p:attrName>style.visibility</p:attrName>
                                        </p:attrNameLst>
                                      </p:cBhvr>
                                      <p:to>
                                        <p:strVal val="visible"/>
                                      </p:to>
                                    </p:set>
                                    <p:animEffect transition="in" filter="fade">
                                      <p:cBhvr>
                                        <p:cTn id="7" dur="1000"/>
                                        <p:tgtEl>
                                          <p:spTgt spid="4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6"/>
                                        </p:tgtEl>
                                        <p:attrNameLst>
                                          <p:attrName>style.visibility</p:attrName>
                                        </p:attrNameLst>
                                      </p:cBhvr>
                                      <p:to>
                                        <p:strVal val="visible"/>
                                      </p:to>
                                    </p:set>
                                    <p:animEffect transition="in" filter="fade">
                                      <p:cBhvr>
                                        <p:cTn id="12" dur="1000"/>
                                        <p:tgtEl>
                                          <p:spTgt spid="4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7"/>
                                        </p:tgtEl>
                                        <p:attrNameLst>
                                          <p:attrName>style.visibility</p:attrName>
                                        </p:attrNameLst>
                                      </p:cBhvr>
                                      <p:to>
                                        <p:strVal val="visible"/>
                                      </p:to>
                                    </p:set>
                                    <p:animEffect transition="in" filter="fade">
                                      <p:cBhvr>
                                        <p:cTn id="17" dur="1000"/>
                                        <p:tgtEl>
                                          <p:spTgt spid="4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68"/>
                                        </p:tgtEl>
                                        <p:attrNameLst>
                                          <p:attrName>style.visibility</p:attrName>
                                        </p:attrNameLst>
                                      </p:cBhvr>
                                      <p:to>
                                        <p:strVal val="visible"/>
                                      </p:to>
                                    </p:set>
                                    <p:animEffect transition="in" filter="fade">
                                      <p:cBhvr>
                                        <p:cTn id="22" dur="1000"/>
                                        <p:tgtEl>
                                          <p:spTgt spid="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6</a:t>
            </a:fld>
            <a:endParaRPr/>
          </a:p>
        </p:txBody>
      </p:sp>
      <p:sp>
        <p:nvSpPr>
          <p:cNvPr id="474" name="Google Shape;474;p39"/>
          <p:cNvSpPr txBox="1">
            <a:spLocks noGrp="1"/>
          </p:cNvSpPr>
          <p:nvPr>
            <p:ph type="title"/>
          </p:nvPr>
        </p:nvSpPr>
        <p:spPr>
          <a:xfrm>
            <a:off x="263575" y="43725"/>
            <a:ext cx="39348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500"/>
              <a:t>Node-Based Structures</a:t>
            </a:r>
            <a:endParaRPr sz="2500"/>
          </a:p>
        </p:txBody>
      </p:sp>
      <p:sp>
        <p:nvSpPr>
          <p:cNvPr id="475" name="Google Shape;475;p39"/>
          <p:cNvSpPr txBox="1">
            <a:spLocks noGrp="1"/>
          </p:cNvSpPr>
          <p:nvPr>
            <p:ph type="body" idx="1"/>
          </p:nvPr>
        </p:nvSpPr>
        <p:spPr>
          <a:xfrm>
            <a:off x="4328925" y="149225"/>
            <a:ext cx="4747800" cy="4894800"/>
          </a:xfrm>
          <a:prstGeom prst="rect">
            <a:avLst/>
          </a:prstGeom>
          <a:noFill/>
          <a:ln>
            <a:noFill/>
          </a:ln>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So far in this course we have spent a lot of time talking about </a:t>
            </a:r>
            <a:r>
              <a:rPr lang="en" sz="1200" b="1" i="1" dirty="0">
                <a:solidFill>
                  <a:srgbClr val="FF0000"/>
                </a:solidFill>
              </a:rPr>
              <a:t>nodes</a:t>
            </a:r>
            <a:r>
              <a:rPr lang="en" sz="1200" dirty="0"/>
              <a:t>.</a:t>
            </a:r>
            <a:endParaRPr sz="1200" dirty="0"/>
          </a:p>
          <a:p>
            <a:pPr marL="457200" lvl="0" indent="-304800" algn="l" rtl="0">
              <a:lnSpc>
                <a:spcPct val="100000"/>
              </a:lnSpc>
              <a:spcBef>
                <a:spcPts val="1000"/>
              </a:spcBef>
              <a:spcAft>
                <a:spcPts val="0"/>
              </a:spcAft>
              <a:buSzPts val="1200"/>
              <a:buChar char="●"/>
            </a:pPr>
            <a:r>
              <a:rPr lang="en" sz="1200" dirty="0"/>
              <a:t>As you recall, a node comprises two parts:</a:t>
            </a:r>
            <a:endParaRPr sz="1200" dirty="0"/>
          </a:p>
          <a:p>
            <a:pPr marL="914400" lvl="1" indent="-298450" algn="l" rtl="0">
              <a:lnSpc>
                <a:spcPct val="100000"/>
              </a:lnSpc>
              <a:spcBef>
                <a:spcPts val="0"/>
              </a:spcBef>
              <a:spcAft>
                <a:spcPts val="0"/>
              </a:spcAft>
              <a:buSzPts val="1100"/>
              <a:buChar char="○"/>
            </a:pPr>
            <a:r>
              <a:rPr lang="en" dirty="0">
                <a:highlight>
                  <a:srgbClr val="FFFF00"/>
                </a:highlight>
              </a:rPr>
              <a:t>A </a:t>
            </a:r>
            <a:r>
              <a:rPr lang="en" b="1" i="1" dirty="0">
                <a:solidFill>
                  <a:srgbClr val="FF0000"/>
                </a:solidFill>
                <a:highlight>
                  <a:srgbClr val="FFFF00"/>
                </a:highlight>
              </a:rPr>
              <a:t>value</a:t>
            </a:r>
            <a:r>
              <a:rPr lang="en" dirty="0">
                <a:solidFill>
                  <a:srgbClr val="FF0000"/>
                </a:solidFill>
                <a:highlight>
                  <a:srgbClr val="FFFF00"/>
                </a:highlight>
              </a:rPr>
              <a:t> </a:t>
            </a:r>
            <a:r>
              <a:rPr lang="en" dirty="0">
                <a:highlight>
                  <a:srgbClr val="FFFF00"/>
                </a:highlight>
              </a:rPr>
              <a:t>of some generic type.</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A reference to the </a:t>
            </a:r>
            <a:r>
              <a:rPr lang="en" b="1" i="1" dirty="0">
                <a:solidFill>
                  <a:srgbClr val="FF0000"/>
                </a:solidFill>
                <a:highlight>
                  <a:srgbClr val="FFFF00"/>
                </a:highlight>
              </a:rPr>
              <a:t>next</a:t>
            </a:r>
            <a:r>
              <a:rPr lang="en" dirty="0">
                <a:solidFill>
                  <a:srgbClr val="FF0000"/>
                </a:solidFill>
                <a:highlight>
                  <a:srgbClr val="FFFF00"/>
                </a:highlight>
              </a:rPr>
              <a:t> </a:t>
            </a:r>
            <a:r>
              <a:rPr lang="en" dirty="0">
                <a:highlight>
                  <a:srgbClr val="FFFF00"/>
                </a:highlight>
              </a:rPr>
              <a:t>node(s).</a:t>
            </a:r>
            <a:endParaRPr dirty="0">
              <a:highlight>
                <a:srgbClr val="FFFF00"/>
              </a:highlight>
            </a:endParaRPr>
          </a:p>
          <a:p>
            <a:pPr marL="457200" lvl="0" indent="-304800" algn="l" rtl="0">
              <a:lnSpc>
                <a:spcPct val="100000"/>
              </a:lnSpc>
              <a:spcBef>
                <a:spcPts val="1000"/>
              </a:spcBef>
              <a:spcAft>
                <a:spcPts val="0"/>
              </a:spcAft>
              <a:buSzPts val="1200"/>
              <a:buChar char="●"/>
            </a:pPr>
            <a:r>
              <a:rPr lang="en" sz="1200" dirty="0"/>
              <a:t>We have discussed many simple</a:t>
            </a:r>
            <a:r>
              <a:rPr lang="en" sz="1200" dirty="0">
                <a:solidFill>
                  <a:srgbClr val="FF0000"/>
                </a:solidFill>
              </a:rPr>
              <a:t> </a:t>
            </a:r>
            <a:r>
              <a:rPr lang="en" sz="1200" b="1" i="1" dirty="0">
                <a:solidFill>
                  <a:srgbClr val="FF0000"/>
                </a:solidFill>
              </a:rPr>
              <a:t>node-based</a:t>
            </a:r>
            <a:r>
              <a:rPr lang="en" sz="1200" dirty="0"/>
              <a:t> implementations of ADTs including </a:t>
            </a:r>
            <a:r>
              <a:rPr lang="en" sz="1200" b="1" i="1" dirty="0">
                <a:solidFill>
                  <a:srgbClr val="FF0000"/>
                </a:solidFill>
                <a:highlight>
                  <a:srgbClr val="FFFF00"/>
                </a:highlight>
              </a:rPr>
              <a:t>stacks</a:t>
            </a:r>
            <a:r>
              <a:rPr lang="en" sz="1200" dirty="0">
                <a:highlight>
                  <a:srgbClr val="FFFF00"/>
                </a:highlight>
              </a:rPr>
              <a:t>, </a:t>
            </a:r>
            <a:r>
              <a:rPr lang="en" sz="1200" b="1" i="1" dirty="0">
                <a:solidFill>
                  <a:srgbClr val="FF0000"/>
                </a:solidFill>
                <a:highlight>
                  <a:srgbClr val="FFFF00"/>
                </a:highlight>
              </a:rPr>
              <a:t>queues</a:t>
            </a:r>
            <a:r>
              <a:rPr lang="en" sz="1200" dirty="0">
                <a:highlight>
                  <a:srgbClr val="FFFF00"/>
                </a:highlight>
              </a:rPr>
              <a:t>, </a:t>
            </a:r>
            <a:r>
              <a:rPr lang="en" sz="1200" b="1" i="1" dirty="0">
                <a:solidFill>
                  <a:srgbClr val="FF0000"/>
                </a:solidFill>
                <a:highlight>
                  <a:srgbClr val="FFFF00"/>
                </a:highlight>
              </a:rPr>
              <a:t>lists</a:t>
            </a:r>
            <a:r>
              <a:rPr lang="en" sz="1200" dirty="0">
                <a:highlight>
                  <a:srgbClr val="FFFF00"/>
                </a:highlight>
              </a:rPr>
              <a:t>, and </a:t>
            </a:r>
            <a:r>
              <a:rPr lang="en" sz="1200" b="1" i="1" dirty="0">
                <a:solidFill>
                  <a:srgbClr val="FF0000"/>
                </a:solidFill>
                <a:highlight>
                  <a:srgbClr val="FFFF00"/>
                </a:highlight>
              </a:rPr>
              <a:t>binary trees</a:t>
            </a:r>
            <a:r>
              <a:rPr lang="en" sz="1200" dirty="0">
                <a:highlight>
                  <a:srgbClr val="FFFF00"/>
                </a:highlight>
              </a:rPr>
              <a:t>.</a:t>
            </a:r>
            <a:endParaRPr sz="1200" dirty="0">
              <a:highlight>
                <a:srgbClr val="FFFF00"/>
              </a:highlight>
            </a:endParaRPr>
          </a:p>
          <a:p>
            <a:pPr marL="457200" lvl="0" indent="-304800" algn="l" rtl="0">
              <a:lnSpc>
                <a:spcPct val="100000"/>
              </a:lnSpc>
              <a:spcBef>
                <a:spcPts val="1000"/>
              </a:spcBef>
              <a:spcAft>
                <a:spcPts val="0"/>
              </a:spcAft>
              <a:buSzPts val="1200"/>
              <a:buChar char="●"/>
            </a:pPr>
            <a:r>
              <a:rPr lang="en" sz="1200" dirty="0"/>
              <a:t>A </a:t>
            </a:r>
            <a:r>
              <a:rPr lang="en" sz="1200" b="1" i="1" dirty="0">
                <a:solidFill>
                  <a:srgbClr val="FF0000"/>
                </a:solidFill>
              </a:rPr>
              <a:t>linked list</a:t>
            </a:r>
            <a:r>
              <a:rPr lang="en" sz="1200" dirty="0"/>
              <a:t>, for example comprises a </a:t>
            </a:r>
            <a:r>
              <a:rPr lang="en" sz="1200" b="1" i="1" dirty="0">
                <a:solidFill>
                  <a:srgbClr val="FF0000"/>
                </a:solidFill>
              </a:rPr>
              <a:t>head</a:t>
            </a:r>
            <a:r>
              <a:rPr lang="en" sz="1200" dirty="0">
                <a:solidFill>
                  <a:srgbClr val="FF0000"/>
                </a:solidFill>
              </a:rPr>
              <a:t> </a:t>
            </a:r>
            <a:r>
              <a:rPr lang="en" sz="1200" dirty="0"/>
              <a:t>node and a </a:t>
            </a:r>
            <a:r>
              <a:rPr lang="en" sz="1200" b="1" i="1" dirty="0">
                <a:solidFill>
                  <a:srgbClr val="FF0000"/>
                </a:solidFill>
              </a:rPr>
              <a:t>tail</a:t>
            </a:r>
            <a:r>
              <a:rPr lang="en" sz="1200" dirty="0">
                <a:solidFill>
                  <a:srgbClr val="FF0000"/>
                </a:solidFill>
              </a:rPr>
              <a:t> </a:t>
            </a:r>
            <a:r>
              <a:rPr lang="en" sz="1200" dirty="0"/>
              <a:t>node, either of which may be </a:t>
            </a:r>
            <a:r>
              <a:rPr lang="en" sz="1200" dirty="0">
                <a:solidFill>
                  <a:srgbClr val="FF0000"/>
                </a:solidFill>
                <a:latin typeface="Courier New"/>
                <a:ea typeface="Courier New"/>
                <a:cs typeface="Courier New"/>
                <a:sym typeface="Courier New"/>
              </a:rPr>
              <a:t>null</a:t>
            </a:r>
            <a:r>
              <a:rPr lang="en" sz="1200" dirty="0">
                <a:solidFill>
                  <a:srgbClr val="FF0000"/>
                </a:solidFill>
              </a:rPr>
              <a:t> </a:t>
            </a:r>
            <a:r>
              <a:rPr lang="en" sz="1200" dirty="0"/>
              <a:t>(if the list is empty).</a:t>
            </a:r>
            <a:endParaRPr sz="1200" dirty="0"/>
          </a:p>
          <a:p>
            <a:pPr marL="457200" lvl="0" indent="-304800" algn="l" rtl="0">
              <a:lnSpc>
                <a:spcPct val="100000"/>
              </a:lnSpc>
              <a:spcBef>
                <a:spcPts val="1000"/>
              </a:spcBef>
              <a:spcAft>
                <a:spcPts val="0"/>
              </a:spcAft>
              <a:buSzPts val="1200"/>
              <a:buChar char="●"/>
            </a:pPr>
            <a:r>
              <a:rPr lang="en" sz="1200" dirty="0"/>
              <a:t>The nodes in a </a:t>
            </a:r>
            <a:r>
              <a:rPr lang="en" sz="1200" b="1" i="1" dirty="0">
                <a:solidFill>
                  <a:srgbClr val="FF0000"/>
                </a:solidFill>
              </a:rPr>
              <a:t>binary tree</a:t>
            </a:r>
            <a:r>
              <a:rPr lang="en" sz="1200" dirty="0"/>
              <a:t> are slightly more complex. </a:t>
            </a:r>
            <a:endParaRPr sz="1200" dirty="0"/>
          </a:p>
          <a:p>
            <a:pPr marL="914400" lvl="1" indent="-298450" algn="l" rtl="0">
              <a:lnSpc>
                <a:spcPct val="100000"/>
              </a:lnSpc>
              <a:spcBef>
                <a:spcPts val="0"/>
              </a:spcBef>
              <a:spcAft>
                <a:spcPts val="0"/>
              </a:spcAft>
              <a:buSzPts val="1100"/>
              <a:buChar char="○"/>
            </a:pPr>
            <a:r>
              <a:rPr lang="en" dirty="0"/>
              <a:t>Each node has a </a:t>
            </a:r>
            <a:r>
              <a:rPr lang="en" b="1" i="1" dirty="0">
                <a:solidFill>
                  <a:srgbClr val="FF0000"/>
                </a:solidFill>
              </a:rPr>
              <a:t>value</a:t>
            </a:r>
            <a:r>
              <a:rPr lang="en" dirty="0"/>
              <a:t>, a </a:t>
            </a:r>
            <a:r>
              <a:rPr lang="en" b="1" i="1" dirty="0">
                <a:solidFill>
                  <a:srgbClr val="FF0000"/>
                </a:solidFill>
              </a:rPr>
              <a:t>left child</a:t>
            </a:r>
            <a:r>
              <a:rPr lang="en" dirty="0"/>
              <a:t>, and a </a:t>
            </a:r>
            <a:r>
              <a:rPr lang="en" b="1" i="1" dirty="0">
                <a:solidFill>
                  <a:srgbClr val="FF0000"/>
                </a:solidFill>
              </a:rPr>
              <a:t>right child</a:t>
            </a:r>
            <a:r>
              <a:rPr lang="en" dirty="0"/>
              <a:t>, either or both of which may be </a:t>
            </a:r>
            <a:r>
              <a:rPr lang="en" dirty="0">
                <a:solidFill>
                  <a:srgbClr val="FF0000"/>
                </a:solidFill>
              </a:rPr>
              <a:t>null</a:t>
            </a:r>
            <a:r>
              <a:rPr lang="en" dirty="0"/>
              <a:t>.</a:t>
            </a:r>
            <a:endParaRPr dirty="0"/>
          </a:p>
          <a:p>
            <a:pPr marL="457200" lvl="0" indent="-304800" algn="l" rtl="0">
              <a:lnSpc>
                <a:spcPct val="100000"/>
              </a:lnSpc>
              <a:spcBef>
                <a:spcPts val="1000"/>
              </a:spcBef>
              <a:spcAft>
                <a:spcPts val="0"/>
              </a:spcAft>
              <a:buSzPts val="1200"/>
              <a:buChar char="●"/>
            </a:pPr>
            <a:r>
              <a:rPr lang="en" sz="1200" dirty="0"/>
              <a:t>A </a:t>
            </a:r>
            <a:r>
              <a:rPr lang="en" sz="1200" b="1" i="1" dirty="0">
                <a:solidFill>
                  <a:srgbClr val="FF0000"/>
                </a:solidFill>
              </a:rPr>
              <a:t>binary search tree</a:t>
            </a:r>
            <a:r>
              <a:rPr lang="en" sz="1200" dirty="0"/>
              <a:t> (</a:t>
            </a:r>
            <a:r>
              <a:rPr lang="en" sz="1200" b="1" i="1" dirty="0">
                <a:solidFill>
                  <a:srgbClr val="FF0000"/>
                </a:solidFill>
              </a:rPr>
              <a:t>BST</a:t>
            </a:r>
            <a:r>
              <a:rPr lang="en" sz="1200" dirty="0"/>
              <a:t>) is a special kind of binary tree with some extra rules:</a:t>
            </a:r>
            <a:endParaRPr sz="1200" dirty="0"/>
          </a:p>
          <a:p>
            <a:pPr marL="914400" lvl="1" indent="-298450" algn="l" rtl="0">
              <a:lnSpc>
                <a:spcPct val="100000"/>
              </a:lnSpc>
              <a:spcBef>
                <a:spcPts val="0"/>
              </a:spcBef>
              <a:spcAft>
                <a:spcPts val="0"/>
              </a:spcAft>
              <a:buSzPts val="1100"/>
              <a:buChar char="○"/>
            </a:pPr>
            <a:r>
              <a:rPr lang="en" dirty="0"/>
              <a:t>The values in a non-empty </a:t>
            </a:r>
            <a:r>
              <a:rPr lang="en" b="1" i="1" dirty="0">
                <a:solidFill>
                  <a:srgbClr val="FF0000"/>
                </a:solidFill>
                <a:highlight>
                  <a:srgbClr val="FFFF00"/>
                </a:highlight>
              </a:rPr>
              <a:t>left subtree</a:t>
            </a:r>
            <a:r>
              <a:rPr lang="en" dirty="0">
                <a:highlight>
                  <a:srgbClr val="FFFF00"/>
                </a:highlight>
              </a:rPr>
              <a:t> are always </a:t>
            </a:r>
            <a:r>
              <a:rPr lang="en" b="1" i="1" dirty="0">
                <a:solidFill>
                  <a:srgbClr val="FF0000"/>
                </a:solidFill>
                <a:highlight>
                  <a:srgbClr val="FFFF00"/>
                </a:highlight>
              </a:rPr>
              <a:t>less than</a:t>
            </a:r>
            <a:r>
              <a:rPr lang="en" dirty="0">
                <a:highlight>
                  <a:srgbClr val="FFFF00"/>
                </a:highlight>
              </a:rPr>
              <a:t> the value in the node.</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values in a non-empty </a:t>
            </a:r>
            <a:r>
              <a:rPr lang="en" b="1" i="1" dirty="0">
                <a:solidFill>
                  <a:srgbClr val="FF0000"/>
                </a:solidFill>
                <a:highlight>
                  <a:srgbClr val="FFFF00"/>
                </a:highlight>
              </a:rPr>
              <a:t>right subtree</a:t>
            </a:r>
            <a:r>
              <a:rPr lang="en" dirty="0">
                <a:highlight>
                  <a:srgbClr val="FFFF00"/>
                </a:highlight>
              </a:rPr>
              <a:t> are always </a:t>
            </a:r>
            <a:r>
              <a:rPr lang="en" b="1" i="1" dirty="0">
                <a:solidFill>
                  <a:srgbClr val="FF0000"/>
                </a:solidFill>
                <a:highlight>
                  <a:srgbClr val="FFFF00"/>
                </a:highlight>
              </a:rPr>
              <a:t>greater than</a:t>
            </a:r>
            <a:r>
              <a:rPr lang="en" dirty="0">
                <a:highlight>
                  <a:srgbClr val="FFFF00"/>
                </a:highlight>
              </a:rPr>
              <a:t> the value in the node.</a:t>
            </a:r>
            <a:endParaRPr dirty="0">
              <a:highlight>
                <a:srgbClr val="FFFF00"/>
              </a:highlight>
            </a:endParaRPr>
          </a:p>
          <a:p>
            <a:pPr marL="457200" lvl="0" indent="-304800" algn="l" rtl="0">
              <a:lnSpc>
                <a:spcPct val="100000"/>
              </a:lnSpc>
              <a:spcBef>
                <a:spcPts val="1000"/>
              </a:spcBef>
              <a:spcAft>
                <a:spcPts val="0"/>
              </a:spcAft>
              <a:buSzPts val="1200"/>
              <a:buChar char="●"/>
            </a:pPr>
            <a:r>
              <a:rPr lang="en" sz="1200" dirty="0"/>
              <a:t>Of course not all trees limit nodes to exactly two children; the nodes in an </a:t>
            </a:r>
            <a:r>
              <a:rPr lang="en" sz="1200" b="1" i="1" dirty="0">
                <a:solidFill>
                  <a:srgbClr val="FF0000"/>
                </a:solidFill>
                <a:highlight>
                  <a:srgbClr val="FFFF00"/>
                </a:highlight>
              </a:rPr>
              <a:t>N-ary tree</a:t>
            </a:r>
            <a:r>
              <a:rPr lang="en" sz="1200" dirty="0">
                <a:highlight>
                  <a:srgbClr val="FFFF00"/>
                </a:highlight>
              </a:rPr>
              <a:t> </a:t>
            </a:r>
            <a:r>
              <a:rPr lang="en" sz="1200" dirty="0"/>
              <a:t>may contain </a:t>
            </a:r>
            <a:r>
              <a:rPr lang="en" sz="1200" b="1" i="1" dirty="0">
                <a:solidFill>
                  <a:srgbClr val="FF0000"/>
                </a:solidFill>
              </a:rPr>
              <a:t>zero or more</a:t>
            </a:r>
            <a:r>
              <a:rPr lang="en" sz="1200" dirty="0"/>
              <a:t> children.</a:t>
            </a:r>
            <a:endParaRPr sz="1200" dirty="0"/>
          </a:p>
        </p:txBody>
      </p:sp>
      <p:sp>
        <p:nvSpPr>
          <p:cNvPr id="476" name="Google Shape;476;p39"/>
          <p:cNvSpPr txBox="1">
            <a:spLocks noGrp="1"/>
          </p:cNvSpPr>
          <p:nvPr>
            <p:ph type="body" idx="3"/>
          </p:nvPr>
        </p:nvSpPr>
        <p:spPr>
          <a:xfrm>
            <a:off x="267050" y="3566246"/>
            <a:ext cx="38028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200"/>
              <a:buNone/>
            </a:pPr>
            <a:r>
              <a:rPr lang="en"/>
              <a:t>Because the nodes in an </a:t>
            </a:r>
            <a:r>
              <a:rPr lang="en" b="1" i="1">
                <a:solidFill>
                  <a:srgbClr val="FF0000"/>
                </a:solidFill>
              </a:rPr>
              <a:t>N-ary Tree</a:t>
            </a:r>
            <a:r>
              <a:rPr lang="en"/>
              <a:t> may contain </a:t>
            </a:r>
            <a:r>
              <a:rPr lang="en" b="1" i="1">
                <a:solidFill>
                  <a:srgbClr val="FF0000"/>
                </a:solidFill>
              </a:rPr>
              <a:t>zero or more</a:t>
            </a:r>
            <a:r>
              <a:rPr lang="en"/>
              <a:t> children, children must be stored in a data structure like a </a:t>
            </a:r>
            <a:r>
              <a:rPr lang="en" b="1" i="1">
                <a:solidFill>
                  <a:srgbClr val="FF0000"/>
                </a:solidFill>
              </a:rPr>
              <a:t>list</a:t>
            </a:r>
            <a:r>
              <a:rPr lang="en"/>
              <a:t>.</a:t>
            </a:r>
            <a:endParaRPr/>
          </a:p>
        </p:txBody>
      </p:sp>
      <p:grpSp>
        <p:nvGrpSpPr>
          <p:cNvPr id="477" name="Google Shape;477;p39"/>
          <p:cNvGrpSpPr/>
          <p:nvPr/>
        </p:nvGrpSpPr>
        <p:grpSpPr>
          <a:xfrm>
            <a:off x="267056" y="681496"/>
            <a:ext cx="3802911" cy="2769622"/>
            <a:chOff x="267056" y="910096"/>
            <a:chExt cx="3802911" cy="2769622"/>
          </a:xfrm>
        </p:grpSpPr>
        <p:grpSp>
          <p:nvGrpSpPr>
            <p:cNvPr id="478" name="Google Shape;478;p39"/>
            <p:cNvGrpSpPr/>
            <p:nvPr/>
          </p:nvGrpSpPr>
          <p:grpSpPr>
            <a:xfrm>
              <a:off x="1812327" y="910096"/>
              <a:ext cx="955063" cy="638963"/>
              <a:chOff x="3956600" y="1450971"/>
              <a:chExt cx="1440300" cy="963600"/>
            </a:xfrm>
          </p:grpSpPr>
          <p:sp>
            <p:nvSpPr>
              <p:cNvPr id="479" name="Google Shape;479;p39"/>
              <p:cNvSpPr/>
              <p:nvPr/>
            </p:nvSpPr>
            <p:spPr>
              <a:xfrm>
                <a:off x="3956600" y="1450971"/>
                <a:ext cx="1440300" cy="340200"/>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data</a:t>
                </a:r>
                <a:endParaRPr sz="1000" b="0" i="0" u="none" strike="noStrike" cap="none">
                  <a:solidFill>
                    <a:srgbClr val="000000"/>
                  </a:solidFill>
                  <a:latin typeface="Consolas"/>
                  <a:ea typeface="Consolas"/>
                  <a:cs typeface="Consolas"/>
                  <a:sym typeface="Consolas"/>
                </a:endParaRPr>
              </a:p>
            </p:txBody>
          </p:sp>
          <p:sp>
            <p:nvSpPr>
              <p:cNvPr id="480" name="Google Shape;480;p39"/>
              <p:cNvSpPr/>
              <p:nvPr/>
            </p:nvSpPr>
            <p:spPr>
              <a:xfrm>
                <a:off x="3956600" y="1791171"/>
                <a:ext cx="1440300" cy="6234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children</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Consolas"/>
                  <a:ea typeface="Consolas"/>
                  <a:cs typeface="Consolas"/>
                  <a:sym typeface="Consolas"/>
                </a:endParaRPr>
              </a:p>
            </p:txBody>
          </p:sp>
          <p:grpSp>
            <p:nvGrpSpPr>
              <p:cNvPr id="481" name="Google Shape;481;p39"/>
              <p:cNvGrpSpPr/>
              <p:nvPr/>
            </p:nvGrpSpPr>
            <p:grpSpPr>
              <a:xfrm>
                <a:off x="4371350" y="2162462"/>
                <a:ext cx="640800" cy="205800"/>
                <a:chOff x="2412675" y="2410700"/>
                <a:chExt cx="640800" cy="205800"/>
              </a:xfrm>
            </p:grpSpPr>
            <p:sp>
              <p:nvSpPr>
                <p:cNvPr id="482" name="Google Shape;482;p39"/>
                <p:cNvSpPr/>
                <p:nvPr/>
              </p:nvSpPr>
              <p:spPr>
                <a:xfrm>
                  <a:off x="2412675" y="2410700"/>
                  <a:ext cx="213600" cy="205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39"/>
                <p:cNvSpPr/>
                <p:nvPr/>
              </p:nvSpPr>
              <p:spPr>
                <a:xfrm>
                  <a:off x="2626275" y="2410700"/>
                  <a:ext cx="213600" cy="205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39"/>
                <p:cNvSpPr/>
                <p:nvPr/>
              </p:nvSpPr>
              <p:spPr>
                <a:xfrm>
                  <a:off x="2839875" y="2410700"/>
                  <a:ext cx="213600" cy="205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485" name="Google Shape;485;p39"/>
            <p:cNvGrpSpPr/>
            <p:nvPr/>
          </p:nvGrpSpPr>
          <p:grpSpPr>
            <a:xfrm>
              <a:off x="3114904" y="1920398"/>
              <a:ext cx="955063" cy="638963"/>
              <a:chOff x="3956600" y="1484875"/>
              <a:chExt cx="1440300" cy="963600"/>
            </a:xfrm>
          </p:grpSpPr>
          <p:sp>
            <p:nvSpPr>
              <p:cNvPr id="486" name="Google Shape;486;p39"/>
              <p:cNvSpPr/>
              <p:nvPr/>
            </p:nvSpPr>
            <p:spPr>
              <a:xfrm>
                <a:off x="3956600" y="1484875"/>
                <a:ext cx="1440300" cy="340200"/>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data</a:t>
                </a:r>
                <a:endParaRPr sz="1000" b="0" i="0" u="none" strike="noStrike" cap="none">
                  <a:solidFill>
                    <a:srgbClr val="000000"/>
                  </a:solidFill>
                  <a:latin typeface="Consolas"/>
                  <a:ea typeface="Consolas"/>
                  <a:cs typeface="Consolas"/>
                  <a:sym typeface="Consolas"/>
                </a:endParaRPr>
              </a:p>
            </p:txBody>
          </p:sp>
          <p:sp>
            <p:nvSpPr>
              <p:cNvPr id="487" name="Google Shape;487;p39"/>
              <p:cNvSpPr/>
              <p:nvPr/>
            </p:nvSpPr>
            <p:spPr>
              <a:xfrm>
                <a:off x="3956600" y="1825075"/>
                <a:ext cx="1440300" cy="6234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children</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null</a:t>
                </a:r>
                <a:endParaRPr sz="1000" b="0" i="0" u="none" strike="noStrike" cap="none">
                  <a:solidFill>
                    <a:srgbClr val="000000"/>
                  </a:solidFill>
                  <a:latin typeface="Consolas"/>
                  <a:ea typeface="Consolas"/>
                  <a:cs typeface="Consolas"/>
                  <a:sym typeface="Consolas"/>
                </a:endParaRPr>
              </a:p>
            </p:txBody>
          </p:sp>
        </p:grpSp>
        <p:grpSp>
          <p:nvGrpSpPr>
            <p:cNvPr id="488" name="Google Shape;488;p39"/>
            <p:cNvGrpSpPr/>
            <p:nvPr/>
          </p:nvGrpSpPr>
          <p:grpSpPr>
            <a:xfrm>
              <a:off x="1916019" y="1920398"/>
              <a:ext cx="955063" cy="638963"/>
              <a:chOff x="3956600" y="1484875"/>
              <a:chExt cx="1440300" cy="963600"/>
            </a:xfrm>
          </p:grpSpPr>
          <p:sp>
            <p:nvSpPr>
              <p:cNvPr id="489" name="Google Shape;489;p39"/>
              <p:cNvSpPr/>
              <p:nvPr/>
            </p:nvSpPr>
            <p:spPr>
              <a:xfrm>
                <a:off x="3956600" y="1484875"/>
                <a:ext cx="1440300" cy="340200"/>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data</a:t>
                </a:r>
                <a:endParaRPr sz="1000" b="0" i="0" u="none" strike="noStrike" cap="none">
                  <a:solidFill>
                    <a:srgbClr val="000000"/>
                  </a:solidFill>
                  <a:latin typeface="Consolas"/>
                  <a:ea typeface="Consolas"/>
                  <a:cs typeface="Consolas"/>
                  <a:sym typeface="Consolas"/>
                </a:endParaRPr>
              </a:p>
            </p:txBody>
          </p:sp>
          <p:sp>
            <p:nvSpPr>
              <p:cNvPr id="490" name="Google Shape;490;p39"/>
              <p:cNvSpPr/>
              <p:nvPr/>
            </p:nvSpPr>
            <p:spPr>
              <a:xfrm>
                <a:off x="3956600" y="1825075"/>
                <a:ext cx="1440300" cy="6234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children</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Consolas"/>
                  <a:ea typeface="Consolas"/>
                  <a:cs typeface="Consolas"/>
                  <a:sym typeface="Consolas"/>
                </a:endParaRPr>
              </a:p>
            </p:txBody>
          </p:sp>
        </p:grpSp>
        <p:sp>
          <p:nvSpPr>
            <p:cNvPr id="491" name="Google Shape;491;p39"/>
            <p:cNvSpPr/>
            <p:nvPr/>
          </p:nvSpPr>
          <p:spPr>
            <a:xfrm>
              <a:off x="2305574" y="1483547"/>
              <a:ext cx="130117" cy="440763"/>
            </a:xfrm>
            <a:custGeom>
              <a:avLst/>
              <a:gdLst/>
              <a:ahLst/>
              <a:cxnLst/>
              <a:rect l="l" t="t" r="r" b="b"/>
              <a:pathLst>
                <a:path w="7849" h="26588" extrusionOk="0">
                  <a:moveTo>
                    <a:pt x="0" y="0"/>
                  </a:moveTo>
                  <a:cubicBezTo>
                    <a:pt x="1213" y="3060"/>
                    <a:pt x="6067" y="13927"/>
                    <a:pt x="7280" y="18358"/>
                  </a:cubicBezTo>
                  <a:cubicBezTo>
                    <a:pt x="8493" y="22789"/>
                    <a:pt x="7280" y="25216"/>
                    <a:pt x="7280" y="26588"/>
                  </a:cubicBezTo>
                </a:path>
              </a:pathLst>
            </a:cu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2" name="Google Shape;492;p39"/>
            <p:cNvGrpSpPr/>
            <p:nvPr/>
          </p:nvGrpSpPr>
          <p:grpSpPr>
            <a:xfrm>
              <a:off x="2251913" y="2369722"/>
              <a:ext cx="283276" cy="136466"/>
              <a:chOff x="2824875" y="2410700"/>
              <a:chExt cx="427200" cy="205800"/>
            </a:xfrm>
          </p:grpSpPr>
          <p:sp>
            <p:nvSpPr>
              <p:cNvPr id="493" name="Google Shape;493;p39"/>
              <p:cNvSpPr/>
              <p:nvPr/>
            </p:nvSpPr>
            <p:spPr>
              <a:xfrm>
                <a:off x="2824875" y="2410700"/>
                <a:ext cx="213600" cy="205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39"/>
              <p:cNvSpPr/>
              <p:nvPr/>
            </p:nvSpPr>
            <p:spPr>
              <a:xfrm>
                <a:off x="3038475" y="2410700"/>
                <a:ext cx="213600" cy="205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95" name="Google Shape;495;p39"/>
            <p:cNvGrpSpPr/>
            <p:nvPr/>
          </p:nvGrpSpPr>
          <p:grpSpPr>
            <a:xfrm>
              <a:off x="857264" y="1920398"/>
              <a:ext cx="955063" cy="638963"/>
              <a:chOff x="3956600" y="1484875"/>
              <a:chExt cx="1440300" cy="963600"/>
            </a:xfrm>
          </p:grpSpPr>
          <p:sp>
            <p:nvSpPr>
              <p:cNvPr id="496" name="Google Shape;496;p39"/>
              <p:cNvSpPr/>
              <p:nvPr/>
            </p:nvSpPr>
            <p:spPr>
              <a:xfrm>
                <a:off x="3956600" y="1484875"/>
                <a:ext cx="1440300" cy="340200"/>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data</a:t>
                </a:r>
                <a:endParaRPr sz="1000" b="0" i="0" u="none" strike="noStrike" cap="none">
                  <a:solidFill>
                    <a:srgbClr val="000000"/>
                  </a:solidFill>
                  <a:latin typeface="Consolas"/>
                  <a:ea typeface="Consolas"/>
                  <a:cs typeface="Consolas"/>
                  <a:sym typeface="Consolas"/>
                </a:endParaRPr>
              </a:p>
            </p:txBody>
          </p:sp>
          <p:sp>
            <p:nvSpPr>
              <p:cNvPr id="497" name="Google Shape;497;p39"/>
              <p:cNvSpPr/>
              <p:nvPr/>
            </p:nvSpPr>
            <p:spPr>
              <a:xfrm>
                <a:off x="3956600" y="1825075"/>
                <a:ext cx="1440300" cy="6234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children</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Consolas"/>
                  <a:ea typeface="Consolas"/>
                  <a:cs typeface="Consolas"/>
                  <a:sym typeface="Consolas"/>
                </a:endParaRPr>
              </a:p>
            </p:txBody>
          </p:sp>
          <p:sp>
            <p:nvSpPr>
              <p:cNvPr id="498" name="Google Shape;498;p39"/>
              <p:cNvSpPr/>
              <p:nvPr/>
            </p:nvSpPr>
            <p:spPr>
              <a:xfrm>
                <a:off x="4576211" y="2162462"/>
                <a:ext cx="213600" cy="205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9" name="Google Shape;499;p39"/>
            <p:cNvSpPr/>
            <p:nvPr/>
          </p:nvSpPr>
          <p:spPr>
            <a:xfrm>
              <a:off x="1345339" y="1457305"/>
              <a:ext cx="823802" cy="461750"/>
            </a:xfrm>
            <a:custGeom>
              <a:avLst/>
              <a:gdLst/>
              <a:ahLst/>
              <a:cxnLst/>
              <a:rect l="l" t="t" r="r" b="b"/>
              <a:pathLst>
                <a:path w="49694" h="27854" extrusionOk="0">
                  <a:moveTo>
                    <a:pt x="49694" y="0"/>
                  </a:moveTo>
                  <a:cubicBezTo>
                    <a:pt x="42731" y="1319"/>
                    <a:pt x="16195" y="3271"/>
                    <a:pt x="7913" y="7913"/>
                  </a:cubicBezTo>
                  <a:cubicBezTo>
                    <a:pt x="-369" y="12555"/>
                    <a:pt x="1319" y="24531"/>
                    <a:pt x="0" y="27854"/>
                  </a:cubicBezTo>
                </a:path>
              </a:pathLst>
            </a:cu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39"/>
            <p:cNvSpPr/>
            <p:nvPr/>
          </p:nvSpPr>
          <p:spPr>
            <a:xfrm>
              <a:off x="2468233" y="1457305"/>
              <a:ext cx="1185855" cy="467005"/>
            </a:xfrm>
            <a:custGeom>
              <a:avLst/>
              <a:gdLst/>
              <a:ahLst/>
              <a:cxnLst/>
              <a:rect l="l" t="t" r="r" b="b"/>
              <a:pathLst>
                <a:path w="71534" h="28171" extrusionOk="0">
                  <a:moveTo>
                    <a:pt x="0" y="0"/>
                  </a:moveTo>
                  <a:cubicBezTo>
                    <a:pt x="10498" y="2110"/>
                    <a:pt x="51066" y="7966"/>
                    <a:pt x="62988" y="12661"/>
                  </a:cubicBezTo>
                  <a:cubicBezTo>
                    <a:pt x="74910" y="17356"/>
                    <a:pt x="70110" y="25586"/>
                    <a:pt x="71534" y="28171"/>
                  </a:cubicBezTo>
                </a:path>
              </a:pathLst>
            </a:cu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1" name="Google Shape;501;p39"/>
            <p:cNvGrpSpPr/>
            <p:nvPr/>
          </p:nvGrpSpPr>
          <p:grpSpPr>
            <a:xfrm>
              <a:off x="267056" y="3040755"/>
              <a:ext cx="955063" cy="638963"/>
              <a:chOff x="3956600" y="1484875"/>
              <a:chExt cx="1440300" cy="963600"/>
            </a:xfrm>
          </p:grpSpPr>
          <p:sp>
            <p:nvSpPr>
              <p:cNvPr id="502" name="Google Shape;502;p39"/>
              <p:cNvSpPr/>
              <p:nvPr/>
            </p:nvSpPr>
            <p:spPr>
              <a:xfrm>
                <a:off x="3956600" y="1484875"/>
                <a:ext cx="1440300" cy="340200"/>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data</a:t>
                </a:r>
                <a:endParaRPr sz="1000" b="0" i="0" u="none" strike="noStrike" cap="none">
                  <a:solidFill>
                    <a:srgbClr val="000000"/>
                  </a:solidFill>
                  <a:latin typeface="Consolas"/>
                  <a:ea typeface="Consolas"/>
                  <a:cs typeface="Consolas"/>
                  <a:sym typeface="Consolas"/>
                </a:endParaRPr>
              </a:p>
            </p:txBody>
          </p:sp>
          <p:sp>
            <p:nvSpPr>
              <p:cNvPr id="503" name="Google Shape;503;p39"/>
              <p:cNvSpPr/>
              <p:nvPr/>
            </p:nvSpPr>
            <p:spPr>
              <a:xfrm>
                <a:off x="3956600" y="1825075"/>
                <a:ext cx="1440300" cy="6234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children</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null</a:t>
                </a:r>
                <a:endParaRPr sz="1000" b="0" i="0" u="none" strike="noStrike" cap="none">
                  <a:solidFill>
                    <a:srgbClr val="000000"/>
                  </a:solidFill>
                  <a:latin typeface="Consolas"/>
                  <a:ea typeface="Consolas"/>
                  <a:cs typeface="Consolas"/>
                  <a:sym typeface="Consolas"/>
                </a:endParaRPr>
              </a:p>
            </p:txBody>
          </p:sp>
        </p:grpSp>
        <p:grpSp>
          <p:nvGrpSpPr>
            <p:cNvPr id="504" name="Google Shape;504;p39"/>
            <p:cNvGrpSpPr/>
            <p:nvPr/>
          </p:nvGrpSpPr>
          <p:grpSpPr>
            <a:xfrm>
              <a:off x="1396547" y="3040755"/>
              <a:ext cx="955063" cy="638963"/>
              <a:chOff x="3956600" y="1484875"/>
              <a:chExt cx="1440300" cy="963600"/>
            </a:xfrm>
          </p:grpSpPr>
          <p:sp>
            <p:nvSpPr>
              <p:cNvPr id="505" name="Google Shape;505;p39"/>
              <p:cNvSpPr/>
              <p:nvPr/>
            </p:nvSpPr>
            <p:spPr>
              <a:xfrm>
                <a:off x="3956600" y="1484875"/>
                <a:ext cx="1440300" cy="340200"/>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data</a:t>
                </a:r>
                <a:endParaRPr sz="1000" b="0" i="0" u="none" strike="noStrike" cap="none">
                  <a:solidFill>
                    <a:srgbClr val="000000"/>
                  </a:solidFill>
                  <a:latin typeface="Consolas"/>
                  <a:ea typeface="Consolas"/>
                  <a:cs typeface="Consolas"/>
                  <a:sym typeface="Consolas"/>
                </a:endParaRPr>
              </a:p>
            </p:txBody>
          </p:sp>
          <p:sp>
            <p:nvSpPr>
              <p:cNvPr id="506" name="Google Shape;506;p39"/>
              <p:cNvSpPr/>
              <p:nvPr/>
            </p:nvSpPr>
            <p:spPr>
              <a:xfrm>
                <a:off x="3956600" y="1825075"/>
                <a:ext cx="1440300" cy="6234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children</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a:t>
                </a:r>
                <a:endParaRPr sz="1000" b="0" i="0" u="none" strike="noStrike" cap="none">
                  <a:solidFill>
                    <a:srgbClr val="000000"/>
                  </a:solidFill>
                  <a:latin typeface="Consolas"/>
                  <a:ea typeface="Consolas"/>
                  <a:cs typeface="Consolas"/>
                  <a:sym typeface="Consolas"/>
                </a:endParaRPr>
              </a:p>
            </p:txBody>
          </p:sp>
        </p:grpSp>
        <p:grpSp>
          <p:nvGrpSpPr>
            <p:cNvPr id="507" name="Google Shape;507;p39"/>
            <p:cNvGrpSpPr/>
            <p:nvPr/>
          </p:nvGrpSpPr>
          <p:grpSpPr>
            <a:xfrm>
              <a:off x="2526038" y="3040755"/>
              <a:ext cx="955063" cy="638963"/>
              <a:chOff x="3956600" y="1484875"/>
              <a:chExt cx="1440300" cy="963600"/>
            </a:xfrm>
          </p:grpSpPr>
          <p:sp>
            <p:nvSpPr>
              <p:cNvPr id="508" name="Google Shape;508;p39"/>
              <p:cNvSpPr/>
              <p:nvPr/>
            </p:nvSpPr>
            <p:spPr>
              <a:xfrm>
                <a:off x="3956600" y="1484875"/>
                <a:ext cx="1440300" cy="340200"/>
              </a:xfrm>
              <a:prstGeom prst="rect">
                <a:avLst/>
              </a:prstGeom>
              <a:solidFill>
                <a:srgbClr val="FFF2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data</a:t>
                </a:r>
                <a:endParaRPr sz="1000" b="0" i="0" u="none" strike="noStrike" cap="none">
                  <a:solidFill>
                    <a:srgbClr val="000000"/>
                  </a:solidFill>
                  <a:latin typeface="Consolas"/>
                  <a:ea typeface="Consolas"/>
                  <a:cs typeface="Consolas"/>
                  <a:sym typeface="Consolas"/>
                </a:endParaRPr>
              </a:p>
            </p:txBody>
          </p:sp>
          <p:sp>
            <p:nvSpPr>
              <p:cNvPr id="509" name="Google Shape;509;p39"/>
              <p:cNvSpPr/>
              <p:nvPr/>
            </p:nvSpPr>
            <p:spPr>
              <a:xfrm>
                <a:off x="3956600" y="1825075"/>
                <a:ext cx="1440300" cy="6234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children</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a:t>
                </a:r>
                <a:endParaRPr sz="1000" b="0" i="0" u="none" strike="noStrike" cap="none">
                  <a:solidFill>
                    <a:srgbClr val="000000"/>
                  </a:solidFill>
                  <a:latin typeface="Consolas"/>
                  <a:ea typeface="Consolas"/>
                  <a:cs typeface="Consolas"/>
                  <a:sym typeface="Consolas"/>
                </a:endParaRPr>
              </a:p>
            </p:txBody>
          </p:sp>
        </p:grpSp>
        <p:sp>
          <p:nvSpPr>
            <p:cNvPr id="510" name="Google Shape;510;p39"/>
            <p:cNvSpPr/>
            <p:nvPr/>
          </p:nvSpPr>
          <p:spPr>
            <a:xfrm>
              <a:off x="745313" y="2454276"/>
              <a:ext cx="579035" cy="587672"/>
            </a:xfrm>
            <a:custGeom>
              <a:avLst/>
              <a:gdLst/>
              <a:ahLst/>
              <a:cxnLst/>
              <a:rect l="l" t="t" r="r" b="b"/>
              <a:pathLst>
                <a:path w="34929" h="35450" extrusionOk="0">
                  <a:moveTo>
                    <a:pt x="34929" y="0"/>
                  </a:moveTo>
                  <a:cubicBezTo>
                    <a:pt x="29759" y="3640"/>
                    <a:pt x="9713" y="15932"/>
                    <a:pt x="3910" y="21840"/>
                  </a:cubicBezTo>
                  <a:cubicBezTo>
                    <a:pt x="-1893" y="27748"/>
                    <a:pt x="745" y="33182"/>
                    <a:pt x="112" y="35450"/>
                  </a:cubicBezTo>
                </a:path>
              </a:pathLst>
            </a:cu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39"/>
            <p:cNvSpPr/>
            <p:nvPr/>
          </p:nvSpPr>
          <p:spPr>
            <a:xfrm>
              <a:off x="1804466" y="2459515"/>
              <a:ext cx="527347" cy="582434"/>
            </a:xfrm>
            <a:custGeom>
              <a:avLst/>
              <a:gdLst/>
              <a:ahLst/>
              <a:cxnLst/>
              <a:rect l="l" t="t" r="r" b="b"/>
              <a:pathLst>
                <a:path w="31811" h="35134" extrusionOk="0">
                  <a:moveTo>
                    <a:pt x="31811" y="0"/>
                  </a:moveTo>
                  <a:cubicBezTo>
                    <a:pt x="27116" y="3482"/>
                    <a:pt x="8916" y="15035"/>
                    <a:pt x="3640" y="20891"/>
                  </a:cubicBezTo>
                  <a:cubicBezTo>
                    <a:pt x="-1635" y="26747"/>
                    <a:pt x="738" y="32760"/>
                    <a:pt x="158" y="35134"/>
                  </a:cubicBezTo>
                </a:path>
              </a:pathLst>
            </a:cu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39"/>
            <p:cNvSpPr/>
            <p:nvPr/>
          </p:nvSpPr>
          <p:spPr>
            <a:xfrm>
              <a:off x="2478726" y="2443782"/>
              <a:ext cx="474431" cy="592927"/>
            </a:xfrm>
            <a:custGeom>
              <a:avLst/>
              <a:gdLst/>
              <a:ahLst/>
              <a:cxnLst/>
              <a:rect l="l" t="t" r="r" b="b"/>
              <a:pathLst>
                <a:path w="28619" h="35767" extrusionOk="0">
                  <a:moveTo>
                    <a:pt x="0" y="0"/>
                  </a:moveTo>
                  <a:cubicBezTo>
                    <a:pt x="4220" y="4009"/>
                    <a:pt x="20574" y="18094"/>
                    <a:pt x="25322" y="24055"/>
                  </a:cubicBezTo>
                  <a:cubicBezTo>
                    <a:pt x="30070" y="30016"/>
                    <a:pt x="27960" y="33815"/>
                    <a:pt x="28487" y="35767"/>
                  </a:cubicBezTo>
                </a:path>
              </a:pathLst>
            </a:cu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39"/>
            <p:cNvSpPr/>
            <p:nvPr/>
          </p:nvSpPr>
          <p:spPr>
            <a:xfrm>
              <a:off x="1616398" y="3497854"/>
              <a:ext cx="141600" cy="136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39"/>
            <p:cNvSpPr/>
            <p:nvPr/>
          </p:nvSpPr>
          <p:spPr>
            <a:xfrm>
              <a:off x="1974555" y="3497854"/>
              <a:ext cx="141600" cy="136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39"/>
            <p:cNvSpPr/>
            <p:nvPr/>
          </p:nvSpPr>
          <p:spPr>
            <a:xfrm>
              <a:off x="2729444" y="3497854"/>
              <a:ext cx="141600" cy="136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39"/>
            <p:cNvSpPr/>
            <p:nvPr/>
          </p:nvSpPr>
          <p:spPr>
            <a:xfrm>
              <a:off x="3114904" y="3497854"/>
              <a:ext cx="141600" cy="136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17" name="Google Shape;517;p39"/>
          <p:cNvSpPr txBox="1">
            <a:spLocks noGrp="1"/>
          </p:cNvSpPr>
          <p:nvPr>
            <p:ph type="body" idx="3"/>
          </p:nvPr>
        </p:nvSpPr>
        <p:spPr>
          <a:xfrm>
            <a:off x="263575" y="4376391"/>
            <a:ext cx="38028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b="1" i="1">
                <a:solidFill>
                  <a:srgbClr val="FF0000"/>
                </a:solidFill>
              </a:rPr>
              <a:t>All</a:t>
            </a:r>
            <a:r>
              <a:rPr lang="en">
                <a:solidFill>
                  <a:srgbClr val="FF0000"/>
                </a:solidFill>
              </a:rPr>
              <a:t> </a:t>
            </a:r>
            <a:r>
              <a:rPr lang="en"/>
              <a:t>of the other node-based data structures that we have examined are simply </a:t>
            </a:r>
            <a:r>
              <a:rPr lang="en" b="1" i="1">
                <a:solidFill>
                  <a:srgbClr val="FF0000"/>
                </a:solidFill>
              </a:rPr>
              <a:t>specialized versions</a:t>
            </a:r>
            <a:r>
              <a:rPr lang="en">
                <a:solidFill>
                  <a:srgbClr val="FF0000"/>
                </a:solidFill>
              </a:rPr>
              <a:t> </a:t>
            </a:r>
            <a:r>
              <a:rPr lang="en"/>
              <a:t>of an N-ary tree.</a:t>
            </a:r>
            <a:endParaRPr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7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76"/>
                                        </p:tgtEl>
                                        <p:attrNameLst>
                                          <p:attrName>style.visibility</p:attrName>
                                        </p:attrNameLst>
                                      </p:cBhvr>
                                      <p:to>
                                        <p:strVal val="visible"/>
                                      </p:to>
                                    </p:set>
                                    <p:animEffect transition="in" filter="fade">
                                      <p:cBhvr>
                                        <p:cTn id="55" dur="1000"/>
                                        <p:tgtEl>
                                          <p:spTgt spid="476"/>
                                        </p:tgtEl>
                                      </p:cBhvr>
                                    </p:animEffect>
                                  </p:childTnLst>
                                </p:cTn>
                              </p:par>
                              <p:par>
                                <p:cTn id="56" presetID="10" presetClass="entr" presetSubtype="0" fill="hold" nodeType="withEffect">
                                  <p:stCondLst>
                                    <p:cond delay="0"/>
                                  </p:stCondLst>
                                  <p:childTnLst>
                                    <p:set>
                                      <p:cBhvr>
                                        <p:cTn id="57" dur="1" fill="hold">
                                          <p:stCondLst>
                                            <p:cond delay="0"/>
                                          </p:stCondLst>
                                        </p:cTn>
                                        <p:tgtEl>
                                          <p:spTgt spid="477"/>
                                        </p:tgtEl>
                                        <p:attrNameLst>
                                          <p:attrName>style.visibility</p:attrName>
                                        </p:attrNameLst>
                                      </p:cBhvr>
                                      <p:to>
                                        <p:strVal val="visible"/>
                                      </p:to>
                                    </p:set>
                                    <p:animEffect transition="in" filter="fade">
                                      <p:cBhvr>
                                        <p:cTn id="58" dur="1000"/>
                                        <p:tgtEl>
                                          <p:spTgt spid="47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17"/>
                                        </p:tgtEl>
                                        <p:attrNameLst>
                                          <p:attrName>style.visibility</p:attrName>
                                        </p:attrNameLst>
                                      </p:cBhvr>
                                      <p:to>
                                        <p:strVal val="visible"/>
                                      </p:to>
                                    </p:set>
                                    <p:animEffect transition="in" filter="fade">
                                      <p:cBhvr>
                                        <p:cTn id="63" dur="1000"/>
                                        <p:tgtEl>
                                          <p:spTgt spid="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Social Network</a:t>
            </a:r>
            <a:endParaRPr/>
          </a:p>
        </p:txBody>
      </p:sp>
      <p:sp>
        <p:nvSpPr>
          <p:cNvPr id="523" name="Google Shape;523;p40"/>
          <p:cNvSpPr txBox="1">
            <a:spLocks noGrp="1"/>
          </p:cNvSpPr>
          <p:nvPr>
            <p:ph type="body" idx="1"/>
          </p:nvPr>
        </p:nvSpPr>
        <p:spPr>
          <a:xfrm>
            <a:off x="311700" y="1277100"/>
            <a:ext cx="3999900" cy="7962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Consider your account on the </a:t>
            </a:r>
            <a:r>
              <a:rPr lang="en" b="1" i="1" dirty="0">
                <a:solidFill>
                  <a:srgbClr val="FF0000"/>
                </a:solidFill>
              </a:rPr>
              <a:t>social network</a:t>
            </a:r>
            <a:r>
              <a:rPr lang="en" dirty="0">
                <a:solidFill>
                  <a:srgbClr val="FF0000"/>
                </a:solidFill>
              </a:rPr>
              <a:t> </a:t>
            </a:r>
            <a:r>
              <a:rPr lang="en" dirty="0"/>
              <a:t>of your choice.</a:t>
            </a:r>
            <a:endParaRPr dirty="0"/>
          </a:p>
          <a:p>
            <a:pPr marL="914400" lvl="1" indent="-298450" algn="l" rtl="0">
              <a:lnSpc>
                <a:spcPct val="115000"/>
              </a:lnSpc>
              <a:spcBef>
                <a:spcPts val="0"/>
              </a:spcBef>
              <a:spcAft>
                <a:spcPts val="0"/>
              </a:spcAft>
              <a:buSzPts val="1100"/>
              <a:buChar char="○"/>
            </a:pPr>
            <a:r>
              <a:rPr lang="en" dirty="0"/>
              <a:t>There is </a:t>
            </a:r>
            <a:r>
              <a:rPr lang="en" b="1" i="1" dirty="0">
                <a:solidFill>
                  <a:srgbClr val="FF0000"/>
                </a:solidFill>
                <a:highlight>
                  <a:srgbClr val="FFFF00"/>
                </a:highlight>
              </a:rPr>
              <a:t>you</a:t>
            </a:r>
            <a:r>
              <a:rPr lang="en" dirty="0">
                <a:highlight>
                  <a:srgbClr val="FFFF00"/>
                </a:highlight>
              </a:rPr>
              <a:t>...</a:t>
            </a:r>
            <a:endParaRPr dirty="0">
              <a:highlight>
                <a:srgbClr val="FFFF00"/>
              </a:highlight>
            </a:endParaRPr>
          </a:p>
        </p:txBody>
      </p:sp>
      <p:sp>
        <p:nvSpPr>
          <p:cNvPr id="524" name="Google Shape;524;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grpSp>
        <p:nvGrpSpPr>
          <p:cNvPr id="525" name="Google Shape;525;p40"/>
          <p:cNvGrpSpPr/>
          <p:nvPr/>
        </p:nvGrpSpPr>
        <p:grpSpPr>
          <a:xfrm>
            <a:off x="5598370" y="1697523"/>
            <a:ext cx="2384504" cy="2377383"/>
            <a:chOff x="5631593" y="1674570"/>
            <a:chExt cx="2472783" cy="2465397"/>
          </a:xfrm>
        </p:grpSpPr>
        <p:cxnSp>
          <p:nvCxnSpPr>
            <p:cNvPr id="526" name="Google Shape;526;p40"/>
            <p:cNvCxnSpPr>
              <a:stCxn id="527" idx="1"/>
              <a:endCxn id="528" idx="5"/>
            </p:cNvCxnSpPr>
            <p:nvPr/>
          </p:nvCxnSpPr>
          <p:spPr>
            <a:xfrm rot="10800000">
              <a:off x="5817867" y="2028870"/>
              <a:ext cx="297000" cy="274800"/>
            </a:xfrm>
            <a:prstGeom prst="straightConnector1">
              <a:avLst/>
            </a:prstGeom>
            <a:noFill/>
            <a:ln w="19050" cap="flat" cmpd="sng">
              <a:solidFill>
                <a:srgbClr val="4A86E8"/>
              </a:solidFill>
              <a:prstDash val="solid"/>
              <a:round/>
              <a:headEnd type="none" w="sm" len="sm"/>
              <a:tailEnd type="none" w="sm" len="sm"/>
            </a:ln>
          </p:spPr>
        </p:cxnSp>
        <p:cxnSp>
          <p:nvCxnSpPr>
            <p:cNvPr id="529" name="Google Shape;529;p40"/>
            <p:cNvCxnSpPr>
              <a:endCxn id="530" idx="4"/>
            </p:cNvCxnSpPr>
            <p:nvPr/>
          </p:nvCxnSpPr>
          <p:spPr>
            <a:xfrm rot="10800000">
              <a:off x="6227066" y="1757757"/>
              <a:ext cx="0" cy="499500"/>
            </a:xfrm>
            <a:prstGeom prst="straightConnector1">
              <a:avLst/>
            </a:prstGeom>
            <a:noFill/>
            <a:ln w="19050" cap="flat" cmpd="sng">
              <a:solidFill>
                <a:srgbClr val="4A86E8"/>
              </a:solidFill>
              <a:prstDash val="solid"/>
              <a:round/>
              <a:headEnd type="none" w="sm" len="sm"/>
              <a:tailEnd type="none" w="sm" len="sm"/>
            </a:ln>
          </p:spPr>
        </p:cxnSp>
        <p:cxnSp>
          <p:nvCxnSpPr>
            <p:cNvPr id="531" name="Google Shape;531;p40"/>
            <p:cNvCxnSpPr>
              <a:stCxn id="527" idx="2"/>
              <a:endCxn id="532" idx="6"/>
            </p:cNvCxnSpPr>
            <p:nvPr/>
          </p:nvCxnSpPr>
          <p:spPr>
            <a:xfrm flipH="1">
              <a:off x="5631593" y="2415869"/>
              <a:ext cx="436800" cy="36600"/>
            </a:xfrm>
            <a:prstGeom prst="straightConnector1">
              <a:avLst/>
            </a:prstGeom>
            <a:noFill/>
            <a:ln w="19050" cap="flat" cmpd="sng">
              <a:solidFill>
                <a:srgbClr val="4A86E8"/>
              </a:solidFill>
              <a:prstDash val="solid"/>
              <a:round/>
              <a:headEnd type="none" w="sm" len="sm"/>
              <a:tailEnd type="none" w="sm" len="sm"/>
            </a:ln>
          </p:spPr>
        </p:cxnSp>
        <p:cxnSp>
          <p:nvCxnSpPr>
            <p:cNvPr id="533" name="Google Shape;533;p40"/>
            <p:cNvCxnSpPr>
              <a:stCxn id="527" idx="3"/>
              <a:endCxn id="534" idx="7"/>
            </p:cNvCxnSpPr>
            <p:nvPr/>
          </p:nvCxnSpPr>
          <p:spPr>
            <a:xfrm flipH="1">
              <a:off x="5860467" y="2528068"/>
              <a:ext cx="254400" cy="348300"/>
            </a:xfrm>
            <a:prstGeom prst="straightConnector1">
              <a:avLst/>
            </a:prstGeom>
            <a:noFill/>
            <a:ln w="19050" cap="flat" cmpd="sng">
              <a:solidFill>
                <a:srgbClr val="4A86E8"/>
              </a:solidFill>
              <a:prstDash val="solid"/>
              <a:round/>
              <a:headEnd type="none" w="sm" len="sm"/>
              <a:tailEnd type="none" w="sm" len="sm"/>
            </a:ln>
          </p:spPr>
        </p:cxnSp>
        <p:cxnSp>
          <p:nvCxnSpPr>
            <p:cNvPr id="535" name="Google Shape;535;p40"/>
            <p:cNvCxnSpPr>
              <a:stCxn id="536" idx="2"/>
              <a:endCxn id="537" idx="6"/>
            </p:cNvCxnSpPr>
            <p:nvPr/>
          </p:nvCxnSpPr>
          <p:spPr>
            <a:xfrm flipH="1">
              <a:off x="5715447" y="3394329"/>
              <a:ext cx="430500" cy="79800"/>
            </a:xfrm>
            <a:prstGeom prst="straightConnector1">
              <a:avLst/>
            </a:prstGeom>
            <a:noFill/>
            <a:ln w="19050" cap="flat" cmpd="sng">
              <a:solidFill>
                <a:srgbClr val="4A86E8"/>
              </a:solidFill>
              <a:prstDash val="solid"/>
              <a:round/>
              <a:headEnd type="none" w="sm" len="sm"/>
              <a:tailEnd type="none" w="sm" len="sm"/>
            </a:ln>
          </p:spPr>
        </p:cxnSp>
        <p:cxnSp>
          <p:nvCxnSpPr>
            <p:cNvPr id="538" name="Google Shape;538;p40"/>
            <p:cNvCxnSpPr>
              <a:stCxn id="536" idx="4"/>
              <a:endCxn id="539" idx="0"/>
            </p:cNvCxnSpPr>
            <p:nvPr/>
          </p:nvCxnSpPr>
          <p:spPr>
            <a:xfrm flipH="1">
              <a:off x="6132120" y="3553002"/>
              <a:ext cx="172500" cy="390300"/>
            </a:xfrm>
            <a:prstGeom prst="straightConnector1">
              <a:avLst/>
            </a:prstGeom>
            <a:noFill/>
            <a:ln w="19050" cap="flat" cmpd="sng">
              <a:solidFill>
                <a:srgbClr val="4A86E8"/>
              </a:solidFill>
              <a:prstDash val="solid"/>
              <a:round/>
              <a:headEnd type="none" w="sm" len="sm"/>
              <a:tailEnd type="none" w="sm" len="sm"/>
            </a:ln>
          </p:spPr>
        </p:cxnSp>
        <p:cxnSp>
          <p:nvCxnSpPr>
            <p:cNvPr id="540" name="Google Shape;540;p40"/>
            <p:cNvCxnSpPr>
              <a:stCxn id="541" idx="4"/>
              <a:endCxn id="542" idx="0"/>
            </p:cNvCxnSpPr>
            <p:nvPr/>
          </p:nvCxnSpPr>
          <p:spPr>
            <a:xfrm flipH="1">
              <a:off x="7000516" y="3759867"/>
              <a:ext cx="78300" cy="380100"/>
            </a:xfrm>
            <a:prstGeom prst="straightConnector1">
              <a:avLst/>
            </a:prstGeom>
            <a:noFill/>
            <a:ln w="19050" cap="flat" cmpd="sng">
              <a:solidFill>
                <a:srgbClr val="4A86E8"/>
              </a:solidFill>
              <a:prstDash val="solid"/>
              <a:round/>
              <a:headEnd type="none" w="sm" len="sm"/>
              <a:tailEnd type="none" w="sm" len="sm"/>
            </a:ln>
          </p:spPr>
        </p:cxnSp>
        <p:cxnSp>
          <p:nvCxnSpPr>
            <p:cNvPr id="543" name="Google Shape;543;p40"/>
            <p:cNvCxnSpPr>
              <a:stCxn id="541" idx="5"/>
              <a:endCxn id="544" idx="1"/>
            </p:cNvCxnSpPr>
            <p:nvPr/>
          </p:nvCxnSpPr>
          <p:spPr>
            <a:xfrm>
              <a:off x="7191015" y="3713392"/>
              <a:ext cx="298500" cy="335700"/>
            </a:xfrm>
            <a:prstGeom prst="straightConnector1">
              <a:avLst/>
            </a:prstGeom>
            <a:noFill/>
            <a:ln w="19050" cap="flat" cmpd="sng">
              <a:solidFill>
                <a:srgbClr val="4A86E8"/>
              </a:solidFill>
              <a:prstDash val="solid"/>
              <a:round/>
              <a:headEnd type="none" w="sm" len="sm"/>
              <a:tailEnd type="none" w="sm" len="sm"/>
            </a:ln>
          </p:spPr>
        </p:cxnSp>
        <p:cxnSp>
          <p:nvCxnSpPr>
            <p:cNvPr id="545" name="Google Shape;545;p40"/>
            <p:cNvCxnSpPr>
              <a:stCxn id="546" idx="4"/>
              <a:endCxn id="547" idx="1"/>
            </p:cNvCxnSpPr>
            <p:nvPr/>
          </p:nvCxnSpPr>
          <p:spPr>
            <a:xfrm>
              <a:off x="7508602" y="3276736"/>
              <a:ext cx="412500" cy="454800"/>
            </a:xfrm>
            <a:prstGeom prst="straightConnector1">
              <a:avLst/>
            </a:prstGeom>
            <a:noFill/>
            <a:ln w="19050" cap="flat" cmpd="sng">
              <a:solidFill>
                <a:srgbClr val="4A86E8"/>
              </a:solidFill>
              <a:prstDash val="solid"/>
              <a:round/>
              <a:headEnd type="none" w="sm" len="sm"/>
              <a:tailEnd type="none" w="sm" len="sm"/>
            </a:ln>
          </p:spPr>
        </p:cxnSp>
        <p:cxnSp>
          <p:nvCxnSpPr>
            <p:cNvPr id="548" name="Google Shape;548;p40"/>
            <p:cNvCxnSpPr>
              <a:stCxn id="546" idx="6"/>
              <a:endCxn id="549" idx="2"/>
            </p:cNvCxnSpPr>
            <p:nvPr/>
          </p:nvCxnSpPr>
          <p:spPr>
            <a:xfrm>
              <a:off x="7667275" y="3118063"/>
              <a:ext cx="437100" cy="225600"/>
            </a:xfrm>
            <a:prstGeom prst="straightConnector1">
              <a:avLst/>
            </a:prstGeom>
            <a:noFill/>
            <a:ln w="19050" cap="flat" cmpd="sng">
              <a:solidFill>
                <a:srgbClr val="4A86E8"/>
              </a:solidFill>
              <a:prstDash val="solid"/>
              <a:round/>
              <a:headEnd type="none" w="sm" len="sm"/>
              <a:tailEnd type="none" w="sm" len="sm"/>
            </a:ln>
          </p:spPr>
        </p:cxnSp>
        <p:cxnSp>
          <p:nvCxnSpPr>
            <p:cNvPr id="550" name="Google Shape;550;p40"/>
            <p:cNvCxnSpPr>
              <a:stCxn id="546" idx="7"/>
              <a:endCxn id="551" idx="2"/>
            </p:cNvCxnSpPr>
            <p:nvPr/>
          </p:nvCxnSpPr>
          <p:spPr>
            <a:xfrm rot="10800000" flipH="1">
              <a:off x="7620801" y="2719964"/>
              <a:ext cx="433200" cy="285900"/>
            </a:xfrm>
            <a:prstGeom prst="straightConnector1">
              <a:avLst/>
            </a:prstGeom>
            <a:noFill/>
            <a:ln w="19050" cap="flat" cmpd="sng">
              <a:solidFill>
                <a:srgbClr val="4A86E8"/>
              </a:solidFill>
              <a:prstDash val="solid"/>
              <a:round/>
              <a:headEnd type="none" w="sm" len="sm"/>
              <a:tailEnd type="none" w="sm" len="sm"/>
            </a:ln>
          </p:spPr>
        </p:cxnSp>
        <p:cxnSp>
          <p:nvCxnSpPr>
            <p:cNvPr id="552" name="Google Shape;552;p40"/>
            <p:cNvCxnSpPr>
              <a:stCxn id="546" idx="0"/>
              <a:endCxn id="553" idx="4"/>
            </p:cNvCxnSpPr>
            <p:nvPr/>
          </p:nvCxnSpPr>
          <p:spPr>
            <a:xfrm rot="10800000" flipH="1">
              <a:off x="7508602" y="2480890"/>
              <a:ext cx="360300" cy="478500"/>
            </a:xfrm>
            <a:prstGeom prst="straightConnector1">
              <a:avLst/>
            </a:prstGeom>
            <a:noFill/>
            <a:ln w="19050" cap="flat" cmpd="sng">
              <a:solidFill>
                <a:srgbClr val="4A86E8"/>
              </a:solidFill>
              <a:prstDash val="solid"/>
              <a:round/>
              <a:headEnd type="none" w="sm" len="sm"/>
              <a:tailEnd type="none" w="sm" len="sm"/>
            </a:ln>
          </p:spPr>
        </p:cxnSp>
        <p:cxnSp>
          <p:nvCxnSpPr>
            <p:cNvPr id="554" name="Google Shape;554;p40"/>
            <p:cNvCxnSpPr>
              <a:stCxn id="555" idx="0"/>
              <a:endCxn id="556" idx="4"/>
            </p:cNvCxnSpPr>
            <p:nvPr/>
          </p:nvCxnSpPr>
          <p:spPr>
            <a:xfrm rot="10800000" flipH="1">
              <a:off x="7371324" y="1884862"/>
              <a:ext cx="180300" cy="345600"/>
            </a:xfrm>
            <a:prstGeom prst="straightConnector1">
              <a:avLst/>
            </a:prstGeom>
            <a:noFill/>
            <a:ln w="19050" cap="flat" cmpd="sng">
              <a:solidFill>
                <a:srgbClr val="4A86E8"/>
              </a:solidFill>
              <a:prstDash val="solid"/>
              <a:round/>
              <a:headEnd type="none" w="sm" len="sm"/>
              <a:tailEnd type="none" w="sm" len="sm"/>
            </a:ln>
          </p:spPr>
        </p:cxnSp>
        <p:cxnSp>
          <p:nvCxnSpPr>
            <p:cNvPr id="557" name="Google Shape;557;p40"/>
            <p:cNvCxnSpPr>
              <a:stCxn id="527" idx="7"/>
              <a:endCxn id="558" idx="3"/>
            </p:cNvCxnSpPr>
            <p:nvPr/>
          </p:nvCxnSpPr>
          <p:spPr>
            <a:xfrm rot="10800000" flipH="1">
              <a:off x="6339265" y="1674570"/>
              <a:ext cx="462900" cy="629100"/>
            </a:xfrm>
            <a:prstGeom prst="straightConnector1">
              <a:avLst/>
            </a:prstGeom>
            <a:noFill/>
            <a:ln w="19050" cap="flat" cmpd="sng">
              <a:solidFill>
                <a:srgbClr val="4A86E8"/>
              </a:solidFill>
              <a:prstDash val="solid"/>
              <a:round/>
              <a:headEnd type="none" w="sm" len="sm"/>
              <a:tailEnd type="none" w="sm" len="sm"/>
            </a:ln>
          </p:spPr>
        </p:cxnSp>
      </p:grpSp>
      <p:grpSp>
        <p:nvGrpSpPr>
          <p:cNvPr id="559" name="Google Shape;559;p40"/>
          <p:cNvGrpSpPr/>
          <p:nvPr/>
        </p:nvGrpSpPr>
        <p:grpSpPr>
          <a:xfrm>
            <a:off x="5445335" y="1589231"/>
            <a:ext cx="2582438" cy="2638707"/>
            <a:chOff x="4911703" y="756592"/>
            <a:chExt cx="3251621" cy="3322472"/>
          </a:xfrm>
        </p:grpSpPr>
        <p:cxnSp>
          <p:nvCxnSpPr>
            <p:cNvPr id="560" name="Google Shape;560;p40"/>
            <p:cNvCxnSpPr>
              <a:stCxn id="528" idx="4"/>
              <a:endCxn id="532" idx="7"/>
            </p:cNvCxnSpPr>
            <p:nvPr/>
          </p:nvCxnSpPr>
          <p:spPr>
            <a:xfrm flipH="1">
              <a:off x="5047806" y="1379405"/>
              <a:ext cx="146700" cy="321900"/>
            </a:xfrm>
            <a:prstGeom prst="straightConnector1">
              <a:avLst/>
            </a:prstGeom>
            <a:noFill/>
            <a:ln w="19050" cap="flat" cmpd="sng">
              <a:solidFill>
                <a:srgbClr val="4A86E8"/>
              </a:solidFill>
              <a:prstDash val="solid"/>
              <a:round/>
              <a:headEnd type="none" w="sm" len="sm"/>
              <a:tailEnd type="none" w="sm" len="sm"/>
            </a:ln>
          </p:spPr>
        </p:cxnSp>
        <p:cxnSp>
          <p:nvCxnSpPr>
            <p:cNvPr id="561" name="Google Shape;561;p40"/>
            <p:cNvCxnSpPr>
              <a:stCxn id="530" idx="6"/>
              <a:endCxn id="558" idx="2"/>
            </p:cNvCxnSpPr>
            <p:nvPr/>
          </p:nvCxnSpPr>
          <p:spPr>
            <a:xfrm rot="10800000" flipH="1">
              <a:off x="6020061" y="756592"/>
              <a:ext cx="449400" cy="44700"/>
            </a:xfrm>
            <a:prstGeom prst="straightConnector1">
              <a:avLst/>
            </a:prstGeom>
            <a:noFill/>
            <a:ln w="19050" cap="flat" cmpd="sng">
              <a:solidFill>
                <a:srgbClr val="4A86E8"/>
              </a:solidFill>
              <a:prstDash val="solid"/>
              <a:round/>
              <a:headEnd type="none" w="sm" len="sm"/>
              <a:tailEnd type="none" w="sm" len="sm"/>
            </a:ln>
          </p:spPr>
        </p:cxnSp>
        <p:cxnSp>
          <p:nvCxnSpPr>
            <p:cNvPr id="562" name="Google Shape;562;p40"/>
            <p:cNvCxnSpPr>
              <a:stCxn id="530" idx="5"/>
              <a:endCxn id="555" idx="1"/>
            </p:cNvCxnSpPr>
            <p:nvPr/>
          </p:nvCxnSpPr>
          <p:spPr>
            <a:xfrm>
              <a:off x="5963633" y="937522"/>
              <a:ext cx="1116900" cy="686700"/>
            </a:xfrm>
            <a:prstGeom prst="straightConnector1">
              <a:avLst/>
            </a:prstGeom>
            <a:noFill/>
            <a:ln w="19050" cap="flat" cmpd="sng">
              <a:solidFill>
                <a:srgbClr val="4A86E8"/>
              </a:solidFill>
              <a:prstDash val="solid"/>
              <a:round/>
              <a:headEnd type="none" w="sm" len="sm"/>
              <a:tailEnd type="none" w="sm" len="sm"/>
            </a:ln>
          </p:spPr>
        </p:cxnSp>
        <p:cxnSp>
          <p:nvCxnSpPr>
            <p:cNvPr id="563" name="Google Shape;563;p40"/>
            <p:cNvCxnSpPr>
              <a:stCxn id="530" idx="3"/>
              <a:endCxn id="534" idx="0"/>
            </p:cNvCxnSpPr>
            <p:nvPr/>
          </p:nvCxnSpPr>
          <p:spPr>
            <a:xfrm flipH="1">
              <a:off x="5245974" y="937522"/>
              <a:ext cx="445200" cy="1358100"/>
            </a:xfrm>
            <a:prstGeom prst="straightConnector1">
              <a:avLst/>
            </a:prstGeom>
            <a:noFill/>
            <a:ln w="19050" cap="flat" cmpd="sng">
              <a:solidFill>
                <a:srgbClr val="4A86E8"/>
              </a:solidFill>
              <a:prstDash val="solid"/>
              <a:round/>
              <a:headEnd type="none" w="sm" len="sm"/>
              <a:tailEnd type="none" w="sm" len="sm"/>
            </a:ln>
          </p:spPr>
        </p:cxnSp>
        <p:cxnSp>
          <p:nvCxnSpPr>
            <p:cNvPr id="564" name="Google Shape;564;p40"/>
            <p:cNvCxnSpPr>
              <a:stCxn id="537" idx="0"/>
              <a:endCxn id="532" idx="4"/>
            </p:cNvCxnSpPr>
            <p:nvPr/>
          </p:nvCxnSpPr>
          <p:spPr>
            <a:xfrm rot="10800000">
              <a:off x="4911703" y="2030095"/>
              <a:ext cx="102000" cy="855300"/>
            </a:xfrm>
            <a:prstGeom prst="straightConnector1">
              <a:avLst/>
            </a:prstGeom>
            <a:noFill/>
            <a:ln w="19050" cap="flat" cmpd="sng">
              <a:solidFill>
                <a:srgbClr val="4A86E8"/>
              </a:solidFill>
              <a:prstDash val="solid"/>
              <a:round/>
              <a:headEnd type="none" w="sm" len="sm"/>
              <a:tailEnd type="none" w="sm" len="sm"/>
            </a:ln>
          </p:spPr>
        </p:cxnSp>
        <p:cxnSp>
          <p:nvCxnSpPr>
            <p:cNvPr id="565" name="Google Shape;565;p40"/>
            <p:cNvCxnSpPr>
              <a:stCxn id="542" idx="1"/>
              <a:endCxn id="536" idx="5"/>
            </p:cNvCxnSpPr>
            <p:nvPr/>
          </p:nvCxnSpPr>
          <p:spPr>
            <a:xfrm rot="10800000">
              <a:off x="6057735" y="3117257"/>
              <a:ext cx="572400" cy="825600"/>
            </a:xfrm>
            <a:prstGeom prst="straightConnector1">
              <a:avLst/>
            </a:prstGeom>
            <a:noFill/>
            <a:ln w="19050" cap="flat" cmpd="sng">
              <a:solidFill>
                <a:srgbClr val="4A86E8"/>
              </a:solidFill>
              <a:prstDash val="solid"/>
              <a:round/>
              <a:headEnd type="none" w="sm" len="sm"/>
              <a:tailEnd type="none" w="sm" len="sm"/>
            </a:ln>
          </p:spPr>
        </p:cxnSp>
        <p:cxnSp>
          <p:nvCxnSpPr>
            <p:cNvPr id="566" name="Google Shape;566;p40"/>
            <p:cNvCxnSpPr>
              <a:stCxn id="542" idx="7"/>
              <a:endCxn id="546" idx="3"/>
            </p:cNvCxnSpPr>
            <p:nvPr/>
          </p:nvCxnSpPr>
          <p:spPr>
            <a:xfrm rot="10800000" flipH="1">
              <a:off x="6902594" y="2781857"/>
              <a:ext cx="344700" cy="1161000"/>
            </a:xfrm>
            <a:prstGeom prst="straightConnector1">
              <a:avLst/>
            </a:prstGeom>
            <a:noFill/>
            <a:ln w="19050" cap="flat" cmpd="sng">
              <a:solidFill>
                <a:srgbClr val="4A86E8"/>
              </a:solidFill>
              <a:prstDash val="solid"/>
              <a:round/>
              <a:headEnd type="none" w="sm" len="sm"/>
              <a:tailEnd type="none" w="sm" len="sm"/>
            </a:ln>
          </p:spPr>
        </p:cxnSp>
        <p:cxnSp>
          <p:nvCxnSpPr>
            <p:cNvPr id="567" name="Google Shape;567;p40"/>
            <p:cNvCxnSpPr>
              <a:stCxn id="541" idx="6"/>
              <a:endCxn id="547" idx="2"/>
            </p:cNvCxnSpPr>
            <p:nvPr/>
          </p:nvCxnSpPr>
          <p:spPr>
            <a:xfrm>
              <a:off x="7054236" y="3232210"/>
              <a:ext cx="773700" cy="294600"/>
            </a:xfrm>
            <a:prstGeom prst="straightConnector1">
              <a:avLst/>
            </a:prstGeom>
            <a:noFill/>
            <a:ln w="19050" cap="flat" cmpd="sng">
              <a:solidFill>
                <a:srgbClr val="4A86E8"/>
              </a:solidFill>
              <a:prstDash val="solid"/>
              <a:round/>
              <a:headEnd type="none" w="sm" len="sm"/>
              <a:tailEnd type="none" w="sm" len="sm"/>
            </a:ln>
          </p:spPr>
        </p:cxnSp>
        <p:cxnSp>
          <p:nvCxnSpPr>
            <p:cNvPr id="568" name="Google Shape;568;p40"/>
            <p:cNvCxnSpPr>
              <a:stCxn id="539" idx="6"/>
              <a:endCxn id="542" idx="2"/>
            </p:cNvCxnSpPr>
            <p:nvPr/>
          </p:nvCxnSpPr>
          <p:spPr>
            <a:xfrm>
              <a:off x="5904675" y="3840264"/>
              <a:ext cx="669000" cy="238800"/>
            </a:xfrm>
            <a:prstGeom prst="straightConnector1">
              <a:avLst/>
            </a:prstGeom>
            <a:noFill/>
            <a:ln w="19050" cap="flat" cmpd="sng">
              <a:solidFill>
                <a:srgbClr val="4A86E8"/>
              </a:solidFill>
              <a:prstDash val="solid"/>
              <a:round/>
              <a:headEnd type="none" w="sm" len="sm"/>
              <a:tailEnd type="none" w="sm" len="sm"/>
            </a:ln>
          </p:spPr>
        </p:cxnSp>
        <p:cxnSp>
          <p:nvCxnSpPr>
            <p:cNvPr id="569" name="Google Shape;569;p40"/>
            <p:cNvCxnSpPr>
              <a:stCxn id="556" idx="5"/>
              <a:endCxn id="553" idx="0"/>
            </p:cNvCxnSpPr>
            <p:nvPr/>
          </p:nvCxnSpPr>
          <p:spPr>
            <a:xfrm>
              <a:off x="7571813" y="1091678"/>
              <a:ext cx="249300" cy="394800"/>
            </a:xfrm>
            <a:prstGeom prst="straightConnector1">
              <a:avLst/>
            </a:prstGeom>
            <a:noFill/>
            <a:ln w="19050" cap="flat" cmpd="sng">
              <a:solidFill>
                <a:srgbClr val="4A86E8"/>
              </a:solidFill>
              <a:prstDash val="solid"/>
              <a:round/>
              <a:headEnd type="none" w="sm" len="sm"/>
              <a:tailEnd type="none" w="sm" len="sm"/>
            </a:ln>
          </p:spPr>
        </p:cxnSp>
        <p:cxnSp>
          <p:nvCxnSpPr>
            <p:cNvPr id="570" name="Google Shape;570;p40"/>
            <p:cNvCxnSpPr>
              <a:stCxn id="556" idx="2"/>
              <a:endCxn id="534" idx="6"/>
            </p:cNvCxnSpPr>
            <p:nvPr/>
          </p:nvCxnSpPr>
          <p:spPr>
            <a:xfrm flipH="1">
              <a:off x="5438726" y="955449"/>
              <a:ext cx="1804200" cy="1532700"/>
            </a:xfrm>
            <a:prstGeom prst="straightConnector1">
              <a:avLst/>
            </a:prstGeom>
            <a:noFill/>
            <a:ln w="19050" cap="flat" cmpd="sng">
              <a:solidFill>
                <a:srgbClr val="4A86E8"/>
              </a:solidFill>
              <a:prstDash val="solid"/>
              <a:round/>
              <a:headEnd type="none" w="sm" len="sm"/>
              <a:tailEnd type="none" w="sm" len="sm"/>
            </a:ln>
          </p:spPr>
        </p:cxnSp>
        <p:cxnSp>
          <p:nvCxnSpPr>
            <p:cNvPr id="571" name="Google Shape;571;p40"/>
            <p:cNvCxnSpPr>
              <a:stCxn id="553" idx="4"/>
              <a:endCxn id="547" idx="0"/>
            </p:cNvCxnSpPr>
            <p:nvPr/>
          </p:nvCxnSpPr>
          <p:spPr>
            <a:xfrm>
              <a:off x="7821036" y="1871822"/>
              <a:ext cx="199500" cy="1462200"/>
            </a:xfrm>
            <a:prstGeom prst="straightConnector1">
              <a:avLst/>
            </a:prstGeom>
            <a:noFill/>
            <a:ln w="19050" cap="flat" cmpd="sng">
              <a:solidFill>
                <a:srgbClr val="4A86E8"/>
              </a:solidFill>
              <a:prstDash val="solid"/>
              <a:round/>
              <a:headEnd type="none" w="sm" len="sm"/>
              <a:tailEnd type="none" w="sm" len="sm"/>
            </a:ln>
          </p:spPr>
        </p:cxnSp>
        <p:cxnSp>
          <p:nvCxnSpPr>
            <p:cNvPr id="572" name="Google Shape;572;p40"/>
            <p:cNvCxnSpPr>
              <a:stCxn id="549" idx="1"/>
              <a:endCxn id="555" idx="5"/>
            </p:cNvCxnSpPr>
            <p:nvPr/>
          </p:nvCxnSpPr>
          <p:spPr>
            <a:xfrm rot="10800000">
              <a:off x="7353024" y="1896691"/>
              <a:ext cx="810300" cy="886500"/>
            </a:xfrm>
            <a:prstGeom prst="straightConnector1">
              <a:avLst/>
            </a:prstGeom>
            <a:noFill/>
            <a:ln w="19050" cap="flat" cmpd="sng">
              <a:solidFill>
                <a:srgbClr val="4A86E8"/>
              </a:solidFill>
              <a:prstDash val="solid"/>
              <a:round/>
              <a:headEnd type="none" w="sm" len="sm"/>
              <a:tailEnd type="none" w="sm" len="sm"/>
            </a:ln>
          </p:spPr>
        </p:cxnSp>
        <p:cxnSp>
          <p:nvCxnSpPr>
            <p:cNvPr id="573" name="Google Shape;573;p40"/>
            <p:cNvCxnSpPr>
              <a:stCxn id="536" idx="0"/>
              <a:endCxn id="527" idx="4"/>
            </p:cNvCxnSpPr>
            <p:nvPr/>
          </p:nvCxnSpPr>
          <p:spPr>
            <a:xfrm rot="10800000">
              <a:off x="5827367" y="1985582"/>
              <a:ext cx="94200" cy="802800"/>
            </a:xfrm>
            <a:prstGeom prst="straightConnector1">
              <a:avLst/>
            </a:prstGeom>
            <a:noFill/>
            <a:ln w="19050" cap="flat" cmpd="sng">
              <a:solidFill>
                <a:srgbClr val="4A86E8"/>
              </a:solidFill>
              <a:prstDash val="solid"/>
              <a:round/>
              <a:headEnd type="none" w="sm" len="sm"/>
              <a:tailEnd type="none" w="sm" len="sm"/>
            </a:ln>
          </p:spPr>
        </p:cxnSp>
      </p:grpSp>
      <p:grpSp>
        <p:nvGrpSpPr>
          <p:cNvPr id="574" name="Google Shape;574;p40"/>
          <p:cNvGrpSpPr/>
          <p:nvPr/>
        </p:nvGrpSpPr>
        <p:grpSpPr>
          <a:xfrm>
            <a:off x="6280642" y="2494743"/>
            <a:ext cx="1019416" cy="907488"/>
            <a:chOff x="6339124" y="2501305"/>
            <a:chExt cx="1057157" cy="941085"/>
          </a:xfrm>
        </p:grpSpPr>
        <p:cxnSp>
          <p:nvCxnSpPr>
            <p:cNvPr id="575" name="Google Shape;575;p40"/>
            <p:cNvCxnSpPr>
              <a:stCxn id="576" idx="1"/>
              <a:endCxn id="527" idx="5"/>
            </p:cNvCxnSpPr>
            <p:nvPr/>
          </p:nvCxnSpPr>
          <p:spPr>
            <a:xfrm rot="10800000">
              <a:off x="6339124" y="2528005"/>
              <a:ext cx="356700" cy="260400"/>
            </a:xfrm>
            <a:prstGeom prst="straightConnector1">
              <a:avLst/>
            </a:prstGeom>
            <a:noFill/>
            <a:ln w="19050" cap="flat" cmpd="sng">
              <a:solidFill>
                <a:srgbClr val="4A86E8"/>
              </a:solidFill>
              <a:prstDash val="solid"/>
              <a:round/>
              <a:headEnd type="none" w="sm" len="sm"/>
              <a:tailEnd type="none" w="sm" len="sm"/>
            </a:ln>
          </p:spPr>
        </p:cxnSp>
        <p:cxnSp>
          <p:nvCxnSpPr>
            <p:cNvPr id="577" name="Google Shape;577;p40"/>
            <p:cNvCxnSpPr>
              <a:stCxn id="576" idx="7"/>
              <a:endCxn id="555" idx="3"/>
            </p:cNvCxnSpPr>
            <p:nvPr/>
          </p:nvCxnSpPr>
          <p:spPr>
            <a:xfrm rot="10800000" flipH="1">
              <a:off x="6920209" y="2501305"/>
              <a:ext cx="339000" cy="287100"/>
            </a:xfrm>
            <a:prstGeom prst="straightConnector1">
              <a:avLst/>
            </a:prstGeom>
            <a:noFill/>
            <a:ln w="19050" cap="flat" cmpd="sng">
              <a:solidFill>
                <a:srgbClr val="4A86E8"/>
              </a:solidFill>
              <a:prstDash val="solid"/>
              <a:round/>
              <a:headEnd type="none" w="sm" len="sm"/>
              <a:tailEnd type="none" w="sm" len="sm"/>
            </a:ln>
          </p:spPr>
        </p:cxnSp>
        <p:cxnSp>
          <p:nvCxnSpPr>
            <p:cNvPr id="578" name="Google Shape;578;p40"/>
            <p:cNvCxnSpPr>
              <a:stCxn id="576" idx="6"/>
              <a:endCxn id="546" idx="1"/>
            </p:cNvCxnSpPr>
            <p:nvPr/>
          </p:nvCxnSpPr>
          <p:spPr>
            <a:xfrm>
              <a:off x="6966681" y="2900598"/>
              <a:ext cx="429600" cy="105300"/>
            </a:xfrm>
            <a:prstGeom prst="straightConnector1">
              <a:avLst/>
            </a:prstGeom>
            <a:noFill/>
            <a:ln w="19050" cap="flat" cmpd="sng">
              <a:solidFill>
                <a:srgbClr val="4A86E8"/>
              </a:solidFill>
              <a:prstDash val="solid"/>
              <a:round/>
              <a:headEnd type="none" w="sm" len="sm"/>
              <a:tailEnd type="none" w="sm" len="sm"/>
            </a:ln>
          </p:spPr>
        </p:cxnSp>
        <p:cxnSp>
          <p:nvCxnSpPr>
            <p:cNvPr id="579" name="Google Shape;579;p40"/>
            <p:cNvCxnSpPr>
              <a:stCxn id="576" idx="5"/>
              <a:endCxn id="541" idx="0"/>
            </p:cNvCxnSpPr>
            <p:nvPr/>
          </p:nvCxnSpPr>
          <p:spPr>
            <a:xfrm>
              <a:off x="6920209" y="3012791"/>
              <a:ext cx="158700" cy="429600"/>
            </a:xfrm>
            <a:prstGeom prst="straightConnector1">
              <a:avLst/>
            </a:prstGeom>
            <a:noFill/>
            <a:ln w="19050" cap="flat" cmpd="sng">
              <a:solidFill>
                <a:srgbClr val="4A86E8"/>
              </a:solidFill>
              <a:prstDash val="solid"/>
              <a:round/>
              <a:headEnd type="none" w="sm" len="sm"/>
              <a:tailEnd type="none" w="sm" len="sm"/>
            </a:ln>
          </p:spPr>
        </p:cxnSp>
        <p:cxnSp>
          <p:nvCxnSpPr>
            <p:cNvPr id="580" name="Google Shape;580;p40"/>
            <p:cNvCxnSpPr>
              <a:stCxn id="576" idx="3"/>
              <a:endCxn id="536" idx="7"/>
            </p:cNvCxnSpPr>
            <p:nvPr/>
          </p:nvCxnSpPr>
          <p:spPr>
            <a:xfrm flipH="1">
              <a:off x="6416824" y="3012791"/>
              <a:ext cx="279000" cy="269400"/>
            </a:xfrm>
            <a:prstGeom prst="straightConnector1">
              <a:avLst/>
            </a:prstGeom>
            <a:noFill/>
            <a:ln w="19050" cap="flat" cmpd="sng">
              <a:solidFill>
                <a:srgbClr val="4A86E8"/>
              </a:solidFill>
              <a:prstDash val="solid"/>
              <a:round/>
              <a:headEnd type="none" w="sm" len="sm"/>
              <a:tailEnd type="none" w="sm" len="sm"/>
            </a:ln>
          </p:spPr>
        </p:cxnSp>
      </p:grpSp>
      <p:grpSp>
        <p:nvGrpSpPr>
          <p:cNvPr id="581" name="Google Shape;581;p40"/>
          <p:cNvGrpSpPr/>
          <p:nvPr/>
        </p:nvGrpSpPr>
        <p:grpSpPr>
          <a:xfrm>
            <a:off x="5292336" y="1436207"/>
            <a:ext cx="2996639" cy="2944757"/>
            <a:chOff x="4320624" y="427228"/>
            <a:chExt cx="4101053" cy="4030050"/>
          </a:xfrm>
        </p:grpSpPr>
        <p:sp>
          <p:nvSpPr>
            <p:cNvPr id="547" name="Google Shape;547;p40"/>
            <p:cNvSpPr/>
            <p:nvPr/>
          </p:nvSpPr>
          <p:spPr>
            <a:xfrm>
              <a:off x="7699641" y="3438197"/>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40"/>
            <p:cNvSpPr/>
            <p:nvPr/>
          </p:nvSpPr>
          <p:spPr>
            <a:xfrm>
              <a:off x="8002877" y="2778034"/>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40"/>
            <p:cNvSpPr/>
            <p:nvPr/>
          </p:nvSpPr>
          <p:spPr>
            <a:xfrm>
              <a:off x="7936312" y="1955209"/>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40"/>
            <p:cNvSpPr/>
            <p:nvPr/>
          </p:nvSpPr>
          <p:spPr>
            <a:xfrm>
              <a:off x="7482775" y="1429996"/>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40"/>
            <p:cNvSpPr/>
            <p:nvPr/>
          </p:nvSpPr>
          <p:spPr>
            <a:xfrm>
              <a:off x="4431475" y="2950452"/>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40"/>
            <p:cNvSpPr/>
            <p:nvPr/>
          </p:nvSpPr>
          <p:spPr>
            <a:xfrm>
              <a:off x="5190476" y="3778902"/>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40"/>
            <p:cNvSpPr/>
            <p:nvPr/>
          </p:nvSpPr>
          <p:spPr>
            <a:xfrm>
              <a:off x="6336449" y="4038478"/>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40"/>
            <p:cNvSpPr/>
            <p:nvPr/>
          </p:nvSpPr>
          <p:spPr>
            <a:xfrm>
              <a:off x="7129846" y="3857150"/>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40"/>
            <p:cNvSpPr/>
            <p:nvPr/>
          </p:nvSpPr>
          <p:spPr>
            <a:xfrm>
              <a:off x="7063825" y="643387"/>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40"/>
            <p:cNvSpPr/>
            <p:nvPr/>
          </p:nvSpPr>
          <p:spPr>
            <a:xfrm>
              <a:off x="6223044" y="427228"/>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40"/>
            <p:cNvSpPr/>
            <p:nvPr/>
          </p:nvSpPr>
          <p:spPr>
            <a:xfrm>
              <a:off x="5315889" y="475834"/>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40"/>
            <p:cNvSpPr/>
            <p:nvPr/>
          </p:nvSpPr>
          <p:spPr>
            <a:xfrm>
              <a:off x="4627990" y="894786"/>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40"/>
            <p:cNvSpPr/>
            <p:nvPr/>
          </p:nvSpPr>
          <p:spPr>
            <a:xfrm>
              <a:off x="4320624" y="1602115"/>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40"/>
            <p:cNvSpPr/>
            <p:nvPr/>
          </p:nvSpPr>
          <p:spPr>
            <a:xfrm>
              <a:off x="4684040" y="2309443"/>
              <a:ext cx="418800" cy="4188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76" name="Google Shape;576;p40"/>
          <p:cNvSpPr/>
          <p:nvPr/>
        </p:nvSpPr>
        <p:spPr>
          <a:xfrm>
            <a:off x="6579795" y="2726781"/>
            <a:ext cx="306000" cy="306000"/>
          </a:xfrm>
          <a:prstGeom prst="smileyFace">
            <a:avLst>
              <a:gd name="adj" fmla="val 4653"/>
            </a:avLst>
          </a:prstGeom>
          <a:solidFill>
            <a:srgbClr val="FF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82" name="Google Shape;582;p40"/>
          <p:cNvGrpSpPr/>
          <p:nvPr/>
        </p:nvGrpSpPr>
        <p:grpSpPr>
          <a:xfrm>
            <a:off x="6019576" y="2233570"/>
            <a:ext cx="1541802" cy="1474805"/>
            <a:chOff x="5315889" y="1518460"/>
            <a:chExt cx="2110034" cy="2018345"/>
          </a:xfrm>
        </p:grpSpPr>
        <p:sp>
          <p:nvSpPr>
            <p:cNvPr id="546" name="Google Shape;546;p40"/>
            <p:cNvSpPr/>
            <p:nvPr/>
          </p:nvSpPr>
          <p:spPr>
            <a:xfrm>
              <a:off x="7007123" y="2480421"/>
              <a:ext cx="418800" cy="4188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40"/>
            <p:cNvSpPr/>
            <p:nvPr/>
          </p:nvSpPr>
          <p:spPr>
            <a:xfrm>
              <a:off x="6439937" y="3118005"/>
              <a:ext cx="418800" cy="4188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40"/>
            <p:cNvSpPr/>
            <p:nvPr/>
          </p:nvSpPr>
          <p:spPr>
            <a:xfrm>
              <a:off x="5418236" y="2845007"/>
              <a:ext cx="418800" cy="4188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40"/>
            <p:cNvSpPr/>
            <p:nvPr/>
          </p:nvSpPr>
          <p:spPr>
            <a:xfrm>
              <a:off x="6825958" y="1518460"/>
              <a:ext cx="418800" cy="4188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40"/>
            <p:cNvSpPr/>
            <p:nvPr/>
          </p:nvSpPr>
          <p:spPr>
            <a:xfrm>
              <a:off x="5315889" y="1553740"/>
              <a:ext cx="418800" cy="4188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83" name="Google Shape;583;p40"/>
          <p:cNvSpPr txBox="1">
            <a:spLocks noGrp="1"/>
          </p:cNvSpPr>
          <p:nvPr>
            <p:ph type="body" idx="1"/>
          </p:nvPr>
        </p:nvSpPr>
        <p:spPr>
          <a:xfrm>
            <a:off x="317171" y="2008612"/>
            <a:ext cx="3999900" cy="242700"/>
          </a:xfrm>
          <a:prstGeom prst="rect">
            <a:avLst/>
          </a:prstGeom>
          <a:noFill/>
          <a:ln>
            <a:noFill/>
          </a:ln>
        </p:spPr>
        <p:txBody>
          <a:bodyPr spcFirstLastPara="1" wrap="square" lIns="91425" tIns="91425" rIns="91425" bIns="91425" anchor="ctr" anchorCtr="0">
            <a:noAutofit/>
          </a:bodyPr>
          <a:lstStyle/>
          <a:p>
            <a:pPr marL="914400" lvl="1" indent="-298450" algn="l" rtl="0">
              <a:lnSpc>
                <a:spcPct val="115000"/>
              </a:lnSpc>
              <a:spcBef>
                <a:spcPts val="0"/>
              </a:spcBef>
              <a:spcAft>
                <a:spcPts val="0"/>
              </a:spcAft>
              <a:buSzPts val="1100"/>
              <a:buChar char="○"/>
            </a:pPr>
            <a:r>
              <a:rPr lang="en"/>
              <a:t>...and </a:t>
            </a:r>
            <a:r>
              <a:rPr lang="en" b="1" i="1">
                <a:solidFill>
                  <a:srgbClr val="FF0000"/>
                </a:solidFill>
              </a:rPr>
              <a:t>your followers</a:t>
            </a:r>
            <a:r>
              <a:rPr lang="en"/>
              <a:t>...</a:t>
            </a:r>
            <a:endParaRPr/>
          </a:p>
        </p:txBody>
      </p:sp>
      <p:sp>
        <p:nvSpPr>
          <p:cNvPr id="584" name="Google Shape;584;p40"/>
          <p:cNvSpPr txBox="1">
            <a:spLocks noGrp="1"/>
          </p:cNvSpPr>
          <p:nvPr>
            <p:ph type="body" idx="1"/>
          </p:nvPr>
        </p:nvSpPr>
        <p:spPr>
          <a:xfrm>
            <a:off x="317171" y="2206018"/>
            <a:ext cx="3999900" cy="242700"/>
          </a:xfrm>
          <a:prstGeom prst="rect">
            <a:avLst/>
          </a:prstGeom>
          <a:noFill/>
          <a:ln>
            <a:noFill/>
          </a:ln>
        </p:spPr>
        <p:txBody>
          <a:bodyPr spcFirstLastPara="1" wrap="square" lIns="91425" tIns="91425" rIns="91425" bIns="91425" anchor="ctr" anchorCtr="0">
            <a:noAutofit/>
          </a:bodyPr>
          <a:lstStyle/>
          <a:p>
            <a:pPr marL="914400" lvl="1" indent="-298450" algn="l" rtl="0">
              <a:lnSpc>
                <a:spcPct val="115000"/>
              </a:lnSpc>
              <a:spcBef>
                <a:spcPts val="0"/>
              </a:spcBef>
              <a:spcAft>
                <a:spcPts val="0"/>
              </a:spcAft>
              <a:buSzPts val="1100"/>
              <a:buChar char="○"/>
            </a:pPr>
            <a:r>
              <a:rPr lang="en"/>
              <a:t>...and </a:t>
            </a:r>
            <a:r>
              <a:rPr lang="en" b="1" i="1">
                <a:solidFill>
                  <a:srgbClr val="FF0000"/>
                </a:solidFill>
              </a:rPr>
              <a:t>their followers</a:t>
            </a:r>
            <a:r>
              <a:rPr lang="en"/>
              <a:t>.</a:t>
            </a:r>
            <a:endParaRPr/>
          </a:p>
        </p:txBody>
      </p:sp>
      <p:sp>
        <p:nvSpPr>
          <p:cNvPr id="585" name="Google Shape;585;p40"/>
          <p:cNvSpPr txBox="1">
            <a:spLocks noGrp="1"/>
          </p:cNvSpPr>
          <p:nvPr>
            <p:ph type="body" idx="1"/>
          </p:nvPr>
        </p:nvSpPr>
        <p:spPr>
          <a:xfrm>
            <a:off x="311700" y="2434866"/>
            <a:ext cx="3999900" cy="1253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What kind of data structure would you use to represent this system?</a:t>
            </a:r>
            <a:endParaRPr dirty="0"/>
          </a:p>
          <a:p>
            <a:pPr marL="914400" lvl="1" indent="-298450" algn="l" rtl="0">
              <a:lnSpc>
                <a:spcPct val="115000"/>
              </a:lnSpc>
              <a:spcBef>
                <a:spcPts val="0"/>
              </a:spcBef>
              <a:spcAft>
                <a:spcPts val="0"/>
              </a:spcAft>
              <a:buSzPts val="1100"/>
              <a:buChar char="○"/>
            </a:pPr>
            <a:r>
              <a:rPr lang="en" dirty="0"/>
              <a:t>How about an </a:t>
            </a:r>
            <a:r>
              <a:rPr lang="en" b="1" i="1" dirty="0">
                <a:solidFill>
                  <a:srgbClr val="FF0000"/>
                </a:solidFill>
                <a:highlight>
                  <a:srgbClr val="FFFF00"/>
                </a:highlight>
              </a:rPr>
              <a:t>N-ary Tree</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Now consider that some of your followers </a:t>
            </a:r>
            <a:r>
              <a:rPr lang="en" b="1" i="1" dirty="0">
                <a:solidFill>
                  <a:srgbClr val="FF0000"/>
                </a:solidFill>
              </a:rPr>
              <a:t>follow each other</a:t>
            </a:r>
            <a:r>
              <a:rPr lang="en" dirty="0"/>
              <a:t>.</a:t>
            </a:r>
            <a:endParaRPr dirty="0"/>
          </a:p>
        </p:txBody>
      </p:sp>
      <p:sp>
        <p:nvSpPr>
          <p:cNvPr id="586" name="Google Shape;586;p40"/>
          <p:cNvSpPr txBox="1">
            <a:spLocks noGrp="1"/>
          </p:cNvSpPr>
          <p:nvPr>
            <p:ph type="body" idx="1"/>
          </p:nvPr>
        </p:nvSpPr>
        <p:spPr>
          <a:xfrm>
            <a:off x="311700" y="3727609"/>
            <a:ext cx="3999900" cy="1253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Will an N-ary Tree be sufficient?</a:t>
            </a:r>
            <a:endParaRPr dirty="0"/>
          </a:p>
          <a:p>
            <a:pPr marL="914400" lvl="1" indent="-298450" algn="l" rtl="0">
              <a:lnSpc>
                <a:spcPct val="115000"/>
              </a:lnSpc>
              <a:spcBef>
                <a:spcPts val="0"/>
              </a:spcBef>
              <a:spcAft>
                <a:spcPts val="0"/>
              </a:spcAft>
              <a:buSzPts val="1100"/>
              <a:buChar char="○"/>
            </a:pPr>
            <a:r>
              <a:rPr lang="en" b="1" i="1" dirty="0">
                <a:solidFill>
                  <a:srgbClr val="FF0000"/>
                </a:solidFill>
              </a:rPr>
              <a:t>No!</a:t>
            </a:r>
            <a:endParaRPr dirty="0">
              <a:solidFill>
                <a:srgbClr val="FF0000"/>
              </a:solidFill>
            </a:endParaRPr>
          </a:p>
          <a:p>
            <a:pPr marL="914400" lvl="1" indent="-298450" algn="l" rtl="0">
              <a:lnSpc>
                <a:spcPct val="115000"/>
              </a:lnSpc>
              <a:spcBef>
                <a:spcPts val="0"/>
              </a:spcBef>
              <a:spcAft>
                <a:spcPts val="0"/>
              </a:spcAft>
              <a:buSzPts val="1100"/>
              <a:buChar char="○"/>
            </a:pPr>
            <a:r>
              <a:rPr lang="en" dirty="0">
                <a:highlight>
                  <a:srgbClr val="FFFF00"/>
                </a:highlight>
              </a:rPr>
              <a:t>In a tree of any kind, children cannot be connected to </a:t>
            </a:r>
            <a:r>
              <a:rPr lang="en" b="1" i="1" dirty="0">
                <a:solidFill>
                  <a:srgbClr val="FF0000"/>
                </a:solidFill>
                <a:highlight>
                  <a:srgbClr val="FFFF00"/>
                </a:highlight>
              </a:rPr>
              <a:t>each other</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Using an N-ary Tree would mean that no two of your followers could ever follow each other.</a:t>
            </a:r>
            <a:endParaRPr dirty="0"/>
          </a:p>
        </p:txBody>
      </p:sp>
      <p:sp>
        <p:nvSpPr>
          <p:cNvPr id="587" name="Google Shape;587;p40"/>
          <p:cNvSpPr txBox="1">
            <a:spLocks noGrp="1"/>
          </p:cNvSpPr>
          <p:nvPr>
            <p:ph type="body" idx="4294967295"/>
          </p:nvPr>
        </p:nvSpPr>
        <p:spPr>
          <a:xfrm>
            <a:off x="5340275" y="4507320"/>
            <a:ext cx="2996700" cy="46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We will need a new kind of data structure to represent the social network: a </a:t>
            </a:r>
            <a:r>
              <a:rPr lang="en" sz="1200" b="1" i="1">
                <a:solidFill>
                  <a:srgbClr val="FF0000"/>
                </a:solidFill>
                <a:latin typeface="Arial"/>
                <a:ea typeface="Arial"/>
                <a:cs typeface="Arial"/>
                <a:sym typeface="Arial"/>
              </a:rPr>
              <a:t>graph</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nodeType="afterEffect">
                                  <p:stCondLst>
                                    <p:cond delay="0"/>
                                  </p:stCondLst>
                                  <p:childTnLst>
                                    <p:set>
                                      <p:cBhvr>
                                        <p:cTn id="13" dur="1" fill="hold">
                                          <p:stCondLst>
                                            <p:cond delay="0"/>
                                          </p:stCondLst>
                                        </p:cTn>
                                        <p:tgtEl>
                                          <p:spTgt spid="576"/>
                                        </p:tgtEl>
                                        <p:attrNameLst>
                                          <p:attrName>style.visibility</p:attrName>
                                        </p:attrNameLst>
                                      </p:cBhvr>
                                      <p:to>
                                        <p:strVal val="visible"/>
                                      </p:to>
                                    </p:set>
                                    <p:animEffect transition="in" filter="fade">
                                      <p:cBhvr>
                                        <p:cTn id="14" dur="1000"/>
                                        <p:tgtEl>
                                          <p:spTgt spid="57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83"/>
                                        </p:tgtEl>
                                        <p:attrNameLst>
                                          <p:attrName>style.visibility</p:attrName>
                                        </p:attrNameLst>
                                      </p:cBhvr>
                                      <p:to>
                                        <p:strVal val="visible"/>
                                      </p:to>
                                    </p:set>
                                    <p:animEffect transition="in" filter="fade">
                                      <p:cBhvr>
                                        <p:cTn id="19" dur="1000"/>
                                        <p:tgtEl>
                                          <p:spTgt spid="583"/>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582"/>
                                        </p:tgtEl>
                                        <p:attrNameLst>
                                          <p:attrName>style.visibility</p:attrName>
                                        </p:attrNameLst>
                                      </p:cBhvr>
                                      <p:to>
                                        <p:strVal val="visible"/>
                                      </p:to>
                                    </p:set>
                                    <p:animEffect transition="in" filter="fade">
                                      <p:cBhvr>
                                        <p:cTn id="23" dur="1000"/>
                                        <p:tgtEl>
                                          <p:spTgt spid="582"/>
                                        </p:tgtEl>
                                      </p:cBhvr>
                                    </p:animEffect>
                                  </p:childTnLst>
                                </p:cTn>
                              </p:par>
                              <p:par>
                                <p:cTn id="24" presetID="10" presetClass="entr" presetSubtype="0" fill="hold" nodeType="withEffect">
                                  <p:stCondLst>
                                    <p:cond delay="0"/>
                                  </p:stCondLst>
                                  <p:childTnLst>
                                    <p:set>
                                      <p:cBhvr>
                                        <p:cTn id="25" dur="1" fill="hold">
                                          <p:stCondLst>
                                            <p:cond delay="0"/>
                                          </p:stCondLst>
                                        </p:cTn>
                                        <p:tgtEl>
                                          <p:spTgt spid="574"/>
                                        </p:tgtEl>
                                        <p:attrNameLst>
                                          <p:attrName>style.visibility</p:attrName>
                                        </p:attrNameLst>
                                      </p:cBhvr>
                                      <p:to>
                                        <p:strVal val="visible"/>
                                      </p:to>
                                    </p:set>
                                    <p:animEffect transition="in" filter="fade">
                                      <p:cBhvr>
                                        <p:cTn id="26" dur="1000"/>
                                        <p:tgtEl>
                                          <p:spTgt spid="57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84"/>
                                        </p:tgtEl>
                                        <p:attrNameLst>
                                          <p:attrName>style.visibility</p:attrName>
                                        </p:attrNameLst>
                                      </p:cBhvr>
                                      <p:to>
                                        <p:strVal val="visible"/>
                                      </p:to>
                                    </p:set>
                                    <p:animEffect transition="in" filter="fade">
                                      <p:cBhvr>
                                        <p:cTn id="31" dur="1000"/>
                                        <p:tgtEl>
                                          <p:spTgt spid="584"/>
                                        </p:tgtEl>
                                      </p:cBhvr>
                                    </p:animEffect>
                                  </p:childTnLst>
                                </p:cTn>
                              </p:par>
                              <p:par>
                                <p:cTn id="32" presetID="10" presetClass="entr" presetSubtype="0" fill="hold" nodeType="withEffect">
                                  <p:stCondLst>
                                    <p:cond delay="0"/>
                                  </p:stCondLst>
                                  <p:childTnLst>
                                    <p:set>
                                      <p:cBhvr>
                                        <p:cTn id="33" dur="1" fill="hold">
                                          <p:stCondLst>
                                            <p:cond delay="0"/>
                                          </p:stCondLst>
                                        </p:cTn>
                                        <p:tgtEl>
                                          <p:spTgt spid="581"/>
                                        </p:tgtEl>
                                        <p:attrNameLst>
                                          <p:attrName>style.visibility</p:attrName>
                                        </p:attrNameLst>
                                      </p:cBhvr>
                                      <p:to>
                                        <p:strVal val="visible"/>
                                      </p:to>
                                    </p:set>
                                    <p:animEffect transition="in" filter="fade">
                                      <p:cBhvr>
                                        <p:cTn id="34" dur="1000"/>
                                        <p:tgtEl>
                                          <p:spTgt spid="581"/>
                                        </p:tgtEl>
                                      </p:cBhvr>
                                    </p:animEffect>
                                  </p:childTnLst>
                                </p:cTn>
                              </p:par>
                              <p:par>
                                <p:cTn id="35" presetID="10" presetClass="entr" presetSubtype="0" fill="hold" nodeType="withEffect">
                                  <p:stCondLst>
                                    <p:cond delay="0"/>
                                  </p:stCondLst>
                                  <p:childTnLst>
                                    <p:set>
                                      <p:cBhvr>
                                        <p:cTn id="36" dur="1" fill="hold">
                                          <p:stCondLst>
                                            <p:cond delay="0"/>
                                          </p:stCondLst>
                                        </p:cTn>
                                        <p:tgtEl>
                                          <p:spTgt spid="525"/>
                                        </p:tgtEl>
                                        <p:attrNameLst>
                                          <p:attrName>style.visibility</p:attrName>
                                        </p:attrNameLst>
                                      </p:cBhvr>
                                      <p:to>
                                        <p:strVal val="visible"/>
                                      </p:to>
                                    </p:set>
                                    <p:animEffect transition="in" filter="fade">
                                      <p:cBhvr>
                                        <p:cTn id="37" dur="1000"/>
                                        <p:tgtEl>
                                          <p:spTgt spid="5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85">
                                            <p:txEl>
                                              <p:pRg st="0" end="0"/>
                                            </p:txEl>
                                          </p:spTgt>
                                        </p:tgtEl>
                                        <p:attrNameLst>
                                          <p:attrName>style.visibility</p:attrName>
                                        </p:attrNameLst>
                                      </p:cBhvr>
                                      <p:to>
                                        <p:strVal val="visible"/>
                                      </p:to>
                                    </p:set>
                                    <p:animEffect transition="in" filter="fade">
                                      <p:cBhvr>
                                        <p:cTn id="42" dur="1000"/>
                                        <p:tgtEl>
                                          <p:spTgt spid="58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85">
                                            <p:txEl>
                                              <p:pRg st="1" end="1"/>
                                            </p:txEl>
                                          </p:spTgt>
                                        </p:tgtEl>
                                        <p:attrNameLst>
                                          <p:attrName>style.visibility</p:attrName>
                                        </p:attrNameLst>
                                      </p:cBhvr>
                                      <p:to>
                                        <p:strVal val="visible"/>
                                      </p:to>
                                    </p:set>
                                    <p:animEffect transition="in" filter="fade">
                                      <p:cBhvr>
                                        <p:cTn id="47" dur="1000"/>
                                        <p:tgtEl>
                                          <p:spTgt spid="585">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85">
                                            <p:txEl>
                                              <p:pRg st="2" end="2"/>
                                            </p:txEl>
                                          </p:spTgt>
                                        </p:tgtEl>
                                        <p:attrNameLst>
                                          <p:attrName>style.visibility</p:attrName>
                                        </p:attrNameLst>
                                      </p:cBhvr>
                                      <p:to>
                                        <p:strVal val="visible"/>
                                      </p:to>
                                    </p:set>
                                    <p:animEffect transition="in" filter="fade">
                                      <p:cBhvr>
                                        <p:cTn id="52" dur="1000"/>
                                        <p:tgtEl>
                                          <p:spTgt spid="585">
                                            <p:txEl>
                                              <p:pRg st="2" end="2"/>
                                            </p:txEl>
                                          </p:spTgt>
                                        </p:tgtEl>
                                      </p:cBhvr>
                                    </p:animEffec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559"/>
                                        </p:tgtEl>
                                        <p:attrNameLst>
                                          <p:attrName>style.visibility</p:attrName>
                                        </p:attrNameLst>
                                      </p:cBhvr>
                                      <p:to>
                                        <p:strVal val="visible"/>
                                      </p:to>
                                    </p:set>
                                    <p:animEffect transition="in" filter="fade">
                                      <p:cBhvr>
                                        <p:cTn id="56" dur="1000"/>
                                        <p:tgtEl>
                                          <p:spTgt spid="55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586">
                                            <p:txEl>
                                              <p:pRg st="0" end="0"/>
                                            </p:txEl>
                                          </p:spTgt>
                                        </p:tgtEl>
                                        <p:attrNameLst>
                                          <p:attrName>style.visibility</p:attrName>
                                        </p:attrNameLst>
                                      </p:cBhvr>
                                      <p:to>
                                        <p:strVal val="visible"/>
                                      </p:to>
                                    </p:set>
                                    <p:animEffect transition="in" filter="fade">
                                      <p:cBhvr>
                                        <p:cTn id="61" dur="1000"/>
                                        <p:tgtEl>
                                          <p:spTgt spid="586">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86">
                                            <p:txEl>
                                              <p:pRg st="1" end="1"/>
                                            </p:txEl>
                                          </p:spTgt>
                                        </p:tgtEl>
                                        <p:attrNameLst>
                                          <p:attrName>style.visibility</p:attrName>
                                        </p:attrNameLst>
                                      </p:cBhvr>
                                      <p:to>
                                        <p:strVal val="visible"/>
                                      </p:to>
                                    </p:set>
                                    <p:animEffect transition="in" filter="fade">
                                      <p:cBhvr>
                                        <p:cTn id="66" dur="1000"/>
                                        <p:tgtEl>
                                          <p:spTgt spid="586">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86">
                                            <p:txEl>
                                              <p:pRg st="2" end="2"/>
                                            </p:txEl>
                                          </p:spTgt>
                                        </p:tgtEl>
                                        <p:attrNameLst>
                                          <p:attrName>style.visibility</p:attrName>
                                        </p:attrNameLst>
                                      </p:cBhvr>
                                      <p:to>
                                        <p:strVal val="visible"/>
                                      </p:to>
                                    </p:set>
                                    <p:animEffect transition="in" filter="fade">
                                      <p:cBhvr>
                                        <p:cTn id="71" dur="1000"/>
                                        <p:tgtEl>
                                          <p:spTgt spid="586">
                                            <p:txEl>
                                              <p:pRg st="2" end="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86">
                                            <p:txEl>
                                              <p:pRg st="3" end="3"/>
                                            </p:txEl>
                                          </p:spTgt>
                                        </p:tgtEl>
                                        <p:attrNameLst>
                                          <p:attrName>style.visibility</p:attrName>
                                        </p:attrNameLst>
                                      </p:cBhvr>
                                      <p:to>
                                        <p:strVal val="visible"/>
                                      </p:to>
                                    </p:set>
                                    <p:animEffect transition="in" filter="fade">
                                      <p:cBhvr>
                                        <p:cTn id="76" dur="1000"/>
                                        <p:tgtEl>
                                          <p:spTgt spid="586">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87"/>
                                        </p:tgtEl>
                                        <p:attrNameLst>
                                          <p:attrName>style.visibility</p:attrName>
                                        </p:attrNameLst>
                                      </p:cBhvr>
                                      <p:to>
                                        <p:strVal val="visible"/>
                                      </p:to>
                                    </p:set>
                                    <p:animEffect transition="in" filter="fade">
                                      <p:cBhvr>
                                        <p:cTn id="81" dur="1000"/>
                                        <p:tgtEl>
                                          <p:spTgt spid="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41"/>
          <p:cNvSpPr txBox="1">
            <a:spLocks noGrp="1"/>
          </p:cNvSpPr>
          <p:nvPr>
            <p:ph type="title"/>
          </p:nvPr>
        </p:nvSpPr>
        <p:spPr>
          <a:xfrm>
            <a:off x="311725" y="1199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Graphs</a:t>
            </a:r>
            <a:endParaRPr/>
          </a:p>
        </p:txBody>
      </p:sp>
      <p:sp>
        <p:nvSpPr>
          <p:cNvPr id="593" name="Google Shape;593;p41"/>
          <p:cNvSpPr txBox="1">
            <a:spLocks noGrp="1"/>
          </p:cNvSpPr>
          <p:nvPr>
            <p:ph type="body" idx="1"/>
          </p:nvPr>
        </p:nvSpPr>
        <p:spPr>
          <a:xfrm>
            <a:off x="4390975" y="43725"/>
            <a:ext cx="4590900" cy="5048700"/>
          </a:xfrm>
          <a:prstGeom prst="rect">
            <a:avLst/>
          </a:prstGeom>
          <a:noFill/>
          <a:ln>
            <a:noFill/>
          </a:ln>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Like lists and trees, a </a:t>
            </a:r>
            <a:r>
              <a:rPr lang="en" b="1" i="1" dirty="0">
                <a:solidFill>
                  <a:srgbClr val="FF0000"/>
                </a:solidFill>
              </a:rPr>
              <a:t>graph</a:t>
            </a:r>
            <a:r>
              <a:rPr lang="en" i="1" dirty="0">
                <a:solidFill>
                  <a:srgbClr val="FF0000"/>
                </a:solidFill>
              </a:rPr>
              <a:t> </a:t>
            </a:r>
            <a:r>
              <a:rPr lang="en" dirty="0"/>
              <a:t>is </a:t>
            </a:r>
            <a:r>
              <a:rPr lang="en" dirty="0">
                <a:highlight>
                  <a:srgbClr val="FFFF00"/>
                </a:highlight>
              </a:rPr>
              <a:t>conceptually a </a:t>
            </a:r>
            <a:r>
              <a:rPr lang="en" b="1" i="1" dirty="0">
                <a:solidFill>
                  <a:srgbClr val="FF0000"/>
                </a:solidFill>
                <a:highlight>
                  <a:srgbClr val="FFFF00"/>
                </a:highlight>
              </a:rPr>
              <a:t>linked-node structure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The </a:t>
            </a:r>
            <a:r>
              <a:rPr lang="en" b="1" i="1" dirty="0">
                <a:solidFill>
                  <a:srgbClr val="FF0000"/>
                </a:solidFill>
                <a:highlight>
                  <a:srgbClr val="FFFF00"/>
                </a:highlight>
              </a:rPr>
              <a:t>empty</a:t>
            </a:r>
            <a:r>
              <a:rPr lang="en" dirty="0">
                <a:solidFill>
                  <a:srgbClr val="FF0000"/>
                </a:solidFill>
                <a:highlight>
                  <a:srgbClr val="FFFF00"/>
                </a:highlight>
              </a:rPr>
              <a:t> </a:t>
            </a:r>
            <a:r>
              <a:rPr lang="en" dirty="0">
                <a:highlight>
                  <a:srgbClr val="FFFF00"/>
                </a:highlight>
              </a:rPr>
              <a:t>graph, containing no nodes.</a:t>
            </a:r>
            <a:endParaRPr dirty="0">
              <a:highlight>
                <a:srgbClr val="FFFF00"/>
              </a:highlight>
            </a:endParaRPr>
          </a:p>
          <a:p>
            <a:pPr marL="914400" lvl="1" indent="-298450" algn="l" rtl="0">
              <a:lnSpc>
                <a:spcPct val="100000"/>
              </a:lnSpc>
              <a:spcBef>
                <a:spcPts val="0"/>
              </a:spcBef>
              <a:spcAft>
                <a:spcPts val="0"/>
              </a:spcAft>
              <a:buSzPts val="1100"/>
              <a:buChar char="○"/>
            </a:pPr>
            <a:r>
              <a:rPr lang="en" dirty="0"/>
              <a:t>A graph containing</a:t>
            </a:r>
            <a:r>
              <a:rPr lang="en" dirty="0">
                <a:solidFill>
                  <a:srgbClr val="FF0000"/>
                </a:solidFill>
              </a:rPr>
              <a:t> </a:t>
            </a:r>
            <a:r>
              <a:rPr lang="en" b="1" i="1" dirty="0">
                <a:solidFill>
                  <a:srgbClr val="FF0000"/>
                </a:solidFill>
              </a:rPr>
              <a:t>at least one</a:t>
            </a:r>
            <a:r>
              <a:rPr lang="en" b="1" i="1" dirty="0"/>
              <a:t> </a:t>
            </a:r>
            <a:r>
              <a:rPr lang="en" dirty="0"/>
              <a:t>node with:</a:t>
            </a:r>
            <a:endParaRPr dirty="0"/>
          </a:p>
          <a:p>
            <a:pPr marL="1371600" lvl="2" indent="-298450" algn="l" rtl="0">
              <a:lnSpc>
                <a:spcPct val="100000"/>
              </a:lnSpc>
              <a:spcBef>
                <a:spcPts val="0"/>
              </a:spcBef>
              <a:spcAft>
                <a:spcPts val="0"/>
              </a:spcAft>
              <a:buSzPts val="1100"/>
              <a:buChar char="■"/>
            </a:pPr>
            <a:r>
              <a:rPr lang="en" dirty="0">
                <a:highlight>
                  <a:srgbClr val="FFFF00"/>
                </a:highlight>
              </a:rPr>
              <a:t>A </a:t>
            </a:r>
            <a:r>
              <a:rPr lang="en" b="1" i="1" dirty="0">
                <a:solidFill>
                  <a:srgbClr val="FF0000"/>
                </a:solidFill>
                <a:highlight>
                  <a:srgbClr val="FFFF00"/>
                </a:highlight>
              </a:rPr>
              <a:t>value</a:t>
            </a:r>
            <a:r>
              <a:rPr lang="en" dirty="0">
                <a:solidFill>
                  <a:srgbClr val="FF0000"/>
                </a:solidFill>
                <a:highlight>
                  <a:srgbClr val="FFFF00"/>
                </a:highlight>
              </a:rPr>
              <a:t> </a:t>
            </a:r>
            <a:r>
              <a:rPr lang="en" dirty="0">
                <a:highlight>
                  <a:srgbClr val="FFFF00"/>
                </a:highlight>
              </a:rPr>
              <a:t>of some type.</a:t>
            </a:r>
            <a:endParaRPr dirty="0">
              <a:highlight>
                <a:srgbClr val="FFFF00"/>
              </a:highlight>
            </a:endParaRPr>
          </a:p>
          <a:p>
            <a:pPr marL="1371600" lvl="2" indent="-298450" algn="l" rtl="0">
              <a:lnSpc>
                <a:spcPct val="100000"/>
              </a:lnSpc>
              <a:spcBef>
                <a:spcPts val="0"/>
              </a:spcBef>
              <a:spcAft>
                <a:spcPts val="0"/>
              </a:spcAft>
              <a:buSzPts val="1100"/>
              <a:buChar char="■"/>
            </a:pPr>
            <a:r>
              <a:rPr lang="en" dirty="0">
                <a:highlight>
                  <a:srgbClr val="FFFF00"/>
                </a:highlight>
              </a:rPr>
              <a:t>A </a:t>
            </a:r>
            <a:r>
              <a:rPr lang="en" b="1" i="1" dirty="0">
                <a:solidFill>
                  <a:srgbClr val="FF0000"/>
                </a:solidFill>
                <a:highlight>
                  <a:srgbClr val="FFFF00"/>
                </a:highlight>
              </a:rPr>
              <a:t>list</a:t>
            </a:r>
            <a:r>
              <a:rPr lang="en" dirty="0">
                <a:solidFill>
                  <a:srgbClr val="FF0000"/>
                </a:solidFill>
                <a:highlight>
                  <a:srgbClr val="FFFF00"/>
                </a:highlight>
              </a:rPr>
              <a:t> </a:t>
            </a:r>
            <a:r>
              <a:rPr lang="en" dirty="0">
                <a:highlight>
                  <a:srgbClr val="FFFF00"/>
                </a:highlight>
              </a:rPr>
              <a:t>of nodes to which it is </a:t>
            </a:r>
            <a:r>
              <a:rPr lang="en" b="1" i="1" dirty="0">
                <a:solidFill>
                  <a:srgbClr val="FF0000"/>
                </a:solidFill>
                <a:highlight>
                  <a:srgbClr val="FFFF00"/>
                </a:highlight>
              </a:rPr>
              <a:t>connected</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In this way, a graph may seem very similar to an </a:t>
            </a:r>
            <a:r>
              <a:rPr lang="en" b="1" i="1" dirty="0">
                <a:solidFill>
                  <a:srgbClr val="FF0000"/>
                </a:solidFill>
              </a:rPr>
              <a:t>N-ary Tree</a:t>
            </a:r>
            <a:r>
              <a:rPr lang="en" dirty="0"/>
              <a:t>, but the same rules do not apply.</a:t>
            </a:r>
            <a:endParaRPr dirty="0"/>
          </a:p>
          <a:p>
            <a:pPr marL="914400" lvl="1" indent="-298450" algn="l" rtl="0">
              <a:lnSpc>
                <a:spcPct val="100000"/>
              </a:lnSpc>
              <a:spcBef>
                <a:spcPts val="0"/>
              </a:spcBef>
              <a:spcAft>
                <a:spcPts val="0"/>
              </a:spcAft>
              <a:buSzPts val="1100"/>
              <a:buChar char="○"/>
            </a:pPr>
            <a:r>
              <a:rPr lang="en" dirty="0"/>
              <a:t>There is </a:t>
            </a:r>
            <a:r>
              <a:rPr lang="en" dirty="0">
                <a:highlight>
                  <a:srgbClr val="FFFF00"/>
                </a:highlight>
              </a:rPr>
              <a:t>no "</a:t>
            </a:r>
            <a:r>
              <a:rPr lang="en" b="1" i="1" dirty="0">
                <a:solidFill>
                  <a:srgbClr val="FF0000"/>
                </a:solidFill>
                <a:highlight>
                  <a:srgbClr val="FFFF00"/>
                </a:highlight>
              </a:rPr>
              <a:t>parent/child</a:t>
            </a:r>
            <a:r>
              <a:rPr lang="en" dirty="0">
                <a:highlight>
                  <a:srgbClr val="FFFF00"/>
                </a:highlight>
              </a:rPr>
              <a:t>" </a:t>
            </a:r>
            <a:r>
              <a:rPr lang="en" dirty="0"/>
              <a:t>relationship between nodes in a graph.</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Any</a:t>
            </a:r>
            <a:r>
              <a:rPr lang="en" dirty="0">
                <a:highlight>
                  <a:srgbClr val="FFFF00"/>
                </a:highlight>
              </a:rPr>
              <a:t> node in the graph may be connected to </a:t>
            </a:r>
            <a:r>
              <a:rPr lang="en" b="1" i="1" dirty="0">
                <a:solidFill>
                  <a:srgbClr val="FF0000"/>
                </a:solidFill>
                <a:highlight>
                  <a:srgbClr val="FFFF00"/>
                </a:highlight>
              </a:rPr>
              <a:t>any other</a:t>
            </a:r>
            <a:r>
              <a:rPr lang="en" dirty="0">
                <a:highlight>
                  <a:srgbClr val="FFFF00"/>
                </a:highlight>
              </a:rPr>
              <a:t> node.</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Graphs also use special terminology.</a:t>
            </a:r>
            <a:endParaRPr dirty="0"/>
          </a:p>
          <a:p>
            <a:pPr marL="914400" lvl="1" indent="-298450" algn="l" rtl="0">
              <a:lnSpc>
                <a:spcPct val="100000"/>
              </a:lnSpc>
              <a:spcBef>
                <a:spcPts val="0"/>
              </a:spcBef>
              <a:spcAft>
                <a:spcPts val="0"/>
              </a:spcAft>
              <a:buSzPts val="1100"/>
              <a:buChar char="○"/>
            </a:pPr>
            <a:r>
              <a:rPr lang="en" dirty="0"/>
              <a:t>Each node in the graph is referred to as a </a:t>
            </a:r>
            <a:r>
              <a:rPr lang="en" b="1" i="1" dirty="0">
                <a:solidFill>
                  <a:srgbClr val="FF0000"/>
                </a:solidFill>
                <a:highlight>
                  <a:srgbClr val="FFFF00"/>
                </a:highlight>
              </a:rPr>
              <a:t>vertex</a:t>
            </a:r>
            <a:r>
              <a:rPr lang="en" dirty="0"/>
              <a:t>.</a:t>
            </a:r>
            <a:endParaRPr dirty="0"/>
          </a:p>
          <a:p>
            <a:pPr marL="1371600" lvl="2" indent="-298450" algn="l" rtl="0">
              <a:lnSpc>
                <a:spcPct val="100000"/>
              </a:lnSpc>
              <a:spcBef>
                <a:spcPts val="0"/>
              </a:spcBef>
              <a:spcAft>
                <a:spcPts val="0"/>
              </a:spcAft>
              <a:buSzPts val="1100"/>
              <a:buChar char="■"/>
            </a:pPr>
            <a:r>
              <a:rPr lang="en" dirty="0"/>
              <a:t>The plural of vertex is </a:t>
            </a:r>
            <a:r>
              <a:rPr lang="en" b="1" i="1" dirty="0">
                <a:solidFill>
                  <a:srgbClr val="FF0000"/>
                </a:solidFill>
                <a:highlight>
                  <a:srgbClr val="FFFF00"/>
                </a:highlight>
              </a:rPr>
              <a:t>vertices</a:t>
            </a:r>
            <a:r>
              <a:rPr lang="en" dirty="0"/>
              <a:t>.</a:t>
            </a:r>
            <a:endParaRPr dirty="0"/>
          </a:p>
          <a:p>
            <a:pPr marL="914400" lvl="1" indent="-298450" algn="l" rtl="0">
              <a:lnSpc>
                <a:spcPct val="100000"/>
              </a:lnSpc>
              <a:spcBef>
                <a:spcPts val="0"/>
              </a:spcBef>
              <a:spcAft>
                <a:spcPts val="0"/>
              </a:spcAft>
              <a:buSzPts val="1100"/>
              <a:buChar char="○"/>
            </a:pPr>
            <a:r>
              <a:rPr lang="en" dirty="0"/>
              <a:t>The connections between vertices are called </a:t>
            </a:r>
            <a:r>
              <a:rPr lang="en" b="1" i="1" dirty="0">
                <a:solidFill>
                  <a:srgbClr val="FF0000"/>
                </a:solidFill>
                <a:highlight>
                  <a:srgbClr val="FFFF00"/>
                </a:highlight>
              </a:rPr>
              <a:t>edges</a:t>
            </a:r>
            <a:r>
              <a:rPr lang="en" dirty="0"/>
              <a:t>.</a:t>
            </a:r>
            <a:endParaRPr dirty="0"/>
          </a:p>
          <a:p>
            <a:pPr marL="914400" lvl="1" indent="-298450" algn="l" rtl="0">
              <a:lnSpc>
                <a:spcPct val="100000"/>
              </a:lnSpc>
              <a:spcBef>
                <a:spcPts val="0"/>
              </a:spcBef>
              <a:spcAft>
                <a:spcPts val="0"/>
              </a:spcAft>
              <a:buSzPts val="1100"/>
              <a:buChar char="○"/>
            </a:pPr>
            <a:r>
              <a:rPr lang="en" dirty="0">
                <a:highlight>
                  <a:srgbClr val="FFFF00"/>
                </a:highlight>
              </a:rPr>
              <a:t>Two vertices that are connected by an edge are called </a:t>
            </a:r>
            <a:r>
              <a:rPr lang="en" b="1" i="1" dirty="0">
                <a:solidFill>
                  <a:srgbClr val="FF0000"/>
                </a:solidFill>
                <a:highlight>
                  <a:srgbClr val="FFFF00"/>
                </a:highlight>
              </a:rPr>
              <a:t>neighbors</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Graphs are an ideal data structure for representing real world systems with many-to-many connections between entities, e.g.</a:t>
            </a:r>
            <a:endParaRPr dirty="0"/>
          </a:p>
          <a:p>
            <a:pPr marL="914400" lvl="1" indent="-298450" algn="l" rtl="0">
              <a:lnSpc>
                <a:spcPct val="100000"/>
              </a:lnSpc>
              <a:spcBef>
                <a:spcPts val="0"/>
              </a:spcBef>
              <a:spcAft>
                <a:spcPts val="0"/>
              </a:spcAft>
              <a:buSzPts val="1100"/>
              <a:buChar char="○"/>
            </a:pPr>
            <a:r>
              <a:rPr lang="en" dirty="0">
                <a:highlight>
                  <a:srgbClr val="FFFF00"/>
                </a:highlight>
              </a:rPr>
              <a:t>Computer networks</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Cities connected by highways</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Airports connected by airline routes</a:t>
            </a:r>
            <a:endParaRPr dirty="0">
              <a:highlight>
                <a:srgbClr val="FFFF00"/>
              </a:highlight>
            </a:endParaRPr>
          </a:p>
          <a:p>
            <a:pPr marL="914400" lvl="1" indent="-298450" algn="l" rtl="0">
              <a:lnSpc>
                <a:spcPct val="100000"/>
              </a:lnSpc>
              <a:spcBef>
                <a:spcPts val="0"/>
              </a:spcBef>
              <a:spcAft>
                <a:spcPts val="0"/>
              </a:spcAft>
              <a:buSzPts val="1100"/>
              <a:buChar char="○"/>
            </a:pPr>
            <a:r>
              <a:rPr lang="en" dirty="0"/>
              <a:t>etc.</a:t>
            </a:r>
            <a:endParaRPr dirty="0"/>
          </a:p>
        </p:txBody>
      </p:sp>
      <p:sp>
        <p:nvSpPr>
          <p:cNvPr id="594" name="Google Shape;594;p41"/>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8</a:t>
            </a:fld>
            <a:endParaRPr/>
          </a:p>
        </p:txBody>
      </p:sp>
      <p:sp>
        <p:nvSpPr>
          <p:cNvPr id="595" name="Google Shape;595;p41"/>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highlight>
                  <a:srgbClr val="FFFF00"/>
                </a:highlight>
              </a:rPr>
              <a:t>A </a:t>
            </a:r>
            <a:r>
              <a:rPr lang="en" b="1" i="1" dirty="0">
                <a:solidFill>
                  <a:srgbClr val="FF0000"/>
                </a:solidFill>
                <a:highlight>
                  <a:srgbClr val="FFFF00"/>
                </a:highlight>
              </a:rPr>
              <a:t>social network</a:t>
            </a:r>
            <a:r>
              <a:rPr lang="en" dirty="0">
                <a:highlight>
                  <a:srgbClr val="FFFF00"/>
                </a:highlight>
              </a:rPr>
              <a:t> is a great example of a graph. </a:t>
            </a:r>
            <a:r>
              <a:rPr lang="en" dirty="0"/>
              <a:t>Each </a:t>
            </a:r>
            <a:r>
              <a:rPr lang="en" b="1" i="1" dirty="0">
                <a:solidFill>
                  <a:srgbClr val="FF0000"/>
                </a:solidFill>
              </a:rPr>
              <a:t>vertex</a:t>
            </a:r>
            <a:r>
              <a:rPr lang="en" dirty="0">
                <a:solidFill>
                  <a:srgbClr val="FF0000"/>
                </a:solidFill>
              </a:rPr>
              <a:t> </a:t>
            </a:r>
            <a:r>
              <a:rPr lang="en" dirty="0"/>
              <a:t>represents a </a:t>
            </a:r>
            <a:r>
              <a:rPr lang="en" b="1" i="1" dirty="0">
                <a:solidFill>
                  <a:srgbClr val="FF0000"/>
                </a:solidFill>
              </a:rPr>
              <a:t>person </a:t>
            </a:r>
            <a:r>
              <a:rPr lang="en" dirty="0"/>
              <a:t>in the network. The </a:t>
            </a:r>
            <a:r>
              <a:rPr lang="en" b="1" i="1" dirty="0">
                <a:solidFill>
                  <a:srgbClr val="FF0000"/>
                </a:solidFill>
              </a:rPr>
              <a:t>edges</a:t>
            </a:r>
            <a:r>
              <a:rPr lang="en" dirty="0">
                <a:solidFill>
                  <a:srgbClr val="FF0000"/>
                </a:solidFill>
              </a:rPr>
              <a:t> </a:t>
            </a:r>
            <a:r>
              <a:rPr lang="en" dirty="0"/>
              <a:t>indicate whether or not the people </a:t>
            </a:r>
            <a:r>
              <a:rPr lang="en" b="1" i="1" dirty="0">
                <a:solidFill>
                  <a:srgbClr val="FF0000"/>
                </a:solidFill>
              </a:rPr>
              <a:t>follow </a:t>
            </a:r>
            <a:r>
              <a:rPr lang="en" dirty="0"/>
              <a:t>each other.</a:t>
            </a:r>
            <a:endParaRPr dirty="0"/>
          </a:p>
        </p:txBody>
      </p:sp>
      <p:grpSp>
        <p:nvGrpSpPr>
          <p:cNvPr id="596" name="Google Shape;596;p41"/>
          <p:cNvGrpSpPr/>
          <p:nvPr/>
        </p:nvGrpSpPr>
        <p:grpSpPr>
          <a:xfrm>
            <a:off x="589729" y="793934"/>
            <a:ext cx="3107624" cy="3053808"/>
            <a:chOff x="589729" y="793934"/>
            <a:chExt cx="3107624" cy="3053808"/>
          </a:xfrm>
        </p:grpSpPr>
        <p:sp>
          <p:nvSpPr>
            <p:cNvPr id="597" name="Google Shape;597;p41"/>
            <p:cNvSpPr/>
            <p:nvPr/>
          </p:nvSpPr>
          <p:spPr>
            <a:xfrm>
              <a:off x="3150176" y="3075482"/>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41"/>
            <p:cNvSpPr/>
            <p:nvPr/>
          </p:nvSpPr>
          <p:spPr>
            <a:xfrm>
              <a:off x="3379953" y="2575247"/>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41"/>
            <p:cNvSpPr/>
            <p:nvPr/>
          </p:nvSpPr>
          <p:spPr>
            <a:xfrm>
              <a:off x="3329513" y="1951754"/>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41"/>
            <p:cNvSpPr/>
            <p:nvPr/>
          </p:nvSpPr>
          <p:spPr>
            <a:xfrm>
              <a:off x="2985846" y="1553777"/>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01" name="Google Shape;601;p41"/>
            <p:cNvCxnSpPr>
              <a:stCxn id="602" idx="1"/>
              <a:endCxn id="603" idx="5"/>
            </p:cNvCxnSpPr>
            <p:nvPr/>
          </p:nvCxnSpPr>
          <p:spPr>
            <a:xfrm rot="10800000">
              <a:off x="1093672" y="1419225"/>
              <a:ext cx="296700" cy="274800"/>
            </a:xfrm>
            <a:prstGeom prst="straightConnector1">
              <a:avLst/>
            </a:prstGeom>
            <a:noFill/>
            <a:ln w="19050" cap="flat" cmpd="sng">
              <a:solidFill>
                <a:srgbClr val="FF9900"/>
              </a:solidFill>
              <a:prstDash val="solid"/>
              <a:round/>
              <a:headEnd type="none" w="sm" len="sm"/>
              <a:tailEnd type="none" w="sm" len="sm"/>
            </a:ln>
          </p:spPr>
        </p:cxnSp>
        <p:cxnSp>
          <p:nvCxnSpPr>
            <p:cNvPr id="604" name="Google Shape;604;p41"/>
            <p:cNvCxnSpPr>
              <a:endCxn id="605" idx="4"/>
            </p:cNvCxnSpPr>
            <p:nvPr/>
          </p:nvCxnSpPr>
          <p:spPr>
            <a:xfrm rot="10800000">
              <a:off x="1502590" y="1148165"/>
              <a:ext cx="0" cy="499500"/>
            </a:xfrm>
            <a:prstGeom prst="straightConnector1">
              <a:avLst/>
            </a:prstGeom>
            <a:noFill/>
            <a:ln w="19050" cap="flat" cmpd="sng">
              <a:solidFill>
                <a:srgbClr val="FF9900"/>
              </a:solidFill>
              <a:prstDash val="solid"/>
              <a:round/>
              <a:headEnd type="none" w="sm" len="sm"/>
              <a:tailEnd type="none" w="sm" len="sm"/>
            </a:ln>
          </p:spPr>
        </p:cxnSp>
        <p:cxnSp>
          <p:nvCxnSpPr>
            <p:cNvPr id="606" name="Google Shape;606;p41"/>
            <p:cNvCxnSpPr>
              <a:stCxn id="602" idx="2"/>
              <a:endCxn id="607" idx="6"/>
            </p:cNvCxnSpPr>
            <p:nvPr/>
          </p:nvCxnSpPr>
          <p:spPr>
            <a:xfrm flipH="1">
              <a:off x="907090" y="1806243"/>
              <a:ext cx="436800" cy="36600"/>
            </a:xfrm>
            <a:prstGeom prst="straightConnector1">
              <a:avLst/>
            </a:prstGeom>
            <a:noFill/>
            <a:ln w="19050" cap="flat" cmpd="sng">
              <a:solidFill>
                <a:srgbClr val="FF9900"/>
              </a:solidFill>
              <a:prstDash val="solid"/>
              <a:round/>
              <a:headEnd type="none" w="sm" len="sm"/>
              <a:tailEnd type="none" w="sm" len="sm"/>
            </a:ln>
          </p:spPr>
        </p:cxnSp>
        <p:cxnSp>
          <p:nvCxnSpPr>
            <p:cNvPr id="608" name="Google Shape;608;p41"/>
            <p:cNvCxnSpPr>
              <a:stCxn id="602" idx="3"/>
              <a:endCxn id="609" idx="7"/>
            </p:cNvCxnSpPr>
            <p:nvPr/>
          </p:nvCxnSpPr>
          <p:spPr>
            <a:xfrm flipH="1">
              <a:off x="1135972" y="1918461"/>
              <a:ext cx="254400" cy="348300"/>
            </a:xfrm>
            <a:prstGeom prst="straightConnector1">
              <a:avLst/>
            </a:prstGeom>
            <a:noFill/>
            <a:ln w="19050" cap="flat" cmpd="sng">
              <a:solidFill>
                <a:srgbClr val="FF9900"/>
              </a:solidFill>
              <a:prstDash val="solid"/>
              <a:round/>
              <a:headEnd type="none" w="sm" len="sm"/>
              <a:tailEnd type="none" w="sm" len="sm"/>
            </a:ln>
          </p:spPr>
        </p:cxnSp>
        <p:cxnSp>
          <p:nvCxnSpPr>
            <p:cNvPr id="610" name="Google Shape;610;p41"/>
            <p:cNvCxnSpPr>
              <a:stCxn id="611" idx="2"/>
              <a:endCxn id="612" idx="6"/>
            </p:cNvCxnSpPr>
            <p:nvPr/>
          </p:nvCxnSpPr>
          <p:spPr>
            <a:xfrm flipH="1">
              <a:off x="991243" y="2784695"/>
              <a:ext cx="430200" cy="79800"/>
            </a:xfrm>
            <a:prstGeom prst="straightConnector1">
              <a:avLst/>
            </a:prstGeom>
            <a:noFill/>
            <a:ln w="19050" cap="flat" cmpd="sng">
              <a:solidFill>
                <a:srgbClr val="FF9900"/>
              </a:solidFill>
              <a:prstDash val="solid"/>
              <a:round/>
              <a:headEnd type="none" w="sm" len="sm"/>
              <a:tailEnd type="none" w="sm" len="sm"/>
            </a:ln>
          </p:spPr>
        </p:cxnSp>
        <p:cxnSp>
          <p:nvCxnSpPr>
            <p:cNvPr id="613" name="Google Shape;613;p41"/>
            <p:cNvCxnSpPr>
              <a:stCxn id="611" idx="4"/>
              <a:endCxn id="614" idx="0"/>
            </p:cNvCxnSpPr>
            <p:nvPr/>
          </p:nvCxnSpPr>
          <p:spPr>
            <a:xfrm flipH="1">
              <a:off x="1407643" y="2943395"/>
              <a:ext cx="172500" cy="390300"/>
            </a:xfrm>
            <a:prstGeom prst="straightConnector1">
              <a:avLst/>
            </a:prstGeom>
            <a:noFill/>
            <a:ln w="19050" cap="flat" cmpd="sng">
              <a:solidFill>
                <a:srgbClr val="FF9900"/>
              </a:solidFill>
              <a:prstDash val="solid"/>
              <a:round/>
              <a:headEnd type="none" w="sm" len="sm"/>
              <a:tailEnd type="none" w="sm" len="sm"/>
            </a:ln>
          </p:spPr>
        </p:cxnSp>
        <p:cxnSp>
          <p:nvCxnSpPr>
            <p:cNvPr id="615" name="Google Shape;615;p41"/>
            <p:cNvCxnSpPr>
              <a:stCxn id="616" idx="4"/>
              <a:endCxn id="617" idx="0"/>
            </p:cNvCxnSpPr>
            <p:nvPr/>
          </p:nvCxnSpPr>
          <p:spPr>
            <a:xfrm flipH="1">
              <a:off x="2276036" y="3150258"/>
              <a:ext cx="78300" cy="380100"/>
            </a:xfrm>
            <a:prstGeom prst="straightConnector1">
              <a:avLst/>
            </a:prstGeom>
            <a:noFill/>
            <a:ln w="19050" cap="flat" cmpd="sng">
              <a:solidFill>
                <a:srgbClr val="FF9900"/>
              </a:solidFill>
              <a:prstDash val="solid"/>
              <a:round/>
              <a:headEnd type="none" w="sm" len="sm"/>
              <a:tailEnd type="none" w="sm" len="sm"/>
            </a:ln>
          </p:spPr>
        </p:cxnSp>
        <p:cxnSp>
          <p:nvCxnSpPr>
            <p:cNvPr id="618" name="Google Shape;618;p41"/>
            <p:cNvCxnSpPr>
              <a:stCxn id="616" idx="5"/>
              <a:endCxn id="619" idx="1"/>
            </p:cNvCxnSpPr>
            <p:nvPr/>
          </p:nvCxnSpPr>
          <p:spPr>
            <a:xfrm>
              <a:off x="2466554" y="3103776"/>
              <a:ext cx="298200" cy="335700"/>
            </a:xfrm>
            <a:prstGeom prst="straightConnector1">
              <a:avLst/>
            </a:prstGeom>
            <a:noFill/>
            <a:ln w="19050" cap="flat" cmpd="sng">
              <a:solidFill>
                <a:srgbClr val="FF9900"/>
              </a:solidFill>
              <a:prstDash val="solid"/>
              <a:round/>
              <a:headEnd type="none" w="sm" len="sm"/>
              <a:tailEnd type="none" w="sm" len="sm"/>
            </a:ln>
          </p:spPr>
        </p:cxnSp>
        <p:cxnSp>
          <p:nvCxnSpPr>
            <p:cNvPr id="620" name="Google Shape;620;p41"/>
            <p:cNvCxnSpPr>
              <a:stCxn id="621" idx="4"/>
              <a:endCxn id="597" idx="1"/>
            </p:cNvCxnSpPr>
            <p:nvPr/>
          </p:nvCxnSpPr>
          <p:spPr>
            <a:xfrm>
              <a:off x="2784121" y="2667131"/>
              <a:ext cx="412500" cy="454800"/>
            </a:xfrm>
            <a:prstGeom prst="straightConnector1">
              <a:avLst/>
            </a:prstGeom>
            <a:noFill/>
            <a:ln w="19050" cap="flat" cmpd="sng">
              <a:solidFill>
                <a:srgbClr val="FF9900"/>
              </a:solidFill>
              <a:prstDash val="solid"/>
              <a:round/>
              <a:headEnd type="none" w="sm" len="sm"/>
              <a:tailEnd type="none" w="sm" len="sm"/>
            </a:ln>
          </p:spPr>
        </p:cxnSp>
        <p:cxnSp>
          <p:nvCxnSpPr>
            <p:cNvPr id="622" name="Google Shape;622;p41"/>
            <p:cNvCxnSpPr>
              <a:stCxn id="621" idx="6"/>
              <a:endCxn id="598" idx="2"/>
            </p:cNvCxnSpPr>
            <p:nvPr/>
          </p:nvCxnSpPr>
          <p:spPr>
            <a:xfrm>
              <a:off x="2942821" y="2508431"/>
              <a:ext cx="437100" cy="225600"/>
            </a:xfrm>
            <a:prstGeom prst="straightConnector1">
              <a:avLst/>
            </a:prstGeom>
            <a:noFill/>
            <a:ln w="19050" cap="flat" cmpd="sng">
              <a:solidFill>
                <a:srgbClr val="FF9900"/>
              </a:solidFill>
              <a:prstDash val="solid"/>
              <a:round/>
              <a:headEnd type="none" w="sm" len="sm"/>
              <a:tailEnd type="none" w="sm" len="sm"/>
            </a:ln>
          </p:spPr>
        </p:cxnSp>
        <p:cxnSp>
          <p:nvCxnSpPr>
            <p:cNvPr id="623" name="Google Shape;623;p41"/>
            <p:cNvCxnSpPr>
              <a:stCxn id="621" idx="7"/>
              <a:endCxn id="599" idx="2"/>
            </p:cNvCxnSpPr>
            <p:nvPr/>
          </p:nvCxnSpPr>
          <p:spPr>
            <a:xfrm rot="10800000" flipH="1">
              <a:off x="2896339" y="2110313"/>
              <a:ext cx="433200" cy="285900"/>
            </a:xfrm>
            <a:prstGeom prst="straightConnector1">
              <a:avLst/>
            </a:prstGeom>
            <a:noFill/>
            <a:ln w="19050" cap="flat" cmpd="sng">
              <a:solidFill>
                <a:srgbClr val="FF9900"/>
              </a:solidFill>
              <a:prstDash val="solid"/>
              <a:round/>
              <a:headEnd type="none" w="sm" len="sm"/>
              <a:tailEnd type="none" w="sm" len="sm"/>
            </a:ln>
          </p:spPr>
        </p:cxnSp>
        <p:cxnSp>
          <p:nvCxnSpPr>
            <p:cNvPr id="624" name="Google Shape;624;p41"/>
            <p:cNvCxnSpPr>
              <a:stCxn id="621" idx="0"/>
              <a:endCxn id="600" idx="4"/>
            </p:cNvCxnSpPr>
            <p:nvPr/>
          </p:nvCxnSpPr>
          <p:spPr>
            <a:xfrm rot="10800000" flipH="1">
              <a:off x="2784121" y="1871231"/>
              <a:ext cx="360300" cy="478500"/>
            </a:xfrm>
            <a:prstGeom prst="straightConnector1">
              <a:avLst/>
            </a:prstGeom>
            <a:noFill/>
            <a:ln w="19050" cap="flat" cmpd="sng">
              <a:solidFill>
                <a:srgbClr val="FF9900"/>
              </a:solidFill>
              <a:prstDash val="solid"/>
              <a:round/>
              <a:headEnd type="none" w="sm" len="sm"/>
              <a:tailEnd type="none" w="sm" len="sm"/>
            </a:ln>
          </p:spPr>
        </p:cxnSp>
        <p:cxnSp>
          <p:nvCxnSpPr>
            <p:cNvPr id="625" name="Google Shape;625;p41"/>
            <p:cNvCxnSpPr>
              <a:stCxn id="626" idx="0"/>
              <a:endCxn id="627" idx="4"/>
            </p:cNvCxnSpPr>
            <p:nvPr/>
          </p:nvCxnSpPr>
          <p:spPr>
            <a:xfrm rot="10800000" flipH="1">
              <a:off x="2646843" y="1275210"/>
              <a:ext cx="180300" cy="345600"/>
            </a:xfrm>
            <a:prstGeom prst="straightConnector1">
              <a:avLst/>
            </a:prstGeom>
            <a:noFill/>
            <a:ln w="19050" cap="flat" cmpd="sng">
              <a:solidFill>
                <a:srgbClr val="FF9900"/>
              </a:solidFill>
              <a:prstDash val="solid"/>
              <a:round/>
              <a:headEnd type="none" w="sm" len="sm"/>
              <a:tailEnd type="none" w="sm" len="sm"/>
            </a:ln>
          </p:spPr>
        </p:cxnSp>
        <p:cxnSp>
          <p:nvCxnSpPr>
            <p:cNvPr id="628" name="Google Shape;628;p41"/>
            <p:cNvCxnSpPr>
              <a:stCxn id="602" idx="7"/>
              <a:endCxn id="629" idx="3"/>
            </p:cNvCxnSpPr>
            <p:nvPr/>
          </p:nvCxnSpPr>
          <p:spPr>
            <a:xfrm rot="10800000" flipH="1">
              <a:off x="1614808" y="1064925"/>
              <a:ext cx="462900" cy="629100"/>
            </a:xfrm>
            <a:prstGeom prst="straightConnector1">
              <a:avLst/>
            </a:prstGeom>
            <a:noFill/>
            <a:ln w="19050" cap="flat" cmpd="sng">
              <a:solidFill>
                <a:srgbClr val="FF9900"/>
              </a:solidFill>
              <a:prstDash val="solid"/>
              <a:round/>
              <a:headEnd type="none" w="sm" len="sm"/>
              <a:tailEnd type="none" w="sm" len="sm"/>
            </a:ln>
          </p:spPr>
        </p:cxnSp>
        <p:cxnSp>
          <p:nvCxnSpPr>
            <p:cNvPr id="630" name="Google Shape;630;p41"/>
            <p:cNvCxnSpPr>
              <a:stCxn id="612" idx="7"/>
              <a:endCxn id="609" idx="4"/>
            </p:cNvCxnSpPr>
            <p:nvPr/>
          </p:nvCxnSpPr>
          <p:spPr>
            <a:xfrm rot="10800000" flipH="1">
              <a:off x="944644" y="2537577"/>
              <a:ext cx="79200" cy="214800"/>
            </a:xfrm>
            <a:prstGeom prst="straightConnector1">
              <a:avLst/>
            </a:prstGeom>
            <a:noFill/>
            <a:ln w="19050" cap="flat" cmpd="sng">
              <a:solidFill>
                <a:srgbClr val="EA9999"/>
              </a:solidFill>
              <a:prstDash val="solid"/>
              <a:round/>
              <a:headEnd type="none" w="sm" len="sm"/>
              <a:tailEnd type="none" w="sm" len="sm"/>
            </a:ln>
          </p:spPr>
        </p:cxnSp>
        <p:cxnSp>
          <p:nvCxnSpPr>
            <p:cNvPr id="631" name="Google Shape;631;p41"/>
            <p:cNvCxnSpPr>
              <a:stCxn id="611" idx="6"/>
              <a:endCxn id="616" idx="2"/>
            </p:cNvCxnSpPr>
            <p:nvPr/>
          </p:nvCxnSpPr>
          <p:spPr>
            <a:xfrm>
              <a:off x="1738843" y="2784695"/>
              <a:ext cx="456900" cy="207000"/>
            </a:xfrm>
            <a:prstGeom prst="straightConnector1">
              <a:avLst/>
            </a:prstGeom>
            <a:noFill/>
            <a:ln w="19050" cap="flat" cmpd="sng">
              <a:solidFill>
                <a:srgbClr val="FF9900"/>
              </a:solidFill>
              <a:prstDash val="solid"/>
              <a:round/>
              <a:headEnd type="none" w="sm" len="sm"/>
              <a:tailEnd type="none" w="sm" len="sm"/>
            </a:ln>
          </p:spPr>
        </p:cxnSp>
        <p:grpSp>
          <p:nvGrpSpPr>
            <p:cNvPr id="632" name="Google Shape;632;p41"/>
            <p:cNvGrpSpPr/>
            <p:nvPr/>
          </p:nvGrpSpPr>
          <p:grpSpPr>
            <a:xfrm>
              <a:off x="748429" y="952655"/>
              <a:ext cx="2678006" cy="2736346"/>
              <a:chOff x="4912314" y="756712"/>
              <a:chExt cx="3251981" cy="3322825"/>
            </a:xfrm>
          </p:grpSpPr>
          <p:cxnSp>
            <p:nvCxnSpPr>
              <p:cNvPr id="633" name="Google Shape;633;p41"/>
              <p:cNvCxnSpPr>
                <a:stCxn id="603" idx="4"/>
                <a:endCxn id="607" idx="7"/>
              </p:cNvCxnSpPr>
              <p:nvPr/>
            </p:nvCxnSpPr>
            <p:spPr>
              <a:xfrm flipH="1">
                <a:off x="5048439" y="1379626"/>
                <a:ext cx="146700" cy="321900"/>
              </a:xfrm>
              <a:prstGeom prst="straightConnector1">
                <a:avLst/>
              </a:prstGeom>
              <a:noFill/>
              <a:ln w="19050" cap="flat" cmpd="sng">
                <a:solidFill>
                  <a:srgbClr val="FFFF00"/>
                </a:solidFill>
                <a:prstDash val="solid"/>
                <a:round/>
                <a:headEnd type="none" w="sm" len="sm"/>
                <a:tailEnd type="none" w="sm" len="sm"/>
              </a:ln>
            </p:spPr>
          </p:cxnSp>
          <p:cxnSp>
            <p:nvCxnSpPr>
              <p:cNvPr id="634" name="Google Shape;634;p41"/>
              <p:cNvCxnSpPr>
                <a:stCxn id="605" idx="6"/>
                <a:endCxn id="629" idx="2"/>
              </p:cNvCxnSpPr>
              <p:nvPr/>
            </p:nvCxnSpPr>
            <p:spPr>
              <a:xfrm rot="10800000" flipH="1">
                <a:off x="6020828" y="756712"/>
                <a:ext cx="449400" cy="44700"/>
              </a:xfrm>
              <a:prstGeom prst="straightConnector1">
                <a:avLst/>
              </a:prstGeom>
              <a:noFill/>
              <a:ln w="19050" cap="flat" cmpd="sng">
                <a:solidFill>
                  <a:srgbClr val="FFFF00"/>
                </a:solidFill>
                <a:prstDash val="solid"/>
                <a:round/>
                <a:headEnd type="none" w="sm" len="sm"/>
                <a:tailEnd type="none" w="sm" len="sm"/>
              </a:ln>
            </p:spPr>
          </p:cxnSp>
          <p:cxnSp>
            <p:nvCxnSpPr>
              <p:cNvPr id="635" name="Google Shape;635;p41"/>
              <p:cNvCxnSpPr>
                <a:stCxn id="605" idx="5"/>
                <a:endCxn id="626" idx="1"/>
              </p:cNvCxnSpPr>
              <p:nvPr/>
            </p:nvCxnSpPr>
            <p:spPr>
              <a:xfrm>
                <a:off x="5964383" y="937682"/>
                <a:ext cx="1116900" cy="686700"/>
              </a:xfrm>
              <a:prstGeom prst="straightConnector1">
                <a:avLst/>
              </a:prstGeom>
              <a:noFill/>
              <a:ln w="19050" cap="flat" cmpd="sng">
                <a:solidFill>
                  <a:srgbClr val="FFFF00"/>
                </a:solidFill>
                <a:prstDash val="solid"/>
                <a:round/>
                <a:headEnd type="none" w="sm" len="sm"/>
                <a:tailEnd type="none" w="sm" len="sm"/>
              </a:ln>
            </p:spPr>
          </p:cxnSp>
          <p:cxnSp>
            <p:nvCxnSpPr>
              <p:cNvPr id="636" name="Google Shape;636;p41"/>
              <p:cNvCxnSpPr>
                <a:stCxn id="605" idx="3"/>
                <a:endCxn id="609" idx="0"/>
              </p:cNvCxnSpPr>
              <p:nvPr/>
            </p:nvCxnSpPr>
            <p:spPr>
              <a:xfrm flipH="1">
                <a:off x="5246644" y="937682"/>
                <a:ext cx="445200" cy="1358100"/>
              </a:xfrm>
              <a:prstGeom prst="straightConnector1">
                <a:avLst/>
              </a:prstGeom>
              <a:noFill/>
              <a:ln w="19050" cap="flat" cmpd="sng">
                <a:solidFill>
                  <a:srgbClr val="FFFF00"/>
                </a:solidFill>
                <a:prstDash val="solid"/>
                <a:round/>
                <a:headEnd type="none" w="sm" len="sm"/>
                <a:tailEnd type="none" w="sm" len="sm"/>
              </a:ln>
            </p:spPr>
          </p:cxnSp>
          <p:cxnSp>
            <p:nvCxnSpPr>
              <p:cNvPr id="637" name="Google Shape;637;p41"/>
              <p:cNvCxnSpPr>
                <a:stCxn id="612" idx="0"/>
                <a:endCxn id="607" idx="4"/>
              </p:cNvCxnSpPr>
              <p:nvPr/>
            </p:nvCxnSpPr>
            <p:spPr>
              <a:xfrm rot="10800000">
                <a:off x="4912314" y="2030424"/>
                <a:ext cx="102000" cy="855300"/>
              </a:xfrm>
              <a:prstGeom prst="straightConnector1">
                <a:avLst/>
              </a:prstGeom>
              <a:noFill/>
              <a:ln w="19050" cap="flat" cmpd="sng">
                <a:solidFill>
                  <a:srgbClr val="FFFF00"/>
                </a:solidFill>
                <a:prstDash val="solid"/>
                <a:round/>
                <a:headEnd type="none" w="sm" len="sm"/>
                <a:tailEnd type="none" w="sm" len="sm"/>
              </a:ln>
            </p:spPr>
          </p:cxnSp>
          <p:cxnSp>
            <p:nvCxnSpPr>
              <p:cNvPr id="638" name="Google Shape;638;p41"/>
              <p:cNvCxnSpPr>
                <a:stCxn id="617" idx="1"/>
                <a:endCxn id="611" idx="5"/>
              </p:cNvCxnSpPr>
              <p:nvPr/>
            </p:nvCxnSpPr>
            <p:spPr>
              <a:xfrm rot="10800000">
                <a:off x="6058519" y="3117718"/>
                <a:ext cx="572400" cy="825600"/>
              </a:xfrm>
              <a:prstGeom prst="straightConnector1">
                <a:avLst/>
              </a:prstGeom>
              <a:noFill/>
              <a:ln w="19050" cap="flat" cmpd="sng">
                <a:solidFill>
                  <a:srgbClr val="FFFF00"/>
                </a:solidFill>
                <a:prstDash val="solid"/>
                <a:round/>
                <a:headEnd type="none" w="sm" len="sm"/>
                <a:tailEnd type="none" w="sm" len="sm"/>
              </a:ln>
            </p:spPr>
          </p:cxnSp>
          <p:cxnSp>
            <p:nvCxnSpPr>
              <p:cNvPr id="639" name="Google Shape;639;p41"/>
              <p:cNvCxnSpPr>
                <a:stCxn id="617" idx="7"/>
                <a:endCxn id="621" idx="3"/>
              </p:cNvCxnSpPr>
              <p:nvPr/>
            </p:nvCxnSpPr>
            <p:spPr>
              <a:xfrm rot="10800000" flipH="1">
                <a:off x="6903458" y="2782318"/>
                <a:ext cx="344700" cy="1161000"/>
              </a:xfrm>
              <a:prstGeom prst="straightConnector1">
                <a:avLst/>
              </a:prstGeom>
              <a:noFill/>
              <a:ln w="19050" cap="flat" cmpd="sng">
                <a:solidFill>
                  <a:srgbClr val="FFFF00"/>
                </a:solidFill>
                <a:prstDash val="solid"/>
                <a:round/>
                <a:headEnd type="none" w="sm" len="sm"/>
                <a:tailEnd type="none" w="sm" len="sm"/>
              </a:ln>
            </p:spPr>
          </p:cxnSp>
          <p:cxnSp>
            <p:nvCxnSpPr>
              <p:cNvPr id="640" name="Google Shape;640;p41"/>
              <p:cNvCxnSpPr>
                <a:stCxn id="616" idx="6"/>
                <a:endCxn id="597" idx="2"/>
              </p:cNvCxnSpPr>
              <p:nvPr/>
            </p:nvCxnSpPr>
            <p:spPr>
              <a:xfrm>
                <a:off x="7055128" y="3232613"/>
                <a:ext cx="773700" cy="294600"/>
              </a:xfrm>
              <a:prstGeom prst="straightConnector1">
                <a:avLst/>
              </a:prstGeom>
              <a:noFill/>
              <a:ln w="19050" cap="flat" cmpd="sng">
                <a:solidFill>
                  <a:srgbClr val="FFFF00"/>
                </a:solidFill>
                <a:prstDash val="solid"/>
                <a:round/>
                <a:headEnd type="none" w="sm" len="sm"/>
                <a:tailEnd type="none" w="sm" len="sm"/>
              </a:ln>
            </p:spPr>
          </p:cxnSp>
          <p:cxnSp>
            <p:nvCxnSpPr>
              <p:cNvPr id="641" name="Google Shape;641;p41"/>
              <p:cNvCxnSpPr>
                <a:stCxn id="614" idx="6"/>
                <a:endCxn id="617" idx="2"/>
              </p:cNvCxnSpPr>
              <p:nvPr/>
            </p:nvCxnSpPr>
            <p:spPr>
              <a:xfrm>
                <a:off x="5905428" y="3840738"/>
                <a:ext cx="669000" cy="238800"/>
              </a:xfrm>
              <a:prstGeom prst="straightConnector1">
                <a:avLst/>
              </a:prstGeom>
              <a:noFill/>
              <a:ln w="19050" cap="flat" cmpd="sng">
                <a:solidFill>
                  <a:srgbClr val="FFFF00"/>
                </a:solidFill>
                <a:prstDash val="solid"/>
                <a:round/>
                <a:headEnd type="none" w="sm" len="sm"/>
                <a:tailEnd type="none" w="sm" len="sm"/>
              </a:ln>
            </p:spPr>
          </p:cxnSp>
          <p:cxnSp>
            <p:nvCxnSpPr>
              <p:cNvPr id="642" name="Google Shape;642;p41"/>
              <p:cNvCxnSpPr>
                <a:stCxn id="627" idx="5"/>
                <a:endCxn id="600" idx="0"/>
              </p:cNvCxnSpPr>
              <p:nvPr/>
            </p:nvCxnSpPr>
            <p:spPr>
              <a:xfrm>
                <a:off x="7572759" y="1091857"/>
                <a:ext cx="249300" cy="394800"/>
              </a:xfrm>
              <a:prstGeom prst="straightConnector1">
                <a:avLst/>
              </a:prstGeom>
              <a:noFill/>
              <a:ln w="19050" cap="flat" cmpd="sng">
                <a:solidFill>
                  <a:srgbClr val="FFFF00"/>
                </a:solidFill>
                <a:prstDash val="solid"/>
                <a:round/>
                <a:headEnd type="none" w="sm" len="sm"/>
                <a:tailEnd type="none" w="sm" len="sm"/>
              </a:ln>
            </p:spPr>
          </p:cxnSp>
          <p:cxnSp>
            <p:nvCxnSpPr>
              <p:cNvPr id="643" name="Google Shape;643;p41"/>
              <p:cNvCxnSpPr>
                <a:stCxn id="627" idx="2"/>
                <a:endCxn id="609" idx="6"/>
              </p:cNvCxnSpPr>
              <p:nvPr/>
            </p:nvCxnSpPr>
            <p:spPr>
              <a:xfrm flipH="1">
                <a:off x="5439575" y="955587"/>
                <a:ext cx="1804200" cy="1533000"/>
              </a:xfrm>
              <a:prstGeom prst="straightConnector1">
                <a:avLst/>
              </a:prstGeom>
              <a:noFill/>
              <a:ln w="19050" cap="flat" cmpd="sng">
                <a:solidFill>
                  <a:srgbClr val="FFFF00"/>
                </a:solidFill>
                <a:prstDash val="solid"/>
                <a:round/>
                <a:headEnd type="none" w="sm" len="sm"/>
                <a:tailEnd type="none" w="sm" len="sm"/>
              </a:ln>
            </p:spPr>
          </p:cxnSp>
          <p:cxnSp>
            <p:nvCxnSpPr>
              <p:cNvPr id="644" name="Google Shape;644;p41"/>
              <p:cNvCxnSpPr>
                <a:stCxn id="600" idx="4"/>
                <a:endCxn id="597" idx="0"/>
              </p:cNvCxnSpPr>
              <p:nvPr/>
            </p:nvCxnSpPr>
            <p:spPr>
              <a:xfrm>
                <a:off x="7821989" y="1872101"/>
                <a:ext cx="199500" cy="1462500"/>
              </a:xfrm>
              <a:prstGeom prst="straightConnector1">
                <a:avLst/>
              </a:prstGeom>
              <a:noFill/>
              <a:ln w="19050" cap="flat" cmpd="sng">
                <a:solidFill>
                  <a:srgbClr val="FFFF00"/>
                </a:solidFill>
                <a:prstDash val="solid"/>
                <a:round/>
                <a:headEnd type="none" w="sm" len="sm"/>
                <a:tailEnd type="none" w="sm" len="sm"/>
              </a:ln>
            </p:spPr>
          </p:cxnSp>
          <p:cxnSp>
            <p:nvCxnSpPr>
              <p:cNvPr id="645" name="Google Shape;645;p41"/>
              <p:cNvCxnSpPr>
                <a:stCxn id="598" idx="1"/>
                <a:endCxn id="626" idx="5"/>
              </p:cNvCxnSpPr>
              <p:nvPr/>
            </p:nvCxnSpPr>
            <p:spPr>
              <a:xfrm rot="10800000">
                <a:off x="7353995" y="1897019"/>
                <a:ext cx="810300" cy="886500"/>
              </a:xfrm>
              <a:prstGeom prst="straightConnector1">
                <a:avLst/>
              </a:prstGeom>
              <a:noFill/>
              <a:ln w="19050" cap="flat" cmpd="sng">
                <a:solidFill>
                  <a:srgbClr val="FFFF00"/>
                </a:solidFill>
                <a:prstDash val="solid"/>
                <a:round/>
                <a:headEnd type="none" w="sm" len="sm"/>
                <a:tailEnd type="none" w="sm" len="sm"/>
              </a:ln>
            </p:spPr>
          </p:cxnSp>
          <p:cxnSp>
            <p:nvCxnSpPr>
              <p:cNvPr id="646" name="Google Shape;646;p41"/>
              <p:cNvCxnSpPr>
                <a:stCxn id="611" idx="0"/>
                <a:endCxn id="602" idx="4"/>
              </p:cNvCxnSpPr>
              <p:nvPr/>
            </p:nvCxnSpPr>
            <p:spPr>
              <a:xfrm rot="10800000">
                <a:off x="5828089" y="1985899"/>
                <a:ext cx="94200" cy="802800"/>
              </a:xfrm>
              <a:prstGeom prst="straightConnector1">
                <a:avLst/>
              </a:prstGeom>
              <a:noFill/>
              <a:ln w="19050" cap="flat" cmpd="sng">
                <a:solidFill>
                  <a:srgbClr val="FFFF00"/>
                </a:solidFill>
                <a:prstDash val="solid"/>
                <a:round/>
                <a:headEnd type="none" w="sm" len="sm"/>
                <a:tailEnd type="none" w="sm" len="sm"/>
              </a:ln>
            </p:spPr>
          </p:cxnSp>
        </p:grpSp>
        <p:sp>
          <p:nvSpPr>
            <p:cNvPr id="612" name="Google Shape;612;p41"/>
            <p:cNvSpPr/>
            <p:nvPr/>
          </p:nvSpPr>
          <p:spPr>
            <a:xfrm>
              <a:off x="673726" y="2705895"/>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41"/>
            <p:cNvSpPr/>
            <p:nvPr/>
          </p:nvSpPr>
          <p:spPr>
            <a:xfrm>
              <a:off x="1248858" y="3333649"/>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41"/>
            <p:cNvSpPr/>
            <p:nvPr/>
          </p:nvSpPr>
          <p:spPr>
            <a:xfrm>
              <a:off x="2117218" y="3530342"/>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41"/>
            <p:cNvSpPr/>
            <p:nvPr/>
          </p:nvSpPr>
          <p:spPr>
            <a:xfrm>
              <a:off x="2718415" y="3392941"/>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41"/>
            <p:cNvSpPr/>
            <p:nvPr/>
          </p:nvSpPr>
          <p:spPr>
            <a:xfrm>
              <a:off x="2668387" y="957728"/>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41"/>
            <p:cNvSpPr/>
            <p:nvPr/>
          </p:nvSpPr>
          <p:spPr>
            <a:xfrm>
              <a:off x="2031286" y="793934"/>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41"/>
            <p:cNvSpPr/>
            <p:nvPr/>
          </p:nvSpPr>
          <p:spPr>
            <a:xfrm>
              <a:off x="1343890" y="830765"/>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41"/>
            <p:cNvSpPr/>
            <p:nvPr/>
          </p:nvSpPr>
          <p:spPr>
            <a:xfrm>
              <a:off x="822635" y="1148224"/>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41"/>
            <p:cNvSpPr/>
            <p:nvPr/>
          </p:nvSpPr>
          <p:spPr>
            <a:xfrm>
              <a:off x="589729" y="1684199"/>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41"/>
            <p:cNvSpPr/>
            <p:nvPr/>
          </p:nvSpPr>
          <p:spPr>
            <a:xfrm>
              <a:off x="865107" y="2220174"/>
              <a:ext cx="317400" cy="3174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47" name="Google Shape;647;p41"/>
            <p:cNvCxnSpPr>
              <a:stCxn id="648" idx="1"/>
              <a:endCxn id="602" idx="5"/>
            </p:cNvCxnSpPr>
            <p:nvPr/>
          </p:nvCxnSpPr>
          <p:spPr>
            <a:xfrm rot="10800000">
              <a:off x="1614745" y="1918606"/>
              <a:ext cx="356400" cy="260100"/>
            </a:xfrm>
            <a:prstGeom prst="straightConnector1">
              <a:avLst/>
            </a:prstGeom>
            <a:noFill/>
            <a:ln w="19050" cap="flat" cmpd="sng">
              <a:solidFill>
                <a:srgbClr val="6AA84F"/>
              </a:solidFill>
              <a:prstDash val="solid"/>
              <a:round/>
              <a:headEnd type="none" w="sm" len="sm"/>
              <a:tailEnd type="none" w="sm" len="sm"/>
            </a:ln>
          </p:spPr>
        </p:cxnSp>
        <p:cxnSp>
          <p:nvCxnSpPr>
            <p:cNvPr id="649" name="Google Shape;649;p41"/>
            <p:cNvCxnSpPr>
              <a:stCxn id="648" idx="7"/>
              <a:endCxn id="626" idx="3"/>
            </p:cNvCxnSpPr>
            <p:nvPr/>
          </p:nvCxnSpPr>
          <p:spPr>
            <a:xfrm rot="10800000" flipH="1">
              <a:off x="2195581" y="1891606"/>
              <a:ext cx="339000" cy="287100"/>
            </a:xfrm>
            <a:prstGeom prst="straightConnector1">
              <a:avLst/>
            </a:prstGeom>
            <a:noFill/>
            <a:ln w="19050" cap="flat" cmpd="sng">
              <a:solidFill>
                <a:srgbClr val="6AA84F"/>
              </a:solidFill>
              <a:prstDash val="solid"/>
              <a:round/>
              <a:headEnd type="none" w="sm" len="sm"/>
              <a:tailEnd type="none" w="sm" len="sm"/>
            </a:ln>
          </p:spPr>
        </p:cxnSp>
        <p:cxnSp>
          <p:nvCxnSpPr>
            <p:cNvPr id="650" name="Google Shape;650;p41"/>
            <p:cNvCxnSpPr>
              <a:stCxn id="648" idx="6"/>
              <a:endCxn id="621" idx="1"/>
            </p:cNvCxnSpPr>
            <p:nvPr/>
          </p:nvCxnSpPr>
          <p:spPr>
            <a:xfrm>
              <a:off x="2242063" y="2290924"/>
              <a:ext cx="429900" cy="105300"/>
            </a:xfrm>
            <a:prstGeom prst="straightConnector1">
              <a:avLst/>
            </a:prstGeom>
            <a:noFill/>
            <a:ln w="19050" cap="flat" cmpd="sng">
              <a:solidFill>
                <a:srgbClr val="6AA84F"/>
              </a:solidFill>
              <a:prstDash val="solid"/>
              <a:round/>
              <a:headEnd type="none" w="sm" len="sm"/>
              <a:tailEnd type="none" w="sm" len="sm"/>
            </a:ln>
          </p:spPr>
        </p:cxnSp>
        <p:cxnSp>
          <p:nvCxnSpPr>
            <p:cNvPr id="651" name="Google Shape;651;p41"/>
            <p:cNvCxnSpPr>
              <a:stCxn id="648" idx="5"/>
              <a:endCxn id="616" idx="0"/>
            </p:cNvCxnSpPr>
            <p:nvPr/>
          </p:nvCxnSpPr>
          <p:spPr>
            <a:xfrm>
              <a:off x="2195581" y="2403142"/>
              <a:ext cx="158700" cy="429600"/>
            </a:xfrm>
            <a:prstGeom prst="straightConnector1">
              <a:avLst/>
            </a:prstGeom>
            <a:noFill/>
            <a:ln w="19050" cap="flat" cmpd="sng">
              <a:solidFill>
                <a:srgbClr val="6AA84F"/>
              </a:solidFill>
              <a:prstDash val="solid"/>
              <a:round/>
              <a:headEnd type="none" w="sm" len="sm"/>
              <a:tailEnd type="none" w="sm" len="sm"/>
            </a:ln>
          </p:spPr>
        </p:cxnSp>
        <p:cxnSp>
          <p:nvCxnSpPr>
            <p:cNvPr id="652" name="Google Shape;652;p41"/>
            <p:cNvCxnSpPr>
              <a:stCxn id="648" idx="3"/>
              <a:endCxn id="611" idx="7"/>
            </p:cNvCxnSpPr>
            <p:nvPr/>
          </p:nvCxnSpPr>
          <p:spPr>
            <a:xfrm flipH="1">
              <a:off x="1692445" y="2403142"/>
              <a:ext cx="278700" cy="269400"/>
            </a:xfrm>
            <a:prstGeom prst="straightConnector1">
              <a:avLst/>
            </a:prstGeom>
            <a:noFill/>
            <a:ln w="19050" cap="flat" cmpd="sng">
              <a:solidFill>
                <a:srgbClr val="6AA84F"/>
              </a:solidFill>
              <a:prstDash val="solid"/>
              <a:round/>
              <a:headEnd type="none" w="sm" len="sm"/>
              <a:tailEnd type="none" w="sm" len="sm"/>
            </a:ln>
          </p:spPr>
        </p:cxnSp>
        <p:sp>
          <p:nvSpPr>
            <p:cNvPr id="648" name="Google Shape;648;p41"/>
            <p:cNvSpPr/>
            <p:nvPr/>
          </p:nvSpPr>
          <p:spPr>
            <a:xfrm>
              <a:off x="1924663" y="2132224"/>
              <a:ext cx="317400" cy="317400"/>
            </a:xfrm>
            <a:prstGeom prst="smileyFace">
              <a:avLst>
                <a:gd name="adj" fmla="val 4653"/>
              </a:avLst>
            </a:prstGeom>
            <a:solidFill>
              <a:srgbClr val="FF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41"/>
            <p:cNvSpPr/>
            <p:nvPr/>
          </p:nvSpPr>
          <p:spPr>
            <a:xfrm>
              <a:off x="2625421" y="2349731"/>
              <a:ext cx="317400" cy="3174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41"/>
            <p:cNvSpPr/>
            <p:nvPr/>
          </p:nvSpPr>
          <p:spPr>
            <a:xfrm>
              <a:off x="2195636" y="2832858"/>
              <a:ext cx="317400" cy="3174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41"/>
            <p:cNvSpPr/>
            <p:nvPr/>
          </p:nvSpPr>
          <p:spPr>
            <a:xfrm>
              <a:off x="1421443" y="2625995"/>
              <a:ext cx="317400" cy="3174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41"/>
            <p:cNvSpPr/>
            <p:nvPr/>
          </p:nvSpPr>
          <p:spPr>
            <a:xfrm>
              <a:off x="2488143" y="1620810"/>
              <a:ext cx="317400" cy="3174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41"/>
            <p:cNvSpPr/>
            <p:nvPr/>
          </p:nvSpPr>
          <p:spPr>
            <a:xfrm>
              <a:off x="1343890" y="1647543"/>
              <a:ext cx="317400" cy="3174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9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9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9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9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9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9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9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9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9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595"/>
                                        </p:tgtEl>
                                        <p:attrNameLst>
                                          <p:attrName>style.visibility</p:attrName>
                                        </p:attrNameLst>
                                      </p:cBhvr>
                                      <p:to>
                                        <p:strVal val="visible"/>
                                      </p:to>
                                    </p:set>
                                    <p:animEffect transition="in" filter="fade">
                                      <p:cBhvr>
                                        <p:cTn id="79" dur="1000"/>
                                        <p:tgtEl>
                                          <p:spTgt spid="595"/>
                                        </p:tgtEl>
                                      </p:cBhvr>
                                    </p:animEffect>
                                  </p:childTnLst>
                                </p:cTn>
                              </p:par>
                              <p:par>
                                <p:cTn id="80" presetID="10" presetClass="entr" presetSubtype="0" fill="hold" nodeType="withEffect">
                                  <p:stCondLst>
                                    <p:cond delay="0"/>
                                  </p:stCondLst>
                                  <p:childTnLst>
                                    <p:set>
                                      <p:cBhvr>
                                        <p:cTn id="81" dur="1" fill="hold">
                                          <p:stCondLst>
                                            <p:cond delay="0"/>
                                          </p:stCondLst>
                                        </p:cTn>
                                        <p:tgtEl>
                                          <p:spTgt spid="596"/>
                                        </p:tgtEl>
                                        <p:attrNameLst>
                                          <p:attrName>style.visibility</p:attrName>
                                        </p:attrNameLst>
                                      </p:cBhvr>
                                      <p:to>
                                        <p:strVal val="visible"/>
                                      </p:to>
                                    </p:set>
                                    <p:animEffect transition="in" filter="fade">
                                      <p:cBhvr>
                                        <p:cTn id="82" dur="1000"/>
                                        <p:tgtEl>
                                          <p:spTgt spid="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2"/>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Graphs may come in any one of many possible configurations. Look at the diagrams below. Vertices are represented as circles, and edges are lines. Which of the diagrams below represents a graph?</a:t>
            </a:r>
            <a:endParaRPr dirty="0"/>
          </a:p>
        </p:txBody>
      </p:sp>
      <p:sp>
        <p:nvSpPr>
          <p:cNvPr id="658" name="Google Shape;658;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659" name="Google Shape;659;p4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Graph Identification</a:t>
            </a:r>
            <a:endParaRPr/>
          </a:p>
        </p:txBody>
      </p:sp>
      <p:sp>
        <p:nvSpPr>
          <p:cNvPr id="660" name="Google Shape;660;p4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12.2</a:t>
            </a:r>
            <a:endParaRPr/>
          </a:p>
        </p:txBody>
      </p:sp>
      <p:sp>
        <p:nvSpPr>
          <p:cNvPr id="661" name="Google Shape;661;p42"/>
          <p:cNvSpPr/>
          <p:nvPr/>
        </p:nvSpPr>
        <p:spPr>
          <a:xfrm>
            <a:off x="1478200" y="1647483"/>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62" name="Google Shape;662;p42"/>
          <p:cNvGrpSpPr/>
          <p:nvPr/>
        </p:nvGrpSpPr>
        <p:grpSpPr>
          <a:xfrm>
            <a:off x="3472625" y="1681608"/>
            <a:ext cx="640205" cy="601260"/>
            <a:chOff x="4258750" y="1571283"/>
            <a:chExt cx="640205" cy="601260"/>
          </a:xfrm>
        </p:grpSpPr>
        <p:sp>
          <p:nvSpPr>
            <p:cNvPr id="663" name="Google Shape;663;p42"/>
            <p:cNvSpPr/>
            <p:nvPr/>
          </p:nvSpPr>
          <p:spPr>
            <a:xfrm>
              <a:off x="4258750" y="1571283"/>
              <a:ext cx="256500" cy="25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42"/>
            <p:cNvSpPr/>
            <p:nvPr/>
          </p:nvSpPr>
          <p:spPr>
            <a:xfrm>
              <a:off x="4642455" y="1916043"/>
              <a:ext cx="256500" cy="25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65" name="Google Shape;665;p42"/>
            <p:cNvCxnSpPr>
              <a:stCxn id="663" idx="5"/>
              <a:endCxn id="664" idx="1"/>
            </p:cNvCxnSpPr>
            <p:nvPr/>
          </p:nvCxnSpPr>
          <p:spPr>
            <a:xfrm>
              <a:off x="4477686" y="1790219"/>
              <a:ext cx="202200" cy="163500"/>
            </a:xfrm>
            <a:prstGeom prst="straightConnector1">
              <a:avLst/>
            </a:prstGeom>
            <a:noFill/>
            <a:ln w="19050" cap="flat" cmpd="sng">
              <a:solidFill>
                <a:srgbClr val="000000"/>
              </a:solidFill>
              <a:prstDash val="solid"/>
              <a:round/>
              <a:headEnd type="none" w="sm" len="sm"/>
              <a:tailEnd type="none" w="sm" len="sm"/>
            </a:ln>
          </p:spPr>
        </p:cxnSp>
      </p:grpSp>
      <p:grpSp>
        <p:nvGrpSpPr>
          <p:cNvPr id="666" name="Google Shape;666;p42"/>
          <p:cNvGrpSpPr/>
          <p:nvPr/>
        </p:nvGrpSpPr>
        <p:grpSpPr>
          <a:xfrm>
            <a:off x="6506125" y="1442567"/>
            <a:ext cx="896364" cy="1301153"/>
            <a:chOff x="6887125" y="1290167"/>
            <a:chExt cx="896364" cy="1301153"/>
          </a:xfrm>
        </p:grpSpPr>
        <p:sp>
          <p:nvSpPr>
            <p:cNvPr id="667" name="Google Shape;667;p42"/>
            <p:cNvSpPr/>
            <p:nvPr/>
          </p:nvSpPr>
          <p:spPr>
            <a:xfrm>
              <a:off x="6887125" y="1290167"/>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42"/>
            <p:cNvSpPr/>
            <p:nvPr/>
          </p:nvSpPr>
          <p:spPr>
            <a:xfrm>
              <a:off x="7277168" y="1580554"/>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69" name="Google Shape;669;p42"/>
            <p:cNvCxnSpPr>
              <a:stCxn id="667" idx="5"/>
              <a:endCxn id="668" idx="1"/>
            </p:cNvCxnSpPr>
            <p:nvPr/>
          </p:nvCxnSpPr>
          <p:spPr>
            <a:xfrm>
              <a:off x="7066115" y="1469157"/>
              <a:ext cx="241800" cy="142200"/>
            </a:xfrm>
            <a:prstGeom prst="straightConnector1">
              <a:avLst/>
            </a:prstGeom>
            <a:noFill/>
            <a:ln w="19050" cap="flat" cmpd="sng">
              <a:solidFill>
                <a:srgbClr val="000000"/>
              </a:solidFill>
              <a:prstDash val="solid"/>
              <a:round/>
              <a:headEnd type="none" w="sm" len="sm"/>
              <a:tailEnd type="none" w="sm" len="sm"/>
            </a:ln>
          </p:spPr>
        </p:cxnSp>
        <p:sp>
          <p:nvSpPr>
            <p:cNvPr id="670" name="Google Shape;670;p42"/>
            <p:cNvSpPr/>
            <p:nvPr/>
          </p:nvSpPr>
          <p:spPr>
            <a:xfrm>
              <a:off x="7543104" y="1968700"/>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42"/>
            <p:cNvSpPr/>
            <p:nvPr/>
          </p:nvSpPr>
          <p:spPr>
            <a:xfrm>
              <a:off x="7573789" y="2381620"/>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72" name="Google Shape;672;p42"/>
            <p:cNvCxnSpPr>
              <a:stCxn id="668" idx="5"/>
              <a:endCxn id="670" idx="1"/>
            </p:cNvCxnSpPr>
            <p:nvPr/>
          </p:nvCxnSpPr>
          <p:spPr>
            <a:xfrm>
              <a:off x="7456158" y="1759544"/>
              <a:ext cx="117600" cy="240000"/>
            </a:xfrm>
            <a:prstGeom prst="straightConnector1">
              <a:avLst/>
            </a:prstGeom>
            <a:noFill/>
            <a:ln w="19050" cap="flat" cmpd="sng">
              <a:solidFill>
                <a:srgbClr val="000000"/>
              </a:solidFill>
              <a:prstDash val="solid"/>
              <a:round/>
              <a:headEnd type="none" w="sm" len="sm"/>
              <a:tailEnd type="none" w="sm" len="sm"/>
            </a:ln>
          </p:spPr>
        </p:cxnSp>
        <p:cxnSp>
          <p:nvCxnSpPr>
            <p:cNvPr id="673" name="Google Shape;673;p42"/>
            <p:cNvCxnSpPr>
              <a:stCxn id="670" idx="4"/>
              <a:endCxn id="671" idx="0"/>
            </p:cNvCxnSpPr>
            <p:nvPr/>
          </p:nvCxnSpPr>
          <p:spPr>
            <a:xfrm>
              <a:off x="7647954" y="2178400"/>
              <a:ext cx="30600" cy="203100"/>
            </a:xfrm>
            <a:prstGeom prst="straightConnector1">
              <a:avLst/>
            </a:prstGeom>
            <a:noFill/>
            <a:ln w="19050" cap="flat" cmpd="sng">
              <a:solidFill>
                <a:srgbClr val="000000"/>
              </a:solidFill>
              <a:prstDash val="solid"/>
              <a:round/>
              <a:headEnd type="none" w="sm" len="sm"/>
              <a:tailEnd type="none" w="sm" len="sm"/>
            </a:ln>
          </p:spPr>
        </p:cxnSp>
      </p:grpSp>
      <p:grpSp>
        <p:nvGrpSpPr>
          <p:cNvPr id="674" name="Google Shape;674;p42"/>
          <p:cNvGrpSpPr/>
          <p:nvPr/>
        </p:nvGrpSpPr>
        <p:grpSpPr>
          <a:xfrm>
            <a:off x="433123" y="3133031"/>
            <a:ext cx="2497068" cy="1265075"/>
            <a:chOff x="3730500" y="789700"/>
            <a:chExt cx="5334475" cy="2702575"/>
          </a:xfrm>
        </p:grpSpPr>
        <p:sp>
          <p:nvSpPr>
            <p:cNvPr id="675" name="Google Shape;675;p42"/>
            <p:cNvSpPr/>
            <p:nvPr/>
          </p:nvSpPr>
          <p:spPr>
            <a:xfrm>
              <a:off x="6203700" y="78970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76" name="Google Shape;676;p42"/>
            <p:cNvGrpSpPr/>
            <p:nvPr/>
          </p:nvGrpSpPr>
          <p:grpSpPr>
            <a:xfrm>
              <a:off x="4834650" y="1591863"/>
              <a:ext cx="3068600" cy="436512"/>
              <a:chOff x="4834650" y="1591863"/>
              <a:chExt cx="3068600" cy="436512"/>
            </a:xfrm>
          </p:grpSpPr>
          <p:sp>
            <p:nvSpPr>
              <p:cNvPr id="677" name="Google Shape;677;p42"/>
              <p:cNvSpPr/>
              <p:nvPr/>
            </p:nvSpPr>
            <p:spPr>
              <a:xfrm>
                <a:off x="7466750" y="15918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42"/>
              <p:cNvSpPr/>
              <p:nvPr/>
            </p:nvSpPr>
            <p:spPr>
              <a:xfrm>
                <a:off x="4834650" y="1591863"/>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79" name="Google Shape;679;p42"/>
            <p:cNvGrpSpPr/>
            <p:nvPr/>
          </p:nvGrpSpPr>
          <p:grpSpPr>
            <a:xfrm>
              <a:off x="4201013" y="2149650"/>
              <a:ext cx="4458887" cy="544400"/>
              <a:chOff x="4201013" y="2149650"/>
              <a:chExt cx="4458887" cy="544400"/>
            </a:xfrm>
          </p:grpSpPr>
          <p:sp>
            <p:nvSpPr>
              <p:cNvPr id="680" name="Google Shape;680;p42"/>
              <p:cNvSpPr/>
              <p:nvPr/>
            </p:nvSpPr>
            <p:spPr>
              <a:xfrm>
                <a:off x="8223400" y="22575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42"/>
              <p:cNvSpPr/>
              <p:nvPr/>
            </p:nvSpPr>
            <p:spPr>
              <a:xfrm>
                <a:off x="4201013" y="21496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42"/>
              <p:cNvSpPr/>
              <p:nvPr/>
            </p:nvSpPr>
            <p:spPr>
              <a:xfrm>
                <a:off x="5466625" y="2179213"/>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42"/>
              <p:cNvSpPr/>
              <p:nvPr/>
            </p:nvSpPr>
            <p:spPr>
              <a:xfrm>
                <a:off x="6832789" y="22575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4" name="Google Shape;684;p42"/>
            <p:cNvGrpSpPr/>
            <p:nvPr/>
          </p:nvGrpSpPr>
          <p:grpSpPr>
            <a:xfrm>
              <a:off x="5052924" y="1162276"/>
              <a:ext cx="2477652" cy="493500"/>
              <a:chOff x="5052924" y="1162276"/>
              <a:chExt cx="2477652" cy="493500"/>
            </a:xfrm>
          </p:grpSpPr>
          <p:cxnSp>
            <p:nvCxnSpPr>
              <p:cNvPr id="685" name="Google Shape;685;p42"/>
              <p:cNvCxnSpPr>
                <a:stCxn id="675" idx="5"/>
                <a:endCxn id="677" idx="1"/>
              </p:cNvCxnSpPr>
              <p:nvPr/>
            </p:nvCxnSpPr>
            <p:spPr>
              <a:xfrm>
                <a:off x="6576276" y="1162276"/>
                <a:ext cx="954300" cy="493500"/>
              </a:xfrm>
              <a:prstGeom prst="straightConnector1">
                <a:avLst/>
              </a:prstGeom>
              <a:noFill/>
              <a:ln w="19050" cap="flat" cmpd="sng">
                <a:solidFill>
                  <a:srgbClr val="000000"/>
                </a:solidFill>
                <a:prstDash val="solid"/>
                <a:round/>
                <a:headEnd type="none" w="sm" len="sm"/>
                <a:tailEnd type="none" w="sm" len="sm"/>
              </a:ln>
            </p:spPr>
          </p:cxnSp>
          <p:cxnSp>
            <p:nvCxnSpPr>
              <p:cNvPr id="686" name="Google Shape;686;p42"/>
              <p:cNvCxnSpPr>
                <a:stCxn id="675" idx="3"/>
                <a:endCxn id="678" idx="0"/>
              </p:cNvCxnSpPr>
              <p:nvPr/>
            </p:nvCxnSpPr>
            <p:spPr>
              <a:xfrm flipH="1">
                <a:off x="5052924" y="1162276"/>
                <a:ext cx="1214700" cy="429600"/>
              </a:xfrm>
              <a:prstGeom prst="straightConnector1">
                <a:avLst/>
              </a:prstGeom>
              <a:noFill/>
              <a:ln w="19050" cap="flat" cmpd="sng">
                <a:solidFill>
                  <a:srgbClr val="000000"/>
                </a:solidFill>
                <a:prstDash val="solid"/>
                <a:round/>
                <a:headEnd type="none" w="sm" len="sm"/>
                <a:tailEnd type="none" w="sm" len="sm"/>
              </a:ln>
            </p:spPr>
          </p:cxnSp>
        </p:grpSp>
        <p:grpSp>
          <p:nvGrpSpPr>
            <p:cNvPr id="687" name="Google Shape;687;p42"/>
            <p:cNvGrpSpPr/>
            <p:nvPr/>
          </p:nvGrpSpPr>
          <p:grpSpPr>
            <a:xfrm>
              <a:off x="4419174" y="1964439"/>
              <a:ext cx="3868052" cy="357012"/>
              <a:chOff x="4419174" y="1964439"/>
              <a:chExt cx="3868052" cy="357012"/>
            </a:xfrm>
          </p:grpSpPr>
          <p:cxnSp>
            <p:nvCxnSpPr>
              <p:cNvPr id="688" name="Google Shape;688;p42"/>
              <p:cNvCxnSpPr>
                <a:stCxn id="677" idx="5"/>
                <a:endCxn id="680" idx="1"/>
              </p:cNvCxnSpPr>
              <p:nvPr/>
            </p:nvCxnSpPr>
            <p:spPr>
              <a:xfrm>
                <a:off x="7839326" y="1964451"/>
                <a:ext cx="447900" cy="357000"/>
              </a:xfrm>
              <a:prstGeom prst="straightConnector1">
                <a:avLst/>
              </a:prstGeom>
              <a:noFill/>
              <a:ln w="19050" cap="flat" cmpd="sng">
                <a:solidFill>
                  <a:srgbClr val="000000"/>
                </a:solidFill>
                <a:prstDash val="solid"/>
                <a:round/>
                <a:headEnd type="none" w="sm" len="sm"/>
                <a:tailEnd type="none" w="sm" len="sm"/>
              </a:ln>
            </p:spPr>
          </p:cxnSp>
          <p:cxnSp>
            <p:nvCxnSpPr>
              <p:cNvPr id="689" name="Google Shape;689;p42"/>
              <p:cNvCxnSpPr>
                <a:stCxn id="678" idx="5"/>
                <a:endCxn id="682" idx="0"/>
              </p:cNvCxnSpPr>
              <p:nvPr/>
            </p:nvCxnSpPr>
            <p:spPr>
              <a:xfrm>
                <a:off x="5207226" y="1964439"/>
                <a:ext cx="477600" cy="214800"/>
              </a:xfrm>
              <a:prstGeom prst="straightConnector1">
                <a:avLst/>
              </a:prstGeom>
              <a:noFill/>
              <a:ln w="19050" cap="flat" cmpd="sng">
                <a:solidFill>
                  <a:srgbClr val="000000"/>
                </a:solidFill>
                <a:prstDash val="solid"/>
                <a:round/>
                <a:headEnd type="none" w="sm" len="sm"/>
                <a:tailEnd type="none" w="sm" len="sm"/>
              </a:ln>
            </p:spPr>
          </p:cxnSp>
          <p:cxnSp>
            <p:nvCxnSpPr>
              <p:cNvPr id="690" name="Google Shape;690;p42"/>
              <p:cNvCxnSpPr>
                <a:stCxn id="678" idx="3"/>
                <a:endCxn id="681" idx="0"/>
              </p:cNvCxnSpPr>
              <p:nvPr/>
            </p:nvCxnSpPr>
            <p:spPr>
              <a:xfrm flipH="1">
                <a:off x="4419174" y="1964439"/>
                <a:ext cx="479400" cy="185100"/>
              </a:xfrm>
              <a:prstGeom prst="straightConnector1">
                <a:avLst/>
              </a:prstGeom>
              <a:noFill/>
              <a:ln w="19050" cap="flat" cmpd="sng">
                <a:solidFill>
                  <a:srgbClr val="000000"/>
                </a:solidFill>
                <a:prstDash val="solid"/>
                <a:round/>
                <a:headEnd type="none" w="sm" len="sm"/>
                <a:tailEnd type="none" w="sm" len="sm"/>
              </a:ln>
            </p:spPr>
          </p:cxnSp>
          <p:cxnSp>
            <p:nvCxnSpPr>
              <p:cNvPr id="691" name="Google Shape;691;p42"/>
              <p:cNvCxnSpPr>
                <a:stCxn id="677" idx="3"/>
                <a:endCxn id="683" idx="0"/>
              </p:cNvCxnSpPr>
              <p:nvPr/>
            </p:nvCxnSpPr>
            <p:spPr>
              <a:xfrm flipH="1">
                <a:off x="7050974" y="1964451"/>
                <a:ext cx="479700" cy="293100"/>
              </a:xfrm>
              <a:prstGeom prst="straightConnector1">
                <a:avLst/>
              </a:prstGeom>
              <a:noFill/>
              <a:ln w="19050" cap="flat" cmpd="sng">
                <a:solidFill>
                  <a:srgbClr val="000000"/>
                </a:solidFill>
                <a:prstDash val="solid"/>
                <a:round/>
                <a:headEnd type="none" w="sm" len="sm"/>
                <a:tailEnd type="none" w="sm" len="sm"/>
              </a:ln>
            </p:spPr>
          </p:cxnSp>
        </p:grpSp>
        <p:grpSp>
          <p:nvGrpSpPr>
            <p:cNvPr id="692" name="Google Shape;692;p42"/>
            <p:cNvGrpSpPr/>
            <p:nvPr/>
          </p:nvGrpSpPr>
          <p:grpSpPr>
            <a:xfrm>
              <a:off x="3730500" y="3055775"/>
              <a:ext cx="5334475" cy="436500"/>
              <a:chOff x="3730500" y="3055775"/>
              <a:chExt cx="5334475" cy="436500"/>
            </a:xfrm>
          </p:grpSpPr>
          <p:sp>
            <p:nvSpPr>
              <p:cNvPr id="693" name="Google Shape;693;p42"/>
              <p:cNvSpPr/>
              <p:nvPr/>
            </p:nvSpPr>
            <p:spPr>
              <a:xfrm>
                <a:off x="3730500"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42"/>
              <p:cNvSpPr/>
              <p:nvPr/>
            </p:nvSpPr>
            <p:spPr>
              <a:xfrm>
                <a:off x="450397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42"/>
              <p:cNvSpPr/>
              <p:nvPr/>
            </p:nvSpPr>
            <p:spPr>
              <a:xfrm>
                <a:off x="5098863"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42"/>
              <p:cNvSpPr/>
              <p:nvPr/>
            </p:nvSpPr>
            <p:spPr>
              <a:xfrm>
                <a:off x="579192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42"/>
              <p:cNvSpPr/>
              <p:nvPr/>
            </p:nvSpPr>
            <p:spPr>
              <a:xfrm>
                <a:off x="648497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698" name="Google Shape;698;p42"/>
              <p:cNvSpPr/>
              <p:nvPr/>
            </p:nvSpPr>
            <p:spPr>
              <a:xfrm>
                <a:off x="7183200"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42"/>
              <p:cNvSpPr/>
              <p:nvPr/>
            </p:nvSpPr>
            <p:spPr>
              <a:xfrm>
                <a:off x="7903250"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42"/>
              <p:cNvSpPr/>
              <p:nvPr/>
            </p:nvSpPr>
            <p:spPr>
              <a:xfrm>
                <a:off x="862847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1" name="Google Shape;701;p42"/>
            <p:cNvGrpSpPr/>
            <p:nvPr/>
          </p:nvGrpSpPr>
          <p:grpSpPr>
            <a:xfrm>
              <a:off x="3948737" y="2522226"/>
              <a:ext cx="4898039" cy="533600"/>
              <a:chOff x="3948737" y="2522226"/>
              <a:chExt cx="4898039" cy="533600"/>
            </a:xfrm>
          </p:grpSpPr>
          <p:cxnSp>
            <p:nvCxnSpPr>
              <p:cNvPr id="702" name="Google Shape;702;p42"/>
              <p:cNvCxnSpPr>
                <a:stCxn id="681" idx="3"/>
                <a:endCxn id="693" idx="0"/>
              </p:cNvCxnSpPr>
              <p:nvPr/>
            </p:nvCxnSpPr>
            <p:spPr>
              <a:xfrm flipH="1">
                <a:off x="3948737" y="2522226"/>
                <a:ext cx="316200" cy="533400"/>
              </a:xfrm>
              <a:prstGeom prst="straightConnector1">
                <a:avLst/>
              </a:prstGeom>
              <a:noFill/>
              <a:ln w="19050" cap="flat" cmpd="sng">
                <a:solidFill>
                  <a:srgbClr val="000000"/>
                </a:solidFill>
                <a:prstDash val="solid"/>
                <a:round/>
                <a:headEnd type="none" w="sm" len="sm"/>
                <a:tailEnd type="none" w="sm" len="sm"/>
              </a:ln>
            </p:spPr>
          </p:cxnSp>
          <p:cxnSp>
            <p:nvCxnSpPr>
              <p:cNvPr id="703" name="Google Shape;703;p42"/>
              <p:cNvCxnSpPr>
                <a:stCxn id="681" idx="5"/>
                <a:endCxn id="694" idx="0"/>
              </p:cNvCxnSpPr>
              <p:nvPr/>
            </p:nvCxnSpPr>
            <p:spPr>
              <a:xfrm>
                <a:off x="4573589" y="2522226"/>
                <a:ext cx="148500" cy="533400"/>
              </a:xfrm>
              <a:prstGeom prst="straightConnector1">
                <a:avLst/>
              </a:prstGeom>
              <a:noFill/>
              <a:ln w="19050" cap="flat" cmpd="sng">
                <a:solidFill>
                  <a:srgbClr val="000000"/>
                </a:solidFill>
                <a:prstDash val="solid"/>
                <a:round/>
                <a:headEnd type="none" w="sm" len="sm"/>
                <a:tailEnd type="none" w="sm" len="sm"/>
              </a:ln>
            </p:spPr>
          </p:cxnSp>
          <p:cxnSp>
            <p:nvCxnSpPr>
              <p:cNvPr id="704" name="Google Shape;704;p42"/>
              <p:cNvCxnSpPr>
                <a:stCxn id="682" idx="3"/>
                <a:endCxn id="695" idx="0"/>
              </p:cNvCxnSpPr>
              <p:nvPr/>
            </p:nvCxnSpPr>
            <p:spPr>
              <a:xfrm flipH="1">
                <a:off x="5317249" y="2551789"/>
                <a:ext cx="213300" cy="504000"/>
              </a:xfrm>
              <a:prstGeom prst="straightConnector1">
                <a:avLst/>
              </a:prstGeom>
              <a:noFill/>
              <a:ln w="19050" cap="flat" cmpd="sng">
                <a:solidFill>
                  <a:srgbClr val="000000"/>
                </a:solidFill>
                <a:prstDash val="solid"/>
                <a:round/>
                <a:headEnd type="none" w="sm" len="sm"/>
                <a:tailEnd type="none" w="sm" len="sm"/>
              </a:ln>
            </p:spPr>
          </p:cxnSp>
          <p:cxnSp>
            <p:nvCxnSpPr>
              <p:cNvPr id="705" name="Google Shape;705;p42"/>
              <p:cNvCxnSpPr>
                <a:stCxn id="682" idx="5"/>
                <a:endCxn id="696" idx="0"/>
              </p:cNvCxnSpPr>
              <p:nvPr/>
            </p:nvCxnSpPr>
            <p:spPr>
              <a:xfrm>
                <a:off x="5839201" y="2551789"/>
                <a:ext cx="171000" cy="504000"/>
              </a:xfrm>
              <a:prstGeom prst="straightConnector1">
                <a:avLst/>
              </a:prstGeom>
              <a:noFill/>
              <a:ln w="19050" cap="flat" cmpd="sng">
                <a:solidFill>
                  <a:srgbClr val="000000"/>
                </a:solidFill>
                <a:prstDash val="solid"/>
                <a:round/>
                <a:headEnd type="none" w="sm" len="sm"/>
                <a:tailEnd type="none" w="sm" len="sm"/>
              </a:ln>
            </p:spPr>
          </p:cxnSp>
          <p:cxnSp>
            <p:nvCxnSpPr>
              <p:cNvPr id="706" name="Google Shape;706;p42"/>
              <p:cNvCxnSpPr>
                <a:stCxn id="683" idx="3"/>
                <a:endCxn id="697" idx="0"/>
              </p:cNvCxnSpPr>
              <p:nvPr/>
            </p:nvCxnSpPr>
            <p:spPr>
              <a:xfrm flipH="1">
                <a:off x="6703213" y="2630126"/>
                <a:ext cx="193500" cy="425700"/>
              </a:xfrm>
              <a:prstGeom prst="straightConnector1">
                <a:avLst/>
              </a:prstGeom>
              <a:noFill/>
              <a:ln w="19050" cap="flat" cmpd="sng">
                <a:solidFill>
                  <a:srgbClr val="000000"/>
                </a:solidFill>
                <a:prstDash val="solid"/>
                <a:round/>
                <a:headEnd type="none" w="sm" len="sm"/>
                <a:tailEnd type="none" w="sm" len="sm"/>
              </a:ln>
            </p:spPr>
          </p:cxnSp>
          <p:cxnSp>
            <p:nvCxnSpPr>
              <p:cNvPr id="707" name="Google Shape;707;p42"/>
              <p:cNvCxnSpPr>
                <a:stCxn id="683" idx="5"/>
                <a:endCxn id="698" idx="0"/>
              </p:cNvCxnSpPr>
              <p:nvPr/>
            </p:nvCxnSpPr>
            <p:spPr>
              <a:xfrm>
                <a:off x="7205365" y="2630126"/>
                <a:ext cx="196200" cy="425700"/>
              </a:xfrm>
              <a:prstGeom prst="straightConnector1">
                <a:avLst/>
              </a:prstGeom>
              <a:noFill/>
              <a:ln w="19050" cap="flat" cmpd="sng">
                <a:solidFill>
                  <a:srgbClr val="000000"/>
                </a:solidFill>
                <a:prstDash val="solid"/>
                <a:round/>
                <a:headEnd type="none" w="sm" len="sm"/>
                <a:tailEnd type="none" w="sm" len="sm"/>
              </a:ln>
            </p:spPr>
          </p:cxnSp>
          <p:cxnSp>
            <p:nvCxnSpPr>
              <p:cNvPr id="708" name="Google Shape;708;p42"/>
              <p:cNvCxnSpPr>
                <a:stCxn id="680" idx="3"/>
                <a:endCxn id="699" idx="0"/>
              </p:cNvCxnSpPr>
              <p:nvPr/>
            </p:nvCxnSpPr>
            <p:spPr>
              <a:xfrm flipH="1">
                <a:off x="8121424" y="2630126"/>
                <a:ext cx="165900" cy="425700"/>
              </a:xfrm>
              <a:prstGeom prst="straightConnector1">
                <a:avLst/>
              </a:prstGeom>
              <a:noFill/>
              <a:ln w="19050" cap="flat" cmpd="sng">
                <a:solidFill>
                  <a:srgbClr val="000000"/>
                </a:solidFill>
                <a:prstDash val="solid"/>
                <a:round/>
                <a:headEnd type="none" w="sm" len="sm"/>
                <a:tailEnd type="none" w="sm" len="sm"/>
              </a:ln>
            </p:spPr>
          </p:cxnSp>
          <p:cxnSp>
            <p:nvCxnSpPr>
              <p:cNvPr id="709" name="Google Shape;709;p42"/>
              <p:cNvCxnSpPr>
                <a:stCxn id="680" idx="5"/>
                <a:endCxn id="700" idx="0"/>
              </p:cNvCxnSpPr>
              <p:nvPr/>
            </p:nvCxnSpPr>
            <p:spPr>
              <a:xfrm>
                <a:off x="8595976" y="2630126"/>
                <a:ext cx="250800" cy="425700"/>
              </a:xfrm>
              <a:prstGeom prst="straightConnector1">
                <a:avLst/>
              </a:prstGeom>
              <a:noFill/>
              <a:ln w="19050" cap="flat" cmpd="sng">
                <a:solidFill>
                  <a:srgbClr val="000000"/>
                </a:solidFill>
                <a:prstDash val="solid"/>
                <a:round/>
                <a:headEnd type="none" w="sm" len="sm"/>
                <a:tailEnd type="none" w="sm" len="sm"/>
              </a:ln>
            </p:spPr>
          </p:cxnSp>
        </p:grpSp>
      </p:grpSp>
      <p:grpSp>
        <p:nvGrpSpPr>
          <p:cNvPr id="710" name="Google Shape;710;p42"/>
          <p:cNvGrpSpPr/>
          <p:nvPr/>
        </p:nvGrpSpPr>
        <p:grpSpPr>
          <a:xfrm>
            <a:off x="4002000" y="3138148"/>
            <a:ext cx="867035" cy="1107538"/>
            <a:chOff x="4394375" y="1954070"/>
            <a:chExt cx="1549107" cy="1978807"/>
          </a:xfrm>
        </p:grpSpPr>
        <p:sp>
          <p:nvSpPr>
            <p:cNvPr id="711" name="Google Shape;711;p42"/>
            <p:cNvSpPr/>
            <p:nvPr/>
          </p:nvSpPr>
          <p:spPr>
            <a:xfrm rot="-2158343">
              <a:off x="4480988" y="2944854"/>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42"/>
            <p:cNvSpPr/>
            <p:nvPr/>
          </p:nvSpPr>
          <p:spPr>
            <a:xfrm rot="-2158343">
              <a:off x="5420195" y="24878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42"/>
            <p:cNvSpPr/>
            <p:nvPr/>
          </p:nvSpPr>
          <p:spPr>
            <a:xfrm rot="-2158343">
              <a:off x="5249494" y="3409590"/>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14" name="Google Shape;714;p42"/>
            <p:cNvCxnSpPr>
              <a:stCxn id="711" idx="4"/>
              <a:endCxn id="713" idx="1"/>
            </p:cNvCxnSpPr>
            <p:nvPr/>
          </p:nvCxnSpPr>
          <p:spPr>
            <a:xfrm>
              <a:off x="4827575" y="3339891"/>
              <a:ext cx="424500" cy="253800"/>
            </a:xfrm>
            <a:prstGeom prst="straightConnector1">
              <a:avLst/>
            </a:prstGeom>
            <a:noFill/>
            <a:ln w="19050" cap="flat" cmpd="sng">
              <a:solidFill>
                <a:srgbClr val="000000"/>
              </a:solidFill>
              <a:prstDash val="solid"/>
              <a:round/>
              <a:headEnd type="none" w="sm" len="sm"/>
              <a:tailEnd type="none" w="sm" len="sm"/>
            </a:ln>
          </p:spPr>
        </p:cxnSp>
        <p:cxnSp>
          <p:nvCxnSpPr>
            <p:cNvPr id="715" name="Google Shape;715;p42"/>
            <p:cNvCxnSpPr>
              <a:stCxn id="711" idx="7"/>
              <a:endCxn id="716" idx="3"/>
            </p:cNvCxnSpPr>
            <p:nvPr/>
          </p:nvCxnSpPr>
          <p:spPr>
            <a:xfrm rot="10800000" flipH="1">
              <a:off x="4733584" y="2474759"/>
              <a:ext cx="147000" cy="472800"/>
            </a:xfrm>
            <a:prstGeom prst="straightConnector1">
              <a:avLst/>
            </a:prstGeom>
            <a:noFill/>
            <a:ln w="19050" cap="flat" cmpd="sng">
              <a:solidFill>
                <a:srgbClr val="000000"/>
              </a:solidFill>
              <a:prstDash val="solid"/>
              <a:round/>
              <a:headEnd type="none" w="sm" len="sm"/>
              <a:tailEnd type="none" w="sm" len="sm"/>
            </a:ln>
          </p:spPr>
        </p:cxnSp>
        <p:cxnSp>
          <p:nvCxnSpPr>
            <p:cNvPr id="717" name="Google Shape;717;p42"/>
            <p:cNvCxnSpPr>
              <a:stCxn id="712" idx="3"/>
              <a:endCxn id="713" idx="7"/>
            </p:cNvCxnSpPr>
            <p:nvPr/>
          </p:nvCxnSpPr>
          <p:spPr>
            <a:xfrm flipH="1">
              <a:off x="5501972" y="2921852"/>
              <a:ext cx="102300" cy="490500"/>
            </a:xfrm>
            <a:prstGeom prst="straightConnector1">
              <a:avLst/>
            </a:prstGeom>
            <a:noFill/>
            <a:ln w="19050" cap="flat" cmpd="sng">
              <a:solidFill>
                <a:srgbClr val="000000"/>
              </a:solidFill>
              <a:prstDash val="solid"/>
              <a:round/>
              <a:headEnd type="none" w="sm" len="sm"/>
              <a:tailEnd type="none" w="sm" len="sm"/>
            </a:ln>
          </p:spPr>
        </p:cxnSp>
        <p:sp>
          <p:nvSpPr>
            <p:cNvPr id="716" name="Google Shape;716;p42"/>
            <p:cNvSpPr/>
            <p:nvPr/>
          </p:nvSpPr>
          <p:spPr>
            <a:xfrm rot="-2158343">
              <a:off x="4696470" y="20406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18" name="Google Shape;718;p42"/>
            <p:cNvCxnSpPr>
              <a:stCxn id="716" idx="5"/>
              <a:endCxn id="712" idx="0"/>
            </p:cNvCxnSpPr>
            <p:nvPr/>
          </p:nvCxnSpPr>
          <p:spPr>
            <a:xfrm>
              <a:off x="5130439" y="2293279"/>
              <a:ext cx="379800" cy="236100"/>
            </a:xfrm>
            <a:prstGeom prst="straightConnector1">
              <a:avLst/>
            </a:prstGeom>
            <a:noFill/>
            <a:ln w="19050" cap="flat" cmpd="sng">
              <a:solidFill>
                <a:srgbClr val="000000"/>
              </a:solidFill>
              <a:prstDash val="solid"/>
              <a:round/>
              <a:headEnd type="none" w="sm" len="sm"/>
              <a:tailEnd type="none" w="sm" len="sm"/>
            </a:ln>
          </p:spPr>
        </p:cxnSp>
        <p:cxnSp>
          <p:nvCxnSpPr>
            <p:cNvPr id="719" name="Google Shape;719;p42"/>
            <p:cNvCxnSpPr>
              <a:stCxn id="716" idx="4"/>
              <a:endCxn id="713" idx="0"/>
            </p:cNvCxnSpPr>
            <p:nvPr/>
          </p:nvCxnSpPr>
          <p:spPr>
            <a:xfrm>
              <a:off x="5043057" y="2435720"/>
              <a:ext cx="296400" cy="1015500"/>
            </a:xfrm>
            <a:prstGeom prst="straightConnector1">
              <a:avLst/>
            </a:prstGeom>
            <a:noFill/>
            <a:ln w="19050" cap="flat" cmpd="sng">
              <a:solidFill>
                <a:srgbClr val="000000"/>
              </a:solidFill>
              <a:prstDash val="solid"/>
              <a:round/>
              <a:headEnd type="none" w="sm" len="sm"/>
              <a:tailEnd type="none" w="sm" len="sm"/>
            </a:ln>
          </p:spPr>
        </p:cxnSp>
      </p:grpSp>
      <p:grpSp>
        <p:nvGrpSpPr>
          <p:cNvPr id="720" name="Google Shape;720;p42"/>
          <p:cNvGrpSpPr/>
          <p:nvPr/>
        </p:nvGrpSpPr>
        <p:grpSpPr>
          <a:xfrm>
            <a:off x="6552098" y="3074312"/>
            <a:ext cx="1684305" cy="1265049"/>
            <a:chOff x="4394375" y="1672650"/>
            <a:chExt cx="3009300" cy="2260227"/>
          </a:xfrm>
        </p:grpSpPr>
        <p:sp>
          <p:nvSpPr>
            <p:cNvPr id="721" name="Google Shape;721;p42"/>
            <p:cNvSpPr/>
            <p:nvPr/>
          </p:nvSpPr>
          <p:spPr>
            <a:xfrm>
              <a:off x="5938650" y="16726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42"/>
            <p:cNvSpPr/>
            <p:nvPr/>
          </p:nvSpPr>
          <p:spPr>
            <a:xfrm>
              <a:off x="6967175" y="185450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42"/>
            <p:cNvSpPr/>
            <p:nvPr/>
          </p:nvSpPr>
          <p:spPr>
            <a:xfrm>
              <a:off x="6287625" y="25001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24" name="Google Shape;724;p42"/>
            <p:cNvCxnSpPr>
              <a:stCxn id="721" idx="4"/>
              <a:endCxn id="723" idx="1"/>
            </p:cNvCxnSpPr>
            <p:nvPr/>
          </p:nvCxnSpPr>
          <p:spPr>
            <a:xfrm>
              <a:off x="6156900" y="2109150"/>
              <a:ext cx="194700" cy="454800"/>
            </a:xfrm>
            <a:prstGeom prst="straightConnector1">
              <a:avLst/>
            </a:prstGeom>
            <a:noFill/>
            <a:ln w="19050" cap="flat" cmpd="sng">
              <a:solidFill>
                <a:srgbClr val="000000"/>
              </a:solidFill>
              <a:prstDash val="solid"/>
              <a:round/>
              <a:headEnd type="none" w="sm" len="sm"/>
              <a:tailEnd type="none" w="sm" len="sm"/>
            </a:ln>
          </p:spPr>
        </p:cxnSp>
        <p:cxnSp>
          <p:nvCxnSpPr>
            <p:cNvPr id="725" name="Google Shape;725;p42"/>
            <p:cNvCxnSpPr>
              <a:stCxn id="721" idx="6"/>
              <a:endCxn id="722" idx="2"/>
            </p:cNvCxnSpPr>
            <p:nvPr/>
          </p:nvCxnSpPr>
          <p:spPr>
            <a:xfrm>
              <a:off x="6375150" y="1890900"/>
              <a:ext cx="591900" cy="181800"/>
            </a:xfrm>
            <a:prstGeom prst="straightConnector1">
              <a:avLst/>
            </a:prstGeom>
            <a:noFill/>
            <a:ln w="19050" cap="flat" cmpd="sng">
              <a:solidFill>
                <a:srgbClr val="000000"/>
              </a:solidFill>
              <a:prstDash val="solid"/>
              <a:round/>
              <a:headEnd type="none" w="sm" len="sm"/>
              <a:tailEnd type="none" w="sm" len="sm"/>
            </a:ln>
          </p:spPr>
        </p:cxnSp>
        <p:cxnSp>
          <p:nvCxnSpPr>
            <p:cNvPr id="726" name="Google Shape;726;p42"/>
            <p:cNvCxnSpPr>
              <a:stCxn id="722" idx="3"/>
              <a:endCxn id="723" idx="7"/>
            </p:cNvCxnSpPr>
            <p:nvPr/>
          </p:nvCxnSpPr>
          <p:spPr>
            <a:xfrm flipH="1">
              <a:off x="6660299" y="2227076"/>
              <a:ext cx="370800" cy="336900"/>
            </a:xfrm>
            <a:prstGeom prst="straightConnector1">
              <a:avLst/>
            </a:prstGeom>
            <a:noFill/>
            <a:ln w="19050" cap="flat" cmpd="sng">
              <a:solidFill>
                <a:srgbClr val="000000"/>
              </a:solidFill>
              <a:prstDash val="solid"/>
              <a:round/>
              <a:headEnd type="none" w="sm" len="sm"/>
              <a:tailEnd type="none" w="sm" len="sm"/>
            </a:ln>
          </p:spPr>
        </p:cxnSp>
        <p:sp>
          <p:nvSpPr>
            <p:cNvPr id="727" name="Google Shape;727;p42"/>
            <p:cNvSpPr/>
            <p:nvPr/>
          </p:nvSpPr>
          <p:spPr>
            <a:xfrm rot="-2158343">
              <a:off x="4480988" y="2944854"/>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42"/>
            <p:cNvSpPr/>
            <p:nvPr/>
          </p:nvSpPr>
          <p:spPr>
            <a:xfrm rot="-2158343">
              <a:off x="5420195" y="24878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42"/>
            <p:cNvSpPr/>
            <p:nvPr/>
          </p:nvSpPr>
          <p:spPr>
            <a:xfrm rot="-2158343">
              <a:off x="5249494" y="3409590"/>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30" name="Google Shape;730;p42"/>
            <p:cNvCxnSpPr>
              <a:stCxn id="727" idx="4"/>
              <a:endCxn id="729" idx="1"/>
            </p:cNvCxnSpPr>
            <p:nvPr/>
          </p:nvCxnSpPr>
          <p:spPr>
            <a:xfrm>
              <a:off x="4827575" y="3339891"/>
              <a:ext cx="424500" cy="253800"/>
            </a:xfrm>
            <a:prstGeom prst="straightConnector1">
              <a:avLst/>
            </a:prstGeom>
            <a:noFill/>
            <a:ln w="19050" cap="flat" cmpd="sng">
              <a:solidFill>
                <a:srgbClr val="000000"/>
              </a:solidFill>
              <a:prstDash val="solid"/>
              <a:round/>
              <a:headEnd type="none" w="sm" len="sm"/>
              <a:tailEnd type="none" w="sm" len="sm"/>
            </a:ln>
          </p:spPr>
        </p:cxnSp>
        <p:cxnSp>
          <p:nvCxnSpPr>
            <p:cNvPr id="731" name="Google Shape;731;p42"/>
            <p:cNvCxnSpPr>
              <a:stCxn id="727" idx="7"/>
              <a:endCxn id="732" idx="3"/>
            </p:cNvCxnSpPr>
            <p:nvPr/>
          </p:nvCxnSpPr>
          <p:spPr>
            <a:xfrm rot="10800000" flipH="1">
              <a:off x="4733584" y="2474759"/>
              <a:ext cx="147000" cy="472800"/>
            </a:xfrm>
            <a:prstGeom prst="straightConnector1">
              <a:avLst/>
            </a:prstGeom>
            <a:noFill/>
            <a:ln w="19050" cap="flat" cmpd="sng">
              <a:solidFill>
                <a:srgbClr val="000000"/>
              </a:solidFill>
              <a:prstDash val="solid"/>
              <a:round/>
              <a:headEnd type="none" w="sm" len="sm"/>
              <a:tailEnd type="none" w="sm" len="sm"/>
            </a:ln>
          </p:spPr>
        </p:cxnSp>
        <p:cxnSp>
          <p:nvCxnSpPr>
            <p:cNvPr id="733" name="Google Shape;733;p42"/>
            <p:cNvCxnSpPr>
              <a:stCxn id="728" idx="3"/>
              <a:endCxn id="729" idx="7"/>
            </p:cNvCxnSpPr>
            <p:nvPr/>
          </p:nvCxnSpPr>
          <p:spPr>
            <a:xfrm flipH="1">
              <a:off x="5501972" y="2921852"/>
              <a:ext cx="102300" cy="490500"/>
            </a:xfrm>
            <a:prstGeom prst="straightConnector1">
              <a:avLst/>
            </a:prstGeom>
            <a:noFill/>
            <a:ln w="19050" cap="flat" cmpd="sng">
              <a:solidFill>
                <a:srgbClr val="000000"/>
              </a:solidFill>
              <a:prstDash val="solid"/>
              <a:round/>
              <a:headEnd type="none" w="sm" len="sm"/>
              <a:tailEnd type="none" w="sm" len="sm"/>
            </a:ln>
          </p:spPr>
        </p:cxnSp>
        <p:sp>
          <p:nvSpPr>
            <p:cNvPr id="732" name="Google Shape;732;p42"/>
            <p:cNvSpPr/>
            <p:nvPr/>
          </p:nvSpPr>
          <p:spPr>
            <a:xfrm rot="-2158343">
              <a:off x="4696470" y="20406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34" name="Google Shape;734;p42"/>
            <p:cNvCxnSpPr>
              <a:stCxn id="732" idx="5"/>
              <a:endCxn id="728" idx="0"/>
            </p:cNvCxnSpPr>
            <p:nvPr/>
          </p:nvCxnSpPr>
          <p:spPr>
            <a:xfrm>
              <a:off x="5130439" y="2293279"/>
              <a:ext cx="379800" cy="236100"/>
            </a:xfrm>
            <a:prstGeom prst="straightConnector1">
              <a:avLst/>
            </a:prstGeom>
            <a:noFill/>
            <a:ln w="19050" cap="flat" cmpd="sng">
              <a:solidFill>
                <a:srgbClr val="000000"/>
              </a:solidFill>
              <a:prstDash val="solid"/>
              <a:round/>
              <a:headEnd type="none" w="sm" len="sm"/>
              <a:tailEnd type="none" w="sm" len="sm"/>
            </a:ln>
          </p:spPr>
        </p:cxnSp>
        <p:cxnSp>
          <p:nvCxnSpPr>
            <p:cNvPr id="735" name="Google Shape;735;p42"/>
            <p:cNvCxnSpPr>
              <a:stCxn id="732" idx="4"/>
              <a:endCxn id="729" idx="0"/>
            </p:cNvCxnSpPr>
            <p:nvPr/>
          </p:nvCxnSpPr>
          <p:spPr>
            <a:xfrm>
              <a:off x="5043057" y="2435720"/>
              <a:ext cx="296400" cy="1015500"/>
            </a:xfrm>
            <a:prstGeom prst="straightConnector1">
              <a:avLst/>
            </a:prstGeom>
            <a:noFill/>
            <a:ln w="19050" cap="flat" cmpd="sng">
              <a:solidFill>
                <a:srgbClr val="000000"/>
              </a:solidFill>
              <a:prstDash val="solid"/>
              <a:round/>
              <a:headEnd type="none" w="sm" len="sm"/>
              <a:tailEnd type="none" w="sm" len="sm"/>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43"/>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Graphs may come in any one of many possible configurations. Look at the diagrams below. Vertices are represented as circles, and edges are lines. Which of the diagrams below represents a graph?</a:t>
            </a:r>
            <a:endParaRPr/>
          </a:p>
        </p:txBody>
      </p:sp>
      <p:sp>
        <p:nvSpPr>
          <p:cNvPr id="741" name="Google Shape;741;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742" name="Google Shape;742;p4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Graph Identification</a:t>
            </a:r>
            <a:endParaRPr/>
          </a:p>
        </p:txBody>
      </p:sp>
      <p:sp>
        <p:nvSpPr>
          <p:cNvPr id="743" name="Google Shape;743;p4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12.2</a:t>
            </a:r>
            <a:endParaRPr/>
          </a:p>
        </p:txBody>
      </p:sp>
      <p:sp>
        <p:nvSpPr>
          <p:cNvPr id="744" name="Google Shape;744;p43"/>
          <p:cNvSpPr/>
          <p:nvPr/>
        </p:nvSpPr>
        <p:spPr>
          <a:xfrm>
            <a:off x="1478200" y="1647483"/>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45" name="Google Shape;745;p43"/>
          <p:cNvGrpSpPr/>
          <p:nvPr/>
        </p:nvGrpSpPr>
        <p:grpSpPr>
          <a:xfrm>
            <a:off x="3472625" y="1681608"/>
            <a:ext cx="640205" cy="601260"/>
            <a:chOff x="4258750" y="1571283"/>
            <a:chExt cx="640205" cy="601260"/>
          </a:xfrm>
        </p:grpSpPr>
        <p:sp>
          <p:nvSpPr>
            <p:cNvPr id="746" name="Google Shape;746;p43"/>
            <p:cNvSpPr/>
            <p:nvPr/>
          </p:nvSpPr>
          <p:spPr>
            <a:xfrm>
              <a:off x="4258750" y="1571283"/>
              <a:ext cx="256500" cy="25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43"/>
            <p:cNvSpPr/>
            <p:nvPr/>
          </p:nvSpPr>
          <p:spPr>
            <a:xfrm>
              <a:off x="4642455" y="1916043"/>
              <a:ext cx="256500" cy="25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48" name="Google Shape;748;p43"/>
            <p:cNvCxnSpPr>
              <a:stCxn id="746" idx="5"/>
              <a:endCxn id="747" idx="1"/>
            </p:cNvCxnSpPr>
            <p:nvPr/>
          </p:nvCxnSpPr>
          <p:spPr>
            <a:xfrm>
              <a:off x="4477686" y="1790219"/>
              <a:ext cx="202200" cy="163500"/>
            </a:xfrm>
            <a:prstGeom prst="straightConnector1">
              <a:avLst/>
            </a:prstGeom>
            <a:noFill/>
            <a:ln w="19050" cap="flat" cmpd="sng">
              <a:solidFill>
                <a:srgbClr val="000000"/>
              </a:solidFill>
              <a:prstDash val="solid"/>
              <a:round/>
              <a:headEnd type="none" w="sm" len="sm"/>
              <a:tailEnd type="none" w="sm" len="sm"/>
            </a:ln>
          </p:spPr>
        </p:cxnSp>
      </p:grpSp>
      <p:grpSp>
        <p:nvGrpSpPr>
          <p:cNvPr id="749" name="Google Shape;749;p43"/>
          <p:cNvGrpSpPr/>
          <p:nvPr/>
        </p:nvGrpSpPr>
        <p:grpSpPr>
          <a:xfrm>
            <a:off x="6506125" y="1442567"/>
            <a:ext cx="896364" cy="1301153"/>
            <a:chOff x="6887125" y="1290167"/>
            <a:chExt cx="896364" cy="1301153"/>
          </a:xfrm>
        </p:grpSpPr>
        <p:sp>
          <p:nvSpPr>
            <p:cNvPr id="750" name="Google Shape;750;p43"/>
            <p:cNvSpPr/>
            <p:nvPr/>
          </p:nvSpPr>
          <p:spPr>
            <a:xfrm>
              <a:off x="6887125" y="1290167"/>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43"/>
            <p:cNvSpPr/>
            <p:nvPr/>
          </p:nvSpPr>
          <p:spPr>
            <a:xfrm>
              <a:off x="7277168" y="1580554"/>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52" name="Google Shape;752;p43"/>
            <p:cNvCxnSpPr>
              <a:stCxn id="750" idx="5"/>
              <a:endCxn id="751" idx="1"/>
            </p:cNvCxnSpPr>
            <p:nvPr/>
          </p:nvCxnSpPr>
          <p:spPr>
            <a:xfrm>
              <a:off x="7066115" y="1469157"/>
              <a:ext cx="241800" cy="142200"/>
            </a:xfrm>
            <a:prstGeom prst="straightConnector1">
              <a:avLst/>
            </a:prstGeom>
            <a:noFill/>
            <a:ln w="19050" cap="flat" cmpd="sng">
              <a:solidFill>
                <a:srgbClr val="000000"/>
              </a:solidFill>
              <a:prstDash val="solid"/>
              <a:round/>
              <a:headEnd type="none" w="sm" len="sm"/>
              <a:tailEnd type="none" w="sm" len="sm"/>
            </a:ln>
          </p:spPr>
        </p:cxnSp>
        <p:sp>
          <p:nvSpPr>
            <p:cNvPr id="753" name="Google Shape;753;p43"/>
            <p:cNvSpPr/>
            <p:nvPr/>
          </p:nvSpPr>
          <p:spPr>
            <a:xfrm>
              <a:off x="7543104" y="1968700"/>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43"/>
            <p:cNvSpPr/>
            <p:nvPr/>
          </p:nvSpPr>
          <p:spPr>
            <a:xfrm>
              <a:off x="7573789" y="2381620"/>
              <a:ext cx="209700" cy="2097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55" name="Google Shape;755;p43"/>
            <p:cNvCxnSpPr>
              <a:stCxn id="751" idx="5"/>
              <a:endCxn id="753" idx="1"/>
            </p:cNvCxnSpPr>
            <p:nvPr/>
          </p:nvCxnSpPr>
          <p:spPr>
            <a:xfrm>
              <a:off x="7456158" y="1759544"/>
              <a:ext cx="117600" cy="240000"/>
            </a:xfrm>
            <a:prstGeom prst="straightConnector1">
              <a:avLst/>
            </a:prstGeom>
            <a:noFill/>
            <a:ln w="19050" cap="flat" cmpd="sng">
              <a:solidFill>
                <a:srgbClr val="000000"/>
              </a:solidFill>
              <a:prstDash val="solid"/>
              <a:round/>
              <a:headEnd type="none" w="sm" len="sm"/>
              <a:tailEnd type="none" w="sm" len="sm"/>
            </a:ln>
          </p:spPr>
        </p:cxnSp>
        <p:cxnSp>
          <p:nvCxnSpPr>
            <p:cNvPr id="756" name="Google Shape;756;p43"/>
            <p:cNvCxnSpPr>
              <a:stCxn id="753" idx="4"/>
              <a:endCxn id="754" idx="0"/>
            </p:cNvCxnSpPr>
            <p:nvPr/>
          </p:nvCxnSpPr>
          <p:spPr>
            <a:xfrm>
              <a:off x="7647954" y="2178400"/>
              <a:ext cx="30600" cy="203100"/>
            </a:xfrm>
            <a:prstGeom prst="straightConnector1">
              <a:avLst/>
            </a:prstGeom>
            <a:noFill/>
            <a:ln w="19050" cap="flat" cmpd="sng">
              <a:solidFill>
                <a:srgbClr val="000000"/>
              </a:solidFill>
              <a:prstDash val="solid"/>
              <a:round/>
              <a:headEnd type="none" w="sm" len="sm"/>
              <a:tailEnd type="none" w="sm" len="sm"/>
            </a:ln>
          </p:spPr>
        </p:cxnSp>
      </p:grpSp>
      <p:grpSp>
        <p:nvGrpSpPr>
          <p:cNvPr id="757" name="Google Shape;757;p43"/>
          <p:cNvGrpSpPr/>
          <p:nvPr/>
        </p:nvGrpSpPr>
        <p:grpSpPr>
          <a:xfrm>
            <a:off x="433123" y="3133031"/>
            <a:ext cx="2497068" cy="1265075"/>
            <a:chOff x="3730500" y="789700"/>
            <a:chExt cx="5334475" cy="2702575"/>
          </a:xfrm>
        </p:grpSpPr>
        <p:sp>
          <p:nvSpPr>
            <p:cNvPr id="758" name="Google Shape;758;p43"/>
            <p:cNvSpPr/>
            <p:nvPr/>
          </p:nvSpPr>
          <p:spPr>
            <a:xfrm>
              <a:off x="6203700" y="78970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9" name="Google Shape;759;p43"/>
            <p:cNvGrpSpPr/>
            <p:nvPr/>
          </p:nvGrpSpPr>
          <p:grpSpPr>
            <a:xfrm>
              <a:off x="4834650" y="1591863"/>
              <a:ext cx="3068600" cy="436512"/>
              <a:chOff x="4834650" y="1591863"/>
              <a:chExt cx="3068600" cy="436512"/>
            </a:xfrm>
          </p:grpSpPr>
          <p:sp>
            <p:nvSpPr>
              <p:cNvPr id="760" name="Google Shape;760;p43"/>
              <p:cNvSpPr/>
              <p:nvPr/>
            </p:nvSpPr>
            <p:spPr>
              <a:xfrm>
                <a:off x="7466750" y="15918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43"/>
              <p:cNvSpPr/>
              <p:nvPr/>
            </p:nvSpPr>
            <p:spPr>
              <a:xfrm>
                <a:off x="4834650" y="1591863"/>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62" name="Google Shape;762;p43"/>
            <p:cNvGrpSpPr/>
            <p:nvPr/>
          </p:nvGrpSpPr>
          <p:grpSpPr>
            <a:xfrm>
              <a:off x="4201013" y="2149650"/>
              <a:ext cx="4458887" cy="544400"/>
              <a:chOff x="4201013" y="2149650"/>
              <a:chExt cx="4458887" cy="544400"/>
            </a:xfrm>
          </p:grpSpPr>
          <p:sp>
            <p:nvSpPr>
              <p:cNvPr id="763" name="Google Shape;763;p43"/>
              <p:cNvSpPr/>
              <p:nvPr/>
            </p:nvSpPr>
            <p:spPr>
              <a:xfrm>
                <a:off x="8223400" y="22575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43"/>
              <p:cNvSpPr/>
              <p:nvPr/>
            </p:nvSpPr>
            <p:spPr>
              <a:xfrm>
                <a:off x="4201013" y="21496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43"/>
              <p:cNvSpPr/>
              <p:nvPr/>
            </p:nvSpPr>
            <p:spPr>
              <a:xfrm>
                <a:off x="5466625" y="2179213"/>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43"/>
              <p:cNvSpPr/>
              <p:nvPr/>
            </p:nvSpPr>
            <p:spPr>
              <a:xfrm>
                <a:off x="6832789" y="22575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67" name="Google Shape;767;p43"/>
            <p:cNvGrpSpPr/>
            <p:nvPr/>
          </p:nvGrpSpPr>
          <p:grpSpPr>
            <a:xfrm>
              <a:off x="5052924" y="1162276"/>
              <a:ext cx="2477652" cy="493500"/>
              <a:chOff x="5052924" y="1162276"/>
              <a:chExt cx="2477652" cy="493500"/>
            </a:xfrm>
          </p:grpSpPr>
          <p:cxnSp>
            <p:nvCxnSpPr>
              <p:cNvPr id="768" name="Google Shape;768;p43"/>
              <p:cNvCxnSpPr>
                <a:stCxn id="758" idx="5"/>
                <a:endCxn id="760" idx="1"/>
              </p:cNvCxnSpPr>
              <p:nvPr/>
            </p:nvCxnSpPr>
            <p:spPr>
              <a:xfrm>
                <a:off x="6576276" y="1162276"/>
                <a:ext cx="954300" cy="493500"/>
              </a:xfrm>
              <a:prstGeom prst="straightConnector1">
                <a:avLst/>
              </a:prstGeom>
              <a:noFill/>
              <a:ln w="19050" cap="flat" cmpd="sng">
                <a:solidFill>
                  <a:srgbClr val="000000"/>
                </a:solidFill>
                <a:prstDash val="solid"/>
                <a:round/>
                <a:headEnd type="none" w="sm" len="sm"/>
                <a:tailEnd type="none" w="sm" len="sm"/>
              </a:ln>
            </p:spPr>
          </p:cxnSp>
          <p:cxnSp>
            <p:nvCxnSpPr>
              <p:cNvPr id="769" name="Google Shape;769;p43"/>
              <p:cNvCxnSpPr>
                <a:stCxn id="758" idx="3"/>
                <a:endCxn id="761" idx="0"/>
              </p:cNvCxnSpPr>
              <p:nvPr/>
            </p:nvCxnSpPr>
            <p:spPr>
              <a:xfrm flipH="1">
                <a:off x="5052924" y="1162276"/>
                <a:ext cx="1214700" cy="429600"/>
              </a:xfrm>
              <a:prstGeom prst="straightConnector1">
                <a:avLst/>
              </a:prstGeom>
              <a:noFill/>
              <a:ln w="19050" cap="flat" cmpd="sng">
                <a:solidFill>
                  <a:srgbClr val="000000"/>
                </a:solidFill>
                <a:prstDash val="solid"/>
                <a:round/>
                <a:headEnd type="none" w="sm" len="sm"/>
                <a:tailEnd type="none" w="sm" len="sm"/>
              </a:ln>
            </p:spPr>
          </p:cxnSp>
        </p:grpSp>
        <p:grpSp>
          <p:nvGrpSpPr>
            <p:cNvPr id="770" name="Google Shape;770;p43"/>
            <p:cNvGrpSpPr/>
            <p:nvPr/>
          </p:nvGrpSpPr>
          <p:grpSpPr>
            <a:xfrm>
              <a:off x="4419174" y="1964439"/>
              <a:ext cx="3868052" cy="357012"/>
              <a:chOff x="4419174" y="1964439"/>
              <a:chExt cx="3868052" cy="357012"/>
            </a:xfrm>
          </p:grpSpPr>
          <p:cxnSp>
            <p:nvCxnSpPr>
              <p:cNvPr id="771" name="Google Shape;771;p43"/>
              <p:cNvCxnSpPr>
                <a:stCxn id="760" idx="5"/>
                <a:endCxn id="763" idx="1"/>
              </p:cNvCxnSpPr>
              <p:nvPr/>
            </p:nvCxnSpPr>
            <p:spPr>
              <a:xfrm>
                <a:off x="7839326" y="1964451"/>
                <a:ext cx="447900" cy="357000"/>
              </a:xfrm>
              <a:prstGeom prst="straightConnector1">
                <a:avLst/>
              </a:prstGeom>
              <a:noFill/>
              <a:ln w="19050" cap="flat" cmpd="sng">
                <a:solidFill>
                  <a:srgbClr val="000000"/>
                </a:solidFill>
                <a:prstDash val="solid"/>
                <a:round/>
                <a:headEnd type="none" w="sm" len="sm"/>
                <a:tailEnd type="none" w="sm" len="sm"/>
              </a:ln>
            </p:spPr>
          </p:cxnSp>
          <p:cxnSp>
            <p:nvCxnSpPr>
              <p:cNvPr id="772" name="Google Shape;772;p43"/>
              <p:cNvCxnSpPr>
                <a:stCxn id="761" idx="5"/>
                <a:endCxn id="765" idx="0"/>
              </p:cNvCxnSpPr>
              <p:nvPr/>
            </p:nvCxnSpPr>
            <p:spPr>
              <a:xfrm>
                <a:off x="5207226" y="1964439"/>
                <a:ext cx="477600" cy="214800"/>
              </a:xfrm>
              <a:prstGeom prst="straightConnector1">
                <a:avLst/>
              </a:prstGeom>
              <a:noFill/>
              <a:ln w="19050" cap="flat" cmpd="sng">
                <a:solidFill>
                  <a:srgbClr val="000000"/>
                </a:solidFill>
                <a:prstDash val="solid"/>
                <a:round/>
                <a:headEnd type="none" w="sm" len="sm"/>
                <a:tailEnd type="none" w="sm" len="sm"/>
              </a:ln>
            </p:spPr>
          </p:cxnSp>
          <p:cxnSp>
            <p:nvCxnSpPr>
              <p:cNvPr id="773" name="Google Shape;773;p43"/>
              <p:cNvCxnSpPr>
                <a:stCxn id="761" idx="3"/>
                <a:endCxn id="764" idx="0"/>
              </p:cNvCxnSpPr>
              <p:nvPr/>
            </p:nvCxnSpPr>
            <p:spPr>
              <a:xfrm flipH="1">
                <a:off x="4419174" y="1964439"/>
                <a:ext cx="479400" cy="185100"/>
              </a:xfrm>
              <a:prstGeom prst="straightConnector1">
                <a:avLst/>
              </a:prstGeom>
              <a:noFill/>
              <a:ln w="19050" cap="flat" cmpd="sng">
                <a:solidFill>
                  <a:srgbClr val="000000"/>
                </a:solidFill>
                <a:prstDash val="solid"/>
                <a:round/>
                <a:headEnd type="none" w="sm" len="sm"/>
                <a:tailEnd type="none" w="sm" len="sm"/>
              </a:ln>
            </p:spPr>
          </p:cxnSp>
          <p:cxnSp>
            <p:nvCxnSpPr>
              <p:cNvPr id="774" name="Google Shape;774;p43"/>
              <p:cNvCxnSpPr>
                <a:stCxn id="760" idx="3"/>
                <a:endCxn id="766" idx="0"/>
              </p:cNvCxnSpPr>
              <p:nvPr/>
            </p:nvCxnSpPr>
            <p:spPr>
              <a:xfrm flipH="1">
                <a:off x="7050974" y="1964451"/>
                <a:ext cx="479700" cy="293100"/>
              </a:xfrm>
              <a:prstGeom prst="straightConnector1">
                <a:avLst/>
              </a:prstGeom>
              <a:noFill/>
              <a:ln w="19050" cap="flat" cmpd="sng">
                <a:solidFill>
                  <a:srgbClr val="000000"/>
                </a:solidFill>
                <a:prstDash val="solid"/>
                <a:round/>
                <a:headEnd type="none" w="sm" len="sm"/>
                <a:tailEnd type="none" w="sm" len="sm"/>
              </a:ln>
            </p:spPr>
          </p:cxnSp>
        </p:grpSp>
        <p:grpSp>
          <p:nvGrpSpPr>
            <p:cNvPr id="775" name="Google Shape;775;p43"/>
            <p:cNvGrpSpPr/>
            <p:nvPr/>
          </p:nvGrpSpPr>
          <p:grpSpPr>
            <a:xfrm>
              <a:off x="3730500" y="3055775"/>
              <a:ext cx="5334475" cy="436500"/>
              <a:chOff x="3730500" y="3055775"/>
              <a:chExt cx="5334475" cy="436500"/>
            </a:xfrm>
          </p:grpSpPr>
          <p:sp>
            <p:nvSpPr>
              <p:cNvPr id="776" name="Google Shape;776;p43"/>
              <p:cNvSpPr/>
              <p:nvPr/>
            </p:nvSpPr>
            <p:spPr>
              <a:xfrm>
                <a:off x="3730500"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43"/>
              <p:cNvSpPr/>
              <p:nvPr/>
            </p:nvSpPr>
            <p:spPr>
              <a:xfrm>
                <a:off x="450397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43"/>
              <p:cNvSpPr/>
              <p:nvPr/>
            </p:nvSpPr>
            <p:spPr>
              <a:xfrm>
                <a:off x="5098863"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43"/>
              <p:cNvSpPr/>
              <p:nvPr/>
            </p:nvSpPr>
            <p:spPr>
              <a:xfrm>
                <a:off x="579192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43"/>
              <p:cNvSpPr/>
              <p:nvPr/>
            </p:nvSpPr>
            <p:spPr>
              <a:xfrm>
                <a:off x="648497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781" name="Google Shape;781;p43"/>
              <p:cNvSpPr/>
              <p:nvPr/>
            </p:nvSpPr>
            <p:spPr>
              <a:xfrm>
                <a:off x="7183200"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43"/>
              <p:cNvSpPr/>
              <p:nvPr/>
            </p:nvSpPr>
            <p:spPr>
              <a:xfrm>
                <a:off x="7903250"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43"/>
              <p:cNvSpPr/>
              <p:nvPr/>
            </p:nvSpPr>
            <p:spPr>
              <a:xfrm>
                <a:off x="8628475" y="30557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4" name="Google Shape;784;p43"/>
            <p:cNvGrpSpPr/>
            <p:nvPr/>
          </p:nvGrpSpPr>
          <p:grpSpPr>
            <a:xfrm>
              <a:off x="3948737" y="2522226"/>
              <a:ext cx="4898039" cy="533600"/>
              <a:chOff x="3948737" y="2522226"/>
              <a:chExt cx="4898039" cy="533600"/>
            </a:xfrm>
          </p:grpSpPr>
          <p:cxnSp>
            <p:nvCxnSpPr>
              <p:cNvPr id="785" name="Google Shape;785;p43"/>
              <p:cNvCxnSpPr>
                <a:stCxn id="764" idx="3"/>
                <a:endCxn id="776" idx="0"/>
              </p:cNvCxnSpPr>
              <p:nvPr/>
            </p:nvCxnSpPr>
            <p:spPr>
              <a:xfrm flipH="1">
                <a:off x="3948737" y="2522226"/>
                <a:ext cx="316200" cy="533400"/>
              </a:xfrm>
              <a:prstGeom prst="straightConnector1">
                <a:avLst/>
              </a:prstGeom>
              <a:noFill/>
              <a:ln w="19050" cap="flat" cmpd="sng">
                <a:solidFill>
                  <a:srgbClr val="000000"/>
                </a:solidFill>
                <a:prstDash val="solid"/>
                <a:round/>
                <a:headEnd type="none" w="sm" len="sm"/>
                <a:tailEnd type="none" w="sm" len="sm"/>
              </a:ln>
            </p:spPr>
          </p:cxnSp>
          <p:cxnSp>
            <p:nvCxnSpPr>
              <p:cNvPr id="786" name="Google Shape;786;p43"/>
              <p:cNvCxnSpPr>
                <a:stCxn id="764" idx="5"/>
                <a:endCxn id="777" idx="0"/>
              </p:cNvCxnSpPr>
              <p:nvPr/>
            </p:nvCxnSpPr>
            <p:spPr>
              <a:xfrm>
                <a:off x="4573589" y="2522226"/>
                <a:ext cx="148500" cy="533400"/>
              </a:xfrm>
              <a:prstGeom prst="straightConnector1">
                <a:avLst/>
              </a:prstGeom>
              <a:noFill/>
              <a:ln w="19050" cap="flat" cmpd="sng">
                <a:solidFill>
                  <a:srgbClr val="000000"/>
                </a:solidFill>
                <a:prstDash val="solid"/>
                <a:round/>
                <a:headEnd type="none" w="sm" len="sm"/>
                <a:tailEnd type="none" w="sm" len="sm"/>
              </a:ln>
            </p:spPr>
          </p:cxnSp>
          <p:cxnSp>
            <p:nvCxnSpPr>
              <p:cNvPr id="787" name="Google Shape;787;p43"/>
              <p:cNvCxnSpPr>
                <a:stCxn id="765" idx="3"/>
                <a:endCxn id="778" idx="0"/>
              </p:cNvCxnSpPr>
              <p:nvPr/>
            </p:nvCxnSpPr>
            <p:spPr>
              <a:xfrm flipH="1">
                <a:off x="5317249" y="2551789"/>
                <a:ext cx="213300" cy="504000"/>
              </a:xfrm>
              <a:prstGeom prst="straightConnector1">
                <a:avLst/>
              </a:prstGeom>
              <a:noFill/>
              <a:ln w="19050" cap="flat" cmpd="sng">
                <a:solidFill>
                  <a:srgbClr val="000000"/>
                </a:solidFill>
                <a:prstDash val="solid"/>
                <a:round/>
                <a:headEnd type="none" w="sm" len="sm"/>
                <a:tailEnd type="none" w="sm" len="sm"/>
              </a:ln>
            </p:spPr>
          </p:cxnSp>
          <p:cxnSp>
            <p:nvCxnSpPr>
              <p:cNvPr id="788" name="Google Shape;788;p43"/>
              <p:cNvCxnSpPr>
                <a:stCxn id="765" idx="5"/>
                <a:endCxn id="779" idx="0"/>
              </p:cNvCxnSpPr>
              <p:nvPr/>
            </p:nvCxnSpPr>
            <p:spPr>
              <a:xfrm>
                <a:off x="5839201" y="2551789"/>
                <a:ext cx="171000" cy="504000"/>
              </a:xfrm>
              <a:prstGeom prst="straightConnector1">
                <a:avLst/>
              </a:prstGeom>
              <a:noFill/>
              <a:ln w="19050" cap="flat" cmpd="sng">
                <a:solidFill>
                  <a:srgbClr val="000000"/>
                </a:solidFill>
                <a:prstDash val="solid"/>
                <a:round/>
                <a:headEnd type="none" w="sm" len="sm"/>
                <a:tailEnd type="none" w="sm" len="sm"/>
              </a:ln>
            </p:spPr>
          </p:cxnSp>
          <p:cxnSp>
            <p:nvCxnSpPr>
              <p:cNvPr id="789" name="Google Shape;789;p43"/>
              <p:cNvCxnSpPr>
                <a:stCxn id="766" idx="3"/>
                <a:endCxn id="780" idx="0"/>
              </p:cNvCxnSpPr>
              <p:nvPr/>
            </p:nvCxnSpPr>
            <p:spPr>
              <a:xfrm flipH="1">
                <a:off x="6703213" y="2630126"/>
                <a:ext cx="193500" cy="425700"/>
              </a:xfrm>
              <a:prstGeom prst="straightConnector1">
                <a:avLst/>
              </a:prstGeom>
              <a:noFill/>
              <a:ln w="19050" cap="flat" cmpd="sng">
                <a:solidFill>
                  <a:srgbClr val="000000"/>
                </a:solidFill>
                <a:prstDash val="solid"/>
                <a:round/>
                <a:headEnd type="none" w="sm" len="sm"/>
                <a:tailEnd type="none" w="sm" len="sm"/>
              </a:ln>
            </p:spPr>
          </p:cxnSp>
          <p:cxnSp>
            <p:nvCxnSpPr>
              <p:cNvPr id="790" name="Google Shape;790;p43"/>
              <p:cNvCxnSpPr>
                <a:stCxn id="766" idx="5"/>
                <a:endCxn id="781" idx="0"/>
              </p:cNvCxnSpPr>
              <p:nvPr/>
            </p:nvCxnSpPr>
            <p:spPr>
              <a:xfrm>
                <a:off x="7205365" y="2630126"/>
                <a:ext cx="196200" cy="425700"/>
              </a:xfrm>
              <a:prstGeom prst="straightConnector1">
                <a:avLst/>
              </a:prstGeom>
              <a:noFill/>
              <a:ln w="19050" cap="flat" cmpd="sng">
                <a:solidFill>
                  <a:srgbClr val="000000"/>
                </a:solidFill>
                <a:prstDash val="solid"/>
                <a:round/>
                <a:headEnd type="none" w="sm" len="sm"/>
                <a:tailEnd type="none" w="sm" len="sm"/>
              </a:ln>
            </p:spPr>
          </p:cxnSp>
          <p:cxnSp>
            <p:nvCxnSpPr>
              <p:cNvPr id="791" name="Google Shape;791;p43"/>
              <p:cNvCxnSpPr>
                <a:stCxn id="763" idx="3"/>
                <a:endCxn id="782" idx="0"/>
              </p:cNvCxnSpPr>
              <p:nvPr/>
            </p:nvCxnSpPr>
            <p:spPr>
              <a:xfrm flipH="1">
                <a:off x="8121424" y="2630126"/>
                <a:ext cx="165900" cy="425700"/>
              </a:xfrm>
              <a:prstGeom prst="straightConnector1">
                <a:avLst/>
              </a:prstGeom>
              <a:noFill/>
              <a:ln w="19050" cap="flat" cmpd="sng">
                <a:solidFill>
                  <a:srgbClr val="000000"/>
                </a:solidFill>
                <a:prstDash val="solid"/>
                <a:round/>
                <a:headEnd type="none" w="sm" len="sm"/>
                <a:tailEnd type="none" w="sm" len="sm"/>
              </a:ln>
            </p:spPr>
          </p:cxnSp>
          <p:cxnSp>
            <p:nvCxnSpPr>
              <p:cNvPr id="792" name="Google Shape;792;p43"/>
              <p:cNvCxnSpPr>
                <a:stCxn id="763" idx="5"/>
                <a:endCxn id="783" idx="0"/>
              </p:cNvCxnSpPr>
              <p:nvPr/>
            </p:nvCxnSpPr>
            <p:spPr>
              <a:xfrm>
                <a:off x="8595976" y="2630126"/>
                <a:ext cx="250800" cy="425700"/>
              </a:xfrm>
              <a:prstGeom prst="straightConnector1">
                <a:avLst/>
              </a:prstGeom>
              <a:noFill/>
              <a:ln w="19050" cap="flat" cmpd="sng">
                <a:solidFill>
                  <a:srgbClr val="000000"/>
                </a:solidFill>
                <a:prstDash val="solid"/>
                <a:round/>
                <a:headEnd type="none" w="sm" len="sm"/>
                <a:tailEnd type="none" w="sm" len="sm"/>
              </a:ln>
            </p:spPr>
          </p:cxnSp>
        </p:grpSp>
      </p:grpSp>
      <p:grpSp>
        <p:nvGrpSpPr>
          <p:cNvPr id="793" name="Google Shape;793;p43"/>
          <p:cNvGrpSpPr/>
          <p:nvPr/>
        </p:nvGrpSpPr>
        <p:grpSpPr>
          <a:xfrm>
            <a:off x="4002000" y="3138148"/>
            <a:ext cx="867035" cy="1107538"/>
            <a:chOff x="4394375" y="1954070"/>
            <a:chExt cx="1549107" cy="1978807"/>
          </a:xfrm>
        </p:grpSpPr>
        <p:sp>
          <p:nvSpPr>
            <p:cNvPr id="794" name="Google Shape;794;p43"/>
            <p:cNvSpPr/>
            <p:nvPr/>
          </p:nvSpPr>
          <p:spPr>
            <a:xfrm rot="-2158343">
              <a:off x="4480988" y="2944854"/>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43"/>
            <p:cNvSpPr/>
            <p:nvPr/>
          </p:nvSpPr>
          <p:spPr>
            <a:xfrm rot="-2158343">
              <a:off x="5420195" y="24878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43"/>
            <p:cNvSpPr/>
            <p:nvPr/>
          </p:nvSpPr>
          <p:spPr>
            <a:xfrm rot="-2158343">
              <a:off x="5249494" y="3409590"/>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97" name="Google Shape;797;p43"/>
            <p:cNvCxnSpPr>
              <a:stCxn id="794" idx="4"/>
              <a:endCxn id="796" idx="1"/>
            </p:cNvCxnSpPr>
            <p:nvPr/>
          </p:nvCxnSpPr>
          <p:spPr>
            <a:xfrm>
              <a:off x="4827575" y="3339891"/>
              <a:ext cx="424500" cy="253800"/>
            </a:xfrm>
            <a:prstGeom prst="straightConnector1">
              <a:avLst/>
            </a:prstGeom>
            <a:noFill/>
            <a:ln w="19050" cap="flat" cmpd="sng">
              <a:solidFill>
                <a:srgbClr val="000000"/>
              </a:solidFill>
              <a:prstDash val="solid"/>
              <a:round/>
              <a:headEnd type="none" w="sm" len="sm"/>
              <a:tailEnd type="none" w="sm" len="sm"/>
            </a:ln>
          </p:spPr>
        </p:cxnSp>
        <p:cxnSp>
          <p:nvCxnSpPr>
            <p:cNvPr id="798" name="Google Shape;798;p43"/>
            <p:cNvCxnSpPr>
              <a:stCxn id="794" idx="7"/>
              <a:endCxn id="799" idx="3"/>
            </p:cNvCxnSpPr>
            <p:nvPr/>
          </p:nvCxnSpPr>
          <p:spPr>
            <a:xfrm rot="10800000" flipH="1">
              <a:off x="4733584" y="2474759"/>
              <a:ext cx="147000" cy="472800"/>
            </a:xfrm>
            <a:prstGeom prst="straightConnector1">
              <a:avLst/>
            </a:prstGeom>
            <a:noFill/>
            <a:ln w="19050" cap="flat" cmpd="sng">
              <a:solidFill>
                <a:srgbClr val="000000"/>
              </a:solidFill>
              <a:prstDash val="solid"/>
              <a:round/>
              <a:headEnd type="none" w="sm" len="sm"/>
              <a:tailEnd type="none" w="sm" len="sm"/>
            </a:ln>
          </p:spPr>
        </p:cxnSp>
        <p:cxnSp>
          <p:nvCxnSpPr>
            <p:cNvPr id="800" name="Google Shape;800;p43"/>
            <p:cNvCxnSpPr>
              <a:stCxn id="795" idx="3"/>
              <a:endCxn id="796" idx="7"/>
            </p:cNvCxnSpPr>
            <p:nvPr/>
          </p:nvCxnSpPr>
          <p:spPr>
            <a:xfrm flipH="1">
              <a:off x="5501972" y="2921852"/>
              <a:ext cx="102300" cy="490500"/>
            </a:xfrm>
            <a:prstGeom prst="straightConnector1">
              <a:avLst/>
            </a:prstGeom>
            <a:noFill/>
            <a:ln w="19050" cap="flat" cmpd="sng">
              <a:solidFill>
                <a:srgbClr val="000000"/>
              </a:solidFill>
              <a:prstDash val="solid"/>
              <a:round/>
              <a:headEnd type="none" w="sm" len="sm"/>
              <a:tailEnd type="none" w="sm" len="sm"/>
            </a:ln>
          </p:spPr>
        </p:cxnSp>
        <p:sp>
          <p:nvSpPr>
            <p:cNvPr id="799" name="Google Shape;799;p43"/>
            <p:cNvSpPr/>
            <p:nvPr/>
          </p:nvSpPr>
          <p:spPr>
            <a:xfrm rot="-2158343">
              <a:off x="4696470" y="20406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01" name="Google Shape;801;p43"/>
            <p:cNvCxnSpPr>
              <a:stCxn id="799" idx="5"/>
              <a:endCxn id="795" idx="0"/>
            </p:cNvCxnSpPr>
            <p:nvPr/>
          </p:nvCxnSpPr>
          <p:spPr>
            <a:xfrm>
              <a:off x="5130439" y="2293279"/>
              <a:ext cx="379800" cy="236100"/>
            </a:xfrm>
            <a:prstGeom prst="straightConnector1">
              <a:avLst/>
            </a:prstGeom>
            <a:noFill/>
            <a:ln w="19050" cap="flat" cmpd="sng">
              <a:solidFill>
                <a:srgbClr val="000000"/>
              </a:solidFill>
              <a:prstDash val="solid"/>
              <a:round/>
              <a:headEnd type="none" w="sm" len="sm"/>
              <a:tailEnd type="none" w="sm" len="sm"/>
            </a:ln>
          </p:spPr>
        </p:cxnSp>
        <p:cxnSp>
          <p:nvCxnSpPr>
            <p:cNvPr id="802" name="Google Shape;802;p43"/>
            <p:cNvCxnSpPr>
              <a:stCxn id="799" idx="4"/>
              <a:endCxn id="796" idx="0"/>
            </p:cNvCxnSpPr>
            <p:nvPr/>
          </p:nvCxnSpPr>
          <p:spPr>
            <a:xfrm>
              <a:off x="5043057" y="2435720"/>
              <a:ext cx="296400" cy="1015500"/>
            </a:xfrm>
            <a:prstGeom prst="straightConnector1">
              <a:avLst/>
            </a:prstGeom>
            <a:noFill/>
            <a:ln w="19050" cap="flat" cmpd="sng">
              <a:solidFill>
                <a:srgbClr val="000000"/>
              </a:solidFill>
              <a:prstDash val="solid"/>
              <a:round/>
              <a:headEnd type="none" w="sm" len="sm"/>
              <a:tailEnd type="none" w="sm" len="sm"/>
            </a:ln>
          </p:spPr>
        </p:cxnSp>
      </p:grpSp>
      <p:grpSp>
        <p:nvGrpSpPr>
          <p:cNvPr id="803" name="Google Shape;803;p43"/>
          <p:cNvGrpSpPr/>
          <p:nvPr/>
        </p:nvGrpSpPr>
        <p:grpSpPr>
          <a:xfrm>
            <a:off x="6552098" y="3074312"/>
            <a:ext cx="1684305" cy="1265049"/>
            <a:chOff x="4394375" y="1672650"/>
            <a:chExt cx="3009300" cy="2260227"/>
          </a:xfrm>
        </p:grpSpPr>
        <p:sp>
          <p:nvSpPr>
            <p:cNvPr id="804" name="Google Shape;804;p43"/>
            <p:cNvSpPr/>
            <p:nvPr/>
          </p:nvSpPr>
          <p:spPr>
            <a:xfrm>
              <a:off x="5938650" y="167265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43"/>
            <p:cNvSpPr/>
            <p:nvPr/>
          </p:nvSpPr>
          <p:spPr>
            <a:xfrm>
              <a:off x="6967175" y="1854500"/>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43"/>
            <p:cNvSpPr/>
            <p:nvPr/>
          </p:nvSpPr>
          <p:spPr>
            <a:xfrm>
              <a:off x="6287625" y="2500175"/>
              <a:ext cx="436500" cy="436500"/>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07" name="Google Shape;807;p43"/>
            <p:cNvCxnSpPr>
              <a:stCxn id="804" idx="4"/>
              <a:endCxn id="806" idx="1"/>
            </p:cNvCxnSpPr>
            <p:nvPr/>
          </p:nvCxnSpPr>
          <p:spPr>
            <a:xfrm>
              <a:off x="6156900" y="2109150"/>
              <a:ext cx="194700" cy="454800"/>
            </a:xfrm>
            <a:prstGeom prst="straightConnector1">
              <a:avLst/>
            </a:prstGeom>
            <a:noFill/>
            <a:ln w="19050" cap="flat" cmpd="sng">
              <a:solidFill>
                <a:srgbClr val="000000"/>
              </a:solidFill>
              <a:prstDash val="solid"/>
              <a:round/>
              <a:headEnd type="none" w="sm" len="sm"/>
              <a:tailEnd type="none" w="sm" len="sm"/>
            </a:ln>
          </p:spPr>
        </p:cxnSp>
        <p:cxnSp>
          <p:nvCxnSpPr>
            <p:cNvPr id="808" name="Google Shape;808;p43"/>
            <p:cNvCxnSpPr>
              <a:stCxn id="804" idx="6"/>
              <a:endCxn id="805" idx="2"/>
            </p:cNvCxnSpPr>
            <p:nvPr/>
          </p:nvCxnSpPr>
          <p:spPr>
            <a:xfrm>
              <a:off x="6375150" y="1890900"/>
              <a:ext cx="591900" cy="181800"/>
            </a:xfrm>
            <a:prstGeom prst="straightConnector1">
              <a:avLst/>
            </a:prstGeom>
            <a:noFill/>
            <a:ln w="19050" cap="flat" cmpd="sng">
              <a:solidFill>
                <a:srgbClr val="000000"/>
              </a:solidFill>
              <a:prstDash val="solid"/>
              <a:round/>
              <a:headEnd type="none" w="sm" len="sm"/>
              <a:tailEnd type="none" w="sm" len="sm"/>
            </a:ln>
          </p:spPr>
        </p:cxnSp>
        <p:cxnSp>
          <p:nvCxnSpPr>
            <p:cNvPr id="809" name="Google Shape;809;p43"/>
            <p:cNvCxnSpPr>
              <a:stCxn id="805" idx="3"/>
              <a:endCxn id="806" idx="7"/>
            </p:cNvCxnSpPr>
            <p:nvPr/>
          </p:nvCxnSpPr>
          <p:spPr>
            <a:xfrm flipH="1">
              <a:off x="6660299" y="2227076"/>
              <a:ext cx="370800" cy="336900"/>
            </a:xfrm>
            <a:prstGeom prst="straightConnector1">
              <a:avLst/>
            </a:prstGeom>
            <a:noFill/>
            <a:ln w="19050" cap="flat" cmpd="sng">
              <a:solidFill>
                <a:srgbClr val="000000"/>
              </a:solidFill>
              <a:prstDash val="solid"/>
              <a:round/>
              <a:headEnd type="none" w="sm" len="sm"/>
              <a:tailEnd type="none" w="sm" len="sm"/>
            </a:ln>
          </p:spPr>
        </p:cxnSp>
        <p:sp>
          <p:nvSpPr>
            <p:cNvPr id="810" name="Google Shape;810;p43"/>
            <p:cNvSpPr/>
            <p:nvPr/>
          </p:nvSpPr>
          <p:spPr>
            <a:xfrm rot="-2158343">
              <a:off x="4480988" y="2944854"/>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43"/>
            <p:cNvSpPr/>
            <p:nvPr/>
          </p:nvSpPr>
          <p:spPr>
            <a:xfrm rot="-2158343">
              <a:off x="5420195" y="24878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43"/>
            <p:cNvSpPr/>
            <p:nvPr/>
          </p:nvSpPr>
          <p:spPr>
            <a:xfrm rot="-2158343">
              <a:off x="5249494" y="3409590"/>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13" name="Google Shape;813;p43"/>
            <p:cNvCxnSpPr>
              <a:stCxn id="810" idx="4"/>
              <a:endCxn id="812" idx="1"/>
            </p:cNvCxnSpPr>
            <p:nvPr/>
          </p:nvCxnSpPr>
          <p:spPr>
            <a:xfrm>
              <a:off x="4827575" y="3339891"/>
              <a:ext cx="424500" cy="253800"/>
            </a:xfrm>
            <a:prstGeom prst="straightConnector1">
              <a:avLst/>
            </a:prstGeom>
            <a:noFill/>
            <a:ln w="19050" cap="flat" cmpd="sng">
              <a:solidFill>
                <a:srgbClr val="000000"/>
              </a:solidFill>
              <a:prstDash val="solid"/>
              <a:round/>
              <a:headEnd type="none" w="sm" len="sm"/>
              <a:tailEnd type="none" w="sm" len="sm"/>
            </a:ln>
          </p:spPr>
        </p:cxnSp>
        <p:cxnSp>
          <p:nvCxnSpPr>
            <p:cNvPr id="814" name="Google Shape;814;p43"/>
            <p:cNvCxnSpPr>
              <a:stCxn id="810" idx="7"/>
              <a:endCxn id="815" idx="3"/>
            </p:cNvCxnSpPr>
            <p:nvPr/>
          </p:nvCxnSpPr>
          <p:spPr>
            <a:xfrm rot="10800000" flipH="1">
              <a:off x="4733584" y="2474759"/>
              <a:ext cx="147000" cy="472800"/>
            </a:xfrm>
            <a:prstGeom prst="straightConnector1">
              <a:avLst/>
            </a:prstGeom>
            <a:noFill/>
            <a:ln w="19050" cap="flat" cmpd="sng">
              <a:solidFill>
                <a:srgbClr val="000000"/>
              </a:solidFill>
              <a:prstDash val="solid"/>
              <a:round/>
              <a:headEnd type="none" w="sm" len="sm"/>
              <a:tailEnd type="none" w="sm" len="sm"/>
            </a:ln>
          </p:spPr>
        </p:cxnSp>
        <p:cxnSp>
          <p:nvCxnSpPr>
            <p:cNvPr id="816" name="Google Shape;816;p43"/>
            <p:cNvCxnSpPr>
              <a:stCxn id="811" idx="3"/>
              <a:endCxn id="812" idx="7"/>
            </p:cNvCxnSpPr>
            <p:nvPr/>
          </p:nvCxnSpPr>
          <p:spPr>
            <a:xfrm flipH="1">
              <a:off x="5501972" y="2921852"/>
              <a:ext cx="102300" cy="490500"/>
            </a:xfrm>
            <a:prstGeom prst="straightConnector1">
              <a:avLst/>
            </a:prstGeom>
            <a:noFill/>
            <a:ln w="19050" cap="flat" cmpd="sng">
              <a:solidFill>
                <a:srgbClr val="000000"/>
              </a:solidFill>
              <a:prstDash val="solid"/>
              <a:round/>
              <a:headEnd type="none" w="sm" len="sm"/>
              <a:tailEnd type="none" w="sm" len="sm"/>
            </a:ln>
          </p:spPr>
        </p:cxnSp>
        <p:sp>
          <p:nvSpPr>
            <p:cNvPr id="815" name="Google Shape;815;p43"/>
            <p:cNvSpPr/>
            <p:nvPr/>
          </p:nvSpPr>
          <p:spPr>
            <a:xfrm rot="-2158343">
              <a:off x="4696470" y="2040683"/>
              <a:ext cx="436674" cy="436674"/>
            </a:xfrm>
            <a:prstGeom prst="ellipse">
              <a:avLst/>
            </a:prstGeom>
            <a:solidFill>
              <a:srgbClr val="E0666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17" name="Google Shape;817;p43"/>
            <p:cNvCxnSpPr>
              <a:stCxn id="815" idx="5"/>
              <a:endCxn id="811" idx="0"/>
            </p:cNvCxnSpPr>
            <p:nvPr/>
          </p:nvCxnSpPr>
          <p:spPr>
            <a:xfrm>
              <a:off x="5130439" y="2293279"/>
              <a:ext cx="379800" cy="236100"/>
            </a:xfrm>
            <a:prstGeom prst="straightConnector1">
              <a:avLst/>
            </a:prstGeom>
            <a:noFill/>
            <a:ln w="19050" cap="flat" cmpd="sng">
              <a:solidFill>
                <a:srgbClr val="000000"/>
              </a:solidFill>
              <a:prstDash val="solid"/>
              <a:round/>
              <a:headEnd type="none" w="sm" len="sm"/>
              <a:tailEnd type="none" w="sm" len="sm"/>
            </a:ln>
          </p:spPr>
        </p:cxnSp>
        <p:cxnSp>
          <p:nvCxnSpPr>
            <p:cNvPr id="818" name="Google Shape;818;p43"/>
            <p:cNvCxnSpPr>
              <a:stCxn id="815" idx="4"/>
              <a:endCxn id="812" idx="0"/>
            </p:cNvCxnSpPr>
            <p:nvPr/>
          </p:nvCxnSpPr>
          <p:spPr>
            <a:xfrm>
              <a:off x="5043057" y="2435720"/>
              <a:ext cx="296400" cy="1015500"/>
            </a:xfrm>
            <a:prstGeom prst="straightConnector1">
              <a:avLst/>
            </a:prstGeom>
            <a:noFill/>
            <a:ln w="19050" cap="flat" cmpd="sng">
              <a:solidFill>
                <a:srgbClr val="000000"/>
              </a:solidFill>
              <a:prstDash val="solid"/>
              <a:round/>
              <a:headEnd type="none" w="sm" len="sm"/>
              <a:tailEnd type="none" w="sm" len="sm"/>
            </a:ln>
          </p:spPr>
        </p:cxnSp>
      </p:grpSp>
      <p:sp>
        <p:nvSpPr>
          <p:cNvPr id="819" name="Google Shape;819;p43"/>
          <p:cNvSpPr txBox="1"/>
          <p:nvPr/>
        </p:nvSpPr>
        <p:spPr>
          <a:xfrm>
            <a:off x="885825" y="2235346"/>
            <a:ext cx="1684200" cy="6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E06666"/>
                </a:solidFill>
                <a:latin typeface="Shadows Into Light"/>
                <a:ea typeface="Shadows Into Light"/>
                <a:cs typeface="Shadows Into Light"/>
                <a:sym typeface="Shadows Into Light"/>
              </a:rPr>
              <a:t>Yes. A graph may only include a single vertex.</a:t>
            </a:r>
            <a:endParaRPr sz="1400" b="0" i="0" u="none" strike="noStrike" cap="none">
              <a:solidFill>
                <a:srgbClr val="E06666"/>
              </a:solidFill>
              <a:latin typeface="Shadows Into Light"/>
              <a:ea typeface="Shadows Into Light"/>
              <a:cs typeface="Shadows Into Light"/>
              <a:sym typeface="Shadows Into Light"/>
            </a:endParaRPr>
          </a:p>
        </p:txBody>
      </p:sp>
      <p:sp>
        <p:nvSpPr>
          <p:cNvPr id="820" name="Google Shape;820;p43"/>
          <p:cNvSpPr txBox="1"/>
          <p:nvPr/>
        </p:nvSpPr>
        <p:spPr>
          <a:xfrm>
            <a:off x="4208175" y="1725421"/>
            <a:ext cx="1684200" cy="6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E06666"/>
                </a:solidFill>
                <a:latin typeface="Shadows Into Light"/>
                <a:ea typeface="Shadows Into Light"/>
                <a:cs typeface="Shadows Into Light"/>
                <a:sym typeface="Shadows Into Light"/>
              </a:rPr>
              <a:t>Yes. A graph may include only a single edge.</a:t>
            </a:r>
            <a:endParaRPr sz="1400" b="0" i="0" u="none" strike="noStrike" cap="none">
              <a:solidFill>
                <a:srgbClr val="E06666"/>
              </a:solidFill>
              <a:latin typeface="Shadows Into Light"/>
              <a:ea typeface="Shadows Into Light"/>
              <a:cs typeface="Shadows Into Light"/>
              <a:sym typeface="Shadows Into Light"/>
            </a:endParaRPr>
          </a:p>
        </p:txBody>
      </p:sp>
      <p:sp>
        <p:nvSpPr>
          <p:cNvPr id="821" name="Google Shape;821;p43"/>
          <p:cNvSpPr txBox="1"/>
          <p:nvPr/>
        </p:nvSpPr>
        <p:spPr>
          <a:xfrm>
            <a:off x="7243000" y="1576721"/>
            <a:ext cx="1684200" cy="6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E06666"/>
                </a:solidFill>
                <a:latin typeface="Shadows Into Light"/>
                <a:ea typeface="Shadows Into Light"/>
                <a:cs typeface="Shadows Into Light"/>
                <a:sym typeface="Shadows Into Light"/>
              </a:rPr>
              <a:t>Yes. A linked list is a kind of graph.</a:t>
            </a:r>
            <a:endParaRPr sz="1400" b="0" i="0" u="none" strike="noStrike" cap="none">
              <a:solidFill>
                <a:srgbClr val="E06666"/>
              </a:solidFill>
              <a:latin typeface="Shadows Into Light"/>
              <a:ea typeface="Shadows Into Light"/>
              <a:cs typeface="Shadows Into Light"/>
              <a:sym typeface="Shadows Into Light"/>
            </a:endParaRPr>
          </a:p>
        </p:txBody>
      </p:sp>
      <p:sp>
        <p:nvSpPr>
          <p:cNvPr id="822" name="Google Shape;822;p43"/>
          <p:cNvSpPr txBox="1"/>
          <p:nvPr/>
        </p:nvSpPr>
        <p:spPr>
          <a:xfrm>
            <a:off x="809625" y="4375465"/>
            <a:ext cx="1684200" cy="6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E06666"/>
                </a:solidFill>
                <a:latin typeface="Shadows Into Light"/>
                <a:ea typeface="Shadows Into Light"/>
                <a:cs typeface="Shadows Into Light"/>
                <a:sym typeface="Shadows Into Light"/>
              </a:rPr>
              <a:t>Yes. A binary tree is a kind of graph.</a:t>
            </a:r>
            <a:endParaRPr sz="1400" b="0" i="0" u="none" strike="noStrike" cap="none">
              <a:solidFill>
                <a:srgbClr val="E06666"/>
              </a:solidFill>
              <a:latin typeface="Shadows Into Light"/>
              <a:ea typeface="Shadows Into Light"/>
              <a:cs typeface="Shadows Into Light"/>
              <a:sym typeface="Shadows Into Light"/>
            </a:endParaRPr>
          </a:p>
        </p:txBody>
      </p:sp>
      <p:sp>
        <p:nvSpPr>
          <p:cNvPr id="823" name="Google Shape;823;p43"/>
          <p:cNvSpPr txBox="1"/>
          <p:nvPr/>
        </p:nvSpPr>
        <p:spPr>
          <a:xfrm>
            <a:off x="3705225" y="4223065"/>
            <a:ext cx="1684200" cy="6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E06666"/>
                </a:solidFill>
                <a:latin typeface="Shadows Into Light"/>
                <a:ea typeface="Shadows Into Light"/>
                <a:cs typeface="Shadows Into Light"/>
                <a:sym typeface="Shadows Into Light"/>
              </a:rPr>
              <a:t>Yes. This graph includes 4 vertices and 5 edges.</a:t>
            </a:r>
            <a:endParaRPr sz="1400" b="0" i="0" u="none" strike="noStrike" cap="none">
              <a:solidFill>
                <a:srgbClr val="E06666"/>
              </a:solidFill>
              <a:latin typeface="Shadows Into Light"/>
              <a:ea typeface="Shadows Into Light"/>
              <a:cs typeface="Shadows Into Light"/>
              <a:sym typeface="Shadows Into Light"/>
            </a:endParaRPr>
          </a:p>
        </p:txBody>
      </p:sp>
      <p:sp>
        <p:nvSpPr>
          <p:cNvPr id="824" name="Google Shape;824;p43"/>
          <p:cNvSpPr txBox="1"/>
          <p:nvPr/>
        </p:nvSpPr>
        <p:spPr>
          <a:xfrm>
            <a:off x="6524625" y="4318822"/>
            <a:ext cx="1684200" cy="6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E06666"/>
                </a:solidFill>
                <a:latin typeface="Shadows Into Light"/>
                <a:ea typeface="Shadows Into Light"/>
                <a:cs typeface="Shadows Into Light"/>
                <a:sym typeface="Shadows Into Light"/>
              </a:rPr>
              <a:t>Yes. There does not have to be a path from any two vertices.</a:t>
            </a:r>
            <a:endParaRPr sz="1400" b="0" i="0" u="none" strike="noStrike" cap="none">
              <a:solidFill>
                <a:srgbClr val="E06666"/>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19"/>
                                        </p:tgtEl>
                                        <p:attrNameLst>
                                          <p:attrName>style.visibility</p:attrName>
                                        </p:attrNameLst>
                                      </p:cBhvr>
                                      <p:to>
                                        <p:strVal val="visible"/>
                                      </p:to>
                                    </p:set>
                                    <p:animEffect transition="in" filter="fade">
                                      <p:cBhvr>
                                        <p:cTn id="7" dur="1000"/>
                                        <p:tgtEl>
                                          <p:spTgt spid="8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0"/>
                                        </p:tgtEl>
                                        <p:attrNameLst>
                                          <p:attrName>style.visibility</p:attrName>
                                        </p:attrNameLst>
                                      </p:cBhvr>
                                      <p:to>
                                        <p:strVal val="visible"/>
                                      </p:to>
                                    </p:set>
                                    <p:animEffect transition="in" filter="fade">
                                      <p:cBhvr>
                                        <p:cTn id="12" dur="1000"/>
                                        <p:tgtEl>
                                          <p:spTgt spid="8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1"/>
                                        </p:tgtEl>
                                        <p:attrNameLst>
                                          <p:attrName>style.visibility</p:attrName>
                                        </p:attrNameLst>
                                      </p:cBhvr>
                                      <p:to>
                                        <p:strVal val="visible"/>
                                      </p:to>
                                    </p:set>
                                    <p:animEffect transition="in" filter="fade">
                                      <p:cBhvr>
                                        <p:cTn id="17" dur="1000"/>
                                        <p:tgtEl>
                                          <p:spTgt spid="8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22"/>
                                        </p:tgtEl>
                                        <p:attrNameLst>
                                          <p:attrName>style.visibility</p:attrName>
                                        </p:attrNameLst>
                                      </p:cBhvr>
                                      <p:to>
                                        <p:strVal val="visible"/>
                                      </p:to>
                                    </p:set>
                                    <p:animEffect transition="in" filter="fade">
                                      <p:cBhvr>
                                        <p:cTn id="22" dur="1000"/>
                                        <p:tgtEl>
                                          <p:spTgt spid="8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23"/>
                                        </p:tgtEl>
                                        <p:attrNameLst>
                                          <p:attrName>style.visibility</p:attrName>
                                        </p:attrNameLst>
                                      </p:cBhvr>
                                      <p:to>
                                        <p:strVal val="visible"/>
                                      </p:to>
                                    </p:set>
                                    <p:animEffect transition="in" filter="fade">
                                      <p:cBhvr>
                                        <p:cTn id="27" dur="1000"/>
                                        <p:tgtEl>
                                          <p:spTgt spid="8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24"/>
                                        </p:tgtEl>
                                        <p:attrNameLst>
                                          <p:attrName>style.visibility</p:attrName>
                                        </p:attrNameLst>
                                      </p:cBhvr>
                                      <p:to>
                                        <p:strVal val="visible"/>
                                      </p:to>
                                    </p:set>
                                    <p:animEffect transition="in" filter="fade">
                                      <p:cBhvr>
                                        <p:cTn id="32" dur="1000"/>
                                        <p:tgtEl>
                                          <p:spTgt spid="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44"/>
          <p:cNvSpPr txBox="1">
            <a:spLocks noGrp="1"/>
          </p:cNvSpPr>
          <p:nvPr>
            <p:ph type="title"/>
          </p:nvPr>
        </p:nvSpPr>
        <p:spPr>
          <a:xfrm>
            <a:off x="4964512" y="215413"/>
            <a:ext cx="40839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600"/>
              <a:t>Connected Components</a:t>
            </a:r>
            <a:endParaRPr sz="2600"/>
          </a:p>
        </p:txBody>
      </p:sp>
      <p:sp>
        <p:nvSpPr>
          <p:cNvPr id="830" name="Google Shape;830;p44"/>
          <p:cNvSpPr txBox="1">
            <a:spLocks noGrp="1"/>
          </p:cNvSpPr>
          <p:nvPr>
            <p:ph type="body" idx="1"/>
          </p:nvPr>
        </p:nvSpPr>
        <p:spPr>
          <a:xfrm>
            <a:off x="293925" y="78625"/>
            <a:ext cx="4358400" cy="49518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highlight>
                  <a:srgbClr val="FFFF00"/>
                </a:highlight>
              </a:rPr>
              <a:t>An </a:t>
            </a:r>
            <a:r>
              <a:rPr lang="en" b="1" i="1" dirty="0">
                <a:solidFill>
                  <a:srgbClr val="FF0000"/>
                </a:solidFill>
                <a:highlight>
                  <a:srgbClr val="FFFF00"/>
                </a:highlight>
              </a:rPr>
              <a:t>edge</a:t>
            </a:r>
            <a:r>
              <a:rPr lang="en" dirty="0">
                <a:solidFill>
                  <a:srgbClr val="FF0000"/>
                </a:solidFill>
                <a:highlight>
                  <a:srgbClr val="FFFF00"/>
                </a:highlight>
              </a:rPr>
              <a:t> </a:t>
            </a:r>
            <a:r>
              <a:rPr lang="en" dirty="0">
                <a:highlight>
                  <a:srgbClr val="FFFF00"/>
                </a:highlight>
              </a:rPr>
              <a:t>may be uniquely identified by the two vertices that it connects.</a:t>
            </a:r>
            <a:endParaRPr dirty="0">
              <a:highlight>
                <a:srgbClr val="FFFF00"/>
              </a:highlight>
            </a:endParaRPr>
          </a:p>
          <a:p>
            <a:pPr marL="914400" lvl="1" indent="-298450" algn="l" rtl="0">
              <a:lnSpc>
                <a:spcPct val="115000"/>
              </a:lnSpc>
              <a:spcBef>
                <a:spcPts val="0"/>
              </a:spcBef>
              <a:spcAft>
                <a:spcPts val="0"/>
              </a:spcAft>
              <a:buSzPts val="1100"/>
              <a:buChar char="○"/>
            </a:pPr>
            <a:r>
              <a:rPr lang="en" dirty="0"/>
              <a:t>For example, the edge connecting </a:t>
            </a:r>
            <a:r>
              <a:rPr lang="en" b="1" i="1" dirty="0">
                <a:solidFill>
                  <a:srgbClr val="FF0000"/>
                </a:solidFill>
                <a:highlight>
                  <a:srgbClr val="FFFF00"/>
                </a:highlight>
              </a:rPr>
              <a:t>vertex A</a:t>
            </a:r>
            <a:r>
              <a:rPr lang="en" dirty="0">
                <a:highlight>
                  <a:srgbClr val="FFFF00"/>
                </a:highlight>
              </a:rPr>
              <a:t> to </a:t>
            </a:r>
            <a:r>
              <a:rPr lang="en" b="1" i="1" dirty="0">
                <a:solidFill>
                  <a:srgbClr val="FF0000"/>
                </a:solidFill>
                <a:highlight>
                  <a:srgbClr val="FFFF00"/>
                </a:highlight>
              </a:rPr>
              <a:t>vertex B</a:t>
            </a:r>
            <a:r>
              <a:rPr lang="en" dirty="0">
                <a:highlight>
                  <a:srgbClr val="FFFF00"/>
                </a:highlight>
              </a:rPr>
              <a:t> </a:t>
            </a:r>
            <a:r>
              <a:rPr lang="en" dirty="0"/>
              <a:t>may be identified as </a:t>
            </a:r>
            <a:r>
              <a:rPr lang="en" b="1" i="1" dirty="0">
                <a:solidFill>
                  <a:srgbClr val="FF0000"/>
                </a:solidFill>
                <a:highlight>
                  <a:srgbClr val="FFFF00"/>
                </a:highlight>
              </a:rPr>
              <a:t>E</a:t>
            </a:r>
            <a:r>
              <a:rPr lang="en" b="1" i="1" baseline="-25000" dirty="0">
                <a:solidFill>
                  <a:srgbClr val="FF0000"/>
                </a:solidFill>
                <a:highlight>
                  <a:srgbClr val="FFFF00"/>
                </a:highlight>
              </a:rPr>
              <a:t>AB</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A </a:t>
            </a:r>
            <a:r>
              <a:rPr lang="en" b="1" i="1" dirty="0">
                <a:solidFill>
                  <a:srgbClr val="FF0000"/>
                </a:solidFill>
              </a:rPr>
              <a:t>path</a:t>
            </a:r>
            <a:r>
              <a:rPr lang="en" dirty="0">
                <a:solidFill>
                  <a:srgbClr val="FF0000"/>
                </a:solidFill>
              </a:rPr>
              <a:t> </a:t>
            </a:r>
            <a:r>
              <a:rPr lang="en" dirty="0"/>
              <a:t>is a </a:t>
            </a:r>
            <a:r>
              <a:rPr lang="en" b="1" i="1" dirty="0">
                <a:solidFill>
                  <a:srgbClr val="FF0000"/>
                </a:solidFill>
              </a:rPr>
              <a:t>series of edges</a:t>
            </a:r>
            <a:r>
              <a:rPr lang="en" dirty="0"/>
              <a:t> that connects two vertices together.</a:t>
            </a:r>
            <a:endParaRPr dirty="0"/>
          </a:p>
          <a:p>
            <a:pPr marL="914400" lvl="1" indent="-298450" algn="l" rtl="0">
              <a:lnSpc>
                <a:spcPct val="115000"/>
              </a:lnSpc>
              <a:spcBef>
                <a:spcPts val="0"/>
              </a:spcBef>
              <a:spcAft>
                <a:spcPts val="0"/>
              </a:spcAft>
              <a:buSzPts val="1100"/>
              <a:buChar char="○"/>
            </a:pPr>
            <a:r>
              <a:rPr lang="en" dirty="0"/>
              <a:t>For example, one possible path from </a:t>
            </a:r>
            <a:r>
              <a:rPr lang="en" b="1" i="1" dirty="0">
                <a:solidFill>
                  <a:srgbClr val="FF0000"/>
                </a:solidFill>
              </a:rPr>
              <a:t>vertex A</a:t>
            </a:r>
            <a:r>
              <a:rPr lang="en" dirty="0"/>
              <a:t> to </a:t>
            </a:r>
            <a:r>
              <a:rPr lang="en" b="1" i="1" dirty="0">
                <a:solidFill>
                  <a:srgbClr val="FF0000"/>
                </a:solidFill>
              </a:rPr>
              <a:t>vertex C</a:t>
            </a:r>
            <a:r>
              <a:rPr lang="en" dirty="0"/>
              <a:t> in the graph depicted to the right comprises the edges </a:t>
            </a:r>
            <a:r>
              <a:rPr lang="en" b="1" i="1" dirty="0">
                <a:solidFill>
                  <a:srgbClr val="FF0000"/>
                </a:solidFill>
              </a:rPr>
              <a:t>E</a:t>
            </a:r>
            <a:r>
              <a:rPr lang="en" b="1" i="1" baseline="-25000" dirty="0">
                <a:solidFill>
                  <a:srgbClr val="FF0000"/>
                </a:solidFill>
              </a:rPr>
              <a:t>AB</a:t>
            </a:r>
            <a:r>
              <a:rPr lang="en" dirty="0"/>
              <a:t> and </a:t>
            </a:r>
            <a:r>
              <a:rPr lang="en" b="1" i="1" dirty="0">
                <a:solidFill>
                  <a:srgbClr val="FF0000"/>
                </a:solidFill>
              </a:rPr>
              <a:t>E</a:t>
            </a:r>
            <a:r>
              <a:rPr lang="en" b="1" i="1" baseline="-25000" dirty="0">
                <a:solidFill>
                  <a:srgbClr val="FF0000"/>
                </a:solidFill>
              </a:rPr>
              <a:t>BC</a:t>
            </a:r>
            <a:r>
              <a:rPr lang="en" dirty="0"/>
              <a:t>.</a:t>
            </a:r>
            <a:endParaRPr dirty="0"/>
          </a:p>
          <a:p>
            <a:pPr marL="457200" lvl="0" indent="-311150" algn="l" rtl="0">
              <a:lnSpc>
                <a:spcPct val="115000"/>
              </a:lnSpc>
              <a:spcBef>
                <a:spcPts val="1000"/>
              </a:spcBef>
              <a:spcAft>
                <a:spcPts val="0"/>
              </a:spcAft>
              <a:buSzPts val="1300"/>
              <a:buChar char="●"/>
            </a:pPr>
            <a:r>
              <a:rPr lang="en" dirty="0"/>
              <a:t>If a path </a:t>
            </a:r>
            <a:r>
              <a:rPr lang="en" b="1" i="1" dirty="0">
                <a:solidFill>
                  <a:srgbClr val="FF0000"/>
                </a:solidFill>
                <a:highlight>
                  <a:srgbClr val="FFFF00"/>
                </a:highlight>
              </a:rPr>
              <a:t>exists</a:t>
            </a:r>
            <a:r>
              <a:rPr lang="en" dirty="0">
                <a:solidFill>
                  <a:srgbClr val="FF0000"/>
                </a:solidFill>
              </a:rPr>
              <a:t> </a:t>
            </a:r>
            <a:r>
              <a:rPr lang="en" dirty="0"/>
              <a:t>between two vertices, they are said to be part of the same </a:t>
            </a:r>
            <a:r>
              <a:rPr lang="en" b="1" i="1" dirty="0">
                <a:solidFill>
                  <a:srgbClr val="FF0000"/>
                </a:solidFill>
                <a:highlight>
                  <a:srgbClr val="FFFF00"/>
                </a:highlight>
              </a:rPr>
              <a:t>connected component</a:t>
            </a:r>
            <a:r>
              <a:rPr lang="en" dirty="0">
                <a:highlight>
                  <a:srgbClr val="FFFF00"/>
                </a:highlight>
              </a:rPr>
              <a:t> </a:t>
            </a:r>
            <a:r>
              <a:rPr lang="en" dirty="0"/>
              <a:t>within a graph.</a:t>
            </a:r>
            <a:endParaRPr dirty="0"/>
          </a:p>
          <a:p>
            <a:pPr marL="457200" lvl="0" indent="-311150" algn="l" rtl="0">
              <a:lnSpc>
                <a:spcPct val="115000"/>
              </a:lnSpc>
              <a:spcBef>
                <a:spcPts val="1000"/>
              </a:spcBef>
              <a:spcAft>
                <a:spcPts val="0"/>
              </a:spcAft>
              <a:buSzPts val="1300"/>
              <a:buChar char="●"/>
            </a:pPr>
            <a:r>
              <a:rPr lang="en" dirty="0">
                <a:highlight>
                  <a:srgbClr val="FFFF00"/>
                </a:highlight>
              </a:rPr>
              <a:t>A graph may include </a:t>
            </a:r>
            <a:r>
              <a:rPr lang="en" b="1" i="1" dirty="0">
                <a:solidFill>
                  <a:srgbClr val="FF0000"/>
                </a:solidFill>
                <a:highlight>
                  <a:srgbClr val="FFFF00"/>
                </a:highlight>
              </a:rPr>
              <a:t>any number</a:t>
            </a:r>
            <a:r>
              <a:rPr lang="en" dirty="0">
                <a:solidFill>
                  <a:srgbClr val="FF0000"/>
                </a:solidFill>
                <a:highlight>
                  <a:srgbClr val="FFFF00"/>
                </a:highlight>
              </a:rPr>
              <a:t> </a:t>
            </a:r>
            <a:r>
              <a:rPr lang="en" dirty="0">
                <a:highlight>
                  <a:srgbClr val="FFFF00"/>
                </a:highlight>
              </a:rPr>
              <a:t>of connected components.</a:t>
            </a:r>
            <a:endParaRPr dirty="0">
              <a:highlight>
                <a:srgbClr val="FFFF00"/>
              </a:highlight>
            </a:endParaRPr>
          </a:p>
          <a:p>
            <a:pPr marL="914400" lvl="1" indent="-298450" algn="l" rtl="0">
              <a:lnSpc>
                <a:spcPct val="115000"/>
              </a:lnSpc>
              <a:spcBef>
                <a:spcPts val="0"/>
              </a:spcBef>
              <a:spcAft>
                <a:spcPts val="0"/>
              </a:spcAft>
              <a:buSzPts val="1100"/>
              <a:buChar char="○"/>
            </a:pPr>
            <a:r>
              <a:rPr lang="en" dirty="0"/>
              <a:t>In the graph depicted to the right, </a:t>
            </a:r>
            <a:r>
              <a:rPr lang="en" b="1" i="1" dirty="0">
                <a:solidFill>
                  <a:srgbClr val="FF0000"/>
                </a:solidFill>
              </a:rPr>
              <a:t>vertex D</a:t>
            </a:r>
            <a:r>
              <a:rPr lang="en" dirty="0"/>
              <a:t> and </a:t>
            </a:r>
            <a:r>
              <a:rPr lang="en" b="1" i="1" dirty="0">
                <a:solidFill>
                  <a:srgbClr val="FF0000"/>
                </a:solidFill>
              </a:rPr>
              <a:t>vertex B</a:t>
            </a:r>
            <a:r>
              <a:rPr lang="en" dirty="0"/>
              <a:t> are clearly part of the same connected component, because there is </a:t>
            </a:r>
            <a:r>
              <a:rPr lang="en" b="1" i="1" dirty="0">
                <a:solidFill>
                  <a:srgbClr val="FF0000"/>
                </a:solidFill>
                <a:highlight>
                  <a:srgbClr val="FFFF00"/>
                </a:highlight>
              </a:rPr>
              <a:t>at least one path</a:t>
            </a:r>
            <a:r>
              <a:rPr lang="en" dirty="0">
                <a:highlight>
                  <a:srgbClr val="FFFF00"/>
                </a:highlight>
              </a:rPr>
              <a:t> </a:t>
            </a:r>
            <a:r>
              <a:rPr lang="en" dirty="0"/>
              <a:t>that connects the two.</a:t>
            </a:r>
            <a:endParaRPr dirty="0"/>
          </a:p>
          <a:p>
            <a:pPr marL="914400" lvl="1" indent="-298450" algn="l" rtl="0">
              <a:lnSpc>
                <a:spcPct val="115000"/>
              </a:lnSpc>
              <a:spcBef>
                <a:spcPts val="0"/>
              </a:spcBef>
              <a:spcAft>
                <a:spcPts val="0"/>
              </a:spcAft>
              <a:buSzPts val="1100"/>
              <a:buChar char="○"/>
            </a:pPr>
            <a:r>
              <a:rPr lang="en" dirty="0"/>
              <a:t>On the other hand, </a:t>
            </a:r>
            <a:r>
              <a:rPr lang="en" b="1" i="1" dirty="0">
                <a:solidFill>
                  <a:srgbClr val="FF0000"/>
                </a:solidFill>
                <a:highlight>
                  <a:srgbClr val="FFFF00"/>
                </a:highlight>
              </a:rPr>
              <a:t>vertex A</a:t>
            </a:r>
            <a:r>
              <a:rPr lang="en" dirty="0">
                <a:highlight>
                  <a:srgbClr val="FFFF00"/>
                </a:highlight>
              </a:rPr>
              <a:t> and </a:t>
            </a:r>
            <a:r>
              <a:rPr lang="en" b="1" i="1" dirty="0">
                <a:solidFill>
                  <a:srgbClr val="FF0000"/>
                </a:solidFill>
                <a:highlight>
                  <a:srgbClr val="FFFF00"/>
                </a:highlight>
              </a:rPr>
              <a:t>vertex F</a:t>
            </a:r>
            <a:r>
              <a:rPr lang="en" dirty="0">
                <a:highlight>
                  <a:srgbClr val="FFFF00"/>
                </a:highlight>
              </a:rPr>
              <a:t> are clearly </a:t>
            </a:r>
            <a:r>
              <a:rPr lang="en" b="1" i="1" dirty="0">
                <a:solidFill>
                  <a:srgbClr val="FF0000"/>
                </a:solidFill>
                <a:highlight>
                  <a:srgbClr val="FFFF00"/>
                </a:highlight>
              </a:rPr>
              <a:t>not</a:t>
            </a:r>
            <a:r>
              <a:rPr lang="en" dirty="0">
                <a:solidFill>
                  <a:srgbClr val="FF0000"/>
                </a:solidFill>
                <a:highlight>
                  <a:srgbClr val="FFFF00"/>
                </a:highlight>
              </a:rPr>
              <a:t> </a:t>
            </a:r>
            <a:r>
              <a:rPr lang="en" dirty="0"/>
              <a:t>part of the same connected component because there is </a:t>
            </a:r>
            <a:r>
              <a:rPr lang="en" b="1" i="1" dirty="0">
                <a:solidFill>
                  <a:srgbClr val="FF0000"/>
                </a:solidFill>
              </a:rPr>
              <a:t>no</a:t>
            </a:r>
            <a:r>
              <a:rPr lang="en" dirty="0">
                <a:solidFill>
                  <a:srgbClr val="FF0000"/>
                </a:solidFill>
              </a:rPr>
              <a:t> </a:t>
            </a:r>
            <a:r>
              <a:rPr lang="en" dirty="0"/>
              <a:t>path connecting the two.</a:t>
            </a:r>
            <a:endParaRPr dirty="0"/>
          </a:p>
        </p:txBody>
      </p:sp>
      <p:sp>
        <p:nvSpPr>
          <p:cNvPr id="831" name="Google Shape;831;p4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11</a:t>
            </a:fld>
            <a:endParaRPr/>
          </a:p>
        </p:txBody>
      </p:sp>
      <p:sp>
        <p:nvSpPr>
          <p:cNvPr id="832" name="Google Shape;832;p44"/>
          <p:cNvSpPr txBox="1">
            <a:spLocks noGrp="1"/>
          </p:cNvSpPr>
          <p:nvPr>
            <p:ph type="body" idx="3"/>
          </p:nvPr>
        </p:nvSpPr>
        <p:spPr>
          <a:xfrm>
            <a:off x="5192225" y="3480050"/>
            <a:ext cx="3706500" cy="674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An algorithm that determines whether or not a path exists between two vertices in a graph is called a </a:t>
            </a:r>
            <a:r>
              <a:rPr lang="en" b="1" i="1">
                <a:solidFill>
                  <a:srgbClr val="FF0000"/>
                </a:solidFill>
              </a:rPr>
              <a:t>search</a:t>
            </a:r>
            <a:r>
              <a:rPr lang="en"/>
              <a:t>.</a:t>
            </a:r>
            <a:endParaRPr/>
          </a:p>
        </p:txBody>
      </p:sp>
      <p:sp>
        <p:nvSpPr>
          <p:cNvPr id="833" name="Google Shape;833;p44"/>
          <p:cNvSpPr/>
          <p:nvPr/>
        </p:nvSpPr>
        <p:spPr>
          <a:xfrm>
            <a:off x="5543150" y="1164950"/>
            <a:ext cx="548700" cy="5487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A</a:t>
            </a:r>
            <a:endParaRPr sz="1400" b="0" i="0" u="none" strike="noStrike" cap="none">
              <a:solidFill>
                <a:srgbClr val="FFFFFF"/>
              </a:solidFill>
              <a:latin typeface="Arial"/>
              <a:ea typeface="Arial"/>
              <a:cs typeface="Arial"/>
              <a:sym typeface="Arial"/>
            </a:endParaRPr>
          </a:p>
        </p:txBody>
      </p:sp>
      <p:sp>
        <p:nvSpPr>
          <p:cNvPr id="834" name="Google Shape;834;p44"/>
          <p:cNvSpPr/>
          <p:nvPr/>
        </p:nvSpPr>
        <p:spPr>
          <a:xfrm>
            <a:off x="6533750" y="1545950"/>
            <a:ext cx="548700" cy="5487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sp>
        <p:nvSpPr>
          <p:cNvPr id="835" name="Google Shape;835;p44"/>
          <p:cNvSpPr/>
          <p:nvPr/>
        </p:nvSpPr>
        <p:spPr>
          <a:xfrm>
            <a:off x="5162150" y="2079350"/>
            <a:ext cx="548700" cy="5487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D</a:t>
            </a:r>
            <a:endParaRPr sz="1400" b="0" i="0" u="none" strike="noStrike" cap="none">
              <a:solidFill>
                <a:srgbClr val="FFFFFF"/>
              </a:solidFill>
              <a:latin typeface="Arial"/>
              <a:ea typeface="Arial"/>
              <a:cs typeface="Arial"/>
              <a:sym typeface="Arial"/>
            </a:endParaRPr>
          </a:p>
        </p:txBody>
      </p:sp>
      <p:sp>
        <p:nvSpPr>
          <p:cNvPr id="836" name="Google Shape;836;p44"/>
          <p:cNvSpPr/>
          <p:nvPr/>
        </p:nvSpPr>
        <p:spPr>
          <a:xfrm>
            <a:off x="6152750" y="2612750"/>
            <a:ext cx="548700" cy="5487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cxnSp>
        <p:nvCxnSpPr>
          <p:cNvPr id="837" name="Google Shape;837;p44"/>
          <p:cNvCxnSpPr>
            <a:stCxn id="833" idx="3"/>
            <a:endCxn id="835" idx="0"/>
          </p:cNvCxnSpPr>
          <p:nvPr/>
        </p:nvCxnSpPr>
        <p:spPr>
          <a:xfrm flipH="1">
            <a:off x="5436605" y="1633295"/>
            <a:ext cx="186900" cy="446100"/>
          </a:xfrm>
          <a:prstGeom prst="straightConnector1">
            <a:avLst/>
          </a:prstGeom>
          <a:noFill/>
          <a:ln w="19050" cap="flat" cmpd="sng">
            <a:solidFill>
              <a:srgbClr val="C9DAF8"/>
            </a:solidFill>
            <a:prstDash val="solid"/>
            <a:round/>
            <a:headEnd type="none" w="sm" len="sm"/>
            <a:tailEnd type="none" w="sm" len="sm"/>
          </a:ln>
        </p:spPr>
      </p:cxnSp>
      <p:cxnSp>
        <p:nvCxnSpPr>
          <p:cNvPr id="838" name="Google Shape;838;p44"/>
          <p:cNvCxnSpPr>
            <a:endCxn id="834" idx="1"/>
          </p:cNvCxnSpPr>
          <p:nvPr/>
        </p:nvCxnSpPr>
        <p:spPr>
          <a:xfrm>
            <a:off x="6091805" y="1439405"/>
            <a:ext cx="522300" cy="186900"/>
          </a:xfrm>
          <a:prstGeom prst="straightConnector1">
            <a:avLst/>
          </a:prstGeom>
          <a:noFill/>
          <a:ln w="19050" cap="flat" cmpd="sng">
            <a:solidFill>
              <a:srgbClr val="C9DAF8"/>
            </a:solidFill>
            <a:prstDash val="solid"/>
            <a:round/>
            <a:headEnd type="none" w="sm" len="sm"/>
            <a:tailEnd type="none" w="sm" len="sm"/>
          </a:ln>
        </p:spPr>
      </p:cxnSp>
      <p:cxnSp>
        <p:nvCxnSpPr>
          <p:cNvPr id="839" name="Google Shape;839;p44"/>
          <p:cNvCxnSpPr>
            <a:stCxn id="835" idx="5"/>
            <a:endCxn id="836" idx="2"/>
          </p:cNvCxnSpPr>
          <p:nvPr/>
        </p:nvCxnSpPr>
        <p:spPr>
          <a:xfrm>
            <a:off x="5630495" y="2547695"/>
            <a:ext cx="522300" cy="339300"/>
          </a:xfrm>
          <a:prstGeom prst="straightConnector1">
            <a:avLst/>
          </a:prstGeom>
          <a:noFill/>
          <a:ln w="19050" cap="flat" cmpd="sng">
            <a:solidFill>
              <a:srgbClr val="C9DAF8"/>
            </a:solidFill>
            <a:prstDash val="solid"/>
            <a:round/>
            <a:headEnd type="none" w="sm" len="sm"/>
            <a:tailEnd type="none" w="sm" len="sm"/>
          </a:ln>
        </p:spPr>
      </p:cxnSp>
      <p:cxnSp>
        <p:nvCxnSpPr>
          <p:cNvPr id="840" name="Google Shape;840;p44"/>
          <p:cNvCxnSpPr>
            <a:stCxn id="836" idx="7"/>
            <a:endCxn id="834" idx="4"/>
          </p:cNvCxnSpPr>
          <p:nvPr/>
        </p:nvCxnSpPr>
        <p:spPr>
          <a:xfrm rot="10800000" flipH="1">
            <a:off x="6621095" y="2094605"/>
            <a:ext cx="186900" cy="598500"/>
          </a:xfrm>
          <a:prstGeom prst="straightConnector1">
            <a:avLst/>
          </a:prstGeom>
          <a:noFill/>
          <a:ln w="19050" cap="flat" cmpd="sng">
            <a:solidFill>
              <a:srgbClr val="C9DAF8"/>
            </a:solidFill>
            <a:prstDash val="solid"/>
            <a:round/>
            <a:headEnd type="none" w="sm" len="sm"/>
            <a:tailEnd type="none" w="sm" len="sm"/>
          </a:ln>
        </p:spPr>
      </p:cxnSp>
      <p:sp>
        <p:nvSpPr>
          <p:cNvPr id="841" name="Google Shape;841;p44"/>
          <p:cNvSpPr/>
          <p:nvPr/>
        </p:nvSpPr>
        <p:spPr>
          <a:xfrm>
            <a:off x="7628175" y="963725"/>
            <a:ext cx="548700" cy="5487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842" name="Google Shape;842;p44"/>
          <p:cNvSpPr/>
          <p:nvPr/>
        </p:nvSpPr>
        <p:spPr>
          <a:xfrm>
            <a:off x="7170975" y="2106725"/>
            <a:ext cx="548700" cy="5487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843" name="Google Shape;843;p44"/>
          <p:cNvSpPr/>
          <p:nvPr/>
        </p:nvSpPr>
        <p:spPr>
          <a:xfrm>
            <a:off x="8237775" y="2030525"/>
            <a:ext cx="548700" cy="5487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cxnSp>
        <p:nvCxnSpPr>
          <p:cNvPr id="844" name="Google Shape;844;p44"/>
          <p:cNvCxnSpPr>
            <a:stCxn id="841" idx="3"/>
            <a:endCxn id="842" idx="0"/>
          </p:cNvCxnSpPr>
          <p:nvPr/>
        </p:nvCxnSpPr>
        <p:spPr>
          <a:xfrm flipH="1">
            <a:off x="7445430" y="1432070"/>
            <a:ext cx="263100" cy="674700"/>
          </a:xfrm>
          <a:prstGeom prst="straightConnector1">
            <a:avLst/>
          </a:prstGeom>
          <a:noFill/>
          <a:ln w="19050" cap="flat" cmpd="sng">
            <a:solidFill>
              <a:srgbClr val="C9DAF8"/>
            </a:solidFill>
            <a:prstDash val="solid"/>
            <a:round/>
            <a:headEnd type="none" w="sm" len="sm"/>
            <a:tailEnd type="none" w="sm" len="sm"/>
          </a:ln>
        </p:spPr>
      </p:cxnSp>
      <p:cxnSp>
        <p:nvCxnSpPr>
          <p:cNvPr id="845" name="Google Shape;845;p44"/>
          <p:cNvCxnSpPr>
            <a:stCxn id="841" idx="5"/>
            <a:endCxn id="843" idx="0"/>
          </p:cNvCxnSpPr>
          <p:nvPr/>
        </p:nvCxnSpPr>
        <p:spPr>
          <a:xfrm>
            <a:off x="8096520" y="1432070"/>
            <a:ext cx="415500" cy="598500"/>
          </a:xfrm>
          <a:prstGeom prst="straightConnector1">
            <a:avLst/>
          </a:prstGeom>
          <a:noFill/>
          <a:ln w="19050" cap="flat" cmpd="sng">
            <a:solidFill>
              <a:srgbClr val="C9DAF8"/>
            </a:solidFill>
            <a:prstDash val="solid"/>
            <a:round/>
            <a:headEnd type="none" w="sm" len="sm"/>
            <a:tailEnd type="none" w="sm" len="sm"/>
          </a:ln>
        </p:spPr>
      </p:cxnSp>
      <p:cxnSp>
        <p:nvCxnSpPr>
          <p:cNvPr id="846" name="Google Shape;846;p44"/>
          <p:cNvCxnSpPr>
            <a:stCxn id="842" idx="6"/>
            <a:endCxn id="843" idx="2"/>
          </p:cNvCxnSpPr>
          <p:nvPr/>
        </p:nvCxnSpPr>
        <p:spPr>
          <a:xfrm rot="10800000" flipH="1">
            <a:off x="7719675" y="2304875"/>
            <a:ext cx="518100" cy="76200"/>
          </a:xfrm>
          <a:prstGeom prst="straightConnector1">
            <a:avLst/>
          </a:prstGeom>
          <a:noFill/>
          <a:ln w="19050" cap="flat" cmpd="sng">
            <a:solidFill>
              <a:srgbClr val="C9DAF8"/>
            </a:solidFill>
            <a:prstDash val="solid"/>
            <a:round/>
            <a:headEnd type="none" w="sm" len="sm"/>
            <a:tailEnd type="none" w="sm" len="sm"/>
          </a:ln>
        </p:spPr>
      </p:cxnSp>
      <p:sp>
        <p:nvSpPr>
          <p:cNvPr id="847" name="Google Shape;847;p44"/>
          <p:cNvSpPr txBox="1">
            <a:spLocks noGrp="1"/>
          </p:cNvSpPr>
          <p:nvPr>
            <p:ph type="body" idx="3"/>
          </p:nvPr>
        </p:nvSpPr>
        <p:spPr>
          <a:xfrm>
            <a:off x="5192225" y="4298962"/>
            <a:ext cx="3706500" cy="522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We will explore </a:t>
            </a:r>
            <a:r>
              <a:rPr lang="en" b="1" i="1">
                <a:solidFill>
                  <a:srgbClr val="FF0000"/>
                </a:solidFill>
              </a:rPr>
              <a:t>three</a:t>
            </a:r>
            <a:r>
              <a:rPr lang="en">
                <a:solidFill>
                  <a:srgbClr val="FF0000"/>
                </a:solidFill>
              </a:rPr>
              <a:t> </a:t>
            </a:r>
            <a:r>
              <a:rPr lang="en"/>
              <a:t>such algorithms throughout this course.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32"/>
                                        </p:tgtEl>
                                        <p:attrNameLst>
                                          <p:attrName>style.visibility</p:attrName>
                                        </p:attrNameLst>
                                      </p:cBhvr>
                                      <p:to>
                                        <p:strVal val="visible"/>
                                      </p:to>
                                    </p:set>
                                    <p:animEffect transition="in" filter="fade">
                                      <p:cBhvr>
                                        <p:cTn id="39" dur="1000"/>
                                        <p:tgtEl>
                                          <p:spTgt spid="83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47"/>
                                        </p:tgtEl>
                                        <p:attrNameLst>
                                          <p:attrName>style.visibility</p:attrName>
                                        </p:attrNameLst>
                                      </p:cBhvr>
                                      <p:to>
                                        <p:strVal val="visible"/>
                                      </p:to>
                                    </p:set>
                                    <p:animEffect transition="in" filter="fade">
                                      <p:cBhvr>
                                        <p:cTn id="44" dur="1000"/>
                                        <p:tgtEl>
                                          <p:spTgt spid="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cxnSp>
        <p:nvCxnSpPr>
          <p:cNvPr id="852" name="Google Shape;852;p45"/>
          <p:cNvCxnSpPr>
            <a:stCxn id="853" idx="3"/>
            <a:endCxn id="854" idx="1"/>
          </p:cNvCxnSpPr>
          <p:nvPr/>
        </p:nvCxnSpPr>
        <p:spPr>
          <a:xfrm>
            <a:off x="1124299" y="2324650"/>
            <a:ext cx="889800" cy="0"/>
          </a:xfrm>
          <a:prstGeom prst="straightConnector1">
            <a:avLst/>
          </a:prstGeom>
          <a:noFill/>
          <a:ln w="38100" cap="flat" cmpd="sng">
            <a:solidFill>
              <a:srgbClr val="FF0000"/>
            </a:solidFill>
            <a:prstDash val="solid"/>
            <a:round/>
            <a:headEnd type="none" w="sm" len="sm"/>
            <a:tailEnd type="none" w="sm" len="sm"/>
          </a:ln>
        </p:spPr>
      </p:cxnSp>
      <p:grpSp>
        <p:nvGrpSpPr>
          <p:cNvPr id="855" name="Google Shape;855;p45"/>
          <p:cNvGrpSpPr/>
          <p:nvPr/>
        </p:nvGrpSpPr>
        <p:grpSpPr>
          <a:xfrm>
            <a:off x="135800" y="1854288"/>
            <a:ext cx="2866801" cy="940742"/>
            <a:chOff x="135800" y="1854288"/>
            <a:chExt cx="2866801" cy="940742"/>
          </a:xfrm>
        </p:grpSpPr>
        <p:pic>
          <p:nvPicPr>
            <p:cNvPr id="853" name="Google Shape;853;p45"/>
            <p:cNvPicPr preferRelativeResize="0"/>
            <p:nvPr/>
          </p:nvPicPr>
          <p:blipFill rotWithShape="1">
            <a:blip r:embed="rId3">
              <a:alphaModFix/>
            </a:blip>
            <a:srcRect r="-21080"/>
            <a:stretch/>
          </p:blipFill>
          <p:spPr>
            <a:xfrm>
              <a:off x="135800" y="1854288"/>
              <a:ext cx="988499" cy="940725"/>
            </a:xfrm>
            <a:prstGeom prst="rect">
              <a:avLst/>
            </a:prstGeom>
            <a:noFill/>
            <a:ln w="19050" cap="flat" cmpd="sng">
              <a:solidFill>
                <a:srgbClr val="000000"/>
              </a:solidFill>
              <a:prstDash val="solid"/>
              <a:round/>
              <a:headEnd type="none" w="sm" len="sm"/>
              <a:tailEnd type="none" w="sm" len="sm"/>
            </a:ln>
          </p:spPr>
        </p:pic>
        <p:pic>
          <p:nvPicPr>
            <p:cNvPr id="854" name="Google Shape;854;p45"/>
            <p:cNvPicPr preferRelativeResize="0"/>
            <p:nvPr/>
          </p:nvPicPr>
          <p:blipFill>
            <a:blip r:embed="rId4">
              <a:alphaModFix/>
            </a:blip>
            <a:stretch>
              <a:fillRect/>
            </a:stretch>
          </p:blipFill>
          <p:spPr>
            <a:xfrm>
              <a:off x="2014101" y="1854301"/>
              <a:ext cx="988500" cy="940728"/>
            </a:xfrm>
            <a:prstGeom prst="rect">
              <a:avLst/>
            </a:prstGeom>
            <a:noFill/>
            <a:ln w="19050" cap="flat" cmpd="sng">
              <a:solidFill>
                <a:srgbClr val="000000"/>
              </a:solidFill>
              <a:prstDash val="solid"/>
              <a:round/>
              <a:headEnd type="none" w="sm" len="sm"/>
              <a:tailEnd type="none" w="sm" len="sm"/>
            </a:ln>
          </p:spPr>
        </p:pic>
      </p:grpSp>
      <p:cxnSp>
        <p:nvCxnSpPr>
          <p:cNvPr id="856" name="Google Shape;856;p45"/>
          <p:cNvCxnSpPr>
            <a:stCxn id="857" idx="3"/>
            <a:endCxn id="858" idx="1"/>
          </p:cNvCxnSpPr>
          <p:nvPr/>
        </p:nvCxnSpPr>
        <p:spPr>
          <a:xfrm rot="10800000" flipH="1">
            <a:off x="4107715" y="2320163"/>
            <a:ext cx="955200" cy="4500"/>
          </a:xfrm>
          <a:prstGeom prst="straightConnector1">
            <a:avLst/>
          </a:prstGeom>
          <a:noFill/>
          <a:ln w="38100" cap="flat" cmpd="sng">
            <a:solidFill>
              <a:srgbClr val="FF0000"/>
            </a:solidFill>
            <a:prstDash val="solid"/>
            <a:round/>
            <a:headEnd type="none" w="sm" len="sm"/>
            <a:tailEnd type="triangle" w="med" len="med"/>
          </a:ln>
        </p:spPr>
      </p:cxnSp>
      <p:sp>
        <p:nvSpPr>
          <p:cNvPr id="859" name="Google Shape;859;p45"/>
          <p:cNvSpPr txBox="1">
            <a:spLocks noGrp="1"/>
          </p:cNvSpPr>
          <p:nvPr>
            <p:ph type="sldNum" idx="12"/>
          </p:nvPr>
        </p:nvSpPr>
        <p:spPr>
          <a:xfrm>
            <a:off x="8592700" y="4863622"/>
            <a:ext cx="548700" cy="269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12</a:t>
            </a:fld>
            <a:endParaRPr/>
          </a:p>
        </p:txBody>
      </p:sp>
      <p:sp>
        <p:nvSpPr>
          <p:cNvPr id="860" name="Google Shape;860;p4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Directed vs Undirected Edges</a:t>
            </a:r>
            <a:endParaRPr/>
          </a:p>
        </p:txBody>
      </p:sp>
      <p:sp>
        <p:nvSpPr>
          <p:cNvPr id="861" name="Google Shape;861;p45"/>
          <p:cNvSpPr txBox="1"/>
          <p:nvPr/>
        </p:nvSpPr>
        <p:spPr>
          <a:xfrm>
            <a:off x="135788" y="1354775"/>
            <a:ext cx="2866800" cy="35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Consider two friends on Facebook.</a:t>
            </a:r>
            <a:endParaRPr sz="1200" b="0" i="0" u="none" strike="noStrike" cap="none">
              <a:solidFill>
                <a:srgbClr val="000000"/>
              </a:solidFill>
              <a:latin typeface="Arial"/>
              <a:ea typeface="Arial"/>
              <a:cs typeface="Arial"/>
              <a:sym typeface="Arial"/>
            </a:endParaRPr>
          </a:p>
        </p:txBody>
      </p:sp>
      <p:sp>
        <p:nvSpPr>
          <p:cNvPr id="862" name="Google Shape;862;p45"/>
          <p:cNvSpPr txBox="1"/>
          <p:nvPr/>
        </p:nvSpPr>
        <p:spPr>
          <a:xfrm>
            <a:off x="125901" y="2937092"/>
            <a:ext cx="2866800" cy="72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One friend sends the other a friend request. Once accepted, they can </a:t>
            </a:r>
            <a:r>
              <a:rPr lang="en" sz="1200" b="1" i="1" u="none" strike="noStrike" cap="none">
                <a:solidFill>
                  <a:srgbClr val="FF0000"/>
                </a:solidFill>
                <a:latin typeface="Arial"/>
                <a:ea typeface="Arial"/>
                <a:cs typeface="Arial"/>
                <a:sym typeface="Arial"/>
              </a:rPr>
              <a:t>both</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see each other’s timelines. </a:t>
            </a:r>
            <a:endParaRPr sz="1200" b="0" i="0" u="none" strike="noStrike" cap="none">
              <a:solidFill>
                <a:srgbClr val="000000"/>
              </a:solidFill>
              <a:latin typeface="Arial"/>
              <a:ea typeface="Arial"/>
              <a:cs typeface="Arial"/>
              <a:sym typeface="Arial"/>
            </a:endParaRPr>
          </a:p>
        </p:txBody>
      </p:sp>
      <p:sp>
        <p:nvSpPr>
          <p:cNvPr id="863" name="Google Shape;863;p45"/>
          <p:cNvSpPr txBox="1"/>
          <p:nvPr/>
        </p:nvSpPr>
        <p:spPr>
          <a:xfrm>
            <a:off x="125913" y="3798888"/>
            <a:ext cx="2866800" cy="929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If we think of the friends as vertices in a graph, the edge between them is </a:t>
            </a:r>
            <a:r>
              <a:rPr lang="en" sz="1200" b="1" i="1" u="none" strike="noStrike" cap="none">
                <a:solidFill>
                  <a:srgbClr val="FF0000"/>
                </a:solidFill>
                <a:latin typeface="Arial"/>
                <a:ea typeface="Arial"/>
                <a:cs typeface="Arial"/>
                <a:sym typeface="Arial"/>
              </a:rPr>
              <a:t>undirected</a:t>
            </a:r>
            <a:r>
              <a:rPr lang="en" sz="1200" b="0" i="0" u="none" strike="noStrike" cap="none">
                <a:solidFill>
                  <a:srgbClr val="000000"/>
                </a:solidFill>
                <a:latin typeface="Arial"/>
                <a:ea typeface="Arial"/>
                <a:cs typeface="Arial"/>
                <a:sym typeface="Arial"/>
              </a:rPr>
              <a:t>; it works in </a:t>
            </a:r>
            <a:r>
              <a:rPr lang="en" sz="1200" b="1" i="1" u="none" strike="noStrike" cap="none">
                <a:solidFill>
                  <a:srgbClr val="FF0000"/>
                </a:solidFill>
                <a:latin typeface="Arial"/>
                <a:ea typeface="Arial"/>
                <a:cs typeface="Arial"/>
                <a:sym typeface="Arial"/>
              </a:rPr>
              <a:t>both </a:t>
            </a:r>
            <a:r>
              <a:rPr lang="en" sz="1200" b="0" i="0" u="none" strike="noStrike" cap="none">
                <a:solidFill>
                  <a:srgbClr val="000000"/>
                </a:solidFill>
                <a:latin typeface="Arial"/>
                <a:ea typeface="Arial"/>
                <a:cs typeface="Arial"/>
                <a:sym typeface="Arial"/>
              </a:rPr>
              <a:t>directions.</a:t>
            </a:r>
            <a:endParaRPr sz="1200" b="0" i="0" u="none" strike="noStrike" cap="none">
              <a:solidFill>
                <a:srgbClr val="000000"/>
              </a:solidFill>
              <a:latin typeface="Arial"/>
              <a:ea typeface="Arial"/>
              <a:cs typeface="Arial"/>
              <a:sym typeface="Arial"/>
            </a:endParaRPr>
          </a:p>
        </p:txBody>
      </p:sp>
      <p:sp>
        <p:nvSpPr>
          <p:cNvPr id="864" name="Google Shape;864;p45"/>
          <p:cNvSpPr txBox="1"/>
          <p:nvPr/>
        </p:nvSpPr>
        <p:spPr>
          <a:xfrm>
            <a:off x="3161126" y="1354775"/>
            <a:ext cx="2866800" cy="35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Now consider </a:t>
            </a:r>
            <a:r>
              <a:rPr lang="en" sz="1200"/>
              <a:t>X (</a:t>
            </a:r>
            <a:r>
              <a:rPr lang="en" sz="1200" i="1"/>
              <a:t>sigh</a:t>
            </a:r>
            <a:r>
              <a:rPr lang="en" sz="1200"/>
              <a:t>)</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865" name="Google Shape;865;p45"/>
          <p:cNvSpPr txBox="1"/>
          <p:nvPr/>
        </p:nvSpPr>
        <p:spPr>
          <a:xfrm>
            <a:off x="3151238" y="2930663"/>
            <a:ext cx="2866800" cy="72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One user may choose to follow another so that they can see that person’s tweets.</a:t>
            </a:r>
            <a:endParaRPr sz="1200" b="0" i="0" u="none" strike="noStrike" cap="none">
              <a:solidFill>
                <a:srgbClr val="000000"/>
              </a:solidFill>
              <a:latin typeface="Arial"/>
              <a:ea typeface="Arial"/>
              <a:cs typeface="Arial"/>
              <a:sym typeface="Arial"/>
            </a:endParaRPr>
          </a:p>
        </p:txBody>
      </p:sp>
      <p:sp>
        <p:nvSpPr>
          <p:cNvPr id="866" name="Google Shape;866;p45"/>
          <p:cNvSpPr txBox="1"/>
          <p:nvPr/>
        </p:nvSpPr>
        <p:spPr>
          <a:xfrm>
            <a:off x="3151238" y="3798888"/>
            <a:ext cx="2866800" cy="929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However, the second user does not see the first user’s tweets. The edge between the two users is </a:t>
            </a:r>
            <a:r>
              <a:rPr lang="en" sz="1200" b="1" i="1" u="none" strike="noStrike" cap="none">
                <a:solidFill>
                  <a:srgbClr val="FF0000"/>
                </a:solidFill>
                <a:latin typeface="Arial"/>
                <a:ea typeface="Arial"/>
                <a:cs typeface="Arial"/>
                <a:sym typeface="Arial"/>
              </a:rPr>
              <a:t>directed</a:t>
            </a:r>
            <a:r>
              <a:rPr lang="en" sz="1200" b="0" i="0" u="none" strike="noStrike" cap="none">
                <a:solidFill>
                  <a:srgbClr val="000000"/>
                </a:solidFill>
                <a:latin typeface="Arial"/>
                <a:ea typeface="Arial"/>
                <a:cs typeface="Arial"/>
                <a:sym typeface="Arial"/>
              </a:rPr>
              <a:t>; it only works in </a:t>
            </a:r>
            <a:r>
              <a:rPr lang="en" sz="1200" b="1" i="1" u="none" strike="noStrike" cap="none">
                <a:solidFill>
                  <a:srgbClr val="FF0000"/>
                </a:solidFill>
                <a:latin typeface="Arial"/>
                <a:ea typeface="Arial"/>
                <a:cs typeface="Arial"/>
                <a:sym typeface="Arial"/>
              </a:rPr>
              <a:t>one </a:t>
            </a:r>
            <a:r>
              <a:rPr lang="en" sz="1200" b="0" i="0" u="none" strike="noStrike" cap="none">
                <a:solidFill>
                  <a:srgbClr val="000000"/>
                </a:solidFill>
                <a:latin typeface="Arial"/>
                <a:ea typeface="Arial"/>
                <a:cs typeface="Arial"/>
                <a:sym typeface="Arial"/>
              </a:rPr>
              <a:t>direction.</a:t>
            </a:r>
            <a:endParaRPr sz="1200" b="0" i="0" u="none" strike="noStrike" cap="none">
              <a:solidFill>
                <a:srgbClr val="000000"/>
              </a:solidFill>
              <a:latin typeface="Arial"/>
              <a:ea typeface="Arial"/>
              <a:cs typeface="Arial"/>
              <a:sym typeface="Arial"/>
            </a:endParaRPr>
          </a:p>
        </p:txBody>
      </p:sp>
      <p:sp>
        <p:nvSpPr>
          <p:cNvPr id="867" name="Google Shape;867;p45"/>
          <p:cNvSpPr txBox="1"/>
          <p:nvPr/>
        </p:nvSpPr>
        <p:spPr>
          <a:xfrm>
            <a:off x="6151338" y="2930663"/>
            <a:ext cx="2866800" cy="72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Directed edges are represented in a graph by an </a:t>
            </a:r>
            <a:r>
              <a:rPr lang="en" sz="1200" b="1" i="1" u="none" strike="noStrike" cap="none">
                <a:solidFill>
                  <a:srgbClr val="FF0000"/>
                </a:solidFill>
                <a:latin typeface="Arial"/>
                <a:ea typeface="Arial"/>
                <a:cs typeface="Arial"/>
                <a:sym typeface="Arial"/>
              </a:rPr>
              <a:t>arrow</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on one end or the other of the edge.</a:t>
            </a:r>
            <a:endParaRPr sz="1200" b="0" i="0" u="none" strike="noStrike" cap="none">
              <a:solidFill>
                <a:srgbClr val="000000"/>
              </a:solidFill>
              <a:latin typeface="Arial"/>
              <a:ea typeface="Arial"/>
              <a:cs typeface="Arial"/>
              <a:sym typeface="Arial"/>
            </a:endParaRPr>
          </a:p>
        </p:txBody>
      </p:sp>
      <p:sp>
        <p:nvSpPr>
          <p:cNvPr id="868" name="Google Shape;868;p45"/>
          <p:cNvSpPr txBox="1"/>
          <p:nvPr/>
        </p:nvSpPr>
        <p:spPr>
          <a:xfrm>
            <a:off x="6151338" y="3791963"/>
            <a:ext cx="2866800" cy="929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In the example above, </a:t>
            </a:r>
            <a:r>
              <a:rPr lang="en" sz="1200" b="1" i="1" u="none" strike="noStrike" cap="none">
                <a:solidFill>
                  <a:srgbClr val="FF0000"/>
                </a:solidFill>
                <a:latin typeface="Arial"/>
                <a:ea typeface="Arial"/>
                <a:cs typeface="Arial"/>
                <a:sym typeface="Arial"/>
              </a:rPr>
              <a:t>E</a:t>
            </a:r>
            <a:r>
              <a:rPr lang="en" sz="1200" b="1" i="1" u="none" strike="noStrike" cap="none" baseline="-25000">
                <a:solidFill>
                  <a:srgbClr val="FF0000"/>
                </a:solidFill>
                <a:latin typeface="Arial"/>
                <a:ea typeface="Arial"/>
                <a:cs typeface="Arial"/>
                <a:sym typeface="Arial"/>
              </a:rPr>
              <a:t>EC</a:t>
            </a:r>
            <a:r>
              <a:rPr lang="en" sz="1200" b="0" i="0" u="none" strike="noStrike" cap="none">
                <a:solidFill>
                  <a:srgbClr val="000000"/>
                </a:solidFill>
                <a:latin typeface="Arial"/>
                <a:ea typeface="Arial"/>
                <a:cs typeface="Arial"/>
                <a:sym typeface="Arial"/>
              </a:rPr>
              <a:t>, is directed; the edge can be traversed from </a:t>
            </a:r>
            <a:r>
              <a:rPr lang="en" sz="1200" b="1" i="1" u="none" strike="noStrike" cap="none">
                <a:solidFill>
                  <a:srgbClr val="FF0000"/>
                </a:solidFill>
                <a:latin typeface="Arial"/>
                <a:ea typeface="Arial"/>
                <a:cs typeface="Arial"/>
                <a:sym typeface="Arial"/>
              </a:rPr>
              <a:t>E to C</a:t>
            </a:r>
            <a:r>
              <a:rPr lang="en" sz="1200" b="0" i="0" u="none" strike="noStrike" cap="none">
                <a:solidFill>
                  <a:srgbClr val="000000"/>
                </a:solidFill>
                <a:latin typeface="Arial"/>
                <a:ea typeface="Arial"/>
                <a:cs typeface="Arial"/>
                <a:sym typeface="Arial"/>
              </a:rPr>
              <a:t> but </a:t>
            </a:r>
            <a:r>
              <a:rPr lang="en" sz="1200" b="1" i="1" u="none" strike="noStrike" cap="none">
                <a:solidFill>
                  <a:srgbClr val="FF0000"/>
                </a:solidFill>
                <a:latin typeface="Arial"/>
                <a:ea typeface="Arial"/>
                <a:cs typeface="Arial"/>
                <a:sym typeface="Arial"/>
              </a:rPr>
              <a:t>not</a:t>
            </a:r>
            <a:r>
              <a:rPr lang="en" sz="1200" b="0" i="0" u="none" strike="noStrike" cap="none">
                <a:solidFill>
                  <a:srgbClr val="000000"/>
                </a:solidFill>
                <a:latin typeface="Arial"/>
                <a:ea typeface="Arial"/>
                <a:cs typeface="Arial"/>
                <a:sym typeface="Arial"/>
              </a:rPr>
              <a:t> from </a:t>
            </a:r>
            <a:r>
              <a:rPr lang="en" sz="1200" b="1" i="1" u="none" strike="noStrike" cap="none">
                <a:solidFill>
                  <a:srgbClr val="FF0000"/>
                </a:solidFill>
                <a:latin typeface="Arial"/>
                <a:ea typeface="Arial"/>
                <a:cs typeface="Arial"/>
                <a:sym typeface="Arial"/>
              </a:rPr>
              <a:t>C to E</a:t>
            </a:r>
            <a:r>
              <a:rPr lang="en" sz="1200" b="0" i="0" u="none" strike="noStrike" cap="none">
                <a:solidFill>
                  <a:srgbClr val="000000"/>
                </a:solidFill>
                <a:latin typeface="Arial"/>
                <a:ea typeface="Arial"/>
                <a:cs typeface="Arial"/>
                <a:sym typeface="Arial"/>
              </a:rPr>
              <a:t>. The other edges in the graph are undirected.</a:t>
            </a:r>
            <a:endParaRPr sz="1200" b="0" i="0" u="none" strike="noStrike" cap="none">
              <a:solidFill>
                <a:srgbClr val="000000"/>
              </a:solidFill>
              <a:latin typeface="Arial"/>
              <a:ea typeface="Arial"/>
              <a:cs typeface="Arial"/>
              <a:sym typeface="Arial"/>
            </a:endParaRPr>
          </a:p>
        </p:txBody>
      </p:sp>
      <p:grpSp>
        <p:nvGrpSpPr>
          <p:cNvPr id="869" name="Google Shape;869;p45"/>
          <p:cNvGrpSpPr/>
          <p:nvPr/>
        </p:nvGrpSpPr>
        <p:grpSpPr>
          <a:xfrm>
            <a:off x="6586339" y="1353409"/>
            <a:ext cx="1862622" cy="1390346"/>
            <a:chOff x="6586339" y="1353409"/>
            <a:chExt cx="1862622" cy="1390346"/>
          </a:xfrm>
        </p:grpSpPr>
        <p:grpSp>
          <p:nvGrpSpPr>
            <p:cNvPr id="870" name="Google Shape;870;p45"/>
            <p:cNvGrpSpPr/>
            <p:nvPr/>
          </p:nvGrpSpPr>
          <p:grpSpPr>
            <a:xfrm>
              <a:off x="6586339" y="1353409"/>
              <a:ext cx="1862622" cy="1390346"/>
              <a:chOff x="5900277" y="1413176"/>
              <a:chExt cx="2727118" cy="2035647"/>
            </a:xfrm>
          </p:grpSpPr>
          <p:sp>
            <p:nvSpPr>
              <p:cNvPr id="871" name="Google Shape;871;p45"/>
              <p:cNvSpPr/>
              <p:nvPr/>
            </p:nvSpPr>
            <p:spPr>
              <a:xfrm>
                <a:off x="6072743" y="1413176"/>
                <a:ext cx="522000" cy="522000"/>
              </a:xfrm>
              <a:prstGeom prst="ellipse">
                <a:avLst/>
              </a:prstGeom>
              <a:solidFill>
                <a:srgbClr val="F3F3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F</a:t>
                </a:r>
                <a:endParaRPr sz="1000" b="0" i="0" u="none" strike="noStrike" cap="none">
                  <a:solidFill>
                    <a:srgbClr val="000000"/>
                  </a:solidFill>
                  <a:latin typeface="Arial"/>
                  <a:ea typeface="Arial"/>
                  <a:cs typeface="Arial"/>
                  <a:sym typeface="Arial"/>
                </a:endParaRPr>
              </a:p>
            </p:txBody>
          </p:sp>
          <p:sp>
            <p:nvSpPr>
              <p:cNvPr id="872" name="Google Shape;872;p45"/>
              <p:cNvSpPr/>
              <p:nvPr/>
            </p:nvSpPr>
            <p:spPr>
              <a:xfrm>
                <a:off x="7213995" y="1512949"/>
                <a:ext cx="522000" cy="522000"/>
              </a:xfrm>
              <a:prstGeom prst="ellipse">
                <a:avLst/>
              </a:prstGeom>
              <a:solidFill>
                <a:srgbClr val="F3F3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G</a:t>
                </a:r>
                <a:endParaRPr sz="1000" b="0" i="0" u="none" strike="noStrike" cap="none">
                  <a:solidFill>
                    <a:srgbClr val="000000"/>
                  </a:solidFill>
                  <a:latin typeface="Arial"/>
                  <a:ea typeface="Arial"/>
                  <a:cs typeface="Arial"/>
                  <a:sym typeface="Arial"/>
                </a:endParaRPr>
              </a:p>
            </p:txBody>
          </p:sp>
          <p:sp>
            <p:nvSpPr>
              <p:cNvPr id="873" name="Google Shape;873;p45"/>
              <p:cNvSpPr/>
              <p:nvPr/>
            </p:nvSpPr>
            <p:spPr>
              <a:xfrm>
                <a:off x="5900277" y="2387190"/>
                <a:ext cx="522000" cy="522000"/>
              </a:xfrm>
              <a:prstGeom prst="ellipse">
                <a:avLst/>
              </a:prstGeom>
              <a:solidFill>
                <a:srgbClr val="F3F3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E</a:t>
                </a:r>
                <a:endParaRPr sz="1000" b="0" i="0" u="none" strike="noStrike" cap="none">
                  <a:solidFill>
                    <a:srgbClr val="000000"/>
                  </a:solidFill>
                  <a:latin typeface="Arial"/>
                  <a:ea typeface="Arial"/>
                  <a:cs typeface="Arial"/>
                  <a:sym typeface="Arial"/>
                </a:endParaRPr>
              </a:p>
            </p:txBody>
          </p:sp>
          <p:sp>
            <p:nvSpPr>
              <p:cNvPr id="874" name="Google Shape;874;p45"/>
              <p:cNvSpPr/>
              <p:nvPr/>
            </p:nvSpPr>
            <p:spPr>
              <a:xfrm>
                <a:off x="6996715" y="2516242"/>
                <a:ext cx="522000" cy="522000"/>
              </a:xfrm>
              <a:prstGeom prst="ellipse">
                <a:avLst/>
              </a:prstGeom>
              <a:solidFill>
                <a:srgbClr val="F3F3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C</a:t>
                </a:r>
                <a:endParaRPr sz="1000" b="0" i="0" u="none" strike="noStrike" cap="none">
                  <a:solidFill>
                    <a:srgbClr val="000000"/>
                  </a:solidFill>
                  <a:latin typeface="Arial"/>
                  <a:ea typeface="Arial"/>
                  <a:cs typeface="Arial"/>
                  <a:sym typeface="Arial"/>
                </a:endParaRPr>
              </a:p>
            </p:txBody>
          </p:sp>
          <p:sp>
            <p:nvSpPr>
              <p:cNvPr id="875" name="Google Shape;875;p45"/>
              <p:cNvSpPr/>
              <p:nvPr/>
            </p:nvSpPr>
            <p:spPr>
              <a:xfrm>
                <a:off x="7936395" y="2926823"/>
                <a:ext cx="522000" cy="522000"/>
              </a:xfrm>
              <a:prstGeom prst="ellipse">
                <a:avLst/>
              </a:prstGeom>
              <a:solidFill>
                <a:srgbClr val="F3F3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B</a:t>
                </a:r>
                <a:endParaRPr sz="1000" b="0" i="0" u="none" strike="noStrike" cap="none">
                  <a:solidFill>
                    <a:srgbClr val="000000"/>
                  </a:solidFill>
                  <a:latin typeface="Arial"/>
                  <a:ea typeface="Arial"/>
                  <a:cs typeface="Arial"/>
                  <a:sym typeface="Arial"/>
                </a:endParaRPr>
              </a:p>
            </p:txBody>
          </p:sp>
          <p:cxnSp>
            <p:nvCxnSpPr>
              <p:cNvPr id="876" name="Google Shape;876;p45"/>
              <p:cNvCxnSpPr>
                <a:stCxn id="871" idx="6"/>
                <a:endCxn id="872" idx="1"/>
              </p:cNvCxnSpPr>
              <p:nvPr/>
            </p:nvCxnSpPr>
            <p:spPr>
              <a:xfrm rot="10800000" flipH="1">
                <a:off x="6594743" y="1589276"/>
                <a:ext cx="695700" cy="84900"/>
              </a:xfrm>
              <a:prstGeom prst="straightConnector1">
                <a:avLst/>
              </a:prstGeom>
              <a:noFill/>
              <a:ln w="19050" cap="flat" cmpd="sng">
                <a:solidFill>
                  <a:srgbClr val="000000"/>
                </a:solidFill>
                <a:prstDash val="solid"/>
                <a:round/>
                <a:headEnd type="none" w="sm" len="sm"/>
                <a:tailEnd type="none" w="sm" len="sm"/>
              </a:ln>
            </p:spPr>
          </p:cxnSp>
          <p:cxnSp>
            <p:nvCxnSpPr>
              <p:cNvPr id="877" name="Google Shape;877;p45"/>
              <p:cNvCxnSpPr>
                <a:stCxn id="871" idx="4"/>
                <a:endCxn id="873" idx="0"/>
              </p:cNvCxnSpPr>
              <p:nvPr/>
            </p:nvCxnSpPr>
            <p:spPr>
              <a:xfrm flipH="1">
                <a:off x="6161243" y="1935176"/>
                <a:ext cx="172500" cy="452100"/>
              </a:xfrm>
              <a:prstGeom prst="straightConnector1">
                <a:avLst/>
              </a:prstGeom>
              <a:noFill/>
              <a:ln w="19050" cap="flat" cmpd="sng">
                <a:solidFill>
                  <a:srgbClr val="000000"/>
                </a:solidFill>
                <a:prstDash val="solid"/>
                <a:round/>
                <a:headEnd type="none" w="sm" len="sm"/>
                <a:tailEnd type="none" w="sm" len="sm"/>
              </a:ln>
            </p:spPr>
          </p:cxnSp>
          <p:cxnSp>
            <p:nvCxnSpPr>
              <p:cNvPr id="878" name="Google Shape;878;p45"/>
              <p:cNvCxnSpPr>
                <a:stCxn id="873" idx="5"/>
                <a:endCxn id="874" idx="2"/>
              </p:cNvCxnSpPr>
              <p:nvPr/>
            </p:nvCxnSpPr>
            <p:spPr>
              <a:xfrm rot="10800000" flipH="1">
                <a:off x="6345832" y="2777245"/>
                <a:ext cx="651000" cy="55500"/>
              </a:xfrm>
              <a:prstGeom prst="straightConnector1">
                <a:avLst/>
              </a:prstGeom>
              <a:noFill/>
              <a:ln w="19050" cap="flat" cmpd="sng">
                <a:solidFill>
                  <a:srgbClr val="000000"/>
                </a:solidFill>
                <a:prstDash val="solid"/>
                <a:round/>
                <a:headEnd type="none" w="sm" len="sm"/>
                <a:tailEnd type="none" w="sm" len="sm"/>
              </a:ln>
            </p:spPr>
          </p:cxnSp>
          <p:cxnSp>
            <p:nvCxnSpPr>
              <p:cNvPr id="879" name="Google Shape;879;p45"/>
              <p:cNvCxnSpPr>
                <a:stCxn id="874" idx="5"/>
                <a:endCxn id="875" idx="1"/>
              </p:cNvCxnSpPr>
              <p:nvPr/>
            </p:nvCxnSpPr>
            <p:spPr>
              <a:xfrm>
                <a:off x="7442270" y="2961797"/>
                <a:ext cx="570600" cy="41400"/>
              </a:xfrm>
              <a:prstGeom prst="straightConnector1">
                <a:avLst/>
              </a:prstGeom>
              <a:noFill/>
              <a:ln w="19050" cap="flat" cmpd="sng">
                <a:solidFill>
                  <a:srgbClr val="000000"/>
                </a:solidFill>
                <a:prstDash val="solid"/>
                <a:round/>
                <a:headEnd type="none" w="sm" len="sm"/>
                <a:tailEnd type="none" w="sm" len="sm"/>
              </a:ln>
            </p:spPr>
          </p:cxnSp>
          <p:sp>
            <p:nvSpPr>
              <p:cNvPr id="880" name="Google Shape;880;p45"/>
              <p:cNvSpPr/>
              <p:nvPr/>
            </p:nvSpPr>
            <p:spPr>
              <a:xfrm>
                <a:off x="8105395" y="1673623"/>
                <a:ext cx="522000" cy="522000"/>
              </a:xfrm>
              <a:prstGeom prst="ellipse">
                <a:avLst/>
              </a:prstGeom>
              <a:solidFill>
                <a:srgbClr val="F3F3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H</a:t>
                </a:r>
                <a:endParaRPr sz="1000" b="0" i="0" u="none" strike="noStrike" cap="none">
                  <a:solidFill>
                    <a:srgbClr val="000000"/>
                  </a:solidFill>
                  <a:latin typeface="Arial"/>
                  <a:ea typeface="Arial"/>
                  <a:cs typeface="Arial"/>
                  <a:sym typeface="Arial"/>
                </a:endParaRPr>
              </a:p>
            </p:txBody>
          </p:sp>
          <p:cxnSp>
            <p:nvCxnSpPr>
              <p:cNvPr id="881" name="Google Shape;881;p45"/>
              <p:cNvCxnSpPr>
                <a:stCxn id="874" idx="6"/>
                <a:endCxn id="880" idx="3"/>
              </p:cNvCxnSpPr>
              <p:nvPr/>
            </p:nvCxnSpPr>
            <p:spPr>
              <a:xfrm rot="10800000" flipH="1">
                <a:off x="7518715" y="2119042"/>
                <a:ext cx="663000" cy="658200"/>
              </a:xfrm>
              <a:prstGeom prst="straightConnector1">
                <a:avLst/>
              </a:prstGeom>
              <a:noFill/>
              <a:ln w="19050" cap="flat" cmpd="sng">
                <a:solidFill>
                  <a:srgbClr val="000000"/>
                </a:solidFill>
                <a:prstDash val="solid"/>
                <a:round/>
                <a:headEnd type="none" w="sm" len="sm"/>
                <a:tailEnd type="none" w="sm" len="sm"/>
              </a:ln>
            </p:spPr>
          </p:cxnSp>
        </p:grpSp>
        <p:cxnSp>
          <p:nvCxnSpPr>
            <p:cNvPr id="882" name="Google Shape;882;p45"/>
            <p:cNvCxnSpPr>
              <a:stCxn id="873" idx="5"/>
              <a:endCxn id="874" idx="2"/>
            </p:cNvCxnSpPr>
            <p:nvPr/>
          </p:nvCxnSpPr>
          <p:spPr>
            <a:xfrm rot="10800000" flipH="1">
              <a:off x="6890653" y="2285174"/>
              <a:ext cx="444600" cy="37800"/>
            </a:xfrm>
            <a:prstGeom prst="straightConnector1">
              <a:avLst/>
            </a:prstGeom>
            <a:noFill/>
            <a:ln w="19050" cap="flat" cmpd="sng">
              <a:solidFill>
                <a:srgbClr val="FF0000"/>
              </a:solidFill>
              <a:prstDash val="solid"/>
              <a:round/>
              <a:headEnd type="none" w="sm" len="sm"/>
              <a:tailEnd type="triangle" w="med" len="med"/>
            </a:ln>
          </p:spPr>
        </p:cxnSp>
      </p:grpSp>
      <p:grpSp>
        <p:nvGrpSpPr>
          <p:cNvPr id="883" name="Google Shape;883;p45"/>
          <p:cNvGrpSpPr/>
          <p:nvPr/>
        </p:nvGrpSpPr>
        <p:grpSpPr>
          <a:xfrm>
            <a:off x="3176101" y="1854300"/>
            <a:ext cx="2818424" cy="940725"/>
            <a:chOff x="3176101" y="1854300"/>
            <a:chExt cx="2818424" cy="940725"/>
          </a:xfrm>
        </p:grpSpPr>
        <p:pic>
          <p:nvPicPr>
            <p:cNvPr id="857" name="Google Shape;857;p45"/>
            <p:cNvPicPr preferRelativeResize="0"/>
            <p:nvPr/>
          </p:nvPicPr>
          <p:blipFill>
            <a:blip r:embed="rId5">
              <a:alphaModFix/>
            </a:blip>
            <a:stretch>
              <a:fillRect/>
            </a:stretch>
          </p:blipFill>
          <p:spPr>
            <a:xfrm>
              <a:off x="3176101" y="1854300"/>
              <a:ext cx="931614" cy="940725"/>
            </a:xfrm>
            <a:prstGeom prst="rect">
              <a:avLst/>
            </a:prstGeom>
            <a:noFill/>
            <a:ln w="19050" cap="flat" cmpd="sng">
              <a:solidFill>
                <a:srgbClr val="000000"/>
              </a:solidFill>
              <a:prstDash val="solid"/>
              <a:round/>
              <a:headEnd type="none" w="sm" len="sm"/>
              <a:tailEnd type="none" w="sm" len="sm"/>
            </a:ln>
          </p:spPr>
        </p:pic>
        <p:pic>
          <p:nvPicPr>
            <p:cNvPr id="858" name="Google Shape;858;p45"/>
            <p:cNvPicPr preferRelativeResize="0"/>
            <p:nvPr/>
          </p:nvPicPr>
          <p:blipFill rotWithShape="1">
            <a:blip r:embed="rId6">
              <a:alphaModFix/>
            </a:blip>
            <a:srcRect/>
            <a:stretch/>
          </p:blipFill>
          <p:spPr>
            <a:xfrm>
              <a:off x="5062900" y="1854300"/>
              <a:ext cx="931625" cy="931625"/>
            </a:xfrm>
            <a:prstGeom prst="rect">
              <a:avLst/>
            </a:prstGeom>
            <a:noFill/>
            <a:ln w="19050" cap="flat" cmpd="sng">
              <a:solidFill>
                <a:srgbClr val="000000"/>
              </a:solidFill>
              <a:prstDash val="solid"/>
              <a:round/>
              <a:headEnd type="none" w="sm" len="sm"/>
              <a:tailEnd type="none" w="sm" len="sm"/>
            </a:ln>
          </p:spPr>
        </p:pic>
      </p:grpSp>
      <p:sp>
        <p:nvSpPr>
          <p:cNvPr id="884" name="Google Shape;884;p45"/>
          <p:cNvSpPr/>
          <p:nvPr/>
        </p:nvSpPr>
        <p:spPr>
          <a:xfrm>
            <a:off x="5324800" y="1395258"/>
            <a:ext cx="988500" cy="478500"/>
          </a:xfrm>
          <a:prstGeom prst="wedgeRoundRectCallout">
            <a:avLst>
              <a:gd name="adj1" fmla="val -20833"/>
              <a:gd name="adj2" fmla="val 6250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Thank goodness.</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1"/>
                                        </p:tgtEl>
                                        <p:attrNameLst>
                                          <p:attrName>style.visibility</p:attrName>
                                        </p:attrNameLst>
                                      </p:cBhvr>
                                      <p:to>
                                        <p:strVal val="visible"/>
                                      </p:to>
                                    </p:set>
                                    <p:animEffect transition="in" filter="fade">
                                      <p:cBhvr>
                                        <p:cTn id="7" dur="1000"/>
                                        <p:tgtEl>
                                          <p:spTgt spid="86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55"/>
                                        </p:tgtEl>
                                        <p:attrNameLst>
                                          <p:attrName>style.visibility</p:attrName>
                                        </p:attrNameLst>
                                      </p:cBhvr>
                                      <p:to>
                                        <p:strVal val="visible"/>
                                      </p:to>
                                    </p:set>
                                    <p:animEffect transition="in" filter="fade">
                                      <p:cBhvr>
                                        <p:cTn id="11" dur="1000"/>
                                        <p:tgtEl>
                                          <p:spTgt spid="85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62"/>
                                        </p:tgtEl>
                                        <p:attrNameLst>
                                          <p:attrName>style.visibility</p:attrName>
                                        </p:attrNameLst>
                                      </p:cBhvr>
                                      <p:to>
                                        <p:strVal val="visible"/>
                                      </p:to>
                                    </p:set>
                                    <p:animEffect transition="in" filter="fade">
                                      <p:cBhvr>
                                        <p:cTn id="16" dur="1000"/>
                                        <p:tgtEl>
                                          <p:spTgt spid="862"/>
                                        </p:tgtEl>
                                      </p:cBhvr>
                                    </p:animEffect>
                                  </p:childTnLst>
                                </p:cTn>
                              </p:par>
                              <p:par>
                                <p:cTn id="17" presetID="10" presetClass="entr" presetSubtype="0" fill="hold" nodeType="withEffect">
                                  <p:stCondLst>
                                    <p:cond delay="0"/>
                                  </p:stCondLst>
                                  <p:childTnLst>
                                    <p:set>
                                      <p:cBhvr>
                                        <p:cTn id="18" dur="1" fill="hold">
                                          <p:stCondLst>
                                            <p:cond delay="0"/>
                                          </p:stCondLst>
                                        </p:cTn>
                                        <p:tgtEl>
                                          <p:spTgt spid="852"/>
                                        </p:tgtEl>
                                        <p:attrNameLst>
                                          <p:attrName>style.visibility</p:attrName>
                                        </p:attrNameLst>
                                      </p:cBhvr>
                                      <p:to>
                                        <p:strVal val="visible"/>
                                      </p:to>
                                    </p:set>
                                    <p:animEffect transition="in" filter="fade">
                                      <p:cBhvr>
                                        <p:cTn id="19" dur="1000"/>
                                        <p:tgtEl>
                                          <p:spTgt spid="85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63"/>
                                        </p:tgtEl>
                                        <p:attrNameLst>
                                          <p:attrName>style.visibility</p:attrName>
                                        </p:attrNameLst>
                                      </p:cBhvr>
                                      <p:to>
                                        <p:strVal val="visible"/>
                                      </p:to>
                                    </p:set>
                                    <p:animEffect transition="in" filter="fade">
                                      <p:cBhvr>
                                        <p:cTn id="24" dur="1000"/>
                                        <p:tgtEl>
                                          <p:spTgt spid="86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64"/>
                                        </p:tgtEl>
                                        <p:attrNameLst>
                                          <p:attrName>style.visibility</p:attrName>
                                        </p:attrNameLst>
                                      </p:cBhvr>
                                      <p:to>
                                        <p:strVal val="visible"/>
                                      </p:to>
                                    </p:set>
                                    <p:animEffect transition="in" filter="fade">
                                      <p:cBhvr>
                                        <p:cTn id="29" dur="1000"/>
                                        <p:tgtEl>
                                          <p:spTgt spid="864"/>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883"/>
                                        </p:tgtEl>
                                        <p:attrNameLst>
                                          <p:attrName>style.visibility</p:attrName>
                                        </p:attrNameLst>
                                      </p:cBhvr>
                                      <p:to>
                                        <p:strVal val="visible"/>
                                      </p:to>
                                    </p:set>
                                    <p:animEffect transition="in" filter="fade">
                                      <p:cBhvr>
                                        <p:cTn id="33" dur="1000"/>
                                        <p:tgtEl>
                                          <p:spTgt spid="88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65"/>
                                        </p:tgtEl>
                                        <p:attrNameLst>
                                          <p:attrName>style.visibility</p:attrName>
                                        </p:attrNameLst>
                                      </p:cBhvr>
                                      <p:to>
                                        <p:strVal val="visible"/>
                                      </p:to>
                                    </p:set>
                                    <p:animEffect transition="in" filter="fade">
                                      <p:cBhvr>
                                        <p:cTn id="38" dur="1000"/>
                                        <p:tgtEl>
                                          <p:spTgt spid="865"/>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856"/>
                                        </p:tgtEl>
                                        <p:attrNameLst>
                                          <p:attrName>style.visibility</p:attrName>
                                        </p:attrNameLst>
                                      </p:cBhvr>
                                      <p:to>
                                        <p:strVal val="visible"/>
                                      </p:to>
                                    </p:set>
                                    <p:animEffect transition="in" filter="fade">
                                      <p:cBhvr>
                                        <p:cTn id="42" dur="1000"/>
                                        <p:tgtEl>
                                          <p:spTgt spid="85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66"/>
                                        </p:tgtEl>
                                        <p:attrNameLst>
                                          <p:attrName>style.visibility</p:attrName>
                                        </p:attrNameLst>
                                      </p:cBhvr>
                                      <p:to>
                                        <p:strVal val="visible"/>
                                      </p:to>
                                    </p:set>
                                    <p:animEffect transition="in" filter="fade">
                                      <p:cBhvr>
                                        <p:cTn id="47" dur="1000"/>
                                        <p:tgtEl>
                                          <p:spTgt spid="866"/>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884"/>
                                        </p:tgtEl>
                                        <p:attrNameLst>
                                          <p:attrName>style.visibility</p:attrName>
                                        </p:attrNameLst>
                                      </p:cBhvr>
                                      <p:to>
                                        <p:strVal val="visible"/>
                                      </p:to>
                                    </p:set>
                                    <p:animEffect transition="in" filter="fade">
                                      <p:cBhvr>
                                        <p:cTn id="51" dur="1000"/>
                                        <p:tgtEl>
                                          <p:spTgt spid="88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67"/>
                                        </p:tgtEl>
                                        <p:attrNameLst>
                                          <p:attrName>style.visibility</p:attrName>
                                        </p:attrNameLst>
                                      </p:cBhvr>
                                      <p:to>
                                        <p:strVal val="visible"/>
                                      </p:to>
                                    </p:set>
                                    <p:animEffect transition="in" filter="fade">
                                      <p:cBhvr>
                                        <p:cTn id="56" dur="1000"/>
                                        <p:tgtEl>
                                          <p:spTgt spid="867"/>
                                        </p:tgtEl>
                                      </p:cBhvr>
                                    </p:animEffect>
                                  </p:childTnLst>
                                </p:cTn>
                              </p:par>
                              <p:par>
                                <p:cTn id="57" presetID="10" presetClass="entr" presetSubtype="0" fill="hold" nodeType="withEffect">
                                  <p:stCondLst>
                                    <p:cond delay="0"/>
                                  </p:stCondLst>
                                  <p:childTnLst>
                                    <p:set>
                                      <p:cBhvr>
                                        <p:cTn id="58" dur="1" fill="hold">
                                          <p:stCondLst>
                                            <p:cond delay="0"/>
                                          </p:stCondLst>
                                        </p:cTn>
                                        <p:tgtEl>
                                          <p:spTgt spid="869"/>
                                        </p:tgtEl>
                                        <p:attrNameLst>
                                          <p:attrName>style.visibility</p:attrName>
                                        </p:attrNameLst>
                                      </p:cBhvr>
                                      <p:to>
                                        <p:strVal val="visible"/>
                                      </p:to>
                                    </p:set>
                                    <p:animEffect transition="in" filter="fade">
                                      <p:cBhvr>
                                        <p:cTn id="59" dur="1000"/>
                                        <p:tgtEl>
                                          <p:spTgt spid="86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68"/>
                                        </p:tgtEl>
                                        <p:attrNameLst>
                                          <p:attrName>style.visibility</p:attrName>
                                        </p:attrNameLst>
                                      </p:cBhvr>
                                      <p:to>
                                        <p:strVal val="visible"/>
                                      </p:to>
                                    </p:set>
                                    <p:animEffect transition="in" filter="fade">
                                      <p:cBhvr>
                                        <p:cTn id="64" dur="1000"/>
                                        <p:tgtEl>
                                          <p:spTgt spid="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46"/>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13</a:t>
            </a:fld>
            <a:endParaRPr/>
          </a:p>
        </p:txBody>
      </p:sp>
      <p:sp>
        <p:nvSpPr>
          <p:cNvPr id="890" name="Google Shape;890;p46"/>
          <p:cNvSpPr txBox="1">
            <a:spLocks noGrp="1"/>
          </p:cNvSpPr>
          <p:nvPr>
            <p:ph type="title"/>
          </p:nvPr>
        </p:nvSpPr>
        <p:spPr>
          <a:xfrm>
            <a:off x="311725" y="437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The Graph ADT</a:t>
            </a:r>
            <a:endParaRPr/>
          </a:p>
        </p:txBody>
      </p:sp>
      <p:sp>
        <p:nvSpPr>
          <p:cNvPr id="891" name="Google Shape;891;p46"/>
          <p:cNvSpPr txBox="1">
            <a:spLocks noGrp="1"/>
          </p:cNvSpPr>
          <p:nvPr>
            <p:ph type="body" idx="1"/>
          </p:nvPr>
        </p:nvSpPr>
        <p:spPr>
          <a:xfrm>
            <a:off x="4373950" y="30875"/>
            <a:ext cx="4547700" cy="49827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t>The graph abstract data type defines the behavior that a graph must include, without specifying any implementation details.</a:t>
            </a:r>
            <a:endParaRPr dirty="0"/>
          </a:p>
          <a:p>
            <a:pPr marL="457200" lvl="0" indent="-311150" algn="l" rtl="0">
              <a:lnSpc>
                <a:spcPct val="115000"/>
              </a:lnSpc>
              <a:spcBef>
                <a:spcPts val="1000"/>
              </a:spcBef>
              <a:spcAft>
                <a:spcPts val="0"/>
              </a:spcAft>
              <a:buSzPts val="1300"/>
              <a:buChar char="●"/>
            </a:pPr>
            <a:r>
              <a:rPr lang="en" dirty="0"/>
              <a:t>A graph should provide at least the following behavior:</a:t>
            </a:r>
            <a:endParaRPr dirty="0"/>
          </a:p>
          <a:p>
            <a:pPr marL="914400" lvl="1" indent="-298450" algn="l" rtl="0">
              <a:lnSpc>
                <a:spcPct val="115000"/>
              </a:lnSpc>
              <a:spcBef>
                <a:spcPts val="0"/>
              </a:spcBef>
              <a:spcAft>
                <a:spcPts val="0"/>
              </a:spcAft>
              <a:buSzPts val="1100"/>
              <a:buChar char="○"/>
            </a:pPr>
            <a:r>
              <a:rPr lang="en" b="1" i="1" dirty="0">
                <a:solidFill>
                  <a:srgbClr val="FF0000"/>
                </a:solidFill>
              </a:rPr>
              <a:t>add(E value)</a:t>
            </a:r>
            <a:r>
              <a:rPr lang="en" b="1" i="1" dirty="0"/>
              <a:t> </a:t>
            </a:r>
            <a:r>
              <a:rPr lang="en" dirty="0"/>
              <a:t>- adds a value to the graph.</a:t>
            </a:r>
            <a:endParaRPr dirty="0"/>
          </a:p>
          <a:p>
            <a:pPr marL="914400" lvl="1" indent="-298450" algn="l" rtl="0">
              <a:lnSpc>
                <a:spcPct val="115000"/>
              </a:lnSpc>
              <a:spcBef>
                <a:spcPts val="0"/>
              </a:spcBef>
              <a:spcAft>
                <a:spcPts val="0"/>
              </a:spcAft>
              <a:buSzPts val="1100"/>
              <a:buChar char="○"/>
            </a:pPr>
            <a:r>
              <a:rPr lang="en" b="1" i="1" dirty="0">
                <a:solidFill>
                  <a:srgbClr val="FF0000"/>
                </a:solidFill>
              </a:rPr>
              <a:t>contains(E value)</a:t>
            </a:r>
            <a:r>
              <a:rPr lang="en" dirty="0"/>
              <a:t> - returns </a:t>
            </a:r>
            <a:r>
              <a:rPr lang="en" dirty="0">
                <a:latin typeface="Courier New"/>
                <a:ea typeface="Courier New"/>
                <a:cs typeface="Courier New"/>
                <a:sym typeface="Courier New"/>
              </a:rPr>
              <a:t>true</a:t>
            </a:r>
            <a:r>
              <a:rPr lang="en" dirty="0"/>
              <a:t> if the value is present in the graph, and </a:t>
            </a:r>
            <a:r>
              <a:rPr lang="en" dirty="0">
                <a:latin typeface="Courier New"/>
                <a:ea typeface="Courier New"/>
                <a:cs typeface="Courier New"/>
                <a:sym typeface="Courier New"/>
              </a:rPr>
              <a:t>false</a:t>
            </a:r>
            <a:r>
              <a:rPr lang="en" dirty="0"/>
              <a:t> otherwise.</a:t>
            </a:r>
            <a:endParaRPr dirty="0"/>
          </a:p>
          <a:p>
            <a:pPr marL="914400" lvl="1" indent="-298450" algn="l" rtl="0">
              <a:lnSpc>
                <a:spcPct val="115000"/>
              </a:lnSpc>
              <a:spcBef>
                <a:spcPts val="0"/>
              </a:spcBef>
              <a:spcAft>
                <a:spcPts val="0"/>
              </a:spcAft>
              <a:buSzPts val="1100"/>
              <a:buChar char="○"/>
            </a:pPr>
            <a:r>
              <a:rPr lang="en" b="1" i="1" dirty="0">
                <a:solidFill>
                  <a:srgbClr val="FF0000"/>
                </a:solidFill>
              </a:rPr>
              <a:t>size</a:t>
            </a:r>
            <a:r>
              <a:rPr lang="en" dirty="0">
                <a:solidFill>
                  <a:srgbClr val="FF0000"/>
                </a:solidFill>
              </a:rPr>
              <a:t> </a:t>
            </a:r>
            <a:r>
              <a:rPr lang="en" dirty="0"/>
              <a:t>- returns the number of values in the graph.</a:t>
            </a:r>
            <a:endParaRPr dirty="0"/>
          </a:p>
          <a:p>
            <a:pPr marL="914400" lvl="1" indent="-298450" algn="l" rtl="0">
              <a:lnSpc>
                <a:spcPct val="115000"/>
              </a:lnSpc>
              <a:spcBef>
                <a:spcPts val="0"/>
              </a:spcBef>
              <a:spcAft>
                <a:spcPts val="0"/>
              </a:spcAft>
              <a:buSzPts val="1100"/>
              <a:buChar char="○"/>
            </a:pPr>
            <a:r>
              <a:rPr lang="en" b="1" i="1" dirty="0">
                <a:solidFill>
                  <a:srgbClr val="FF0000"/>
                </a:solidFill>
              </a:rPr>
              <a:t>connectDirected(E a, E b)</a:t>
            </a:r>
            <a:r>
              <a:rPr lang="en" dirty="0"/>
              <a:t> - creates a </a:t>
            </a:r>
            <a:r>
              <a:rPr lang="en" b="1" i="1" dirty="0">
                <a:solidFill>
                  <a:srgbClr val="FF0000"/>
                </a:solidFill>
              </a:rPr>
              <a:t>directed</a:t>
            </a:r>
            <a:r>
              <a:rPr lang="en" b="1" i="1" dirty="0"/>
              <a:t> </a:t>
            </a:r>
            <a:r>
              <a:rPr lang="en" dirty="0"/>
              <a:t>connection between the specified two values in the graph.</a:t>
            </a:r>
            <a:endParaRPr dirty="0"/>
          </a:p>
          <a:p>
            <a:pPr marL="914400" lvl="1" indent="-298450" algn="l" rtl="0">
              <a:lnSpc>
                <a:spcPct val="115000"/>
              </a:lnSpc>
              <a:spcBef>
                <a:spcPts val="0"/>
              </a:spcBef>
              <a:spcAft>
                <a:spcPts val="0"/>
              </a:spcAft>
              <a:buSzPts val="1100"/>
              <a:buChar char="○"/>
            </a:pPr>
            <a:r>
              <a:rPr lang="en" b="1" i="1" dirty="0">
                <a:solidFill>
                  <a:srgbClr val="FF0000"/>
                </a:solidFill>
              </a:rPr>
              <a:t>connectUndirected(E a, E b)</a:t>
            </a:r>
            <a:r>
              <a:rPr lang="en" dirty="0"/>
              <a:t> - creates an </a:t>
            </a:r>
            <a:r>
              <a:rPr lang="en" b="1" i="1" dirty="0">
                <a:solidFill>
                  <a:srgbClr val="FF0000"/>
                </a:solidFill>
              </a:rPr>
              <a:t>undirected</a:t>
            </a:r>
            <a:r>
              <a:rPr lang="en" dirty="0"/>
              <a:t> connection between the specified two values in the graph.</a:t>
            </a:r>
            <a:endParaRPr dirty="0"/>
          </a:p>
          <a:p>
            <a:pPr marL="914400" lvl="1" indent="-298450" algn="l" rtl="0">
              <a:lnSpc>
                <a:spcPct val="115000"/>
              </a:lnSpc>
              <a:spcBef>
                <a:spcPts val="0"/>
              </a:spcBef>
              <a:spcAft>
                <a:spcPts val="0"/>
              </a:spcAft>
              <a:buSzPts val="1100"/>
              <a:buChar char="○"/>
            </a:pPr>
            <a:r>
              <a:rPr lang="en" b="1" i="1" dirty="0">
                <a:solidFill>
                  <a:srgbClr val="FF0000"/>
                </a:solidFill>
              </a:rPr>
              <a:t>connected(E a, E b)</a:t>
            </a:r>
            <a:r>
              <a:rPr lang="en" dirty="0"/>
              <a:t> - returns </a:t>
            </a:r>
            <a:r>
              <a:rPr lang="en" dirty="0">
                <a:latin typeface="Courier New"/>
                <a:ea typeface="Courier New"/>
                <a:cs typeface="Courier New"/>
                <a:sym typeface="Courier New"/>
              </a:rPr>
              <a:t>true</a:t>
            </a:r>
            <a:r>
              <a:rPr lang="en" dirty="0"/>
              <a:t> if the two values are connected in the graph, and </a:t>
            </a:r>
            <a:r>
              <a:rPr lang="en" dirty="0">
                <a:latin typeface="Courier New"/>
                <a:ea typeface="Courier New"/>
                <a:cs typeface="Courier New"/>
                <a:sym typeface="Courier New"/>
              </a:rPr>
              <a:t>false</a:t>
            </a:r>
            <a:r>
              <a:rPr lang="en" dirty="0"/>
              <a:t> otherwise.</a:t>
            </a:r>
            <a:endParaRPr dirty="0"/>
          </a:p>
          <a:p>
            <a:pPr marL="457200" lvl="0" indent="-311150" algn="l" rtl="0">
              <a:lnSpc>
                <a:spcPct val="115000"/>
              </a:lnSpc>
              <a:spcBef>
                <a:spcPts val="1000"/>
              </a:spcBef>
              <a:spcAft>
                <a:spcPts val="0"/>
              </a:spcAft>
              <a:buSzPts val="1300"/>
              <a:buChar char="●"/>
            </a:pPr>
            <a:r>
              <a:rPr lang="en" dirty="0"/>
              <a:t>Note that the described behavior </a:t>
            </a:r>
            <a:r>
              <a:rPr lang="en" dirty="0">
                <a:highlight>
                  <a:srgbClr val="FFFF00"/>
                </a:highlight>
              </a:rPr>
              <a:t>does not include any references to </a:t>
            </a:r>
            <a:r>
              <a:rPr lang="en" b="1" i="1" dirty="0">
                <a:solidFill>
                  <a:srgbClr val="FF0000"/>
                </a:solidFill>
                <a:highlight>
                  <a:srgbClr val="FFFF00"/>
                </a:highlight>
              </a:rPr>
              <a:t>vertices</a:t>
            </a:r>
            <a:r>
              <a:rPr lang="en" dirty="0">
                <a:highlight>
                  <a:srgbClr val="FFFF00"/>
                </a:highlight>
              </a:rPr>
              <a:t> </a:t>
            </a:r>
            <a:r>
              <a:rPr lang="en" dirty="0"/>
              <a:t>- that is because there is more than one way to implement a graph!</a:t>
            </a:r>
            <a:endParaRPr dirty="0"/>
          </a:p>
          <a:p>
            <a:pPr marL="914400" lvl="1" indent="-298450" algn="l" rtl="0">
              <a:lnSpc>
                <a:spcPct val="115000"/>
              </a:lnSpc>
              <a:spcBef>
                <a:spcPts val="0"/>
              </a:spcBef>
              <a:spcAft>
                <a:spcPts val="0"/>
              </a:spcAft>
              <a:buSzPts val="1100"/>
              <a:buChar char="○"/>
            </a:pPr>
            <a:r>
              <a:rPr lang="en" dirty="0"/>
              <a:t>And the user of the graph </a:t>
            </a:r>
            <a:r>
              <a:rPr lang="en" b="1" i="1" dirty="0">
                <a:solidFill>
                  <a:srgbClr val="FF0000"/>
                </a:solidFill>
                <a:highlight>
                  <a:srgbClr val="FFFF00"/>
                </a:highlight>
              </a:rPr>
              <a:t>does not need to know</a:t>
            </a:r>
            <a:r>
              <a:rPr lang="en" dirty="0">
                <a:highlight>
                  <a:srgbClr val="FFFF00"/>
                </a:highlight>
              </a:rPr>
              <a:t> (or </a:t>
            </a:r>
            <a:r>
              <a:rPr lang="en" b="1" i="1" dirty="0">
                <a:solidFill>
                  <a:srgbClr val="FF0000"/>
                </a:solidFill>
                <a:highlight>
                  <a:srgbClr val="FFFF00"/>
                </a:highlight>
              </a:rPr>
              <a:t>care</a:t>
            </a:r>
            <a:r>
              <a:rPr lang="en" dirty="0">
                <a:highlight>
                  <a:srgbClr val="FFFF00"/>
                </a:highlight>
              </a:rPr>
              <a:t>) about implementation details!</a:t>
            </a:r>
            <a:endParaRPr dirty="0">
              <a:highlight>
                <a:srgbClr val="FFFF00"/>
              </a:highlight>
            </a:endParaRPr>
          </a:p>
        </p:txBody>
      </p:sp>
      <p:sp>
        <p:nvSpPr>
          <p:cNvPr id="892" name="Google Shape;892;p46"/>
          <p:cNvSpPr txBox="1">
            <a:spLocks noGrp="1"/>
          </p:cNvSpPr>
          <p:nvPr>
            <p:ph type="body" idx="3"/>
          </p:nvPr>
        </p:nvSpPr>
        <p:spPr>
          <a:xfrm>
            <a:off x="315425" y="758025"/>
            <a:ext cx="3706500" cy="71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We've seen many data structures that are easier to visualize </a:t>
            </a:r>
            <a:r>
              <a:rPr lang="en" b="1" i="1">
                <a:solidFill>
                  <a:srgbClr val="FF0000"/>
                </a:solidFill>
              </a:rPr>
              <a:t>conceptually</a:t>
            </a:r>
            <a:r>
              <a:rPr lang="en">
                <a:solidFill>
                  <a:srgbClr val="FF0000"/>
                </a:solidFill>
              </a:rPr>
              <a:t> </a:t>
            </a:r>
            <a:r>
              <a:rPr lang="en"/>
              <a:t>using diagrams comprising </a:t>
            </a:r>
            <a:r>
              <a:rPr lang="en" b="1" i="1">
                <a:solidFill>
                  <a:srgbClr val="FF0000"/>
                </a:solidFill>
              </a:rPr>
              <a:t>nodes</a:t>
            </a:r>
            <a:r>
              <a:rPr lang="en"/>
              <a:t>...</a:t>
            </a:r>
            <a:endParaRPr/>
          </a:p>
        </p:txBody>
      </p:sp>
      <p:pic>
        <p:nvPicPr>
          <p:cNvPr id="893" name="Google Shape;893;p46"/>
          <p:cNvPicPr preferRelativeResize="0"/>
          <p:nvPr/>
        </p:nvPicPr>
        <p:blipFill rotWithShape="1">
          <a:blip r:embed="rId3">
            <a:alphaModFix/>
          </a:blip>
          <a:srcRect/>
          <a:stretch/>
        </p:blipFill>
        <p:spPr>
          <a:xfrm>
            <a:off x="686245" y="1547625"/>
            <a:ext cx="2779275" cy="1845551"/>
          </a:xfrm>
          <a:prstGeom prst="rect">
            <a:avLst/>
          </a:prstGeom>
          <a:noFill/>
          <a:ln>
            <a:noFill/>
          </a:ln>
        </p:spPr>
      </p:pic>
      <p:sp>
        <p:nvSpPr>
          <p:cNvPr id="894" name="Google Shape;894;p46"/>
          <p:cNvSpPr txBox="1">
            <a:spLocks noGrp="1"/>
          </p:cNvSpPr>
          <p:nvPr>
            <p:ph type="body" idx="3"/>
          </p:nvPr>
        </p:nvSpPr>
        <p:spPr>
          <a:xfrm>
            <a:off x="360450" y="3532437"/>
            <a:ext cx="3706500" cy="71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t>...but by now we also understand that those same data structures may be implemented without using </a:t>
            </a:r>
            <a:r>
              <a:rPr lang="en" dirty="0">
                <a:highlight>
                  <a:srgbClr val="FFFF00"/>
                </a:highlight>
              </a:rPr>
              <a:t>node </a:t>
            </a:r>
            <a:r>
              <a:rPr lang="en" b="1" i="1" dirty="0">
                <a:solidFill>
                  <a:srgbClr val="FF0000"/>
                </a:solidFill>
                <a:highlight>
                  <a:srgbClr val="FFFF00"/>
                </a:highlight>
              </a:rPr>
              <a:t>objects</a:t>
            </a:r>
            <a:r>
              <a:rPr lang="en" dirty="0">
                <a:highlight>
                  <a:srgbClr val="FFFF00"/>
                </a:highlight>
              </a:rPr>
              <a:t>. Graphs are no exception!</a:t>
            </a:r>
            <a:endParaRPr dirty="0">
              <a:highlight>
                <a:srgbClr val="FFFF00"/>
              </a:highlight>
            </a:endParaRPr>
          </a:p>
        </p:txBody>
      </p:sp>
      <p:graphicFrame>
        <p:nvGraphicFramePr>
          <p:cNvPr id="895" name="Google Shape;895;p46"/>
          <p:cNvGraphicFramePr/>
          <p:nvPr/>
        </p:nvGraphicFramePr>
        <p:xfrm>
          <a:off x="360438" y="4425775"/>
          <a:ext cx="3706425" cy="396210"/>
        </p:xfrm>
        <a:graphic>
          <a:graphicData uri="http://schemas.openxmlformats.org/drawingml/2006/table">
            <a:tbl>
              <a:tblPr>
                <a:noFill/>
                <a:tableStyleId>{F61E8307-4E6B-4154-8BF4-D3231BAD3CED}</a:tableStyleId>
              </a:tblPr>
              <a:tblGrid>
                <a:gridCol w="411825">
                  <a:extLst>
                    <a:ext uri="{9D8B030D-6E8A-4147-A177-3AD203B41FA5}">
                      <a16:colId xmlns:a16="http://schemas.microsoft.com/office/drawing/2014/main" val="20000"/>
                    </a:ext>
                  </a:extLst>
                </a:gridCol>
                <a:gridCol w="411825">
                  <a:extLst>
                    <a:ext uri="{9D8B030D-6E8A-4147-A177-3AD203B41FA5}">
                      <a16:colId xmlns:a16="http://schemas.microsoft.com/office/drawing/2014/main" val="20001"/>
                    </a:ext>
                  </a:extLst>
                </a:gridCol>
                <a:gridCol w="411825">
                  <a:extLst>
                    <a:ext uri="{9D8B030D-6E8A-4147-A177-3AD203B41FA5}">
                      <a16:colId xmlns:a16="http://schemas.microsoft.com/office/drawing/2014/main" val="20002"/>
                    </a:ext>
                  </a:extLst>
                </a:gridCol>
                <a:gridCol w="411825">
                  <a:extLst>
                    <a:ext uri="{9D8B030D-6E8A-4147-A177-3AD203B41FA5}">
                      <a16:colId xmlns:a16="http://schemas.microsoft.com/office/drawing/2014/main" val="20003"/>
                    </a:ext>
                  </a:extLst>
                </a:gridCol>
                <a:gridCol w="411825">
                  <a:extLst>
                    <a:ext uri="{9D8B030D-6E8A-4147-A177-3AD203B41FA5}">
                      <a16:colId xmlns:a16="http://schemas.microsoft.com/office/drawing/2014/main" val="20004"/>
                    </a:ext>
                  </a:extLst>
                </a:gridCol>
                <a:gridCol w="411825">
                  <a:extLst>
                    <a:ext uri="{9D8B030D-6E8A-4147-A177-3AD203B41FA5}">
                      <a16:colId xmlns:a16="http://schemas.microsoft.com/office/drawing/2014/main" val="20005"/>
                    </a:ext>
                  </a:extLst>
                </a:gridCol>
                <a:gridCol w="411825">
                  <a:extLst>
                    <a:ext uri="{9D8B030D-6E8A-4147-A177-3AD203B41FA5}">
                      <a16:colId xmlns:a16="http://schemas.microsoft.com/office/drawing/2014/main" val="20006"/>
                    </a:ext>
                  </a:extLst>
                </a:gridCol>
                <a:gridCol w="411825">
                  <a:extLst>
                    <a:ext uri="{9D8B030D-6E8A-4147-A177-3AD203B41FA5}">
                      <a16:colId xmlns:a16="http://schemas.microsoft.com/office/drawing/2014/main" val="20007"/>
                    </a:ext>
                  </a:extLst>
                </a:gridCol>
                <a:gridCol w="411825">
                  <a:extLst>
                    <a:ext uri="{9D8B030D-6E8A-4147-A177-3AD203B41FA5}">
                      <a16:colId xmlns:a16="http://schemas.microsoft.com/office/drawing/2014/main" val="20008"/>
                    </a:ext>
                  </a:extLst>
                </a:gridCol>
              </a:tblGrid>
              <a:tr h="381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7</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6D7A8"/>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10</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21</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50</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E59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60</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E59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43</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24</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A999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68</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6B26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66</a:t>
                      </a: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6B26B"/>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1">
                                            <p:txEl>
                                              <p:pRg st="0" end="0"/>
                                            </p:txEl>
                                          </p:spTgt>
                                        </p:tgtEl>
                                        <p:attrNameLst>
                                          <p:attrName>style.visibility</p:attrName>
                                        </p:attrNameLst>
                                      </p:cBhvr>
                                      <p:to>
                                        <p:strVal val="visible"/>
                                      </p:to>
                                    </p:set>
                                    <p:animEffect transition="in" filter="fade">
                                      <p:cBhvr>
                                        <p:cTn id="7" dur="1000"/>
                                        <p:tgtEl>
                                          <p:spTgt spid="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1">
                                            <p:txEl>
                                              <p:pRg st="1" end="1"/>
                                            </p:txEl>
                                          </p:spTgt>
                                        </p:tgtEl>
                                        <p:attrNameLst>
                                          <p:attrName>style.visibility</p:attrName>
                                        </p:attrNameLst>
                                      </p:cBhvr>
                                      <p:to>
                                        <p:strVal val="visible"/>
                                      </p:to>
                                    </p:set>
                                    <p:animEffect transition="in" filter="fade">
                                      <p:cBhvr>
                                        <p:cTn id="12" dur="1000"/>
                                        <p:tgtEl>
                                          <p:spTgt spid="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91">
                                            <p:txEl>
                                              <p:pRg st="2" end="2"/>
                                            </p:txEl>
                                          </p:spTgt>
                                        </p:tgtEl>
                                        <p:attrNameLst>
                                          <p:attrName>style.visibility</p:attrName>
                                        </p:attrNameLst>
                                      </p:cBhvr>
                                      <p:to>
                                        <p:strVal val="visible"/>
                                      </p:to>
                                    </p:set>
                                    <p:animEffect transition="in" filter="fade">
                                      <p:cBhvr>
                                        <p:cTn id="17" dur="1000"/>
                                        <p:tgtEl>
                                          <p:spTgt spid="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91">
                                            <p:txEl>
                                              <p:pRg st="3" end="3"/>
                                            </p:txEl>
                                          </p:spTgt>
                                        </p:tgtEl>
                                        <p:attrNameLst>
                                          <p:attrName>style.visibility</p:attrName>
                                        </p:attrNameLst>
                                      </p:cBhvr>
                                      <p:to>
                                        <p:strVal val="visible"/>
                                      </p:to>
                                    </p:set>
                                    <p:animEffect transition="in" filter="fade">
                                      <p:cBhvr>
                                        <p:cTn id="22" dur="1000"/>
                                        <p:tgtEl>
                                          <p:spTgt spid="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91">
                                            <p:txEl>
                                              <p:pRg st="4" end="4"/>
                                            </p:txEl>
                                          </p:spTgt>
                                        </p:tgtEl>
                                        <p:attrNameLst>
                                          <p:attrName>style.visibility</p:attrName>
                                        </p:attrNameLst>
                                      </p:cBhvr>
                                      <p:to>
                                        <p:strVal val="visible"/>
                                      </p:to>
                                    </p:set>
                                    <p:animEffect transition="in" filter="fade">
                                      <p:cBhvr>
                                        <p:cTn id="27" dur="1000"/>
                                        <p:tgtEl>
                                          <p:spTgt spid="8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91">
                                            <p:txEl>
                                              <p:pRg st="5" end="5"/>
                                            </p:txEl>
                                          </p:spTgt>
                                        </p:tgtEl>
                                        <p:attrNameLst>
                                          <p:attrName>style.visibility</p:attrName>
                                        </p:attrNameLst>
                                      </p:cBhvr>
                                      <p:to>
                                        <p:strVal val="visible"/>
                                      </p:to>
                                    </p:set>
                                    <p:animEffect transition="in" filter="fade">
                                      <p:cBhvr>
                                        <p:cTn id="32" dur="1000"/>
                                        <p:tgtEl>
                                          <p:spTgt spid="8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91">
                                            <p:txEl>
                                              <p:pRg st="6" end="6"/>
                                            </p:txEl>
                                          </p:spTgt>
                                        </p:tgtEl>
                                        <p:attrNameLst>
                                          <p:attrName>style.visibility</p:attrName>
                                        </p:attrNameLst>
                                      </p:cBhvr>
                                      <p:to>
                                        <p:strVal val="visible"/>
                                      </p:to>
                                    </p:set>
                                    <p:animEffect transition="in" filter="fade">
                                      <p:cBhvr>
                                        <p:cTn id="37" dur="1000"/>
                                        <p:tgtEl>
                                          <p:spTgt spid="8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91">
                                            <p:txEl>
                                              <p:pRg st="7" end="7"/>
                                            </p:txEl>
                                          </p:spTgt>
                                        </p:tgtEl>
                                        <p:attrNameLst>
                                          <p:attrName>style.visibility</p:attrName>
                                        </p:attrNameLst>
                                      </p:cBhvr>
                                      <p:to>
                                        <p:strVal val="visible"/>
                                      </p:to>
                                    </p:set>
                                    <p:animEffect transition="in" filter="fade">
                                      <p:cBhvr>
                                        <p:cTn id="42" dur="1000"/>
                                        <p:tgtEl>
                                          <p:spTgt spid="8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91">
                                            <p:txEl>
                                              <p:pRg st="8" end="8"/>
                                            </p:txEl>
                                          </p:spTgt>
                                        </p:tgtEl>
                                        <p:attrNameLst>
                                          <p:attrName>style.visibility</p:attrName>
                                        </p:attrNameLst>
                                      </p:cBhvr>
                                      <p:to>
                                        <p:strVal val="visible"/>
                                      </p:to>
                                    </p:set>
                                    <p:animEffect transition="in" filter="fade">
                                      <p:cBhvr>
                                        <p:cTn id="47" dur="1000"/>
                                        <p:tgtEl>
                                          <p:spTgt spid="8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91">
                                            <p:txEl>
                                              <p:pRg st="9" end="9"/>
                                            </p:txEl>
                                          </p:spTgt>
                                        </p:tgtEl>
                                        <p:attrNameLst>
                                          <p:attrName>style.visibility</p:attrName>
                                        </p:attrNameLst>
                                      </p:cBhvr>
                                      <p:to>
                                        <p:strVal val="visible"/>
                                      </p:to>
                                    </p:set>
                                    <p:animEffect transition="in" filter="fade">
                                      <p:cBhvr>
                                        <p:cTn id="52" dur="1000"/>
                                        <p:tgtEl>
                                          <p:spTgt spid="89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92"/>
                                        </p:tgtEl>
                                        <p:attrNameLst>
                                          <p:attrName>style.visibility</p:attrName>
                                        </p:attrNameLst>
                                      </p:cBhvr>
                                      <p:to>
                                        <p:strVal val="visible"/>
                                      </p:to>
                                    </p:set>
                                    <p:animEffect transition="in" filter="fade">
                                      <p:cBhvr>
                                        <p:cTn id="57" dur="1000"/>
                                        <p:tgtEl>
                                          <p:spTgt spid="892"/>
                                        </p:tgtEl>
                                      </p:cBhvr>
                                    </p:animEffect>
                                  </p:childTnLst>
                                </p:cTn>
                              </p:par>
                              <p:par>
                                <p:cTn id="58" presetID="10" presetClass="entr" presetSubtype="0" fill="hold" nodeType="withEffect">
                                  <p:stCondLst>
                                    <p:cond delay="0"/>
                                  </p:stCondLst>
                                  <p:childTnLst>
                                    <p:set>
                                      <p:cBhvr>
                                        <p:cTn id="59" dur="1" fill="hold">
                                          <p:stCondLst>
                                            <p:cond delay="0"/>
                                          </p:stCondLst>
                                        </p:cTn>
                                        <p:tgtEl>
                                          <p:spTgt spid="893"/>
                                        </p:tgtEl>
                                        <p:attrNameLst>
                                          <p:attrName>style.visibility</p:attrName>
                                        </p:attrNameLst>
                                      </p:cBhvr>
                                      <p:to>
                                        <p:strVal val="visible"/>
                                      </p:to>
                                    </p:set>
                                    <p:animEffect transition="in" filter="fade">
                                      <p:cBhvr>
                                        <p:cTn id="60" dur="1000"/>
                                        <p:tgtEl>
                                          <p:spTgt spid="89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94"/>
                                        </p:tgtEl>
                                        <p:attrNameLst>
                                          <p:attrName>style.visibility</p:attrName>
                                        </p:attrNameLst>
                                      </p:cBhvr>
                                      <p:to>
                                        <p:strVal val="visible"/>
                                      </p:to>
                                    </p:set>
                                    <p:animEffect transition="in" filter="fade">
                                      <p:cBhvr>
                                        <p:cTn id="65" dur="1000"/>
                                        <p:tgtEl>
                                          <p:spTgt spid="894"/>
                                        </p:tgtEl>
                                      </p:cBhvr>
                                    </p:animEffect>
                                  </p:childTnLst>
                                </p:cTn>
                              </p:par>
                              <p:par>
                                <p:cTn id="66" presetID="10" presetClass="entr" presetSubtype="0" fill="hold" nodeType="withEffect">
                                  <p:stCondLst>
                                    <p:cond delay="0"/>
                                  </p:stCondLst>
                                  <p:childTnLst>
                                    <p:set>
                                      <p:cBhvr>
                                        <p:cTn id="67" dur="1" fill="hold">
                                          <p:stCondLst>
                                            <p:cond delay="0"/>
                                          </p:stCondLst>
                                        </p:cTn>
                                        <p:tgtEl>
                                          <p:spTgt spid="895"/>
                                        </p:tgtEl>
                                        <p:attrNameLst>
                                          <p:attrName>style.visibility</p:attrName>
                                        </p:attrNameLst>
                                      </p:cBhvr>
                                      <p:to>
                                        <p:strVal val="visible"/>
                                      </p:to>
                                    </p:set>
                                    <p:animEffect transition="in" filter="fade">
                                      <p:cBhvr>
                                        <p:cTn id="68" dur="1000"/>
                                        <p:tgtEl>
                                          <p:spTgt spid="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4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Like all of the other abstract data types we have implemented this semester, we will represent the </a:t>
            </a:r>
            <a:r>
              <a:rPr lang="en" i="1"/>
              <a:t>Graph</a:t>
            </a:r>
            <a:r>
              <a:rPr lang="en"/>
              <a:t> ADT using a Java interface to define (but not implement) it's behavior. The Graph interface should be </a:t>
            </a:r>
            <a:r>
              <a:rPr lang="en" i="1"/>
              <a:t>generic</a:t>
            </a:r>
            <a:r>
              <a:rPr lang="en"/>
              <a:t> so that the vertices can store any kind of value.</a:t>
            </a:r>
            <a:endParaRPr/>
          </a:p>
        </p:txBody>
      </p:sp>
      <p:sp>
        <p:nvSpPr>
          <p:cNvPr id="901" name="Google Shape;901;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902" name="Google Shape;902;p47"/>
          <p:cNvSpPr txBox="1">
            <a:spLocks noGrp="1"/>
          </p:cNvSpPr>
          <p:nvPr>
            <p:ph type="body" idx="2"/>
          </p:nvPr>
        </p:nvSpPr>
        <p:spPr>
          <a:xfrm>
            <a:off x="3346625" y="1789050"/>
            <a:ext cx="5429700" cy="28428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Unless otherwise instructed, use the provided package named "</a:t>
            </a:r>
            <a:r>
              <a:rPr lang="en" sz="1600" dirty="0">
                <a:solidFill>
                  <a:srgbClr val="FF0000"/>
                </a:solidFill>
                <a:latin typeface="Courier New"/>
                <a:ea typeface="Courier New"/>
                <a:cs typeface="Courier New"/>
                <a:sym typeface="Courier New"/>
              </a:rPr>
              <a:t>graphs</a:t>
            </a:r>
            <a:r>
              <a:rPr lang="en" sz="1600" dirty="0"/>
              <a:t>" for all of the code that you write in this unit.</a:t>
            </a:r>
            <a:endParaRPr sz="1600" dirty="0"/>
          </a:p>
          <a:p>
            <a:pPr marL="457200" lvl="0" indent="-330200" algn="l" rtl="0">
              <a:spcBef>
                <a:spcPts val="0"/>
              </a:spcBef>
              <a:spcAft>
                <a:spcPts val="0"/>
              </a:spcAft>
              <a:buSzPts val="1600"/>
              <a:buChar char="●"/>
            </a:pPr>
            <a:r>
              <a:rPr lang="en" sz="1600" dirty="0"/>
              <a:t>Create a new Java interface named "</a:t>
            </a:r>
            <a:r>
              <a:rPr lang="en" sz="1600" dirty="0">
                <a:solidFill>
                  <a:srgbClr val="FF0000"/>
                </a:solidFill>
                <a:latin typeface="Courier New"/>
                <a:ea typeface="Courier New"/>
                <a:cs typeface="Courier New"/>
                <a:sym typeface="Courier New"/>
              </a:rPr>
              <a:t>Graph</a:t>
            </a:r>
            <a:r>
              <a:rPr lang="en" sz="1600" dirty="0"/>
              <a:t>".</a:t>
            </a:r>
            <a:endParaRPr sz="1600" dirty="0"/>
          </a:p>
          <a:p>
            <a:pPr marL="914400" lvl="1" indent="-317500" algn="l" rtl="0">
              <a:spcBef>
                <a:spcPts val="0"/>
              </a:spcBef>
              <a:spcAft>
                <a:spcPts val="0"/>
              </a:spcAft>
              <a:buSzPts val="1400"/>
              <a:buChar char="○"/>
            </a:pPr>
            <a:r>
              <a:rPr lang="en" sz="1400" dirty="0"/>
              <a:t>Use the UML diagram to the left as a guide when implementing your </a:t>
            </a:r>
            <a:r>
              <a:rPr lang="en" sz="1400" dirty="0">
                <a:latin typeface="Courier New"/>
                <a:ea typeface="Courier New"/>
                <a:cs typeface="Courier New"/>
                <a:sym typeface="Courier New"/>
              </a:rPr>
              <a:t>Graph</a:t>
            </a:r>
            <a:r>
              <a:rPr lang="en" sz="1400" dirty="0"/>
              <a:t> interface.</a:t>
            </a:r>
            <a:endParaRPr sz="1400" dirty="0"/>
          </a:p>
          <a:p>
            <a:pPr marL="457200" lvl="0" indent="-330200" algn="l" rtl="0">
              <a:spcBef>
                <a:spcPts val="0"/>
              </a:spcBef>
              <a:spcAft>
                <a:spcPts val="0"/>
              </a:spcAft>
              <a:buSzPts val="1600"/>
              <a:buChar char="●"/>
            </a:pPr>
            <a:r>
              <a:rPr lang="en" sz="1600" dirty="0"/>
              <a:t>Verify that your interface doesn't contain any syntax errors!</a:t>
            </a:r>
            <a:endParaRPr sz="1600" dirty="0"/>
          </a:p>
          <a:p>
            <a:pPr marL="914400" lvl="1" indent="-317500" algn="l" rtl="0">
              <a:spcBef>
                <a:spcPts val="0"/>
              </a:spcBef>
              <a:spcAft>
                <a:spcPts val="0"/>
              </a:spcAft>
              <a:buSzPts val="1400"/>
              <a:buChar char="○"/>
            </a:pPr>
            <a:r>
              <a:rPr lang="en" sz="1400" dirty="0"/>
              <a:t>If you're not sure how to fix a problem in your code, raise your hand!</a:t>
            </a:r>
            <a:endParaRPr sz="1400" dirty="0"/>
          </a:p>
        </p:txBody>
      </p:sp>
      <p:sp>
        <p:nvSpPr>
          <p:cNvPr id="903" name="Google Shape;903;p4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Graph Abstract Data Type</a:t>
            </a:r>
            <a:endParaRPr/>
          </a:p>
        </p:txBody>
      </p:sp>
      <p:sp>
        <p:nvSpPr>
          <p:cNvPr id="904" name="Google Shape;904;p4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12.3</a:t>
            </a:r>
            <a:endParaRPr/>
          </a:p>
        </p:txBody>
      </p:sp>
      <p:graphicFrame>
        <p:nvGraphicFramePr>
          <p:cNvPr id="905" name="Google Shape;905;p47"/>
          <p:cNvGraphicFramePr/>
          <p:nvPr/>
        </p:nvGraphicFramePr>
        <p:xfrm>
          <a:off x="142575" y="1865244"/>
          <a:ext cx="2911850" cy="2209740"/>
        </p:xfrm>
        <a:graphic>
          <a:graphicData uri="http://schemas.openxmlformats.org/drawingml/2006/table">
            <a:tbl>
              <a:tblPr>
                <a:noFill/>
                <a:tableStyleId>{F61E8307-4E6B-4154-8BF4-D3231BAD3CED}</a:tableStyleId>
              </a:tblPr>
              <a:tblGrid>
                <a:gridCol w="2911850">
                  <a:extLst>
                    <a:ext uri="{9D8B030D-6E8A-4147-A177-3AD203B41FA5}">
                      <a16:colId xmlns:a16="http://schemas.microsoft.com/office/drawing/2014/main" val="20000"/>
                    </a:ext>
                  </a:extLst>
                </a:gridCol>
              </a:tblGrid>
              <a:tr h="381000">
                <a:tc>
                  <a:txBody>
                    <a:bodyPr/>
                    <a:lstStyle/>
                    <a:p>
                      <a:pPr marL="0" marR="0" lvl="0" indent="0" algn="ctr"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&lt;&lt;interface&gt;&gt;</a:t>
                      </a:r>
                      <a:endParaRPr sz="1200"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Graph&lt;E&gt;</a:t>
                      </a:r>
                      <a:endParaRPr sz="12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endParaRPr sz="12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 add(value: E)</a:t>
                      </a:r>
                      <a:endParaRPr sz="12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 contains(value: E): boolean</a:t>
                      </a:r>
                      <a:endParaRPr sz="12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 size(): int</a:t>
                      </a:r>
                      <a:endParaRPr sz="12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 connectDirected(a: E, b: E)</a:t>
                      </a:r>
                      <a:endParaRPr sz="12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 connectUndirected(a: E, b: E)</a:t>
                      </a:r>
                      <a:endParaRPr sz="12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200"/>
                        <a:buFont typeface="Arial"/>
                        <a:buNone/>
                      </a:pPr>
                      <a:r>
                        <a:rPr lang="en" sz="1200" i="1" u="none" strike="noStrike" cap="none">
                          <a:latin typeface="Consolas"/>
                          <a:ea typeface="Consolas"/>
                          <a:cs typeface="Consolas"/>
                          <a:sym typeface="Consolas"/>
                        </a:rPr>
                        <a:t>+ connected(a: E, b: E): boolean</a:t>
                      </a:r>
                      <a:endParaRPr sz="12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48"/>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15</a:t>
            </a:fld>
            <a:endParaRPr/>
          </a:p>
        </p:txBody>
      </p:sp>
      <p:sp>
        <p:nvSpPr>
          <p:cNvPr id="911" name="Google Shape;911;p48"/>
          <p:cNvSpPr txBox="1">
            <a:spLocks noGrp="1"/>
          </p:cNvSpPr>
          <p:nvPr>
            <p:ph type="title"/>
          </p:nvPr>
        </p:nvSpPr>
        <p:spPr>
          <a:xfrm>
            <a:off x="5188525" y="437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Adjacency Lists</a:t>
            </a:r>
            <a:endParaRPr/>
          </a:p>
        </p:txBody>
      </p:sp>
      <p:sp>
        <p:nvSpPr>
          <p:cNvPr id="912" name="Google Shape;912;p48"/>
          <p:cNvSpPr txBox="1">
            <a:spLocks noGrp="1"/>
          </p:cNvSpPr>
          <p:nvPr>
            <p:ph type="body" idx="1"/>
          </p:nvPr>
        </p:nvSpPr>
        <p:spPr>
          <a:xfrm>
            <a:off x="242850" y="119925"/>
            <a:ext cx="4557900" cy="48762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There are a number of different ways to represent a graph. One is referred to as an </a:t>
            </a:r>
            <a:r>
              <a:rPr lang="en" b="1" i="1" dirty="0">
                <a:solidFill>
                  <a:srgbClr val="FF0000"/>
                </a:solidFill>
                <a:highlight>
                  <a:srgbClr val="FFFF00"/>
                </a:highlight>
              </a:rPr>
              <a:t>adjacency list</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Each vertex keeps track of the other vertices to which it is connected in some </a:t>
            </a:r>
            <a:r>
              <a:rPr lang="en" b="1" i="1" dirty="0">
                <a:solidFill>
                  <a:srgbClr val="FF0000"/>
                </a:solidFill>
                <a:highlight>
                  <a:srgbClr val="FFFF00"/>
                </a:highlight>
              </a:rPr>
              <a:t>data structure</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In our graph implementation, no two vertices can be connected with </a:t>
            </a:r>
            <a:r>
              <a:rPr lang="en" dirty="0">
                <a:highlight>
                  <a:srgbClr val="FFFF00"/>
                </a:highlight>
              </a:rPr>
              <a:t>more than one edge. </a:t>
            </a:r>
            <a:r>
              <a:rPr lang="en" dirty="0"/>
              <a:t>What is the best data structure to efficiently keep track of</a:t>
            </a:r>
            <a:r>
              <a:rPr lang="en" dirty="0">
                <a:highlight>
                  <a:srgbClr val="FFFF00"/>
                </a:highlight>
              </a:rPr>
              <a:t> </a:t>
            </a:r>
            <a:r>
              <a:rPr lang="en" b="1" i="1" dirty="0">
                <a:solidFill>
                  <a:srgbClr val="FF0000"/>
                </a:solidFill>
                <a:highlight>
                  <a:srgbClr val="FFFF00"/>
                </a:highlight>
              </a:rPr>
              <a:t>unique</a:t>
            </a:r>
            <a:r>
              <a:rPr lang="en" dirty="0">
                <a:solidFill>
                  <a:srgbClr val="FF0000"/>
                </a:solidFill>
                <a:highlight>
                  <a:srgbClr val="FFFF00"/>
                </a:highlight>
              </a:rPr>
              <a:t> </a:t>
            </a:r>
            <a:r>
              <a:rPr lang="en" dirty="0">
                <a:highlight>
                  <a:srgbClr val="FFFF00"/>
                </a:highlight>
              </a:rPr>
              <a:t>neighbors?</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An adjacency list can be diagrammed using a </a:t>
            </a:r>
            <a:r>
              <a:rPr lang="en" dirty="0">
                <a:highlight>
                  <a:srgbClr val="FFFF00"/>
                </a:highlight>
              </a:rPr>
              <a:t>simple table.</a:t>
            </a:r>
            <a:endParaRPr dirty="0">
              <a:highlight>
                <a:srgbClr val="FFFF00"/>
              </a:highlight>
            </a:endParaRPr>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first column</a:t>
            </a:r>
            <a:r>
              <a:rPr lang="en" dirty="0"/>
              <a:t> lists </a:t>
            </a:r>
            <a:r>
              <a:rPr lang="en" b="1" i="1" dirty="0">
                <a:solidFill>
                  <a:srgbClr val="FF0000"/>
                </a:solidFill>
              </a:rPr>
              <a:t>each vertex</a:t>
            </a:r>
            <a:r>
              <a:rPr lang="en" dirty="0"/>
              <a:t> in the graph on its own row.</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second column</a:t>
            </a:r>
            <a:r>
              <a:rPr lang="en" dirty="0"/>
              <a:t> lists the vertices to which that vertex is connected (its </a:t>
            </a:r>
            <a:r>
              <a:rPr lang="en" b="1" i="1" dirty="0">
                <a:solidFill>
                  <a:srgbClr val="FF0000"/>
                </a:solidFill>
              </a:rPr>
              <a:t>neighbors</a:t>
            </a:r>
            <a:r>
              <a:rPr lang="en" dirty="0"/>
              <a:t>).</a:t>
            </a:r>
            <a:endParaRPr dirty="0"/>
          </a:p>
          <a:p>
            <a:pPr marL="457200" lvl="0" indent="-311150" algn="l" rtl="0">
              <a:lnSpc>
                <a:spcPct val="115000"/>
              </a:lnSpc>
              <a:spcBef>
                <a:spcPts val="1000"/>
              </a:spcBef>
              <a:spcAft>
                <a:spcPts val="0"/>
              </a:spcAft>
              <a:buSzPts val="1300"/>
              <a:buChar char="●"/>
            </a:pPr>
            <a:r>
              <a:rPr lang="en" dirty="0"/>
              <a:t>Assuming that vertex A is connected to vertex B:</a:t>
            </a:r>
            <a:endParaRPr dirty="0"/>
          </a:p>
          <a:p>
            <a:pPr marL="914400" lvl="1" indent="-298450" algn="l" rtl="0">
              <a:lnSpc>
                <a:spcPct val="115000"/>
              </a:lnSpc>
              <a:spcBef>
                <a:spcPts val="0"/>
              </a:spcBef>
              <a:spcAft>
                <a:spcPts val="0"/>
              </a:spcAft>
              <a:buSzPts val="1100"/>
              <a:buChar char="○"/>
            </a:pPr>
            <a:r>
              <a:rPr lang="en" dirty="0"/>
              <a:t>If the edge is </a:t>
            </a:r>
            <a:r>
              <a:rPr lang="en" b="1" i="1" dirty="0">
                <a:solidFill>
                  <a:srgbClr val="FF0000"/>
                </a:solidFill>
                <a:highlight>
                  <a:srgbClr val="FFFF00"/>
                </a:highlight>
              </a:rPr>
              <a:t>directed</a:t>
            </a:r>
            <a:r>
              <a:rPr lang="en" dirty="0"/>
              <a:t>, then B will appear in A's adjacency list, but not the other way around.</a:t>
            </a:r>
            <a:endParaRPr dirty="0"/>
          </a:p>
          <a:p>
            <a:pPr marL="914400" lvl="1" indent="-298450" algn="l" rtl="0">
              <a:lnSpc>
                <a:spcPct val="115000"/>
              </a:lnSpc>
              <a:spcBef>
                <a:spcPts val="0"/>
              </a:spcBef>
              <a:spcAft>
                <a:spcPts val="0"/>
              </a:spcAft>
              <a:buSzPts val="1100"/>
              <a:buChar char="○"/>
            </a:pPr>
            <a:r>
              <a:rPr lang="en" dirty="0"/>
              <a:t>If the edge is </a:t>
            </a:r>
            <a:r>
              <a:rPr lang="en" b="1" i="1" dirty="0">
                <a:solidFill>
                  <a:srgbClr val="FF0000"/>
                </a:solidFill>
                <a:highlight>
                  <a:srgbClr val="FFFF00"/>
                </a:highlight>
              </a:rPr>
              <a:t>undirected</a:t>
            </a:r>
            <a:r>
              <a:rPr lang="en" dirty="0"/>
              <a:t>, then each vertex will appear in the other's adjacency list.</a:t>
            </a:r>
            <a:endParaRPr dirty="0"/>
          </a:p>
          <a:p>
            <a:pPr marL="457200" lvl="0" indent="-311150" algn="l" rtl="0">
              <a:lnSpc>
                <a:spcPct val="115000"/>
              </a:lnSpc>
              <a:spcBef>
                <a:spcPts val="1000"/>
              </a:spcBef>
              <a:spcAft>
                <a:spcPts val="0"/>
              </a:spcAft>
              <a:buSzPts val="1300"/>
              <a:buChar char="●"/>
            </a:pPr>
            <a:r>
              <a:rPr lang="en" dirty="0"/>
              <a:t>Let's take a look at an example using the graph depicted to the right.</a:t>
            </a:r>
            <a:endParaRPr dirty="0"/>
          </a:p>
        </p:txBody>
      </p:sp>
      <p:sp>
        <p:nvSpPr>
          <p:cNvPr id="913" name="Google Shape;913;p48"/>
          <p:cNvSpPr/>
          <p:nvPr/>
        </p:nvSpPr>
        <p:spPr>
          <a:xfrm>
            <a:off x="5879637" y="720196"/>
            <a:ext cx="375000" cy="3750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FFFF"/>
                </a:solidFill>
                <a:latin typeface="Arial"/>
                <a:ea typeface="Arial"/>
                <a:cs typeface="Arial"/>
                <a:sym typeface="Arial"/>
              </a:rPr>
              <a:t>A</a:t>
            </a:r>
            <a:endParaRPr sz="1200" b="0" i="0" u="none" strike="noStrike" cap="none">
              <a:solidFill>
                <a:srgbClr val="FFFFFF"/>
              </a:solidFill>
              <a:latin typeface="Arial"/>
              <a:ea typeface="Arial"/>
              <a:cs typeface="Arial"/>
              <a:sym typeface="Arial"/>
            </a:endParaRPr>
          </a:p>
        </p:txBody>
      </p:sp>
      <p:sp>
        <p:nvSpPr>
          <p:cNvPr id="914" name="Google Shape;914;p48"/>
          <p:cNvSpPr/>
          <p:nvPr/>
        </p:nvSpPr>
        <p:spPr>
          <a:xfrm>
            <a:off x="6556384" y="980485"/>
            <a:ext cx="375000" cy="3750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FFFF"/>
                </a:solidFill>
                <a:latin typeface="Arial"/>
                <a:ea typeface="Arial"/>
                <a:cs typeface="Arial"/>
                <a:sym typeface="Arial"/>
              </a:rPr>
              <a:t>B</a:t>
            </a:r>
            <a:endParaRPr sz="1200" b="0" i="0" u="none" strike="noStrike" cap="none">
              <a:solidFill>
                <a:srgbClr val="FFFFFF"/>
              </a:solidFill>
              <a:latin typeface="Arial"/>
              <a:ea typeface="Arial"/>
              <a:cs typeface="Arial"/>
              <a:sym typeface="Arial"/>
            </a:endParaRPr>
          </a:p>
        </p:txBody>
      </p:sp>
      <p:sp>
        <p:nvSpPr>
          <p:cNvPr id="915" name="Google Shape;915;p48"/>
          <p:cNvSpPr/>
          <p:nvPr/>
        </p:nvSpPr>
        <p:spPr>
          <a:xfrm>
            <a:off x="5619350" y="1344889"/>
            <a:ext cx="375000" cy="3750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FFFF"/>
                </a:solidFill>
                <a:latin typeface="Arial"/>
                <a:ea typeface="Arial"/>
                <a:cs typeface="Arial"/>
                <a:sym typeface="Arial"/>
              </a:rPr>
              <a:t>D</a:t>
            </a:r>
            <a:endParaRPr sz="1200" b="0" i="0" u="none" strike="noStrike" cap="none">
              <a:solidFill>
                <a:srgbClr val="FFFFFF"/>
              </a:solidFill>
              <a:latin typeface="Arial"/>
              <a:ea typeface="Arial"/>
              <a:cs typeface="Arial"/>
              <a:sym typeface="Arial"/>
            </a:endParaRPr>
          </a:p>
        </p:txBody>
      </p:sp>
      <p:sp>
        <p:nvSpPr>
          <p:cNvPr id="916" name="Google Shape;916;p48"/>
          <p:cNvSpPr/>
          <p:nvPr/>
        </p:nvSpPr>
        <p:spPr>
          <a:xfrm>
            <a:off x="6296097" y="1709293"/>
            <a:ext cx="375000" cy="3750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FFFF"/>
                </a:solidFill>
                <a:latin typeface="Arial"/>
                <a:ea typeface="Arial"/>
                <a:cs typeface="Arial"/>
                <a:sym typeface="Arial"/>
              </a:rPr>
              <a:t>C</a:t>
            </a:r>
            <a:endParaRPr sz="1200" b="0" i="0" u="none" strike="noStrike" cap="none">
              <a:solidFill>
                <a:srgbClr val="FFFFFF"/>
              </a:solidFill>
              <a:latin typeface="Arial"/>
              <a:ea typeface="Arial"/>
              <a:cs typeface="Arial"/>
              <a:sym typeface="Arial"/>
            </a:endParaRPr>
          </a:p>
        </p:txBody>
      </p:sp>
      <p:cxnSp>
        <p:nvCxnSpPr>
          <p:cNvPr id="917" name="Google Shape;917;p48"/>
          <p:cNvCxnSpPr>
            <a:stCxn id="913" idx="3"/>
            <a:endCxn id="915" idx="0"/>
          </p:cNvCxnSpPr>
          <p:nvPr/>
        </p:nvCxnSpPr>
        <p:spPr>
          <a:xfrm flipH="1">
            <a:off x="5806754" y="1040279"/>
            <a:ext cx="127800" cy="304500"/>
          </a:xfrm>
          <a:prstGeom prst="straightConnector1">
            <a:avLst/>
          </a:prstGeom>
          <a:noFill/>
          <a:ln w="19050" cap="flat" cmpd="sng">
            <a:solidFill>
              <a:srgbClr val="C9DAF8"/>
            </a:solidFill>
            <a:prstDash val="solid"/>
            <a:round/>
            <a:headEnd type="none" w="sm" len="sm"/>
            <a:tailEnd type="none" w="sm" len="sm"/>
          </a:ln>
        </p:spPr>
      </p:cxnSp>
      <p:cxnSp>
        <p:nvCxnSpPr>
          <p:cNvPr id="918" name="Google Shape;918;p48"/>
          <p:cNvCxnSpPr>
            <a:endCxn id="914" idx="1"/>
          </p:cNvCxnSpPr>
          <p:nvPr/>
        </p:nvCxnSpPr>
        <p:spPr>
          <a:xfrm>
            <a:off x="6254601" y="907602"/>
            <a:ext cx="356700" cy="127800"/>
          </a:xfrm>
          <a:prstGeom prst="straightConnector1">
            <a:avLst/>
          </a:prstGeom>
          <a:noFill/>
          <a:ln w="19050" cap="flat" cmpd="sng">
            <a:solidFill>
              <a:srgbClr val="C9DAF8"/>
            </a:solidFill>
            <a:prstDash val="solid"/>
            <a:round/>
            <a:headEnd type="none" w="sm" len="sm"/>
            <a:tailEnd type="none" w="sm" len="sm"/>
          </a:ln>
        </p:spPr>
      </p:cxnSp>
      <p:cxnSp>
        <p:nvCxnSpPr>
          <p:cNvPr id="919" name="Google Shape;919;p48"/>
          <p:cNvCxnSpPr>
            <a:stCxn id="915" idx="5"/>
            <a:endCxn id="916" idx="2"/>
          </p:cNvCxnSpPr>
          <p:nvPr/>
        </p:nvCxnSpPr>
        <p:spPr>
          <a:xfrm>
            <a:off x="5939433" y="1664972"/>
            <a:ext cx="356700" cy="231900"/>
          </a:xfrm>
          <a:prstGeom prst="straightConnector1">
            <a:avLst/>
          </a:prstGeom>
          <a:noFill/>
          <a:ln w="19050" cap="flat" cmpd="sng">
            <a:solidFill>
              <a:srgbClr val="C9DAF8"/>
            </a:solidFill>
            <a:prstDash val="solid"/>
            <a:round/>
            <a:headEnd type="none" w="sm" len="sm"/>
            <a:tailEnd type="none" w="sm" len="sm"/>
          </a:ln>
        </p:spPr>
      </p:cxnSp>
      <p:cxnSp>
        <p:nvCxnSpPr>
          <p:cNvPr id="920" name="Google Shape;920;p48"/>
          <p:cNvCxnSpPr>
            <a:stCxn id="916" idx="7"/>
            <a:endCxn id="914" idx="4"/>
          </p:cNvCxnSpPr>
          <p:nvPr/>
        </p:nvCxnSpPr>
        <p:spPr>
          <a:xfrm rot="10800000" flipH="1">
            <a:off x="6616180" y="1355610"/>
            <a:ext cx="127800" cy="408600"/>
          </a:xfrm>
          <a:prstGeom prst="straightConnector1">
            <a:avLst/>
          </a:prstGeom>
          <a:noFill/>
          <a:ln w="19050" cap="flat" cmpd="sng">
            <a:solidFill>
              <a:srgbClr val="C9DAF8"/>
            </a:solidFill>
            <a:prstDash val="solid"/>
            <a:round/>
            <a:headEnd type="none" w="sm" len="sm"/>
            <a:tailEnd type="triangle" w="med" len="med"/>
          </a:ln>
        </p:spPr>
      </p:cxnSp>
      <p:sp>
        <p:nvSpPr>
          <p:cNvPr id="921" name="Google Shape;921;p48"/>
          <p:cNvSpPr/>
          <p:nvPr/>
        </p:nvSpPr>
        <p:spPr>
          <a:xfrm>
            <a:off x="7380261" y="735125"/>
            <a:ext cx="375000" cy="3750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FFFF"/>
                </a:solidFill>
                <a:latin typeface="Arial"/>
                <a:ea typeface="Arial"/>
                <a:cs typeface="Arial"/>
                <a:sym typeface="Arial"/>
              </a:rPr>
              <a:t>E</a:t>
            </a:r>
            <a:endParaRPr sz="1200" b="0" i="0" u="none" strike="noStrike" cap="none">
              <a:solidFill>
                <a:srgbClr val="FFFFFF"/>
              </a:solidFill>
              <a:latin typeface="Arial"/>
              <a:ea typeface="Arial"/>
              <a:cs typeface="Arial"/>
              <a:sym typeface="Arial"/>
            </a:endParaRPr>
          </a:p>
        </p:txBody>
      </p:sp>
      <p:sp>
        <p:nvSpPr>
          <p:cNvPr id="922" name="Google Shape;922;p48"/>
          <p:cNvSpPr/>
          <p:nvPr/>
        </p:nvSpPr>
        <p:spPr>
          <a:xfrm>
            <a:off x="6991716" y="1515991"/>
            <a:ext cx="375000" cy="3750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FFFF"/>
                </a:solidFill>
                <a:latin typeface="Arial"/>
                <a:ea typeface="Arial"/>
                <a:cs typeface="Arial"/>
                <a:sym typeface="Arial"/>
              </a:rPr>
              <a:t>F</a:t>
            </a:r>
            <a:endParaRPr sz="1200" b="0" i="0" u="none" strike="noStrike" cap="none">
              <a:solidFill>
                <a:srgbClr val="FFFFFF"/>
              </a:solidFill>
              <a:latin typeface="Arial"/>
              <a:ea typeface="Arial"/>
              <a:cs typeface="Arial"/>
              <a:sym typeface="Arial"/>
            </a:endParaRPr>
          </a:p>
        </p:txBody>
      </p:sp>
      <p:sp>
        <p:nvSpPr>
          <p:cNvPr id="923" name="Google Shape;923;p48"/>
          <p:cNvSpPr/>
          <p:nvPr/>
        </p:nvSpPr>
        <p:spPr>
          <a:xfrm>
            <a:off x="7720520" y="1463933"/>
            <a:ext cx="375000" cy="375000"/>
          </a:xfrm>
          <a:prstGeom prst="ellipse">
            <a:avLst/>
          </a:prstGeom>
          <a:solidFill>
            <a:srgbClr val="4A86E8"/>
          </a:solidFill>
          <a:ln w="19050" cap="flat" cmpd="sng">
            <a:solidFill>
              <a:srgbClr val="C9DAF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FFFF"/>
                </a:solidFill>
                <a:latin typeface="Arial"/>
                <a:ea typeface="Arial"/>
                <a:cs typeface="Arial"/>
                <a:sym typeface="Arial"/>
              </a:rPr>
              <a:t>G</a:t>
            </a:r>
            <a:endParaRPr sz="1200" b="0" i="0" u="none" strike="noStrike" cap="none">
              <a:solidFill>
                <a:srgbClr val="FFFFFF"/>
              </a:solidFill>
              <a:latin typeface="Arial"/>
              <a:ea typeface="Arial"/>
              <a:cs typeface="Arial"/>
              <a:sym typeface="Arial"/>
            </a:endParaRPr>
          </a:p>
        </p:txBody>
      </p:sp>
      <p:cxnSp>
        <p:nvCxnSpPr>
          <p:cNvPr id="924" name="Google Shape;924;p48"/>
          <p:cNvCxnSpPr>
            <a:stCxn id="921" idx="3"/>
            <a:endCxn id="922" idx="0"/>
          </p:cNvCxnSpPr>
          <p:nvPr/>
        </p:nvCxnSpPr>
        <p:spPr>
          <a:xfrm flipH="1">
            <a:off x="7179278" y="1055208"/>
            <a:ext cx="255900" cy="460800"/>
          </a:xfrm>
          <a:prstGeom prst="straightConnector1">
            <a:avLst/>
          </a:prstGeom>
          <a:noFill/>
          <a:ln w="19050" cap="flat" cmpd="sng">
            <a:solidFill>
              <a:srgbClr val="C9DAF8"/>
            </a:solidFill>
            <a:prstDash val="solid"/>
            <a:round/>
            <a:headEnd type="none" w="sm" len="sm"/>
            <a:tailEnd type="none" w="sm" len="sm"/>
          </a:ln>
        </p:spPr>
      </p:cxnSp>
      <p:cxnSp>
        <p:nvCxnSpPr>
          <p:cNvPr id="925" name="Google Shape;925;p48"/>
          <p:cNvCxnSpPr>
            <a:stCxn id="921" idx="5"/>
            <a:endCxn id="923" idx="0"/>
          </p:cNvCxnSpPr>
          <p:nvPr/>
        </p:nvCxnSpPr>
        <p:spPr>
          <a:xfrm>
            <a:off x="7700344" y="1055208"/>
            <a:ext cx="207600" cy="408600"/>
          </a:xfrm>
          <a:prstGeom prst="straightConnector1">
            <a:avLst/>
          </a:prstGeom>
          <a:noFill/>
          <a:ln w="19050" cap="flat" cmpd="sng">
            <a:solidFill>
              <a:srgbClr val="C9DAF8"/>
            </a:solidFill>
            <a:prstDash val="solid"/>
            <a:round/>
            <a:headEnd type="none" w="sm" len="sm"/>
            <a:tailEnd type="none" w="sm" len="sm"/>
          </a:ln>
        </p:spPr>
      </p:cxnSp>
      <p:cxnSp>
        <p:nvCxnSpPr>
          <p:cNvPr id="926" name="Google Shape;926;p48"/>
          <p:cNvCxnSpPr>
            <a:stCxn id="922" idx="6"/>
            <a:endCxn id="923" idx="2"/>
          </p:cNvCxnSpPr>
          <p:nvPr/>
        </p:nvCxnSpPr>
        <p:spPr>
          <a:xfrm rot="10800000" flipH="1">
            <a:off x="7366716" y="1651291"/>
            <a:ext cx="353700" cy="52200"/>
          </a:xfrm>
          <a:prstGeom prst="straightConnector1">
            <a:avLst/>
          </a:prstGeom>
          <a:noFill/>
          <a:ln w="19050" cap="flat" cmpd="sng">
            <a:solidFill>
              <a:srgbClr val="C9DAF8"/>
            </a:solidFill>
            <a:prstDash val="solid"/>
            <a:round/>
            <a:headEnd type="none" w="sm" len="sm"/>
            <a:tailEnd type="triangle" w="med" len="med"/>
          </a:ln>
        </p:spPr>
      </p:cxnSp>
      <p:graphicFrame>
        <p:nvGraphicFramePr>
          <p:cNvPr id="927" name="Google Shape;927;p48"/>
          <p:cNvGraphicFramePr/>
          <p:nvPr/>
        </p:nvGraphicFramePr>
        <p:xfrm>
          <a:off x="5342325" y="2231234"/>
          <a:ext cx="3266000" cy="2682000"/>
        </p:xfrm>
        <a:graphic>
          <a:graphicData uri="http://schemas.openxmlformats.org/drawingml/2006/table">
            <a:tbl>
              <a:tblPr>
                <a:noFill/>
                <a:tableStyleId>{F61E8307-4E6B-4154-8BF4-D3231BAD3CED}</a:tableStyleId>
              </a:tblPr>
              <a:tblGrid>
                <a:gridCol w="848900">
                  <a:extLst>
                    <a:ext uri="{9D8B030D-6E8A-4147-A177-3AD203B41FA5}">
                      <a16:colId xmlns:a16="http://schemas.microsoft.com/office/drawing/2014/main" val="20000"/>
                    </a:ext>
                  </a:extLst>
                </a:gridCol>
                <a:gridCol w="2417100">
                  <a:extLst>
                    <a:ext uri="{9D8B030D-6E8A-4147-A177-3AD203B41FA5}">
                      <a16:colId xmlns:a16="http://schemas.microsoft.com/office/drawing/2014/main" val="20001"/>
                    </a:ext>
                  </a:extLst>
                </a:gridCol>
              </a:tblGrid>
              <a:tr h="289275">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Vertex</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Adjacency List</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928" name="Google Shape;928;p48"/>
          <p:cNvSpPr txBox="1"/>
          <p:nvPr/>
        </p:nvSpPr>
        <p:spPr>
          <a:xfrm>
            <a:off x="5465675" y="2605226"/>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A</a:t>
            </a:r>
            <a:endParaRPr sz="1600" b="0" i="0" u="none" strike="noStrike" cap="none">
              <a:solidFill>
                <a:srgbClr val="FF0000"/>
              </a:solidFill>
              <a:latin typeface="Shadows Into Light"/>
              <a:ea typeface="Shadows Into Light"/>
              <a:cs typeface="Shadows Into Light"/>
              <a:sym typeface="Shadows Into Light"/>
            </a:endParaRPr>
          </a:p>
        </p:txBody>
      </p:sp>
      <p:sp>
        <p:nvSpPr>
          <p:cNvPr id="929" name="Google Shape;929;p48"/>
          <p:cNvSpPr txBox="1"/>
          <p:nvPr/>
        </p:nvSpPr>
        <p:spPr>
          <a:xfrm>
            <a:off x="6532475" y="2605226"/>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B, D</a:t>
            </a:r>
            <a:endParaRPr sz="1600" b="0" i="0" u="none" strike="noStrike" cap="none">
              <a:solidFill>
                <a:srgbClr val="FF0000"/>
              </a:solidFill>
              <a:latin typeface="Shadows Into Light"/>
              <a:ea typeface="Shadows Into Light"/>
              <a:cs typeface="Shadows Into Light"/>
              <a:sym typeface="Shadows Into Light"/>
            </a:endParaRPr>
          </a:p>
        </p:txBody>
      </p:sp>
      <p:sp>
        <p:nvSpPr>
          <p:cNvPr id="930" name="Google Shape;930;p48"/>
          <p:cNvSpPr txBox="1"/>
          <p:nvPr/>
        </p:nvSpPr>
        <p:spPr>
          <a:xfrm>
            <a:off x="5465675" y="2941221"/>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B</a:t>
            </a:r>
            <a:endParaRPr sz="1600" b="0" i="0" u="none" strike="noStrike" cap="none">
              <a:solidFill>
                <a:srgbClr val="FF0000"/>
              </a:solidFill>
              <a:latin typeface="Shadows Into Light"/>
              <a:ea typeface="Shadows Into Light"/>
              <a:cs typeface="Shadows Into Light"/>
              <a:sym typeface="Shadows Into Light"/>
            </a:endParaRPr>
          </a:p>
        </p:txBody>
      </p:sp>
      <p:sp>
        <p:nvSpPr>
          <p:cNvPr id="931" name="Google Shape;931;p48"/>
          <p:cNvSpPr txBox="1"/>
          <p:nvPr/>
        </p:nvSpPr>
        <p:spPr>
          <a:xfrm>
            <a:off x="5465675" y="3278240"/>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C</a:t>
            </a:r>
            <a:endParaRPr sz="1600" b="0" i="0" u="none" strike="noStrike" cap="none">
              <a:solidFill>
                <a:srgbClr val="FF0000"/>
              </a:solidFill>
              <a:latin typeface="Shadows Into Light"/>
              <a:ea typeface="Shadows Into Light"/>
              <a:cs typeface="Shadows Into Light"/>
              <a:sym typeface="Shadows Into Light"/>
            </a:endParaRPr>
          </a:p>
        </p:txBody>
      </p:sp>
      <p:grpSp>
        <p:nvGrpSpPr>
          <p:cNvPr id="932" name="Google Shape;932;p48"/>
          <p:cNvGrpSpPr/>
          <p:nvPr/>
        </p:nvGrpSpPr>
        <p:grpSpPr>
          <a:xfrm>
            <a:off x="5465675" y="3614306"/>
            <a:ext cx="646800" cy="1277599"/>
            <a:chOff x="5770475" y="3442618"/>
            <a:chExt cx="646800" cy="1277599"/>
          </a:xfrm>
        </p:grpSpPr>
        <p:sp>
          <p:nvSpPr>
            <p:cNvPr id="933" name="Google Shape;933;p48"/>
            <p:cNvSpPr txBox="1"/>
            <p:nvPr/>
          </p:nvSpPr>
          <p:spPr>
            <a:xfrm>
              <a:off x="5770475" y="3442618"/>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D</a:t>
              </a:r>
              <a:endParaRPr sz="1600" b="0" i="0" u="none" strike="noStrike" cap="none">
                <a:solidFill>
                  <a:srgbClr val="FF0000"/>
                </a:solidFill>
                <a:latin typeface="Shadows Into Light"/>
                <a:ea typeface="Shadows Into Light"/>
                <a:cs typeface="Shadows Into Light"/>
                <a:sym typeface="Shadows Into Light"/>
              </a:endParaRPr>
            </a:p>
          </p:txBody>
        </p:sp>
        <p:sp>
          <p:nvSpPr>
            <p:cNvPr id="934" name="Google Shape;934;p48"/>
            <p:cNvSpPr txBox="1"/>
            <p:nvPr/>
          </p:nvSpPr>
          <p:spPr>
            <a:xfrm>
              <a:off x="5770475" y="3772255"/>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E</a:t>
              </a:r>
              <a:endParaRPr sz="1600" b="0" i="0" u="none" strike="noStrike" cap="none">
                <a:solidFill>
                  <a:srgbClr val="FF0000"/>
                </a:solidFill>
                <a:latin typeface="Shadows Into Light"/>
                <a:ea typeface="Shadows Into Light"/>
                <a:cs typeface="Shadows Into Light"/>
                <a:sym typeface="Shadows Into Light"/>
              </a:endParaRPr>
            </a:p>
          </p:txBody>
        </p:sp>
        <p:sp>
          <p:nvSpPr>
            <p:cNvPr id="935" name="Google Shape;935;p48"/>
            <p:cNvSpPr txBox="1"/>
            <p:nvPr/>
          </p:nvSpPr>
          <p:spPr>
            <a:xfrm>
              <a:off x="5770475" y="4108321"/>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F</a:t>
              </a:r>
              <a:endParaRPr sz="1600" b="0" i="0" u="none" strike="noStrike" cap="none">
                <a:solidFill>
                  <a:srgbClr val="FF0000"/>
                </a:solidFill>
                <a:latin typeface="Shadows Into Light"/>
                <a:ea typeface="Shadows Into Light"/>
                <a:cs typeface="Shadows Into Light"/>
                <a:sym typeface="Shadows Into Light"/>
              </a:endParaRPr>
            </a:p>
          </p:txBody>
        </p:sp>
        <p:sp>
          <p:nvSpPr>
            <p:cNvPr id="936" name="Google Shape;936;p48"/>
            <p:cNvSpPr txBox="1"/>
            <p:nvPr/>
          </p:nvSpPr>
          <p:spPr>
            <a:xfrm>
              <a:off x="5770475" y="4450817"/>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G</a:t>
              </a:r>
              <a:endParaRPr sz="1600" b="0" i="0" u="none" strike="noStrike" cap="none">
                <a:solidFill>
                  <a:srgbClr val="FF0000"/>
                </a:solidFill>
                <a:latin typeface="Shadows Into Light"/>
                <a:ea typeface="Shadows Into Light"/>
                <a:cs typeface="Shadows Into Light"/>
                <a:sym typeface="Shadows Into Light"/>
              </a:endParaRPr>
            </a:p>
          </p:txBody>
        </p:sp>
      </p:grpSp>
      <p:sp>
        <p:nvSpPr>
          <p:cNvPr id="937" name="Google Shape;937;p48"/>
          <p:cNvSpPr txBox="1"/>
          <p:nvPr/>
        </p:nvSpPr>
        <p:spPr>
          <a:xfrm>
            <a:off x="6532475" y="2934815"/>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A</a:t>
            </a:r>
            <a:endParaRPr sz="1600" b="0" i="0" u="none" strike="noStrike" cap="none">
              <a:solidFill>
                <a:srgbClr val="FF0000"/>
              </a:solidFill>
              <a:latin typeface="Shadows Into Light"/>
              <a:ea typeface="Shadows Into Light"/>
              <a:cs typeface="Shadows Into Light"/>
              <a:sym typeface="Shadows Into Light"/>
            </a:endParaRPr>
          </a:p>
        </p:txBody>
      </p:sp>
      <p:sp>
        <p:nvSpPr>
          <p:cNvPr id="938" name="Google Shape;938;p48"/>
          <p:cNvSpPr txBox="1"/>
          <p:nvPr/>
        </p:nvSpPr>
        <p:spPr>
          <a:xfrm>
            <a:off x="6532475" y="3265429"/>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B, D</a:t>
            </a:r>
            <a:endParaRPr sz="1600" b="0" i="0" u="none" strike="noStrike" cap="none">
              <a:solidFill>
                <a:srgbClr val="FF0000"/>
              </a:solidFill>
              <a:latin typeface="Shadows Into Light"/>
              <a:ea typeface="Shadows Into Light"/>
              <a:cs typeface="Shadows Into Light"/>
              <a:sym typeface="Shadows Into Light"/>
            </a:endParaRPr>
          </a:p>
        </p:txBody>
      </p:sp>
      <p:grpSp>
        <p:nvGrpSpPr>
          <p:cNvPr id="939" name="Google Shape;939;p48"/>
          <p:cNvGrpSpPr/>
          <p:nvPr/>
        </p:nvGrpSpPr>
        <p:grpSpPr>
          <a:xfrm>
            <a:off x="6532475" y="3614306"/>
            <a:ext cx="646800" cy="1271858"/>
            <a:chOff x="6837275" y="3442618"/>
            <a:chExt cx="646800" cy="1271858"/>
          </a:xfrm>
        </p:grpSpPr>
        <p:sp>
          <p:nvSpPr>
            <p:cNvPr id="940" name="Google Shape;940;p48"/>
            <p:cNvSpPr txBox="1"/>
            <p:nvPr/>
          </p:nvSpPr>
          <p:spPr>
            <a:xfrm>
              <a:off x="6837275" y="3442618"/>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A, C</a:t>
              </a:r>
              <a:endParaRPr sz="1600" b="0" i="0" u="none" strike="noStrike" cap="none">
                <a:solidFill>
                  <a:srgbClr val="FF0000"/>
                </a:solidFill>
                <a:latin typeface="Shadows Into Light"/>
                <a:ea typeface="Shadows Into Light"/>
                <a:cs typeface="Shadows Into Light"/>
                <a:sym typeface="Shadows Into Light"/>
              </a:endParaRPr>
            </a:p>
          </p:txBody>
        </p:sp>
        <p:sp>
          <p:nvSpPr>
            <p:cNvPr id="941" name="Google Shape;941;p48"/>
            <p:cNvSpPr txBox="1"/>
            <p:nvPr/>
          </p:nvSpPr>
          <p:spPr>
            <a:xfrm>
              <a:off x="6837275" y="3761061"/>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F, G</a:t>
              </a:r>
              <a:endParaRPr sz="1600" b="0" i="0" u="none" strike="noStrike" cap="none">
                <a:solidFill>
                  <a:srgbClr val="FF0000"/>
                </a:solidFill>
                <a:latin typeface="Shadows Into Light"/>
                <a:ea typeface="Shadows Into Light"/>
                <a:cs typeface="Shadows Into Light"/>
                <a:sym typeface="Shadows Into Light"/>
              </a:endParaRPr>
            </a:p>
          </p:txBody>
        </p:sp>
        <p:sp>
          <p:nvSpPr>
            <p:cNvPr id="942" name="Google Shape;942;p48"/>
            <p:cNvSpPr txBox="1"/>
            <p:nvPr/>
          </p:nvSpPr>
          <p:spPr>
            <a:xfrm>
              <a:off x="6837275" y="4115487"/>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E, G</a:t>
              </a:r>
              <a:endParaRPr sz="1600" b="0" i="0" u="none" strike="noStrike" cap="none">
                <a:solidFill>
                  <a:srgbClr val="FF0000"/>
                </a:solidFill>
                <a:latin typeface="Shadows Into Light"/>
                <a:ea typeface="Shadows Into Light"/>
                <a:cs typeface="Shadows Into Light"/>
                <a:sym typeface="Shadows Into Light"/>
              </a:endParaRPr>
            </a:p>
          </p:txBody>
        </p:sp>
        <p:sp>
          <p:nvSpPr>
            <p:cNvPr id="943" name="Google Shape;943;p48"/>
            <p:cNvSpPr txBox="1"/>
            <p:nvPr/>
          </p:nvSpPr>
          <p:spPr>
            <a:xfrm>
              <a:off x="6837275" y="4445076"/>
              <a:ext cx="646800" cy="269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FF0000"/>
                  </a:solidFill>
                  <a:latin typeface="Shadows Into Light"/>
                  <a:ea typeface="Shadows Into Light"/>
                  <a:cs typeface="Shadows Into Light"/>
                  <a:sym typeface="Shadows Into Light"/>
                </a:rPr>
                <a:t>E</a:t>
              </a:r>
              <a:endParaRPr sz="1600" b="0" i="0" u="none" strike="noStrike" cap="none">
                <a:solidFill>
                  <a:srgbClr val="FF0000"/>
                </a:solidFill>
                <a:latin typeface="Shadows Into Light"/>
                <a:ea typeface="Shadows Into Light"/>
                <a:cs typeface="Shadows Into Light"/>
                <a:sym typeface="Shadows Into Ligh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1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1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28"/>
                                        </p:tgtEl>
                                        <p:attrNameLst>
                                          <p:attrName>style.visibility</p:attrName>
                                        </p:attrNameLst>
                                      </p:cBhvr>
                                      <p:to>
                                        <p:strVal val="visible"/>
                                      </p:to>
                                    </p:set>
                                    <p:animEffect transition="in" filter="fade">
                                      <p:cBhvr>
                                        <p:cTn id="47" dur="1000"/>
                                        <p:tgtEl>
                                          <p:spTgt spid="928"/>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929"/>
                                        </p:tgtEl>
                                        <p:attrNameLst>
                                          <p:attrName>style.visibility</p:attrName>
                                        </p:attrNameLst>
                                      </p:cBhvr>
                                      <p:to>
                                        <p:strVal val="visible"/>
                                      </p:to>
                                    </p:set>
                                    <p:animEffect transition="in" filter="fade">
                                      <p:cBhvr>
                                        <p:cTn id="51" dur="1000"/>
                                        <p:tgtEl>
                                          <p:spTgt spid="92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930"/>
                                        </p:tgtEl>
                                        <p:attrNameLst>
                                          <p:attrName>style.visibility</p:attrName>
                                        </p:attrNameLst>
                                      </p:cBhvr>
                                      <p:to>
                                        <p:strVal val="visible"/>
                                      </p:to>
                                    </p:set>
                                    <p:animEffect transition="in" filter="fade">
                                      <p:cBhvr>
                                        <p:cTn id="56" dur="1000"/>
                                        <p:tgtEl>
                                          <p:spTgt spid="930"/>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937"/>
                                        </p:tgtEl>
                                        <p:attrNameLst>
                                          <p:attrName>style.visibility</p:attrName>
                                        </p:attrNameLst>
                                      </p:cBhvr>
                                      <p:to>
                                        <p:strVal val="visible"/>
                                      </p:to>
                                    </p:set>
                                    <p:animEffect transition="in" filter="fade">
                                      <p:cBhvr>
                                        <p:cTn id="60" dur="1000"/>
                                        <p:tgtEl>
                                          <p:spTgt spid="93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931"/>
                                        </p:tgtEl>
                                        <p:attrNameLst>
                                          <p:attrName>style.visibility</p:attrName>
                                        </p:attrNameLst>
                                      </p:cBhvr>
                                      <p:to>
                                        <p:strVal val="visible"/>
                                      </p:to>
                                    </p:set>
                                    <p:animEffect transition="in" filter="fade">
                                      <p:cBhvr>
                                        <p:cTn id="65" dur="1000"/>
                                        <p:tgtEl>
                                          <p:spTgt spid="931"/>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938"/>
                                        </p:tgtEl>
                                        <p:attrNameLst>
                                          <p:attrName>style.visibility</p:attrName>
                                        </p:attrNameLst>
                                      </p:cBhvr>
                                      <p:to>
                                        <p:strVal val="visible"/>
                                      </p:to>
                                    </p:set>
                                    <p:animEffect transition="in" filter="fade">
                                      <p:cBhvr>
                                        <p:cTn id="69" dur="1000"/>
                                        <p:tgtEl>
                                          <p:spTgt spid="93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932"/>
                                        </p:tgtEl>
                                        <p:attrNameLst>
                                          <p:attrName>style.visibility</p:attrName>
                                        </p:attrNameLst>
                                      </p:cBhvr>
                                      <p:to>
                                        <p:strVal val="visible"/>
                                      </p:to>
                                    </p:set>
                                    <p:animEffect transition="in" filter="fade">
                                      <p:cBhvr>
                                        <p:cTn id="74" dur="1000"/>
                                        <p:tgtEl>
                                          <p:spTgt spid="932"/>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939"/>
                                        </p:tgtEl>
                                        <p:attrNameLst>
                                          <p:attrName>style.visibility</p:attrName>
                                        </p:attrNameLst>
                                      </p:cBhvr>
                                      <p:to>
                                        <p:strVal val="visible"/>
                                      </p:to>
                                    </p:set>
                                    <p:animEffect transition="in" filter="fade">
                                      <p:cBhvr>
                                        <p:cTn id="78" dur="1000"/>
                                        <p:tgtEl>
                                          <p:spTgt spid="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4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possible implementation of a graph involves each vertex keeping track of its neighbors in an </a:t>
            </a:r>
            <a:r>
              <a:rPr lang="en" i="1"/>
              <a:t>adjacency list</a:t>
            </a:r>
            <a:r>
              <a:rPr lang="en"/>
              <a:t>. An adjacency list can be represented using a table. Given the graphs depicted below, fill in the adjacency list for each vertex.</a:t>
            </a:r>
            <a:endParaRPr/>
          </a:p>
        </p:txBody>
      </p:sp>
      <p:sp>
        <p:nvSpPr>
          <p:cNvPr id="949" name="Google Shape;949;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950" name="Google Shape;950;p4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Adjacency Lists</a:t>
            </a:r>
            <a:endParaRPr/>
          </a:p>
        </p:txBody>
      </p:sp>
      <p:sp>
        <p:nvSpPr>
          <p:cNvPr id="951" name="Google Shape;951;p4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12.4</a:t>
            </a:r>
            <a:endParaRPr/>
          </a:p>
        </p:txBody>
      </p:sp>
      <p:graphicFrame>
        <p:nvGraphicFramePr>
          <p:cNvPr id="952" name="Google Shape;952;p49"/>
          <p:cNvGraphicFramePr/>
          <p:nvPr/>
        </p:nvGraphicFramePr>
        <p:xfrm>
          <a:off x="260275" y="1821275"/>
          <a:ext cx="3000000" cy="3000000"/>
        </p:xfrm>
        <a:graphic>
          <a:graphicData uri="http://schemas.openxmlformats.org/drawingml/2006/table">
            <a:tbl>
              <a:tblPr>
                <a:noFill/>
                <a:tableStyleId>{F61E8307-4E6B-4154-8BF4-D3231BAD3CED}</a:tableStyleId>
              </a:tblPr>
              <a:tblGrid>
                <a:gridCol w="632375">
                  <a:extLst>
                    <a:ext uri="{9D8B030D-6E8A-4147-A177-3AD203B41FA5}">
                      <a16:colId xmlns:a16="http://schemas.microsoft.com/office/drawing/2014/main" val="20000"/>
                    </a:ext>
                  </a:extLst>
                </a:gridCol>
                <a:gridCol w="1156850">
                  <a:extLst>
                    <a:ext uri="{9D8B030D-6E8A-4147-A177-3AD203B41FA5}">
                      <a16:colId xmlns:a16="http://schemas.microsoft.com/office/drawing/2014/main" val="20001"/>
                    </a:ext>
                  </a:extLst>
                </a:gridCol>
              </a:tblGrid>
              <a:tr h="289275">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Vertex</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Adjacency List</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aphicFrame>
        <p:nvGraphicFramePr>
          <p:cNvPr id="953" name="Google Shape;953;p49"/>
          <p:cNvGraphicFramePr/>
          <p:nvPr/>
        </p:nvGraphicFramePr>
        <p:xfrm>
          <a:off x="4549275" y="1821275"/>
          <a:ext cx="3000000" cy="3000000"/>
        </p:xfrm>
        <a:graphic>
          <a:graphicData uri="http://schemas.openxmlformats.org/drawingml/2006/table">
            <a:tbl>
              <a:tblPr>
                <a:noFill/>
                <a:tableStyleId>{F61E8307-4E6B-4154-8BF4-D3231BAD3CED}</a:tableStyleId>
              </a:tblPr>
              <a:tblGrid>
                <a:gridCol w="584725">
                  <a:extLst>
                    <a:ext uri="{9D8B030D-6E8A-4147-A177-3AD203B41FA5}">
                      <a16:colId xmlns:a16="http://schemas.microsoft.com/office/drawing/2014/main" val="20000"/>
                    </a:ext>
                  </a:extLst>
                </a:gridCol>
                <a:gridCol w="1217075">
                  <a:extLst>
                    <a:ext uri="{9D8B030D-6E8A-4147-A177-3AD203B41FA5}">
                      <a16:colId xmlns:a16="http://schemas.microsoft.com/office/drawing/2014/main" val="20001"/>
                    </a:ext>
                  </a:extLst>
                </a:gridCol>
              </a:tblGrid>
              <a:tr h="289275">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Vertex</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Adjacency List</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pSp>
        <p:nvGrpSpPr>
          <p:cNvPr id="954" name="Google Shape;954;p49"/>
          <p:cNvGrpSpPr/>
          <p:nvPr/>
        </p:nvGrpSpPr>
        <p:grpSpPr>
          <a:xfrm>
            <a:off x="2320825" y="1907850"/>
            <a:ext cx="1555025" cy="2528150"/>
            <a:chOff x="2320825" y="1526850"/>
            <a:chExt cx="1555025" cy="2528150"/>
          </a:xfrm>
        </p:grpSpPr>
        <p:sp>
          <p:nvSpPr>
            <p:cNvPr id="955" name="Google Shape;955;p49"/>
            <p:cNvSpPr/>
            <p:nvPr/>
          </p:nvSpPr>
          <p:spPr>
            <a:xfrm>
              <a:off x="2594725" y="15268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Z</a:t>
              </a:r>
              <a:endParaRPr sz="1400" b="0" i="0" u="none" strike="noStrike" cap="none">
                <a:solidFill>
                  <a:srgbClr val="000000"/>
                </a:solidFill>
                <a:latin typeface="Courier New"/>
                <a:ea typeface="Courier New"/>
                <a:cs typeface="Courier New"/>
                <a:sym typeface="Courier New"/>
              </a:endParaRPr>
            </a:p>
          </p:txBody>
        </p:sp>
        <p:sp>
          <p:nvSpPr>
            <p:cNvPr id="956" name="Google Shape;956;p49"/>
            <p:cNvSpPr/>
            <p:nvPr/>
          </p:nvSpPr>
          <p:spPr>
            <a:xfrm>
              <a:off x="2320825" y="21894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Y</a:t>
              </a:r>
              <a:endParaRPr sz="1400" b="0" i="0" u="none" strike="noStrike" cap="none">
                <a:solidFill>
                  <a:srgbClr val="000000"/>
                </a:solidFill>
                <a:latin typeface="Courier New"/>
                <a:ea typeface="Courier New"/>
                <a:cs typeface="Courier New"/>
                <a:sym typeface="Courier New"/>
              </a:endParaRPr>
            </a:p>
          </p:txBody>
        </p:sp>
        <p:sp>
          <p:nvSpPr>
            <p:cNvPr id="957" name="Google Shape;957;p49"/>
            <p:cNvSpPr/>
            <p:nvPr/>
          </p:nvSpPr>
          <p:spPr>
            <a:xfrm>
              <a:off x="3320750" y="19939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X</a:t>
              </a:r>
              <a:endParaRPr sz="1400" b="0" i="0" u="none" strike="noStrike" cap="none">
                <a:solidFill>
                  <a:srgbClr val="000000"/>
                </a:solidFill>
                <a:latin typeface="Courier New"/>
                <a:ea typeface="Courier New"/>
                <a:cs typeface="Courier New"/>
                <a:sym typeface="Courier New"/>
              </a:endParaRPr>
            </a:p>
          </p:txBody>
        </p:sp>
        <p:sp>
          <p:nvSpPr>
            <p:cNvPr id="958" name="Google Shape;958;p49"/>
            <p:cNvSpPr/>
            <p:nvPr/>
          </p:nvSpPr>
          <p:spPr>
            <a:xfrm>
              <a:off x="2927150" y="26844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V</a:t>
              </a:r>
              <a:endParaRPr sz="1400" b="0" i="0" u="none" strike="noStrike" cap="none">
                <a:solidFill>
                  <a:srgbClr val="000000"/>
                </a:solidFill>
                <a:latin typeface="Courier New"/>
                <a:ea typeface="Courier New"/>
                <a:cs typeface="Courier New"/>
                <a:sym typeface="Courier New"/>
              </a:endParaRPr>
            </a:p>
          </p:txBody>
        </p:sp>
        <p:sp>
          <p:nvSpPr>
            <p:cNvPr id="959" name="Google Shape;959;p49"/>
            <p:cNvSpPr/>
            <p:nvPr/>
          </p:nvSpPr>
          <p:spPr>
            <a:xfrm>
              <a:off x="2442325" y="316482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W</a:t>
              </a:r>
              <a:endParaRPr sz="1400" b="0" i="0" u="none" strike="noStrike" cap="none">
                <a:solidFill>
                  <a:srgbClr val="000000"/>
                </a:solidFill>
                <a:latin typeface="Courier New"/>
                <a:ea typeface="Courier New"/>
                <a:cs typeface="Courier New"/>
                <a:sym typeface="Courier New"/>
              </a:endParaRPr>
            </a:p>
          </p:txBody>
        </p:sp>
        <p:sp>
          <p:nvSpPr>
            <p:cNvPr id="960" name="Google Shape;960;p49"/>
            <p:cNvSpPr/>
            <p:nvPr/>
          </p:nvSpPr>
          <p:spPr>
            <a:xfrm>
              <a:off x="3482250" y="30097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U</a:t>
              </a:r>
              <a:endParaRPr sz="1400" b="0" i="0" u="none" strike="noStrike" cap="none">
                <a:solidFill>
                  <a:srgbClr val="000000"/>
                </a:solidFill>
                <a:latin typeface="Courier New"/>
                <a:ea typeface="Courier New"/>
                <a:cs typeface="Courier New"/>
                <a:sym typeface="Courier New"/>
              </a:endParaRPr>
            </a:p>
          </p:txBody>
        </p:sp>
        <p:cxnSp>
          <p:nvCxnSpPr>
            <p:cNvPr id="961" name="Google Shape;961;p49"/>
            <p:cNvCxnSpPr>
              <a:stCxn id="955" idx="6"/>
              <a:endCxn id="957" idx="1"/>
            </p:cNvCxnSpPr>
            <p:nvPr/>
          </p:nvCxnSpPr>
          <p:spPr>
            <a:xfrm>
              <a:off x="2988325" y="1723650"/>
              <a:ext cx="390000" cy="327900"/>
            </a:xfrm>
            <a:prstGeom prst="straightConnector1">
              <a:avLst/>
            </a:prstGeom>
            <a:noFill/>
            <a:ln w="19050" cap="flat" cmpd="sng">
              <a:solidFill>
                <a:srgbClr val="000000"/>
              </a:solidFill>
              <a:prstDash val="solid"/>
              <a:round/>
              <a:headEnd type="none" w="sm" len="sm"/>
              <a:tailEnd type="none" w="sm" len="sm"/>
            </a:ln>
          </p:spPr>
        </p:cxnSp>
        <p:cxnSp>
          <p:nvCxnSpPr>
            <p:cNvPr id="962" name="Google Shape;962;p49"/>
            <p:cNvCxnSpPr>
              <a:stCxn id="955" idx="3"/>
              <a:endCxn id="956" idx="0"/>
            </p:cNvCxnSpPr>
            <p:nvPr/>
          </p:nvCxnSpPr>
          <p:spPr>
            <a:xfrm flipH="1">
              <a:off x="2517666" y="1862809"/>
              <a:ext cx="134700" cy="326700"/>
            </a:xfrm>
            <a:prstGeom prst="straightConnector1">
              <a:avLst/>
            </a:prstGeom>
            <a:noFill/>
            <a:ln w="19050" cap="flat" cmpd="sng">
              <a:solidFill>
                <a:srgbClr val="000000"/>
              </a:solidFill>
              <a:prstDash val="solid"/>
              <a:round/>
              <a:headEnd type="none" w="sm" len="sm"/>
              <a:tailEnd type="none" w="sm" len="sm"/>
            </a:ln>
          </p:spPr>
        </p:cxnSp>
        <p:cxnSp>
          <p:nvCxnSpPr>
            <p:cNvPr id="963" name="Google Shape;963;p49"/>
            <p:cNvCxnSpPr>
              <a:stCxn id="956" idx="6"/>
              <a:endCxn id="957" idx="2"/>
            </p:cNvCxnSpPr>
            <p:nvPr/>
          </p:nvCxnSpPr>
          <p:spPr>
            <a:xfrm rot="10800000" flipH="1">
              <a:off x="2714425" y="2190900"/>
              <a:ext cx="606300" cy="195300"/>
            </a:xfrm>
            <a:prstGeom prst="straightConnector1">
              <a:avLst/>
            </a:prstGeom>
            <a:noFill/>
            <a:ln w="19050" cap="flat" cmpd="sng">
              <a:solidFill>
                <a:srgbClr val="000000"/>
              </a:solidFill>
              <a:prstDash val="solid"/>
              <a:round/>
              <a:headEnd type="none" w="sm" len="sm"/>
              <a:tailEnd type="none" w="sm" len="sm"/>
            </a:ln>
          </p:spPr>
        </p:cxnSp>
        <p:cxnSp>
          <p:nvCxnSpPr>
            <p:cNvPr id="964" name="Google Shape;964;p49"/>
            <p:cNvCxnSpPr>
              <a:stCxn id="960" idx="2"/>
              <a:endCxn id="959" idx="6"/>
            </p:cNvCxnSpPr>
            <p:nvPr/>
          </p:nvCxnSpPr>
          <p:spPr>
            <a:xfrm flipH="1">
              <a:off x="2836050" y="3206550"/>
              <a:ext cx="646200" cy="155100"/>
            </a:xfrm>
            <a:prstGeom prst="straightConnector1">
              <a:avLst/>
            </a:prstGeom>
            <a:noFill/>
            <a:ln w="19050" cap="flat" cmpd="sng">
              <a:solidFill>
                <a:srgbClr val="000000"/>
              </a:solidFill>
              <a:prstDash val="solid"/>
              <a:round/>
              <a:headEnd type="none" w="sm" len="sm"/>
              <a:tailEnd type="none" w="sm" len="sm"/>
            </a:ln>
          </p:spPr>
        </p:cxnSp>
        <p:sp>
          <p:nvSpPr>
            <p:cNvPr id="965" name="Google Shape;965;p49"/>
            <p:cNvSpPr/>
            <p:nvPr/>
          </p:nvSpPr>
          <p:spPr>
            <a:xfrm>
              <a:off x="3046750" y="36614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T</a:t>
              </a:r>
              <a:endParaRPr sz="1400" b="0" i="0" u="none" strike="noStrike" cap="none">
                <a:solidFill>
                  <a:srgbClr val="000000"/>
                </a:solidFill>
                <a:latin typeface="Courier New"/>
                <a:ea typeface="Courier New"/>
                <a:cs typeface="Courier New"/>
                <a:sym typeface="Courier New"/>
              </a:endParaRPr>
            </a:p>
          </p:txBody>
        </p:sp>
        <p:cxnSp>
          <p:nvCxnSpPr>
            <p:cNvPr id="966" name="Google Shape;966;p49"/>
            <p:cNvCxnSpPr>
              <a:stCxn id="956" idx="5"/>
              <a:endCxn id="958" idx="1"/>
            </p:cNvCxnSpPr>
            <p:nvPr/>
          </p:nvCxnSpPr>
          <p:spPr>
            <a:xfrm>
              <a:off x="2656784" y="2525359"/>
              <a:ext cx="327900" cy="216600"/>
            </a:xfrm>
            <a:prstGeom prst="straightConnector1">
              <a:avLst/>
            </a:prstGeom>
            <a:noFill/>
            <a:ln w="19050" cap="flat" cmpd="sng">
              <a:solidFill>
                <a:srgbClr val="000000"/>
              </a:solidFill>
              <a:prstDash val="solid"/>
              <a:round/>
              <a:headEnd type="none" w="sm" len="sm"/>
              <a:tailEnd type="none" w="sm" len="sm"/>
            </a:ln>
          </p:spPr>
        </p:cxnSp>
        <p:cxnSp>
          <p:nvCxnSpPr>
            <p:cNvPr id="967" name="Google Shape;967;p49"/>
            <p:cNvCxnSpPr>
              <a:stCxn id="965" idx="1"/>
              <a:endCxn id="959" idx="5"/>
            </p:cNvCxnSpPr>
            <p:nvPr/>
          </p:nvCxnSpPr>
          <p:spPr>
            <a:xfrm rot="10800000">
              <a:off x="2778291" y="3500641"/>
              <a:ext cx="326100" cy="218400"/>
            </a:xfrm>
            <a:prstGeom prst="straightConnector1">
              <a:avLst/>
            </a:prstGeom>
            <a:noFill/>
            <a:ln w="19050" cap="flat" cmpd="sng">
              <a:solidFill>
                <a:srgbClr val="000000"/>
              </a:solidFill>
              <a:prstDash val="solid"/>
              <a:round/>
              <a:headEnd type="none" w="sm" len="sm"/>
              <a:tailEnd type="none" w="sm" len="sm"/>
            </a:ln>
          </p:spPr>
        </p:cxnSp>
      </p:grpSp>
      <p:grpSp>
        <p:nvGrpSpPr>
          <p:cNvPr id="968" name="Google Shape;968;p49"/>
          <p:cNvGrpSpPr/>
          <p:nvPr/>
        </p:nvGrpSpPr>
        <p:grpSpPr>
          <a:xfrm>
            <a:off x="6680850" y="1864800"/>
            <a:ext cx="2175900" cy="2351138"/>
            <a:chOff x="6833250" y="2017200"/>
            <a:chExt cx="2175900" cy="2351138"/>
          </a:xfrm>
        </p:grpSpPr>
        <p:sp>
          <p:nvSpPr>
            <p:cNvPr id="969" name="Google Shape;969;p49"/>
            <p:cNvSpPr/>
            <p:nvPr/>
          </p:nvSpPr>
          <p:spPr>
            <a:xfrm>
              <a:off x="7191000" y="20172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A</a:t>
              </a:r>
              <a:endParaRPr sz="1400" b="0" i="0" u="none" strike="noStrike" cap="none">
                <a:solidFill>
                  <a:srgbClr val="000000"/>
                </a:solidFill>
                <a:latin typeface="Courier New"/>
                <a:ea typeface="Courier New"/>
                <a:cs typeface="Courier New"/>
                <a:sym typeface="Courier New"/>
              </a:endParaRPr>
            </a:p>
          </p:txBody>
        </p:sp>
        <p:sp>
          <p:nvSpPr>
            <p:cNvPr id="970" name="Google Shape;970;p49"/>
            <p:cNvSpPr/>
            <p:nvPr/>
          </p:nvSpPr>
          <p:spPr>
            <a:xfrm>
              <a:off x="6833250" y="27686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B</a:t>
              </a:r>
              <a:endParaRPr sz="1400" b="0" i="0" u="none" strike="noStrike" cap="none">
                <a:solidFill>
                  <a:srgbClr val="000000"/>
                </a:solidFill>
                <a:latin typeface="Courier New"/>
                <a:ea typeface="Courier New"/>
                <a:cs typeface="Courier New"/>
                <a:sym typeface="Courier New"/>
              </a:endParaRPr>
            </a:p>
          </p:txBody>
        </p:sp>
        <p:sp>
          <p:nvSpPr>
            <p:cNvPr id="971" name="Google Shape;971;p49"/>
            <p:cNvSpPr/>
            <p:nvPr/>
          </p:nvSpPr>
          <p:spPr>
            <a:xfrm>
              <a:off x="7547538" y="31622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C</a:t>
              </a:r>
              <a:endParaRPr sz="1400" b="0" i="0" u="none" strike="noStrike" cap="none">
                <a:solidFill>
                  <a:srgbClr val="000000"/>
                </a:solidFill>
                <a:latin typeface="Courier New"/>
                <a:ea typeface="Courier New"/>
                <a:cs typeface="Courier New"/>
                <a:sym typeface="Courier New"/>
              </a:endParaRPr>
            </a:p>
          </p:txBody>
        </p:sp>
        <p:sp>
          <p:nvSpPr>
            <p:cNvPr id="972" name="Google Shape;972;p49"/>
            <p:cNvSpPr/>
            <p:nvPr/>
          </p:nvSpPr>
          <p:spPr>
            <a:xfrm>
              <a:off x="8158350" y="24986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D</a:t>
              </a:r>
              <a:endParaRPr sz="1400" b="0" i="0" u="none" strike="noStrike" cap="none">
                <a:solidFill>
                  <a:srgbClr val="000000"/>
                </a:solidFill>
                <a:latin typeface="Courier New"/>
                <a:ea typeface="Courier New"/>
                <a:cs typeface="Courier New"/>
                <a:sym typeface="Courier New"/>
              </a:endParaRPr>
            </a:p>
          </p:txBody>
        </p:sp>
        <p:sp>
          <p:nvSpPr>
            <p:cNvPr id="973" name="Google Shape;973;p49"/>
            <p:cNvSpPr/>
            <p:nvPr/>
          </p:nvSpPr>
          <p:spPr>
            <a:xfrm>
              <a:off x="8216100" y="35809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E</a:t>
              </a:r>
              <a:endParaRPr sz="1400" b="0" i="0" u="none" strike="noStrike" cap="none">
                <a:solidFill>
                  <a:srgbClr val="000000"/>
                </a:solidFill>
                <a:latin typeface="Courier New"/>
                <a:ea typeface="Courier New"/>
                <a:cs typeface="Courier New"/>
                <a:sym typeface="Courier New"/>
              </a:endParaRPr>
            </a:p>
          </p:txBody>
        </p:sp>
        <p:sp>
          <p:nvSpPr>
            <p:cNvPr id="974" name="Google Shape;974;p49"/>
            <p:cNvSpPr/>
            <p:nvPr/>
          </p:nvSpPr>
          <p:spPr>
            <a:xfrm>
              <a:off x="7024500" y="3974738"/>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F</a:t>
              </a:r>
              <a:endParaRPr sz="1400" b="0" i="0" u="none" strike="noStrike" cap="none">
                <a:solidFill>
                  <a:srgbClr val="000000"/>
                </a:solidFill>
                <a:latin typeface="Courier New"/>
                <a:ea typeface="Courier New"/>
                <a:cs typeface="Courier New"/>
                <a:sym typeface="Courier New"/>
              </a:endParaRPr>
            </a:p>
          </p:txBody>
        </p:sp>
        <p:sp>
          <p:nvSpPr>
            <p:cNvPr id="975" name="Google Shape;975;p49"/>
            <p:cNvSpPr/>
            <p:nvPr/>
          </p:nvSpPr>
          <p:spPr>
            <a:xfrm>
              <a:off x="8615550" y="29558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G</a:t>
              </a:r>
              <a:endParaRPr sz="1400" b="0" i="0" u="none" strike="noStrike" cap="none">
                <a:solidFill>
                  <a:srgbClr val="000000"/>
                </a:solidFill>
                <a:latin typeface="Courier New"/>
                <a:ea typeface="Courier New"/>
                <a:cs typeface="Courier New"/>
                <a:sym typeface="Courier New"/>
              </a:endParaRPr>
            </a:p>
          </p:txBody>
        </p:sp>
        <p:cxnSp>
          <p:nvCxnSpPr>
            <p:cNvPr id="976" name="Google Shape;976;p49"/>
            <p:cNvCxnSpPr>
              <a:stCxn id="971" idx="3"/>
              <a:endCxn id="974" idx="7"/>
            </p:cNvCxnSpPr>
            <p:nvPr/>
          </p:nvCxnSpPr>
          <p:spPr>
            <a:xfrm flipH="1">
              <a:off x="7360379" y="3498234"/>
              <a:ext cx="244800" cy="534000"/>
            </a:xfrm>
            <a:prstGeom prst="straightConnector1">
              <a:avLst/>
            </a:prstGeom>
            <a:noFill/>
            <a:ln w="19050" cap="flat" cmpd="sng">
              <a:solidFill>
                <a:srgbClr val="000000"/>
              </a:solidFill>
              <a:prstDash val="solid"/>
              <a:round/>
              <a:headEnd type="none" w="sm" len="sm"/>
              <a:tailEnd type="none" w="sm" len="sm"/>
            </a:ln>
          </p:spPr>
        </p:cxnSp>
        <p:cxnSp>
          <p:nvCxnSpPr>
            <p:cNvPr id="977" name="Google Shape;977;p49"/>
            <p:cNvCxnSpPr>
              <a:stCxn id="971" idx="1"/>
              <a:endCxn id="970" idx="5"/>
            </p:cNvCxnSpPr>
            <p:nvPr/>
          </p:nvCxnSpPr>
          <p:spPr>
            <a:xfrm rot="10800000">
              <a:off x="7169279" y="3104716"/>
              <a:ext cx="435900" cy="115200"/>
            </a:xfrm>
            <a:prstGeom prst="straightConnector1">
              <a:avLst/>
            </a:prstGeom>
            <a:noFill/>
            <a:ln w="19050" cap="flat" cmpd="sng">
              <a:solidFill>
                <a:srgbClr val="000000"/>
              </a:solidFill>
              <a:prstDash val="solid"/>
              <a:round/>
              <a:headEnd type="triangle" w="med" len="med"/>
              <a:tailEnd type="none" w="sm" len="sm"/>
            </a:ln>
          </p:spPr>
        </p:cxnSp>
        <p:cxnSp>
          <p:nvCxnSpPr>
            <p:cNvPr id="978" name="Google Shape;978;p49"/>
            <p:cNvCxnSpPr>
              <a:stCxn id="974" idx="6"/>
              <a:endCxn id="973" idx="3"/>
            </p:cNvCxnSpPr>
            <p:nvPr/>
          </p:nvCxnSpPr>
          <p:spPr>
            <a:xfrm rot="10800000" flipH="1">
              <a:off x="7418100" y="3916838"/>
              <a:ext cx="855600" cy="254700"/>
            </a:xfrm>
            <a:prstGeom prst="straightConnector1">
              <a:avLst/>
            </a:prstGeom>
            <a:noFill/>
            <a:ln w="19050" cap="flat" cmpd="sng">
              <a:solidFill>
                <a:srgbClr val="000000"/>
              </a:solidFill>
              <a:prstDash val="solid"/>
              <a:round/>
              <a:headEnd type="none" w="sm" len="sm"/>
              <a:tailEnd type="none" w="sm" len="sm"/>
            </a:ln>
          </p:spPr>
        </p:cxnSp>
        <p:cxnSp>
          <p:nvCxnSpPr>
            <p:cNvPr id="979" name="Google Shape;979;p49"/>
            <p:cNvCxnSpPr>
              <a:stCxn id="971" idx="5"/>
              <a:endCxn id="973" idx="1"/>
            </p:cNvCxnSpPr>
            <p:nvPr/>
          </p:nvCxnSpPr>
          <p:spPr>
            <a:xfrm>
              <a:off x="7883497" y="3498234"/>
              <a:ext cx="390300" cy="140400"/>
            </a:xfrm>
            <a:prstGeom prst="straightConnector1">
              <a:avLst/>
            </a:prstGeom>
            <a:noFill/>
            <a:ln w="19050" cap="flat" cmpd="sng">
              <a:solidFill>
                <a:srgbClr val="000000"/>
              </a:solidFill>
              <a:prstDash val="solid"/>
              <a:round/>
              <a:headEnd type="none" w="sm" len="sm"/>
              <a:tailEnd type="none" w="sm" len="sm"/>
            </a:ln>
          </p:spPr>
        </p:cxnSp>
        <p:cxnSp>
          <p:nvCxnSpPr>
            <p:cNvPr id="980" name="Google Shape;980;p49"/>
            <p:cNvCxnSpPr>
              <a:stCxn id="975" idx="1"/>
              <a:endCxn id="972" idx="5"/>
            </p:cNvCxnSpPr>
            <p:nvPr/>
          </p:nvCxnSpPr>
          <p:spPr>
            <a:xfrm rot="10800000">
              <a:off x="8494391" y="2834654"/>
              <a:ext cx="178800" cy="178800"/>
            </a:xfrm>
            <a:prstGeom prst="straightConnector1">
              <a:avLst/>
            </a:prstGeom>
            <a:noFill/>
            <a:ln w="19050" cap="flat" cmpd="sng">
              <a:solidFill>
                <a:srgbClr val="000000"/>
              </a:solidFill>
              <a:prstDash val="solid"/>
              <a:round/>
              <a:headEnd type="none" w="sm" len="sm"/>
              <a:tailEnd type="none" w="sm" len="sm"/>
            </a:ln>
          </p:spPr>
        </p:cxnSp>
        <p:cxnSp>
          <p:nvCxnSpPr>
            <p:cNvPr id="981" name="Google Shape;981;p49"/>
            <p:cNvCxnSpPr>
              <a:stCxn id="972" idx="3"/>
              <a:endCxn id="971" idx="7"/>
            </p:cNvCxnSpPr>
            <p:nvPr/>
          </p:nvCxnSpPr>
          <p:spPr>
            <a:xfrm flipH="1">
              <a:off x="7883591" y="2834572"/>
              <a:ext cx="332400" cy="385200"/>
            </a:xfrm>
            <a:prstGeom prst="straightConnector1">
              <a:avLst/>
            </a:prstGeom>
            <a:noFill/>
            <a:ln w="19050" cap="flat" cmpd="sng">
              <a:solidFill>
                <a:srgbClr val="000000"/>
              </a:solidFill>
              <a:prstDash val="solid"/>
              <a:round/>
              <a:headEnd type="none" w="sm" len="sm"/>
              <a:tailEnd type="triangle" w="med" len="med"/>
            </a:ln>
          </p:spPr>
        </p:cxnSp>
        <p:cxnSp>
          <p:nvCxnSpPr>
            <p:cNvPr id="982" name="Google Shape;982;p49"/>
            <p:cNvCxnSpPr>
              <a:stCxn id="969" idx="6"/>
              <a:endCxn id="972" idx="1"/>
            </p:cNvCxnSpPr>
            <p:nvPr/>
          </p:nvCxnSpPr>
          <p:spPr>
            <a:xfrm>
              <a:off x="7584600" y="2214000"/>
              <a:ext cx="631500" cy="342300"/>
            </a:xfrm>
            <a:prstGeom prst="straightConnector1">
              <a:avLst/>
            </a:prstGeom>
            <a:noFill/>
            <a:ln w="19050" cap="flat" cmpd="sng">
              <a:solidFill>
                <a:srgbClr val="000000"/>
              </a:solidFill>
              <a:prstDash val="solid"/>
              <a:round/>
              <a:headEnd type="triangle" w="med" len="med"/>
              <a:tailEnd type="none" w="sm" len="sm"/>
            </a:ln>
          </p:spPr>
        </p:cxnSp>
        <p:cxnSp>
          <p:nvCxnSpPr>
            <p:cNvPr id="983" name="Google Shape;983;p49"/>
            <p:cNvCxnSpPr>
              <a:stCxn id="971" idx="6"/>
              <a:endCxn id="975" idx="2"/>
            </p:cNvCxnSpPr>
            <p:nvPr/>
          </p:nvCxnSpPr>
          <p:spPr>
            <a:xfrm rot="10800000" flipH="1">
              <a:off x="7941138" y="3152675"/>
              <a:ext cx="674400" cy="206400"/>
            </a:xfrm>
            <a:prstGeom prst="straightConnector1">
              <a:avLst/>
            </a:prstGeom>
            <a:noFill/>
            <a:ln w="19050" cap="flat" cmpd="sng">
              <a:solidFill>
                <a:srgbClr val="000000"/>
              </a:solidFill>
              <a:prstDash val="solid"/>
              <a:round/>
              <a:headEnd type="triangle" w="med" len="med"/>
              <a:tailEnd type="none" w="sm" len="sm"/>
            </a:ln>
          </p:spPr>
        </p:cxnSp>
        <p:cxnSp>
          <p:nvCxnSpPr>
            <p:cNvPr id="984" name="Google Shape;984;p49"/>
            <p:cNvCxnSpPr>
              <a:stCxn id="969" idx="3"/>
              <a:endCxn id="970" idx="0"/>
            </p:cNvCxnSpPr>
            <p:nvPr/>
          </p:nvCxnSpPr>
          <p:spPr>
            <a:xfrm flipH="1">
              <a:off x="7029941" y="2353159"/>
              <a:ext cx="218700" cy="415500"/>
            </a:xfrm>
            <a:prstGeom prst="straightConnector1">
              <a:avLst/>
            </a:prstGeom>
            <a:noFill/>
            <a:ln w="19050" cap="flat" cmpd="sng">
              <a:solidFill>
                <a:srgbClr val="000000"/>
              </a:solidFill>
              <a:prstDash val="solid"/>
              <a:round/>
              <a:headEnd type="none" w="sm" len="sm"/>
              <a:tailEnd type="none" w="sm" len="sm"/>
            </a:ln>
          </p:spPr>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5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possible implementation of a graph involves each vertex keeping track of its neighbors in an </a:t>
            </a:r>
            <a:r>
              <a:rPr lang="en" i="1"/>
              <a:t>adjacency list</a:t>
            </a:r>
            <a:r>
              <a:rPr lang="en"/>
              <a:t>. An adjacency list can be represented using a table. Given the graphs depicted below, fill in the adjacency list for each vertex.</a:t>
            </a:r>
            <a:endParaRPr/>
          </a:p>
        </p:txBody>
      </p:sp>
      <p:sp>
        <p:nvSpPr>
          <p:cNvPr id="990" name="Google Shape;99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991" name="Google Shape;991;p5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Adjacency Lists</a:t>
            </a:r>
            <a:endParaRPr/>
          </a:p>
        </p:txBody>
      </p:sp>
      <p:sp>
        <p:nvSpPr>
          <p:cNvPr id="992" name="Google Shape;992;p5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12.4</a:t>
            </a:r>
            <a:endParaRPr/>
          </a:p>
        </p:txBody>
      </p:sp>
      <p:graphicFrame>
        <p:nvGraphicFramePr>
          <p:cNvPr id="993" name="Google Shape;993;p50"/>
          <p:cNvGraphicFramePr/>
          <p:nvPr/>
        </p:nvGraphicFramePr>
        <p:xfrm>
          <a:off x="260275" y="1821275"/>
          <a:ext cx="3000000" cy="3000000"/>
        </p:xfrm>
        <a:graphic>
          <a:graphicData uri="http://schemas.openxmlformats.org/drawingml/2006/table">
            <a:tbl>
              <a:tblPr>
                <a:noFill/>
                <a:tableStyleId>{F61E8307-4E6B-4154-8BF4-D3231BAD3CED}</a:tableStyleId>
              </a:tblPr>
              <a:tblGrid>
                <a:gridCol w="632375">
                  <a:extLst>
                    <a:ext uri="{9D8B030D-6E8A-4147-A177-3AD203B41FA5}">
                      <a16:colId xmlns:a16="http://schemas.microsoft.com/office/drawing/2014/main" val="20000"/>
                    </a:ext>
                  </a:extLst>
                </a:gridCol>
                <a:gridCol w="1156850">
                  <a:extLst>
                    <a:ext uri="{9D8B030D-6E8A-4147-A177-3AD203B41FA5}">
                      <a16:colId xmlns:a16="http://schemas.microsoft.com/office/drawing/2014/main" val="20001"/>
                    </a:ext>
                  </a:extLst>
                </a:gridCol>
              </a:tblGrid>
              <a:tr h="289275">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Vertex</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Adjacency List</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aphicFrame>
        <p:nvGraphicFramePr>
          <p:cNvPr id="994" name="Google Shape;994;p50"/>
          <p:cNvGraphicFramePr/>
          <p:nvPr/>
        </p:nvGraphicFramePr>
        <p:xfrm>
          <a:off x="4549275" y="1821275"/>
          <a:ext cx="3000000" cy="3000000"/>
        </p:xfrm>
        <a:graphic>
          <a:graphicData uri="http://schemas.openxmlformats.org/drawingml/2006/table">
            <a:tbl>
              <a:tblPr>
                <a:noFill/>
                <a:tableStyleId>{F61E8307-4E6B-4154-8BF4-D3231BAD3CED}</a:tableStyleId>
              </a:tblPr>
              <a:tblGrid>
                <a:gridCol w="584725">
                  <a:extLst>
                    <a:ext uri="{9D8B030D-6E8A-4147-A177-3AD203B41FA5}">
                      <a16:colId xmlns:a16="http://schemas.microsoft.com/office/drawing/2014/main" val="20000"/>
                    </a:ext>
                  </a:extLst>
                </a:gridCol>
                <a:gridCol w="1217075">
                  <a:extLst>
                    <a:ext uri="{9D8B030D-6E8A-4147-A177-3AD203B41FA5}">
                      <a16:colId xmlns:a16="http://schemas.microsoft.com/office/drawing/2014/main" val="20001"/>
                    </a:ext>
                  </a:extLst>
                </a:gridCol>
              </a:tblGrid>
              <a:tr h="289275">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Vertex</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b="1" u="none" strike="noStrike" cap="none">
                          <a:solidFill>
                            <a:srgbClr val="FFFFFF"/>
                          </a:solidFill>
                        </a:rPr>
                        <a:t>Adjacency List</a:t>
                      </a:r>
                      <a:endParaRPr sz="1000" b="1"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892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pSp>
        <p:nvGrpSpPr>
          <p:cNvPr id="995" name="Google Shape;995;p50"/>
          <p:cNvGrpSpPr/>
          <p:nvPr/>
        </p:nvGrpSpPr>
        <p:grpSpPr>
          <a:xfrm>
            <a:off x="2320825" y="1907850"/>
            <a:ext cx="1555025" cy="2528150"/>
            <a:chOff x="2320825" y="1526850"/>
            <a:chExt cx="1555025" cy="2528150"/>
          </a:xfrm>
        </p:grpSpPr>
        <p:sp>
          <p:nvSpPr>
            <p:cNvPr id="996" name="Google Shape;996;p50"/>
            <p:cNvSpPr/>
            <p:nvPr/>
          </p:nvSpPr>
          <p:spPr>
            <a:xfrm>
              <a:off x="2594725" y="15268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Z</a:t>
              </a:r>
              <a:endParaRPr sz="1400" b="0" i="0" u="none" strike="noStrike" cap="none">
                <a:solidFill>
                  <a:srgbClr val="000000"/>
                </a:solidFill>
                <a:latin typeface="Courier New"/>
                <a:ea typeface="Courier New"/>
                <a:cs typeface="Courier New"/>
                <a:sym typeface="Courier New"/>
              </a:endParaRPr>
            </a:p>
          </p:txBody>
        </p:sp>
        <p:sp>
          <p:nvSpPr>
            <p:cNvPr id="997" name="Google Shape;997;p50"/>
            <p:cNvSpPr/>
            <p:nvPr/>
          </p:nvSpPr>
          <p:spPr>
            <a:xfrm>
              <a:off x="2320825" y="21894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Y</a:t>
              </a:r>
              <a:endParaRPr sz="1400" b="0" i="0" u="none" strike="noStrike" cap="none">
                <a:solidFill>
                  <a:srgbClr val="000000"/>
                </a:solidFill>
                <a:latin typeface="Courier New"/>
                <a:ea typeface="Courier New"/>
                <a:cs typeface="Courier New"/>
                <a:sym typeface="Courier New"/>
              </a:endParaRPr>
            </a:p>
          </p:txBody>
        </p:sp>
        <p:sp>
          <p:nvSpPr>
            <p:cNvPr id="998" name="Google Shape;998;p50"/>
            <p:cNvSpPr/>
            <p:nvPr/>
          </p:nvSpPr>
          <p:spPr>
            <a:xfrm>
              <a:off x="3320750" y="19939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X</a:t>
              </a:r>
              <a:endParaRPr sz="1400" b="0" i="0" u="none" strike="noStrike" cap="none">
                <a:solidFill>
                  <a:srgbClr val="000000"/>
                </a:solidFill>
                <a:latin typeface="Courier New"/>
                <a:ea typeface="Courier New"/>
                <a:cs typeface="Courier New"/>
                <a:sym typeface="Courier New"/>
              </a:endParaRPr>
            </a:p>
          </p:txBody>
        </p:sp>
        <p:sp>
          <p:nvSpPr>
            <p:cNvPr id="999" name="Google Shape;999;p50"/>
            <p:cNvSpPr/>
            <p:nvPr/>
          </p:nvSpPr>
          <p:spPr>
            <a:xfrm>
              <a:off x="2927150" y="26844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V</a:t>
              </a:r>
              <a:endParaRPr sz="1400" b="0" i="0" u="none" strike="noStrike" cap="none">
                <a:solidFill>
                  <a:srgbClr val="000000"/>
                </a:solidFill>
                <a:latin typeface="Courier New"/>
                <a:ea typeface="Courier New"/>
                <a:cs typeface="Courier New"/>
                <a:sym typeface="Courier New"/>
              </a:endParaRPr>
            </a:p>
          </p:txBody>
        </p:sp>
        <p:sp>
          <p:nvSpPr>
            <p:cNvPr id="1000" name="Google Shape;1000;p50"/>
            <p:cNvSpPr/>
            <p:nvPr/>
          </p:nvSpPr>
          <p:spPr>
            <a:xfrm>
              <a:off x="2442325" y="316482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W</a:t>
              </a:r>
              <a:endParaRPr sz="1400" b="0" i="0" u="none" strike="noStrike" cap="none">
                <a:solidFill>
                  <a:srgbClr val="000000"/>
                </a:solidFill>
                <a:latin typeface="Courier New"/>
                <a:ea typeface="Courier New"/>
                <a:cs typeface="Courier New"/>
                <a:sym typeface="Courier New"/>
              </a:endParaRPr>
            </a:p>
          </p:txBody>
        </p:sp>
        <p:sp>
          <p:nvSpPr>
            <p:cNvPr id="1001" name="Google Shape;1001;p50"/>
            <p:cNvSpPr/>
            <p:nvPr/>
          </p:nvSpPr>
          <p:spPr>
            <a:xfrm>
              <a:off x="3482250" y="300975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U</a:t>
              </a:r>
              <a:endParaRPr sz="1400" b="0" i="0" u="none" strike="noStrike" cap="none">
                <a:solidFill>
                  <a:srgbClr val="000000"/>
                </a:solidFill>
                <a:latin typeface="Courier New"/>
                <a:ea typeface="Courier New"/>
                <a:cs typeface="Courier New"/>
                <a:sym typeface="Courier New"/>
              </a:endParaRPr>
            </a:p>
          </p:txBody>
        </p:sp>
        <p:cxnSp>
          <p:nvCxnSpPr>
            <p:cNvPr id="1002" name="Google Shape;1002;p50"/>
            <p:cNvCxnSpPr>
              <a:stCxn id="996" idx="6"/>
              <a:endCxn id="998" idx="1"/>
            </p:cNvCxnSpPr>
            <p:nvPr/>
          </p:nvCxnSpPr>
          <p:spPr>
            <a:xfrm>
              <a:off x="2988325" y="1723650"/>
              <a:ext cx="390000" cy="327900"/>
            </a:xfrm>
            <a:prstGeom prst="straightConnector1">
              <a:avLst/>
            </a:prstGeom>
            <a:noFill/>
            <a:ln w="19050" cap="flat" cmpd="sng">
              <a:solidFill>
                <a:srgbClr val="000000"/>
              </a:solidFill>
              <a:prstDash val="solid"/>
              <a:round/>
              <a:headEnd type="none" w="sm" len="sm"/>
              <a:tailEnd type="none" w="sm" len="sm"/>
            </a:ln>
          </p:spPr>
        </p:cxnSp>
        <p:cxnSp>
          <p:nvCxnSpPr>
            <p:cNvPr id="1003" name="Google Shape;1003;p50"/>
            <p:cNvCxnSpPr>
              <a:stCxn id="996" idx="3"/>
              <a:endCxn id="997" idx="0"/>
            </p:cNvCxnSpPr>
            <p:nvPr/>
          </p:nvCxnSpPr>
          <p:spPr>
            <a:xfrm flipH="1">
              <a:off x="2517666" y="1862809"/>
              <a:ext cx="134700" cy="326700"/>
            </a:xfrm>
            <a:prstGeom prst="straightConnector1">
              <a:avLst/>
            </a:prstGeom>
            <a:noFill/>
            <a:ln w="19050" cap="flat" cmpd="sng">
              <a:solidFill>
                <a:srgbClr val="000000"/>
              </a:solidFill>
              <a:prstDash val="solid"/>
              <a:round/>
              <a:headEnd type="none" w="sm" len="sm"/>
              <a:tailEnd type="none" w="sm" len="sm"/>
            </a:ln>
          </p:spPr>
        </p:cxnSp>
        <p:cxnSp>
          <p:nvCxnSpPr>
            <p:cNvPr id="1004" name="Google Shape;1004;p50"/>
            <p:cNvCxnSpPr>
              <a:stCxn id="997" idx="6"/>
              <a:endCxn id="998" idx="2"/>
            </p:cNvCxnSpPr>
            <p:nvPr/>
          </p:nvCxnSpPr>
          <p:spPr>
            <a:xfrm rot="10800000" flipH="1">
              <a:off x="2714425" y="2190900"/>
              <a:ext cx="606300" cy="195300"/>
            </a:xfrm>
            <a:prstGeom prst="straightConnector1">
              <a:avLst/>
            </a:prstGeom>
            <a:noFill/>
            <a:ln w="19050" cap="flat" cmpd="sng">
              <a:solidFill>
                <a:srgbClr val="000000"/>
              </a:solidFill>
              <a:prstDash val="solid"/>
              <a:round/>
              <a:headEnd type="none" w="sm" len="sm"/>
              <a:tailEnd type="none" w="sm" len="sm"/>
            </a:ln>
          </p:spPr>
        </p:cxnSp>
        <p:cxnSp>
          <p:nvCxnSpPr>
            <p:cNvPr id="1005" name="Google Shape;1005;p50"/>
            <p:cNvCxnSpPr>
              <a:stCxn id="1001" idx="2"/>
              <a:endCxn id="1000" idx="6"/>
            </p:cNvCxnSpPr>
            <p:nvPr/>
          </p:nvCxnSpPr>
          <p:spPr>
            <a:xfrm flipH="1">
              <a:off x="2836050" y="3206550"/>
              <a:ext cx="646200" cy="155100"/>
            </a:xfrm>
            <a:prstGeom prst="straightConnector1">
              <a:avLst/>
            </a:prstGeom>
            <a:noFill/>
            <a:ln w="19050" cap="flat" cmpd="sng">
              <a:solidFill>
                <a:srgbClr val="000000"/>
              </a:solidFill>
              <a:prstDash val="solid"/>
              <a:round/>
              <a:headEnd type="none" w="sm" len="sm"/>
              <a:tailEnd type="none" w="sm" len="sm"/>
            </a:ln>
          </p:spPr>
        </p:cxnSp>
        <p:sp>
          <p:nvSpPr>
            <p:cNvPr id="1006" name="Google Shape;1006;p50"/>
            <p:cNvSpPr/>
            <p:nvPr/>
          </p:nvSpPr>
          <p:spPr>
            <a:xfrm>
              <a:off x="3046750" y="36614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T</a:t>
              </a:r>
              <a:endParaRPr sz="1400" b="0" i="0" u="none" strike="noStrike" cap="none">
                <a:solidFill>
                  <a:srgbClr val="000000"/>
                </a:solidFill>
                <a:latin typeface="Courier New"/>
                <a:ea typeface="Courier New"/>
                <a:cs typeface="Courier New"/>
                <a:sym typeface="Courier New"/>
              </a:endParaRPr>
            </a:p>
          </p:txBody>
        </p:sp>
        <p:cxnSp>
          <p:nvCxnSpPr>
            <p:cNvPr id="1007" name="Google Shape;1007;p50"/>
            <p:cNvCxnSpPr>
              <a:stCxn id="997" idx="5"/>
              <a:endCxn id="999" idx="1"/>
            </p:cNvCxnSpPr>
            <p:nvPr/>
          </p:nvCxnSpPr>
          <p:spPr>
            <a:xfrm>
              <a:off x="2656784" y="2525359"/>
              <a:ext cx="327900" cy="216600"/>
            </a:xfrm>
            <a:prstGeom prst="straightConnector1">
              <a:avLst/>
            </a:prstGeom>
            <a:noFill/>
            <a:ln w="19050" cap="flat" cmpd="sng">
              <a:solidFill>
                <a:srgbClr val="000000"/>
              </a:solidFill>
              <a:prstDash val="solid"/>
              <a:round/>
              <a:headEnd type="none" w="sm" len="sm"/>
              <a:tailEnd type="none" w="sm" len="sm"/>
            </a:ln>
          </p:spPr>
        </p:cxnSp>
        <p:cxnSp>
          <p:nvCxnSpPr>
            <p:cNvPr id="1008" name="Google Shape;1008;p50"/>
            <p:cNvCxnSpPr>
              <a:stCxn id="1006" idx="1"/>
              <a:endCxn id="1000" idx="5"/>
            </p:cNvCxnSpPr>
            <p:nvPr/>
          </p:nvCxnSpPr>
          <p:spPr>
            <a:xfrm rot="10800000">
              <a:off x="2778291" y="3500641"/>
              <a:ext cx="326100" cy="218400"/>
            </a:xfrm>
            <a:prstGeom prst="straightConnector1">
              <a:avLst/>
            </a:prstGeom>
            <a:noFill/>
            <a:ln w="19050" cap="flat" cmpd="sng">
              <a:solidFill>
                <a:srgbClr val="000000"/>
              </a:solidFill>
              <a:prstDash val="solid"/>
              <a:round/>
              <a:headEnd type="none" w="sm" len="sm"/>
              <a:tailEnd type="none" w="sm" len="sm"/>
            </a:ln>
          </p:spPr>
        </p:cxnSp>
      </p:grpSp>
      <p:grpSp>
        <p:nvGrpSpPr>
          <p:cNvPr id="1009" name="Google Shape;1009;p50"/>
          <p:cNvGrpSpPr/>
          <p:nvPr/>
        </p:nvGrpSpPr>
        <p:grpSpPr>
          <a:xfrm>
            <a:off x="6680850" y="1864800"/>
            <a:ext cx="2175900" cy="2351138"/>
            <a:chOff x="6833250" y="2017200"/>
            <a:chExt cx="2175900" cy="2351138"/>
          </a:xfrm>
        </p:grpSpPr>
        <p:sp>
          <p:nvSpPr>
            <p:cNvPr id="1010" name="Google Shape;1010;p50"/>
            <p:cNvSpPr/>
            <p:nvPr/>
          </p:nvSpPr>
          <p:spPr>
            <a:xfrm>
              <a:off x="7191000" y="20172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A</a:t>
              </a:r>
              <a:endParaRPr sz="1400" b="0" i="0" u="none" strike="noStrike" cap="none">
                <a:solidFill>
                  <a:srgbClr val="000000"/>
                </a:solidFill>
                <a:latin typeface="Courier New"/>
                <a:ea typeface="Courier New"/>
                <a:cs typeface="Courier New"/>
                <a:sym typeface="Courier New"/>
              </a:endParaRPr>
            </a:p>
          </p:txBody>
        </p:sp>
        <p:sp>
          <p:nvSpPr>
            <p:cNvPr id="1011" name="Google Shape;1011;p50"/>
            <p:cNvSpPr/>
            <p:nvPr/>
          </p:nvSpPr>
          <p:spPr>
            <a:xfrm>
              <a:off x="6833250" y="27686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B</a:t>
              </a:r>
              <a:endParaRPr sz="1400" b="0" i="0" u="none" strike="noStrike" cap="none">
                <a:solidFill>
                  <a:srgbClr val="000000"/>
                </a:solidFill>
                <a:latin typeface="Courier New"/>
                <a:ea typeface="Courier New"/>
                <a:cs typeface="Courier New"/>
                <a:sym typeface="Courier New"/>
              </a:endParaRPr>
            </a:p>
          </p:txBody>
        </p:sp>
        <p:sp>
          <p:nvSpPr>
            <p:cNvPr id="1012" name="Google Shape;1012;p50"/>
            <p:cNvSpPr/>
            <p:nvPr/>
          </p:nvSpPr>
          <p:spPr>
            <a:xfrm>
              <a:off x="7547538" y="31622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C</a:t>
              </a:r>
              <a:endParaRPr sz="1400" b="0" i="0" u="none" strike="noStrike" cap="none">
                <a:solidFill>
                  <a:srgbClr val="000000"/>
                </a:solidFill>
                <a:latin typeface="Courier New"/>
                <a:ea typeface="Courier New"/>
                <a:cs typeface="Courier New"/>
                <a:sym typeface="Courier New"/>
              </a:endParaRPr>
            </a:p>
          </p:txBody>
        </p:sp>
        <p:sp>
          <p:nvSpPr>
            <p:cNvPr id="1013" name="Google Shape;1013;p50"/>
            <p:cNvSpPr/>
            <p:nvPr/>
          </p:nvSpPr>
          <p:spPr>
            <a:xfrm>
              <a:off x="8158350" y="24986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D</a:t>
              </a:r>
              <a:endParaRPr sz="1400" b="0" i="0" u="none" strike="noStrike" cap="none">
                <a:solidFill>
                  <a:srgbClr val="000000"/>
                </a:solidFill>
                <a:latin typeface="Courier New"/>
                <a:ea typeface="Courier New"/>
                <a:cs typeface="Courier New"/>
                <a:sym typeface="Courier New"/>
              </a:endParaRPr>
            </a:p>
          </p:txBody>
        </p:sp>
        <p:sp>
          <p:nvSpPr>
            <p:cNvPr id="1014" name="Google Shape;1014;p50"/>
            <p:cNvSpPr/>
            <p:nvPr/>
          </p:nvSpPr>
          <p:spPr>
            <a:xfrm>
              <a:off x="8216100" y="35809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E</a:t>
              </a:r>
              <a:endParaRPr sz="1400" b="0" i="0" u="none" strike="noStrike" cap="none">
                <a:solidFill>
                  <a:srgbClr val="000000"/>
                </a:solidFill>
                <a:latin typeface="Courier New"/>
                <a:ea typeface="Courier New"/>
                <a:cs typeface="Courier New"/>
                <a:sym typeface="Courier New"/>
              </a:endParaRPr>
            </a:p>
          </p:txBody>
        </p:sp>
        <p:sp>
          <p:nvSpPr>
            <p:cNvPr id="1015" name="Google Shape;1015;p50"/>
            <p:cNvSpPr/>
            <p:nvPr/>
          </p:nvSpPr>
          <p:spPr>
            <a:xfrm>
              <a:off x="7024500" y="3974738"/>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F</a:t>
              </a:r>
              <a:endParaRPr sz="1400" b="0" i="0" u="none" strike="noStrike" cap="none">
                <a:solidFill>
                  <a:srgbClr val="000000"/>
                </a:solidFill>
                <a:latin typeface="Courier New"/>
                <a:ea typeface="Courier New"/>
                <a:cs typeface="Courier New"/>
                <a:sym typeface="Courier New"/>
              </a:endParaRPr>
            </a:p>
          </p:txBody>
        </p:sp>
        <p:sp>
          <p:nvSpPr>
            <p:cNvPr id="1016" name="Google Shape;1016;p50"/>
            <p:cNvSpPr/>
            <p:nvPr/>
          </p:nvSpPr>
          <p:spPr>
            <a:xfrm>
              <a:off x="8615550" y="29558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ourier New"/>
                  <a:ea typeface="Courier New"/>
                  <a:cs typeface="Courier New"/>
                  <a:sym typeface="Courier New"/>
                </a:rPr>
                <a:t>G</a:t>
              </a:r>
              <a:endParaRPr sz="1400" b="0" i="0" u="none" strike="noStrike" cap="none">
                <a:solidFill>
                  <a:srgbClr val="000000"/>
                </a:solidFill>
                <a:latin typeface="Courier New"/>
                <a:ea typeface="Courier New"/>
                <a:cs typeface="Courier New"/>
                <a:sym typeface="Courier New"/>
              </a:endParaRPr>
            </a:p>
          </p:txBody>
        </p:sp>
        <p:cxnSp>
          <p:nvCxnSpPr>
            <p:cNvPr id="1017" name="Google Shape;1017;p50"/>
            <p:cNvCxnSpPr>
              <a:stCxn id="1012" idx="3"/>
              <a:endCxn id="1015" idx="7"/>
            </p:cNvCxnSpPr>
            <p:nvPr/>
          </p:nvCxnSpPr>
          <p:spPr>
            <a:xfrm flipH="1">
              <a:off x="7360379" y="3498234"/>
              <a:ext cx="244800" cy="534000"/>
            </a:xfrm>
            <a:prstGeom prst="straightConnector1">
              <a:avLst/>
            </a:prstGeom>
            <a:noFill/>
            <a:ln w="19050" cap="flat" cmpd="sng">
              <a:solidFill>
                <a:srgbClr val="000000"/>
              </a:solidFill>
              <a:prstDash val="solid"/>
              <a:round/>
              <a:headEnd type="none" w="sm" len="sm"/>
              <a:tailEnd type="none" w="sm" len="sm"/>
            </a:ln>
          </p:spPr>
        </p:cxnSp>
        <p:cxnSp>
          <p:nvCxnSpPr>
            <p:cNvPr id="1018" name="Google Shape;1018;p50"/>
            <p:cNvCxnSpPr>
              <a:stCxn id="1012" idx="1"/>
              <a:endCxn id="1011" idx="5"/>
            </p:cNvCxnSpPr>
            <p:nvPr/>
          </p:nvCxnSpPr>
          <p:spPr>
            <a:xfrm rot="10800000">
              <a:off x="7169279" y="3104716"/>
              <a:ext cx="435900" cy="115200"/>
            </a:xfrm>
            <a:prstGeom prst="straightConnector1">
              <a:avLst/>
            </a:prstGeom>
            <a:noFill/>
            <a:ln w="19050" cap="flat" cmpd="sng">
              <a:solidFill>
                <a:srgbClr val="000000"/>
              </a:solidFill>
              <a:prstDash val="solid"/>
              <a:round/>
              <a:headEnd type="triangle" w="med" len="med"/>
              <a:tailEnd type="none" w="sm" len="sm"/>
            </a:ln>
          </p:spPr>
        </p:cxnSp>
        <p:cxnSp>
          <p:nvCxnSpPr>
            <p:cNvPr id="1019" name="Google Shape;1019;p50"/>
            <p:cNvCxnSpPr>
              <a:stCxn id="1015" idx="6"/>
              <a:endCxn id="1014" idx="3"/>
            </p:cNvCxnSpPr>
            <p:nvPr/>
          </p:nvCxnSpPr>
          <p:spPr>
            <a:xfrm rot="10800000" flipH="1">
              <a:off x="7418100" y="3916838"/>
              <a:ext cx="855600" cy="254700"/>
            </a:xfrm>
            <a:prstGeom prst="straightConnector1">
              <a:avLst/>
            </a:prstGeom>
            <a:noFill/>
            <a:ln w="19050" cap="flat" cmpd="sng">
              <a:solidFill>
                <a:srgbClr val="000000"/>
              </a:solidFill>
              <a:prstDash val="solid"/>
              <a:round/>
              <a:headEnd type="none" w="sm" len="sm"/>
              <a:tailEnd type="none" w="sm" len="sm"/>
            </a:ln>
          </p:spPr>
        </p:cxnSp>
        <p:cxnSp>
          <p:nvCxnSpPr>
            <p:cNvPr id="1020" name="Google Shape;1020;p50"/>
            <p:cNvCxnSpPr>
              <a:stCxn id="1012" idx="5"/>
              <a:endCxn id="1014" idx="1"/>
            </p:cNvCxnSpPr>
            <p:nvPr/>
          </p:nvCxnSpPr>
          <p:spPr>
            <a:xfrm>
              <a:off x="7883497" y="3498234"/>
              <a:ext cx="390300" cy="140400"/>
            </a:xfrm>
            <a:prstGeom prst="straightConnector1">
              <a:avLst/>
            </a:prstGeom>
            <a:noFill/>
            <a:ln w="19050" cap="flat" cmpd="sng">
              <a:solidFill>
                <a:srgbClr val="000000"/>
              </a:solidFill>
              <a:prstDash val="solid"/>
              <a:round/>
              <a:headEnd type="none" w="sm" len="sm"/>
              <a:tailEnd type="none" w="sm" len="sm"/>
            </a:ln>
          </p:spPr>
        </p:cxnSp>
        <p:cxnSp>
          <p:nvCxnSpPr>
            <p:cNvPr id="1021" name="Google Shape;1021;p50"/>
            <p:cNvCxnSpPr>
              <a:stCxn id="1016" idx="1"/>
              <a:endCxn id="1013" idx="5"/>
            </p:cNvCxnSpPr>
            <p:nvPr/>
          </p:nvCxnSpPr>
          <p:spPr>
            <a:xfrm rot="10800000">
              <a:off x="8494391" y="2834654"/>
              <a:ext cx="178800" cy="178800"/>
            </a:xfrm>
            <a:prstGeom prst="straightConnector1">
              <a:avLst/>
            </a:prstGeom>
            <a:noFill/>
            <a:ln w="19050" cap="flat" cmpd="sng">
              <a:solidFill>
                <a:srgbClr val="000000"/>
              </a:solidFill>
              <a:prstDash val="solid"/>
              <a:round/>
              <a:headEnd type="none" w="sm" len="sm"/>
              <a:tailEnd type="none" w="sm" len="sm"/>
            </a:ln>
          </p:spPr>
        </p:cxnSp>
        <p:cxnSp>
          <p:nvCxnSpPr>
            <p:cNvPr id="1022" name="Google Shape;1022;p50"/>
            <p:cNvCxnSpPr>
              <a:stCxn id="1013" idx="3"/>
              <a:endCxn id="1012" idx="7"/>
            </p:cNvCxnSpPr>
            <p:nvPr/>
          </p:nvCxnSpPr>
          <p:spPr>
            <a:xfrm flipH="1">
              <a:off x="7883591" y="2834572"/>
              <a:ext cx="332400" cy="385200"/>
            </a:xfrm>
            <a:prstGeom prst="straightConnector1">
              <a:avLst/>
            </a:prstGeom>
            <a:noFill/>
            <a:ln w="19050" cap="flat" cmpd="sng">
              <a:solidFill>
                <a:srgbClr val="000000"/>
              </a:solidFill>
              <a:prstDash val="solid"/>
              <a:round/>
              <a:headEnd type="none" w="sm" len="sm"/>
              <a:tailEnd type="triangle" w="med" len="med"/>
            </a:ln>
          </p:spPr>
        </p:cxnSp>
        <p:cxnSp>
          <p:nvCxnSpPr>
            <p:cNvPr id="1023" name="Google Shape;1023;p50"/>
            <p:cNvCxnSpPr>
              <a:stCxn id="1010" idx="6"/>
              <a:endCxn id="1013" idx="1"/>
            </p:cNvCxnSpPr>
            <p:nvPr/>
          </p:nvCxnSpPr>
          <p:spPr>
            <a:xfrm>
              <a:off x="7584600" y="2214000"/>
              <a:ext cx="631500" cy="342300"/>
            </a:xfrm>
            <a:prstGeom prst="straightConnector1">
              <a:avLst/>
            </a:prstGeom>
            <a:noFill/>
            <a:ln w="19050" cap="flat" cmpd="sng">
              <a:solidFill>
                <a:srgbClr val="000000"/>
              </a:solidFill>
              <a:prstDash val="solid"/>
              <a:round/>
              <a:headEnd type="triangle" w="med" len="med"/>
              <a:tailEnd type="none" w="sm" len="sm"/>
            </a:ln>
          </p:spPr>
        </p:cxnSp>
        <p:cxnSp>
          <p:nvCxnSpPr>
            <p:cNvPr id="1024" name="Google Shape;1024;p50"/>
            <p:cNvCxnSpPr>
              <a:stCxn id="1012" idx="6"/>
              <a:endCxn id="1016" idx="2"/>
            </p:cNvCxnSpPr>
            <p:nvPr/>
          </p:nvCxnSpPr>
          <p:spPr>
            <a:xfrm rot="10800000" flipH="1">
              <a:off x="7941138" y="3152675"/>
              <a:ext cx="674400" cy="206400"/>
            </a:xfrm>
            <a:prstGeom prst="straightConnector1">
              <a:avLst/>
            </a:prstGeom>
            <a:noFill/>
            <a:ln w="19050" cap="flat" cmpd="sng">
              <a:solidFill>
                <a:srgbClr val="000000"/>
              </a:solidFill>
              <a:prstDash val="solid"/>
              <a:round/>
              <a:headEnd type="triangle" w="med" len="med"/>
              <a:tailEnd type="none" w="sm" len="sm"/>
            </a:ln>
          </p:spPr>
        </p:cxnSp>
        <p:cxnSp>
          <p:nvCxnSpPr>
            <p:cNvPr id="1025" name="Google Shape;1025;p50"/>
            <p:cNvCxnSpPr>
              <a:stCxn id="1010" idx="3"/>
              <a:endCxn id="1011" idx="0"/>
            </p:cNvCxnSpPr>
            <p:nvPr/>
          </p:nvCxnSpPr>
          <p:spPr>
            <a:xfrm flipH="1">
              <a:off x="7029941" y="2353159"/>
              <a:ext cx="218700" cy="415500"/>
            </a:xfrm>
            <a:prstGeom prst="straightConnector1">
              <a:avLst/>
            </a:prstGeom>
            <a:noFill/>
            <a:ln w="19050" cap="flat" cmpd="sng">
              <a:solidFill>
                <a:srgbClr val="000000"/>
              </a:solidFill>
              <a:prstDash val="solid"/>
              <a:round/>
              <a:headEnd type="none" w="sm" len="sm"/>
              <a:tailEnd type="none" w="sm" len="sm"/>
            </a:ln>
          </p:spPr>
        </p:cxnSp>
      </p:grpSp>
      <p:sp>
        <p:nvSpPr>
          <p:cNvPr id="1026" name="Google Shape;1026;p50"/>
          <p:cNvSpPr txBox="1"/>
          <p:nvPr/>
        </p:nvSpPr>
        <p:spPr>
          <a:xfrm>
            <a:off x="307824" y="2500786"/>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U</a:t>
            </a:r>
            <a:endParaRPr sz="1800" b="0" i="0" u="none" strike="noStrike" cap="none">
              <a:solidFill>
                <a:srgbClr val="FF0000"/>
              </a:solidFill>
              <a:latin typeface="Shadows Into Light"/>
              <a:ea typeface="Shadows Into Light"/>
              <a:cs typeface="Shadows Into Light"/>
              <a:sym typeface="Shadows Into Light"/>
            </a:endParaRPr>
          </a:p>
        </p:txBody>
      </p:sp>
      <p:sp>
        <p:nvSpPr>
          <p:cNvPr id="1027" name="Google Shape;1027;p50"/>
          <p:cNvSpPr txBox="1"/>
          <p:nvPr/>
        </p:nvSpPr>
        <p:spPr>
          <a:xfrm>
            <a:off x="307824" y="2857293"/>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V</a:t>
            </a:r>
            <a:endParaRPr sz="1800" b="0" i="0" u="none" strike="noStrike" cap="none">
              <a:solidFill>
                <a:srgbClr val="FF0000"/>
              </a:solidFill>
              <a:latin typeface="Shadows Into Light"/>
              <a:ea typeface="Shadows Into Light"/>
              <a:cs typeface="Shadows Into Light"/>
              <a:sym typeface="Shadows Into Light"/>
            </a:endParaRPr>
          </a:p>
        </p:txBody>
      </p:sp>
      <p:sp>
        <p:nvSpPr>
          <p:cNvPr id="1028" name="Google Shape;1028;p50"/>
          <p:cNvSpPr txBox="1"/>
          <p:nvPr/>
        </p:nvSpPr>
        <p:spPr>
          <a:xfrm>
            <a:off x="307824" y="3162093"/>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W</a:t>
            </a:r>
            <a:endParaRPr sz="1800" b="0" i="0" u="none" strike="noStrike" cap="none">
              <a:solidFill>
                <a:srgbClr val="FF0000"/>
              </a:solidFill>
              <a:latin typeface="Shadows Into Light"/>
              <a:ea typeface="Shadows Into Light"/>
              <a:cs typeface="Shadows Into Light"/>
              <a:sym typeface="Shadows Into Light"/>
            </a:endParaRPr>
          </a:p>
        </p:txBody>
      </p:sp>
      <p:sp>
        <p:nvSpPr>
          <p:cNvPr id="1029" name="Google Shape;1029;p50"/>
          <p:cNvSpPr txBox="1"/>
          <p:nvPr/>
        </p:nvSpPr>
        <p:spPr>
          <a:xfrm>
            <a:off x="307824" y="3503632"/>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X</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0" name="Google Shape;1030;p50"/>
          <p:cNvSpPr txBox="1"/>
          <p:nvPr/>
        </p:nvSpPr>
        <p:spPr>
          <a:xfrm>
            <a:off x="307824" y="3839048"/>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Y</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1" name="Google Shape;1031;p50"/>
          <p:cNvSpPr txBox="1"/>
          <p:nvPr/>
        </p:nvSpPr>
        <p:spPr>
          <a:xfrm>
            <a:off x="307824" y="4168341"/>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Z</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2" name="Google Shape;1032;p50"/>
          <p:cNvSpPr txBox="1"/>
          <p:nvPr/>
        </p:nvSpPr>
        <p:spPr>
          <a:xfrm>
            <a:off x="307824" y="2144279"/>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T</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3" name="Google Shape;1033;p50"/>
          <p:cNvSpPr txBox="1"/>
          <p:nvPr/>
        </p:nvSpPr>
        <p:spPr>
          <a:xfrm>
            <a:off x="917426" y="2144275"/>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W</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4" name="Google Shape;1034;p50"/>
          <p:cNvSpPr txBox="1"/>
          <p:nvPr/>
        </p:nvSpPr>
        <p:spPr>
          <a:xfrm>
            <a:off x="917426" y="2506905"/>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W</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5" name="Google Shape;1035;p50"/>
          <p:cNvSpPr txBox="1"/>
          <p:nvPr/>
        </p:nvSpPr>
        <p:spPr>
          <a:xfrm>
            <a:off x="917426" y="2845043"/>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Y</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6" name="Google Shape;1036;p50"/>
          <p:cNvSpPr txBox="1"/>
          <p:nvPr/>
        </p:nvSpPr>
        <p:spPr>
          <a:xfrm>
            <a:off x="917426" y="3149843"/>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T, U</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7" name="Google Shape;1037;p50"/>
          <p:cNvSpPr txBox="1"/>
          <p:nvPr/>
        </p:nvSpPr>
        <p:spPr>
          <a:xfrm>
            <a:off x="917426" y="3512473"/>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Y, Z</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8" name="Google Shape;1038;p50"/>
          <p:cNvSpPr txBox="1"/>
          <p:nvPr/>
        </p:nvSpPr>
        <p:spPr>
          <a:xfrm>
            <a:off x="917426" y="3844487"/>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V, X, Z</a:t>
            </a:r>
            <a:endParaRPr sz="1800" b="0" i="0" u="none" strike="noStrike" cap="none">
              <a:solidFill>
                <a:srgbClr val="FF0000"/>
              </a:solidFill>
              <a:latin typeface="Shadows Into Light"/>
              <a:ea typeface="Shadows Into Light"/>
              <a:cs typeface="Shadows Into Light"/>
              <a:sym typeface="Shadows Into Light"/>
            </a:endParaRPr>
          </a:p>
        </p:txBody>
      </p:sp>
      <p:sp>
        <p:nvSpPr>
          <p:cNvPr id="1039" name="Google Shape;1039;p50"/>
          <p:cNvSpPr txBox="1"/>
          <p:nvPr/>
        </p:nvSpPr>
        <p:spPr>
          <a:xfrm>
            <a:off x="917426" y="4155411"/>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X, Y</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0" name="Google Shape;1040;p50"/>
          <p:cNvSpPr txBox="1"/>
          <p:nvPr/>
        </p:nvSpPr>
        <p:spPr>
          <a:xfrm>
            <a:off x="4587271" y="2500786"/>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B</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1" name="Google Shape;1041;p50"/>
          <p:cNvSpPr txBox="1"/>
          <p:nvPr/>
        </p:nvSpPr>
        <p:spPr>
          <a:xfrm>
            <a:off x="4587271" y="2857293"/>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2" name="Google Shape;1042;p50"/>
          <p:cNvSpPr txBox="1"/>
          <p:nvPr/>
        </p:nvSpPr>
        <p:spPr>
          <a:xfrm>
            <a:off x="4587271" y="3162093"/>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D</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3" name="Google Shape;1043;p50"/>
          <p:cNvSpPr txBox="1"/>
          <p:nvPr/>
        </p:nvSpPr>
        <p:spPr>
          <a:xfrm>
            <a:off x="4587271" y="3503632"/>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E</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4" name="Google Shape;1044;p50"/>
          <p:cNvSpPr txBox="1"/>
          <p:nvPr/>
        </p:nvSpPr>
        <p:spPr>
          <a:xfrm>
            <a:off x="4587271" y="3839048"/>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F</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5" name="Google Shape;1045;p50"/>
          <p:cNvSpPr txBox="1"/>
          <p:nvPr/>
        </p:nvSpPr>
        <p:spPr>
          <a:xfrm>
            <a:off x="4587271" y="4168341"/>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G</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6" name="Google Shape;1046;p50"/>
          <p:cNvSpPr txBox="1"/>
          <p:nvPr/>
        </p:nvSpPr>
        <p:spPr>
          <a:xfrm>
            <a:off x="4587271" y="2144279"/>
            <a:ext cx="4629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7" name="Google Shape;1047;p50"/>
          <p:cNvSpPr txBox="1"/>
          <p:nvPr/>
        </p:nvSpPr>
        <p:spPr>
          <a:xfrm>
            <a:off x="5196872" y="2144275"/>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B</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8" name="Google Shape;1048;p50"/>
          <p:cNvSpPr txBox="1"/>
          <p:nvPr/>
        </p:nvSpPr>
        <p:spPr>
          <a:xfrm>
            <a:off x="5196872" y="2506905"/>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 C</a:t>
            </a:r>
            <a:endParaRPr sz="1800" b="0" i="0" u="none" strike="noStrike" cap="none">
              <a:solidFill>
                <a:srgbClr val="FF0000"/>
              </a:solidFill>
              <a:latin typeface="Shadows Into Light"/>
              <a:ea typeface="Shadows Into Light"/>
              <a:cs typeface="Shadows Into Light"/>
              <a:sym typeface="Shadows Into Light"/>
            </a:endParaRPr>
          </a:p>
        </p:txBody>
      </p:sp>
      <p:sp>
        <p:nvSpPr>
          <p:cNvPr id="1049" name="Google Shape;1049;p50"/>
          <p:cNvSpPr txBox="1"/>
          <p:nvPr/>
        </p:nvSpPr>
        <p:spPr>
          <a:xfrm>
            <a:off x="5196872" y="2845043"/>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E, F</a:t>
            </a:r>
            <a:endParaRPr sz="1800" b="0" i="0" u="none" strike="noStrike" cap="none">
              <a:solidFill>
                <a:srgbClr val="FF0000"/>
              </a:solidFill>
              <a:latin typeface="Shadows Into Light"/>
              <a:ea typeface="Shadows Into Light"/>
              <a:cs typeface="Shadows Into Light"/>
              <a:sym typeface="Shadows Into Light"/>
            </a:endParaRPr>
          </a:p>
        </p:txBody>
      </p:sp>
      <p:sp>
        <p:nvSpPr>
          <p:cNvPr id="1050" name="Google Shape;1050;p50"/>
          <p:cNvSpPr txBox="1"/>
          <p:nvPr/>
        </p:nvSpPr>
        <p:spPr>
          <a:xfrm>
            <a:off x="5196872" y="3149843"/>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A, C, G</a:t>
            </a:r>
            <a:endParaRPr sz="1800" b="0" i="0" u="none" strike="noStrike" cap="none">
              <a:solidFill>
                <a:srgbClr val="FF0000"/>
              </a:solidFill>
              <a:latin typeface="Shadows Into Light"/>
              <a:ea typeface="Shadows Into Light"/>
              <a:cs typeface="Shadows Into Light"/>
              <a:sym typeface="Shadows Into Light"/>
            </a:endParaRPr>
          </a:p>
        </p:txBody>
      </p:sp>
      <p:sp>
        <p:nvSpPr>
          <p:cNvPr id="1051" name="Google Shape;1051;p50"/>
          <p:cNvSpPr txBox="1"/>
          <p:nvPr/>
        </p:nvSpPr>
        <p:spPr>
          <a:xfrm>
            <a:off x="5196872" y="3512473"/>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 F</a:t>
            </a:r>
            <a:endParaRPr sz="1800" b="0" i="0" u="none" strike="noStrike" cap="none">
              <a:solidFill>
                <a:srgbClr val="FF0000"/>
              </a:solidFill>
              <a:latin typeface="Shadows Into Light"/>
              <a:ea typeface="Shadows Into Light"/>
              <a:cs typeface="Shadows Into Light"/>
              <a:sym typeface="Shadows Into Light"/>
            </a:endParaRPr>
          </a:p>
        </p:txBody>
      </p:sp>
      <p:sp>
        <p:nvSpPr>
          <p:cNvPr id="1052" name="Google Shape;1052;p50"/>
          <p:cNvSpPr txBox="1"/>
          <p:nvPr/>
        </p:nvSpPr>
        <p:spPr>
          <a:xfrm>
            <a:off x="5196872" y="3844487"/>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 E</a:t>
            </a:r>
            <a:endParaRPr sz="1800" b="0" i="0" u="none" strike="noStrike" cap="none">
              <a:solidFill>
                <a:srgbClr val="FF0000"/>
              </a:solidFill>
              <a:latin typeface="Shadows Into Light"/>
              <a:ea typeface="Shadows Into Light"/>
              <a:cs typeface="Shadows Into Light"/>
              <a:sym typeface="Shadows Into Light"/>
            </a:endParaRPr>
          </a:p>
        </p:txBody>
      </p:sp>
      <p:sp>
        <p:nvSpPr>
          <p:cNvPr id="1053" name="Google Shape;1053;p50"/>
          <p:cNvSpPr txBox="1"/>
          <p:nvPr/>
        </p:nvSpPr>
        <p:spPr>
          <a:xfrm>
            <a:off x="5196872" y="4155411"/>
            <a:ext cx="1084200" cy="336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C, D</a:t>
            </a:r>
            <a:endParaRPr sz="1800" b="0" i="0" u="none" strike="noStrike" cap="none">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32"/>
                                        </p:tgtEl>
                                        <p:attrNameLst>
                                          <p:attrName>style.visibility</p:attrName>
                                        </p:attrNameLst>
                                      </p:cBhvr>
                                      <p:to>
                                        <p:strVal val="visible"/>
                                      </p:to>
                                    </p:set>
                                    <p:animEffect transition="in" filter="fade">
                                      <p:cBhvr>
                                        <p:cTn id="7" dur="1000"/>
                                        <p:tgtEl>
                                          <p:spTgt spid="103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33"/>
                                        </p:tgtEl>
                                        <p:attrNameLst>
                                          <p:attrName>style.visibility</p:attrName>
                                        </p:attrNameLst>
                                      </p:cBhvr>
                                      <p:to>
                                        <p:strVal val="visible"/>
                                      </p:to>
                                    </p:set>
                                    <p:animEffect transition="in" filter="fade">
                                      <p:cBhvr>
                                        <p:cTn id="11" dur="1000"/>
                                        <p:tgtEl>
                                          <p:spTgt spid="10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fade">
                                      <p:cBhvr>
                                        <p:cTn id="16" dur="1000"/>
                                        <p:tgtEl>
                                          <p:spTgt spid="102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34"/>
                                        </p:tgtEl>
                                        <p:attrNameLst>
                                          <p:attrName>style.visibility</p:attrName>
                                        </p:attrNameLst>
                                      </p:cBhvr>
                                      <p:to>
                                        <p:strVal val="visible"/>
                                      </p:to>
                                    </p:set>
                                    <p:animEffect transition="in" filter="fade">
                                      <p:cBhvr>
                                        <p:cTn id="20" dur="1000"/>
                                        <p:tgtEl>
                                          <p:spTgt spid="103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7"/>
                                        </p:tgtEl>
                                        <p:attrNameLst>
                                          <p:attrName>style.visibility</p:attrName>
                                        </p:attrNameLst>
                                      </p:cBhvr>
                                      <p:to>
                                        <p:strVal val="visible"/>
                                      </p:to>
                                    </p:set>
                                    <p:animEffect transition="in" filter="fade">
                                      <p:cBhvr>
                                        <p:cTn id="25" dur="1000"/>
                                        <p:tgtEl>
                                          <p:spTgt spid="1027"/>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035"/>
                                        </p:tgtEl>
                                        <p:attrNameLst>
                                          <p:attrName>style.visibility</p:attrName>
                                        </p:attrNameLst>
                                      </p:cBhvr>
                                      <p:to>
                                        <p:strVal val="visible"/>
                                      </p:to>
                                    </p:set>
                                    <p:animEffect transition="in" filter="fade">
                                      <p:cBhvr>
                                        <p:cTn id="29" dur="1000"/>
                                        <p:tgtEl>
                                          <p:spTgt spid="103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28"/>
                                        </p:tgtEl>
                                        <p:attrNameLst>
                                          <p:attrName>style.visibility</p:attrName>
                                        </p:attrNameLst>
                                      </p:cBhvr>
                                      <p:to>
                                        <p:strVal val="visible"/>
                                      </p:to>
                                    </p:set>
                                    <p:animEffect transition="in" filter="fade">
                                      <p:cBhvr>
                                        <p:cTn id="34" dur="1000"/>
                                        <p:tgtEl>
                                          <p:spTgt spid="1028"/>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036"/>
                                        </p:tgtEl>
                                        <p:attrNameLst>
                                          <p:attrName>style.visibility</p:attrName>
                                        </p:attrNameLst>
                                      </p:cBhvr>
                                      <p:to>
                                        <p:strVal val="visible"/>
                                      </p:to>
                                    </p:set>
                                    <p:animEffect transition="in" filter="fade">
                                      <p:cBhvr>
                                        <p:cTn id="38" dur="1000"/>
                                        <p:tgtEl>
                                          <p:spTgt spid="103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29"/>
                                        </p:tgtEl>
                                        <p:attrNameLst>
                                          <p:attrName>style.visibility</p:attrName>
                                        </p:attrNameLst>
                                      </p:cBhvr>
                                      <p:to>
                                        <p:strVal val="visible"/>
                                      </p:to>
                                    </p:set>
                                    <p:animEffect transition="in" filter="fade">
                                      <p:cBhvr>
                                        <p:cTn id="43" dur="1000"/>
                                        <p:tgtEl>
                                          <p:spTgt spid="1029"/>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037"/>
                                        </p:tgtEl>
                                        <p:attrNameLst>
                                          <p:attrName>style.visibility</p:attrName>
                                        </p:attrNameLst>
                                      </p:cBhvr>
                                      <p:to>
                                        <p:strVal val="visible"/>
                                      </p:to>
                                    </p:set>
                                    <p:animEffect transition="in" filter="fade">
                                      <p:cBhvr>
                                        <p:cTn id="47" dur="1000"/>
                                        <p:tgtEl>
                                          <p:spTgt spid="10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30"/>
                                        </p:tgtEl>
                                        <p:attrNameLst>
                                          <p:attrName>style.visibility</p:attrName>
                                        </p:attrNameLst>
                                      </p:cBhvr>
                                      <p:to>
                                        <p:strVal val="visible"/>
                                      </p:to>
                                    </p:set>
                                    <p:animEffect transition="in" filter="fade">
                                      <p:cBhvr>
                                        <p:cTn id="52" dur="1000"/>
                                        <p:tgtEl>
                                          <p:spTgt spid="1030"/>
                                        </p:tgtEl>
                                      </p:cBhvr>
                                    </p:animEffec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1038"/>
                                        </p:tgtEl>
                                        <p:attrNameLst>
                                          <p:attrName>style.visibility</p:attrName>
                                        </p:attrNameLst>
                                      </p:cBhvr>
                                      <p:to>
                                        <p:strVal val="visible"/>
                                      </p:to>
                                    </p:set>
                                    <p:animEffect transition="in" filter="fade">
                                      <p:cBhvr>
                                        <p:cTn id="56" dur="1000"/>
                                        <p:tgtEl>
                                          <p:spTgt spid="103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31"/>
                                        </p:tgtEl>
                                        <p:attrNameLst>
                                          <p:attrName>style.visibility</p:attrName>
                                        </p:attrNameLst>
                                      </p:cBhvr>
                                      <p:to>
                                        <p:strVal val="visible"/>
                                      </p:to>
                                    </p:set>
                                    <p:animEffect transition="in" filter="fade">
                                      <p:cBhvr>
                                        <p:cTn id="61" dur="1000"/>
                                        <p:tgtEl>
                                          <p:spTgt spid="1031"/>
                                        </p:tgtEl>
                                      </p:cBhvr>
                                    </p:animEffect>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1039"/>
                                        </p:tgtEl>
                                        <p:attrNameLst>
                                          <p:attrName>style.visibility</p:attrName>
                                        </p:attrNameLst>
                                      </p:cBhvr>
                                      <p:to>
                                        <p:strVal val="visible"/>
                                      </p:to>
                                    </p:set>
                                    <p:animEffect transition="in" filter="fade">
                                      <p:cBhvr>
                                        <p:cTn id="65" dur="1000"/>
                                        <p:tgtEl>
                                          <p:spTgt spid="1039"/>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046"/>
                                        </p:tgtEl>
                                        <p:attrNameLst>
                                          <p:attrName>style.visibility</p:attrName>
                                        </p:attrNameLst>
                                      </p:cBhvr>
                                      <p:to>
                                        <p:strVal val="visible"/>
                                      </p:to>
                                    </p:set>
                                    <p:animEffect transition="in" filter="fade">
                                      <p:cBhvr>
                                        <p:cTn id="70" dur="1000"/>
                                        <p:tgtEl>
                                          <p:spTgt spid="1046"/>
                                        </p:tgtEl>
                                      </p:cBhvr>
                                    </p:animEffect>
                                  </p:childTnLst>
                                </p:cTn>
                              </p:par>
                            </p:childTnLst>
                          </p:cTn>
                        </p:par>
                        <p:par>
                          <p:cTn id="71" fill="hold">
                            <p:stCondLst>
                              <p:cond delay="1000"/>
                            </p:stCondLst>
                            <p:childTnLst>
                              <p:par>
                                <p:cTn id="72" presetID="10" presetClass="entr" presetSubtype="0" fill="hold" nodeType="afterEffect">
                                  <p:stCondLst>
                                    <p:cond delay="0"/>
                                  </p:stCondLst>
                                  <p:childTnLst>
                                    <p:set>
                                      <p:cBhvr>
                                        <p:cTn id="73" dur="1" fill="hold">
                                          <p:stCondLst>
                                            <p:cond delay="0"/>
                                          </p:stCondLst>
                                        </p:cTn>
                                        <p:tgtEl>
                                          <p:spTgt spid="1047"/>
                                        </p:tgtEl>
                                        <p:attrNameLst>
                                          <p:attrName>style.visibility</p:attrName>
                                        </p:attrNameLst>
                                      </p:cBhvr>
                                      <p:to>
                                        <p:strVal val="visible"/>
                                      </p:to>
                                    </p:set>
                                    <p:animEffect transition="in" filter="fade">
                                      <p:cBhvr>
                                        <p:cTn id="74" dur="1000"/>
                                        <p:tgtEl>
                                          <p:spTgt spid="104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040"/>
                                        </p:tgtEl>
                                        <p:attrNameLst>
                                          <p:attrName>style.visibility</p:attrName>
                                        </p:attrNameLst>
                                      </p:cBhvr>
                                      <p:to>
                                        <p:strVal val="visible"/>
                                      </p:to>
                                    </p:set>
                                    <p:animEffect transition="in" filter="fade">
                                      <p:cBhvr>
                                        <p:cTn id="79" dur="1000"/>
                                        <p:tgtEl>
                                          <p:spTgt spid="1040"/>
                                        </p:tgtEl>
                                      </p:cBhvr>
                                    </p:animEffect>
                                  </p:childTnLst>
                                </p:cTn>
                              </p:par>
                            </p:childTnLst>
                          </p:cTn>
                        </p:par>
                        <p:par>
                          <p:cTn id="80" fill="hold">
                            <p:stCondLst>
                              <p:cond delay="1000"/>
                            </p:stCondLst>
                            <p:childTnLst>
                              <p:par>
                                <p:cTn id="81" presetID="10" presetClass="entr" presetSubtype="0" fill="hold" nodeType="afterEffect">
                                  <p:stCondLst>
                                    <p:cond delay="0"/>
                                  </p:stCondLst>
                                  <p:childTnLst>
                                    <p:set>
                                      <p:cBhvr>
                                        <p:cTn id="82" dur="1" fill="hold">
                                          <p:stCondLst>
                                            <p:cond delay="0"/>
                                          </p:stCondLst>
                                        </p:cTn>
                                        <p:tgtEl>
                                          <p:spTgt spid="1048"/>
                                        </p:tgtEl>
                                        <p:attrNameLst>
                                          <p:attrName>style.visibility</p:attrName>
                                        </p:attrNameLst>
                                      </p:cBhvr>
                                      <p:to>
                                        <p:strVal val="visible"/>
                                      </p:to>
                                    </p:set>
                                    <p:animEffect transition="in" filter="fade">
                                      <p:cBhvr>
                                        <p:cTn id="83" dur="1000"/>
                                        <p:tgtEl>
                                          <p:spTgt spid="104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041"/>
                                        </p:tgtEl>
                                        <p:attrNameLst>
                                          <p:attrName>style.visibility</p:attrName>
                                        </p:attrNameLst>
                                      </p:cBhvr>
                                      <p:to>
                                        <p:strVal val="visible"/>
                                      </p:to>
                                    </p:set>
                                    <p:animEffect transition="in" filter="fade">
                                      <p:cBhvr>
                                        <p:cTn id="88" dur="1000"/>
                                        <p:tgtEl>
                                          <p:spTgt spid="1041"/>
                                        </p:tgtEl>
                                      </p:cBhvr>
                                    </p:animEffect>
                                  </p:childTnLst>
                                </p:cTn>
                              </p:par>
                            </p:childTnLst>
                          </p:cTn>
                        </p:par>
                        <p:par>
                          <p:cTn id="89" fill="hold">
                            <p:stCondLst>
                              <p:cond delay="1000"/>
                            </p:stCondLst>
                            <p:childTnLst>
                              <p:par>
                                <p:cTn id="90" presetID="10" presetClass="entr" presetSubtype="0" fill="hold" nodeType="afterEffect">
                                  <p:stCondLst>
                                    <p:cond delay="0"/>
                                  </p:stCondLst>
                                  <p:childTnLst>
                                    <p:set>
                                      <p:cBhvr>
                                        <p:cTn id="91" dur="1" fill="hold">
                                          <p:stCondLst>
                                            <p:cond delay="0"/>
                                          </p:stCondLst>
                                        </p:cTn>
                                        <p:tgtEl>
                                          <p:spTgt spid="1049"/>
                                        </p:tgtEl>
                                        <p:attrNameLst>
                                          <p:attrName>style.visibility</p:attrName>
                                        </p:attrNameLst>
                                      </p:cBhvr>
                                      <p:to>
                                        <p:strVal val="visible"/>
                                      </p:to>
                                    </p:set>
                                    <p:animEffect transition="in" filter="fade">
                                      <p:cBhvr>
                                        <p:cTn id="92" dur="1100"/>
                                        <p:tgtEl>
                                          <p:spTgt spid="104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042"/>
                                        </p:tgtEl>
                                        <p:attrNameLst>
                                          <p:attrName>style.visibility</p:attrName>
                                        </p:attrNameLst>
                                      </p:cBhvr>
                                      <p:to>
                                        <p:strVal val="visible"/>
                                      </p:to>
                                    </p:set>
                                    <p:animEffect transition="in" filter="fade">
                                      <p:cBhvr>
                                        <p:cTn id="97" dur="1000"/>
                                        <p:tgtEl>
                                          <p:spTgt spid="1042"/>
                                        </p:tgtEl>
                                      </p:cBhvr>
                                    </p:animEffect>
                                  </p:childTnLst>
                                </p:cTn>
                              </p:par>
                            </p:childTnLst>
                          </p:cTn>
                        </p:par>
                        <p:par>
                          <p:cTn id="98" fill="hold">
                            <p:stCondLst>
                              <p:cond delay="1000"/>
                            </p:stCondLst>
                            <p:childTnLst>
                              <p:par>
                                <p:cTn id="99" presetID="10" presetClass="entr" presetSubtype="0" fill="hold" nodeType="afterEffect">
                                  <p:stCondLst>
                                    <p:cond delay="0"/>
                                  </p:stCondLst>
                                  <p:childTnLst>
                                    <p:set>
                                      <p:cBhvr>
                                        <p:cTn id="100" dur="1" fill="hold">
                                          <p:stCondLst>
                                            <p:cond delay="0"/>
                                          </p:stCondLst>
                                        </p:cTn>
                                        <p:tgtEl>
                                          <p:spTgt spid="1050"/>
                                        </p:tgtEl>
                                        <p:attrNameLst>
                                          <p:attrName>style.visibility</p:attrName>
                                        </p:attrNameLst>
                                      </p:cBhvr>
                                      <p:to>
                                        <p:strVal val="visible"/>
                                      </p:to>
                                    </p:set>
                                    <p:animEffect transition="in" filter="fade">
                                      <p:cBhvr>
                                        <p:cTn id="101" dur="1000"/>
                                        <p:tgtEl>
                                          <p:spTgt spid="1050"/>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1043"/>
                                        </p:tgtEl>
                                        <p:attrNameLst>
                                          <p:attrName>style.visibility</p:attrName>
                                        </p:attrNameLst>
                                      </p:cBhvr>
                                      <p:to>
                                        <p:strVal val="visible"/>
                                      </p:to>
                                    </p:set>
                                    <p:animEffect transition="in" filter="fade">
                                      <p:cBhvr>
                                        <p:cTn id="106" dur="1000"/>
                                        <p:tgtEl>
                                          <p:spTgt spid="1043"/>
                                        </p:tgtEl>
                                      </p:cBhvr>
                                    </p:animEffect>
                                  </p:childTnLst>
                                </p:cTn>
                              </p:par>
                            </p:childTnLst>
                          </p:cTn>
                        </p:par>
                        <p:par>
                          <p:cTn id="107" fill="hold">
                            <p:stCondLst>
                              <p:cond delay="1000"/>
                            </p:stCondLst>
                            <p:childTnLst>
                              <p:par>
                                <p:cTn id="108" presetID="10" presetClass="entr" presetSubtype="0" fill="hold" nodeType="afterEffect">
                                  <p:stCondLst>
                                    <p:cond delay="0"/>
                                  </p:stCondLst>
                                  <p:childTnLst>
                                    <p:set>
                                      <p:cBhvr>
                                        <p:cTn id="109" dur="1" fill="hold">
                                          <p:stCondLst>
                                            <p:cond delay="0"/>
                                          </p:stCondLst>
                                        </p:cTn>
                                        <p:tgtEl>
                                          <p:spTgt spid="1051"/>
                                        </p:tgtEl>
                                        <p:attrNameLst>
                                          <p:attrName>style.visibility</p:attrName>
                                        </p:attrNameLst>
                                      </p:cBhvr>
                                      <p:to>
                                        <p:strVal val="visible"/>
                                      </p:to>
                                    </p:set>
                                    <p:animEffect transition="in" filter="fade">
                                      <p:cBhvr>
                                        <p:cTn id="110" dur="1000"/>
                                        <p:tgtEl>
                                          <p:spTgt spid="1051"/>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044"/>
                                        </p:tgtEl>
                                        <p:attrNameLst>
                                          <p:attrName>style.visibility</p:attrName>
                                        </p:attrNameLst>
                                      </p:cBhvr>
                                      <p:to>
                                        <p:strVal val="visible"/>
                                      </p:to>
                                    </p:set>
                                    <p:animEffect transition="in" filter="fade">
                                      <p:cBhvr>
                                        <p:cTn id="115" dur="1000"/>
                                        <p:tgtEl>
                                          <p:spTgt spid="1044"/>
                                        </p:tgtEl>
                                      </p:cBhvr>
                                    </p:animEffect>
                                  </p:childTnLst>
                                </p:cTn>
                              </p:par>
                            </p:childTnLst>
                          </p:cTn>
                        </p:par>
                        <p:par>
                          <p:cTn id="116" fill="hold">
                            <p:stCondLst>
                              <p:cond delay="1000"/>
                            </p:stCondLst>
                            <p:childTnLst>
                              <p:par>
                                <p:cTn id="117" presetID="10" presetClass="entr" presetSubtype="0" fill="hold" nodeType="afterEffect">
                                  <p:stCondLst>
                                    <p:cond delay="0"/>
                                  </p:stCondLst>
                                  <p:childTnLst>
                                    <p:set>
                                      <p:cBhvr>
                                        <p:cTn id="118" dur="1" fill="hold">
                                          <p:stCondLst>
                                            <p:cond delay="0"/>
                                          </p:stCondLst>
                                        </p:cTn>
                                        <p:tgtEl>
                                          <p:spTgt spid="1052"/>
                                        </p:tgtEl>
                                        <p:attrNameLst>
                                          <p:attrName>style.visibility</p:attrName>
                                        </p:attrNameLst>
                                      </p:cBhvr>
                                      <p:to>
                                        <p:strVal val="visible"/>
                                      </p:to>
                                    </p:set>
                                    <p:animEffect transition="in" filter="fade">
                                      <p:cBhvr>
                                        <p:cTn id="119" dur="1000"/>
                                        <p:tgtEl>
                                          <p:spTgt spid="1052"/>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1045"/>
                                        </p:tgtEl>
                                        <p:attrNameLst>
                                          <p:attrName>style.visibility</p:attrName>
                                        </p:attrNameLst>
                                      </p:cBhvr>
                                      <p:to>
                                        <p:strVal val="visible"/>
                                      </p:to>
                                    </p:set>
                                    <p:animEffect transition="in" filter="fade">
                                      <p:cBhvr>
                                        <p:cTn id="124" dur="1000"/>
                                        <p:tgtEl>
                                          <p:spTgt spid="1045"/>
                                        </p:tgtEl>
                                      </p:cBhvr>
                                    </p:animEffect>
                                  </p:childTnLst>
                                </p:cTn>
                              </p:par>
                            </p:childTnLst>
                          </p:cTn>
                        </p:par>
                        <p:par>
                          <p:cTn id="125" fill="hold">
                            <p:stCondLst>
                              <p:cond delay="1000"/>
                            </p:stCondLst>
                            <p:childTnLst>
                              <p:par>
                                <p:cTn id="126" presetID="10" presetClass="entr" presetSubtype="0" fill="hold" nodeType="afterEffect">
                                  <p:stCondLst>
                                    <p:cond delay="0"/>
                                  </p:stCondLst>
                                  <p:childTnLst>
                                    <p:set>
                                      <p:cBhvr>
                                        <p:cTn id="127" dur="1" fill="hold">
                                          <p:stCondLst>
                                            <p:cond delay="0"/>
                                          </p:stCondLst>
                                        </p:cTn>
                                        <p:tgtEl>
                                          <p:spTgt spid="1053"/>
                                        </p:tgtEl>
                                        <p:attrNameLst>
                                          <p:attrName>style.visibility</p:attrName>
                                        </p:attrNameLst>
                                      </p:cBhvr>
                                      <p:to>
                                        <p:strVal val="visible"/>
                                      </p:to>
                                    </p:set>
                                    <p:animEffect transition="in" filter="fade">
                                      <p:cBhvr>
                                        <p:cTn id="128" dur="1000"/>
                                        <p:tgtEl>
                                          <p:spTgt spid="1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pic>
        <p:nvPicPr>
          <p:cNvPr id="1058" name="Google Shape;1058;p51"/>
          <p:cNvPicPr preferRelativeResize="0"/>
          <p:nvPr/>
        </p:nvPicPr>
        <p:blipFill rotWithShape="1">
          <a:blip r:embed="rId3">
            <a:alphaModFix/>
          </a:blip>
          <a:srcRect/>
          <a:stretch/>
        </p:blipFill>
        <p:spPr>
          <a:xfrm>
            <a:off x="717900" y="1299725"/>
            <a:ext cx="5399555" cy="3567699"/>
          </a:xfrm>
          <a:prstGeom prst="rect">
            <a:avLst/>
          </a:prstGeom>
          <a:noFill/>
          <a:ln>
            <a:noFill/>
          </a:ln>
        </p:spPr>
      </p:pic>
      <p:sp>
        <p:nvSpPr>
          <p:cNvPr id="1059" name="Google Shape;1059;p51"/>
          <p:cNvSpPr txBox="1">
            <a:spLocks noGrp="1"/>
          </p:cNvSpPr>
          <p:nvPr>
            <p:ph type="sldNum" idx="12"/>
          </p:nvPr>
        </p:nvSpPr>
        <p:spPr>
          <a:xfrm>
            <a:off x="8579908" y="4726574"/>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18</a:t>
            </a:fld>
            <a:endParaRPr/>
          </a:p>
        </p:txBody>
      </p:sp>
      <p:sp>
        <p:nvSpPr>
          <p:cNvPr id="1060" name="Google Shape;1060;p51"/>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An Adjacency List Implementation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pic>
        <p:nvPicPr>
          <p:cNvPr id="1065" name="Google Shape;1065;p52"/>
          <p:cNvPicPr preferRelativeResize="0"/>
          <p:nvPr/>
        </p:nvPicPr>
        <p:blipFill rotWithShape="1">
          <a:blip r:embed="rId3">
            <a:alphaModFix/>
          </a:blip>
          <a:srcRect/>
          <a:stretch/>
        </p:blipFill>
        <p:spPr>
          <a:xfrm>
            <a:off x="717900" y="1299725"/>
            <a:ext cx="5399555" cy="3567699"/>
          </a:xfrm>
          <a:prstGeom prst="rect">
            <a:avLst/>
          </a:prstGeom>
          <a:noFill/>
          <a:ln>
            <a:noFill/>
          </a:ln>
        </p:spPr>
      </p:pic>
      <p:sp>
        <p:nvSpPr>
          <p:cNvPr id="1066" name="Google Shape;1066;p52"/>
          <p:cNvSpPr txBox="1">
            <a:spLocks noGrp="1"/>
          </p:cNvSpPr>
          <p:nvPr>
            <p:ph type="sldNum" idx="12"/>
          </p:nvPr>
        </p:nvSpPr>
        <p:spPr>
          <a:xfrm>
            <a:off x="8579908" y="4726574"/>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19</a:t>
            </a:fld>
            <a:endParaRPr/>
          </a:p>
        </p:txBody>
      </p:sp>
      <p:sp>
        <p:nvSpPr>
          <p:cNvPr id="1067" name="Google Shape;1067;p52"/>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An Adjacency List Implementation</a:t>
            </a:r>
            <a:endParaRPr/>
          </a:p>
        </p:txBody>
      </p:sp>
      <p:sp>
        <p:nvSpPr>
          <p:cNvPr id="1068" name="Google Shape;1068;p52"/>
          <p:cNvSpPr/>
          <p:nvPr/>
        </p:nvSpPr>
        <p:spPr>
          <a:xfrm>
            <a:off x="2430750" y="1753300"/>
            <a:ext cx="992275" cy="1701660"/>
          </a:xfrm>
          <a:custGeom>
            <a:avLst/>
            <a:gdLst/>
            <a:ahLst/>
            <a:cxnLst/>
            <a:rect l="l" t="t" r="r" b="b"/>
            <a:pathLst>
              <a:path w="39691" h="67553" extrusionOk="0">
                <a:moveTo>
                  <a:pt x="11559" y="0"/>
                </a:moveTo>
                <a:cubicBezTo>
                  <a:pt x="16225" y="2740"/>
                  <a:pt x="41483" y="5180"/>
                  <a:pt x="39556" y="16439"/>
                </a:cubicBezTo>
                <a:cubicBezTo>
                  <a:pt x="37630" y="27698"/>
                  <a:pt x="6593" y="59034"/>
                  <a:pt x="0" y="67553"/>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p52"/>
          <p:cNvSpPr txBox="1"/>
          <p:nvPr/>
        </p:nvSpPr>
        <p:spPr>
          <a:xfrm>
            <a:off x="235525" y="1476800"/>
            <a:ext cx="2809200" cy="514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core component of an </a:t>
            </a:r>
            <a:r>
              <a:rPr lang="en" sz="1200" b="1" i="1" u="none" strike="noStrike" cap="none">
                <a:solidFill>
                  <a:srgbClr val="FF0000"/>
                </a:solidFill>
                <a:latin typeface="Arial"/>
                <a:ea typeface="Arial"/>
                <a:cs typeface="Arial"/>
                <a:sym typeface="Arial"/>
              </a:rPr>
              <a:t>adjacency graph</a:t>
            </a:r>
            <a:r>
              <a:rPr lang="en" sz="1200" b="0" i="0" u="none" strike="noStrike" cap="none">
                <a:solidFill>
                  <a:srgbClr val="000000"/>
                </a:solidFill>
                <a:latin typeface="Arial"/>
                <a:ea typeface="Arial"/>
                <a:cs typeface="Arial"/>
                <a:sym typeface="Arial"/>
              </a:rPr>
              <a:t> is the </a:t>
            </a:r>
            <a:r>
              <a:rPr lang="en" sz="1200" b="1" i="1" u="none" strike="noStrike" cap="none">
                <a:solidFill>
                  <a:srgbClr val="FF0000"/>
                </a:solidFill>
                <a:latin typeface="Arial"/>
                <a:ea typeface="Arial"/>
                <a:cs typeface="Arial"/>
                <a:sym typeface="Arial"/>
              </a:rPr>
              <a:t>vertex</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1070" name="Google Shape;1070;p52"/>
          <p:cNvSpPr/>
          <p:nvPr/>
        </p:nvSpPr>
        <p:spPr>
          <a:xfrm>
            <a:off x="312875" y="2523875"/>
            <a:ext cx="650358" cy="1406275"/>
          </a:xfrm>
          <a:custGeom>
            <a:avLst/>
            <a:gdLst/>
            <a:ahLst/>
            <a:cxnLst/>
            <a:rect l="l" t="t" r="r" b="b"/>
            <a:pathLst>
              <a:path w="37010" h="56251" extrusionOk="0">
                <a:moveTo>
                  <a:pt x="20314" y="0"/>
                </a:moveTo>
                <a:cubicBezTo>
                  <a:pt x="16975" y="7320"/>
                  <a:pt x="-2503" y="34547"/>
                  <a:pt x="280" y="43922"/>
                </a:cubicBezTo>
                <a:cubicBezTo>
                  <a:pt x="3063" y="53297"/>
                  <a:pt x="30888" y="54196"/>
                  <a:pt x="37010" y="56251"/>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1" name="Google Shape;1071;p52"/>
          <p:cNvSpPr txBox="1"/>
          <p:nvPr/>
        </p:nvSpPr>
        <p:spPr>
          <a:xfrm>
            <a:off x="235525" y="2086400"/>
            <a:ext cx="2809200" cy="514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Each vertex maintains a </a:t>
            </a:r>
            <a:r>
              <a:rPr lang="en" sz="1200" b="1" i="1" u="none" strike="noStrike" cap="none">
                <a:solidFill>
                  <a:srgbClr val="FF0000"/>
                </a:solidFill>
                <a:latin typeface="Arial"/>
                <a:ea typeface="Arial"/>
                <a:cs typeface="Arial"/>
                <a:sym typeface="Arial"/>
              </a:rPr>
              <a:t>set</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of the </a:t>
            </a:r>
            <a:r>
              <a:rPr lang="en" sz="1200" b="1" i="1" u="none" strike="noStrike" cap="none">
                <a:solidFill>
                  <a:srgbClr val="FF0000"/>
                </a:solidFill>
                <a:latin typeface="Arial"/>
                <a:ea typeface="Arial"/>
                <a:cs typeface="Arial"/>
                <a:sym typeface="Arial"/>
              </a:rPr>
              <a:t>neighbors</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to which it is connected.</a:t>
            </a:r>
            <a:endParaRPr sz="1200" b="0" i="0" u="none" strike="noStrike" cap="none">
              <a:solidFill>
                <a:srgbClr val="000000"/>
              </a:solidFill>
              <a:latin typeface="Arial"/>
              <a:ea typeface="Arial"/>
              <a:cs typeface="Arial"/>
              <a:sym typeface="Arial"/>
            </a:endParaRPr>
          </a:p>
        </p:txBody>
      </p:sp>
      <p:sp>
        <p:nvSpPr>
          <p:cNvPr id="1072" name="Google Shape;1072;p52"/>
          <p:cNvSpPr txBox="1"/>
          <p:nvPr/>
        </p:nvSpPr>
        <p:spPr>
          <a:xfrm>
            <a:off x="6102925" y="2982390"/>
            <a:ext cx="2809200" cy="657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Using a </a:t>
            </a:r>
            <a:r>
              <a:rPr lang="en" sz="1200" b="1" i="1" u="none" strike="noStrike" cap="none">
                <a:solidFill>
                  <a:srgbClr val="FF0000"/>
                </a:solidFill>
                <a:latin typeface="Arial"/>
                <a:ea typeface="Arial"/>
                <a:cs typeface="Arial"/>
                <a:sym typeface="Arial"/>
              </a:rPr>
              <a:t>hash map</a:t>
            </a:r>
            <a:r>
              <a:rPr lang="en" sz="1200" b="0" i="0" u="none" strike="noStrike" cap="none">
                <a:solidFill>
                  <a:srgbClr val="000000"/>
                </a:solidFill>
                <a:latin typeface="Arial"/>
                <a:ea typeface="Arial"/>
                <a:cs typeface="Arial"/>
                <a:sym typeface="Arial"/>
              </a:rPr>
              <a:t> provides </a:t>
            </a:r>
            <a:r>
              <a:rPr lang="en" sz="1200" b="1" i="1" u="none" strike="noStrike" cap="none">
                <a:solidFill>
                  <a:srgbClr val="FF0000"/>
                </a:solidFill>
                <a:latin typeface="Arial"/>
                <a:ea typeface="Arial"/>
                <a:cs typeface="Arial"/>
                <a:sym typeface="Arial"/>
              </a:rPr>
              <a:t>constant time put</a:t>
            </a:r>
            <a:r>
              <a:rPr lang="en" sz="1200" b="0" i="0" u="none" strike="noStrike" cap="none">
                <a:solidFill>
                  <a:srgbClr val="000000"/>
                </a:solidFill>
                <a:latin typeface="Arial"/>
                <a:ea typeface="Arial"/>
                <a:cs typeface="Arial"/>
                <a:sym typeface="Arial"/>
              </a:rPr>
              <a:t> and </a:t>
            </a:r>
            <a:r>
              <a:rPr lang="en" sz="1200" b="1" i="1" u="none" strike="noStrike" cap="none">
                <a:solidFill>
                  <a:srgbClr val="FF0000"/>
                </a:solidFill>
                <a:latin typeface="Arial"/>
                <a:ea typeface="Arial"/>
                <a:cs typeface="Arial"/>
                <a:sym typeface="Arial"/>
              </a:rPr>
              <a:t>get</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when adding or retrieving vertices by value.</a:t>
            </a:r>
            <a:endParaRPr sz="1200" b="0" i="0" u="none" strike="noStrike" cap="none">
              <a:solidFill>
                <a:srgbClr val="000000"/>
              </a:solidFill>
              <a:latin typeface="Arial"/>
              <a:ea typeface="Arial"/>
              <a:cs typeface="Arial"/>
              <a:sym typeface="Arial"/>
            </a:endParaRPr>
          </a:p>
        </p:txBody>
      </p:sp>
      <p:sp>
        <p:nvSpPr>
          <p:cNvPr id="1073" name="Google Shape;1073;p52"/>
          <p:cNvSpPr/>
          <p:nvPr/>
        </p:nvSpPr>
        <p:spPr>
          <a:xfrm>
            <a:off x="4031125" y="1868900"/>
            <a:ext cx="2115025" cy="1817299"/>
          </a:xfrm>
          <a:custGeom>
            <a:avLst/>
            <a:gdLst/>
            <a:ahLst/>
            <a:cxnLst/>
            <a:rect l="l" t="t" r="r" b="b"/>
            <a:pathLst>
              <a:path w="84601" h="76285" extrusionOk="0">
                <a:moveTo>
                  <a:pt x="84601" y="0"/>
                </a:moveTo>
                <a:cubicBezTo>
                  <a:pt x="71416" y="8177"/>
                  <a:pt x="18418" y="36345"/>
                  <a:pt x="5490" y="49059"/>
                </a:cubicBezTo>
                <a:cubicBezTo>
                  <a:pt x="-7438" y="61773"/>
                  <a:pt x="6774" y="71747"/>
                  <a:pt x="7031" y="76285"/>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4" name="Google Shape;1074;p52"/>
          <p:cNvSpPr txBox="1"/>
          <p:nvPr/>
        </p:nvSpPr>
        <p:spPr>
          <a:xfrm>
            <a:off x="6102925" y="1476800"/>
            <a:ext cx="2809200" cy="657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a:t>
            </a:r>
            <a:r>
              <a:rPr lang="en" sz="1200" b="1" i="1" u="none" strike="noStrike" cap="none">
                <a:solidFill>
                  <a:srgbClr val="FF0000"/>
                </a:solidFill>
                <a:latin typeface="Arial"/>
                <a:ea typeface="Arial"/>
                <a:cs typeface="Arial"/>
                <a:sym typeface="Arial"/>
              </a:rPr>
              <a:t>graph</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itself, maintains a </a:t>
            </a:r>
            <a:r>
              <a:rPr lang="en" sz="1200" b="1" i="1" u="none" strike="noStrike" cap="none">
                <a:solidFill>
                  <a:srgbClr val="FF0000"/>
                </a:solidFill>
                <a:latin typeface="Arial"/>
                <a:ea typeface="Arial"/>
                <a:cs typeface="Arial"/>
                <a:sym typeface="Arial"/>
              </a:rPr>
              <a:t>map</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wherein the </a:t>
            </a:r>
            <a:r>
              <a:rPr lang="en" sz="1200" b="1" i="1" u="none" strike="noStrike" cap="none">
                <a:solidFill>
                  <a:srgbClr val="FF0000"/>
                </a:solidFill>
                <a:latin typeface="Arial"/>
                <a:ea typeface="Arial"/>
                <a:cs typeface="Arial"/>
                <a:sym typeface="Arial"/>
              </a:rPr>
              <a:t>entries</a:t>
            </a:r>
            <a:r>
              <a:rPr lang="en" sz="1200" b="0" i="0" u="none" strike="noStrike" cap="none">
                <a:solidFill>
                  <a:srgbClr val="000000"/>
                </a:solidFill>
                <a:latin typeface="Arial"/>
                <a:ea typeface="Arial"/>
                <a:cs typeface="Arial"/>
                <a:sym typeface="Arial"/>
              </a:rPr>
              <a:t> are </a:t>
            </a:r>
            <a:r>
              <a:rPr lang="en" sz="1200" b="1" i="1" u="none" strike="noStrike" cap="none">
                <a:solidFill>
                  <a:srgbClr val="FF0000"/>
                </a:solidFill>
                <a:latin typeface="Arial"/>
                <a:ea typeface="Arial"/>
                <a:cs typeface="Arial"/>
                <a:sym typeface="Arial"/>
              </a:rPr>
              <a:t>value/vertex</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pairs.</a:t>
            </a:r>
            <a:endParaRPr sz="1200" b="0" i="0" u="none" strike="noStrike" cap="none">
              <a:solidFill>
                <a:srgbClr val="000000"/>
              </a:solidFill>
              <a:latin typeface="Arial"/>
              <a:ea typeface="Arial"/>
              <a:cs typeface="Arial"/>
              <a:sym typeface="Arial"/>
            </a:endParaRPr>
          </a:p>
        </p:txBody>
      </p:sp>
      <p:sp>
        <p:nvSpPr>
          <p:cNvPr id="1075" name="Google Shape;1075;p52"/>
          <p:cNvSpPr txBox="1"/>
          <p:nvPr/>
        </p:nvSpPr>
        <p:spPr>
          <a:xfrm>
            <a:off x="6102925" y="3743044"/>
            <a:ext cx="2809200" cy="737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a:t>T</a:t>
            </a:r>
            <a:r>
              <a:rPr lang="en" sz="1200" b="0" i="0" u="none" strike="noStrike" cap="none">
                <a:solidFill>
                  <a:srgbClr val="000000"/>
                </a:solidFill>
                <a:latin typeface="Arial"/>
                <a:ea typeface="Arial"/>
                <a:cs typeface="Arial"/>
                <a:sym typeface="Arial"/>
              </a:rPr>
              <a:t>he fact that vertices are used at all is </a:t>
            </a:r>
            <a:r>
              <a:rPr lang="en" sz="1200" b="1" i="1" u="none" strike="noStrike" cap="none">
                <a:solidFill>
                  <a:srgbClr val="FF0000"/>
                </a:solidFill>
                <a:latin typeface="Arial"/>
                <a:ea typeface="Arial"/>
                <a:cs typeface="Arial"/>
                <a:sym typeface="Arial"/>
              </a:rPr>
              <a:t>completely hidden</a:t>
            </a:r>
            <a:r>
              <a:rPr lang="en" sz="1200" b="0" i="0" u="none" strike="noStrike" cap="none">
                <a:solidFill>
                  <a:srgbClr val="000000"/>
                </a:solidFill>
                <a:latin typeface="Arial"/>
                <a:ea typeface="Arial"/>
                <a:cs typeface="Arial"/>
                <a:sym typeface="Arial"/>
              </a:rPr>
              <a:t> from the user behind the </a:t>
            </a:r>
            <a:r>
              <a:rPr lang="en" sz="1200" b="0" i="0" u="none" strike="noStrike" cap="none">
                <a:solidFill>
                  <a:srgbClr val="000000"/>
                </a:solidFill>
                <a:latin typeface="Courier New"/>
                <a:ea typeface="Courier New"/>
                <a:cs typeface="Courier New"/>
                <a:sym typeface="Courier New"/>
              </a:rPr>
              <a:t>Graph</a:t>
            </a:r>
            <a:r>
              <a:rPr lang="en" sz="1200" b="0" i="0" u="none" strike="noStrike" cap="none">
                <a:solidFill>
                  <a:srgbClr val="000000"/>
                </a:solidFill>
                <a:latin typeface="Arial"/>
                <a:ea typeface="Arial"/>
                <a:cs typeface="Arial"/>
                <a:sym typeface="Arial"/>
              </a:rPr>
              <a:t> abstraction.</a:t>
            </a:r>
            <a:endParaRPr sz="1200" b="0" i="0" u="none" strike="noStrike" cap="none">
              <a:solidFill>
                <a:srgbClr val="000000"/>
              </a:solidFill>
              <a:latin typeface="Arial"/>
              <a:ea typeface="Arial"/>
              <a:cs typeface="Arial"/>
              <a:sym typeface="Arial"/>
            </a:endParaRPr>
          </a:p>
        </p:txBody>
      </p:sp>
      <p:sp>
        <p:nvSpPr>
          <p:cNvPr id="1076" name="Google Shape;1076;p52"/>
          <p:cNvSpPr txBox="1"/>
          <p:nvPr/>
        </p:nvSpPr>
        <p:spPr>
          <a:xfrm>
            <a:off x="6102925" y="2221738"/>
            <a:ext cx="2809200" cy="657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a value is added to the graph, a new vertex is created and the two are added to the map as the </a:t>
            </a:r>
            <a:r>
              <a:rPr lang="en" sz="1200" b="1" i="1" u="none" strike="noStrike" cap="none">
                <a:solidFill>
                  <a:srgbClr val="FF0000"/>
                </a:solidFill>
                <a:latin typeface="Arial"/>
                <a:ea typeface="Arial"/>
                <a:cs typeface="Arial"/>
                <a:sym typeface="Arial"/>
              </a:rPr>
              <a:t>key/value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9"/>
                                        </p:tgtEl>
                                        <p:attrNameLst>
                                          <p:attrName>style.visibility</p:attrName>
                                        </p:attrNameLst>
                                      </p:cBhvr>
                                      <p:to>
                                        <p:strVal val="visible"/>
                                      </p:to>
                                    </p:set>
                                    <p:animEffect transition="in" filter="fade">
                                      <p:cBhvr>
                                        <p:cTn id="7" dur="1000"/>
                                        <p:tgtEl>
                                          <p:spTgt spid="106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68"/>
                                        </p:tgtEl>
                                        <p:attrNameLst>
                                          <p:attrName>style.visibility</p:attrName>
                                        </p:attrNameLst>
                                      </p:cBhvr>
                                      <p:to>
                                        <p:strVal val="visible"/>
                                      </p:to>
                                    </p:set>
                                    <p:animEffect transition="in" filter="fade">
                                      <p:cBhvr>
                                        <p:cTn id="11" dur="1000"/>
                                        <p:tgtEl>
                                          <p:spTgt spid="106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71"/>
                                        </p:tgtEl>
                                        <p:attrNameLst>
                                          <p:attrName>style.visibility</p:attrName>
                                        </p:attrNameLst>
                                      </p:cBhvr>
                                      <p:to>
                                        <p:strVal val="visible"/>
                                      </p:to>
                                    </p:set>
                                    <p:animEffect transition="in" filter="fade">
                                      <p:cBhvr>
                                        <p:cTn id="16" dur="1000"/>
                                        <p:tgtEl>
                                          <p:spTgt spid="1071"/>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70"/>
                                        </p:tgtEl>
                                        <p:attrNameLst>
                                          <p:attrName>style.visibility</p:attrName>
                                        </p:attrNameLst>
                                      </p:cBhvr>
                                      <p:to>
                                        <p:strVal val="visible"/>
                                      </p:to>
                                    </p:set>
                                    <p:animEffect transition="in" filter="fade">
                                      <p:cBhvr>
                                        <p:cTn id="20" dur="1000"/>
                                        <p:tgtEl>
                                          <p:spTgt spid="107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74"/>
                                        </p:tgtEl>
                                        <p:attrNameLst>
                                          <p:attrName>style.visibility</p:attrName>
                                        </p:attrNameLst>
                                      </p:cBhvr>
                                      <p:to>
                                        <p:strVal val="visible"/>
                                      </p:to>
                                    </p:set>
                                    <p:animEffect transition="in" filter="fade">
                                      <p:cBhvr>
                                        <p:cTn id="25" dur="1000"/>
                                        <p:tgtEl>
                                          <p:spTgt spid="1074"/>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073"/>
                                        </p:tgtEl>
                                        <p:attrNameLst>
                                          <p:attrName>style.visibility</p:attrName>
                                        </p:attrNameLst>
                                      </p:cBhvr>
                                      <p:to>
                                        <p:strVal val="visible"/>
                                      </p:to>
                                    </p:set>
                                    <p:animEffect transition="in" filter="fade">
                                      <p:cBhvr>
                                        <p:cTn id="29" dur="1000"/>
                                        <p:tgtEl>
                                          <p:spTgt spid="107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76"/>
                                        </p:tgtEl>
                                        <p:attrNameLst>
                                          <p:attrName>style.visibility</p:attrName>
                                        </p:attrNameLst>
                                      </p:cBhvr>
                                      <p:to>
                                        <p:strVal val="visible"/>
                                      </p:to>
                                    </p:set>
                                    <p:animEffect transition="in" filter="fade">
                                      <p:cBhvr>
                                        <p:cTn id="34" dur="1000"/>
                                        <p:tgtEl>
                                          <p:spTgt spid="107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72"/>
                                        </p:tgtEl>
                                        <p:attrNameLst>
                                          <p:attrName>style.visibility</p:attrName>
                                        </p:attrNameLst>
                                      </p:cBhvr>
                                      <p:to>
                                        <p:strVal val="visible"/>
                                      </p:to>
                                    </p:set>
                                    <p:animEffect transition="in" filter="fade">
                                      <p:cBhvr>
                                        <p:cTn id="39" dur="1000"/>
                                        <p:tgtEl>
                                          <p:spTgt spid="107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75"/>
                                        </p:tgtEl>
                                        <p:attrNameLst>
                                          <p:attrName>style.visibility</p:attrName>
                                        </p:attrNameLst>
                                      </p:cBhvr>
                                      <p:to>
                                        <p:strVal val="visible"/>
                                      </p:to>
                                    </p:set>
                                    <p:animEffect transition="in" filter="fade">
                                      <p:cBhvr>
                                        <p:cTn id="44" dur="1000"/>
                                        <p:tgtEl>
                                          <p:spTgt spid="1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53"/>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fundamental building block of an </a:t>
            </a:r>
            <a:r>
              <a:rPr lang="en" i="1"/>
              <a:t>adjacency list</a:t>
            </a:r>
            <a:r>
              <a:rPr lang="en"/>
              <a:t> implementation of a Graph is the </a:t>
            </a:r>
            <a:r>
              <a:rPr lang="en" i="1"/>
              <a:t>Vertex</a:t>
            </a:r>
            <a:r>
              <a:rPr lang="en"/>
              <a:t>. Like the nodes used in other node-based structures that we have implemented, a vertex holds a value and keeps track of the other vertices to which it is connected. Let's create a generic Vertex class now.</a:t>
            </a:r>
            <a:endParaRPr/>
          </a:p>
        </p:txBody>
      </p:sp>
      <p:sp>
        <p:nvSpPr>
          <p:cNvPr id="1082" name="Google Shape;1082;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1083" name="Google Shape;1083;p5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Vertex Class</a:t>
            </a:r>
            <a:endParaRPr/>
          </a:p>
        </p:txBody>
      </p:sp>
      <p:sp>
        <p:nvSpPr>
          <p:cNvPr id="1084" name="Google Shape;1084;p5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12.5</a:t>
            </a:r>
            <a:endParaRPr/>
          </a:p>
        </p:txBody>
      </p:sp>
      <p:sp>
        <p:nvSpPr>
          <p:cNvPr id="1085" name="Google Shape;1085;p53"/>
          <p:cNvSpPr txBox="1">
            <a:spLocks noGrp="1"/>
          </p:cNvSpPr>
          <p:nvPr>
            <p:ph type="body" idx="2"/>
          </p:nvPr>
        </p:nvSpPr>
        <p:spPr>
          <a:xfrm>
            <a:off x="3273875" y="2012325"/>
            <a:ext cx="5659500" cy="27921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C</a:t>
            </a:r>
            <a:r>
              <a:rPr lang="en" sz="1500"/>
              <a:t>reate a new Java class named "</a:t>
            </a:r>
            <a:r>
              <a:rPr lang="en" sz="1500">
                <a:solidFill>
                  <a:srgbClr val="FF0000"/>
                </a:solidFill>
                <a:latin typeface="Courier New"/>
                <a:ea typeface="Courier New"/>
                <a:cs typeface="Courier New"/>
                <a:sym typeface="Courier New"/>
              </a:rPr>
              <a:t>Vertex</a:t>
            </a:r>
            <a:r>
              <a:rPr lang="en" sz="1500"/>
              <a:t>".</a:t>
            </a:r>
            <a:endParaRPr sz="1500"/>
          </a:p>
          <a:p>
            <a:pPr marL="914400" lvl="1" indent="-311150" algn="l" rtl="0">
              <a:lnSpc>
                <a:spcPct val="115000"/>
              </a:lnSpc>
              <a:spcBef>
                <a:spcPts val="0"/>
              </a:spcBef>
              <a:spcAft>
                <a:spcPts val="0"/>
              </a:spcAft>
              <a:buSzPts val="1300"/>
              <a:buChar char="○"/>
            </a:pPr>
            <a:r>
              <a:rPr lang="en" sz="1300"/>
              <a:t>Use the UML to the left to guide your implementation of your </a:t>
            </a:r>
            <a:r>
              <a:rPr lang="en" sz="1300">
                <a:latin typeface="Courier New"/>
                <a:ea typeface="Courier New"/>
                <a:cs typeface="Courier New"/>
                <a:sym typeface="Courier New"/>
              </a:rPr>
              <a:t>Vertex</a:t>
            </a:r>
            <a:r>
              <a:rPr lang="en" sz="1300"/>
              <a:t> class.</a:t>
            </a:r>
            <a:endParaRPr sz="1300"/>
          </a:p>
          <a:p>
            <a:pPr marL="914400" lvl="1" indent="-311150" algn="l" rtl="0">
              <a:lnSpc>
                <a:spcPct val="115000"/>
              </a:lnSpc>
              <a:spcBef>
                <a:spcPts val="0"/>
              </a:spcBef>
              <a:spcAft>
                <a:spcPts val="0"/>
              </a:spcAft>
              <a:buSzPts val="1300"/>
              <a:buChar char="○"/>
            </a:pPr>
            <a:r>
              <a:rPr lang="en" sz="1300"/>
              <a:t>Remember, </a:t>
            </a:r>
            <a:r>
              <a:rPr lang="en" sz="1300">
                <a:solidFill>
                  <a:srgbClr val="FF0000"/>
                </a:solidFill>
                <a:latin typeface="Courier New"/>
                <a:ea typeface="Courier New"/>
                <a:cs typeface="Courier New"/>
                <a:sym typeface="Courier New"/>
              </a:rPr>
              <a:t>Set</a:t>
            </a:r>
            <a:r>
              <a:rPr lang="en" sz="1300">
                <a:solidFill>
                  <a:srgbClr val="FF0000"/>
                </a:solidFill>
              </a:rPr>
              <a:t> </a:t>
            </a:r>
            <a:r>
              <a:rPr lang="en" sz="1300"/>
              <a:t>is a generic data structure, and so a </a:t>
            </a:r>
            <a:r>
              <a:rPr lang="en" sz="1300" b="1" i="1">
                <a:solidFill>
                  <a:srgbClr val="FF0000"/>
                </a:solidFill>
              </a:rPr>
              <a:t>type </a:t>
            </a:r>
            <a:r>
              <a:rPr lang="en" sz="1300"/>
              <a:t>must be specified for its</a:t>
            </a:r>
            <a:r>
              <a:rPr lang="en" sz="1300">
                <a:solidFill>
                  <a:srgbClr val="FF0000"/>
                </a:solidFill>
              </a:rPr>
              <a:t> </a:t>
            </a:r>
            <a:r>
              <a:rPr lang="en" sz="1300" b="1" i="1">
                <a:solidFill>
                  <a:srgbClr val="FF0000"/>
                </a:solidFill>
              </a:rPr>
              <a:t>type parameter</a:t>
            </a:r>
            <a:r>
              <a:rPr lang="en" sz="1300"/>
              <a:t>. In this case, </a:t>
            </a:r>
            <a:r>
              <a:rPr lang="en" sz="1300">
                <a:solidFill>
                  <a:srgbClr val="FF0000"/>
                </a:solidFill>
                <a:latin typeface="Courier New"/>
                <a:ea typeface="Courier New"/>
                <a:cs typeface="Courier New"/>
                <a:sym typeface="Courier New"/>
              </a:rPr>
              <a:t>neighbors</a:t>
            </a:r>
            <a:r>
              <a:rPr lang="en" sz="1300">
                <a:solidFill>
                  <a:srgbClr val="FF0000"/>
                </a:solidFill>
              </a:rPr>
              <a:t> </a:t>
            </a:r>
            <a:r>
              <a:rPr lang="en" sz="1300"/>
              <a:t>is a set of </a:t>
            </a:r>
            <a:r>
              <a:rPr lang="en" sz="1300" b="1" i="1">
                <a:solidFill>
                  <a:srgbClr val="FF0000"/>
                </a:solidFill>
              </a:rPr>
              <a:t>vertices </a:t>
            </a:r>
            <a:r>
              <a:rPr lang="en" sz="1300"/>
              <a:t>of the </a:t>
            </a:r>
            <a:r>
              <a:rPr lang="en" sz="1300" b="1" i="1">
                <a:solidFill>
                  <a:srgbClr val="FF0000"/>
                </a:solidFill>
              </a:rPr>
              <a:t>same type</a:t>
            </a:r>
            <a:r>
              <a:rPr lang="en" sz="1300"/>
              <a:t>, i.e. </a:t>
            </a:r>
            <a:r>
              <a:rPr lang="en" sz="1300">
                <a:solidFill>
                  <a:srgbClr val="FF0000"/>
                </a:solidFill>
                <a:latin typeface="Courier New"/>
                <a:ea typeface="Courier New"/>
                <a:cs typeface="Courier New"/>
                <a:sym typeface="Courier New"/>
              </a:rPr>
              <a:t>Vertex&lt;E&gt;</a:t>
            </a:r>
            <a:r>
              <a:rPr lang="en" sz="1300"/>
              <a:t>.</a:t>
            </a:r>
            <a:endParaRPr sz="1300"/>
          </a:p>
          <a:p>
            <a:pPr marL="457200" lvl="0" indent="-323850" algn="l" rtl="0">
              <a:lnSpc>
                <a:spcPct val="115000"/>
              </a:lnSpc>
              <a:spcBef>
                <a:spcPts val="0"/>
              </a:spcBef>
              <a:spcAft>
                <a:spcPts val="0"/>
              </a:spcAft>
              <a:buSzPts val="1500"/>
              <a:buChar char="●"/>
            </a:pPr>
            <a:r>
              <a:rPr lang="en" sz="1500" b="1" i="1">
                <a:solidFill>
                  <a:srgbClr val="FF0000"/>
                </a:solidFill>
              </a:rPr>
              <a:t>Rename </a:t>
            </a:r>
            <a:r>
              <a:rPr lang="en" sz="1500"/>
              <a:t>the provided </a:t>
            </a:r>
            <a:r>
              <a:rPr lang="en" sz="1500">
                <a:solidFill>
                  <a:srgbClr val="FF0000"/>
                </a:solidFill>
                <a:latin typeface="Courier New"/>
                <a:ea typeface="Courier New"/>
                <a:cs typeface="Courier New"/>
                <a:sym typeface="Courier New"/>
              </a:rPr>
              <a:t>VertexTest</a:t>
            </a:r>
            <a:r>
              <a:rPr lang="en" sz="1500"/>
              <a:t> and use it to </a:t>
            </a:r>
            <a:r>
              <a:rPr lang="en" sz="1500" b="1" i="1"/>
              <a:t>test</a:t>
            </a:r>
            <a:r>
              <a:rPr lang="en" sz="1500"/>
              <a:t> your </a:t>
            </a:r>
            <a:r>
              <a:rPr lang="en" sz="1500">
                <a:latin typeface="Courier New"/>
                <a:ea typeface="Courier New"/>
                <a:cs typeface="Courier New"/>
                <a:sym typeface="Courier New"/>
              </a:rPr>
              <a:t>Vertex</a:t>
            </a:r>
            <a:r>
              <a:rPr lang="en" sz="1500"/>
              <a:t> class.</a:t>
            </a:r>
            <a:endParaRPr sz="1500"/>
          </a:p>
          <a:p>
            <a:pPr marL="914400" lvl="1" indent="-311150" algn="l" rtl="0">
              <a:lnSpc>
                <a:spcPct val="115000"/>
              </a:lnSpc>
              <a:spcBef>
                <a:spcPts val="0"/>
              </a:spcBef>
              <a:spcAft>
                <a:spcPts val="0"/>
              </a:spcAft>
              <a:buSzPts val="1300"/>
              <a:buChar char="○"/>
            </a:pPr>
            <a:r>
              <a:rPr lang="en" sz="1300"/>
              <a:t>Be careful to run the individual test in order to avoid lots of failures.</a:t>
            </a:r>
            <a:endParaRPr sz="1300"/>
          </a:p>
        </p:txBody>
      </p:sp>
      <p:pic>
        <p:nvPicPr>
          <p:cNvPr id="1086" name="Google Shape;1086;p53"/>
          <p:cNvPicPr preferRelativeResize="0"/>
          <p:nvPr/>
        </p:nvPicPr>
        <p:blipFill>
          <a:blip r:embed="rId3">
            <a:alphaModFix/>
          </a:blip>
          <a:stretch>
            <a:fillRect/>
          </a:stretch>
        </p:blipFill>
        <p:spPr>
          <a:xfrm>
            <a:off x="152400" y="2164725"/>
            <a:ext cx="2969076" cy="19491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pic>
        <p:nvPicPr>
          <p:cNvPr id="1091" name="Google Shape;1091;p54"/>
          <p:cNvPicPr preferRelativeResize="0"/>
          <p:nvPr/>
        </p:nvPicPr>
        <p:blipFill rotWithShape="1">
          <a:blip r:embed="rId3">
            <a:alphaModFix/>
          </a:blip>
          <a:srcRect/>
          <a:stretch/>
        </p:blipFill>
        <p:spPr>
          <a:xfrm>
            <a:off x="65250" y="1970625"/>
            <a:ext cx="3346898" cy="2211450"/>
          </a:xfrm>
          <a:prstGeom prst="rect">
            <a:avLst/>
          </a:prstGeom>
          <a:noFill/>
          <a:ln>
            <a:noFill/>
          </a:ln>
        </p:spPr>
      </p:pic>
      <p:sp>
        <p:nvSpPr>
          <p:cNvPr id="1092" name="Google Shape;1092;p54"/>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have a working Vertex that keeps track of its neighbors, we can implement the Adjacency-List Graph. It will store vertices in a </a:t>
            </a:r>
            <a:r>
              <a:rPr lang="en">
                <a:latin typeface="Courier New"/>
                <a:ea typeface="Courier New"/>
                <a:cs typeface="Courier New"/>
                <a:sym typeface="Courier New"/>
              </a:rPr>
              <a:t>HashMap</a:t>
            </a:r>
            <a:r>
              <a:rPr lang="en"/>
              <a:t>, using each vertex's value as the key. Most of the essential functions will be implemented by storing and retrieving vertices from the map. </a:t>
            </a:r>
            <a:endParaRPr/>
          </a:p>
        </p:txBody>
      </p:sp>
      <p:sp>
        <p:nvSpPr>
          <p:cNvPr id="1093" name="Google Shape;1093;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1094" name="Google Shape;1094;p54"/>
          <p:cNvSpPr txBox="1">
            <a:spLocks noGrp="1"/>
          </p:cNvSpPr>
          <p:nvPr>
            <p:ph type="body" idx="2"/>
          </p:nvPr>
        </p:nvSpPr>
        <p:spPr>
          <a:xfrm>
            <a:off x="3518850" y="2013125"/>
            <a:ext cx="5422500" cy="2832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AdjacencyGraph</a:t>
            </a:r>
            <a:r>
              <a:rPr lang="en" dirty="0"/>
              <a:t>" that implements the </a:t>
            </a:r>
            <a:r>
              <a:rPr lang="en" dirty="0">
                <a:latin typeface="Courier New"/>
                <a:ea typeface="Courier New"/>
                <a:cs typeface="Courier New"/>
                <a:sym typeface="Courier New"/>
              </a:rPr>
              <a:t>Graph</a:t>
            </a:r>
            <a:r>
              <a:rPr lang="en" dirty="0"/>
              <a:t> interface.</a:t>
            </a:r>
            <a:endParaRPr dirty="0"/>
          </a:p>
          <a:p>
            <a:pPr marL="914400" lvl="1" indent="-298450" algn="l" rtl="0">
              <a:spcBef>
                <a:spcPts val="0"/>
              </a:spcBef>
              <a:spcAft>
                <a:spcPts val="0"/>
              </a:spcAft>
              <a:buSzPts val="1100"/>
              <a:buChar char="○"/>
            </a:pPr>
            <a:r>
              <a:rPr lang="en" dirty="0"/>
              <a:t>Use the UML to the left as a guide in implementing your adjacency graph.</a:t>
            </a:r>
            <a:endParaRPr dirty="0"/>
          </a:p>
          <a:p>
            <a:pPr marL="914400" lvl="1" indent="-298450" algn="l" rtl="0">
              <a:spcBef>
                <a:spcPts val="0"/>
              </a:spcBef>
              <a:spcAft>
                <a:spcPts val="0"/>
              </a:spcAft>
              <a:buSzPts val="1100"/>
              <a:buChar char="○"/>
            </a:pPr>
            <a:r>
              <a:rPr lang="en" dirty="0"/>
              <a:t>For now focus on:</a:t>
            </a:r>
            <a:endParaRPr dirty="0"/>
          </a:p>
          <a:p>
            <a:pPr marL="1371600" lvl="2" indent="-298450" algn="l" rtl="0">
              <a:spcBef>
                <a:spcPts val="0"/>
              </a:spcBef>
              <a:spcAft>
                <a:spcPts val="0"/>
              </a:spcAft>
              <a:buSzPts val="1100"/>
              <a:buChar char="■"/>
            </a:pPr>
            <a:r>
              <a:rPr lang="en" b="1" i="1" dirty="0">
                <a:solidFill>
                  <a:srgbClr val="FF0000"/>
                </a:solidFill>
              </a:rPr>
              <a:t>Fields</a:t>
            </a:r>
            <a:endParaRPr b="1" i="1" dirty="0">
              <a:solidFill>
                <a:srgbClr val="FF0000"/>
              </a:solidFill>
            </a:endParaRPr>
          </a:p>
          <a:p>
            <a:pPr marL="1371600" lvl="2" indent="-298450" algn="l" rtl="0">
              <a:spcBef>
                <a:spcPts val="0"/>
              </a:spcBef>
              <a:spcAft>
                <a:spcPts val="0"/>
              </a:spcAft>
              <a:buSzPts val="1100"/>
              <a:buChar char="■"/>
            </a:pPr>
            <a:r>
              <a:rPr lang="en" b="1" i="1" dirty="0">
                <a:solidFill>
                  <a:srgbClr val="FF0000"/>
                </a:solidFill>
              </a:rPr>
              <a:t>Constructors</a:t>
            </a:r>
            <a:endParaRPr b="1" i="1" dirty="0">
              <a:solidFill>
                <a:srgbClr val="FF0000"/>
              </a:solidFill>
            </a:endParaRPr>
          </a:p>
          <a:p>
            <a:pPr marL="1371600" lvl="2" indent="-298450" algn="l" rtl="0">
              <a:spcBef>
                <a:spcPts val="0"/>
              </a:spcBef>
              <a:spcAft>
                <a:spcPts val="0"/>
              </a:spcAft>
              <a:buSzPts val="1100"/>
              <a:buChar char="■"/>
            </a:pPr>
            <a:r>
              <a:rPr lang="en" dirty="0"/>
              <a:t>The </a:t>
            </a:r>
            <a:r>
              <a:rPr lang="en" dirty="0">
                <a:solidFill>
                  <a:srgbClr val="FF0000"/>
                </a:solidFill>
                <a:latin typeface="Courier New"/>
                <a:ea typeface="Courier New"/>
                <a:cs typeface="Courier New"/>
                <a:sym typeface="Courier New"/>
              </a:rPr>
              <a:t>add</a:t>
            </a:r>
            <a:r>
              <a:rPr lang="en" dirty="0"/>
              <a:t>, </a:t>
            </a:r>
            <a:r>
              <a:rPr lang="en" dirty="0">
                <a:solidFill>
                  <a:srgbClr val="FF0000"/>
                </a:solidFill>
                <a:latin typeface="Courier New"/>
                <a:ea typeface="Courier New"/>
                <a:cs typeface="Courier New"/>
                <a:sym typeface="Courier New"/>
              </a:rPr>
              <a:t>contains</a:t>
            </a:r>
            <a:r>
              <a:rPr lang="en" dirty="0"/>
              <a:t>, and </a:t>
            </a:r>
            <a:r>
              <a:rPr lang="en" dirty="0">
                <a:solidFill>
                  <a:srgbClr val="FF0000"/>
                </a:solidFill>
                <a:latin typeface="Courier New"/>
                <a:ea typeface="Courier New"/>
                <a:cs typeface="Courier New"/>
                <a:sym typeface="Courier New"/>
              </a:rPr>
              <a:t>size</a:t>
            </a:r>
            <a:r>
              <a:rPr lang="en" dirty="0">
                <a:solidFill>
                  <a:srgbClr val="FF0000"/>
                </a:solidFill>
              </a:rPr>
              <a:t> </a:t>
            </a:r>
            <a:r>
              <a:rPr lang="en" dirty="0"/>
              <a:t>methods.</a:t>
            </a:r>
            <a:endParaRPr dirty="0"/>
          </a:p>
          <a:p>
            <a:pPr marL="914400" lvl="1" indent="-298450" algn="l" rtl="0">
              <a:spcBef>
                <a:spcPts val="0"/>
              </a:spcBef>
              <a:spcAft>
                <a:spcPts val="0"/>
              </a:spcAft>
              <a:buSzPts val="1100"/>
              <a:buChar char="○"/>
            </a:pPr>
            <a:r>
              <a:rPr lang="en" dirty="0"/>
              <a:t>Stub out any remaining methods.</a:t>
            </a:r>
            <a:endParaRPr dirty="0"/>
          </a:p>
          <a:p>
            <a:pPr marL="457200" lvl="0" indent="-311150" algn="l" rtl="0">
              <a:spcBef>
                <a:spcPts val="0"/>
              </a:spcBef>
              <a:spcAft>
                <a:spcPts val="0"/>
              </a:spcAft>
              <a:buSzPts val="1300"/>
              <a:buChar char="●"/>
            </a:pPr>
            <a:r>
              <a:rPr lang="en" b="1" i="1" dirty="0">
                <a:solidFill>
                  <a:srgbClr val="FF0000"/>
                </a:solidFill>
              </a:rPr>
              <a:t>Rename </a:t>
            </a:r>
            <a:r>
              <a:rPr lang="en" dirty="0"/>
              <a:t>the provided </a:t>
            </a:r>
            <a:r>
              <a:rPr lang="en" dirty="0">
                <a:solidFill>
                  <a:srgbClr val="FF0000"/>
                </a:solidFill>
                <a:latin typeface="Courier New"/>
                <a:ea typeface="Courier New"/>
                <a:cs typeface="Courier New"/>
                <a:sym typeface="Courier New"/>
              </a:rPr>
              <a:t>AdjacencyGraphTest</a:t>
            </a:r>
            <a:r>
              <a:rPr lang="en" dirty="0"/>
              <a:t> and use it to </a:t>
            </a:r>
            <a:r>
              <a:rPr lang="en" b="1" i="1" dirty="0"/>
              <a:t>test</a:t>
            </a:r>
            <a:r>
              <a:rPr lang="en" b="1" dirty="0"/>
              <a:t> </a:t>
            </a:r>
            <a:r>
              <a:rPr lang="en" dirty="0"/>
              <a:t>your implementation.</a:t>
            </a:r>
            <a:endParaRPr dirty="0"/>
          </a:p>
          <a:p>
            <a:pPr marL="914400" lvl="1" indent="-298450" algn="l" rtl="0">
              <a:spcBef>
                <a:spcPts val="0"/>
              </a:spcBef>
              <a:spcAft>
                <a:spcPts val="0"/>
              </a:spcAft>
              <a:buSzPts val="1100"/>
              <a:buChar char="○"/>
            </a:pPr>
            <a:r>
              <a:rPr lang="en" dirty="0"/>
              <a:t>Some tests will </a:t>
            </a:r>
            <a:r>
              <a:rPr lang="en" b="1" i="1" dirty="0">
                <a:solidFill>
                  <a:srgbClr val="FF0000"/>
                </a:solidFill>
              </a:rPr>
              <a:t>fail</a:t>
            </a:r>
            <a:r>
              <a:rPr lang="en" dirty="0">
                <a:solidFill>
                  <a:srgbClr val="FF0000"/>
                </a:solidFill>
              </a:rPr>
              <a:t> </a:t>
            </a:r>
            <a:r>
              <a:rPr lang="en" dirty="0"/>
              <a:t>because you have only implemented some of the methods in the </a:t>
            </a:r>
            <a:r>
              <a:rPr lang="en" dirty="0">
                <a:latin typeface="Courier New"/>
                <a:ea typeface="Courier New"/>
                <a:cs typeface="Courier New"/>
                <a:sym typeface="Courier New"/>
              </a:rPr>
              <a:t>Graph</a:t>
            </a:r>
            <a:r>
              <a:rPr lang="en" dirty="0"/>
              <a:t> interface.</a:t>
            </a:r>
            <a:endParaRPr dirty="0"/>
          </a:p>
        </p:txBody>
      </p:sp>
      <p:sp>
        <p:nvSpPr>
          <p:cNvPr id="1095" name="Google Shape;1095;p5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Implementing An Adjacency Graph</a:t>
            </a:r>
            <a:endParaRPr/>
          </a:p>
        </p:txBody>
      </p:sp>
      <p:sp>
        <p:nvSpPr>
          <p:cNvPr id="1096" name="Google Shape;1096;p5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5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have only partially implemented the Adjacency-List Graph. Let's complete it by implementing the remaining methods inherited from the Graph interface. When it is completed, all of the tests in the </a:t>
            </a:r>
            <a:r>
              <a:rPr lang="en">
                <a:latin typeface="Courier New"/>
                <a:ea typeface="Courier New"/>
                <a:cs typeface="Courier New"/>
                <a:sym typeface="Courier New"/>
              </a:rPr>
              <a:t>AdjacencyGraphTest</a:t>
            </a:r>
            <a:r>
              <a:rPr lang="en"/>
              <a:t> JUnit test should pass.</a:t>
            </a:r>
            <a:endParaRPr/>
          </a:p>
        </p:txBody>
      </p:sp>
      <p:sp>
        <p:nvSpPr>
          <p:cNvPr id="1102" name="Google Shape;1102;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1103" name="Google Shape;1103;p55"/>
          <p:cNvSpPr txBox="1">
            <a:spLocks noGrp="1"/>
          </p:cNvSpPr>
          <p:nvPr>
            <p:ph type="body" idx="2"/>
          </p:nvPr>
        </p:nvSpPr>
        <p:spPr>
          <a:xfrm>
            <a:off x="3550125" y="1784525"/>
            <a:ext cx="5467200" cy="2827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solidFill>
                  <a:srgbClr val="FF0000"/>
                </a:solidFill>
                <a:latin typeface="Courier New"/>
                <a:ea typeface="Courier New"/>
                <a:cs typeface="Courier New"/>
                <a:sym typeface="Courier New"/>
              </a:rPr>
              <a:t>AdjacencyGraph</a:t>
            </a:r>
            <a:r>
              <a:rPr lang="en" sz="1500"/>
              <a:t> class and complete the implementation of your adjacency graph.</a:t>
            </a:r>
            <a:endParaRPr sz="1500"/>
          </a:p>
          <a:p>
            <a:pPr marL="914400" lvl="1" indent="-311150" algn="l" rtl="0">
              <a:spcBef>
                <a:spcPts val="0"/>
              </a:spcBef>
              <a:spcAft>
                <a:spcPts val="0"/>
              </a:spcAft>
              <a:buSzPts val="1300"/>
              <a:buChar char="○"/>
            </a:pPr>
            <a:r>
              <a:rPr lang="en" sz="1300"/>
              <a:t>Implement the </a:t>
            </a:r>
            <a:r>
              <a:rPr lang="en" sz="1300">
                <a:solidFill>
                  <a:srgbClr val="FF0000"/>
                </a:solidFill>
                <a:latin typeface="Courier New"/>
                <a:ea typeface="Courier New"/>
                <a:cs typeface="Courier New"/>
                <a:sym typeface="Courier New"/>
              </a:rPr>
              <a:t>connectDirected</a:t>
            </a:r>
            <a:r>
              <a:rPr lang="en" sz="1300">
                <a:solidFill>
                  <a:srgbClr val="FF0000"/>
                </a:solidFill>
              </a:rPr>
              <a:t> </a:t>
            </a:r>
            <a:r>
              <a:rPr lang="en" sz="1300"/>
              <a:t>method.</a:t>
            </a:r>
            <a:endParaRPr sz="1300"/>
          </a:p>
          <a:p>
            <a:pPr marL="914400" lvl="1" indent="-311150" algn="l" rtl="0">
              <a:spcBef>
                <a:spcPts val="0"/>
              </a:spcBef>
              <a:spcAft>
                <a:spcPts val="0"/>
              </a:spcAft>
              <a:buSzPts val="1300"/>
              <a:buChar char="○"/>
            </a:pPr>
            <a:r>
              <a:rPr lang="en" sz="1300"/>
              <a:t>Implement the </a:t>
            </a:r>
            <a:r>
              <a:rPr lang="en" sz="1300">
                <a:solidFill>
                  <a:srgbClr val="FF0000"/>
                </a:solidFill>
                <a:latin typeface="Courier New"/>
                <a:ea typeface="Courier New"/>
                <a:cs typeface="Courier New"/>
                <a:sym typeface="Courier New"/>
              </a:rPr>
              <a:t>connectUndirected</a:t>
            </a:r>
            <a:r>
              <a:rPr lang="en" sz="1300">
                <a:solidFill>
                  <a:srgbClr val="FF0000"/>
                </a:solidFill>
              </a:rPr>
              <a:t> </a:t>
            </a:r>
            <a:r>
              <a:rPr lang="en" sz="1300"/>
              <a:t>method.</a:t>
            </a:r>
            <a:endParaRPr sz="1300"/>
          </a:p>
          <a:p>
            <a:pPr marL="914400" lvl="1" indent="-311150" algn="l" rtl="0">
              <a:spcBef>
                <a:spcPts val="0"/>
              </a:spcBef>
              <a:spcAft>
                <a:spcPts val="0"/>
              </a:spcAft>
              <a:buSzPts val="1300"/>
              <a:buChar char="○"/>
            </a:pPr>
            <a:r>
              <a:rPr lang="en" sz="1300"/>
              <a:t>Implement the </a:t>
            </a:r>
            <a:r>
              <a:rPr lang="en" sz="1300">
                <a:solidFill>
                  <a:srgbClr val="FF0000"/>
                </a:solidFill>
                <a:latin typeface="Courier New"/>
                <a:ea typeface="Courier New"/>
                <a:cs typeface="Courier New"/>
                <a:sym typeface="Courier New"/>
              </a:rPr>
              <a:t>connected</a:t>
            </a:r>
            <a:r>
              <a:rPr lang="en" sz="1300"/>
              <a:t> method, i.e. return </a:t>
            </a:r>
            <a:r>
              <a:rPr lang="en" sz="1300">
                <a:latin typeface="Courier New"/>
                <a:ea typeface="Courier New"/>
                <a:cs typeface="Courier New"/>
                <a:sym typeface="Courier New"/>
              </a:rPr>
              <a:t>true</a:t>
            </a:r>
            <a:r>
              <a:rPr lang="en" sz="1300"/>
              <a:t> if </a:t>
            </a:r>
            <a:r>
              <a:rPr lang="en" sz="1300">
                <a:latin typeface="Courier New"/>
                <a:ea typeface="Courier New"/>
                <a:cs typeface="Courier New"/>
                <a:sym typeface="Courier New"/>
              </a:rPr>
              <a:t>a</a:t>
            </a:r>
            <a:r>
              <a:rPr lang="en" sz="1300"/>
              <a:t> is connected to </a:t>
            </a:r>
            <a:r>
              <a:rPr lang="en" sz="1300">
                <a:latin typeface="Courier New"/>
                <a:ea typeface="Courier New"/>
                <a:cs typeface="Courier New"/>
                <a:sym typeface="Courier New"/>
              </a:rPr>
              <a:t>b</a:t>
            </a:r>
            <a:r>
              <a:rPr lang="en" sz="1300"/>
              <a:t>. </a:t>
            </a:r>
            <a:r>
              <a:rPr lang="en" sz="1300" b="1" i="1">
                <a:solidFill>
                  <a:srgbClr val="FF0000"/>
                </a:solidFill>
              </a:rPr>
              <a:t>Do not</a:t>
            </a:r>
            <a:r>
              <a:rPr lang="en" sz="1300"/>
              <a:t> check to see if </a:t>
            </a:r>
            <a:r>
              <a:rPr lang="en" sz="1300">
                <a:latin typeface="Courier New"/>
                <a:ea typeface="Courier New"/>
                <a:cs typeface="Courier New"/>
                <a:sym typeface="Courier New"/>
              </a:rPr>
              <a:t>b</a:t>
            </a:r>
            <a:r>
              <a:rPr lang="en" sz="1300"/>
              <a:t> is connected to </a:t>
            </a:r>
            <a:r>
              <a:rPr lang="en" sz="1300">
                <a:latin typeface="Courier New"/>
                <a:ea typeface="Courier New"/>
                <a:cs typeface="Courier New"/>
                <a:sym typeface="Courier New"/>
              </a:rPr>
              <a:t>a</a:t>
            </a:r>
            <a:r>
              <a:rPr lang="en" sz="1300"/>
              <a:t>.</a:t>
            </a:r>
            <a:endParaRPr sz="1300"/>
          </a:p>
          <a:p>
            <a:pPr marL="1371600" lvl="2" indent="-311150" algn="l" rtl="0">
              <a:spcBef>
                <a:spcPts val="0"/>
              </a:spcBef>
              <a:spcAft>
                <a:spcPts val="0"/>
              </a:spcAft>
              <a:buSzPts val="1300"/>
              <a:buChar char="■"/>
            </a:pPr>
            <a:r>
              <a:rPr lang="en" sz="1300" b="1" i="1">
                <a:solidFill>
                  <a:srgbClr val="FF0000"/>
                </a:solidFill>
              </a:rPr>
              <a:t>Hint</a:t>
            </a:r>
            <a:r>
              <a:rPr lang="en" sz="1300"/>
              <a:t>: Use the </a:t>
            </a:r>
            <a:r>
              <a:rPr lang="en" sz="1300">
                <a:solidFill>
                  <a:srgbClr val="FF0000"/>
                </a:solidFill>
                <a:latin typeface="Courier New"/>
                <a:ea typeface="Courier New"/>
                <a:cs typeface="Courier New"/>
                <a:sym typeface="Courier New"/>
              </a:rPr>
              <a:t>connected</a:t>
            </a:r>
            <a:r>
              <a:rPr lang="en" sz="1300">
                <a:solidFill>
                  <a:srgbClr val="FF0000"/>
                </a:solidFill>
              </a:rPr>
              <a:t> </a:t>
            </a:r>
            <a:r>
              <a:rPr lang="en" sz="1300"/>
              <a:t>method in the </a:t>
            </a:r>
            <a:r>
              <a:rPr lang="en" sz="1300">
                <a:latin typeface="Courier New"/>
                <a:ea typeface="Courier New"/>
                <a:cs typeface="Courier New"/>
                <a:sym typeface="Courier New"/>
              </a:rPr>
              <a:t>Vertex</a:t>
            </a:r>
            <a:r>
              <a:rPr lang="en" sz="1300"/>
              <a:t> class.</a:t>
            </a:r>
            <a:endParaRPr sz="1300"/>
          </a:p>
          <a:p>
            <a:pPr marL="457200" lvl="0" indent="-323850" algn="l" rtl="0">
              <a:spcBef>
                <a:spcPts val="0"/>
              </a:spcBef>
              <a:spcAft>
                <a:spcPts val="0"/>
              </a:spcAft>
              <a:buSzPts val="1500"/>
              <a:buChar char="●"/>
            </a:pPr>
            <a:r>
              <a:rPr lang="en" sz="1500" b="1" i="1">
                <a:solidFill>
                  <a:srgbClr val="FF0000"/>
                </a:solidFill>
              </a:rPr>
              <a:t>Test </a:t>
            </a:r>
            <a:r>
              <a:rPr lang="en" sz="1500"/>
              <a:t>your class using the provided </a:t>
            </a:r>
            <a:r>
              <a:rPr lang="en" sz="1500">
                <a:solidFill>
                  <a:srgbClr val="FF0000"/>
                </a:solidFill>
                <a:latin typeface="Courier New"/>
                <a:ea typeface="Courier New"/>
                <a:cs typeface="Courier New"/>
                <a:sym typeface="Courier New"/>
              </a:rPr>
              <a:t>AdjacencyGraphTest</a:t>
            </a:r>
            <a:r>
              <a:rPr lang="en" sz="1500"/>
              <a:t>.</a:t>
            </a:r>
            <a:endParaRPr sz="1500"/>
          </a:p>
          <a:p>
            <a:pPr marL="914400" lvl="1" indent="-311150" algn="l" rtl="0">
              <a:spcBef>
                <a:spcPts val="0"/>
              </a:spcBef>
              <a:spcAft>
                <a:spcPts val="0"/>
              </a:spcAft>
              <a:buSzPts val="1300"/>
              <a:buChar char="○"/>
            </a:pPr>
            <a:r>
              <a:rPr lang="en" sz="1300"/>
              <a:t>All tests should now </a:t>
            </a:r>
            <a:r>
              <a:rPr lang="en" sz="1300" b="1" i="1">
                <a:solidFill>
                  <a:srgbClr val="FF0000"/>
                </a:solidFill>
              </a:rPr>
              <a:t>pass</a:t>
            </a:r>
            <a:r>
              <a:rPr lang="en" sz="1300"/>
              <a:t>.</a:t>
            </a:r>
            <a:endParaRPr sz="1300"/>
          </a:p>
        </p:txBody>
      </p:sp>
      <p:sp>
        <p:nvSpPr>
          <p:cNvPr id="1104" name="Google Shape;1104;p5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Finish the Adjacency Graph</a:t>
            </a:r>
            <a:endParaRPr/>
          </a:p>
        </p:txBody>
      </p:sp>
      <p:sp>
        <p:nvSpPr>
          <p:cNvPr id="1105" name="Google Shape;1105;p5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12.7</a:t>
            </a:r>
            <a:endParaRPr/>
          </a:p>
        </p:txBody>
      </p:sp>
      <p:pic>
        <p:nvPicPr>
          <p:cNvPr id="1106" name="Google Shape;1106;p55"/>
          <p:cNvPicPr preferRelativeResize="0"/>
          <p:nvPr/>
        </p:nvPicPr>
        <p:blipFill rotWithShape="1">
          <a:blip r:embed="rId3">
            <a:alphaModFix/>
          </a:blip>
          <a:srcRect/>
          <a:stretch/>
        </p:blipFill>
        <p:spPr>
          <a:xfrm>
            <a:off x="215300" y="1886636"/>
            <a:ext cx="3346898" cy="2211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5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will spend the remainder of this unit implementing several algorithms that work with the data stored inside of a graph. We'll need to build a graph so that we can test the algorithms to see if they are working as expected. </a:t>
            </a:r>
            <a:endParaRPr/>
          </a:p>
        </p:txBody>
      </p:sp>
      <p:sp>
        <p:nvSpPr>
          <p:cNvPr id="1112" name="Google Shape;1112;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1113" name="Google Shape;1113;p56"/>
          <p:cNvSpPr txBox="1">
            <a:spLocks noGrp="1"/>
          </p:cNvSpPr>
          <p:nvPr>
            <p:ph type="body" idx="2"/>
          </p:nvPr>
        </p:nvSpPr>
        <p:spPr>
          <a:xfrm>
            <a:off x="2941025" y="1936925"/>
            <a:ext cx="5923800" cy="21102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Create a new Java class named "</a:t>
            </a:r>
            <a:r>
              <a:rPr lang="en" sz="1700" dirty="0">
                <a:latin typeface="Courier New"/>
                <a:ea typeface="Courier New"/>
                <a:cs typeface="Courier New"/>
                <a:sym typeface="Courier New"/>
              </a:rPr>
              <a:t>Graphs</a:t>
            </a:r>
            <a:r>
              <a:rPr lang="en" sz="1700" dirty="0"/>
              <a:t>" and define a </a:t>
            </a:r>
            <a:r>
              <a:rPr lang="en" sz="1700" b="1" i="1" dirty="0">
                <a:solidFill>
                  <a:srgbClr val="FF0000"/>
                </a:solidFill>
              </a:rPr>
              <a:t>static </a:t>
            </a:r>
            <a:r>
              <a:rPr lang="en" sz="1700" dirty="0"/>
              <a:t>method called </a:t>
            </a:r>
            <a:r>
              <a:rPr lang="en" sz="1700" dirty="0">
                <a:solidFill>
                  <a:srgbClr val="FF0000"/>
                </a:solidFill>
                <a:latin typeface="Courier New"/>
                <a:ea typeface="Courier New"/>
                <a:cs typeface="Courier New"/>
                <a:sym typeface="Courier New"/>
              </a:rPr>
              <a:t>makeGraph</a:t>
            </a:r>
            <a:r>
              <a:rPr lang="en" sz="1700" dirty="0"/>
              <a:t>. </a:t>
            </a:r>
            <a:endParaRPr sz="1700" dirty="0"/>
          </a:p>
          <a:p>
            <a:pPr marL="914400" lvl="1" indent="-323850" algn="l" rtl="0">
              <a:spcBef>
                <a:spcPts val="0"/>
              </a:spcBef>
              <a:spcAft>
                <a:spcPts val="0"/>
              </a:spcAft>
              <a:buSzPts val="1500"/>
              <a:buChar char="○"/>
            </a:pPr>
            <a:r>
              <a:rPr lang="en" sz="1500" dirty="0"/>
              <a:t>Create an </a:t>
            </a:r>
            <a:r>
              <a:rPr lang="en" sz="1500" b="1" i="1" dirty="0">
                <a:solidFill>
                  <a:srgbClr val="FF0000"/>
                </a:solidFill>
              </a:rPr>
              <a:t>empty </a:t>
            </a:r>
            <a:r>
              <a:rPr lang="en" sz="1500" dirty="0">
                <a:solidFill>
                  <a:srgbClr val="FF0000"/>
                </a:solidFill>
                <a:latin typeface="Courier New"/>
                <a:ea typeface="Courier New"/>
                <a:cs typeface="Courier New"/>
                <a:sym typeface="Courier New"/>
              </a:rPr>
              <a:t>AdjacencyGraph</a:t>
            </a:r>
            <a:r>
              <a:rPr lang="en" sz="1500" dirty="0">
                <a:solidFill>
                  <a:srgbClr val="FF0000"/>
                </a:solidFill>
              </a:rPr>
              <a:t> </a:t>
            </a:r>
            <a:r>
              <a:rPr lang="en" sz="1500" b="1" i="1" dirty="0">
                <a:solidFill>
                  <a:srgbClr val="FF0000"/>
                </a:solidFill>
              </a:rPr>
              <a:t>of</a:t>
            </a:r>
            <a:r>
              <a:rPr lang="en" sz="1500" dirty="0">
                <a:solidFill>
                  <a:srgbClr val="FF0000"/>
                </a:solidFill>
              </a:rPr>
              <a:t> </a:t>
            </a:r>
            <a:r>
              <a:rPr lang="en" sz="1500" dirty="0">
                <a:solidFill>
                  <a:srgbClr val="FF0000"/>
                </a:solidFill>
                <a:latin typeface="Courier New"/>
                <a:ea typeface="Courier New"/>
                <a:cs typeface="Courier New"/>
                <a:sym typeface="Courier New"/>
              </a:rPr>
              <a:t>String</a:t>
            </a:r>
            <a:r>
              <a:rPr lang="en" sz="1500" b="1" i="1" dirty="0">
                <a:solidFill>
                  <a:srgbClr val="FF0000"/>
                </a:solidFill>
              </a:rPr>
              <a:t> values</a:t>
            </a:r>
            <a:r>
              <a:rPr lang="en" sz="1500" dirty="0"/>
              <a:t>.</a:t>
            </a:r>
            <a:endParaRPr sz="1500" dirty="0"/>
          </a:p>
          <a:p>
            <a:pPr marL="914400" lvl="1" indent="-323850" algn="l" rtl="0">
              <a:spcBef>
                <a:spcPts val="0"/>
              </a:spcBef>
              <a:spcAft>
                <a:spcPts val="0"/>
              </a:spcAft>
              <a:buSzPts val="1500"/>
              <a:buChar char="○"/>
            </a:pPr>
            <a:r>
              <a:rPr lang="en" sz="1500" dirty="0"/>
              <a:t>Write the necessary code to </a:t>
            </a:r>
            <a:r>
              <a:rPr lang="en" sz="1500" b="1" i="1" dirty="0">
                <a:solidFill>
                  <a:srgbClr val="FF0000"/>
                </a:solidFill>
              </a:rPr>
              <a:t>build </a:t>
            </a:r>
            <a:r>
              <a:rPr lang="en" sz="1500" dirty="0"/>
              <a:t>the graph depicted to the left.</a:t>
            </a:r>
            <a:endParaRPr sz="1500" dirty="0"/>
          </a:p>
          <a:p>
            <a:pPr marL="914400" lvl="1" indent="-323850" algn="l" rtl="0">
              <a:spcBef>
                <a:spcPts val="0"/>
              </a:spcBef>
              <a:spcAft>
                <a:spcPts val="0"/>
              </a:spcAft>
              <a:buSzPts val="1500"/>
              <a:buChar char="○"/>
            </a:pPr>
            <a:r>
              <a:rPr lang="en" sz="1500" b="1" i="1" dirty="0">
                <a:solidFill>
                  <a:srgbClr val="FF0000"/>
                </a:solidFill>
              </a:rPr>
              <a:t>Return</a:t>
            </a:r>
            <a:r>
              <a:rPr lang="en" sz="1500" dirty="0"/>
              <a:t> the graph.</a:t>
            </a:r>
            <a:endParaRPr sz="1500" dirty="0"/>
          </a:p>
          <a:p>
            <a:pPr marL="457200" lvl="0" indent="-336550" algn="l" rtl="0">
              <a:spcBef>
                <a:spcPts val="0"/>
              </a:spcBef>
              <a:spcAft>
                <a:spcPts val="0"/>
              </a:spcAft>
              <a:buSzPts val="1700"/>
              <a:buChar char="●"/>
            </a:pPr>
            <a:r>
              <a:rPr lang="en" sz="1700" b="1" i="1" dirty="0">
                <a:solidFill>
                  <a:srgbClr val="FF0000"/>
                </a:solidFill>
              </a:rPr>
              <a:t>Test</a:t>
            </a:r>
            <a:r>
              <a:rPr lang="en" sz="1700" dirty="0">
                <a:solidFill>
                  <a:srgbClr val="FF0000"/>
                </a:solidFill>
              </a:rPr>
              <a:t> </a:t>
            </a:r>
            <a:r>
              <a:rPr lang="en" sz="1700" dirty="0"/>
              <a:t>your code with the provided </a:t>
            </a:r>
            <a:r>
              <a:rPr lang="en" sz="1700" dirty="0">
                <a:solidFill>
                  <a:srgbClr val="FF0000"/>
                </a:solidFill>
                <a:latin typeface="Courier New"/>
                <a:ea typeface="Courier New"/>
                <a:cs typeface="Courier New"/>
                <a:sym typeface="Courier New"/>
              </a:rPr>
              <a:t>GraphsTest</a:t>
            </a:r>
            <a:r>
              <a:rPr lang="en" sz="1700" dirty="0"/>
              <a:t>.</a:t>
            </a:r>
            <a:endParaRPr sz="1700" dirty="0"/>
          </a:p>
        </p:txBody>
      </p:sp>
      <p:sp>
        <p:nvSpPr>
          <p:cNvPr id="1114" name="Google Shape;1114;p5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Building a Graph</a:t>
            </a:r>
            <a:endParaRPr/>
          </a:p>
        </p:txBody>
      </p:sp>
      <p:sp>
        <p:nvSpPr>
          <p:cNvPr id="1115" name="Google Shape;1115;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12.8</a:t>
            </a:r>
            <a:endParaRPr/>
          </a:p>
        </p:txBody>
      </p:sp>
      <p:pic>
        <p:nvPicPr>
          <p:cNvPr id="1116" name="Google Shape;1116;p56"/>
          <p:cNvPicPr preferRelativeResize="0"/>
          <p:nvPr/>
        </p:nvPicPr>
        <p:blipFill rotWithShape="1">
          <a:blip r:embed="rId3">
            <a:alphaModFix/>
          </a:blip>
          <a:srcRect/>
          <a:stretch/>
        </p:blipFill>
        <p:spPr>
          <a:xfrm>
            <a:off x="152400" y="1773175"/>
            <a:ext cx="2483725" cy="2884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57"/>
          <p:cNvSpPr txBox="1">
            <a:spLocks noGrp="1"/>
          </p:cNvSpPr>
          <p:nvPr>
            <p:ph type="body" idx="1"/>
          </p:nvPr>
        </p:nvSpPr>
        <p:spPr>
          <a:xfrm>
            <a:off x="90450" y="-32475"/>
            <a:ext cx="4699500" cy="5175000"/>
          </a:xfrm>
          <a:prstGeom prst="rect">
            <a:avLst/>
          </a:prstGeom>
          <a:noFill/>
          <a:ln>
            <a:noFill/>
          </a:ln>
        </p:spPr>
        <p:txBody>
          <a:bodyPr spcFirstLastPara="1" wrap="square" lIns="91425" tIns="91425" rIns="91425" bIns="91425" anchor="ctr" anchorCtr="0">
            <a:spAutoFit/>
          </a:bodyPr>
          <a:lstStyle/>
          <a:p>
            <a:pPr marL="457200" lvl="0" indent="-304800" algn="l" rtl="0">
              <a:lnSpc>
                <a:spcPct val="115000"/>
              </a:lnSpc>
              <a:spcBef>
                <a:spcPts val="0"/>
              </a:spcBef>
              <a:spcAft>
                <a:spcPts val="0"/>
              </a:spcAft>
              <a:buSzPts val="1200"/>
              <a:buChar char="●"/>
            </a:pPr>
            <a:r>
              <a:rPr lang="en" sz="1200" dirty="0">
                <a:highlight>
                  <a:srgbClr val="FFFF00"/>
                </a:highlight>
              </a:rPr>
              <a:t>A </a:t>
            </a:r>
            <a:r>
              <a:rPr lang="en" sz="1200" b="1" i="1" dirty="0">
                <a:solidFill>
                  <a:srgbClr val="FF0000"/>
                </a:solidFill>
                <a:highlight>
                  <a:srgbClr val="FFFF00"/>
                </a:highlight>
              </a:rPr>
              <a:t>path</a:t>
            </a:r>
            <a:r>
              <a:rPr lang="en" sz="1200" dirty="0">
                <a:solidFill>
                  <a:srgbClr val="FF0000"/>
                </a:solidFill>
                <a:highlight>
                  <a:srgbClr val="FFFF00"/>
                </a:highlight>
              </a:rPr>
              <a:t> </a:t>
            </a:r>
            <a:r>
              <a:rPr lang="en" sz="1200" dirty="0">
                <a:highlight>
                  <a:srgbClr val="FFFF00"/>
                </a:highlight>
              </a:rPr>
              <a:t>is any series of edges that connects two vertices within a graph.</a:t>
            </a:r>
            <a:endParaRPr sz="1200" dirty="0">
              <a:highlight>
                <a:srgbClr val="FFFF00"/>
              </a:highlight>
            </a:endParaRPr>
          </a:p>
          <a:p>
            <a:pPr marL="914400" lvl="1" indent="-292100" algn="l" rtl="0">
              <a:lnSpc>
                <a:spcPct val="115000"/>
              </a:lnSpc>
              <a:spcBef>
                <a:spcPts val="0"/>
              </a:spcBef>
              <a:spcAft>
                <a:spcPts val="0"/>
              </a:spcAft>
              <a:buSzPts val="1000"/>
              <a:buChar char="○"/>
            </a:pPr>
            <a:r>
              <a:rPr lang="en" sz="1000" dirty="0"/>
              <a:t>If a path </a:t>
            </a:r>
            <a:r>
              <a:rPr lang="en" sz="1000" b="1" i="1" dirty="0">
                <a:solidFill>
                  <a:srgbClr val="FF0000"/>
                </a:solidFill>
              </a:rPr>
              <a:t>exists</a:t>
            </a:r>
            <a:r>
              <a:rPr lang="en" sz="1000" dirty="0">
                <a:solidFill>
                  <a:srgbClr val="FF0000"/>
                </a:solidFill>
              </a:rPr>
              <a:t> </a:t>
            </a:r>
            <a:r>
              <a:rPr lang="en" sz="1000" dirty="0"/>
              <a:t>between two vertices, then they are in the same </a:t>
            </a:r>
            <a:r>
              <a:rPr lang="en" sz="1000" b="1" i="1" dirty="0">
                <a:solidFill>
                  <a:srgbClr val="FF0000"/>
                </a:solidFill>
                <a:highlight>
                  <a:srgbClr val="FFFF00"/>
                </a:highlight>
              </a:rPr>
              <a:t>connected component</a:t>
            </a:r>
            <a:r>
              <a:rPr lang="en" sz="1000" dirty="0">
                <a:highlight>
                  <a:srgbClr val="FFFF00"/>
                </a:highlight>
              </a:rPr>
              <a:t>.</a:t>
            </a:r>
            <a:endParaRPr sz="1000" dirty="0">
              <a:highlight>
                <a:srgbClr val="FFFF00"/>
              </a:highlight>
            </a:endParaRPr>
          </a:p>
          <a:p>
            <a:pPr marL="914400" lvl="1" indent="-292100" algn="l" rtl="0">
              <a:lnSpc>
                <a:spcPct val="115000"/>
              </a:lnSpc>
              <a:spcBef>
                <a:spcPts val="0"/>
              </a:spcBef>
              <a:spcAft>
                <a:spcPts val="0"/>
              </a:spcAft>
              <a:buSzPts val="1000"/>
              <a:buChar char="○"/>
            </a:pPr>
            <a:r>
              <a:rPr lang="en" sz="1000" dirty="0"/>
              <a:t>If no path exists, then they are in </a:t>
            </a:r>
            <a:r>
              <a:rPr lang="en" sz="1000" b="1" i="1" dirty="0">
                <a:solidFill>
                  <a:srgbClr val="FF0000"/>
                </a:solidFill>
                <a:highlight>
                  <a:srgbClr val="FFFF00"/>
                </a:highlight>
              </a:rPr>
              <a:t>different</a:t>
            </a:r>
            <a:r>
              <a:rPr lang="en" sz="1000" dirty="0">
                <a:solidFill>
                  <a:srgbClr val="FF0000"/>
                </a:solidFill>
              </a:rPr>
              <a:t> </a:t>
            </a:r>
            <a:r>
              <a:rPr lang="en" sz="1000" dirty="0"/>
              <a:t>connected components.</a:t>
            </a:r>
            <a:endParaRPr sz="1000" dirty="0"/>
          </a:p>
          <a:p>
            <a:pPr marL="457200" lvl="0" indent="-304800" algn="l" rtl="0">
              <a:lnSpc>
                <a:spcPct val="115000"/>
              </a:lnSpc>
              <a:spcBef>
                <a:spcPts val="1000"/>
              </a:spcBef>
              <a:spcAft>
                <a:spcPts val="0"/>
              </a:spcAft>
              <a:buSzPts val="1200"/>
              <a:buChar char="●"/>
            </a:pPr>
            <a:r>
              <a:rPr lang="en" sz="1200" dirty="0"/>
              <a:t>A path is represented by listing the vertices along the path, e.g. the path from </a:t>
            </a:r>
            <a:r>
              <a:rPr lang="en" sz="1200" b="1" i="1" dirty="0">
                <a:solidFill>
                  <a:srgbClr val="FF0000"/>
                </a:solidFill>
                <a:highlight>
                  <a:srgbClr val="FFFF00"/>
                </a:highlight>
              </a:rPr>
              <a:t>A to D</a:t>
            </a:r>
            <a:r>
              <a:rPr lang="en" sz="1200" dirty="0">
                <a:highlight>
                  <a:srgbClr val="FFFF00"/>
                </a:highlight>
              </a:rPr>
              <a:t> </a:t>
            </a:r>
            <a:r>
              <a:rPr lang="en" sz="1200" dirty="0"/>
              <a:t>in the example graph to the right might be </a:t>
            </a:r>
            <a:r>
              <a:rPr lang="en" sz="1200" b="1" i="1" dirty="0">
                <a:solidFill>
                  <a:srgbClr val="FF0000"/>
                </a:solidFill>
              </a:rPr>
              <a:t>A C D</a:t>
            </a:r>
            <a:r>
              <a:rPr lang="en" sz="1200" dirty="0"/>
              <a:t> or </a:t>
            </a:r>
            <a:r>
              <a:rPr lang="en" sz="1200" b="1" i="1" dirty="0">
                <a:solidFill>
                  <a:srgbClr val="FF0000"/>
                </a:solidFill>
              </a:rPr>
              <a:t>A B D</a:t>
            </a:r>
            <a:r>
              <a:rPr lang="en" sz="1200" b="1" i="1" dirty="0"/>
              <a:t>.</a:t>
            </a:r>
            <a:endParaRPr sz="1200" b="1" i="1" dirty="0"/>
          </a:p>
          <a:p>
            <a:pPr marL="457200" lvl="0" indent="-304800" algn="l" rtl="0">
              <a:lnSpc>
                <a:spcPct val="115000"/>
              </a:lnSpc>
              <a:spcBef>
                <a:spcPts val="1000"/>
              </a:spcBef>
              <a:spcAft>
                <a:spcPts val="0"/>
              </a:spcAft>
              <a:buSzPts val="1200"/>
              <a:buChar char="●"/>
            </a:pPr>
            <a:r>
              <a:rPr lang="en" sz="1200" dirty="0"/>
              <a:t>Is there a path from </a:t>
            </a:r>
            <a:r>
              <a:rPr lang="en" sz="1200" b="1" i="1" dirty="0">
                <a:solidFill>
                  <a:srgbClr val="FF0000"/>
                </a:solidFill>
              </a:rPr>
              <a:t>A to G</a:t>
            </a:r>
            <a:r>
              <a:rPr lang="en" sz="1200" dirty="0"/>
              <a:t> in the example graph to the right?</a:t>
            </a:r>
            <a:endParaRPr sz="1200" dirty="0"/>
          </a:p>
          <a:p>
            <a:pPr marL="457200" lvl="0" indent="-304800" algn="l" rtl="0">
              <a:lnSpc>
                <a:spcPct val="115000"/>
              </a:lnSpc>
              <a:spcBef>
                <a:spcPts val="1000"/>
              </a:spcBef>
              <a:spcAft>
                <a:spcPts val="0"/>
              </a:spcAft>
              <a:buSzPts val="1200"/>
              <a:buChar char="●"/>
            </a:pPr>
            <a:r>
              <a:rPr lang="en" sz="1200" dirty="0"/>
              <a:t>Of course there is! You can see that there are actually </a:t>
            </a:r>
            <a:r>
              <a:rPr lang="en" sz="1200" dirty="0">
                <a:highlight>
                  <a:srgbClr val="FFFF00"/>
                </a:highlight>
              </a:rPr>
              <a:t>multiple possible </a:t>
            </a:r>
            <a:r>
              <a:rPr lang="en" sz="1200" dirty="0"/>
              <a:t>paths, e.g.</a:t>
            </a:r>
            <a:endParaRPr sz="1200" dirty="0"/>
          </a:p>
          <a:p>
            <a:pPr marL="914400" lvl="1" indent="-292100" algn="l" rtl="0">
              <a:lnSpc>
                <a:spcPct val="115000"/>
              </a:lnSpc>
              <a:spcBef>
                <a:spcPts val="0"/>
              </a:spcBef>
              <a:spcAft>
                <a:spcPts val="0"/>
              </a:spcAft>
              <a:buSzPts val="1000"/>
              <a:buChar char="○"/>
            </a:pPr>
            <a:r>
              <a:rPr lang="en" sz="1000" b="1" i="1" dirty="0">
                <a:solidFill>
                  <a:srgbClr val="FF0000"/>
                </a:solidFill>
              </a:rPr>
              <a:t>A C D F G</a:t>
            </a:r>
            <a:endParaRPr sz="1000" b="1" i="1" dirty="0">
              <a:solidFill>
                <a:srgbClr val="FF0000"/>
              </a:solidFill>
            </a:endParaRPr>
          </a:p>
          <a:p>
            <a:pPr marL="914400" lvl="1" indent="-292100" algn="l" rtl="0">
              <a:lnSpc>
                <a:spcPct val="115000"/>
              </a:lnSpc>
              <a:spcBef>
                <a:spcPts val="0"/>
              </a:spcBef>
              <a:spcAft>
                <a:spcPts val="0"/>
              </a:spcAft>
              <a:buSzPts val="1000"/>
              <a:buChar char="○"/>
            </a:pPr>
            <a:r>
              <a:rPr lang="en" sz="1000" b="1" i="1" dirty="0">
                <a:solidFill>
                  <a:srgbClr val="FF0000"/>
                </a:solidFill>
              </a:rPr>
              <a:t>A B E C D F G</a:t>
            </a:r>
            <a:endParaRPr sz="1000" b="1" i="1" dirty="0">
              <a:solidFill>
                <a:srgbClr val="FF0000"/>
              </a:solidFill>
            </a:endParaRPr>
          </a:p>
          <a:p>
            <a:pPr marL="457200" lvl="0" indent="-304800" algn="l" rtl="0">
              <a:lnSpc>
                <a:spcPct val="115000"/>
              </a:lnSpc>
              <a:spcBef>
                <a:spcPts val="1000"/>
              </a:spcBef>
              <a:spcAft>
                <a:spcPts val="0"/>
              </a:spcAft>
              <a:buSzPts val="1200"/>
              <a:buChar char="●"/>
            </a:pPr>
            <a:r>
              <a:rPr lang="en" sz="1200" dirty="0"/>
              <a:t>You can also state with certainty that there is </a:t>
            </a:r>
            <a:r>
              <a:rPr lang="en" sz="1200" b="1" i="1" dirty="0">
                <a:solidFill>
                  <a:srgbClr val="FF0000"/>
                </a:solidFill>
                <a:highlight>
                  <a:srgbClr val="FFFF00"/>
                </a:highlight>
              </a:rPr>
              <a:t>no path</a:t>
            </a:r>
            <a:r>
              <a:rPr lang="en" sz="1200" dirty="0">
                <a:highlight>
                  <a:srgbClr val="FFFF00"/>
                </a:highlight>
              </a:rPr>
              <a:t> </a:t>
            </a:r>
            <a:r>
              <a:rPr lang="en" sz="1200" dirty="0"/>
              <a:t>from </a:t>
            </a:r>
            <a:r>
              <a:rPr lang="en" sz="1200" b="1" i="1" dirty="0">
                <a:solidFill>
                  <a:srgbClr val="FF0000"/>
                </a:solidFill>
              </a:rPr>
              <a:t>A to K</a:t>
            </a:r>
            <a:r>
              <a:rPr lang="en" sz="1200" dirty="0"/>
              <a:t>.</a:t>
            </a:r>
            <a:endParaRPr sz="1200" dirty="0"/>
          </a:p>
          <a:p>
            <a:pPr marL="457200" lvl="0" indent="-304800" algn="l" rtl="0">
              <a:lnSpc>
                <a:spcPct val="115000"/>
              </a:lnSpc>
              <a:spcBef>
                <a:spcPts val="1000"/>
              </a:spcBef>
              <a:spcAft>
                <a:spcPts val="0"/>
              </a:spcAft>
              <a:buSzPts val="1200"/>
              <a:buChar char="●"/>
            </a:pPr>
            <a:r>
              <a:rPr lang="en" sz="1200" dirty="0"/>
              <a:t>This is easy when the graph is </a:t>
            </a:r>
            <a:r>
              <a:rPr lang="en" sz="1200" b="1" i="1" dirty="0">
                <a:solidFill>
                  <a:srgbClr val="FF0000"/>
                </a:solidFill>
              </a:rPr>
              <a:t>small</a:t>
            </a:r>
            <a:r>
              <a:rPr lang="en" sz="1200" dirty="0">
                <a:solidFill>
                  <a:srgbClr val="FF0000"/>
                </a:solidFill>
              </a:rPr>
              <a:t> </a:t>
            </a:r>
            <a:r>
              <a:rPr lang="en" sz="1200" dirty="0"/>
              <a:t>and you have the ability to look at the</a:t>
            </a:r>
            <a:r>
              <a:rPr lang="en" sz="1200" dirty="0">
                <a:solidFill>
                  <a:srgbClr val="FF0000"/>
                </a:solidFill>
              </a:rPr>
              <a:t> </a:t>
            </a:r>
            <a:r>
              <a:rPr lang="en" sz="1200" b="1" i="1" dirty="0">
                <a:solidFill>
                  <a:srgbClr val="FF0000"/>
                </a:solidFill>
              </a:rPr>
              <a:t>entire graph</a:t>
            </a:r>
            <a:r>
              <a:rPr lang="en" sz="1200" dirty="0">
                <a:solidFill>
                  <a:srgbClr val="FF0000"/>
                </a:solidFill>
              </a:rPr>
              <a:t> </a:t>
            </a:r>
            <a:r>
              <a:rPr lang="en" sz="1200" dirty="0"/>
              <a:t>all at once.</a:t>
            </a:r>
            <a:endParaRPr sz="1200" dirty="0"/>
          </a:p>
          <a:p>
            <a:pPr marL="457200" lvl="0" indent="-304800" algn="l" rtl="0">
              <a:lnSpc>
                <a:spcPct val="115000"/>
              </a:lnSpc>
              <a:spcBef>
                <a:spcPts val="1000"/>
              </a:spcBef>
              <a:spcAft>
                <a:spcPts val="0"/>
              </a:spcAft>
              <a:buSzPts val="1200"/>
              <a:buChar char="●"/>
            </a:pPr>
            <a:r>
              <a:rPr lang="en" sz="1200" dirty="0">
                <a:highlight>
                  <a:srgbClr val="FFFF00"/>
                </a:highlight>
              </a:rPr>
              <a:t>But how would a </a:t>
            </a:r>
            <a:r>
              <a:rPr lang="en" sz="1200" b="1" i="1" dirty="0">
                <a:solidFill>
                  <a:srgbClr val="FF0000"/>
                </a:solidFill>
                <a:highlight>
                  <a:srgbClr val="FFFF00"/>
                </a:highlight>
              </a:rPr>
              <a:t>computer </a:t>
            </a:r>
            <a:r>
              <a:rPr lang="en" sz="1200" dirty="0">
                <a:highlight>
                  <a:srgbClr val="FFFF00"/>
                </a:highlight>
              </a:rPr>
              <a:t>determine whether or not a path exists?</a:t>
            </a:r>
            <a:endParaRPr sz="1200" dirty="0">
              <a:highlight>
                <a:srgbClr val="FFFF00"/>
              </a:highlight>
            </a:endParaRPr>
          </a:p>
        </p:txBody>
      </p:sp>
      <p:sp>
        <p:nvSpPr>
          <p:cNvPr id="1122" name="Google Shape;1122;p57"/>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
              <a:t>24</a:t>
            </a:fld>
            <a:endParaRPr/>
          </a:p>
        </p:txBody>
      </p:sp>
      <p:sp>
        <p:nvSpPr>
          <p:cNvPr id="1123" name="Google Shape;1123;p57"/>
          <p:cNvSpPr txBox="1">
            <a:spLocks noGrp="1"/>
          </p:cNvSpPr>
          <p:nvPr>
            <p:ph type="title"/>
          </p:nvPr>
        </p:nvSpPr>
        <p:spPr>
          <a:xfrm>
            <a:off x="52647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Simple Example</a:t>
            </a:r>
            <a:endParaRPr/>
          </a:p>
        </p:txBody>
      </p:sp>
      <p:sp>
        <p:nvSpPr>
          <p:cNvPr id="1124" name="Google Shape;1124;p57"/>
          <p:cNvSpPr txBox="1">
            <a:spLocks noGrp="1"/>
          </p:cNvSpPr>
          <p:nvPr>
            <p:ph type="body" idx="3"/>
          </p:nvPr>
        </p:nvSpPr>
        <p:spPr>
          <a:xfrm>
            <a:off x="5192225" y="4350350"/>
            <a:ext cx="3706500" cy="54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t>Throughout this course we will examine </a:t>
            </a:r>
            <a:r>
              <a:rPr lang="en" b="1" i="1" dirty="0">
                <a:solidFill>
                  <a:srgbClr val="FF0000"/>
                </a:solidFill>
                <a:highlight>
                  <a:srgbClr val="FFFF00"/>
                </a:highlight>
              </a:rPr>
              <a:t>three</a:t>
            </a:r>
            <a:r>
              <a:rPr lang="en" dirty="0">
                <a:solidFill>
                  <a:srgbClr val="FF0000"/>
                </a:solidFill>
                <a:highlight>
                  <a:srgbClr val="FFFF00"/>
                </a:highlight>
              </a:rPr>
              <a:t> </a:t>
            </a:r>
            <a:r>
              <a:rPr lang="en" dirty="0">
                <a:highlight>
                  <a:srgbClr val="FFFF00"/>
                </a:highlight>
              </a:rPr>
              <a:t>different path finding </a:t>
            </a:r>
            <a:r>
              <a:rPr lang="en" b="1" i="1" dirty="0">
                <a:solidFill>
                  <a:srgbClr val="FF0000"/>
                </a:solidFill>
                <a:highlight>
                  <a:srgbClr val="FFFF00"/>
                </a:highlight>
              </a:rPr>
              <a:t>algorithms</a:t>
            </a:r>
            <a:r>
              <a:rPr lang="en" dirty="0">
                <a:highlight>
                  <a:srgbClr val="FFFF00"/>
                </a:highlight>
              </a:rPr>
              <a:t>.</a:t>
            </a:r>
            <a:endParaRPr dirty="0">
              <a:highlight>
                <a:srgbClr val="FFFF00"/>
              </a:highlight>
            </a:endParaRPr>
          </a:p>
        </p:txBody>
      </p:sp>
      <p:cxnSp>
        <p:nvCxnSpPr>
          <p:cNvPr id="1125" name="Google Shape;1125;p57"/>
          <p:cNvCxnSpPr>
            <a:stCxn id="1126" idx="6"/>
            <a:endCxn id="1127" idx="1"/>
          </p:cNvCxnSpPr>
          <p:nvPr/>
        </p:nvCxnSpPr>
        <p:spPr>
          <a:xfrm>
            <a:off x="6137138" y="962170"/>
            <a:ext cx="582000" cy="115800"/>
          </a:xfrm>
          <a:prstGeom prst="straightConnector1">
            <a:avLst/>
          </a:prstGeom>
          <a:noFill/>
          <a:ln w="19050" cap="flat" cmpd="sng">
            <a:solidFill>
              <a:srgbClr val="FFFFFF"/>
            </a:solidFill>
            <a:prstDash val="solid"/>
            <a:round/>
            <a:headEnd type="none" w="sm" len="sm"/>
            <a:tailEnd type="none" w="sm" len="sm"/>
          </a:ln>
        </p:spPr>
      </p:cxnSp>
      <p:cxnSp>
        <p:nvCxnSpPr>
          <p:cNvPr id="1128" name="Google Shape;1128;p57"/>
          <p:cNvCxnSpPr>
            <a:stCxn id="1126" idx="4"/>
            <a:endCxn id="1129" idx="0"/>
          </p:cNvCxnSpPr>
          <p:nvPr/>
        </p:nvCxnSpPr>
        <p:spPr>
          <a:xfrm flipH="1">
            <a:off x="5774438" y="1180570"/>
            <a:ext cx="144300" cy="589500"/>
          </a:xfrm>
          <a:prstGeom prst="straightConnector1">
            <a:avLst/>
          </a:prstGeom>
          <a:noFill/>
          <a:ln w="19050" cap="flat" cmpd="sng">
            <a:solidFill>
              <a:srgbClr val="FFFFFF"/>
            </a:solidFill>
            <a:prstDash val="solid"/>
            <a:round/>
            <a:headEnd type="none" w="sm" len="sm"/>
            <a:tailEnd type="none" w="sm" len="sm"/>
          </a:ln>
        </p:spPr>
      </p:cxnSp>
      <p:cxnSp>
        <p:nvCxnSpPr>
          <p:cNvPr id="1130" name="Google Shape;1130;p57"/>
          <p:cNvCxnSpPr>
            <a:stCxn id="1127" idx="5"/>
            <a:endCxn id="1131" idx="1"/>
          </p:cNvCxnSpPr>
          <p:nvPr/>
        </p:nvCxnSpPr>
        <p:spPr>
          <a:xfrm>
            <a:off x="7028045" y="1386777"/>
            <a:ext cx="405900" cy="567900"/>
          </a:xfrm>
          <a:prstGeom prst="straightConnector1">
            <a:avLst/>
          </a:prstGeom>
          <a:noFill/>
          <a:ln w="19050" cap="flat" cmpd="sng">
            <a:solidFill>
              <a:srgbClr val="FFFFFF"/>
            </a:solidFill>
            <a:prstDash val="solid"/>
            <a:round/>
            <a:headEnd type="none" w="sm" len="sm"/>
            <a:tailEnd type="none" w="sm" len="sm"/>
          </a:ln>
        </p:spPr>
      </p:cxnSp>
      <p:cxnSp>
        <p:nvCxnSpPr>
          <p:cNvPr id="1132" name="Google Shape;1132;p57"/>
          <p:cNvCxnSpPr>
            <a:stCxn id="1129" idx="6"/>
            <a:endCxn id="1131" idx="2"/>
          </p:cNvCxnSpPr>
          <p:nvPr/>
        </p:nvCxnSpPr>
        <p:spPr>
          <a:xfrm>
            <a:off x="5992813" y="1988445"/>
            <a:ext cx="1377300" cy="120600"/>
          </a:xfrm>
          <a:prstGeom prst="straightConnector1">
            <a:avLst/>
          </a:prstGeom>
          <a:noFill/>
          <a:ln w="19050" cap="flat" cmpd="sng">
            <a:solidFill>
              <a:srgbClr val="FFFFFF"/>
            </a:solidFill>
            <a:prstDash val="solid"/>
            <a:round/>
            <a:headEnd type="none" w="sm" len="sm"/>
            <a:tailEnd type="none" w="sm" len="sm"/>
          </a:ln>
        </p:spPr>
      </p:cxnSp>
      <p:cxnSp>
        <p:nvCxnSpPr>
          <p:cNvPr id="1133" name="Google Shape;1133;p57"/>
          <p:cNvCxnSpPr>
            <a:stCxn id="1127" idx="3"/>
            <a:endCxn id="1134" idx="0"/>
          </p:cNvCxnSpPr>
          <p:nvPr/>
        </p:nvCxnSpPr>
        <p:spPr>
          <a:xfrm flipH="1">
            <a:off x="6604281" y="1386777"/>
            <a:ext cx="114900" cy="1154100"/>
          </a:xfrm>
          <a:prstGeom prst="straightConnector1">
            <a:avLst/>
          </a:prstGeom>
          <a:noFill/>
          <a:ln w="19050" cap="flat" cmpd="sng">
            <a:solidFill>
              <a:srgbClr val="FFFFFF"/>
            </a:solidFill>
            <a:prstDash val="solid"/>
            <a:round/>
            <a:headEnd type="none" w="sm" len="sm"/>
            <a:tailEnd type="none" w="sm" len="sm"/>
          </a:ln>
        </p:spPr>
      </p:cxnSp>
      <p:cxnSp>
        <p:nvCxnSpPr>
          <p:cNvPr id="1135" name="Google Shape;1135;p57"/>
          <p:cNvCxnSpPr>
            <a:stCxn id="1129" idx="5"/>
            <a:endCxn id="1134" idx="1"/>
          </p:cNvCxnSpPr>
          <p:nvPr/>
        </p:nvCxnSpPr>
        <p:spPr>
          <a:xfrm>
            <a:off x="5928845" y="2142877"/>
            <a:ext cx="520800" cy="462000"/>
          </a:xfrm>
          <a:prstGeom prst="straightConnector1">
            <a:avLst/>
          </a:prstGeom>
          <a:noFill/>
          <a:ln w="19050" cap="flat" cmpd="sng">
            <a:solidFill>
              <a:srgbClr val="FFFFFF"/>
            </a:solidFill>
            <a:prstDash val="solid"/>
            <a:round/>
            <a:headEnd type="none" w="sm" len="sm"/>
            <a:tailEnd type="none" w="sm" len="sm"/>
          </a:ln>
        </p:spPr>
      </p:cxnSp>
      <p:cxnSp>
        <p:nvCxnSpPr>
          <p:cNvPr id="1136" name="Google Shape;1136;p57"/>
          <p:cNvCxnSpPr>
            <a:stCxn id="1134" idx="5"/>
            <a:endCxn id="1137" idx="2"/>
          </p:cNvCxnSpPr>
          <p:nvPr/>
        </p:nvCxnSpPr>
        <p:spPr>
          <a:xfrm>
            <a:off x="6758570" y="2913702"/>
            <a:ext cx="653400" cy="179700"/>
          </a:xfrm>
          <a:prstGeom prst="straightConnector1">
            <a:avLst/>
          </a:prstGeom>
          <a:noFill/>
          <a:ln w="19050" cap="flat" cmpd="sng">
            <a:solidFill>
              <a:srgbClr val="FFFFFF"/>
            </a:solidFill>
            <a:prstDash val="solid"/>
            <a:round/>
            <a:headEnd type="none" w="sm" len="sm"/>
            <a:tailEnd type="none" w="sm" len="sm"/>
          </a:ln>
        </p:spPr>
      </p:cxnSp>
      <p:cxnSp>
        <p:nvCxnSpPr>
          <p:cNvPr id="1138" name="Google Shape;1138;p57"/>
          <p:cNvCxnSpPr>
            <a:stCxn id="1131" idx="4"/>
            <a:endCxn id="1137" idx="0"/>
          </p:cNvCxnSpPr>
          <p:nvPr/>
        </p:nvCxnSpPr>
        <p:spPr>
          <a:xfrm>
            <a:off x="7588488" y="2327570"/>
            <a:ext cx="42000" cy="547500"/>
          </a:xfrm>
          <a:prstGeom prst="straightConnector1">
            <a:avLst/>
          </a:prstGeom>
          <a:noFill/>
          <a:ln w="19050" cap="flat" cmpd="sng">
            <a:solidFill>
              <a:srgbClr val="FFFFFF"/>
            </a:solidFill>
            <a:prstDash val="solid"/>
            <a:round/>
            <a:headEnd type="none" w="sm" len="sm"/>
            <a:tailEnd type="none" w="sm" len="sm"/>
          </a:ln>
        </p:spPr>
      </p:cxnSp>
      <p:cxnSp>
        <p:nvCxnSpPr>
          <p:cNvPr id="1139" name="Google Shape;1139;p57"/>
          <p:cNvCxnSpPr>
            <a:stCxn id="1137" idx="5"/>
            <a:endCxn id="1140" idx="1"/>
          </p:cNvCxnSpPr>
          <p:nvPr/>
        </p:nvCxnSpPr>
        <p:spPr>
          <a:xfrm>
            <a:off x="7784870" y="3247952"/>
            <a:ext cx="263100" cy="305100"/>
          </a:xfrm>
          <a:prstGeom prst="straightConnector1">
            <a:avLst/>
          </a:prstGeom>
          <a:noFill/>
          <a:ln w="19050" cap="flat" cmpd="sng">
            <a:solidFill>
              <a:srgbClr val="FFFFFF"/>
            </a:solidFill>
            <a:prstDash val="solid"/>
            <a:round/>
            <a:headEnd type="none" w="sm" len="sm"/>
            <a:tailEnd type="none" w="sm" len="sm"/>
          </a:ln>
        </p:spPr>
      </p:cxnSp>
      <p:cxnSp>
        <p:nvCxnSpPr>
          <p:cNvPr id="1141" name="Google Shape;1141;p57"/>
          <p:cNvCxnSpPr>
            <a:stCxn id="1127" idx="6"/>
            <a:endCxn id="1142" idx="2"/>
          </p:cNvCxnSpPr>
          <p:nvPr/>
        </p:nvCxnSpPr>
        <p:spPr>
          <a:xfrm>
            <a:off x="7092013" y="1232345"/>
            <a:ext cx="530700" cy="0"/>
          </a:xfrm>
          <a:prstGeom prst="straightConnector1">
            <a:avLst/>
          </a:prstGeom>
          <a:noFill/>
          <a:ln w="19050" cap="flat" cmpd="sng">
            <a:solidFill>
              <a:srgbClr val="FFFFFF"/>
            </a:solidFill>
            <a:prstDash val="solid"/>
            <a:round/>
            <a:headEnd type="none" w="sm" len="sm"/>
            <a:tailEnd type="none" w="sm" len="sm"/>
          </a:ln>
        </p:spPr>
      </p:cxnSp>
      <p:cxnSp>
        <p:nvCxnSpPr>
          <p:cNvPr id="1143" name="Google Shape;1143;p57"/>
          <p:cNvCxnSpPr>
            <a:stCxn id="1144" idx="4"/>
            <a:endCxn id="1145" idx="0"/>
          </p:cNvCxnSpPr>
          <p:nvPr/>
        </p:nvCxnSpPr>
        <p:spPr>
          <a:xfrm flipH="1">
            <a:off x="5846738" y="3456320"/>
            <a:ext cx="146100" cy="258600"/>
          </a:xfrm>
          <a:prstGeom prst="straightConnector1">
            <a:avLst/>
          </a:prstGeom>
          <a:noFill/>
          <a:ln w="19050" cap="flat" cmpd="sng">
            <a:solidFill>
              <a:srgbClr val="FFFFFF"/>
            </a:solidFill>
            <a:prstDash val="solid"/>
            <a:round/>
            <a:headEnd type="none" w="sm" len="sm"/>
            <a:tailEnd type="none" w="sm" len="sm"/>
          </a:ln>
        </p:spPr>
      </p:cxnSp>
      <p:cxnSp>
        <p:nvCxnSpPr>
          <p:cNvPr id="1146" name="Google Shape;1146;p57"/>
          <p:cNvCxnSpPr>
            <a:stCxn id="1145" idx="6"/>
            <a:endCxn id="1147" idx="3"/>
          </p:cNvCxnSpPr>
          <p:nvPr/>
        </p:nvCxnSpPr>
        <p:spPr>
          <a:xfrm rot="10800000" flipH="1">
            <a:off x="6064988" y="3861870"/>
            <a:ext cx="384600" cy="71400"/>
          </a:xfrm>
          <a:prstGeom prst="straightConnector1">
            <a:avLst/>
          </a:prstGeom>
          <a:noFill/>
          <a:ln w="19050" cap="flat" cmpd="sng">
            <a:solidFill>
              <a:srgbClr val="FFFFFF"/>
            </a:solidFill>
            <a:prstDash val="solid"/>
            <a:round/>
            <a:headEnd type="none" w="sm" len="sm"/>
            <a:tailEnd type="none" w="sm" len="sm"/>
          </a:ln>
        </p:spPr>
      </p:cxnSp>
      <p:cxnSp>
        <p:nvCxnSpPr>
          <p:cNvPr id="1148" name="Google Shape;1148;p57"/>
          <p:cNvCxnSpPr>
            <a:stCxn id="1144" idx="5"/>
            <a:endCxn id="1147" idx="1"/>
          </p:cNvCxnSpPr>
          <p:nvPr/>
        </p:nvCxnSpPr>
        <p:spPr>
          <a:xfrm>
            <a:off x="6147270" y="3392352"/>
            <a:ext cx="302400" cy="160800"/>
          </a:xfrm>
          <a:prstGeom prst="straightConnector1">
            <a:avLst/>
          </a:prstGeom>
          <a:noFill/>
          <a:ln w="19050" cap="flat" cmpd="sng">
            <a:solidFill>
              <a:srgbClr val="FFFFFF"/>
            </a:solidFill>
            <a:prstDash val="solid"/>
            <a:round/>
            <a:headEnd type="none" w="sm" len="sm"/>
            <a:tailEnd type="none" w="sm" len="sm"/>
          </a:ln>
        </p:spPr>
      </p:cxnSp>
      <p:sp>
        <p:nvSpPr>
          <p:cNvPr id="1126" name="Google Shape;1126;p57"/>
          <p:cNvSpPr/>
          <p:nvPr/>
        </p:nvSpPr>
        <p:spPr>
          <a:xfrm>
            <a:off x="5700338" y="7437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A</a:t>
            </a:r>
            <a:endParaRPr sz="1400" b="0" i="0" u="none" strike="noStrike" cap="none">
              <a:solidFill>
                <a:srgbClr val="FFFFFF"/>
              </a:solidFill>
              <a:latin typeface="Arial"/>
              <a:ea typeface="Arial"/>
              <a:cs typeface="Arial"/>
              <a:sym typeface="Arial"/>
            </a:endParaRPr>
          </a:p>
        </p:txBody>
      </p:sp>
      <p:sp>
        <p:nvSpPr>
          <p:cNvPr id="1127" name="Google Shape;1127;p57"/>
          <p:cNvSpPr/>
          <p:nvPr/>
        </p:nvSpPr>
        <p:spPr>
          <a:xfrm>
            <a:off x="6655213" y="10139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129" name="Google Shape;1129;p57"/>
          <p:cNvSpPr/>
          <p:nvPr/>
        </p:nvSpPr>
        <p:spPr>
          <a:xfrm>
            <a:off x="5556013" y="17700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sp>
        <p:nvSpPr>
          <p:cNvPr id="1134" name="Google Shape;1134;p57"/>
          <p:cNvSpPr/>
          <p:nvPr/>
        </p:nvSpPr>
        <p:spPr>
          <a:xfrm>
            <a:off x="6385738" y="25408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131" name="Google Shape;1131;p57"/>
          <p:cNvSpPr/>
          <p:nvPr/>
        </p:nvSpPr>
        <p:spPr>
          <a:xfrm>
            <a:off x="7370088" y="18907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D</a:t>
            </a:r>
            <a:endParaRPr sz="1400" b="0" i="0" u="none" strike="noStrike" cap="none">
              <a:solidFill>
                <a:srgbClr val="FFFFFF"/>
              </a:solidFill>
              <a:latin typeface="Arial"/>
              <a:ea typeface="Arial"/>
              <a:cs typeface="Arial"/>
              <a:sym typeface="Arial"/>
            </a:endParaRPr>
          </a:p>
        </p:txBody>
      </p:sp>
      <p:sp>
        <p:nvSpPr>
          <p:cNvPr id="1137" name="Google Shape;1137;p57"/>
          <p:cNvSpPr/>
          <p:nvPr/>
        </p:nvSpPr>
        <p:spPr>
          <a:xfrm>
            <a:off x="7412038" y="287512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140" name="Google Shape;1140;p57"/>
          <p:cNvSpPr/>
          <p:nvPr/>
        </p:nvSpPr>
        <p:spPr>
          <a:xfrm>
            <a:off x="7984113" y="34891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142" name="Google Shape;1142;p57"/>
          <p:cNvSpPr/>
          <p:nvPr/>
        </p:nvSpPr>
        <p:spPr>
          <a:xfrm>
            <a:off x="7622851" y="10139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sp>
        <p:nvSpPr>
          <p:cNvPr id="1147" name="Google Shape;1147;p57"/>
          <p:cNvSpPr/>
          <p:nvPr/>
        </p:nvSpPr>
        <p:spPr>
          <a:xfrm>
            <a:off x="6385738" y="34891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I</a:t>
            </a:r>
            <a:endParaRPr sz="1400" b="0" i="0" u="none" strike="noStrike" cap="none">
              <a:solidFill>
                <a:srgbClr val="FFFFFF"/>
              </a:solidFill>
              <a:latin typeface="Arial"/>
              <a:ea typeface="Arial"/>
              <a:cs typeface="Arial"/>
              <a:sym typeface="Arial"/>
            </a:endParaRPr>
          </a:p>
        </p:txBody>
      </p:sp>
      <p:sp>
        <p:nvSpPr>
          <p:cNvPr id="1144" name="Google Shape;1144;p57"/>
          <p:cNvSpPr/>
          <p:nvPr/>
        </p:nvSpPr>
        <p:spPr>
          <a:xfrm>
            <a:off x="5774438" y="301952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J</a:t>
            </a:r>
            <a:endParaRPr sz="1400" b="0" i="0" u="none" strike="noStrike" cap="none">
              <a:solidFill>
                <a:srgbClr val="FFFFFF"/>
              </a:solidFill>
              <a:latin typeface="Arial"/>
              <a:ea typeface="Arial"/>
              <a:cs typeface="Arial"/>
              <a:sym typeface="Arial"/>
            </a:endParaRPr>
          </a:p>
        </p:txBody>
      </p:sp>
      <p:sp>
        <p:nvSpPr>
          <p:cNvPr id="1145" name="Google Shape;1145;p57"/>
          <p:cNvSpPr/>
          <p:nvPr/>
        </p:nvSpPr>
        <p:spPr>
          <a:xfrm>
            <a:off x="5628188" y="37148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K</a:t>
            </a:r>
            <a:endParaRPr sz="14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2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2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2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2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2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124"/>
                                        </p:tgtEl>
                                        <p:attrNameLst>
                                          <p:attrName>style.visibility</p:attrName>
                                        </p:attrNameLst>
                                      </p:cBhvr>
                                      <p:to>
                                        <p:strVal val="visible"/>
                                      </p:to>
                                    </p:set>
                                    <p:animEffect transition="in" filter="fade">
                                      <p:cBhvr>
                                        <p:cTn id="51" dur="1000"/>
                                        <p:tgtEl>
                                          <p:spTgt spid="1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58"/>
          <p:cNvSpPr txBox="1">
            <a:spLocks noGrp="1"/>
          </p:cNvSpPr>
          <p:nvPr>
            <p:ph type="title"/>
          </p:nvPr>
        </p:nvSpPr>
        <p:spPr>
          <a:xfrm>
            <a:off x="311725" y="1961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500"/>
              <a:t>Breadth-First Search</a:t>
            </a:r>
            <a:endParaRPr sz="2500"/>
          </a:p>
          <a:p>
            <a:pPr marL="0" lvl="0" indent="0" algn="l" rtl="0">
              <a:lnSpc>
                <a:spcPct val="100000"/>
              </a:lnSpc>
              <a:spcBef>
                <a:spcPts val="0"/>
              </a:spcBef>
              <a:spcAft>
                <a:spcPts val="0"/>
              </a:spcAft>
              <a:buSzPts val="2800"/>
              <a:buNone/>
            </a:pPr>
            <a:r>
              <a:rPr lang="en" sz="2300"/>
              <a:t>(BFS)</a:t>
            </a:r>
            <a:endParaRPr sz="2300"/>
          </a:p>
        </p:txBody>
      </p:sp>
      <p:sp>
        <p:nvSpPr>
          <p:cNvPr id="1154" name="Google Shape;1154;p58"/>
          <p:cNvSpPr txBox="1">
            <a:spLocks noGrp="1"/>
          </p:cNvSpPr>
          <p:nvPr>
            <p:ph type="body" idx="1"/>
          </p:nvPr>
        </p:nvSpPr>
        <p:spPr>
          <a:xfrm>
            <a:off x="4492275" y="119925"/>
            <a:ext cx="4303200" cy="47526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t>Given some </a:t>
            </a:r>
            <a:r>
              <a:rPr lang="en" b="1" i="1" dirty="0">
                <a:solidFill>
                  <a:srgbClr val="FF0000"/>
                </a:solidFill>
              </a:rPr>
              <a:t>starting</a:t>
            </a:r>
            <a:r>
              <a:rPr lang="en" dirty="0">
                <a:solidFill>
                  <a:srgbClr val="FF0000"/>
                </a:solidFill>
              </a:rPr>
              <a:t> </a:t>
            </a:r>
            <a:r>
              <a:rPr lang="en" dirty="0"/>
              <a:t>vertex </a:t>
            </a:r>
            <a:r>
              <a:rPr lang="en" b="1" i="1" dirty="0">
                <a:solidFill>
                  <a:srgbClr val="FF0000"/>
                </a:solidFill>
              </a:rPr>
              <a:t>S</a:t>
            </a:r>
            <a:r>
              <a:rPr lang="en" dirty="0"/>
              <a:t> and an </a:t>
            </a:r>
            <a:r>
              <a:rPr lang="en" b="1" i="1" dirty="0">
                <a:solidFill>
                  <a:srgbClr val="FF0000"/>
                </a:solidFill>
              </a:rPr>
              <a:t>ending</a:t>
            </a:r>
            <a:r>
              <a:rPr lang="en" dirty="0">
                <a:solidFill>
                  <a:srgbClr val="FF0000"/>
                </a:solidFill>
              </a:rPr>
              <a:t> </a:t>
            </a:r>
            <a:r>
              <a:rPr lang="en" dirty="0"/>
              <a:t>vertex</a:t>
            </a:r>
            <a:r>
              <a:rPr lang="en" dirty="0">
                <a:solidFill>
                  <a:srgbClr val="FF0000"/>
                </a:solidFill>
              </a:rPr>
              <a:t> </a:t>
            </a:r>
            <a:r>
              <a:rPr lang="en" b="1" i="1" dirty="0">
                <a:solidFill>
                  <a:srgbClr val="FF0000"/>
                </a:solidFill>
              </a:rPr>
              <a:t>E</a:t>
            </a:r>
            <a:r>
              <a:rPr lang="en" dirty="0"/>
              <a:t>, we'd like to determine if a </a:t>
            </a:r>
            <a:r>
              <a:rPr lang="en" b="1" i="1" dirty="0">
                <a:solidFill>
                  <a:srgbClr val="FF0000"/>
                </a:solidFill>
              </a:rPr>
              <a:t>path exists</a:t>
            </a:r>
            <a:r>
              <a:rPr lang="en" dirty="0">
                <a:solidFill>
                  <a:srgbClr val="FF0000"/>
                </a:solidFill>
              </a:rPr>
              <a:t> </a:t>
            </a:r>
            <a:r>
              <a:rPr lang="en" dirty="0"/>
              <a:t>between </a:t>
            </a:r>
            <a:r>
              <a:rPr lang="en" b="1" i="1" dirty="0">
                <a:solidFill>
                  <a:srgbClr val="FF0000"/>
                </a:solidFill>
                <a:highlight>
                  <a:srgbClr val="FFFF00"/>
                </a:highlight>
              </a:rPr>
              <a:t>S  and E</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One algorithm for doing this is called a </a:t>
            </a:r>
            <a:r>
              <a:rPr lang="en" b="1" i="1" dirty="0">
                <a:solidFill>
                  <a:srgbClr val="FF0000"/>
                </a:solidFill>
                <a:highlight>
                  <a:srgbClr val="FFFF00"/>
                </a:highlight>
              </a:rPr>
              <a:t>breadth-first search</a:t>
            </a:r>
            <a:r>
              <a:rPr lang="en" dirty="0">
                <a:highlight>
                  <a:srgbClr val="FFFF00"/>
                </a:highlight>
              </a:rPr>
              <a:t> (</a:t>
            </a:r>
            <a:r>
              <a:rPr lang="en" b="1" i="1" dirty="0">
                <a:solidFill>
                  <a:srgbClr val="FF0000"/>
                </a:solidFill>
                <a:highlight>
                  <a:srgbClr val="FFFF00"/>
                </a:highlight>
              </a:rPr>
              <a:t>BFS</a:t>
            </a:r>
            <a:r>
              <a:rPr lang="en" dirty="0">
                <a:highlight>
                  <a:srgbClr val="FFFF00"/>
                </a:highlight>
              </a:rPr>
              <a:t>) </a:t>
            </a:r>
            <a:r>
              <a:rPr lang="en" dirty="0"/>
              <a:t>and it works like this:</a:t>
            </a:r>
            <a:endParaRPr dirty="0"/>
          </a:p>
          <a:p>
            <a:pPr marL="914400" lvl="1" indent="-298450" algn="l" rtl="0">
              <a:lnSpc>
                <a:spcPct val="115000"/>
              </a:lnSpc>
              <a:spcBef>
                <a:spcPts val="0"/>
              </a:spcBef>
              <a:spcAft>
                <a:spcPts val="0"/>
              </a:spcAft>
              <a:buSzPts val="1100"/>
              <a:buChar char="○"/>
            </a:pPr>
            <a:r>
              <a:rPr lang="en" dirty="0"/>
              <a:t>Create a </a:t>
            </a:r>
            <a:r>
              <a:rPr lang="en" b="1" i="1" dirty="0">
                <a:solidFill>
                  <a:srgbClr val="FF0000"/>
                </a:solidFill>
              </a:rPr>
              <a:t>queue</a:t>
            </a:r>
            <a:r>
              <a:rPr lang="en" dirty="0">
                <a:solidFill>
                  <a:srgbClr val="FF0000"/>
                </a:solidFill>
              </a:rPr>
              <a:t> </a:t>
            </a:r>
            <a:r>
              <a:rPr lang="en" dirty="0"/>
              <a:t>and add </a:t>
            </a:r>
            <a:r>
              <a:rPr lang="en" b="1" i="1" dirty="0">
                <a:solidFill>
                  <a:srgbClr val="FF0000"/>
                </a:solidFill>
              </a:rPr>
              <a:t>S</a:t>
            </a:r>
            <a:r>
              <a:rPr lang="en" dirty="0"/>
              <a:t> to the queue.</a:t>
            </a:r>
            <a:endParaRPr dirty="0"/>
          </a:p>
          <a:p>
            <a:pPr marL="914400" lvl="1" indent="-298450" algn="l" rtl="0">
              <a:lnSpc>
                <a:spcPct val="115000"/>
              </a:lnSpc>
              <a:spcBef>
                <a:spcPts val="0"/>
              </a:spcBef>
              <a:spcAft>
                <a:spcPts val="0"/>
              </a:spcAft>
              <a:buSzPts val="1100"/>
              <a:buChar char="○"/>
            </a:pPr>
            <a:r>
              <a:rPr lang="en" dirty="0"/>
              <a:t>As long as the queue is </a:t>
            </a:r>
            <a:r>
              <a:rPr lang="en" b="1" i="1" dirty="0">
                <a:solidFill>
                  <a:srgbClr val="FF0000"/>
                </a:solidFill>
              </a:rPr>
              <a:t>not empty</a:t>
            </a:r>
            <a:r>
              <a:rPr lang="en" dirty="0"/>
              <a:t>:</a:t>
            </a:r>
            <a:endParaRPr dirty="0"/>
          </a:p>
          <a:p>
            <a:pPr marL="1371600" lvl="2" indent="-298450" algn="l" rtl="0">
              <a:lnSpc>
                <a:spcPct val="115000"/>
              </a:lnSpc>
              <a:spcBef>
                <a:spcPts val="0"/>
              </a:spcBef>
              <a:spcAft>
                <a:spcPts val="0"/>
              </a:spcAft>
              <a:buSzPts val="1100"/>
              <a:buChar char="■"/>
            </a:pPr>
            <a:r>
              <a:rPr lang="en" b="1" i="1" dirty="0">
                <a:solidFill>
                  <a:srgbClr val="FF0000"/>
                </a:solidFill>
              </a:rPr>
              <a:t>Dequeue</a:t>
            </a:r>
            <a:r>
              <a:rPr lang="en" dirty="0">
                <a:solidFill>
                  <a:srgbClr val="FF0000"/>
                </a:solidFill>
              </a:rPr>
              <a:t> </a:t>
            </a:r>
            <a:r>
              <a:rPr lang="en" dirty="0"/>
              <a:t>the next vertex. Let's call it </a:t>
            </a:r>
            <a:r>
              <a:rPr lang="en" b="1" i="1" dirty="0">
                <a:solidFill>
                  <a:srgbClr val="FF0000"/>
                </a:solidFill>
              </a:rPr>
              <a:t>V</a:t>
            </a:r>
            <a:r>
              <a:rPr lang="en" dirty="0"/>
              <a:t>.</a:t>
            </a:r>
            <a:endParaRPr dirty="0"/>
          </a:p>
          <a:p>
            <a:pPr marL="1371600" lvl="2" indent="-298450" algn="l" rtl="0">
              <a:lnSpc>
                <a:spcPct val="115000"/>
              </a:lnSpc>
              <a:spcBef>
                <a:spcPts val="0"/>
              </a:spcBef>
              <a:spcAft>
                <a:spcPts val="0"/>
              </a:spcAft>
              <a:buSzPts val="1100"/>
              <a:buChar char="■"/>
            </a:pPr>
            <a:r>
              <a:rPr lang="en" dirty="0"/>
              <a:t>If </a:t>
            </a:r>
            <a:r>
              <a:rPr lang="en" b="1" i="1" dirty="0">
                <a:solidFill>
                  <a:srgbClr val="FF0000"/>
                </a:solidFill>
              </a:rPr>
              <a:t>V</a:t>
            </a:r>
            <a:r>
              <a:rPr lang="en" dirty="0"/>
              <a:t> is </a:t>
            </a:r>
            <a:r>
              <a:rPr lang="en" b="1" i="1" dirty="0">
                <a:solidFill>
                  <a:srgbClr val="FF0000"/>
                </a:solidFill>
              </a:rPr>
              <a:t>E</a:t>
            </a:r>
            <a:r>
              <a:rPr lang="en" dirty="0"/>
              <a:t>, you found a path to </a:t>
            </a:r>
            <a:r>
              <a:rPr lang="en" b="1" i="1" dirty="0">
                <a:solidFill>
                  <a:srgbClr val="FF0000"/>
                </a:solidFill>
              </a:rPr>
              <a:t>E</a:t>
            </a:r>
            <a:r>
              <a:rPr lang="en" dirty="0"/>
              <a:t>! </a:t>
            </a:r>
            <a:r>
              <a:rPr lang="en" b="1" i="1" dirty="0">
                <a:solidFill>
                  <a:srgbClr val="FF0000"/>
                </a:solidFill>
              </a:rPr>
              <a:t>Return </a:t>
            </a:r>
            <a:r>
              <a:rPr lang="en" dirty="0">
                <a:solidFill>
                  <a:srgbClr val="FF0000"/>
                </a:solidFill>
                <a:latin typeface="Courier New"/>
                <a:ea typeface="Courier New"/>
                <a:cs typeface="Courier New"/>
                <a:sym typeface="Courier New"/>
              </a:rPr>
              <a:t>true</a:t>
            </a:r>
            <a:r>
              <a:rPr lang="en" dirty="0"/>
              <a:t>!</a:t>
            </a:r>
            <a:endParaRPr dirty="0"/>
          </a:p>
          <a:p>
            <a:pPr marL="1371600" lvl="2" indent="-298450" algn="l" rtl="0">
              <a:lnSpc>
                <a:spcPct val="115000"/>
              </a:lnSpc>
              <a:spcBef>
                <a:spcPts val="0"/>
              </a:spcBef>
              <a:spcAft>
                <a:spcPts val="0"/>
              </a:spcAft>
              <a:buSzPts val="1100"/>
              <a:buChar char="■"/>
            </a:pPr>
            <a:r>
              <a:rPr lang="en" dirty="0"/>
              <a:t>If </a:t>
            </a:r>
            <a:r>
              <a:rPr lang="en" b="1" i="1" dirty="0">
                <a:solidFill>
                  <a:srgbClr val="FF0000"/>
                </a:solidFill>
              </a:rPr>
              <a:t>V is</a:t>
            </a:r>
            <a:r>
              <a:rPr lang="en" dirty="0"/>
              <a:t> </a:t>
            </a:r>
            <a:r>
              <a:rPr lang="en" b="1" i="1" dirty="0">
                <a:solidFill>
                  <a:srgbClr val="FF0000"/>
                </a:solidFill>
              </a:rPr>
              <a:t>not</a:t>
            </a:r>
            <a:r>
              <a:rPr lang="en" dirty="0">
                <a:solidFill>
                  <a:srgbClr val="FF0000"/>
                </a:solidFill>
              </a:rPr>
              <a:t> </a:t>
            </a:r>
            <a:r>
              <a:rPr lang="en" b="1" i="1" dirty="0">
                <a:solidFill>
                  <a:srgbClr val="FF0000"/>
                </a:solidFill>
              </a:rPr>
              <a:t>E</a:t>
            </a:r>
            <a:r>
              <a:rPr lang="en" dirty="0"/>
              <a:t>, then add each of </a:t>
            </a:r>
            <a:r>
              <a:rPr lang="en" b="1" i="1" dirty="0">
                <a:solidFill>
                  <a:srgbClr val="FF0000"/>
                </a:solidFill>
              </a:rPr>
              <a:t>V's neighbors</a:t>
            </a:r>
            <a:r>
              <a:rPr lang="en" dirty="0"/>
              <a:t> to the queue. </a:t>
            </a:r>
            <a:endParaRPr dirty="0"/>
          </a:p>
          <a:p>
            <a:pPr marL="914400" lvl="1" indent="-298450" algn="l" rtl="0">
              <a:lnSpc>
                <a:spcPct val="115000"/>
              </a:lnSpc>
              <a:spcBef>
                <a:spcPts val="0"/>
              </a:spcBef>
              <a:spcAft>
                <a:spcPts val="0"/>
              </a:spcAft>
              <a:buSzPts val="1100"/>
              <a:buChar char="○"/>
            </a:pPr>
            <a:r>
              <a:rPr lang="en" dirty="0"/>
              <a:t>If the queue is </a:t>
            </a:r>
            <a:r>
              <a:rPr lang="en" b="1" i="1" dirty="0">
                <a:solidFill>
                  <a:srgbClr val="FF0000"/>
                </a:solidFill>
              </a:rPr>
              <a:t>empty</a:t>
            </a:r>
            <a:r>
              <a:rPr lang="en" dirty="0"/>
              <a:t>, then there is no path from </a:t>
            </a:r>
            <a:r>
              <a:rPr lang="en" b="1" i="1" dirty="0">
                <a:solidFill>
                  <a:srgbClr val="FF0000"/>
                </a:solidFill>
              </a:rPr>
              <a:t>S to E</a:t>
            </a:r>
            <a:r>
              <a:rPr lang="en" dirty="0"/>
              <a:t>. If there were, one of </a:t>
            </a:r>
            <a:r>
              <a:rPr lang="en" b="1" i="1" dirty="0">
                <a:solidFill>
                  <a:srgbClr val="FF0000"/>
                </a:solidFill>
              </a:rPr>
              <a:t>E</a:t>
            </a:r>
            <a:r>
              <a:rPr lang="en" dirty="0"/>
              <a:t>'s neighbors would have added </a:t>
            </a:r>
            <a:r>
              <a:rPr lang="en" b="1" i="1" dirty="0">
                <a:solidFill>
                  <a:srgbClr val="FF0000"/>
                </a:solidFill>
              </a:rPr>
              <a:t>E</a:t>
            </a:r>
            <a:r>
              <a:rPr lang="en" dirty="0"/>
              <a:t> to the queue. </a:t>
            </a:r>
            <a:r>
              <a:rPr lang="en" b="1" i="1" dirty="0">
                <a:solidFill>
                  <a:srgbClr val="FF0000"/>
                </a:solidFill>
              </a:rPr>
              <a:t>Return</a:t>
            </a:r>
            <a:r>
              <a:rPr lang="en" dirty="0">
                <a:solidFill>
                  <a:srgbClr val="FF0000"/>
                </a:solidFill>
              </a:rPr>
              <a:t> </a:t>
            </a:r>
            <a:r>
              <a:rPr lang="en" dirty="0">
                <a:solidFill>
                  <a:srgbClr val="FF0000"/>
                </a:solidFill>
                <a:latin typeface="Courier New"/>
                <a:ea typeface="Courier New"/>
                <a:cs typeface="Courier New"/>
                <a:sym typeface="Courier New"/>
              </a:rPr>
              <a:t>false</a:t>
            </a:r>
            <a:r>
              <a:rPr lang="en" dirty="0"/>
              <a:t>.</a:t>
            </a:r>
            <a:endParaRPr dirty="0"/>
          </a:p>
          <a:p>
            <a:pPr marL="457200" lvl="0" indent="-311150" algn="l" rtl="0">
              <a:lnSpc>
                <a:spcPct val="115000"/>
              </a:lnSpc>
              <a:spcBef>
                <a:spcPts val="1000"/>
              </a:spcBef>
              <a:spcAft>
                <a:spcPts val="0"/>
              </a:spcAft>
              <a:buSzPts val="1300"/>
              <a:buChar char="●"/>
            </a:pPr>
            <a:r>
              <a:rPr lang="en" dirty="0"/>
              <a:t>Let's try finding a path from </a:t>
            </a:r>
            <a:r>
              <a:rPr lang="en" b="1" i="1" dirty="0">
                <a:solidFill>
                  <a:srgbClr val="FF0000"/>
                </a:solidFill>
              </a:rPr>
              <a:t>F to B</a:t>
            </a:r>
            <a:r>
              <a:rPr lang="en" dirty="0"/>
              <a:t> in the example graph to the right using </a:t>
            </a:r>
            <a:r>
              <a:rPr lang="en" b="1" i="1" dirty="0">
                <a:solidFill>
                  <a:srgbClr val="FF0000"/>
                </a:solidFill>
              </a:rPr>
              <a:t>BFS</a:t>
            </a:r>
            <a:r>
              <a:rPr lang="en" dirty="0"/>
              <a:t>.</a:t>
            </a:r>
            <a:endParaRPr dirty="0"/>
          </a:p>
          <a:p>
            <a:pPr marL="914400" lvl="1" indent="-298450" algn="l" rtl="0">
              <a:lnSpc>
                <a:spcPct val="115000"/>
              </a:lnSpc>
              <a:spcBef>
                <a:spcPts val="0"/>
              </a:spcBef>
              <a:spcAft>
                <a:spcPts val="0"/>
              </a:spcAft>
              <a:buSzPts val="1100"/>
              <a:buChar char="○"/>
            </a:pPr>
            <a:r>
              <a:rPr lang="en" dirty="0"/>
              <a:t>Begin by adding </a:t>
            </a:r>
            <a:r>
              <a:rPr lang="en" b="1" i="1" dirty="0">
                <a:solidFill>
                  <a:srgbClr val="FF0000"/>
                </a:solidFill>
              </a:rPr>
              <a:t>F</a:t>
            </a:r>
            <a:r>
              <a:rPr lang="en" dirty="0"/>
              <a:t> to a </a:t>
            </a:r>
            <a:r>
              <a:rPr lang="en" b="1" i="1" dirty="0">
                <a:solidFill>
                  <a:srgbClr val="FF0000"/>
                </a:solidFill>
              </a:rPr>
              <a:t>queue</a:t>
            </a:r>
            <a:r>
              <a:rPr lang="en" dirty="0"/>
              <a:t>.</a:t>
            </a:r>
            <a:endParaRPr dirty="0"/>
          </a:p>
          <a:p>
            <a:pPr marL="914400" lvl="1" indent="-298450" algn="l" rtl="0">
              <a:lnSpc>
                <a:spcPct val="115000"/>
              </a:lnSpc>
              <a:spcBef>
                <a:spcPts val="0"/>
              </a:spcBef>
              <a:spcAft>
                <a:spcPts val="0"/>
              </a:spcAft>
              <a:buSzPts val="1100"/>
              <a:buChar char="○"/>
            </a:pPr>
            <a:r>
              <a:rPr lang="en" dirty="0"/>
              <a:t>We'll </a:t>
            </a:r>
            <a:r>
              <a:rPr lang="en" b="1" i="1" dirty="0">
                <a:solidFill>
                  <a:srgbClr val="FF0000"/>
                </a:solidFill>
              </a:rPr>
              <a:t>cross out</a:t>
            </a:r>
            <a:r>
              <a:rPr lang="en" dirty="0"/>
              <a:t> each vertex as it is removed from the queue and </a:t>
            </a:r>
            <a:r>
              <a:rPr lang="en" b="1" i="1" dirty="0">
                <a:solidFill>
                  <a:srgbClr val="FF0000"/>
                </a:solidFill>
              </a:rPr>
              <a:t>add its neighbors</a:t>
            </a:r>
            <a:r>
              <a:rPr lang="en" dirty="0"/>
              <a:t> to the queue.</a:t>
            </a:r>
            <a:endParaRPr dirty="0"/>
          </a:p>
          <a:p>
            <a:pPr marL="914400" lvl="1" indent="-298450" algn="l" rtl="0">
              <a:lnSpc>
                <a:spcPct val="115000"/>
              </a:lnSpc>
              <a:spcBef>
                <a:spcPts val="0"/>
              </a:spcBef>
              <a:spcAft>
                <a:spcPts val="0"/>
              </a:spcAft>
              <a:buSzPts val="1100"/>
              <a:buChar char="○"/>
            </a:pPr>
            <a:r>
              <a:rPr lang="en" dirty="0"/>
              <a:t>The search ends when </a:t>
            </a:r>
            <a:r>
              <a:rPr lang="en" b="1" i="1" dirty="0">
                <a:solidFill>
                  <a:srgbClr val="FF0000"/>
                </a:solidFill>
              </a:rPr>
              <a:t>B</a:t>
            </a:r>
            <a:r>
              <a:rPr lang="en" dirty="0"/>
              <a:t> is found, or the queue is empty.</a:t>
            </a:r>
            <a:endParaRPr dirty="0"/>
          </a:p>
        </p:txBody>
      </p:sp>
      <p:sp>
        <p:nvSpPr>
          <p:cNvPr id="1155" name="Google Shape;1155;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25</a:t>
            </a:fld>
            <a:endParaRPr/>
          </a:p>
        </p:txBody>
      </p:sp>
      <p:grpSp>
        <p:nvGrpSpPr>
          <p:cNvPr id="1156" name="Google Shape;1156;p58"/>
          <p:cNvGrpSpPr/>
          <p:nvPr/>
        </p:nvGrpSpPr>
        <p:grpSpPr>
          <a:xfrm>
            <a:off x="642477" y="972376"/>
            <a:ext cx="2727118" cy="2705047"/>
            <a:chOff x="5900277" y="743776"/>
            <a:chExt cx="2727118" cy="2705047"/>
          </a:xfrm>
        </p:grpSpPr>
        <p:sp>
          <p:nvSpPr>
            <p:cNvPr id="1157" name="Google Shape;1157;p58"/>
            <p:cNvSpPr/>
            <p:nvPr/>
          </p:nvSpPr>
          <p:spPr>
            <a:xfrm>
              <a:off x="6072743" y="743776"/>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158" name="Google Shape;1158;p58"/>
            <p:cNvSpPr/>
            <p:nvPr/>
          </p:nvSpPr>
          <p:spPr>
            <a:xfrm>
              <a:off x="7213995" y="106668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159" name="Google Shape;1159;p58"/>
            <p:cNvSpPr/>
            <p:nvPr/>
          </p:nvSpPr>
          <p:spPr>
            <a:xfrm>
              <a:off x="5900277" y="19409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160" name="Google Shape;1160;p58"/>
            <p:cNvSpPr/>
            <p:nvPr/>
          </p:nvSpPr>
          <p:spPr>
            <a:xfrm>
              <a:off x="7108281" y="2181542"/>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161" name="Google Shape;1161;p58"/>
            <p:cNvSpPr/>
            <p:nvPr/>
          </p:nvSpPr>
          <p:spPr>
            <a:xfrm>
              <a:off x="7936395" y="29268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162" name="Google Shape;1162;p58"/>
            <p:cNvCxnSpPr>
              <a:stCxn id="1157" idx="6"/>
              <a:endCxn id="1158" idx="1"/>
            </p:cNvCxnSpPr>
            <p:nvPr/>
          </p:nvCxnSpPr>
          <p:spPr>
            <a:xfrm>
              <a:off x="6594743" y="1004776"/>
              <a:ext cx="695700" cy="138300"/>
            </a:xfrm>
            <a:prstGeom prst="straightConnector1">
              <a:avLst/>
            </a:prstGeom>
            <a:noFill/>
            <a:ln w="19050" cap="flat" cmpd="sng">
              <a:solidFill>
                <a:srgbClr val="FFFFFF"/>
              </a:solidFill>
              <a:prstDash val="solid"/>
              <a:round/>
              <a:headEnd type="none" w="sm" len="sm"/>
              <a:tailEnd type="triangle" w="med" len="med"/>
            </a:ln>
          </p:spPr>
        </p:cxnSp>
        <p:cxnSp>
          <p:nvCxnSpPr>
            <p:cNvPr id="1163" name="Google Shape;1163;p58"/>
            <p:cNvCxnSpPr>
              <a:stCxn id="1157" idx="4"/>
              <a:endCxn id="1159" idx="0"/>
            </p:cNvCxnSpPr>
            <p:nvPr/>
          </p:nvCxnSpPr>
          <p:spPr>
            <a:xfrm flipH="1">
              <a:off x="6161243" y="1265776"/>
              <a:ext cx="172500" cy="675000"/>
            </a:xfrm>
            <a:prstGeom prst="straightConnector1">
              <a:avLst/>
            </a:prstGeom>
            <a:noFill/>
            <a:ln w="19050" cap="flat" cmpd="sng">
              <a:solidFill>
                <a:srgbClr val="FFFFFF"/>
              </a:solidFill>
              <a:prstDash val="solid"/>
              <a:round/>
              <a:headEnd type="none" w="sm" len="sm"/>
              <a:tailEnd type="triangle" w="med" len="med"/>
            </a:ln>
          </p:spPr>
        </p:cxnSp>
        <p:cxnSp>
          <p:nvCxnSpPr>
            <p:cNvPr id="1164" name="Google Shape;1164;p58"/>
            <p:cNvCxnSpPr>
              <a:stCxn id="1159" idx="5"/>
              <a:endCxn id="1160" idx="2"/>
            </p:cNvCxnSpPr>
            <p:nvPr/>
          </p:nvCxnSpPr>
          <p:spPr>
            <a:xfrm>
              <a:off x="6345832" y="2386478"/>
              <a:ext cx="762300" cy="56100"/>
            </a:xfrm>
            <a:prstGeom prst="straightConnector1">
              <a:avLst/>
            </a:prstGeom>
            <a:noFill/>
            <a:ln w="19050" cap="flat" cmpd="sng">
              <a:solidFill>
                <a:srgbClr val="FFFFFF"/>
              </a:solidFill>
              <a:prstDash val="solid"/>
              <a:round/>
              <a:headEnd type="none" w="sm" len="sm"/>
              <a:tailEnd type="triangle" w="med" len="med"/>
            </a:ln>
          </p:spPr>
        </p:cxnSp>
        <p:cxnSp>
          <p:nvCxnSpPr>
            <p:cNvPr id="1165" name="Google Shape;1165;p58"/>
            <p:cNvCxnSpPr>
              <a:stCxn id="1160" idx="5"/>
              <a:endCxn id="1161" idx="1"/>
            </p:cNvCxnSpPr>
            <p:nvPr/>
          </p:nvCxnSpPr>
          <p:spPr>
            <a:xfrm>
              <a:off x="7553836" y="2627097"/>
              <a:ext cx="459000" cy="376200"/>
            </a:xfrm>
            <a:prstGeom prst="straightConnector1">
              <a:avLst/>
            </a:prstGeom>
            <a:noFill/>
            <a:ln w="19050" cap="flat" cmpd="sng">
              <a:solidFill>
                <a:srgbClr val="FFFFFF"/>
              </a:solidFill>
              <a:prstDash val="solid"/>
              <a:round/>
              <a:headEnd type="none" w="sm" len="sm"/>
              <a:tailEnd type="triangle" w="med" len="med"/>
            </a:ln>
          </p:spPr>
        </p:cxnSp>
        <p:sp>
          <p:nvSpPr>
            <p:cNvPr id="1166" name="Google Shape;1166;p58"/>
            <p:cNvSpPr/>
            <p:nvPr/>
          </p:nvSpPr>
          <p:spPr>
            <a:xfrm>
              <a:off x="8105395" y="16736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167" name="Google Shape;1167;p58"/>
            <p:cNvCxnSpPr>
              <a:stCxn id="1160" idx="6"/>
              <a:endCxn id="1166" idx="3"/>
            </p:cNvCxnSpPr>
            <p:nvPr/>
          </p:nvCxnSpPr>
          <p:spPr>
            <a:xfrm rot="10800000" flipH="1">
              <a:off x="7630281" y="2119142"/>
              <a:ext cx="551700" cy="323400"/>
            </a:xfrm>
            <a:prstGeom prst="straightConnector1">
              <a:avLst/>
            </a:prstGeom>
            <a:noFill/>
            <a:ln w="19050" cap="flat" cmpd="sng">
              <a:solidFill>
                <a:srgbClr val="FFFFFF"/>
              </a:solidFill>
              <a:prstDash val="solid"/>
              <a:round/>
              <a:headEnd type="none" w="sm" len="sm"/>
              <a:tailEnd type="triangle" w="med" len="med"/>
            </a:ln>
          </p:spPr>
        </p:cxnSp>
      </p:grpSp>
      <p:graphicFrame>
        <p:nvGraphicFramePr>
          <p:cNvPr id="1168" name="Google Shape;1168;p58"/>
          <p:cNvGraphicFramePr/>
          <p:nvPr/>
        </p:nvGraphicFramePr>
        <p:xfrm>
          <a:off x="174075" y="3841675"/>
          <a:ext cx="3301050" cy="396210"/>
        </p:xfrm>
        <a:graphic>
          <a:graphicData uri="http://schemas.openxmlformats.org/drawingml/2006/table">
            <a:tbl>
              <a:tblPr>
                <a:noFill/>
                <a:tableStyleId>{F61E8307-4E6B-4154-8BF4-D3231BAD3CED}</a:tableStyleId>
              </a:tblPr>
              <a:tblGrid>
                <a:gridCol w="807750">
                  <a:extLst>
                    <a:ext uri="{9D8B030D-6E8A-4147-A177-3AD203B41FA5}">
                      <a16:colId xmlns:a16="http://schemas.microsoft.com/office/drawing/2014/main" val="20000"/>
                    </a:ext>
                  </a:extLst>
                </a:gridCol>
                <a:gridCol w="415550">
                  <a:extLst>
                    <a:ext uri="{9D8B030D-6E8A-4147-A177-3AD203B41FA5}">
                      <a16:colId xmlns:a16="http://schemas.microsoft.com/office/drawing/2014/main" val="20001"/>
                    </a:ext>
                  </a:extLst>
                </a:gridCol>
                <a:gridCol w="415550">
                  <a:extLst>
                    <a:ext uri="{9D8B030D-6E8A-4147-A177-3AD203B41FA5}">
                      <a16:colId xmlns:a16="http://schemas.microsoft.com/office/drawing/2014/main" val="20002"/>
                    </a:ext>
                  </a:extLst>
                </a:gridCol>
                <a:gridCol w="415550">
                  <a:extLst>
                    <a:ext uri="{9D8B030D-6E8A-4147-A177-3AD203B41FA5}">
                      <a16:colId xmlns:a16="http://schemas.microsoft.com/office/drawing/2014/main" val="20003"/>
                    </a:ext>
                  </a:extLst>
                </a:gridCol>
                <a:gridCol w="415550">
                  <a:extLst>
                    <a:ext uri="{9D8B030D-6E8A-4147-A177-3AD203B41FA5}">
                      <a16:colId xmlns:a16="http://schemas.microsoft.com/office/drawing/2014/main" val="20004"/>
                    </a:ext>
                  </a:extLst>
                </a:gridCol>
                <a:gridCol w="415550">
                  <a:extLst>
                    <a:ext uri="{9D8B030D-6E8A-4147-A177-3AD203B41FA5}">
                      <a16:colId xmlns:a16="http://schemas.microsoft.com/office/drawing/2014/main" val="20005"/>
                    </a:ext>
                  </a:extLst>
                </a:gridCol>
                <a:gridCol w="415550">
                  <a:extLst>
                    <a:ext uri="{9D8B030D-6E8A-4147-A177-3AD203B41FA5}">
                      <a16:colId xmlns:a16="http://schemas.microsoft.com/office/drawing/2014/main" val="20006"/>
                    </a:ext>
                  </a:extLst>
                </a:gridCol>
              </a:tblGrid>
              <a:tr h="381000">
                <a:tc>
                  <a:txBody>
                    <a:bodyPr/>
                    <a:lstStyle/>
                    <a:p>
                      <a:pPr marL="0" marR="0" lvl="0" indent="0" algn="r"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Queue</a:t>
                      </a:r>
                      <a:endParaRPr sz="1400" u="none" strike="noStrike" cap="none">
                        <a:solidFill>
                          <a:srgbClr val="FFFFFF"/>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169" name="Google Shape;1169;p58"/>
          <p:cNvSpPr txBox="1"/>
          <p:nvPr/>
        </p:nvSpPr>
        <p:spPr>
          <a:xfrm>
            <a:off x="972571"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170" name="Google Shape;1170;p58"/>
          <p:cNvSpPr txBox="1"/>
          <p:nvPr/>
        </p:nvSpPr>
        <p:spPr>
          <a:xfrm>
            <a:off x="1411435"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171" name="Google Shape;1171;p58"/>
          <p:cNvSpPr txBox="1"/>
          <p:nvPr/>
        </p:nvSpPr>
        <p:spPr>
          <a:xfrm>
            <a:off x="1824582"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sp>
        <p:nvSpPr>
          <p:cNvPr id="1172" name="Google Shape;1172;p58"/>
          <p:cNvSpPr txBox="1"/>
          <p:nvPr/>
        </p:nvSpPr>
        <p:spPr>
          <a:xfrm>
            <a:off x="2212011"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173" name="Google Shape;1173;p58"/>
          <p:cNvSpPr txBox="1"/>
          <p:nvPr/>
        </p:nvSpPr>
        <p:spPr>
          <a:xfrm>
            <a:off x="2643494"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174" name="Google Shape;1174;p58"/>
          <p:cNvSpPr txBox="1"/>
          <p:nvPr/>
        </p:nvSpPr>
        <p:spPr>
          <a:xfrm>
            <a:off x="3037353"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sp>
        <p:nvSpPr>
          <p:cNvPr id="1175" name="Google Shape;1175;p58"/>
          <p:cNvSpPr txBox="1"/>
          <p:nvPr/>
        </p:nvSpPr>
        <p:spPr>
          <a:xfrm>
            <a:off x="991859"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176" name="Google Shape;1176;p58"/>
          <p:cNvSpPr txBox="1"/>
          <p:nvPr/>
        </p:nvSpPr>
        <p:spPr>
          <a:xfrm>
            <a:off x="1385718"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177" name="Google Shape;1177;p58"/>
          <p:cNvSpPr txBox="1"/>
          <p:nvPr/>
        </p:nvSpPr>
        <p:spPr>
          <a:xfrm>
            <a:off x="1830059"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178" name="Google Shape;1178;p58"/>
          <p:cNvSpPr txBox="1"/>
          <p:nvPr/>
        </p:nvSpPr>
        <p:spPr>
          <a:xfrm>
            <a:off x="2230347"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179" name="Google Shape;1179;p58"/>
          <p:cNvSpPr/>
          <p:nvPr/>
        </p:nvSpPr>
        <p:spPr>
          <a:xfrm>
            <a:off x="2667287" y="3838625"/>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58"/>
          <p:cNvSpPr txBox="1">
            <a:spLocks noGrp="1"/>
          </p:cNvSpPr>
          <p:nvPr>
            <p:ph type="body" idx="3"/>
          </p:nvPr>
        </p:nvSpPr>
        <p:spPr>
          <a:xfrm>
            <a:off x="222325" y="4402125"/>
            <a:ext cx="3706500" cy="54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In this example, vertex </a:t>
            </a:r>
            <a:r>
              <a:rPr lang="en" b="1" i="1">
                <a:solidFill>
                  <a:srgbClr val="FF0000"/>
                </a:solidFill>
              </a:rPr>
              <a:t>B</a:t>
            </a:r>
            <a:r>
              <a:rPr lang="en"/>
              <a:t> is found </a:t>
            </a:r>
            <a:r>
              <a:rPr lang="en" b="1" i="1">
                <a:solidFill>
                  <a:srgbClr val="FF0000"/>
                </a:solidFill>
              </a:rPr>
              <a:t>before</a:t>
            </a:r>
            <a:r>
              <a:rPr lang="en">
                <a:solidFill>
                  <a:srgbClr val="FF0000"/>
                </a:solidFill>
              </a:rPr>
              <a:t> </a:t>
            </a:r>
            <a:r>
              <a:rPr lang="en"/>
              <a:t>the queue is empty, and so we know that a path exists!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5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5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5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5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5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5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5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168"/>
                                        </p:tgtEl>
                                        <p:attrNameLst>
                                          <p:attrName>style.visibility</p:attrName>
                                        </p:attrNameLst>
                                      </p:cBhvr>
                                      <p:to>
                                        <p:strVal val="visible"/>
                                      </p:to>
                                    </p:set>
                                    <p:animEffect transition="in" filter="fade">
                                      <p:cBhvr>
                                        <p:cTn id="55" dur="1000"/>
                                        <p:tgtEl>
                                          <p:spTgt spid="1168"/>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1169"/>
                                        </p:tgtEl>
                                        <p:attrNameLst>
                                          <p:attrName>style.visibility</p:attrName>
                                        </p:attrNameLst>
                                      </p:cBhvr>
                                      <p:to>
                                        <p:strVal val="visible"/>
                                      </p:to>
                                    </p:set>
                                    <p:animEffect transition="in" filter="fade">
                                      <p:cBhvr>
                                        <p:cTn id="59" dur="1000"/>
                                        <p:tgtEl>
                                          <p:spTgt spid="116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175"/>
                                        </p:tgtEl>
                                        <p:attrNameLst>
                                          <p:attrName>style.visibility</p:attrName>
                                        </p:attrNameLst>
                                      </p:cBhvr>
                                      <p:to>
                                        <p:strVal val="visible"/>
                                      </p:to>
                                    </p:set>
                                    <p:animEffect transition="in" filter="fade">
                                      <p:cBhvr>
                                        <p:cTn id="64" dur="1000"/>
                                        <p:tgtEl>
                                          <p:spTgt spid="1175"/>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1170"/>
                                        </p:tgtEl>
                                        <p:attrNameLst>
                                          <p:attrName>style.visibility</p:attrName>
                                        </p:attrNameLst>
                                      </p:cBhvr>
                                      <p:to>
                                        <p:strVal val="visible"/>
                                      </p:to>
                                    </p:set>
                                    <p:animEffect transition="in" filter="fade">
                                      <p:cBhvr>
                                        <p:cTn id="68" dur="1000"/>
                                        <p:tgtEl>
                                          <p:spTgt spid="1170"/>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1171"/>
                                        </p:tgtEl>
                                        <p:attrNameLst>
                                          <p:attrName>style.visibility</p:attrName>
                                        </p:attrNameLst>
                                      </p:cBhvr>
                                      <p:to>
                                        <p:strVal val="visible"/>
                                      </p:to>
                                    </p:set>
                                    <p:animEffect transition="in" filter="fade">
                                      <p:cBhvr>
                                        <p:cTn id="72" dur="1000"/>
                                        <p:tgtEl>
                                          <p:spTgt spid="117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176"/>
                                        </p:tgtEl>
                                        <p:attrNameLst>
                                          <p:attrName>style.visibility</p:attrName>
                                        </p:attrNameLst>
                                      </p:cBhvr>
                                      <p:to>
                                        <p:strVal val="visible"/>
                                      </p:to>
                                    </p:set>
                                    <p:animEffect transition="in" filter="fade">
                                      <p:cBhvr>
                                        <p:cTn id="77" dur="1000"/>
                                        <p:tgtEl>
                                          <p:spTgt spid="1176"/>
                                        </p:tgtEl>
                                      </p:cBhvr>
                                    </p:animEffect>
                                  </p:childTnLst>
                                </p:cTn>
                              </p:par>
                            </p:childTnLst>
                          </p:cTn>
                        </p:par>
                        <p:par>
                          <p:cTn id="78" fill="hold">
                            <p:stCondLst>
                              <p:cond delay="1000"/>
                            </p:stCondLst>
                            <p:childTnLst>
                              <p:par>
                                <p:cTn id="79" presetID="10" presetClass="entr" presetSubtype="0" fill="hold" nodeType="afterEffect">
                                  <p:stCondLst>
                                    <p:cond delay="0"/>
                                  </p:stCondLst>
                                  <p:childTnLst>
                                    <p:set>
                                      <p:cBhvr>
                                        <p:cTn id="80" dur="1" fill="hold">
                                          <p:stCondLst>
                                            <p:cond delay="0"/>
                                          </p:stCondLst>
                                        </p:cTn>
                                        <p:tgtEl>
                                          <p:spTgt spid="1172"/>
                                        </p:tgtEl>
                                        <p:attrNameLst>
                                          <p:attrName>style.visibility</p:attrName>
                                        </p:attrNameLst>
                                      </p:cBhvr>
                                      <p:to>
                                        <p:strVal val="visible"/>
                                      </p:to>
                                    </p:set>
                                    <p:animEffect transition="in" filter="fade">
                                      <p:cBhvr>
                                        <p:cTn id="81" dur="1000"/>
                                        <p:tgtEl>
                                          <p:spTgt spid="117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177"/>
                                        </p:tgtEl>
                                        <p:attrNameLst>
                                          <p:attrName>style.visibility</p:attrName>
                                        </p:attrNameLst>
                                      </p:cBhvr>
                                      <p:to>
                                        <p:strVal val="visible"/>
                                      </p:to>
                                    </p:set>
                                    <p:animEffect transition="in" filter="fade">
                                      <p:cBhvr>
                                        <p:cTn id="86" dur="1000"/>
                                        <p:tgtEl>
                                          <p:spTgt spid="117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178"/>
                                        </p:tgtEl>
                                        <p:attrNameLst>
                                          <p:attrName>style.visibility</p:attrName>
                                        </p:attrNameLst>
                                      </p:cBhvr>
                                      <p:to>
                                        <p:strVal val="visible"/>
                                      </p:to>
                                    </p:set>
                                    <p:animEffect transition="in" filter="fade">
                                      <p:cBhvr>
                                        <p:cTn id="91" dur="1000"/>
                                        <p:tgtEl>
                                          <p:spTgt spid="1178"/>
                                        </p:tgtEl>
                                      </p:cBhvr>
                                    </p:animEffect>
                                  </p:childTnLst>
                                </p:cTn>
                              </p:par>
                            </p:childTnLst>
                          </p:cTn>
                        </p:par>
                        <p:par>
                          <p:cTn id="92" fill="hold">
                            <p:stCondLst>
                              <p:cond delay="1000"/>
                            </p:stCondLst>
                            <p:childTnLst>
                              <p:par>
                                <p:cTn id="93" presetID="10" presetClass="entr" presetSubtype="0" fill="hold" nodeType="afterEffect">
                                  <p:stCondLst>
                                    <p:cond delay="0"/>
                                  </p:stCondLst>
                                  <p:childTnLst>
                                    <p:set>
                                      <p:cBhvr>
                                        <p:cTn id="94" dur="1" fill="hold">
                                          <p:stCondLst>
                                            <p:cond delay="0"/>
                                          </p:stCondLst>
                                        </p:cTn>
                                        <p:tgtEl>
                                          <p:spTgt spid="1173"/>
                                        </p:tgtEl>
                                        <p:attrNameLst>
                                          <p:attrName>style.visibility</p:attrName>
                                        </p:attrNameLst>
                                      </p:cBhvr>
                                      <p:to>
                                        <p:strVal val="visible"/>
                                      </p:to>
                                    </p:set>
                                    <p:animEffect transition="in" filter="fade">
                                      <p:cBhvr>
                                        <p:cTn id="95" dur="1000"/>
                                        <p:tgtEl>
                                          <p:spTgt spid="1173"/>
                                        </p:tgtEl>
                                      </p:cBhvr>
                                    </p:animEffect>
                                  </p:childTnLst>
                                </p:cTn>
                              </p:par>
                              <p:par>
                                <p:cTn id="96" presetID="10" presetClass="entr" presetSubtype="0" fill="hold" nodeType="withEffect">
                                  <p:stCondLst>
                                    <p:cond delay="0"/>
                                  </p:stCondLst>
                                  <p:childTnLst>
                                    <p:set>
                                      <p:cBhvr>
                                        <p:cTn id="97" dur="1" fill="hold">
                                          <p:stCondLst>
                                            <p:cond delay="0"/>
                                          </p:stCondLst>
                                        </p:cTn>
                                        <p:tgtEl>
                                          <p:spTgt spid="1174"/>
                                        </p:tgtEl>
                                        <p:attrNameLst>
                                          <p:attrName>style.visibility</p:attrName>
                                        </p:attrNameLst>
                                      </p:cBhvr>
                                      <p:to>
                                        <p:strVal val="visible"/>
                                      </p:to>
                                    </p:set>
                                    <p:animEffect transition="in" filter="fade">
                                      <p:cBhvr>
                                        <p:cTn id="98" dur="1000"/>
                                        <p:tgtEl>
                                          <p:spTgt spid="1174"/>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1179"/>
                                        </p:tgtEl>
                                        <p:attrNameLst>
                                          <p:attrName>style.visibility</p:attrName>
                                        </p:attrNameLst>
                                      </p:cBhvr>
                                      <p:to>
                                        <p:strVal val="visible"/>
                                      </p:to>
                                    </p:set>
                                    <p:animEffect transition="in" filter="fade">
                                      <p:cBhvr>
                                        <p:cTn id="103" dur="1000"/>
                                        <p:tgtEl>
                                          <p:spTgt spid="1179"/>
                                        </p:tgtEl>
                                      </p:cBhvr>
                                    </p:animEffect>
                                  </p:childTnLst>
                                </p:cTn>
                              </p:par>
                            </p:childTnLst>
                          </p:cTn>
                        </p:par>
                        <p:par>
                          <p:cTn id="104" fill="hold">
                            <p:stCondLst>
                              <p:cond delay="1000"/>
                            </p:stCondLst>
                            <p:childTnLst>
                              <p:par>
                                <p:cTn id="105" presetID="10" presetClass="entr" presetSubtype="0" fill="hold" nodeType="afterEffect">
                                  <p:stCondLst>
                                    <p:cond delay="0"/>
                                  </p:stCondLst>
                                  <p:childTnLst>
                                    <p:set>
                                      <p:cBhvr>
                                        <p:cTn id="106" dur="1" fill="hold">
                                          <p:stCondLst>
                                            <p:cond delay="0"/>
                                          </p:stCondLst>
                                        </p:cTn>
                                        <p:tgtEl>
                                          <p:spTgt spid="1180"/>
                                        </p:tgtEl>
                                        <p:attrNameLst>
                                          <p:attrName>style.visibility</p:attrName>
                                        </p:attrNameLst>
                                      </p:cBhvr>
                                      <p:to>
                                        <p:strVal val="visible"/>
                                      </p:to>
                                    </p:set>
                                    <p:animEffect transition="in" filter="fade">
                                      <p:cBhvr>
                                        <p:cTn id="107" dur="1000"/>
                                        <p:tgtEl>
                                          <p:spTgt spid="1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59"/>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Breadth-First Search "On Paper"</a:t>
            </a:r>
            <a:endParaRPr/>
          </a:p>
        </p:txBody>
      </p:sp>
      <p:sp>
        <p:nvSpPr>
          <p:cNvPr id="1186" name="Google Shape;1186;p59"/>
          <p:cNvSpPr txBox="1">
            <a:spLocks noGrp="1"/>
          </p:cNvSpPr>
          <p:nvPr>
            <p:ph type="body" idx="1"/>
          </p:nvPr>
        </p:nvSpPr>
        <p:spPr>
          <a:xfrm>
            <a:off x="65250" y="731625"/>
            <a:ext cx="8955900" cy="114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en"/>
              <a:t>Before trying to implement an algorithm in code it can be useful to run through the steps "on paper" so that you can see how it works. Use the graph depicted below to run each Breadth-First Search (BFS). Your solution should always visit neighbors in </a:t>
            </a:r>
            <a:r>
              <a:rPr lang="en" b="1" i="1" u="sng">
                <a:solidFill>
                  <a:srgbClr val="FF0000"/>
                </a:solidFill>
              </a:rPr>
              <a:t>alphabetical order</a:t>
            </a:r>
            <a:r>
              <a:rPr lang="en"/>
              <a:t>.</a:t>
            </a:r>
            <a:endParaRPr/>
          </a:p>
        </p:txBody>
      </p:sp>
      <p:sp>
        <p:nvSpPr>
          <p:cNvPr id="1187" name="Google Shape;1187;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1188" name="Google Shape;1188;p59"/>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12.9</a:t>
            </a:r>
            <a:endParaRPr/>
          </a:p>
        </p:txBody>
      </p:sp>
      <p:graphicFrame>
        <p:nvGraphicFramePr>
          <p:cNvPr id="1189" name="Google Shape;1189;p59"/>
          <p:cNvGraphicFramePr/>
          <p:nvPr/>
        </p:nvGraphicFramePr>
        <p:xfrm>
          <a:off x="3147225" y="2152650"/>
          <a:ext cx="544232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gridCol w="399450">
                  <a:extLst>
                    <a:ext uri="{9D8B030D-6E8A-4147-A177-3AD203B41FA5}">
                      <a16:colId xmlns:a16="http://schemas.microsoft.com/office/drawing/2014/main" val="20008"/>
                    </a:ext>
                  </a:extLst>
                </a:gridCol>
                <a:gridCol w="399450">
                  <a:extLst>
                    <a:ext uri="{9D8B030D-6E8A-4147-A177-3AD203B41FA5}">
                      <a16:colId xmlns:a16="http://schemas.microsoft.com/office/drawing/2014/main" val="20009"/>
                    </a:ext>
                  </a:extLst>
                </a:gridCol>
                <a:gridCol w="399450">
                  <a:extLst>
                    <a:ext uri="{9D8B030D-6E8A-4147-A177-3AD203B41FA5}">
                      <a16:colId xmlns:a16="http://schemas.microsoft.com/office/drawing/2014/main" val="20010"/>
                    </a:ext>
                  </a:extLst>
                </a:gridCol>
                <a:gridCol w="399450">
                  <a:extLst>
                    <a:ext uri="{9D8B030D-6E8A-4147-A177-3AD203B41FA5}">
                      <a16:colId xmlns:a16="http://schemas.microsoft.com/office/drawing/2014/main" val="20011"/>
                    </a:ext>
                  </a:extLst>
                </a:gridCol>
                <a:gridCol w="399450">
                  <a:extLst>
                    <a:ext uri="{9D8B030D-6E8A-4147-A177-3AD203B41FA5}">
                      <a16:colId xmlns:a16="http://schemas.microsoft.com/office/drawing/2014/main" val="20012"/>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G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190" name="Google Shape;1190;p59"/>
          <p:cNvGraphicFramePr/>
          <p:nvPr/>
        </p:nvGraphicFramePr>
        <p:xfrm>
          <a:off x="3147225" y="3067050"/>
          <a:ext cx="544232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gridCol w="399450">
                  <a:extLst>
                    <a:ext uri="{9D8B030D-6E8A-4147-A177-3AD203B41FA5}">
                      <a16:colId xmlns:a16="http://schemas.microsoft.com/office/drawing/2014/main" val="20008"/>
                    </a:ext>
                  </a:extLst>
                </a:gridCol>
                <a:gridCol w="399450">
                  <a:extLst>
                    <a:ext uri="{9D8B030D-6E8A-4147-A177-3AD203B41FA5}">
                      <a16:colId xmlns:a16="http://schemas.microsoft.com/office/drawing/2014/main" val="20009"/>
                    </a:ext>
                  </a:extLst>
                </a:gridCol>
                <a:gridCol w="399450">
                  <a:extLst>
                    <a:ext uri="{9D8B030D-6E8A-4147-A177-3AD203B41FA5}">
                      <a16:colId xmlns:a16="http://schemas.microsoft.com/office/drawing/2014/main" val="20010"/>
                    </a:ext>
                  </a:extLst>
                </a:gridCol>
                <a:gridCol w="399450">
                  <a:extLst>
                    <a:ext uri="{9D8B030D-6E8A-4147-A177-3AD203B41FA5}">
                      <a16:colId xmlns:a16="http://schemas.microsoft.com/office/drawing/2014/main" val="20011"/>
                    </a:ext>
                  </a:extLst>
                </a:gridCol>
                <a:gridCol w="399450">
                  <a:extLst>
                    <a:ext uri="{9D8B030D-6E8A-4147-A177-3AD203B41FA5}">
                      <a16:colId xmlns:a16="http://schemas.microsoft.com/office/drawing/2014/main" val="20012"/>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191" name="Google Shape;1191;p59"/>
          <p:cNvGrpSpPr/>
          <p:nvPr/>
        </p:nvGrpSpPr>
        <p:grpSpPr>
          <a:xfrm>
            <a:off x="337677" y="1886776"/>
            <a:ext cx="2727118" cy="2705047"/>
            <a:chOff x="5900277" y="743776"/>
            <a:chExt cx="2727118" cy="2705047"/>
          </a:xfrm>
        </p:grpSpPr>
        <p:sp>
          <p:nvSpPr>
            <p:cNvPr id="1192" name="Google Shape;1192;p59"/>
            <p:cNvSpPr/>
            <p:nvPr/>
          </p:nvSpPr>
          <p:spPr>
            <a:xfrm>
              <a:off x="6072743" y="743776"/>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193" name="Google Shape;1193;p59"/>
            <p:cNvSpPr/>
            <p:nvPr/>
          </p:nvSpPr>
          <p:spPr>
            <a:xfrm>
              <a:off x="7213995" y="106668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194" name="Google Shape;1194;p59"/>
            <p:cNvSpPr/>
            <p:nvPr/>
          </p:nvSpPr>
          <p:spPr>
            <a:xfrm>
              <a:off x="5900277" y="19409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195" name="Google Shape;1195;p59"/>
            <p:cNvSpPr/>
            <p:nvPr/>
          </p:nvSpPr>
          <p:spPr>
            <a:xfrm>
              <a:off x="7108281" y="2181542"/>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196" name="Google Shape;1196;p59"/>
            <p:cNvSpPr/>
            <p:nvPr/>
          </p:nvSpPr>
          <p:spPr>
            <a:xfrm>
              <a:off x="7936395" y="29268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197" name="Google Shape;1197;p59"/>
            <p:cNvCxnSpPr>
              <a:stCxn id="1192" idx="6"/>
              <a:endCxn id="1193" idx="1"/>
            </p:cNvCxnSpPr>
            <p:nvPr/>
          </p:nvCxnSpPr>
          <p:spPr>
            <a:xfrm>
              <a:off x="6594743" y="1004776"/>
              <a:ext cx="695700" cy="138300"/>
            </a:xfrm>
            <a:prstGeom prst="straightConnector1">
              <a:avLst/>
            </a:prstGeom>
            <a:noFill/>
            <a:ln w="19050" cap="flat" cmpd="sng">
              <a:solidFill>
                <a:srgbClr val="000000"/>
              </a:solidFill>
              <a:prstDash val="solid"/>
              <a:round/>
              <a:headEnd type="none" w="sm" len="sm"/>
              <a:tailEnd type="none" w="sm" len="sm"/>
            </a:ln>
          </p:spPr>
        </p:cxnSp>
        <p:cxnSp>
          <p:nvCxnSpPr>
            <p:cNvPr id="1198" name="Google Shape;1198;p59"/>
            <p:cNvCxnSpPr>
              <a:stCxn id="1192" idx="4"/>
              <a:endCxn id="1194" idx="0"/>
            </p:cNvCxnSpPr>
            <p:nvPr/>
          </p:nvCxnSpPr>
          <p:spPr>
            <a:xfrm flipH="1">
              <a:off x="6161243" y="1265776"/>
              <a:ext cx="172500" cy="675000"/>
            </a:xfrm>
            <a:prstGeom prst="straightConnector1">
              <a:avLst/>
            </a:prstGeom>
            <a:noFill/>
            <a:ln w="19050" cap="flat" cmpd="sng">
              <a:solidFill>
                <a:srgbClr val="000000"/>
              </a:solidFill>
              <a:prstDash val="solid"/>
              <a:round/>
              <a:headEnd type="none" w="sm" len="sm"/>
              <a:tailEnd type="none" w="sm" len="sm"/>
            </a:ln>
          </p:spPr>
        </p:cxnSp>
        <p:cxnSp>
          <p:nvCxnSpPr>
            <p:cNvPr id="1199" name="Google Shape;1199;p59"/>
            <p:cNvCxnSpPr>
              <a:stCxn id="1194" idx="5"/>
              <a:endCxn id="1195" idx="2"/>
            </p:cNvCxnSpPr>
            <p:nvPr/>
          </p:nvCxnSpPr>
          <p:spPr>
            <a:xfrm>
              <a:off x="6345832" y="2386478"/>
              <a:ext cx="762300" cy="56100"/>
            </a:xfrm>
            <a:prstGeom prst="straightConnector1">
              <a:avLst/>
            </a:prstGeom>
            <a:noFill/>
            <a:ln w="19050" cap="flat" cmpd="sng">
              <a:solidFill>
                <a:srgbClr val="000000"/>
              </a:solidFill>
              <a:prstDash val="solid"/>
              <a:round/>
              <a:headEnd type="none" w="sm" len="sm"/>
              <a:tailEnd type="none" w="sm" len="sm"/>
            </a:ln>
          </p:spPr>
        </p:cxnSp>
        <p:cxnSp>
          <p:nvCxnSpPr>
            <p:cNvPr id="1200" name="Google Shape;1200;p59"/>
            <p:cNvCxnSpPr>
              <a:stCxn id="1195" idx="5"/>
              <a:endCxn id="1196" idx="1"/>
            </p:cNvCxnSpPr>
            <p:nvPr/>
          </p:nvCxnSpPr>
          <p:spPr>
            <a:xfrm>
              <a:off x="7553836" y="2627097"/>
              <a:ext cx="459000" cy="376200"/>
            </a:xfrm>
            <a:prstGeom prst="straightConnector1">
              <a:avLst/>
            </a:prstGeom>
            <a:noFill/>
            <a:ln w="19050" cap="flat" cmpd="sng">
              <a:solidFill>
                <a:srgbClr val="000000"/>
              </a:solidFill>
              <a:prstDash val="solid"/>
              <a:round/>
              <a:headEnd type="none" w="sm" len="sm"/>
              <a:tailEnd type="none" w="sm" len="sm"/>
            </a:ln>
          </p:spPr>
        </p:cxnSp>
        <p:sp>
          <p:nvSpPr>
            <p:cNvPr id="1201" name="Google Shape;1201;p59"/>
            <p:cNvSpPr/>
            <p:nvPr/>
          </p:nvSpPr>
          <p:spPr>
            <a:xfrm>
              <a:off x="8105395" y="16736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202" name="Google Shape;1202;p59"/>
            <p:cNvCxnSpPr>
              <a:stCxn id="1195" idx="6"/>
              <a:endCxn id="1201" idx="3"/>
            </p:cNvCxnSpPr>
            <p:nvPr/>
          </p:nvCxnSpPr>
          <p:spPr>
            <a:xfrm rot="10800000" flipH="1">
              <a:off x="7630281" y="2119142"/>
              <a:ext cx="551700" cy="323400"/>
            </a:xfrm>
            <a:prstGeom prst="straightConnector1">
              <a:avLst/>
            </a:prstGeom>
            <a:noFill/>
            <a:ln w="19050" cap="flat" cmpd="sng">
              <a:solidFill>
                <a:srgbClr val="000000"/>
              </a:solidFill>
              <a:prstDash val="solid"/>
              <a:round/>
              <a:headEnd type="none" w="sm" len="sm"/>
              <a:tailEnd type="none" w="sm" len="sm"/>
            </a:ln>
          </p:spPr>
        </p:cxnSp>
      </p:grpSp>
      <p:cxnSp>
        <p:nvCxnSpPr>
          <p:cNvPr id="1203" name="Google Shape;1203;p59"/>
          <p:cNvCxnSpPr>
            <a:stCxn id="1195" idx="0"/>
            <a:endCxn id="1193" idx="4"/>
          </p:cNvCxnSpPr>
          <p:nvPr/>
        </p:nvCxnSpPr>
        <p:spPr>
          <a:xfrm rot="10800000" flipH="1">
            <a:off x="1806681" y="2731742"/>
            <a:ext cx="105600" cy="592800"/>
          </a:xfrm>
          <a:prstGeom prst="straightConnector1">
            <a:avLst/>
          </a:prstGeom>
          <a:noFill/>
          <a:ln w="19050" cap="flat" cmpd="sng">
            <a:solidFill>
              <a:srgbClr val="000000"/>
            </a:solidFill>
            <a:prstDash val="solid"/>
            <a:round/>
            <a:headEnd type="none" w="sm" len="sm"/>
            <a:tailEnd type="none" w="sm" len="sm"/>
          </a:ln>
        </p:spPr>
      </p:cxnSp>
      <p:cxnSp>
        <p:nvCxnSpPr>
          <p:cNvPr id="1204" name="Google Shape;1204;p59"/>
          <p:cNvCxnSpPr>
            <a:stCxn id="1196" idx="0"/>
            <a:endCxn id="1201" idx="4"/>
          </p:cNvCxnSpPr>
          <p:nvPr/>
        </p:nvCxnSpPr>
        <p:spPr>
          <a:xfrm rot="10800000" flipH="1">
            <a:off x="2634795" y="3338723"/>
            <a:ext cx="168900" cy="731100"/>
          </a:xfrm>
          <a:prstGeom prst="straightConnector1">
            <a:avLst/>
          </a:prstGeom>
          <a:noFill/>
          <a:ln w="19050" cap="flat" cmpd="sng">
            <a:solidFill>
              <a:srgbClr val="000000"/>
            </a:solidFill>
            <a:prstDash val="solid"/>
            <a:round/>
            <a:headEnd type="none" w="sm" len="sm"/>
            <a:tailEnd type="triangle" w="med" len="med"/>
          </a:ln>
        </p:spPr>
      </p:cxnSp>
      <p:graphicFrame>
        <p:nvGraphicFramePr>
          <p:cNvPr id="1205" name="Google Shape;1205;p59"/>
          <p:cNvGraphicFramePr/>
          <p:nvPr/>
        </p:nvGraphicFramePr>
        <p:xfrm>
          <a:off x="3147225" y="4057650"/>
          <a:ext cx="544232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gridCol w="399450">
                  <a:extLst>
                    <a:ext uri="{9D8B030D-6E8A-4147-A177-3AD203B41FA5}">
                      <a16:colId xmlns:a16="http://schemas.microsoft.com/office/drawing/2014/main" val="20008"/>
                    </a:ext>
                  </a:extLst>
                </a:gridCol>
                <a:gridCol w="399450">
                  <a:extLst>
                    <a:ext uri="{9D8B030D-6E8A-4147-A177-3AD203B41FA5}">
                      <a16:colId xmlns:a16="http://schemas.microsoft.com/office/drawing/2014/main" val="20009"/>
                    </a:ext>
                  </a:extLst>
                </a:gridCol>
                <a:gridCol w="399450">
                  <a:extLst>
                    <a:ext uri="{9D8B030D-6E8A-4147-A177-3AD203B41FA5}">
                      <a16:colId xmlns:a16="http://schemas.microsoft.com/office/drawing/2014/main" val="20010"/>
                    </a:ext>
                  </a:extLst>
                </a:gridCol>
                <a:gridCol w="399450">
                  <a:extLst>
                    <a:ext uri="{9D8B030D-6E8A-4147-A177-3AD203B41FA5}">
                      <a16:colId xmlns:a16="http://schemas.microsoft.com/office/drawing/2014/main" val="20011"/>
                    </a:ext>
                  </a:extLst>
                </a:gridCol>
                <a:gridCol w="399450">
                  <a:extLst>
                    <a:ext uri="{9D8B030D-6E8A-4147-A177-3AD203B41FA5}">
                      <a16:colId xmlns:a16="http://schemas.microsoft.com/office/drawing/2014/main" val="20012"/>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B to G</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09"/>
        <p:cNvGrpSpPr/>
        <p:nvPr/>
      </p:nvGrpSpPr>
      <p:grpSpPr>
        <a:xfrm>
          <a:off x="0" y="0"/>
          <a:ext cx="0" cy="0"/>
          <a:chOff x="0" y="0"/>
          <a:chExt cx="0" cy="0"/>
        </a:xfrm>
      </p:grpSpPr>
      <p:sp>
        <p:nvSpPr>
          <p:cNvPr id="1210" name="Google Shape;1210;p60"/>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Breadth-First Search "On Paper"</a:t>
            </a:r>
            <a:endParaRPr/>
          </a:p>
        </p:txBody>
      </p:sp>
      <p:sp>
        <p:nvSpPr>
          <p:cNvPr id="1211" name="Google Shape;1211;p60"/>
          <p:cNvSpPr txBox="1">
            <a:spLocks noGrp="1"/>
          </p:cNvSpPr>
          <p:nvPr>
            <p:ph type="body" idx="1"/>
          </p:nvPr>
        </p:nvSpPr>
        <p:spPr>
          <a:xfrm>
            <a:off x="65250" y="731625"/>
            <a:ext cx="8955900" cy="114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en"/>
              <a:t>Before trying to implement an algorithm in code it can be useful to run through the steps "on paper" so that you can see how it works. Use the graph depicted below to run each Breadth-First Search (BFS). Your solution should always visit neighbors in </a:t>
            </a:r>
            <a:r>
              <a:rPr lang="en" b="1" i="1" u="sng">
                <a:solidFill>
                  <a:srgbClr val="FF0000"/>
                </a:solidFill>
              </a:rPr>
              <a:t>alphabetical order</a:t>
            </a:r>
            <a:r>
              <a:rPr lang="en"/>
              <a:t>.</a:t>
            </a:r>
            <a:endParaRPr/>
          </a:p>
        </p:txBody>
      </p:sp>
      <p:sp>
        <p:nvSpPr>
          <p:cNvPr id="1212" name="Google Shape;1212;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1213" name="Google Shape;1213;p60"/>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12.9</a:t>
            </a:r>
            <a:endParaRPr/>
          </a:p>
        </p:txBody>
      </p:sp>
      <p:graphicFrame>
        <p:nvGraphicFramePr>
          <p:cNvPr id="1214" name="Google Shape;1214;p60"/>
          <p:cNvGraphicFramePr/>
          <p:nvPr/>
        </p:nvGraphicFramePr>
        <p:xfrm>
          <a:off x="3147225" y="2152650"/>
          <a:ext cx="544232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gridCol w="399450">
                  <a:extLst>
                    <a:ext uri="{9D8B030D-6E8A-4147-A177-3AD203B41FA5}">
                      <a16:colId xmlns:a16="http://schemas.microsoft.com/office/drawing/2014/main" val="20008"/>
                    </a:ext>
                  </a:extLst>
                </a:gridCol>
                <a:gridCol w="399450">
                  <a:extLst>
                    <a:ext uri="{9D8B030D-6E8A-4147-A177-3AD203B41FA5}">
                      <a16:colId xmlns:a16="http://schemas.microsoft.com/office/drawing/2014/main" val="20009"/>
                    </a:ext>
                  </a:extLst>
                </a:gridCol>
                <a:gridCol w="399450">
                  <a:extLst>
                    <a:ext uri="{9D8B030D-6E8A-4147-A177-3AD203B41FA5}">
                      <a16:colId xmlns:a16="http://schemas.microsoft.com/office/drawing/2014/main" val="20010"/>
                    </a:ext>
                  </a:extLst>
                </a:gridCol>
                <a:gridCol w="399450">
                  <a:extLst>
                    <a:ext uri="{9D8B030D-6E8A-4147-A177-3AD203B41FA5}">
                      <a16:colId xmlns:a16="http://schemas.microsoft.com/office/drawing/2014/main" val="20011"/>
                    </a:ext>
                  </a:extLst>
                </a:gridCol>
                <a:gridCol w="399450">
                  <a:extLst>
                    <a:ext uri="{9D8B030D-6E8A-4147-A177-3AD203B41FA5}">
                      <a16:colId xmlns:a16="http://schemas.microsoft.com/office/drawing/2014/main" val="20012"/>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G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215" name="Google Shape;1215;p60"/>
          <p:cNvGraphicFramePr/>
          <p:nvPr/>
        </p:nvGraphicFramePr>
        <p:xfrm>
          <a:off x="3147225" y="3067050"/>
          <a:ext cx="544232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gridCol w="399450">
                  <a:extLst>
                    <a:ext uri="{9D8B030D-6E8A-4147-A177-3AD203B41FA5}">
                      <a16:colId xmlns:a16="http://schemas.microsoft.com/office/drawing/2014/main" val="20008"/>
                    </a:ext>
                  </a:extLst>
                </a:gridCol>
                <a:gridCol w="399450">
                  <a:extLst>
                    <a:ext uri="{9D8B030D-6E8A-4147-A177-3AD203B41FA5}">
                      <a16:colId xmlns:a16="http://schemas.microsoft.com/office/drawing/2014/main" val="20009"/>
                    </a:ext>
                  </a:extLst>
                </a:gridCol>
                <a:gridCol w="399450">
                  <a:extLst>
                    <a:ext uri="{9D8B030D-6E8A-4147-A177-3AD203B41FA5}">
                      <a16:colId xmlns:a16="http://schemas.microsoft.com/office/drawing/2014/main" val="20010"/>
                    </a:ext>
                  </a:extLst>
                </a:gridCol>
                <a:gridCol w="399450">
                  <a:extLst>
                    <a:ext uri="{9D8B030D-6E8A-4147-A177-3AD203B41FA5}">
                      <a16:colId xmlns:a16="http://schemas.microsoft.com/office/drawing/2014/main" val="20011"/>
                    </a:ext>
                  </a:extLst>
                </a:gridCol>
                <a:gridCol w="399450">
                  <a:extLst>
                    <a:ext uri="{9D8B030D-6E8A-4147-A177-3AD203B41FA5}">
                      <a16:colId xmlns:a16="http://schemas.microsoft.com/office/drawing/2014/main" val="20012"/>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216" name="Google Shape;1216;p60"/>
          <p:cNvSpPr txBox="1"/>
          <p:nvPr/>
        </p:nvSpPr>
        <p:spPr>
          <a:xfrm>
            <a:off x="3812700"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1217" name="Google Shape;1217;p60"/>
          <p:cNvSpPr txBox="1"/>
          <p:nvPr/>
        </p:nvSpPr>
        <p:spPr>
          <a:xfrm>
            <a:off x="4193700"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E</a:t>
            </a:r>
            <a:endParaRPr sz="2400" b="0" i="0" u="none" strike="noStrike" cap="none">
              <a:solidFill>
                <a:srgbClr val="4A86E8"/>
              </a:solidFill>
              <a:latin typeface="Shadows Into Light"/>
              <a:ea typeface="Shadows Into Light"/>
              <a:cs typeface="Shadows Into Light"/>
              <a:sym typeface="Shadows Into Light"/>
            </a:endParaRPr>
          </a:p>
        </p:txBody>
      </p:sp>
      <p:sp>
        <p:nvSpPr>
          <p:cNvPr id="1218" name="Google Shape;1218;p60"/>
          <p:cNvSpPr txBox="1"/>
          <p:nvPr/>
        </p:nvSpPr>
        <p:spPr>
          <a:xfrm>
            <a:off x="4600418"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sp>
        <p:nvSpPr>
          <p:cNvPr id="1219" name="Google Shape;1219;p60"/>
          <p:cNvSpPr txBox="1"/>
          <p:nvPr/>
        </p:nvSpPr>
        <p:spPr>
          <a:xfrm>
            <a:off x="4994276"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220" name="Google Shape;1220;p60"/>
          <p:cNvSpPr txBox="1"/>
          <p:nvPr/>
        </p:nvSpPr>
        <p:spPr>
          <a:xfrm>
            <a:off x="5388135"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1221" name="Google Shape;1221;p60"/>
          <p:cNvSpPr txBox="1"/>
          <p:nvPr/>
        </p:nvSpPr>
        <p:spPr>
          <a:xfrm>
            <a:off x="3799841" y="3051841"/>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222" name="Google Shape;1222;p60"/>
          <p:cNvSpPr txBox="1"/>
          <p:nvPr/>
        </p:nvSpPr>
        <p:spPr>
          <a:xfrm>
            <a:off x="4193700" y="3051841"/>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223" name="Google Shape;1223;p60"/>
          <p:cNvSpPr txBox="1"/>
          <p:nvPr/>
        </p:nvSpPr>
        <p:spPr>
          <a:xfrm>
            <a:off x="4587559" y="3051841"/>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224" name="Google Shape;1224;p60"/>
          <p:cNvSpPr txBox="1"/>
          <p:nvPr/>
        </p:nvSpPr>
        <p:spPr>
          <a:xfrm>
            <a:off x="5788423"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25" name="Google Shape;1225;p60"/>
          <p:cNvSpPr txBox="1"/>
          <p:nvPr/>
        </p:nvSpPr>
        <p:spPr>
          <a:xfrm>
            <a:off x="6195141"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grpSp>
        <p:nvGrpSpPr>
          <p:cNvPr id="1226" name="Google Shape;1226;p60"/>
          <p:cNvGrpSpPr/>
          <p:nvPr/>
        </p:nvGrpSpPr>
        <p:grpSpPr>
          <a:xfrm>
            <a:off x="337677" y="1886776"/>
            <a:ext cx="2727118" cy="2705047"/>
            <a:chOff x="5900277" y="743776"/>
            <a:chExt cx="2727118" cy="2705047"/>
          </a:xfrm>
        </p:grpSpPr>
        <p:sp>
          <p:nvSpPr>
            <p:cNvPr id="1227" name="Google Shape;1227;p60"/>
            <p:cNvSpPr/>
            <p:nvPr/>
          </p:nvSpPr>
          <p:spPr>
            <a:xfrm>
              <a:off x="6072743" y="743776"/>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228" name="Google Shape;1228;p60"/>
            <p:cNvSpPr/>
            <p:nvPr/>
          </p:nvSpPr>
          <p:spPr>
            <a:xfrm>
              <a:off x="7213995" y="106668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229" name="Google Shape;1229;p60"/>
            <p:cNvSpPr/>
            <p:nvPr/>
          </p:nvSpPr>
          <p:spPr>
            <a:xfrm>
              <a:off x="5900277" y="19409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230" name="Google Shape;1230;p60"/>
            <p:cNvSpPr/>
            <p:nvPr/>
          </p:nvSpPr>
          <p:spPr>
            <a:xfrm>
              <a:off x="7108281" y="2181542"/>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231" name="Google Shape;1231;p60"/>
            <p:cNvSpPr/>
            <p:nvPr/>
          </p:nvSpPr>
          <p:spPr>
            <a:xfrm>
              <a:off x="7936395" y="29268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232" name="Google Shape;1232;p60"/>
            <p:cNvCxnSpPr>
              <a:stCxn id="1227" idx="6"/>
              <a:endCxn id="1228" idx="1"/>
            </p:cNvCxnSpPr>
            <p:nvPr/>
          </p:nvCxnSpPr>
          <p:spPr>
            <a:xfrm>
              <a:off x="6594743" y="1004776"/>
              <a:ext cx="695700" cy="138300"/>
            </a:xfrm>
            <a:prstGeom prst="straightConnector1">
              <a:avLst/>
            </a:prstGeom>
            <a:noFill/>
            <a:ln w="19050" cap="flat" cmpd="sng">
              <a:solidFill>
                <a:srgbClr val="000000"/>
              </a:solidFill>
              <a:prstDash val="solid"/>
              <a:round/>
              <a:headEnd type="none" w="sm" len="sm"/>
              <a:tailEnd type="none" w="sm" len="sm"/>
            </a:ln>
          </p:spPr>
        </p:cxnSp>
        <p:cxnSp>
          <p:nvCxnSpPr>
            <p:cNvPr id="1233" name="Google Shape;1233;p60"/>
            <p:cNvCxnSpPr>
              <a:stCxn id="1227" idx="4"/>
              <a:endCxn id="1229" idx="0"/>
            </p:cNvCxnSpPr>
            <p:nvPr/>
          </p:nvCxnSpPr>
          <p:spPr>
            <a:xfrm flipH="1">
              <a:off x="6161243" y="1265776"/>
              <a:ext cx="172500" cy="675000"/>
            </a:xfrm>
            <a:prstGeom prst="straightConnector1">
              <a:avLst/>
            </a:prstGeom>
            <a:noFill/>
            <a:ln w="19050" cap="flat" cmpd="sng">
              <a:solidFill>
                <a:srgbClr val="000000"/>
              </a:solidFill>
              <a:prstDash val="solid"/>
              <a:round/>
              <a:headEnd type="none" w="sm" len="sm"/>
              <a:tailEnd type="none" w="sm" len="sm"/>
            </a:ln>
          </p:spPr>
        </p:cxnSp>
        <p:cxnSp>
          <p:nvCxnSpPr>
            <p:cNvPr id="1234" name="Google Shape;1234;p60"/>
            <p:cNvCxnSpPr>
              <a:stCxn id="1229" idx="5"/>
              <a:endCxn id="1230" idx="2"/>
            </p:cNvCxnSpPr>
            <p:nvPr/>
          </p:nvCxnSpPr>
          <p:spPr>
            <a:xfrm>
              <a:off x="6345832" y="2386478"/>
              <a:ext cx="762300" cy="56100"/>
            </a:xfrm>
            <a:prstGeom prst="straightConnector1">
              <a:avLst/>
            </a:prstGeom>
            <a:noFill/>
            <a:ln w="19050" cap="flat" cmpd="sng">
              <a:solidFill>
                <a:srgbClr val="000000"/>
              </a:solidFill>
              <a:prstDash val="solid"/>
              <a:round/>
              <a:headEnd type="none" w="sm" len="sm"/>
              <a:tailEnd type="none" w="sm" len="sm"/>
            </a:ln>
          </p:spPr>
        </p:cxnSp>
        <p:cxnSp>
          <p:nvCxnSpPr>
            <p:cNvPr id="1235" name="Google Shape;1235;p60"/>
            <p:cNvCxnSpPr>
              <a:stCxn id="1230" idx="5"/>
              <a:endCxn id="1231" idx="1"/>
            </p:cNvCxnSpPr>
            <p:nvPr/>
          </p:nvCxnSpPr>
          <p:spPr>
            <a:xfrm>
              <a:off x="7553836" y="2627097"/>
              <a:ext cx="459000" cy="376200"/>
            </a:xfrm>
            <a:prstGeom prst="straightConnector1">
              <a:avLst/>
            </a:prstGeom>
            <a:noFill/>
            <a:ln w="19050" cap="flat" cmpd="sng">
              <a:solidFill>
                <a:srgbClr val="000000"/>
              </a:solidFill>
              <a:prstDash val="solid"/>
              <a:round/>
              <a:headEnd type="none" w="sm" len="sm"/>
              <a:tailEnd type="none" w="sm" len="sm"/>
            </a:ln>
          </p:spPr>
        </p:cxnSp>
        <p:sp>
          <p:nvSpPr>
            <p:cNvPr id="1236" name="Google Shape;1236;p60"/>
            <p:cNvSpPr/>
            <p:nvPr/>
          </p:nvSpPr>
          <p:spPr>
            <a:xfrm>
              <a:off x="8105395" y="16736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237" name="Google Shape;1237;p60"/>
            <p:cNvCxnSpPr>
              <a:stCxn id="1230" idx="6"/>
              <a:endCxn id="1236" idx="3"/>
            </p:cNvCxnSpPr>
            <p:nvPr/>
          </p:nvCxnSpPr>
          <p:spPr>
            <a:xfrm rot="10800000" flipH="1">
              <a:off x="7630281" y="2119142"/>
              <a:ext cx="551700" cy="323400"/>
            </a:xfrm>
            <a:prstGeom prst="straightConnector1">
              <a:avLst/>
            </a:prstGeom>
            <a:noFill/>
            <a:ln w="19050" cap="flat" cmpd="sng">
              <a:solidFill>
                <a:srgbClr val="000000"/>
              </a:solidFill>
              <a:prstDash val="solid"/>
              <a:round/>
              <a:headEnd type="none" w="sm" len="sm"/>
              <a:tailEnd type="none" w="sm" len="sm"/>
            </a:ln>
          </p:spPr>
        </p:cxnSp>
      </p:grpSp>
      <p:cxnSp>
        <p:nvCxnSpPr>
          <p:cNvPr id="1238" name="Google Shape;1238;p60"/>
          <p:cNvCxnSpPr>
            <a:stCxn id="1230" idx="0"/>
            <a:endCxn id="1228" idx="4"/>
          </p:cNvCxnSpPr>
          <p:nvPr/>
        </p:nvCxnSpPr>
        <p:spPr>
          <a:xfrm rot="10800000" flipH="1">
            <a:off x="1806681" y="2731742"/>
            <a:ext cx="105600" cy="592800"/>
          </a:xfrm>
          <a:prstGeom prst="straightConnector1">
            <a:avLst/>
          </a:prstGeom>
          <a:noFill/>
          <a:ln w="19050" cap="flat" cmpd="sng">
            <a:solidFill>
              <a:srgbClr val="000000"/>
            </a:solidFill>
            <a:prstDash val="solid"/>
            <a:round/>
            <a:headEnd type="none" w="sm" len="sm"/>
            <a:tailEnd type="none" w="sm" len="sm"/>
          </a:ln>
        </p:spPr>
      </p:cxnSp>
      <p:cxnSp>
        <p:nvCxnSpPr>
          <p:cNvPr id="1239" name="Google Shape;1239;p60"/>
          <p:cNvCxnSpPr>
            <a:stCxn id="1231" idx="0"/>
            <a:endCxn id="1236" idx="4"/>
          </p:cNvCxnSpPr>
          <p:nvPr/>
        </p:nvCxnSpPr>
        <p:spPr>
          <a:xfrm rot="10800000" flipH="1">
            <a:off x="2634795" y="3338723"/>
            <a:ext cx="168900" cy="731100"/>
          </a:xfrm>
          <a:prstGeom prst="straightConnector1">
            <a:avLst/>
          </a:prstGeom>
          <a:noFill/>
          <a:ln w="19050" cap="flat" cmpd="sng">
            <a:solidFill>
              <a:srgbClr val="000000"/>
            </a:solidFill>
            <a:prstDash val="solid"/>
            <a:round/>
            <a:headEnd type="none" w="sm" len="sm"/>
            <a:tailEnd type="triangle" w="med" len="med"/>
          </a:ln>
        </p:spPr>
      </p:cxnSp>
      <p:sp>
        <p:nvSpPr>
          <p:cNvPr id="1240" name="Google Shape;1240;p60"/>
          <p:cNvSpPr txBox="1"/>
          <p:nvPr/>
        </p:nvSpPr>
        <p:spPr>
          <a:xfrm>
            <a:off x="5800329"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241" name="Google Shape;1241;p60"/>
          <p:cNvSpPr txBox="1"/>
          <p:nvPr/>
        </p:nvSpPr>
        <p:spPr>
          <a:xfrm>
            <a:off x="6194188" y="3064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1242" name="Google Shape;1242;p60"/>
          <p:cNvSpPr/>
          <p:nvPr/>
        </p:nvSpPr>
        <p:spPr>
          <a:xfrm>
            <a:off x="5029487" y="3063766"/>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3" name="Google Shape;1243;p60"/>
          <p:cNvSpPr txBox="1"/>
          <p:nvPr/>
        </p:nvSpPr>
        <p:spPr>
          <a:xfrm>
            <a:off x="3806271"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sp>
        <p:nvSpPr>
          <p:cNvPr id="1244" name="Google Shape;1244;p60"/>
          <p:cNvSpPr txBox="1"/>
          <p:nvPr/>
        </p:nvSpPr>
        <p:spPr>
          <a:xfrm>
            <a:off x="4187271"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245" name="Google Shape;1245;p60"/>
          <p:cNvSpPr txBox="1"/>
          <p:nvPr/>
        </p:nvSpPr>
        <p:spPr>
          <a:xfrm>
            <a:off x="4593988"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1246" name="Google Shape;1246;p60"/>
          <p:cNvSpPr txBox="1"/>
          <p:nvPr/>
        </p:nvSpPr>
        <p:spPr>
          <a:xfrm>
            <a:off x="3793412" y="2156729"/>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247" name="Google Shape;1247;p60"/>
          <p:cNvSpPr txBox="1"/>
          <p:nvPr/>
        </p:nvSpPr>
        <p:spPr>
          <a:xfrm>
            <a:off x="5781994"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48" name="Google Shape;1248;p60"/>
          <p:cNvSpPr txBox="1"/>
          <p:nvPr/>
        </p:nvSpPr>
        <p:spPr>
          <a:xfrm>
            <a:off x="6188711"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49" name="Google Shape;1249;p60"/>
          <p:cNvSpPr txBox="1"/>
          <p:nvPr/>
        </p:nvSpPr>
        <p:spPr>
          <a:xfrm>
            <a:off x="6582570"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50" name="Google Shape;1250;p60"/>
          <p:cNvSpPr txBox="1"/>
          <p:nvPr/>
        </p:nvSpPr>
        <p:spPr>
          <a:xfrm>
            <a:off x="6989288"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51" name="Google Shape;1251;p60"/>
          <p:cNvSpPr txBox="1"/>
          <p:nvPr/>
        </p:nvSpPr>
        <p:spPr>
          <a:xfrm>
            <a:off x="7383146"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52" name="Google Shape;1252;p60"/>
          <p:cNvSpPr txBox="1"/>
          <p:nvPr/>
        </p:nvSpPr>
        <p:spPr>
          <a:xfrm>
            <a:off x="7783434"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53" name="Google Shape;1253;p60"/>
          <p:cNvSpPr txBox="1"/>
          <p:nvPr/>
        </p:nvSpPr>
        <p:spPr>
          <a:xfrm>
            <a:off x="8183723"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54" name="Google Shape;1254;p60"/>
          <p:cNvSpPr/>
          <p:nvPr/>
        </p:nvSpPr>
        <p:spPr>
          <a:xfrm>
            <a:off x="4248199" y="2162225"/>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255" name="Google Shape;1255;p60"/>
          <p:cNvGraphicFramePr/>
          <p:nvPr/>
        </p:nvGraphicFramePr>
        <p:xfrm>
          <a:off x="3147225" y="4057650"/>
          <a:ext cx="544232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gridCol w="399450">
                  <a:extLst>
                    <a:ext uri="{9D8B030D-6E8A-4147-A177-3AD203B41FA5}">
                      <a16:colId xmlns:a16="http://schemas.microsoft.com/office/drawing/2014/main" val="20008"/>
                    </a:ext>
                  </a:extLst>
                </a:gridCol>
                <a:gridCol w="399450">
                  <a:extLst>
                    <a:ext uri="{9D8B030D-6E8A-4147-A177-3AD203B41FA5}">
                      <a16:colId xmlns:a16="http://schemas.microsoft.com/office/drawing/2014/main" val="20009"/>
                    </a:ext>
                  </a:extLst>
                </a:gridCol>
                <a:gridCol w="399450">
                  <a:extLst>
                    <a:ext uri="{9D8B030D-6E8A-4147-A177-3AD203B41FA5}">
                      <a16:colId xmlns:a16="http://schemas.microsoft.com/office/drawing/2014/main" val="20010"/>
                    </a:ext>
                  </a:extLst>
                </a:gridCol>
                <a:gridCol w="399450">
                  <a:extLst>
                    <a:ext uri="{9D8B030D-6E8A-4147-A177-3AD203B41FA5}">
                      <a16:colId xmlns:a16="http://schemas.microsoft.com/office/drawing/2014/main" val="20011"/>
                    </a:ext>
                  </a:extLst>
                </a:gridCol>
                <a:gridCol w="399450">
                  <a:extLst>
                    <a:ext uri="{9D8B030D-6E8A-4147-A177-3AD203B41FA5}">
                      <a16:colId xmlns:a16="http://schemas.microsoft.com/office/drawing/2014/main" val="20012"/>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B to G</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256" name="Google Shape;1256;p60"/>
          <p:cNvSpPr txBox="1"/>
          <p:nvPr/>
        </p:nvSpPr>
        <p:spPr>
          <a:xfrm>
            <a:off x="3812700"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B</a:t>
            </a:r>
            <a:endParaRPr sz="2400" b="0" i="0" u="none" strike="noStrike" cap="none">
              <a:solidFill>
                <a:srgbClr val="4A86E8"/>
              </a:solidFill>
              <a:latin typeface="Shadows Into Light"/>
              <a:ea typeface="Shadows Into Light"/>
              <a:cs typeface="Shadows Into Light"/>
              <a:sym typeface="Shadows Into Light"/>
            </a:endParaRPr>
          </a:p>
        </p:txBody>
      </p:sp>
      <p:grpSp>
        <p:nvGrpSpPr>
          <p:cNvPr id="1257" name="Google Shape;1257;p60"/>
          <p:cNvGrpSpPr/>
          <p:nvPr/>
        </p:nvGrpSpPr>
        <p:grpSpPr>
          <a:xfrm>
            <a:off x="4193700" y="4055300"/>
            <a:ext cx="791318" cy="393600"/>
            <a:chOff x="4193700" y="4055300"/>
            <a:chExt cx="791318" cy="393600"/>
          </a:xfrm>
        </p:grpSpPr>
        <p:sp>
          <p:nvSpPr>
            <p:cNvPr id="1258" name="Google Shape;1258;p60"/>
            <p:cNvSpPr txBox="1"/>
            <p:nvPr/>
          </p:nvSpPr>
          <p:spPr>
            <a:xfrm>
              <a:off x="4193700"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259" name="Google Shape;1259;p60"/>
            <p:cNvSpPr txBox="1"/>
            <p:nvPr/>
          </p:nvSpPr>
          <p:spPr>
            <a:xfrm>
              <a:off x="4600418"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H</a:t>
              </a:r>
              <a:endParaRPr sz="2400" b="0" i="0" u="none" strike="noStrike" cap="none">
                <a:solidFill>
                  <a:srgbClr val="4A86E8"/>
                </a:solidFill>
                <a:latin typeface="Shadows Into Light"/>
                <a:ea typeface="Shadows Into Light"/>
                <a:cs typeface="Shadows Into Light"/>
                <a:sym typeface="Shadows Into Light"/>
              </a:endParaRPr>
            </a:p>
          </p:txBody>
        </p:sp>
      </p:grpSp>
      <p:sp>
        <p:nvSpPr>
          <p:cNvPr id="1260" name="Google Shape;1260;p60"/>
          <p:cNvSpPr txBox="1"/>
          <p:nvPr/>
        </p:nvSpPr>
        <p:spPr>
          <a:xfrm>
            <a:off x="5788423"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261" name="Google Shape;1261;p60"/>
          <p:cNvSpPr txBox="1"/>
          <p:nvPr/>
        </p:nvSpPr>
        <p:spPr>
          <a:xfrm>
            <a:off x="6195141"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grpSp>
        <p:nvGrpSpPr>
          <p:cNvPr id="1262" name="Google Shape;1262;p60"/>
          <p:cNvGrpSpPr/>
          <p:nvPr/>
        </p:nvGrpSpPr>
        <p:grpSpPr>
          <a:xfrm>
            <a:off x="4994276" y="4055300"/>
            <a:ext cx="1584512" cy="393600"/>
            <a:chOff x="4994276" y="4055300"/>
            <a:chExt cx="1584512" cy="393600"/>
          </a:xfrm>
        </p:grpSpPr>
        <p:sp>
          <p:nvSpPr>
            <p:cNvPr id="1263" name="Google Shape;1263;p60"/>
            <p:cNvSpPr txBox="1"/>
            <p:nvPr/>
          </p:nvSpPr>
          <p:spPr>
            <a:xfrm>
              <a:off x="4994276"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B</a:t>
              </a:r>
              <a:endParaRPr sz="2400" b="0" i="0" u="none" strike="noStrike" cap="none">
                <a:solidFill>
                  <a:srgbClr val="4A86E8"/>
                </a:solidFill>
                <a:latin typeface="Shadows Into Light"/>
                <a:ea typeface="Shadows Into Light"/>
                <a:cs typeface="Shadows Into Light"/>
                <a:sym typeface="Shadows Into Light"/>
              </a:endParaRPr>
            </a:p>
          </p:txBody>
        </p:sp>
        <p:sp>
          <p:nvSpPr>
            <p:cNvPr id="1264" name="Google Shape;1264;p60"/>
            <p:cNvSpPr txBox="1"/>
            <p:nvPr/>
          </p:nvSpPr>
          <p:spPr>
            <a:xfrm>
              <a:off x="5388135"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E</a:t>
              </a:r>
              <a:endParaRPr sz="2400" b="0" i="0" u="none" strike="noStrike" cap="none">
                <a:solidFill>
                  <a:srgbClr val="4A86E8"/>
                </a:solidFill>
                <a:latin typeface="Shadows Into Light"/>
                <a:ea typeface="Shadows Into Light"/>
                <a:cs typeface="Shadows Into Light"/>
                <a:sym typeface="Shadows Into Light"/>
              </a:endParaRPr>
            </a:p>
          </p:txBody>
        </p:sp>
        <p:sp>
          <p:nvSpPr>
            <p:cNvPr id="1265" name="Google Shape;1265;p60"/>
            <p:cNvSpPr txBox="1"/>
            <p:nvPr/>
          </p:nvSpPr>
          <p:spPr>
            <a:xfrm>
              <a:off x="5800329"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sp>
          <p:nvSpPr>
            <p:cNvPr id="1266" name="Google Shape;1266;p60"/>
            <p:cNvSpPr txBox="1"/>
            <p:nvPr/>
          </p:nvSpPr>
          <p:spPr>
            <a:xfrm>
              <a:off x="6194188"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H</a:t>
              </a:r>
              <a:endParaRPr sz="2400" b="0" i="0" u="none" strike="noStrike" cap="none">
                <a:solidFill>
                  <a:srgbClr val="4A86E8"/>
                </a:solidFill>
                <a:latin typeface="Shadows Into Light"/>
                <a:ea typeface="Shadows Into Light"/>
                <a:cs typeface="Shadows Into Light"/>
                <a:sym typeface="Shadows Into Light"/>
              </a:endParaRPr>
            </a:p>
          </p:txBody>
        </p:sp>
      </p:grpSp>
      <p:sp>
        <p:nvSpPr>
          <p:cNvPr id="1267" name="Google Shape;1267;p60"/>
          <p:cNvSpPr/>
          <p:nvPr/>
        </p:nvSpPr>
        <p:spPr>
          <a:xfrm>
            <a:off x="5825050" y="4061737"/>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p60"/>
          <p:cNvSpPr txBox="1"/>
          <p:nvPr/>
        </p:nvSpPr>
        <p:spPr>
          <a:xfrm>
            <a:off x="6606383"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269" name="Google Shape;1269;p60"/>
          <p:cNvSpPr txBox="1"/>
          <p:nvPr/>
        </p:nvSpPr>
        <p:spPr>
          <a:xfrm>
            <a:off x="3799841" y="4067206"/>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270" name="Google Shape;1270;p60"/>
          <p:cNvSpPr txBox="1"/>
          <p:nvPr/>
        </p:nvSpPr>
        <p:spPr>
          <a:xfrm>
            <a:off x="4193700"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271" name="Google Shape;1271;p60"/>
          <p:cNvSpPr txBox="1"/>
          <p:nvPr/>
        </p:nvSpPr>
        <p:spPr>
          <a:xfrm>
            <a:off x="4587559" y="4061729"/>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grpSp>
        <p:nvGrpSpPr>
          <p:cNvPr id="1272" name="Google Shape;1272;p60"/>
          <p:cNvGrpSpPr/>
          <p:nvPr/>
        </p:nvGrpSpPr>
        <p:grpSpPr>
          <a:xfrm>
            <a:off x="7000241" y="4055300"/>
            <a:ext cx="765600" cy="393600"/>
            <a:chOff x="7000241" y="4055300"/>
            <a:chExt cx="765600" cy="393600"/>
          </a:xfrm>
        </p:grpSpPr>
        <p:sp>
          <p:nvSpPr>
            <p:cNvPr id="1273" name="Google Shape;1273;p60"/>
            <p:cNvSpPr txBox="1"/>
            <p:nvPr/>
          </p:nvSpPr>
          <p:spPr>
            <a:xfrm>
              <a:off x="7000241"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274" name="Google Shape;1274;p60"/>
            <p:cNvSpPr txBox="1"/>
            <p:nvPr/>
          </p:nvSpPr>
          <p:spPr>
            <a:xfrm>
              <a:off x="7381241"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H</a:t>
              </a:r>
              <a:endParaRPr sz="2400" b="0" i="0" u="none" strike="noStrike" cap="none">
                <a:solidFill>
                  <a:srgbClr val="4A86E8"/>
                </a:solidFill>
                <a:latin typeface="Shadows Into Light"/>
                <a:ea typeface="Shadows Into Light"/>
                <a:cs typeface="Shadows Into Light"/>
                <a:sym typeface="Shadows Into Light"/>
              </a:endParaRPr>
            </a:p>
          </p:txBody>
        </p:sp>
      </p:grpSp>
      <p:sp>
        <p:nvSpPr>
          <p:cNvPr id="1275" name="Google Shape;1275;p60"/>
          <p:cNvSpPr txBox="1"/>
          <p:nvPr/>
        </p:nvSpPr>
        <p:spPr>
          <a:xfrm>
            <a:off x="4994276"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276" name="Google Shape;1276;p60"/>
          <p:cNvSpPr txBox="1"/>
          <p:nvPr/>
        </p:nvSpPr>
        <p:spPr>
          <a:xfrm>
            <a:off x="5400041"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grpSp>
        <p:nvGrpSpPr>
          <p:cNvPr id="1277" name="Google Shape;1277;p60"/>
          <p:cNvGrpSpPr/>
          <p:nvPr/>
        </p:nvGrpSpPr>
        <p:grpSpPr>
          <a:xfrm>
            <a:off x="7819153" y="4055300"/>
            <a:ext cx="765600" cy="393600"/>
            <a:chOff x="7819153" y="4055300"/>
            <a:chExt cx="765600" cy="393600"/>
          </a:xfrm>
        </p:grpSpPr>
        <p:sp>
          <p:nvSpPr>
            <p:cNvPr id="1278" name="Google Shape;1278;p60"/>
            <p:cNvSpPr txBox="1"/>
            <p:nvPr/>
          </p:nvSpPr>
          <p:spPr>
            <a:xfrm>
              <a:off x="7819153"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279" name="Google Shape;1279;p60"/>
            <p:cNvSpPr txBox="1"/>
            <p:nvPr/>
          </p:nvSpPr>
          <p:spPr>
            <a:xfrm>
              <a:off x="8200153"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43"/>
                                        </p:tgtEl>
                                        <p:attrNameLst>
                                          <p:attrName>style.visibility</p:attrName>
                                        </p:attrNameLst>
                                      </p:cBhvr>
                                      <p:to>
                                        <p:strVal val="visible"/>
                                      </p:to>
                                    </p:set>
                                    <p:animEffect transition="in" filter="fade">
                                      <p:cBhvr>
                                        <p:cTn id="7" dur="1000"/>
                                        <p:tgtEl>
                                          <p:spTgt spid="12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6"/>
                                        </p:tgtEl>
                                        <p:attrNameLst>
                                          <p:attrName>style.visibility</p:attrName>
                                        </p:attrNameLst>
                                      </p:cBhvr>
                                      <p:to>
                                        <p:strVal val="visible"/>
                                      </p:to>
                                    </p:set>
                                    <p:animEffect transition="in" filter="fade">
                                      <p:cBhvr>
                                        <p:cTn id="12" dur="1000"/>
                                        <p:tgtEl>
                                          <p:spTgt spid="1246"/>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244"/>
                                        </p:tgtEl>
                                        <p:attrNameLst>
                                          <p:attrName>style.visibility</p:attrName>
                                        </p:attrNameLst>
                                      </p:cBhvr>
                                      <p:to>
                                        <p:strVal val="visible"/>
                                      </p:to>
                                    </p:set>
                                    <p:animEffect transition="in" filter="fade">
                                      <p:cBhvr>
                                        <p:cTn id="16" dur="1000"/>
                                        <p:tgtEl>
                                          <p:spTgt spid="1244"/>
                                        </p:tgtEl>
                                      </p:cBhvr>
                                    </p:animEffect>
                                  </p:childTnLst>
                                </p:cTn>
                              </p:par>
                              <p:par>
                                <p:cTn id="17" presetID="10" presetClass="entr" presetSubtype="0" fill="hold" nodeType="withEffect">
                                  <p:stCondLst>
                                    <p:cond delay="0"/>
                                  </p:stCondLst>
                                  <p:childTnLst>
                                    <p:set>
                                      <p:cBhvr>
                                        <p:cTn id="18" dur="1" fill="hold">
                                          <p:stCondLst>
                                            <p:cond delay="0"/>
                                          </p:stCondLst>
                                        </p:cTn>
                                        <p:tgtEl>
                                          <p:spTgt spid="1245"/>
                                        </p:tgtEl>
                                        <p:attrNameLst>
                                          <p:attrName>style.visibility</p:attrName>
                                        </p:attrNameLst>
                                      </p:cBhvr>
                                      <p:to>
                                        <p:strVal val="visible"/>
                                      </p:to>
                                    </p:set>
                                    <p:animEffect transition="in" filter="fade">
                                      <p:cBhvr>
                                        <p:cTn id="19" dur="1000"/>
                                        <p:tgtEl>
                                          <p:spTgt spid="124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54"/>
                                        </p:tgtEl>
                                        <p:attrNameLst>
                                          <p:attrName>style.visibility</p:attrName>
                                        </p:attrNameLst>
                                      </p:cBhvr>
                                      <p:to>
                                        <p:strVal val="visible"/>
                                      </p:to>
                                    </p:set>
                                    <p:animEffect transition="in" filter="fade">
                                      <p:cBhvr>
                                        <p:cTn id="24" dur="1000"/>
                                        <p:tgtEl>
                                          <p:spTgt spid="125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16"/>
                                        </p:tgtEl>
                                        <p:attrNameLst>
                                          <p:attrName>style.visibility</p:attrName>
                                        </p:attrNameLst>
                                      </p:cBhvr>
                                      <p:to>
                                        <p:strVal val="visible"/>
                                      </p:to>
                                    </p:set>
                                    <p:animEffect transition="in" filter="fade">
                                      <p:cBhvr>
                                        <p:cTn id="29" dur="1000"/>
                                        <p:tgtEl>
                                          <p:spTgt spid="121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21"/>
                                        </p:tgtEl>
                                        <p:attrNameLst>
                                          <p:attrName>style.visibility</p:attrName>
                                        </p:attrNameLst>
                                      </p:cBhvr>
                                      <p:to>
                                        <p:strVal val="visible"/>
                                      </p:to>
                                    </p:set>
                                    <p:animEffect transition="in" filter="fade">
                                      <p:cBhvr>
                                        <p:cTn id="34" dur="1000"/>
                                        <p:tgtEl>
                                          <p:spTgt spid="1221"/>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217"/>
                                        </p:tgtEl>
                                        <p:attrNameLst>
                                          <p:attrName>style.visibility</p:attrName>
                                        </p:attrNameLst>
                                      </p:cBhvr>
                                      <p:to>
                                        <p:strVal val="visible"/>
                                      </p:to>
                                    </p:set>
                                    <p:animEffect transition="in" filter="fade">
                                      <p:cBhvr>
                                        <p:cTn id="38" dur="1000"/>
                                        <p:tgtEl>
                                          <p:spTgt spid="1217"/>
                                        </p:tgtEl>
                                      </p:cBhvr>
                                    </p:animEffect>
                                  </p:childTnLst>
                                </p:cTn>
                              </p:par>
                              <p:par>
                                <p:cTn id="39" presetID="10" presetClass="entr" presetSubtype="0" fill="hold" nodeType="withEffect">
                                  <p:stCondLst>
                                    <p:cond delay="0"/>
                                  </p:stCondLst>
                                  <p:childTnLst>
                                    <p:set>
                                      <p:cBhvr>
                                        <p:cTn id="40" dur="1" fill="hold">
                                          <p:stCondLst>
                                            <p:cond delay="0"/>
                                          </p:stCondLst>
                                        </p:cTn>
                                        <p:tgtEl>
                                          <p:spTgt spid="1218"/>
                                        </p:tgtEl>
                                        <p:attrNameLst>
                                          <p:attrName>style.visibility</p:attrName>
                                        </p:attrNameLst>
                                      </p:cBhvr>
                                      <p:to>
                                        <p:strVal val="visible"/>
                                      </p:to>
                                    </p:set>
                                    <p:animEffect transition="in" filter="fade">
                                      <p:cBhvr>
                                        <p:cTn id="41" dur="1000"/>
                                        <p:tgtEl>
                                          <p:spTgt spid="12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222"/>
                                        </p:tgtEl>
                                        <p:attrNameLst>
                                          <p:attrName>style.visibility</p:attrName>
                                        </p:attrNameLst>
                                      </p:cBhvr>
                                      <p:to>
                                        <p:strVal val="visible"/>
                                      </p:to>
                                    </p:set>
                                    <p:animEffect transition="in" filter="fade">
                                      <p:cBhvr>
                                        <p:cTn id="46" dur="1000"/>
                                        <p:tgtEl>
                                          <p:spTgt spid="1222"/>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1219"/>
                                        </p:tgtEl>
                                        <p:attrNameLst>
                                          <p:attrName>style.visibility</p:attrName>
                                        </p:attrNameLst>
                                      </p:cBhvr>
                                      <p:to>
                                        <p:strVal val="visible"/>
                                      </p:to>
                                    </p:set>
                                    <p:animEffect transition="in" filter="fade">
                                      <p:cBhvr>
                                        <p:cTn id="50" dur="1000"/>
                                        <p:tgtEl>
                                          <p:spTgt spid="1219"/>
                                        </p:tgtEl>
                                      </p:cBhvr>
                                    </p:animEffect>
                                  </p:childTnLst>
                                </p:cTn>
                              </p:par>
                              <p:par>
                                <p:cTn id="51" presetID="10" presetClass="entr" presetSubtype="0" fill="hold" nodeType="withEffect">
                                  <p:stCondLst>
                                    <p:cond delay="0"/>
                                  </p:stCondLst>
                                  <p:childTnLst>
                                    <p:set>
                                      <p:cBhvr>
                                        <p:cTn id="52" dur="1" fill="hold">
                                          <p:stCondLst>
                                            <p:cond delay="0"/>
                                          </p:stCondLst>
                                        </p:cTn>
                                        <p:tgtEl>
                                          <p:spTgt spid="1220"/>
                                        </p:tgtEl>
                                        <p:attrNameLst>
                                          <p:attrName>style.visibility</p:attrName>
                                        </p:attrNameLst>
                                      </p:cBhvr>
                                      <p:to>
                                        <p:strVal val="visible"/>
                                      </p:to>
                                    </p:set>
                                    <p:animEffect transition="in" filter="fade">
                                      <p:cBhvr>
                                        <p:cTn id="53" dur="1000"/>
                                        <p:tgtEl>
                                          <p:spTgt spid="122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23"/>
                                        </p:tgtEl>
                                        <p:attrNameLst>
                                          <p:attrName>style.visibility</p:attrName>
                                        </p:attrNameLst>
                                      </p:cBhvr>
                                      <p:to>
                                        <p:strVal val="visible"/>
                                      </p:to>
                                    </p:set>
                                    <p:animEffect transition="in" filter="fade">
                                      <p:cBhvr>
                                        <p:cTn id="58" dur="1000"/>
                                        <p:tgtEl>
                                          <p:spTgt spid="1223"/>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1240"/>
                                        </p:tgtEl>
                                        <p:attrNameLst>
                                          <p:attrName>style.visibility</p:attrName>
                                        </p:attrNameLst>
                                      </p:cBhvr>
                                      <p:to>
                                        <p:strVal val="visible"/>
                                      </p:to>
                                    </p:set>
                                    <p:animEffect transition="in" filter="fade">
                                      <p:cBhvr>
                                        <p:cTn id="62" dur="1000"/>
                                        <p:tgtEl>
                                          <p:spTgt spid="1240"/>
                                        </p:tgtEl>
                                      </p:cBhvr>
                                    </p:animEffect>
                                  </p:childTnLst>
                                </p:cTn>
                              </p:par>
                              <p:par>
                                <p:cTn id="63" presetID="10" presetClass="entr" presetSubtype="0" fill="hold" nodeType="withEffect">
                                  <p:stCondLst>
                                    <p:cond delay="0"/>
                                  </p:stCondLst>
                                  <p:childTnLst>
                                    <p:set>
                                      <p:cBhvr>
                                        <p:cTn id="64" dur="1" fill="hold">
                                          <p:stCondLst>
                                            <p:cond delay="0"/>
                                          </p:stCondLst>
                                        </p:cTn>
                                        <p:tgtEl>
                                          <p:spTgt spid="1241"/>
                                        </p:tgtEl>
                                        <p:attrNameLst>
                                          <p:attrName>style.visibility</p:attrName>
                                        </p:attrNameLst>
                                      </p:cBhvr>
                                      <p:to>
                                        <p:strVal val="visible"/>
                                      </p:to>
                                    </p:set>
                                    <p:animEffect transition="in" filter="fade">
                                      <p:cBhvr>
                                        <p:cTn id="65" dur="1000"/>
                                        <p:tgtEl>
                                          <p:spTgt spid="124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242"/>
                                        </p:tgtEl>
                                        <p:attrNameLst>
                                          <p:attrName>style.visibility</p:attrName>
                                        </p:attrNameLst>
                                      </p:cBhvr>
                                      <p:to>
                                        <p:strVal val="visible"/>
                                      </p:to>
                                    </p:set>
                                    <p:animEffect transition="in" filter="fade">
                                      <p:cBhvr>
                                        <p:cTn id="70" dur="1000"/>
                                        <p:tgtEl>
                                          <p:spTgt spid="124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256"/>
                                        </p:tgtEl>
                                        <p:attrNameLst>
                                          <p:attrName>style.visibility</p:attrName>
                                        </p:attrNameLst>
                                      </p:cBhvr>
                                      <p:to>
                                        <p:strVal val="visible"/>
                                      </p:to>
                                    </p:set>
                                    <p:animEffect transition="in" filter="fade">
                                      <p:cBhvr>
                                        <p:cTn id="75" dur="1000"/>
                                        <p:tgtEl>
                                          <p:spTgt spid="125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269"/>
                                        </p:tgtEl>
                                        <p:attrNameLst>
                                          <p:attrName>style.visibility</p:attrName>
                                        </p:attrNameLst>
                                      </p:cBhvr>
                                      <p:to>
                                        <p:strVal val="visible"/>
                                      </p:to>
                                    </p:set>
                                    <p:animEffect transition="in" filter="fade">
                                      <p:cBhvr>
                                        <p:cTn id="80" dur="1000"/>
                                        <p:tgtEl>
                                          <p:spTgt spid="1269"/>
                                        </p:tgtEl>
                                      </p:cBhvr>
                                    </p:animEffect>
                                  </p:childTnLst>
                                </p:cTn>
                              </p:par>
                            </p:childTnLst>
                          </p:cTn>
                        </p:par>
                        <p:par>
                          <p:cTn id="81" fill="hold">
                            <p:stCondLst>
                              <p:cond delay="1000"/>
                            </p:stCondLst>
                            <p:childTnLst>
                              <p:par>
                                <p:cTn id="82" presetID="10" presetClass="entr" presetSubtype="0" fill="hold" nodeType="afterEffect">
                                  <p:stCondLst>
                                    <p:cond delay="0"/>
                                  </p:stCondLst>
                                  <p:childTnLst>
                                    <p:set>
                                      <p:cBhvr>
                                        <p:cTn id="83" dur="1" fill="hold">
                                          <p:stCondLst>
                                            <p:cond delay="0"/>
                                          </p:stCondLst>
                                        </p:cTn>
                                        <p:tgtEl>
                                          <p:spTgt spid="1257"/>
                                        </p:tgtEl>
                                        <p:attrNameLst>
                                          <p:attrName>style.visibility</p:attrName>
                                        </p:attrNameLst>
                                      </p:cBhvr>
                                      <p:to>
                                        <p:strVal val="visible"/>
                                      </p:to>
                                    </p:set>
                                    <p:animEffect transition="in" filter="fade">
                                      <p:cBhvr>
                                        <p:cTn id="84" dur="1000"/>
                                        <p:tgtEl>
                                          <p:spTgt spid="1257"/>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270"/>
                                        </p:tgtEl>
                                        <p:attrNameLst>
                                          <p:attrName>style.visibility</p:attrName>
                                        </p:attrNameLst>
                                      </p:cBhvr>
                                      <p:to>
                                        <p:strVal val="visible"/>
                                      </p:to>
                                    </p:set>
                                    <p:animEffect transition="in" filter="fade">
                                      <p:cBhvr>
                                        <p:cTn id="89" dur="1000"/>
                                        <p:tgtEl>
                                          <p:spTgt spid="1270"/>
                                        </p:tgtEl>
                                      </p:cBhvr>
                                    </p:animEffect>
                                  </p:childTnLst>
                                </p:cTn>
                              </p:par>
                            </p:childTnLst>
                          </p:cTn>
                        </p:par>
                        <p:par>
                          <p:cTn id="90" fill="hold">
                            <p:stCondLst>
                              <p:cond delay="1000"/>
                            </p:stCondLst>
                            <p:childTnLst>
                              <p:par>
                                <p:cTn id="91" presetID="10" presetClass="entr" presetSubtype="0" fill="hold" nodeType="afterEffect">
                                  <p:stCondLst>
                                    <p:cond delay="0"/>
                                  </p:stCondLst>
                                  <p:childTnLst>
                                    <p:set>
                                      <p:cBhvr>
                                        <p:cTn id="92" dur="1" fill="hold">
                                          <p:stCondLst>
                                            <p:cond delay="0"/>
                                          </p:stCondLst>
                                        </p:cTn>
                                        <p:tgtEl>
                                          <p:spTgt spid="1262"/>
                                        </p:tgtEl>
                                        <p:attrNameLst>
                                          <p:attrName>style.visibility</p:attrName>
                                        </p:attrNameLst>
                                      </p:cBhvr>
                                      <p:to>
                                        <p:strVal val="visible"/>
                                      </p:to>
                                    </p:set>
                                    <p:animEffect transition="in" filter="fade">
                                      <p:cBhvr>
                                        <p:cTn id="93" dur="1000"/>
                                        <p:tgtEl>
                                          <p:spTgt spid="126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1271"/>
                                        </p:tgtEl>
                                        <p:attrNameLst>
                                          <p:attrName>style.visibility</p:attrName>
                                        </p:attrNameLst>
                                      </p:cBhvr>
                                      <p:to>
                                        <p:strVal val="visible"/>
                                      </p:to>
                                    </p:set>
                                    <p:animEffect transition="in" filter="fade">
                                      <p:cBhvr>
                                        <p:cTn id="98" dur="1000"/>
                                        <p:tgtEl>
                                          <p:spTgt spid="1271"/>
                                        </p:tgtEl>
                                      </p:cBhvr>
                                    </p:animEffect>
                                  </p:childTnLst>
                                </p:cTn>
                              </p:par>
                            </p:childTnLst>
                          </p:cTn>
                        </p:par>
                        <p:par>
                          <p:cTn id="99" fill="hold">
                            <p:stCondLst>
                              <p:cond delay="1000"/>
                            </p:stCondLst>
                            <p:childTnLst>
                              <p:par>
                                <p:cTn id="100" presetID="10" presetClass="entr" presetSubtype="0" fill="hold" nodeType="afterEffect">
                                  <p:stCondLst>
                                    <p:cond delay="0"/>
                                  </p:stCondLst>
                                  <p:childTnLst>
                                    <p:set>
                                      <p:cBhvr>
                                        <p:cTn id="101" dur="1" fill="hold">
                                          <p:stCondLst>
                                            <p:cond delay="0"/>
                                          </p:stCondLst>
                                        </p:cTn>
                                        <p:tgtEl>
                                          <p:spTgt spid="1268"/>
                                        </p:tgtEl>
                                        <p:attrNameLst>
                                          <p:attrName>style.visibility</p:attrName>
                                        </p:attrNameLst>
                                      </p:cBhvr>
                                      <p:to>
                                        <p:strVal val="visible"/>
                                      </p:to>
                                    </p:set>
                                    <p:animEffect transition="in" filter="fade">
                                      <p:cBhvr>
                                        <p:cTn id="102" dur="1000"/>
                                        <p:tgtEl>
                                          <p:spTgt spid="1268"/>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275"/>
                                        </p:tgtEl>
                                        <p:attrNameLst>
                                          <p:attrName>style.visibility</p:attrName>
                                        </p:attrNameLst>
                                      </p:cBhvr>
                                      <p:to>
                                        <p:strVal val="visible"/>
                                      </p:to>
                                    </p:set>
                                    <p:animEffect transition="in" filter="fade">
                                      <p:cBhvr>
                                        <p:cTn id="107" dur="1000"/>
                                        <p:tgtEl>
                                          <p:spTgt spid="1275"/>
                                        </p:tgtEl>
                                      </p:cBhvr>
                                    </p:animEffect>
                                  </p:childTnLst>
                                </p:cTn>
                              </p:par>
                            </p:childTnLst>
                          </p:cTn>
                        </p:par>
                        <p:par>
                          <p:cTn id="108" fill="hold">
                            <p:stCondLst>
                              <p:cond delay="1000"/>
                            </p:stCondLst>
                            <p:childTnLst>
                              <p:par>
                                <p:cTn id="109" presetID="10" presetClass="entr" presetSubtype="0" fill="hold" nodeType="afterEffect">
                                  <p:stCondLst>
                                    <p:cond delay="0"/>
                                  </p:stCondLst>
                                  <p:childTnLst>
                                    <p:set>
                                      <p:cBhvr>
                                        <p:cTn id="110" dur="1" fill="hold">
                                          <p:stCondLst>
                                            <p:cond delay="0"/>
                                          </p:stCondLst>
                                        </p:cTn>
                                        <p:tgtEl>
                                          <p:spTgt spid="1272"/>
                                        </p:tgtEl>
                                        <p:attrNameLst>
                                          <p:attrName>style.visibility</p:attrName>
                                        </p:attrNameLst>
                                      </p:cBhvr>
                                      <p:to>
                                        <p:strVal val="visible"/>
                                      </p:to>
                                    </p:set>
                                    <p:animEffect transition="in" filter="fade">
                                      <p:cBhvr>
                                        <p:cTn id="111" dur="1000"/>
                                        <p:tgtEl>
                                          <p:spTgt spid="1272"/>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1276"/>
                                        </p:tgtEl>
                                        <p:attrNameLst>
                                          <p:attrName>style.visibility</p:attrName>
                                        </p:attrNameLst>
                                      </p:cBhvr>
                                      <p:to>
                                        <p:strVal val="visible"/>
                                      </p:to>
                                    </p:set>
                                    <p:animEffect transition="in" filter="fade">
                                      <p:cBhvr>
                                        <p:cTn id="116" dur="1000"/>
                                        <p:tgtEl>
                                          <p:spTgt spid="1276"/>
                                        </p:tgtEl>
                                      </p:cBhvr>
                                    </p:animEffect>
                                  </p:childTnLst>
                                </p:cTn>
                              </p:par>
                            </p:childTnLst>
                          </p:cTn>
                        </p:par>
                        <p:par>
                          <p:cTn id="117" fill="hold">
                            <p:stCondLst>
                              <p:cond delay="1000"/>
                            </p:stCondLst>
                            <p:childTnLst>
                              <p:par>
                                <p:cTn id="118" presetID="10" presetClass="entr" presetSubtype="0" fill="hold" nodeType="afterEffect">
                                  <p:stCondLst>
                                    <p:cond delay="0"/>
                                  </p:stCondLst>
                                  <p:childTnLst>
                                    <p:set>
                                      <p:cBhvr>
                                        <p:cTn id="119" dur="1" fill="hold">
                                          <p:stCondLst>
                                            <p:cond delay="0"/>
                                          </p:stCondLst>
                                        </p:cTn>
                                        <p:tgtEl>
                                          <p:spTgt spid="1277"/>
                                        </p:tgtEl>
                                        <p:attrNameLst>
                                          <p:attrName>style.visibility</p:attrName>
                                        </p:attrNameLst>
                                      </p:cBhvr>
                                      <p:to>
                                        <p:strVal val="visible"/>
                                      </p:to>
                                    </p:set>
                                    <p:animEffect transition="in" filter="fade">
                                      <p:cBhvr>
                                        <p:cTn id="120" dur="1000"/>
                                        <p:tgtEl>
                                          <p:spTgt spid="1277"/>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1267"/>
                                        </p:tgtEl>
                                        <p:attrNameLst>
                                          <p:attrName>style.visibility</p:attrName>
                                        </p:attrNameLst>
                                      </p:cBhvr>
                                      <p:to>
                                        <p:strVal val="visible"/>
                                      </p:to>
                                    </p:set>
                                    <p:animEffect transition="in" filter="fade">
                                      <p:cBhvr>
                                        <p:cTn id="125" dur="1000"/>
                                        <p:tgtEl>
                                          <p:spTgt spid="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83"/>
        <p:cNvGrpSpPr/>
        <p:nvPr/>
      </p:nvGrpSpPr>
      <p:grpSpPr>
        <a:xfrm>
          <a:off x="0" y="0"/>
          <a:ext cx="0" cy="0"/>
          <a:chOff x="0" y="0"/>
          <a:chExt cx="0" cy="0"/>
        </a:xfrm>
      </p:grpSpPr>
      <p:sp>
        <p:nvSpPr>
          <p:cNvPr id="1284" name="Google Shape;1284;p61"/>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
              <a:t>28</a:t>
            </a:fld>
            <a:endParaRPr/>
          </a:p>
        </p:txBody>
      </p:sp>
      <p:sp>
        <p:nvSpPr>
          <p:cNvPr id="1285" name="Google Shape;1285;p61"/>
          <p:cNvSpPr txBox="1">
            <a:spLocks noGrp="1"/>
          </p:cNvSpPr>
          <p:nvPr>
            <p:ph type="title"/>
          </p:nvPr>
        </p:nvSpPr>
        <p:spPr>
          <a:xfrm>
            <a:off x="51885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Cycles</a:t>
            </a:r>
            <a:endParaRPr/>
          </a:p>
        </p:txBody>
      </p:sp>
      <p:sp>
        <p:nvSpPr>
          <p:cNvPr id="1286" name="Google Shape;1286;p61"/>
          <p:cNvSpPr txBox="1">
            <a:spLocks noGrp="1"/>
          </p:cNvSpPr>
          <p:nvPr>
            <p:ph type="body" idx="1"/>
          </p:nvPr>
        </p:nvSpPr>
        <p:spPr>
          <a:xfrm>
            <a:off x="395725" y="111200"/>
            <a:ext cx="4166400" cy="48675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You may notice something </a:t>
            </a:r>
            <a:r>
              <a:rPr lang="en" b="1" i="1" dirty="0">
                <a:solidFill>
                  <a:srgbClr val="FF0000"/>
                </a:solidFill>
              </a:rPr>
              <a:t>a little odd</a:t>
            </a:r>
            <a:r>
              <a:rPr lang="en" dirty="0"/>
              <a:t> when running your BFS searches on certain graphs, especially if they do not have any directed edges.</a:t>
            </a:r>
            <a:endParaRPr dirty="0"/>
          </a:p>
          <a:p>
            <a:pPr marL="914400" lvl="1" indent="-298450" algn="l" rtl="0">
              <a:lnSpc>
                <a:spcPct val="115000"/>
              </a:lnSpc>
              <a:spcBef>
                <a:spcPts val="0"/>
              </a:spcBef>
              <a:spcAft>
                <a:spcPts val="0"/>
              </a:spcAft>
              <a:buSzPts val="1100"/>
              <a:buChar char="○"/>
            </a:pPr>
            <a:r>
              <a:rPr lang="en" dirty="0"/>
              <a:t>Namely, you may keep seeing the </a:t>
            </a:r>
            <a:r>
              <a:rPr lang="en" b="1" i="1" dirty="0">
                <a:solidFill>
                  <a:srgbClr val="FF0000"/>
                </a:solidFill>
                <a:highlight>
                  <a:srgbClr val="FFFF00"/>
                </a:highlight>
              </a:rPr>
              <a:t>same </a:t>
            </a:r>
            <a:r>
              <a:rPr lang="en" dirty="0">
                <a:highlight>
                  <a:srgbClr val="FFFF00"/>
                </a:highlight>
              </a:rPr>
              <a:t>nodes </a:t>
            </a:r>
            <a:r>
              <a:rPr lang="en" b="1" i="1" dirty="0">
                <a:solidFill>
                  <a:srgbClr val="FF0000"/>
                </a:solidFill>
                <a:highlight>
                  <a:srgbClr val="FFFF00"/>
                </a:highlight>
              </a:rPr>
              <a:t>again and again</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Imagine that you are traversing a graph, following edges from one vertex to the next.</a:t>
            </a:r>
            <a:endParaRPr dirty="0"/>
          </a:p>
          <a:p>
            <a:pPr marL="457200" lvl="0" indent="-311150" algn="l" rtl="0">
              <a:lnSpc>
                <a:spcPct val="115000"/>
              </a:lnSpc>
              <a:spcBef>
                <a:spcPts val="1000"/>
              </a:spcBef>
              <a:spcAft>
                <a:spcPts val="0"/>
              </a:spcAft>
              <a:buSzPts val="1300"/>
              <a:buChar char="●"/>
            </a:pPr>
            <a:r>
              <a:rPr lang="en" dirty="0"/>
              <a:t>As you continue along your path, you eventually end up </a:t>
            </a:r>
            <a:r>
              <a:rPr lang="en" b="1" i="1" dirty="0">
                <a:solidFill>
                  <a:srgbClr val="FF0000"/>
                </a:solidFill>
                <a:highlight>
                  <a:srgbClr val="FFFF00"/>
                </a:highlight>
              </a:rPr>
              <a:t>back</a:t>
            </a:r>
            <a:r>
              <a:rPr lang="en" dirty="0">
                <a:solidFill>
                  <a:srgbClr val="FF0000"/>
                </a:solidFill>
                <a:highlight>
                  <a:srgbClr val="FFFF00"/>
                </a:highlight>
              </a:rPr>
              <a:t> </a:t>
            </a:r>
            <a:r>
              <a:rPr lang="en" dirty="0">
                <a:highlight>
                  <a:srgbClr val="FFFF00"/>
                </a:highlight>
              </a:rPr>
              <a:t>at the node from which you </a:t>
            </a:r>
            <a:r>
              <a:rPr lang="en" b="1" i="1" dirty="0">
                <a:solidFill>
                  <a:srgbClr val="FF0000"/>
                </a:solidFill>
                <a:highlight>
                  <a:srgbClr val="FFFF00"/>
                </a:highlight>
              </a:rPr>
              <a:t>started</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Such a path is called a </a:t>
            </a:r>
            <a:r>
              <a:rPr lang="en" b="1" i="1" dirty="0">
                <a:solidFill>
                  <a:srgbClr val="FF0000"/>
                </a:solidFill>
                <a:highlight>
                  <a:srgbClr val="FFFF00"/>
                </a:highlight>
              </a:rPr>
              <a:t>cycle</a:t>
            </a:r>
            <a:r>
              <a:rPr lang="en" dirty="0"/>
              <a:t>, and will cause a search algorithm like </a:t>
            </a:r>
            <a:r>
              <a:rPr lang="en" b="1" i="1" dirty="0">
                <a:solidFill>
                  <a:srgbClr val="FF0000"/>
                </a:solidFill>
              </a:rPr>
              <a:t>BFS</a:t>
            </a:r>
            <a:r>
              <a:rPr lang="en" dirty="0">
                <a:solidFill>
                  <a:srgbClr val="FF0000"/>
                </a:solidFill>
              </a:rPr>
              <a:t> </a:t>
            </a:r>
            <a:r>
              <a:rPr lang="en" dirty="0"/>
              <a:t>to visit the same nodes </a:t>
            </a:r>
            <a:r>
              <a:rPr lang="en" b="1" i="1" dirty="0">
                <a:solidFill>
                  <a:srgbClr val="FF0000"/>
                </a:solidFill>
              </a:rPr>
              <a:t>many times over</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In some cases a search might even get stuck in the same cycle </a:t>
            </a:r>
            <a:r>
              <a:rPr lang="en" b="1" i="1" dirty="0">
                <a:solidFill>
                  <a:srgbClr val="FF0000"/>
                </a:solidFill>
                <a:highlight>
                  <a:srgbClr val="FFFF00"/>
                </a:highlight>
              </a:rPr>
              <a:t>forever</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We will need to modify our BFS algorithm so that it keeps track of the vertices that were seen </a:t>
            </a:r>
            <a:r>
              <a:rPr lang="en" b="1" i="1" dirty="0">
                <a:solidFill>
                  <a:srgbClr val="FF0000"/>
                </a:solidFill>
                <a:highlight>
                  <a:srgbClr val="FFFF00"/>
                </a:highlight>
              </a:rPr>
              <a:t>previously</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Only </a:t>
            </a:r>
            <a:r>
              <a:rPr lang="en" b="1" i="1" dirty="0">
                <a:solidFill>
                  <a:srgbClr val="FF0000"/>
                </a:solidFill>
              </a:rPr>
              <a:t>new</a:t>
            </a:r>
            <a:r>
              <a:rPr lang="en" dirty="0">
                <a:solidFill>
                  <a:srgbClr val="FF0000"/>
                </a:solidFill>
              </a:rPr>
              <a:t> </a:t>
            </a:r>
            <a:r>
              <a:rPr lang="en" dirty="0"/>
              <a:t>vertices are added to the queue. </a:t>
            </a:r>
            <a:endParaRPr dirty="0"/>
          </a:p>
        </p:txBody>
      </p:sp>
      <p:sp>
        <p:nvSpPr>
          <p:cNvPr id="1287" name="Google Shape;1287;p61"/>
          <p:cNvSpPr txBox="1">
            <a:spLocks noGrp="1"/>
          </p:cNvSpPr>
          <p:nvPr>
            <p:ph type="body" idx="3"/>
          </p:nvPr>
        </p:nvSpPr>
        <p:spPr>
          <a:xfrm>
            <a:off x="5192225" y="4394450"/>
            <a:ext cx="3706500" cy="57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t>Not all graphs contain cycles. Those that do are </a:t>
            </a:r>
            <a:r>
              <a:rPr lang="en" b="1" i="1" dirty="0">
                <a:solidFill>
                  <a:srgbClr val="FF0000"/>
                </a:solidFill>
              </a:rPr>
              <a:t>cyclic</a:t>
            </a:r>
            <a:r>
              <a:rPr lang="en" dirty="0"/>
              <a:t>. Those that do not are </a:t>
            </a:r>
            <a:r>
              <a:rPr lang="en" b="1" i="1" dirty="0">
                <a:solidFill>
                  <a:srgbClr val="FF0000"/>
                </a:solidFill>
                <a:highlight>
                  <a:srgbClr val="FFFF00"/>
                </a:highlight>
              </a:rPr>
              <a:t>acyclic</a:t>
            </a:r>
            <a:r>
              <a:rPr lang="en" dirty="0"/>
              <a:t>.</a:t>
            </a:r>
            <a:endParaRPr dirty="0"/>
          </a:p>
        </p:txBody>
      </p:sp>
      <p:sp>
        <p:nvSpPr>
          <p:cNvPr id="1288" name="Google Shape;1288;p61"/>
          <p:cNvSpPr/>
          <p:nvPr/>
        </p:nvSpPr>
        <p:spPr>
          <a:xfrm>
            <a:off x="8533156" y="2810799"/>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p61"/>
          <p:cNvSpPr/>
          <p:nvPr/>
        </p:nvSpPr>
        <p:spPr>
          <a:xfrm>
            <a:off x="8478204" y="2131527"/>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90" name="Google Shape;1290;p61"/>
          <p:cNvCxnSpPr>
            <a:stCxn id="1291" idx="1"/>
            <a:endCxn id="1292" idx="5"/>
          </p:cNvCxnSpPr>
          <p:nvPr/>
        </p:nvCxnSpPr>
        <p:spPr>
          <a:xfrm rot="10800000">
            <a:off x="6042208" y="1551356"/>
            <a:ext cx="323400" cy="299400"/>
          </a:xfrm>
          <a:prstGeom prst="straightConnector1">
            <a:avLst/>
          </a:prstGeom>
          <a:noFill/>
          <a:ln w="19050" cap="flat" cmpd="sng">
            <a:solidFill>
              <a:srgbClr val="FF9900"/>
            </a:solidFill>
            <a:prstDash val="solid"/>
            <a:round/>
            <a:headEnd type="none" w="sm" len="sm"/>
            <a:tailEnd type="none" w="sm" len="sm"/>
          </a:ln>
        </p:spPr>
      </p:cxnSp>
      <p:cxnSp>
        <p:nvCxnSpPr>
          <p:cNvPr id="1293" name="Google Shape;1293;p61"/>
          <p:cNvCxnSpPr>
            <a:endCxn id="1294" idx="4"/>
          </p:cNvCxnSpPr>
          <p:nvPr/>
        </p:nvCxnSpPr>
        <p:spPr>
          <a:xfrm rot="10800000">
            <a:off x="6487902" y="1256150"/>
            <a:ext cx="0" cy="544200"/>
          </a:xfrm>
          <a:prstGeom prst="straightConnector1">
            <a:avLst/>
          </a:prstGeom>
          <a:noFill/>
          <a:ln w="19050" cap="flat" cmpd="sng">
            <a:solidFill>
              <a:srgbClr val="FF9900"/>
            </a:solidFill>
            <a:prstDash val="solid"/>
            <a:round/>
            <a:headEnd type="none" w="sm" len="sm"/>
            <a:tailEnd type="none" w="sm" len="sm"/>
          </a:ln>
        </p:spPr>
      </p:cxnSp>
      <p:cxnSp>
        <p:nvCxnSpPr>
          <p:cNvPr id="1295" name="Google Shape;1295;p61"/>
          <p:cNvCxnSpPr>
            <a:stCxn id="1291" idx="2"/>
            <a:endCxn id="1296" idx="6"/>
          </p:cNvCxnSpPr>
          <p:nvPr/>
        </p:nvCxnSpPr>
        <p:spPr>
          <a:xfrm flipH="1">
            <a:off x="5839152" y="1973050"/>
            <a:ext cx="475800" cy="39900"/>
          </a:xfrm>
          <a:prstGeom prst="straightConnector1">
            <a:avLst/>
          </a:prstGeom>
          <a:noFill/>
          <a:ln w="19050" cap="flat" cmpd="sng">
            <a:solidFill>
              <a:srgbClr val="FF9900"/>
            </a:solidFill>
            <a:prstDash val="solid"/>
            <a:round/>
            <a:headEnd type="none" w="sm" len="sm"/>
            <a:tailEnd type="none" w="sm" len="sm"/>
          </a:ln>
        </p:spPr>
      </p:cxnSp>
      <p:cxnSp>
        <p:nvCxnSpPr>
          <p:cNvPr id="1297" name="Google Shape;1297;p61"/>
          <p:cNvCxnSpPr>
            <a:stCxn id="1291" idx="3"/>
            <a:endCxn id="1298" idx="7"/>
          </p:cNvCxnSpPr>
          <p:nvPr/>
        </p:nvCxnSpPr>
        <p:spPr>
          <a:xfrm flipH="1">
            <a:off x="6088708" y="2095344"/>
            <a:ext cx="276900" cy="379200"/>
          </a:xfrm>
          <a:prstGeom prst="straightConnector1">
            <a:avLst/>
          </a:prstGeom>
          <a:noFill/>
          <a:ln w="19050" cap="flat" cmpd="sng">
            <a:solidFill>
              <a:srgbClr val="FF9900"/>
            </a:solidFill>
            <a:prstDash val="solid"/>
            <a:round/>
            <a:headEnd type="none" w="sm" len="sm"/>
            <a:tailEnd type="none" w="sm" len="sm"/>
          </a:ln>
        </p:spPr>
      </p:cxnSp>
      <p:cxnSp>
        <p:nvCxnSpPr>
          <p:cNvPr id="1299" name="Google Shape;1299;p61"/>
          <p:cNvCxnSpPr>
            <a:stCxn id="1300" idx="2"/>
            <a:endCxn id="1301" idx="6"/>
          </p:cNvCxnSpPr>
          <p:nvPr/>
        </p:nvCxnSpPr>
        <p:spPr>
          <a:xfrm flipH="1">
            <a:off x="5930842" y="3039038"/>
            <a:ext cx="468600" cy="87000"/>
          </a:xfrm>
          <a:prstGeom prst="straightConnector1">
            <a:avLst/>
          </a:prstGeom>
          <a:noFill/>
          <a:ln w="19050" cap="flat" cmpd="sng">
            <a:solidFill>
              <a:srgbClr val="FF9900"/>
            </a:solidFill>
            <a:prstDash val="solid"/>
            <a:round/>
            <a:headEnd type="none" w="sm" len="sm"/>
            <a:tailEnd type="none" w="sm" len="sm"/>
          </a:ln>
        </p:spPr>
      </p:cxnSp>
      <p:cxnSp>
        <p:nvCxnSpPr>
          <p:cNvPr id="1302" name="Google Shape;1302;p61"/>
          <p:cNvCxnSpPr>
            <a:stCxn id="1300" idx="4"/>
            <a:endCxn id="1303" idx="0"/>
          </p:cNvCxnSpPr>
          <p:nvPr/>
        </p:nvCxnSpPr>
        <p:spPr>
          <a:xfrm flipH="1">
            <a:off x="6384292" y="3211988"/>
            <a:ext cx="188100" cy="425100"/>
          </a:xfrm>
          <a:prstGeom prst="straightConnector1">
            <a:avLst/>
          </a:prstGeom>
          <a:noFill/>
          <a:ln w="19050" cap="flat" cmpd="sng">
            <a:solidFill>
              <a:srgbClr val="FF9900"/>
            </a:solidFill>
            <a:prstDash val="solid"/>
            <a:round/>
            <a:headEnd type="none" w="sm" len="sm"/>
            <a:tailEnd type="none" w="sm" len="sm"/>
          </a:ln>
        </p:spPr>
      </p:cxnSp>
      <p:cxnSp>
        <p:nvCxnSpPr>
          <p:cNvPr id="1304" name="Google Shape;1304;p61"/>
          <p:cNvCxnSpPr>
            <a:stCxn id="1305" idx="4"/>
            <a:endCxn id="1306" idx="0"/>
          </p:cNvCxnSpPr>
          <p:nvPr/>
        </p:nvCxnSpPr>
        <p:spPr>
          <a:xfrm flipH="1">
            <a:off x="7330343" y="3437357"/>
            <a:ext cx="85500" cy="414000"/>
          </a:xfrm>
          <a:prstGeom prst="straightConnector1">
            <a:avLst/>
          </a:prstGeom>
          <a:noFill/>
          <a:ln w="19050" cap="flat" cmpd="sng">
            <a:solidFill>
              <a:srgbClr val="FF9900"/>
            </a:solidFill>
            <a:prstDash val="solid"/>
            <a:round/>
            <a:headEnd type="none" w="sm" len="sm"/>
            <a:tailEnd type="none" w="sm" len="sm"/>
          </a:ln>
        </p:spPr>
      </p:cxnSp>
      <p:cxnSp>
        <p:nvCxnSpPr>
          <p:cNvPr id="1307" name="Google Shape;1307;p61"/>
          <p:cNvCxnSpPr>
            <a:stCxn id="1305" idx="5"/>
            <a:endCxn id="1308" idx="1"/>
          </p:cNvCxnSpPr>
          <p:nvPr/>
        </p:nvCxnSpPr>
        <p:spPr>
          <a:xfrm>
            <a:off x="7538137" y="3386701"/>
            <a:ext cx="324900" cy="365700"/>
          </a:xfrm>
          <a:prstGeom prst="straightConnector1">
            <a:avLst/>
          </a:prstGeom>
          <a:noFill/>
          <a:ln w="19050" cap="flat" cmpd="sng">
            <a:solidFill>
              <a:srgbClr val="FF9900"/>
            </a:solidFill>
            <a:prstDash val="solid"/>
            <a:round/>
            <a:headEnd type="none" w="sm" len="sm"/>
            <a:tailEnd type="none" w="sm" len="sm"/>
          </a:ln>
        </p:spPr>
      </p:cxnSp>
      <p:cxnSp>
        <p:nvCxnSpPr>
          <p:cNvPr id="1309" name="Google Shape;1309;p61"/>
          <p:cNvCxnSpPr>
            <a:stCxn id="1310" idx="4"/>
            <a:endCxn id="1311" idx="1"/>
          </p:cNvCxnSpPr>
          <p:nvPr/>
        </p:nvCxnSpPr>
        <p:spPr>
          <a:xfrm>
            <a:off x="7884075" y="2911008"/>
            <a:ext cx="449400" cy="495300"/>
          </a:xfrm>
          <a:prstGeom prst="straightConnector1">
            <a:avLst/>
          </a:prstGeom>
          <a:noFill/>
          <a:ln w="19050" cap="flat" cmpd="sng">
            <a:solidFill>
              <a:srgbClr val="FF9900"/>
            </a:solidFill>
            <a:prstDash val="solid"/>
            <a:round/>
            <a:headEnd type="none" w="sm" len="sm"/>
            <a:tailEnd type="none" w="sm" len="sm"/>
          </a:ln>
        </p:spPr>
      </p:cxnSp>
      <p:cxnSp>
        <p:nvCxnSpPr>
          <p:cNvPr id="1312" name="Google Shape;1312;p61"/>
          <p:cNvCxnSpPr>
            <a:stCxn id="1310" idx="6"/>
            <a:endCxn id="1288" idx="2"/>
          </p:cNvCxnSpPr>
          <p:nvPr/>
        </p:nvCxnSpPr>
        <p:spPr>
          <a:xfrm>
            <a:off x="8057025" y="2738058"/>
            <a:ext cx="476100" cy="245700"/>
          </a:xfrm>
          <a:prstGeom prst="straightConnector1">
            <a:avLst/>
          </a:prstGeom>
          <a:noFill/>
          <a:ln w="19050" cap="flat" cmpd="sng">
            <a:solidFill>
              <a:srgbClr val="FF9900"/>
            </a:solidFill>
            <a:prstDash val="solid"/>
            <a:round/>
            <a:headEnd type="none" w="sm" len="sm"/>
            <a:tailEnd type="none" w="sm" len="sm"/>
          </a:ln>
        </p:spPr>
      </p:cxnSp>
      <p:cxnSp>
        <p:nvCxnSpPr>
          <p:cNvPr id="1313" name="Google Shape;1313;p61"/>
          <p:cNvCxnSpPr>
            <a:stCxn id="1310" idx="7"/>
            <a:endCxn id="1289" idx="2"/>
          </p:cNvCxnSpPr>
          <p:nvPr/>
        </p:nvCxnSpPr>
        <p:spPr>
          <a:xfrm rot="10800000" flipH="1">
            <a:off x="8006369" y="2304364"/>
            <a:ext cx="471900" cy="311400"/>
          </a:xfrm>
          <a:prstGeom prst="straightConnector1">
            <a:avLst/>
          </a:prstGeom>
          <a:noFill/>
          <a:ln w="19050" cap="flat" cmpd="sng">
            <a:solidFill>
              <a:srgbClr val="FF9900"/>
            </a:solidFill>
            <a:prstDash val="solid"/>
            <a:round/>
            <a:headEnd type="none" w="sm" len="sm"/>
            <a:tailEnd type="none" w="sm" len="sm"/>
          </a:ln>
        </p:spPr>
      </p:cxnSp>
      <p:cxnSp>
        <p:nvCxnSpPr>
          <p:cNvPr id="1314" name="Google Shape;1314;p61"/>
          <p:cNvCxnSpPr>
            <a:stCxn id="1310" idx="0"/>
            <a:endCxn id="1315" idx="4"/>
          </p:cNvCxnSpPr>
          <p:nvPr/>
        </p:nvCxnSpPr>
        <p:spPr>
          <a:xfrm rot="10800000" flipH="1">
            <a:off x="7884075" y="2043708"/>
            <a:ext cx="392700" cy="521400"/>
          </a:xfrm>
          <a:prstGeom prst="straightConnector1">
            <a:avLst/>
          </a:prstGeom>
          <a:noFill/>
          <a:ln w="19050" cap="flat" cmpd="sng">
            <a:solidFill>
              <a:srgbClr val="FF9900"/>
            </a:solidFill>
            <a:prstDash val="solid"/>
            <a:round/>
            <a:headEnd type="none" w="sm" len="sm"/>
            <a:tailEnd type="none" w="sm" len="sm"/>
          </a:ln>
        </p:spPr>
      </p:cxnSp>
      <p:cxnSp>
        <p:nvCxnSpPr>
          <p:cNvPr id="1316" name="Google Shape;1316;p61"/>
          <p:cNvCxnSpPr>
            <a:stCxn id="1317" idx="0"/>
            <a:endCxn id="1318" idx="4"/>
          </p:cNvCxnSpPr>
          <p:nvPr/>
        </p:nvCxnSpPr>
        <p:spPr>
          <a:xfrm rot="10800000" flipH="1">
            <a:off x="7734517" y="1394476"/>
            <a:ext cx="196500" cy="376500"/>
          </a:xfrm>
          <a:prstGeom prst="straightConnector1">
            <a:avLst/>
          </a:prstGeom>
          <a:noFill/>
          <a:ln w="19050" cap="flat" cmpd="sng">
            <a:solidFill>
              <a:srgbClr val="FF9900"/>
            </a:solidFill>
            <a:prstDash val="solid"/>
            <a:round/>
            <a:headEnd type="none" w="sm" len="sm"/>
            <a:tailEnd type="none" w="sm" len="sm"/>
          </a:ln>
        </p:spPr>
      </p:cxnSp>
      <p:cxnSp>
        <p:nvCxnSpPr>
          <p:cNvPr id="1319" name="Google Shape;1319;p61"/>
          <p:cNvCxnSpPr>
            <a:stCxn id="1291" idx="7"/>
            <a:endCxn id="1320" idx="3"/>
          </p:cNvCxnSpPr>
          <p:nvPr/>
        </p:nvCxnSpPr>
        <p:spPr>
          <a:xfrm rot="10800000" flipH="1">
            <a:off x="6610196" y="1165256"/>
            <a:ext cx="504300" cy="685500"/>
          </a:xfrm>
          <a:prstGeom prst="straightConnector1">
            <a:avLst/>
          </a:prstGeom>
          <a:noFill/>
          <a:ln w="19050" cap="flat" cmpd="sng">
            <a:solidFill>
              <a:srgbClr val="FF9900"/>
            </a:solidFill>
            <a:prstDash val="solid"/>
            <a:round/>
            <a:headEnd type="none" w="sm" len="sm"/>
            <a:tailEnd type="none" w="sm" len="sm"/>
          </a:ln>
        </p:spPr>
      </p:cxnSp>
      <p:cxnSp>
        <p:nvCxnSpPr>
          <p:cNvPr id="1321" name="Google Shape;1321;p61"/>
          <p:cNvCxnSpPr>
            <a:stCxn id="1301" idx="7"/>
            <a:endCxn id="1298" idx="4"/>
          </p:cNvCxnSpPr>
          <p:nvPr/>
        </p:nvCxnSpPr>
        <p:spPr>
          <a:xfrm rot="10800000" flipH="1">
            <a:off x="5880080" y="2769792"/>
            <a:ext cx="86100" cy="234000"/>
          </a:xfrm>
          <a:prstGeom prst="straightConnector1">
            <a:avLst/>
          </a:prstGeom>
          <a:noFill/>
          <a:ln w="19050" cap="flat" cmpd="sng">
            <a:solidFill>
              <a:srgbClr val="EA9999"/>
            </a:solidFill>
            <a:prstDash val="solid"/>
            <a:round/>
            <a:headEnd type="none" w="sm" len="sm"/>
            <a:tailEnd type="none" w="sm" len="sm"/>
          </a:ln>
        </p:spPr>
      </p:cxnSp>
      <p:cxnSp>
        <p:nvCxnSpPr>
          <p:cNvPr id="1322" name="Google Shape;1322;p61"/>
          <p:cNvCxnSpPr>
            <a:stCxn id="1300" idx="6"/>
            <a:endCxn id="1305" idx="2"/>
          </p:cNvCxnSpPr>
          <p:nvPr/>
        </p:nvCxnSpPr>
        <p:spPr>
          <a:xfrm>
            <a:off x="6745342" y="3039038"/>
            <a:ext cx="497700" cy="225300"/>
          </a:xfrm>
          <a:prstGeom prst="straightConnector1">
            <a:avLst/>
          </a:prstGeom>
          <a:noFill/>
          <a:ln w="19050" cap="flat" cmpd="sng">
            <a:solidFill>
              <a:srgbClr val="FF9900"/>
            </a:solidFill>
            <a:prstDash val="solid"/>
            <a:round/>
            <a:headEnd type="none" w="sm" len="sm"/>
            <a:tailEnd type="none" w="sm" len="sm"/>
          </a:ln>
        </p:spPr>
      </p:cxnSp>
      <p:cxnSp>
        <p:nvCxnSpPr>
          <p:cNvPr id="1323" name="Google Shape;1323;p61"/>
          <p:cNvCxnSpPr>
            <a:stCxn id="1292" idx="4"/>
            <a:endCxn id="1296" idx="7"/>
          </p:cNvCxnSpPr>
          <p:nvPr/>
        </p:nvCxnSpPr>
        <p:spPr>
          <a:xfrm flipH="1">
            <a:off x="5788616" y="1602010"/>
            <a:ext cx="131400" cy="288600"/>
          </a:xfrm>
          <a:prstGeom prst="straightConnector1">
            <a:avLst/>
          </a:prstGeom>
          <a:noFill/>
          <a:ln w="19050" cap="flat" cmpd="sng">
            <a:solidFill>
              <a:srgbClr val="FFFF00"/>
            </a:solidFill>
            <a:prstDash val="solid"/>
            <a:round/>
            <a:headEnd type="none" w="sm" len="sm"/>
            <a:tailEnd type="none" w="sm" len="sm"/>
          </a:ln>
        </p:spPr>
      </p:cxnSp>
      <p:cxnSp>
        <p:nvCxnSpPr>
          <p:cNvPr id="1324" name="Google Shape;1324;p61"/>
          <p:cNvCxnSpPr>
            <a:stCxn id="1294" idx="6"/>
            <a:endCxn id="1320" idx="2"/>
          </p:cNvCxnSpPr>
          <p:nvPr/>
        </p:nvCxnSpPr>
        <p:spPr>
          <a:xfrm rot="10800000" flipH="1">
            <a:off x="6660852" y="1043000"/>
            <a:ext cx="402900" cy="40200"/>
          </a:xfrm>
          <a:prstGeom prst="straightConnector1">
            <a:avLst/>
          </a:prstGeom>
          <a:noFill/>
          <a:ln w="19050" cap="flat" cmpd="sng">
            <a:solidFill>
              <a:srgbClr val="FFFF00"/>
            </a:solidFill>
            <a:prstDash val="solid"/>
            <a:round/>
            <a:headEnd type="none" w="sm" len="sm"/>
            <a:tailEnd type="none" w="sm" len="sm"/>
          </a:ln>
        </p:spPr>
      </p:cxnSp>
      <p:cxnSp>
        <p:nvCxnSpPr>
          <p:cNvPr id="1325" name="Google Shape;1325;p61"/>
          <p:cNvCxnSpPr>
            <a:stCxn id="1294" idx="5"/>
            <a:endCxn id="1317" idx="1"/>
          </p:cNvCxnSpPr>
          <p:nvPr/>
        </p:nvCxnSpPr>
        <p:spPr>
          <a:xfrm>
            <a:off x="6610196" y="1205494"/>
            <a:ext cx="1002000" cy="616200"/>
          </a:xfrm>
          <a:prstGeom prst="straightConnector1">
            <a:avLst/>
          </a:prstGeom>
          <a:noFill/>
          <a:ln w="19050" cap="flat" cmpd="sng">
            <a:solidFill>
              <a:srgbClr val="FFFF00"/>
            </a:solidFill>
            <a:prstDash val="solid"/>
            <a:round/>
            <a:headEnd type="none" w="sm" len="sm"/>
            <a:tailEnd type="none" w="sm" len="sm"/>
          </a:ln>
        </p:spPr>
      </p:cxnSp>
      <p:cxnSp>
        <p:nvCxnSpPr>
          <p:cNvPr id="1326" name="Google Shape;1326;p61"/>
          <p:cNvCxnSpPr>
            <a:stCxn id="1294" idx="3"/>
            <a:endCxn id="1298" idx="0"/>
          </p:cNvCxnSpPr>
          <p:nvPr/>
        </p:nvCxnSpPr>
        <p:spPr>
          <a:xfrm flipH="1">
            <a:off x="5966308" y="1205494"/>
            <a:ext cx="399300" cy="1218600"/>
          </a:xfrm>
          <a:prstGeom prst="straightConnector1">
            <a:avLst/>
          </a:prstGeom>
          <a:noFill/>
          <a:ln w="19050" cap="flat" cmpd="sng">
            <a:solidFill>
              <a:srgbClr val="FFFF00"/>
            </a:solidFill>
            <a:prstDash val="solid"/>
            <a:round/>
            <a:headEnd type="none" w="sm" len="sm"/>
            <a:tailEnd type="none" w="sm" len="sm"/>
          </a:ln>
        </p:spPr>
      </p:cxnSp>
      <p:cxnSp>
        <p:nvCxnSpPr>
          <p:cNvPr id="1327" name="Google Shape;1327;p61"/>
          <p:cNvCxnSpPr>
            <a:stCxn id="1301" idx="0"/>
            <a:endCxn id="1296" idx="4"/>
          </p:cNvCxnSpPr>
          <p:nvPr/>
        </p:nvCxnSpPr>
        <p:spPr>
          <a:xfrm rot="10800000">
            <a:off x="5666286" y="2186036"/>
            <a:ext cx="91500" cy="767100"/>
          </a:xfrm>
          <a:prstGeom prst="straightConnector1">
            <a:avLst/>
          </a:prstGeom>
          <a:noFill/>
          <a:ln w="19050" cap="flat" cmpd="sng">
            <a:solidFill>
              <a:srgbClr val="FFFF00"/>
            </a:solidFill>
            <a:prstDash val="solid"/>
            <a:round/>
            <a:headEnd type="none" w="sm" len="sm"/>
            <a:tailEnd type="none" w="sm" len="sm"/>
          </a:ln>
        </p:spPr>
      </p:cxnSp>
      <p:cxnSp>
        <p:nvCxnSpPr>
          <p:cNvPr id="1328" name="Google Shape;1328;p61"/>
          <p:cNvCxnSpPr>
            <a:stCxn id="1306" idx="1"/>
            <a:endCxn id="1300" idx="5"/>
          </p:cNvCxnSpPr>
          <p:nvPr/>
        </p:nvCxnSpPr>
        <p:spPr>
          <a:xfrm rot="10800000">
            <a:off x="6694816" y="3161297"/>
            <a:ext cx="513300" cy="740700"/>
          </a:xfrm>
          <a:prstGeom prst="straightConnector1">
            <a:avLst/>
          </a:prstGeom>
          <a:noFill/>
          <a:ln w="19050" cap="flat" cmpd="sng">
            <a:solidFill>
              <a:srgbClr val="FFFF00"/>
            </a:solidFill>
            <a:prstDash val="solid"/>
            <a:round/>
            <a:headEnd type="none" w="sm" len="sm"/>
            <a:tailEnd type="none" w="sm" len="sm"/>
          </a:ln>
        </p:spPr>
      </p:cxnSp>
      <p:cxnSp>
        <p:nvCxnSpPr>
          <p:cNvPr id="1329" name="Google Shape;1329;p61"/>
          <p:cNvCxnSpPr>
            <a:stCxn id="1306" idx="7"/>
            <a:endCxn id="1310" idx="3"/>
          </p:cNvCxnSpPr>
          <p:nvPr/>
        </p:nvCxnSpPr>
        <p:spPr>
          <a:xfrm rot="10800000" flipH="1">
            <a:off x="7452704" y="2860397"/>
            <a:ext cx="309000" cy="1041600"/>
          </a:xfrm>
          <a:prstGeom prst="straightConnector1">
            <a:avLst/>
          </a:prstGeom>
          <a:noFill/>
          <a:ln w="19050" cap="flat" cmpd="sng">
            <a:solidFill>
              <a:srgbClr val="FFFF00"/>
            </a:solidFill>
            <a:prstDash val="solid"/>
            <a:round/>
            <a:headEnd type="none" w="sm" len="sm"/>
            <a:tailEnd type="none" w="sm" len="sm"/>
          </a:ln>
        </p:spPr>
      </p:cxnSp>
      <p:cxnSp>
        <p:nvCxnSpPr>
          <p:cNvPr id="1330" name="Google Shape;1330;p61"/>
          <p:cNvCxnSpPr>
            <a:stCxn id="1305" idx="6"/>
            <a:endCxn id="1311" idx="2"/>
          </p:cNvCxnSpPr>
          <p:nvPr/>
        </p:nvCxnSpPr>
        <p:spPr>
          <a:xfrm>
            <a:off x="7588793" y="3264407"/>
            <a:ext cx="693900" cy="264300"/>
          </a:xfrm>
          <a:prstGeom prst="straightConnector1">
            <a:avLst/>
          </a:prstGeom>
          <a:noFill/>
          <a:ln w="19050" cap="flat" cmpd="sng">
            <a:solidFill>
              <a:srgbClr val="FFFF00"/>
            </a:solidFill>
            <a:prstDash val="solid"/>
            <a:round/>
            <a:headEnd type="none" w="sm" len="sm"/>
            <a:tailEnd type="none" w="sm" len="sm"/>
          </a:ln>
        </p:spPr>
      </p:cxnSp>
      <p:cxnSp>
        <p:nvCxnSpPr>
          <p:cNvPr id="1331" name="Google Shape;1331;p61"/>
          <p:cNvCxnSpPr>
            <a:stCxn id="1303" idx="6"/>
            <a:endCxn id="1306" idx="2"/>
          </p:cNvCxnSpPr>
          <p:nvPr/>
        </p:nvCxnSpPr>
        <p:spPr>
          <a:xfrm>
            <a:off x="6557318" y="3810001"/>
            <a:ext cx="600000" cy="214200"/>
          </a:xfrm>
          <a:prstGeom prst="straightConnector1">
            <a:avLst/>
          </a:prstGeom>
          <a:noFill/>
          <a:ln w="19050" cap="flat" cmpd="sng">
            <a:solidFill>
              <a:srgbClr val="FFFF00"/>
            </a:solidFill>
            <a:prstDash val="solid"/>
            <a:round/>
            <a:headEnd type="none" w="sm" len="sm"/>
            <a:tailEnd type="none" w="sm" len="sm"/>
          </a:ln>
        </p:spPr>
      </p:cxnSp>
      <p:cxnSp>
        <p:nvCxnSpPr>
          <p:cNvPr id="1332" name="Google Shape;1332;p61"/>
          <p:cNvCxnSpPr>
            <a:stCxn id="1318" idx="5"/>
            <a:endCxn id="1315" idx="0"/>
          </p:cNvCxnSpPr>
          <p:nvPr/>
        </p:nvCxnSpPr>
        <p:spPr>
          <a:xfrm>
            <a:off x="8053179" y="1343816"/>
            <a:ext cx="223500" cy="354000"/>
          </a:xfrm>
          <a:prstGeom prst="straightConnector1">
            <a:avLst/>
          </a:prstGeom>
          <a:noFill/>
          <a:ln w="19050" cap="flat" cmpd="sng">
            <a:solidFill>
              <a:srgbClr val="FFFF00"/>
            </a:solidFill>
            <a:prstDash val="solid"/>
            <a:round/>
            <a:headEnd type="none" w="sm" len="sm"/>
            <a:tailEnd type="none" w="sm" len="sm"/>
          </a:ln>
        </p:spPr>
      </p:cxnSp>
      <p:cxnSp>
        <p:nvCxnSpPr>
          <p:cNvPr id="1333" name="Google Shape;1333;p61"/>
          <p:cNvCxnSpPr>
            <a:stCxn id="1318" idx="2"/>
            <a:endCxn id="1298" idx="6"/>
          </p:cNvCxnSpPr>
          <p:nvPr/>
        </p:nvCxnSpPr>
        <p:spPr>
          <a:xfrm flipH="1">
            <a:off x="6139135" y="1221522"/>
            <a:ext cx="1618800" cy="1375500"/>
          </a:xfrm>
          <a:prstGeom prst="straightConnector1">
            <a:avLst/>
          </a:prstGeom>
          <a:noFill/>
          <a:ln w="19050" cap="flat" cmpd="sng">
            <a:solidFill>
              <a:srgbClr val="FFFF00"/>
            </a:solidFill>
            <a:prstDash val="solid"/>
            <a:round/>
            <a:headEnd type="none" w="sm" len="sm"/>
            <a:tailEnd type="none" w="sm" len="sm"/>
          </a:ln>
        </p:spPr>
      </p:cxnSp>
      <p:cxnSp>
        <p:nvCxnSpPr>
          <p:cNvPr id="1334" name="Google Shape;1334;p61"/>
          <p:cNvCxnSpPr>
            <a:stCxn id="1315" idx="4"/>
            <a:endCxn id="1311" idx="0"/>
          </p:cNvCxnSpPr>
          <p:nvPr/>
        </p:nvCxnSpPr>
        <p:spPr>
          <a:xfrm>
            <a:off x="8276743" y="2043846"/>
            <a:ext cx="179100" cy="1311900"/>
          </a:xfrm>
          <a:prstGeom prst="straightConnector1">
            <a:avLst/>
          </a:prstGeom>
          <a:noFill/>
          <a:ln w="19050" cap="flat" cmpd="sng">
            <a:solidFill>
              <a:srgbClr val="FFFF00"/>
            </a:solidFill>
            <a:prstDash val="solid"/>
            <a:round/>
            <a:headEnd type="none" w="sm" len="sm"/>
            <a:tailEnd type="none" w="sm" len="sm"/>
          </a:ln>
        </p:spPr>
      </p:cxnSp>
      <p:cxnSp>
        <p:nvCxnSpPr>
          <p:cNvPr id="1335" name="Google Shape;1335;p61"/>
          <p:cNvCxnSpPr>
            <a:stCxn id="1288" idx="1"/>
            <a:endCxn id="1317" idx="5"/>
          </p:cNvCxnSpPr>
          <p:nvPr/>
        </p:nvCxnSpPr>
        <p:spPr>
          <a:xfrm rot="10800000">
            <a:off x="7856912" y="2066155"/>
            <a:ext cx="726900" cy="795300"/>
          </a:xfrm>
          <a:prstGeom prst="straightConnector1">
            <a:avLst/>
          </a:prstGeom>
          <a:noFill/>
          <a:ln w="19050" cap="flat" cmpd="sng">
            <a:solidFill>
              <a:srgbClr val="FFFF00"/>
            </a:solidFill>
            <a:prstDash val="solid"/>
            <a:round/>
            <a:headEnd type="none" w="sm" len="sm"/>
            <a:tailEnd type="none" w="sm" len="sm"/>
          </a:ln>
        </p:spPr>
      </p:cxnSp>
      <p:cxnSp>
        <p:nvCxnSpPr>
          <p:cNvPr id="1336" name="Google Shape;1336;p61"/>
          <p:cNvCxnSpPr>
            <a:stCxn id="1300" idx="0"/>
            <a:endCxn id="1291" idx="4"/>
          </p:cNvCxnSpPr>
          <p:nvPr/>
        </p:nvCxnSpPr>
        <p:spPr>
          <a:xfrm rot="10800000">
            <a:off x="6487792" y="2146088"/>
            <a:ext cx="84600" cy="720000"/>
          </a:xfrm>
          <a:prstGeom prst="straightConnector1">
            <a:avLst/>
          </a:prstGeom>
          <a:noFill/>
          <a:ln w="19050" cap="flat" cmpd="sng">
            <a:solidFill>
              <a:srgbClr val="FFFF00"/>
            </a:solidFill>
            <a:prstDash val="solid"/>
            <a:round/>
            <a:headEnd type="none" w="sm" len="sm"/>
            <a:tailEnd type="none" w="sm" len="sm"/>
          </a:ln>
        </p:spPr>
      </p:cxnSp>
      <p:sp>
        <p:nvSpPr>
          <p:cNvPr id="1301" name="Google Shape;1301;p61"/>
          <p:cNvSpPr/>
          <p:nvPr/>
        </p:nvSpPr>
        <p:spPr>
          <a:xfrm>
            <a:off x="5584836" y="2953136"/>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p61"/>
          <p:cNvSpPr/>
          <p:nvPr/>
        </p:nvSpPr>
        <p:spPr>
          <a:xfrm>
            <a:off x="6211418" y="3637051"/>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p61"/>
          <p:cNvSpPr/>
          <p:nvPr/>
        </p:nvSpPr>
        <p:spPr>
          <a:xfrm>
            <a:off x="7157460" y="3851341"/>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61"/>
          <p:cNvSpPr/>
          <p:nvPr/>
        </p:nvSpPr>
        <p:spPr>
          <a:xfrm>
            <a:off x="7812438" y="3701647"/>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61"/>
          <p:cNvSpPr/>
          <p:nvPr/>
        </p:nvSpPr>
        <p:spPr>
          <a:xfrm>
            <a:off x="7757935" y="1048572"/>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p61"/>
          <p:cNvSpPr/>
          <p:nvPr/>
        </p:nvSpPr>
        <p:spPr>
          <a:xfrm>
            <a:off x="7063841" y="870124"/>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p61"/>
          <p:cNvSpPr/>
          <p:nvPr/>
        </p:nvSpPr>
        <p:spPr>
          <a:xfrm>
            <a:off x="6314952" y="910250"/>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2" name="Google Shape;1292;p61"/>
          <p:cNvSpPr/>
          <p:nvPr/>
        </p:nvSpPr>
        <p:spPr>
          <a:xfrm>
            <a:off x="5747066" y="1256110"/>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p61"/>
          <p:cNvSpPr/>
          <p:nvPr/>
        </p:nvSpPr>
        <p:spPr>
          <a:xfrm>
            <a:off x="5493325" y="1840036"/>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p61"/>
          <p:cNvSpPr/>
          <p:nvPr/>
        </p:nvSpPr>
        <p:spPr>
          <a:xfrm>
            <a:off x="5793338" y="2423961"/>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37" name="Google Shape;1337;p61"/>
          <p:cNvCxnSpPr>
            <a:stCxn id="1338" idx="1"/>
            <a:endCxn id="1291" idx="5"/>
          </p:cNvCxnSpPr>
          <p:nvPr/>
        </p:nvCxnSpPr>
        <p:spPr>
          <a:xfrm rot="10800000">
            <a:off x="6610136" y="2095299"/>
            <a:ext cx="388200" cy="283500"/>
          </a:xfrm>
          <a:prstGeom prst="straightConnector1">
            <a:avLst/>
          </a:prstGeom>
          <a:noFill/>
          <a:ln w="19050" cap="flat" cmpd="sng">
            <a:solidFill>
              <a:srgbClr val="6AA84F"/>
            </a:solidFill>
            <a:prstDash val="solid"/>
            <a:round/>
            <a:headEnd type="none" w="sm" len="sm"/>
            <a:tailEnd type="none" w="sm" len="sm"/>
          </a:ln>
        </p:spPr>
      </p:cxnSp>
      <p:cxnSp>
        <p:nvCxnSpPr>
          <p:cNvPr id="1339" name="Google Shape;1339;p61"/>
          <p:cNvCxnSpPr>
            <a:stCxn id="1338" idx="7"/>
            <a:endCxn id="1317" idx="3"/>
          </p:cNvCxnSpPr>
          <p:nvPr/>
        </p:nvCxnSpPr>
        <p:spPr>
          <a:xfrm rot="10800000" flipH="1">
            <a:off x="7242924" y="2066199"/>
            <a:ext cx="369300" cy="312600"/>
          </a:xfrm>
          <a:prstGeom prst="straightConnector1">
            <a:avLst/>
          </a:prstGeom>
          <a:noFill/>
          <a:ln w="19050" cap="flat" cmpd="sng">
            <a:solidFill>
              <a:srgbClr val="6AA84F"/>
            </a:solidFill>
            <a:prstDash val="solid"/>
            <a:round/>
            <a:headEnd type="none" w="sm" len="sm"/>
            <a:tailEnd type="none" w="sm" len="sm"/>
          </a:ln>
        </p:spPr>
      </p:cxnSp>
      <p:cxnSp>
        <p:nvCxnSpPr>
          <p:cNvPr id="1340" name="Google Shape;1340;p61"/>
          <p:cNvCxnSpPr>
            <a:stCxn id="1338" idx="6"/>
            <a:endCxn id="1310" idx="1"/>
          </p:cNvCxnSpPr>
          <p:nvPr/>
        </p:nvCxnSpPr>
        <p:spPr>
          <a:xfrm>
            <a:off x="7293580" y="2501093"/>
            <a:ext cx="468300" cy="114600"/>
          </a:xfrm>
          <a:prstGeom prst="straightConnector1">
            <a:avLst/>
          </a:prstGeom>
          <a:noFill/>
          <a:ln w="19050" cap="flat" cmpd="sng">
            <a:solidFill>
              <a:srgbClr val="6AA84F"/>
            </a:solidFill>
            <a:prstDash val="solid"/>
            <a:round/>
            <a:headEnd type="none" w="sm" len="sm"/>
            <a:tailEnd type="none" w="sm" len="sm"/>
          </a:ln>
        </p:spPr>
      </p:cxnSp>
      <p:cxnSp>
        <p:nvCxnSpPr>
          <p:cNvPr id="1341" name="Google Shape;1341;p61"/>
          <p:cNvCxnSpPr>
            <a:stCxn id="1338" idx="5"/>
            <a:endCxn id="1305" idx="0"/>
          </p:cNvCxnSpPr>
          <p:nvPr/>
        </p:nvCxnSpPr>
        <p:spPr>
          <a:xfrm>
            <a:off x="7242924" y="2623387"/>
            <a:ext cx="172800" cy="468000"/>
          </a:xfrm>
          <a:prstGeom prst="straightConnector1">
            <a:avLst/>
          </a:prstGeom>
          <a:noFill/>
          <a:ln w="19050" cap="flat" cmpd="sng">
            <a:solidFill>
              <a:srgbClr val="6AA84F"/>
            </a:solidFill>
            <a:prstDash val="solid"/>
            <a:round/>
            <a:headEnd type="none" w="sm" len="sm"/>
            <a:tailEnd type="none" w="sm" len="sm"/>
          </a:ln>
        </p:spPr>
      </p:cxnSp>
      <p:cxnSp>
        <p:nvCxnSpPr>
          <p:cNvPr id="1342" name="Google Shape;1342;p61"/>
          <p:cNvCxnSpPr>
            <a:stCxn id="1338" idx="3"/>
            <a:endCxn id="1300" idx="7"/>
          </p:cNvCxnSpPr>
          <p:nvPr/>
        </p:nvCxnSpPr>
        <p:spPr>
          <a:xfrm flipH="1">
            <a:off x="6694736" y="2623387"/>
            <a:ext cx="303600" cy="293400"/>
          </a:xfrm>
          <a:prstGeom prst="straightConnector1">
            <a:avLst/>
          </a:prstGeom>
          <a:noFill/>
          <a:ln w="19050" cap="flat" cmpd="sng">
            <a:solidFill>
              <a:srgbClr val="6AA84F"/>
            </a:solidFill>
            <a:prstDash val="solid"/>
            <a:round/>
            <a:headEnd type="none" w="sm" len="sm"/>
            <a:tailEnd type="none" w="sm" len="sm"/>
          </a:ln>
        </p:spPr>
      </p:cxnSp>
      <p:sp>
        <p:nvSpPr>
          <p:cNvPr id="1338" name="Google Shape;1338;p61"/>
          <p:cNvSpPr/>
          <p:nvPr/>
        </p:nvSpPr>
        <p:spPr>
          <a:xfrm>
            <a:off x="6947680" y="2328143"/>
            <a:ext cx="345900" cy="345900"/>
          </a:xfrm>
          <a:prstGeom prst="smileyFace">
            <a:avLst>
              <a:gd name="adj" fmla="val 4653"/>
            </a:avLst>
          </a:prstGeom>
          <a:solidFill>
            <a:srgbClr val="FFFF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0" name="Google Shape;1310;p61"/>
          <p:cNvSpPr/>
          <p:nvPr/>
        </p:nvSpPr>
        <p:spPr>
          <a:xfrm>
            <a:off x="7711125" y="2565108"/>
            <a:ext cx="345900" cy="3459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5" name="Google Shape;1305;p61"/>
          <p:cNvSpPr/>
          <p:nvPr/>
        </p:nvSpPr>
        <p:spPr>
          <a:xfrm>
            <a:off x="7242893" y="3091457"/>
            <a:ext cx="345900" cy="3459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61"/>
          <p:cNvSpPr/>
          <p:nvPr/>
        </p:nvSpPr>
        <p:spPr>
          <a:xfrm>
            <a:off x="6399442" y="2866088"/>
            <a:ext cx="345900" cy="3459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61"/>
          <p:cNvSpPr/>
          <p:nvPr/>
        </p:nvSpPr>
        <p:spPr>
          <a:xfrm>
            <a:off x="7561567" y="1770976"/>
            <a:ext cx="345900" cy="3459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61"/>
          <p:cNvSpPr/>
          <p:nvPr/>
        </p:nvSpPr>
        <p:spPr>
          <a:xfrm>
            <a:off x="6314952" y="1800100"/>
            <a:ext cx="345900" cy="345900"/>
          </a:xfrm>
          <a:prstGeom prst="smileyFace">
            <a:avLst>
              <a:gd name="adj" fmla="val 4653"/>
            </a:avLst>
          </a:prstGeom>
          <a:solidFill>
            <a:srgbClr val="00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61"/>
          <p:cNvSpPr/>
          <p:nvPr/>
        </p:nvSpPr>
        <p:spPr>
          <a:xfrm>
            <a:off x="8282823" y="3355787"/>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5" name="Google Shape;1315;p61"/>
          <p:cNvSpPr/>
          <p:nvPr/>
        </p:nvSpPr>
        <p:spPr>
          <a:xfrm>
            <a:off x="8103793" y="1697946"/>
            <a:ext cx="345900" cy="345900"/>
          </a:xfrm>
          <a:prstGeom prst="smileyFace">
            <a:avLst>
              <a:gd name="adj" fmla="val 4653"/>
            </a:avLst>
          </a:prstGeom>
          <a:solidFill>
            <a:srgbClr val="D9D2E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43" name="Google Shape;1343;p61"/>
          <p:cNvCxnSpPr/>
          <p:nvPr/>
        </p:nvCxnSpPr>
        <p:spPr>
          <a:xfrm>
            <a:off x="7242924" y="2623387"/>
            <a:ext cx="172800" cy="468000"/>
          </a:xfrm>
          <a:prstGeom prst="straightConnector1">
            <a:avLst/>
          </a:prstGeom>
          <a:noFill/>
          <a:ln w="38100" cap="flat" cmpd="sng">
            <a:solidFill>
              <a:srgbClr val="FF0000"/>
            </a:solidFill>
            <a:prstDash val="solid"/>
            <a:round/>
            <a:headEnd type="none" w="sm" len="sm"/>
            <a:tailEnd type="none" w="sm" len="sm"/>
          </a:ln>
        </p:spPr>
      </p:cxnSp>
      <p:cxnSp>
        <p:nvCxnSpPr>
          <p:cNvPr id="1344" name="Google Shape;1344;p61"/>
          <p:cNvCxnSpPr/>
          <p:nvPr/>
        </p:nvCxnSpPr>
        <p:spPr>
          <a:xfrm>
            <a:off x="7588793" y="3264407"/>
            <a:ext cx="694200" cy="264300"/>
          </a:xfrm>
          <a:prstGeom prst="straightConnector1">
            <a:avLst/>
          </a:prstGeom>
          <a:noFill/>
          <a:ln w="38100" cap="flat" cmpd="sng">
            <a:solidFill>
              <a:srgbClr val="FF0000"/>
            </a:solidFill>
            <a:prstDash val="solid"/>
            <a:round/>
            <a:headEnd type="none" w="sm" len="sm"/>
            <a:tailEnd type="none" w="sm" len="sm"/>
          </a:ln>
        </p:spPr>
      </p:cxnSp>
      <p:cxnSp>
        <p:nvCxnSpPr>
          <p:cNvPr id="1345" name="Google Shape;1345;p61"/>
          <p:cNvCxnSpPr/>
          <p:nvPr/>
        </p:nvCxnSpPr>
        <p:spPr>
          <a:xfrm>
            <a:off x="8276743" y="2043846"/>
            <a:ext cx="179100" cy="1311900"/>
          </a:xfrm>
          <a:prstGeom prst="straightConnector1">
            <a:avLst/>
          </a:prstGeom>
          <a:noFill/>
          <a:ln w="38100" cap="flat" cmpd="sng">
            <a:solidFill>
              <a:srgbClr val="FF0000"/>
            </a:solidFill>
            <a:prstDash val="solid"/>
            <a:round/>
            <a:headEnd type="none" w="sm" len="sm"/>
            <a:tailEnd type="none" w="sm" len="sm"/>
          </a:ln>
        </p:spPr>
      </p:cxnSp>
      <p:cxnSp>
        <p:nvCxnSpPr>
          <p:cNvPr id="1346" name="Google Shape;1346;p61"/>
          <p:cNvCxnSpPr/>
          <p:nvPr/>
        </p:nvCxnSpPr>
        <p:spPr>
          <a:xfrm>
            <a:off x="8053179" y="1343816"/>
            <a:ext cx="223800" cy="354300"/>
          </a:xfrm>
          <a:prstGeom prst="straightConnector1">
            <a:avLst/>
          </a:prstGeom>
          <a:noFill/>
          <a:ln w="38100" cap="flat" cmpd="sng">
            <a:solidFill>
              <a:srgbClr val="FF0000"/>
            </a:solidFill>
            <a:prstDash val="solid"/>
            <a:round/>
            <a:headEnd type="none" w="sm" len="sm"/>
            <a:tailEnd type="none" w="sm" len="sm"/>
          </a:ln>
        </p:spPr>
      </p:cxnSp>
      <p:cxnSp>
        <p:nvCxnSpPr>
          <p:cNvPr id="1347" name="Google Shape;1347;p61"/>
          <p:cNvCxnSpPr/>
          <p:nvPr/>
        </p:nvCxnSpPr>
        <p:spPr>
          <a:xfrm flipH="1">
            <a:off x="6139135" y="1221522"/>
            <a:ext cx="1618800" cy="1375500"/>
          </a:xfrm>
          <a:prstGeom prst="straightConnector1">
            <a:avLst/>
          </a:prstGeom>
          <a:noFill/>
          <a:ln w="38100" cap="flat" cmpd="sng">
            <a:solidFill>
              <a:srgbClr val="FF0000"/>
            </a:solidFill>
            <a:prstDash val="solid"/>
            <a:round/>
            <a:headEnd type="none" w="sm" len="sm"/>
            <a:tailEnd type="none" w="sm" len="sm"/>
          </a:ln>
        </p:spPr>
      </p:cxnSp>
      <p:cxnSp>
        <p:nvCxnSpPr>
          <p:cNvPr id="1348" name="Google Shape;1348;p61"/>
          <p:cNvCxnSpPr/>
          <p:nvPr/>
        </p:nvCxnSpPr>
        <p:spPr>
          <a:xfrm flipH="1">
            <a:off x="6088708" y="2095344"/>
            <a:ext cx="276900" cy="379200"/>
          </a:xfrm>
          <a:prstGeom prst="straightConnector1">
            <a:avLst/>
          </a:prstGeom>
          <a:noFill/>
          <a:ln w="38100" cap="flat" cmpd="sng">
            <a:solidFill>
              <a:srgbClr val="FF0000"/>
            </a:solidFill>
            <a:prstDash val="solid"/>
            <a:round/>
            <a:headEnd type="none" w="sm" len="sm"/>
            <a:tailEnd type="none" w="sm" len="sm"/>
          </a:ln>
        </p:spPr>
      </p:cxnSp>
      <p:cxnSp>
        <p:nvCxnSpPr>
          <p:cNvPr id="1349" name="Google Shape;1349;p61"/>
          <p:cNvCxnSpPr/>
          <p:nvPr/>
        </p:nvCxnSpPr>
        <p:spPr>
          <a:xfrm flipH="1">
            <a:off x="5839152" y="1973050"/>
            <a:ext cx="475800" cy="39900"/>
          </a:xfrm>
          <a:prstGeom prst="straightConnector1">
            <a:avLst/>
          </a:prstGeom>
          <a:noFill/>
          <a:ln w="38100" cap="flat" cmpd="sng">
            <a:solidFill>
              <a:srgbClr val="FF0000"/>
            </a:solidFill>
            <a:prstDash val="solid"/>
            <a:round/>
            <a:headEnd type="none" w="sm" len="sm"/>
            <a:tailEnd type="none" w="sm" len="sm"/>
          </a:ln>
        </p:spPr>
      </p:cxnSp>
      <p:cxnSp>
        <p:nvCxnSpPr>
          <p:cNvPr id="1350" name="Google Shape;1350;p61"/>
          <p:cNvCxnSpPr/>
          <p:nvPr/>
        </p:nvCxnSpPr>
        <p:spPr>
          <a:xfrm rot="10800000">
            <a:off x="5666286" y="2186036"/>
            <a:ext cx="91500" cy="767100"/>
          </a:xfrm>
          <a:prstGeom prst="straightConnector1">
            <a:avLst/>
          </a:prstGeom>
          <a:noFill/>
          <a:ln w="38100" cap="flat" cmpd="sng">
            <a:solidFill>
              <a:srgbClr val="FF0000"/>
            </a:solidFill>
            <a:prstDash val="solid"/>
            <a:round/>
            <a:headEnd type="none" w="sm" len="sm"/>
            <a:tailEnd type="none" w="sm" len="sm"/>
          </a:ln>
        </p:spPr>
      </p:cxnSp>
      <p:cxnSp>
        <p:nvCxnSpPr>
          <p:cNvPr id="1351" name="Google Shape;1351;p61"/>
          <p:cNvCxnSpPr/>
          <p:nvPr/>
        </p:nvCxnSpPr>
        <p:spPr>
          <a:xfrm flipH="1">
            <a:off x="5930842" y="3039038"/>
            <a:ext cx="468600" cy="87000"/>
          </a:xfrm>
          <a:prstGeom prst="straightConnector1">
            <a:avLst/>
          </a:prstGeom>
          <a:noFill/>
          <a:ln w="38100" cap="flat" cmpd="sng">
            <a:solidFill>
              <a:srgbClr val="FF0000"/>
            </a:solidFill>
            <a:prstDash val="solid"/>
            <a:round/>
            <a:headEnd type="none" w="sm" len="sm"/>
            <a:tailEnd type="none" w="sm" len="sm"/>
          </a:ln>
        </p:spPr>
      </p:cxnSp>
      <p:cxnSp>
        <p:nvCxnSpPr>
          <p:cNvPr id="1352" name="Google Shape;1352;p61"/>
          <p:cNvCxnSpPr/>
          <p:nvPr/>
        </p:nvCxnSpPr>
        <p:spPr>
          <a:xfrm flipH="1">
            <a:off x="6694736" y="2623387"/>
            <a:ext cx="303600" cy="293400"/>
          </a:xfrm>
          <a:prstGeom prst="straightConnector1">
            <a:avLst/>
          </a:prstGeom>
          <a:noFill/>
          <a:ln w="38100" cap="flat" cmpd="sng">
            <a:solidFill>
              <a:srgbClr val="FF0000"/>
            </a:solidFill>
            <a:prstDash val="solid"/>
            <a:round/>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8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8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8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8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43"/>
                                        </p:tgtEl>
                                        <p:attrNameLst>
                                          <p:attrName>style.visibility</p:attrName>
                                        </p:attrNameLst>
                                      </p:cBhvr>
                                      <p:to>
                                        <p:strVal val="visible"/>
                                      </p:to>
                                    </p:set>
                                    <p:animEffect transition="in" filter="fade">
                                      <p:cBhvr>
                                        <p:cTn id="39" dur="1000"/>
                                        <p:tgtEl>
                                          <p:spTgt spid="1343"/>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1344"/>
                                        </p:tgtEl>
                                        <p:attrNameLst>
                                          <p:attrName>style.visibility</p:attrName>
                                        </p:attrNameLst>
                                      </p:cBhvr>
                                      <p:to>
                                        <p:strVal val="visible"/>
                                      </p:to>
                                    </p:set>
                                    <p:animEffect transition="in" filter="fade">
                                      <p:cBhvr>
                                        <p:cTn id="43" dur="1000"/>
                                        <p:tgtEl>
                                          <p:spTgt spid="1344"/>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1345"/>
                                        </p:tgtEl>
                                        <p:attrNameLst>
                                          <p:attrName>style.visibility</p:attrName>
                                        </p:attrNameLst>
                                      </p:cBhvr>
                                      <p:to>
                                        <p:strVal val="visible"/>
                                      </p:to>
                                    </p:set>
                                    <p:animEffect transition="in" filter="fade">
                                      <p:cBhvr>
                                        <p:cTn id="47" dur="1000"/>
                                        <p:tgtEl>
                                          <p:spTgt spid="1345"/>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1346"/>
                                        </p:tgtEl>
                                        <p:attrNameLst>
                                          <p:attrName>style.visibility</p:attrName>
                                        </p:attrNameLst>
                                      </p:cBhvr>
                                      <p:to>
                                        <p:strVal val="visible"/>
                                      </p:to>
                                    </p:set>
                                    <p:animEffect transition="in" filter="fade">
                                      <p:cBhvr>
                                        <p:cTn id="51" dur="1000"/>
                                        <p:tgtEl>
                                          <p:spTgt spid="1346"/>
                                        </p:tgtEl>
                                      </p:cBhvr>
                                    </p:animEffect>
                                  </p:childTnLst>
                                </p:cTn>
                              </p:par>
                            </p:childTnLst>
                          </p:cTn>
                        </p:par>
                        <p:par>
                          <p:cTn id="52" fill="hold">
                            <p:stCondLst>
                              <p:cond delay="4000"/>
                            </p:stCondLst>
                            <p:childTnLst>
                              <p:par>
                                <p:cTn id="53" presetID="10" presetClass="entr" presetSubtype="0" fill="hold" nodeType="afterEffect">
                                  <p:stCondLst>
                                    <p:cond delay="0"/>
                                  </p:stCondLst>
                                  <p:childTnLst>
                                    <p:set>
                                      <p:cBhvr>
                                        <p:cTn id="54" dur="1" fill="hold">
                                          <p:stCondLst>
                                            <p:cond delay="0"/>
                                          </p:stCondLst>
                                        </p:cTn>
                                        <p:tgtEl>
                                          <p:spTgt spid="1347"/>
                                        </p:tgtEl>
                                        <p:attrNameLst>
                                          <p:attrName>style.visibility</p:attrName>
                                        </p:attrNameLst>
                                      </p:cBhvr>
                                      <p:to>
                                        <p:strVal val="visible"/>
                                      </p:to>
                                    </p:set>
                                    <p:animEffect transition="in" filter="fade">
                                      <p:cBhvr>
                                        <p:cTn id="55" dur="1000"/>
                                        <p:tgtEl>
                                          <p:spTgt spid="1347"/>
                                        </p:tgtEl>
                                      </p:cBhvr>
                                    </p:animEffect>
                                  </p:childTnLst>
                                </p:cTn>
                              </p:par>
                            </p:childTnLst>
                          </p:cTn>
                        </p:par>
                        <p:par>
                          <p:cTn id="56" fill="hold">
                            <p:stCondLst>
                              <p:cond delay="5000"/>
                            </p:stCondLst>
                            <p:childTnLst>
                              <p:par>
                                <p:cTn id="57" presetID="10" presetClass="entr" presetSubtype="0" fill="hold" nodeType="afterEffect">
                                  <p:stCondLst>
                                    <p:cond delay="0"/>
                                  </p:stCondLst>
                                  <p:childTnLst>
                                    <p:set>
                                      <p:cBhvr>
                                        <p:cTn id="58" dur="1" fill="hold">
                                          <p:stCondLst>
                                            <p:cond delay="0"/>
                                          </p:stCondLst>
                                        </p:cTn>
                                        <p:tgtEl>
                                          <p:spTgt spid="1348"/>
                                        </p:tgtEl>
                                        <p:attrNameLst>
                                          <p:attrName>style.visibility</p:attrName>
                                        </p:attrNameLst>
                                      </p:cBhvr>
                                      <p:to>
                                        <p:strVal val="visible"/>
                                      </p:to>
                                    </p:set>
                                    <p:animEffect transition="in" filter="fade">
                                      <p:cBhvr>
                                        <p:cTn id="59" dur="1000"/>
                                        <p:tgtEl>
                                          <p:spTgt spid="1348"/>
                                        </p:tgtEl>
                                      </p:cBhvr>
                                    </p:animEffect>
                                  </p:childTnLst>
                                </p:cTn>
                              </p:par>
                            </p:childTnLst>
                          </p:cTn>
                        </p:par>
                        <p:par>
                          <p:cTn id="60" fill="hold">
                            <p:stCondLst>
                              <p:cond delay="6000"/>
                            </p:stCondLst>
                            <p:childTnLst>
                              <p:par>
                                <p:cTn id="61" presetID="10" presetClass="entr" presetSubtype="0" fill="hold" nodeType="afterEffect">
                                  <p:stCondLst>
                                    <p:cond delay="0"/>
                                  </p:stCondLst>
                                  <p:childTnLst>
                                    <p:set>
                                      <p:cBhvr>
                                        <p:cTn id="62" dur="1" fill="hold">
                                          <p:stCondLst>
                                            <p:cond delay="0"/>
                                          </p:stCondLst>
                                        </p:cTn>
                                        <p:tgtEl>
                                          <p:spTgt spid="1349"/>
                                        </p:tgtEl>
                                        <p:attrNameLst>
                                          <p:attrName>style.visibility</p:attrName>
                                        </p:attrNameLst>
                                      </p:cBhvr>
                                      <p:to>
                                        <p:strVal val="visible"/>
                                      </p:to>
                                    </p:set>
                                    <p:animEffect transition="in" filter="fade">
                                      <p:cBhvr>
                                        <p:cTn id="63" dur="1000"/>
                                        <p:tgtEl>
                                          <p:spTgt spid="1349"/>
                                        </p:tgtEl>
                                      </p:cBhvr>
                                    </p:animEffect>
                                  </p:childTnLst>
                                </p:cTn>
                              </p:par>
                            </p:childTnLst>
                          </p:cTn>
                        </p:par>
                        <p:par>
                          <p:cTn id="64" fill="hold">
                            <p:stCondLst>
                              <p:cond delay="7000"/>
                            </p:stCondLst>
                            <p:childTnLst>
                              <p:par>
                                <p:cTn id="65" presetID="10" presetClass="entr" presetSubtype="0" fill="hold" nodeType="afterEffect">
                                  <p:stCondLst>
                                    <p:cond delay="0"/>
                                  </p:stCondLst>
                                  <p:childTnLst>
                                    <p:set>
                                      <p:cBhvr>
                                        <p:cTn id="66" dur="1" fill="hold">
                                          <p:stCondLst>
                                            <p:cond delay="0"/>
                                          </p:stCondLst>
                                        </p:cTn>
                                        <p:tgtEl>
                                          <p:spTgt spid="1350"/>
                                        </p:tgtEl>
                                        <p:attrNameLst>
                                          <p:attrName>style.visibility</p:attrName>
                                        </p:attrNameLst>
                                      </p:cBhvr>
                                      <p:to>
                                        <p:strVal val="visible"/>
                                      </p:to>
                                    </p:set>
                                    <p:animEffect transition="in" filter="fade">
                                      <p:cBhvr>
                                        <p:cTn id="67" dur="1000"/>
                                        <p:tgtEl>
                                          <p:spTgt spid="1350"/>
                                        </p:tgtEl>
                                      </p:cBhvr>
                                    </p:animEffect>
                                  </p:childTnLst>
                                </p:cTn>
                              </p:par>
                            </p:childTnLst>
                          </p:cTn>
                        </p:par>
                        <p:par>
                          <p:cTn id="68" fill="hold">
                            <p:stCondLst>
                              <p:cond delay="8000"/>
                            </p:stCondLst>
                            <p:childTnLst>
                              <p:par>
                                <p:cTn id="69" presetID="10" presetClass="entr" presetSubtype="0" fill="hold" nodeType="afterEffect">
                                  <p:stCondLst>
                                    <p:cond delay="0"/>
                                  </p:stCondLst>
                                  <p:childTnLst>
                                    <p:set>
                                      <p:cBhvr>
                                        <p:cTn id="70" dur="1" fill="hold">
                                          <p:stCondLst>
                                            <p:cond delay="0"/>
                                          </p:stCondLst>
                                        </p:cTn>
                                        <p:tgtEl>
                                          <p:spTgt spid="1351"/>
                                        </p:tgtEl>
                                        <p:attrNameLst>
                                          <p:attrName>style.visibility</p:attrName>
                                        </p:attrNameLst>
                                      </p:cBhvr>
                                      <p:to>
                                        <p:strVal val="visible"/>
                                      </p:to>
                                    </p:set>
                                    <p:animEffect transition="in" filter="fade">
                                      <p:cBhvr>
                                        <p:cTn id="71" dur="1000"/>
                                        <p:tgtEl>
                                          <p:spTgt spid="1351"/>
                                        </p:tgtEl>
                                      </p:cBhvr>
                                    </p:animEffect>
                                  </p:childTnLst>
                                </p:cTn>
                              </p:par>
                            </p:childTnLst>
                          </p:cTn>
                        </p:par>
                        <p:par>
                          <p:cTn id="72" fill="hold">
                            <p:stCondLst>
                              <p:cond delay="9000"/>
                            </p:stCondLst>
                            <p:childTnLst>
                              <p:par>
                                <p:cTn id="73" presetID="10" presetClass="entr" presetSubtype="0" fill="hold" nodeType="afterEffect">
                                  <p:stCondLst>
                                    <p:cond delay="0"/>
                                  </p:stCondLst>
                                  <p:childTnLst>
                                    <p:set>
                                      <p:cBhvr>
                                        <p:cTn id="74" dur="1" fill="hold">
                                          <p:stCondLst>
                                            <p:cond delay="0"/>
                                          </p:stCondLst>
                                        </p:cTn>
                                        <p:tgtEl>
                                          <p:spTgt spid="1352"/>
                                        </p:tgtEl>
                                        <p:attrNameLst>
                                          <p:attrName>style.visibility</p:attrName>
                                        </p:attrNameLst>
                                      </p:cBhvr>
                                      <p:to>
                                        <p:strVal val="visible"/>
                                      </p:to>
                                    </p:set>
                                    <p:animEffect transition="in" filter="fade">
                                      <p:cBhvr>
                                        <p:cTn id="75" dur="1000"/>
                                        <p:tgtEl>
                                          <p:spTgt spid="1352"/>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287"/>
                                        </p:tgtEl>
                                        <p:attrNameLst>
                                          <p:attrName>style.visibility</p:attrName>
                                        </p:attrNameLst>
                                      </p:cBhvr>
                                      <p:to>
                                        <p:strVal val="visible"/>
                                      </p:to>
                                    </p:set>
                                    <p:animEffect transition="in" filter="fade">
                                      <p:cBhvr>
                                        <p:cTn id="80" dur="1000"/>
                                        <p:tgtEl>
                                          <p:spTgt spid="1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62"/>
          <p:cNvSpPr txBox="1">
            <a:spLocks noGrp="1"/>
          </p:cNvSpPr>
          <p:nvPr>
            <p:ph type="body" idx="1"/>
          </p:nvPr>
        </p:nvSpPr>
        <p:spPr>
          <a:xfrm>
            <a:off x="4322550" y="43725"/>
            <a:ext cx="4622400" cy="5089800"/>
          </a:xfrm>
          <a:prstGeom prst="rect">
            <a:avLst/>
          </a:prstGeom>
          <a:noFill/>
          <a:ln>
            <a:noFill/>
          </a:ln>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Given some starting vertex </a:t>
            </a:r>
            <a:r>
              <a:rPr lang="en" b="1" i="1" dirty="0">
                <a:solidFill>
                  <a:srgbClr val="FF0000"/>
                </a:solidFill>
              </a:rPr>
              <a:t>S</a:t>
            </a:r>
            <a:r>
              <a:rPr lang="en" dirty="0"/>
              <a:t> and ending vertex </a:t>
            </a:r>
            <a:r>
              <a:rPr lang="en" b="1" i="1" dirty="0">
                <a:solidFill>
                  <a:srgbClr val="FF0000"/>
                </a:solidFill>
              </a:rPr>
              <a:t>E</a:t>
            </a:r>
            <a:r>
              <a:rPr lang="en" dirty="0"/>
              <a:t>, we'd like to determine if a path </a:t>
            </a:r>
            <a:r>
              <a:rPr lang="en" b="1" i="1" dirty="0">
                <a:solidFill>
                  <a:srgbClr val="FF0000"/>
                </a:solidFill>
              </a:rPr>
              <a:t>exists</a:t>
            </a:r>
            <a:r>
              <a:rPr lang="en" dirty="0">
                <a:solidFill>
                  <a:srgbClr val="FF0000"/>
                </a:solidFill>
              </a:rPr>
              <a:t> </a:t>
            </a:r>
            <a:r>
              <a:rPr lang="en" dirty="0"/>
              <a:t>between the two.</a:t>
            </a:r>
            <a:endParaRPr dirty="0"/>
          </a:p>
          <a:p>
            <a:pPr marL="457200" lvl="0" indent="-311150" algn="l" rtl="0">
              <a:lnSpc>
                <a:spcPct val="100000"/>
              </a:lnSpc>
              <a:spcBef>
                <a:spcPts val="1000"/>
              </a:spcBef>
              <a:spcAft>
                <a:spcPts val="0"/>
              </a:spcAft>
              <a:buSzPts val="1300"/>
              <a:buChar char="●"/>
            </a:pPr>
            <a:r>
              <a:rPr lang="en" dirty="0"/>
              <a:t>But we </a:t>
            </a:r>
            <a:r>
              <a:rPr lang="en" b="1" i="1" dirty="0">
                <a:solidFill>
                  <a:srgbClr val="FF0000"/>
                </a:solidFill>
              </a:rPr>
              <a:t>don't</a:t>
            </a:r>
            <a:r>
              <a:rPr lang="en" dirty="0"/>
              <a:t> want to get </a:t>
            </a:r>
            <a:r>
              <a:rPr lang="en" b="1" i="1" dirty="0">
                <a:solidFill>
                  <a:srgbClr val="FF0000"/>
                </a:solidFill>
              </a:rPr>
              <a:t>stuck in a cycle</a:t>
            </a:r>
            <a:r>
              <a:rPr lang="en" dirty="0"/>
              <a:t> and waste a lot of time visiting the same vertices over and over again.</a:t>
            </a:r>
            <a:endParaRPr dirty="0"/>
          </a:p>
          <a:p>
            <a:pPr marL="457200" lvl="0" indent="-311150" algn="l" rtl="0">
              <a:lnSpc>
                <a:spcPct val="100000"/>
              </a:lnSpc>
              <a:spcBef>
                <a:spcPts val="1000"/>
              </a:spcBef>
              <a:spcAft>
                <a:spcPts val="0"/>
              </a:spcAft>
              <a:buSzPts val="1300"/>
              <a:buChar char="●"/>
            </a:pPr>
            <a:r>
              <a:rPr lang="en" dirty="0"/>
              <a:t>We need a data structure to keep track of </a:t>
            </a:r>
            <a:r>
              <a:rPr lang="en" b="1" i="1" dirty="0">
                <a:solidFill>
                  <a:srgbClr val="FF0000"/>
                </a:solidFill>
              </a:rPr>
              <a:t>previously visited</a:t>
            </a:r>
            <a:r>
              <a:rPr lang="en" dirty="0"/>
              <a:t> vertices.</a:t>
            </a:r>
            <a:endParaRPr dirty="0"/>
          </a:p>
          <a:p>
            <a:pPr marL="914400" lvl="1" indent="-298450" algn="l" rtl="0">
              <a:lnSpc>
                <a:spcPct val="100000"/>
              </a:lnSpc>
              <a:spcBef>
                <a:spcPts val="0"/>
              </a:spcBef>
              <a:spcAft>
                <a:spcPts val="0"/>
              </a:spcAft>
              <a:buSzPts val="1100"/>
              <a:buChar char="○"/>
            </a:pPr>
            <a:r>
              <a:rPr lang="en" dirty="0"/>
              <a:t>We need to </a:t>
            </a:r>
            <a:r>
              <a:rPr lang="en" b="1" i="1" dirty="0">
                <a:solidFill>
                  <a:srgbClr val="FF0000"/>
                </a:solidFill>
              </a:rPr>
              <a:t>efficiently</a:t>
            </a:r>
            <a:r>
              <a:rPr lang="en" dirty="0">
                <a:solidFill>
                  <a:srgbClr val="FF0000"/>
                </a:solidFill>
              </a:rPr>
              <a:t> </a:t>
            </a:r>
            <a:r>
              <a:rPr lang="en" dirty="0"/>
              <a:t>determine if the data structure already </a:t>
            </a:r>
            <a:r>
              <a:rPr lang="en" b="1" i="1" dirty="0">
                <a:solidFill>
                  <a:srgbClr val="FF0000"/>
                </a:solidFill>
              </a:rPr>
              <a:t>contains</a:t>
            </a:r>
            <a:r>
              <a:rPr lang="en" dirty="0">
                <a:solidFill>
                  <a:srgbClr val="FF0000"/>
                </a:solidFill>
              </a:rPr>
              <a:t> </a:t>
            </a:r>
            <a:r>
              <a:rPr lang="en" dirty="0"/>
              <a:t>a vertex.</a:t>
            </a:r>
            <a:endParaRPr dirty="0"/>
          </a:p>
          <a:p>
            <a:pPr marL="914400" lvl="1" indent="-298450" algn="l" rtl="0">
              <a:lnSpc>
                <a:spcPct val="100000"/>
              </a:lnSpc>
              <a:spcBef>
                <a:spcPts val="0"/>
              </a:spcBef>
              <a:spcAft>
                <a:spcPts val="0"/>
              </a:spcAft>
              <a:buSzPts val="1100"/>
              <a:buChar char="○"/>
            </a:pPr>
            <a:r>
              <a:rPr lang="en" dirty="0"/>
              <a:t>If so, we can skip it.</a:t>
            </a:r>
            <a:endParaRPr dirty="0"/>
          </a:p>
          <a:p>
            <a:pPr marL="914400" lvl="1" indent="-298450" algn="l" rtl="0">
              <a:lnSpc>
                <a:spcPct val="100000"/>
              </a:lnSpc>
              <a:spcBef>
                <a:spcPts val="0"/>
              </a:spcBef>
              <a:spcAft>
                <a:spcPts val="0"/>
              </a:spcAft>
              <a:buSzPts val="1100"/>
              <a:buChar char="○"/>
            </a:pPr>
            <a:r>
              <a:rPr lang="en" dirty="0"/>
              <a:t>If not, we need to </a:t>
            </a:r>
            <a:r>
              <a:rPr lang="en" b="1" i="1" dirty="0">
                <a:solidFill>
                  <a:srgbClr val="FF0000"/>
                </a:solidFill>
              </a:rPr>
              <a:t>efficiently</a:t>
            </a:r>
            <a:r>
              <a:rPr lang="en" dirty="0">
                <a:solidFill>
                  <a:srgbClr val="FF0000"/>
                </a:solidFill>
              </a:rPr>
              <a:t> </a:t>
            </a:r>
            <a:r>
              <a:rPr lang="en" dirty="0"/>
              <a:t>add the vertex to the data structure so that we don't visit it again.</a:t>
            </a:r>
            <a:endParaRPr dirty="0"/>
          </a:p>
          <a:p>
            <a:pPr marL="457200" lvl="0" indent="-311150" algn="l" rtl="0">
              <a:lnSpc>
                <a:spcPct val="100000"/>
              </a:lnSpc>
              <a:spcBef>
                <a:spcPts val="1000"/>
              </a:spcBef>
              <a:spcAft>
                <a:spcPts val="0"/>
              </a:spcAft>
              <a:buSzPts val="1300"/>
              <a:buChar char="●"/>
            </a:pPr>
            <a:r>
              <a:rPr lang="en" dirty="0"/>
              <a:t>What data structure provides efficient </a:t>
            </a:r>
            <a:r>
              <a:rPr lang="en" b="1" i="1" dirty="0">
                <a:solidFill>
                  <a:srgbClr val="FF0000"/>
                </a:solidFill>
              </a:rPr>
              <a:t>add</a:t>
            </a:r>
            <a:r>
              <a:rPr lang="en" dirty="0">
                <a:solidFill>
                  <a:srgbClr val="FF0000"/>
                </a:solidFill>
              </a:rPr>
              <a:t> </a:t>
            </a:r>
            <a:r>
              <a:rPr lang="en" dirty="0"/>
              <a:t>and </a:t>
            </a:r>
            <a:r>
              <a:rPr lang="en" b="1" i="1" dirty="0">
                <a:solidFill>
                  <a:srgbClr val="FF0000"/>
                </a:solidFill>
              </a:rPr>
              <a:t>get</a:t>
            </a:r>
            <a:r>
              <a:rPr lang="en" dirty="0">
                <a:solidFill>
                  <a:srgbClr val="FF0000"/>
                </a:solidFill>
              </a:rPr>
              <a:t> </a:t>
            </a:r>
            <a:r>
              <a:rPr lang="en" dirty="0"/>
              <a:t>functionality for </a:t>
            </a:r>
            <a:r>
              <a:rPr lang="en" b="1" i="1" dirty="0">
                <a:solidFill>
                  <a:srgbClr val="FF0000"/>
                </a:solidFill>
              </a:rPr>
              <a:t>unique</a:t>
            </a:r>
            <a:r>
              <a:rPr lang="en" dirty="0">
                <a:solidFill>
                  <a:srgbClr val="FF0000"/>
                </a:solidFill>
              </a:rPr>
              <a:t> </a:t>
            </a:r>
            <a:r>
              <a:rPr lang="en" dirty="0"/>
              <a:t>elements?</a:t>
            </a:r>
            <a:endParaRPr dirty="0"/>
          </a:p>
          <a:p>
            <a:pPr marL="914400" lvl="1" indent="-298450" algn="l" rtl="0">
              <a:lnSpc>
                <a:spcPct val="100000"/>
              </a:lnSpc>
              <a:spcBef>
                <a:spcPts val="0"/>
              </a:spcBef>
              <a:spcAft>
                <a:spcPts val="0"/>
              </a:spcAft>
              <a:buSzPts val="1100"/>
              <a:buChar char="○"/>
            </a:pPr>
            <a:r>
              <a:rPr lang="en" dirty="0">
                <a:highlight>
                  <a:srgbClr val="FFFF00"/>
                </a:highlight>
              </a:rPr>
              <a:t>How about a </a:t>
            </a:r>
            <a:r>
              <a:rPr lang="en" dirty="0">
                <a:solidFill>
                  <a:srgbClr val="FF0000"/>
                </a:solidFill>
                <a:highlight>
                  <a:srgbClr val="FFFF00"/>
                </a:highlight>
                <a:latin typeface="Courier New"/>
                <a:ea typeface="Courier New"/>
                <a:cs typeface="Courier New"/>
                <a:sym typeface="Courier New"/>
              </a:rPr>
              <a:t>HashSet</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We'll modify the BFS algorithm to:</a:t>
            </a:r>
            <a:endParaRPr dirty="0"/>
          </a:p>
          <a:p>
            <a:pPr marL="914400" lvl="1" indent="-298450" algn="l" rtl="0">
              <a:lnSpc>
                <a:spcPct val="100000"/>
              </a:lnSpc>
              <a:spcBef>
                <a:spcPts val="0"/>
              </a:spcBef>
              <a:spcAft>
                <a:spcPts val="0"/>
              </a:spcAft>
              <a:buSzPts val="1100"/>
              <a:buChar char="○"/>
            </a:pPr>
            <a:r>
              <a:rPr lang="en" dirty="0"/>
              <a:t>Create an empty </a:t>
            </a:r>
            <a:r>
              <a:rPr lang="en" b="1" i="1" dirty="0">
                <a:solidFill>
                  <a:srgbClr val="FF0000"/>
                </a:solidFill>
              </a:rPr>
              <a:t>set</a:t>
            </a:r>
            <a:r>
              <a:rPr lang="en" dirty="0">
                <a:solidFill>
                  <a:srgbClr val="FF0000"/>
                </a:solidFill>
              </a:rPr>
              <a:t> </a:t>
            </a:r>
            <a:r>
              <a:rPr lang="en" dirty="0"/>
              <a:t>as well as a queue.</a:t>
            </a:r>
            <a:endParaRPr dirty="0"/>
          </a:p>
          <a:p>
            <a:pPr marL="914400" lvl="1" indent="-298450" algn="l" rtl="0">
              <a:lnSpc>
                <a:spcPct val="100000"/>
              </a:lnSpc>
              <a:spcBef>
                <a:spcPts val="0"/>
              </a:spcBef>
              <a:spcAft>
                <a:spcPts val="0"/>
              </a:spcAft>
              <a:buSzPts val="1100"/>
              <a:buChar char="○"/>
            </a:pPr>
            <a:r>
              <a:rPr lang="en" dirty="0"/>
              <a:t>Add </a:t>
            </a:r>
            <a:r>
              <a:rPr lang="en" b="1" i="1" dirty="0">
                <a:solidFill>
                  <a:srgbClr val="FF0000"/>
                </a:solidFill>
              </a:rPr>
              <a:t>S</a:t>
            </a:r>
            <a:r>
              <a:rPr lang="en" dirty="0"/>
              <a:t> to </a:t>
            </a:r>
            <a:r>
              <a:rPr lang="en" b="1" i="1" dirty="0">
                <a:solidFill>
                  <a:srgbClr val="FF0000"/>
                </a:solidFill>
              </a:rPr>
              <a:t>both</a:t>
            </a:r>
            <a:r>
              <a:rPr lang="en" dirty="0">
                <a:solidFill>
                  <a:srgbClr val="FF0000"/>
                </a:solidFill>
              </a:rPr>
              <a:t> </a:t>
            </a:r>
            <a:r>
              <a:rPr lang="en" dirty="0"/>
              <a:t>the set and the queue.</a:t>
            </a:r>
            <a:endParaRPr dirty="0"/>
          </a:p>
          <a:p>
            <a:pPr marL="914400" lvl="1" indent="-298450" algn="l" rtl="0">
              <a:lnSpc>
                <a:spcPct val="100000"/>
              </a:lnSpc>
              <a:spcBef>
                <a:spcPts val="0"/>
              </a:spcBef>
              <a:spcAft>
                <a:spcPts val="0"/>
              </a:spcAft>
              <a:buSzPts val="1100"/>
              <a:buChar char="○"/>
            </a:pPr>
            <a:r>
              <a:rPr lang="en" dirty="0">
                <a:highlight>
                  <a:srgbClr val="FFFF00"/>
                </a:highlight>
              </a:rPr>
              <a:t>Each time we dequeue a vertex </a:t>
            </a:r>
            <a:r>
              <a:rPr lang="en" b="1" i="1" dirty="0">
                <a:solidFill>
                  <a:srgbClr val="FF0000"/>
                </a:solidFill>
                <a:highlight>
                  <a:srgbClr val="FFFF00"/>
                </a:highlight>
              </a:rPr>
              <a:t>V</a:t>
            </a:r>
            <a:r>
              <a:rPr lang="en" dirty="0">
                <a:highlight>
                  <a:srgbClr val="FFFF00"/>
                </a:highlight>
              </a:rPr>
              <a:t> from the queue, we will make sure that each of its neighbors is </a:t>
            </a:r>
            <a:r>
              <a:rPr lang="en" b="1" i="1" dirty="0">
                <a:solidFill>
                  <a:srgbClr val="FF0000"/>
                </a:solidFill>
                <a:highlight>
                  <a:srgbClr val="FFFF00"/>
                </a:highlight>
              </a:rPr>
              <a:t>not already in the set</a:t>
            </a:r>
            <a:r>
              <a:rPr lang="en" dirty="0">
                <a:highlight>
                  <a:srgbClr val="FFFF00"/>
                </a:highlight>
              </a:rPr>
              <a:t> before adding it to </a:t>
            </a:r>
            <a:r>
              <a:rPr lang="en" b="1" i="1" dirty="0">
                <a:solidFill>
                  <a:srgbClr val="FF0000"/>
                </a:solidFill>
                <a:highlight>
                  <a:srgbClr val="FFFF00"/>
                </a:highlight>
              </a:rPr>
              <a:t>both</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These changes should </a:t>
            </a:r>
            <a:r>
              <a:rPr lang="en" dirty="0">
                <a:highlight>
                  <a:srgbClr val="FFFF00"/>
                </a:highlight>
              </a:rPr>
              <a:t>avoid</a:t>
            </a:r>
            <a:r>
              <a:rPr lang="en" dirty="0"/>
              <a:t> visiting the same vertex more than once!</a:t>
            </a:r>
            <a:endParaRPr dirty="0"/>
          </a:p>
        </p:txBody>
      </p:sp>
      <p:sp>
        <p:nvSpPr>
          <p:cNvPr id="1358" name="Google Shape;1358;p62"/>
          <p:cNvSpPr txBox="1">
            <a:spLocks noGrp="1"/>
          </p:cNvSpPr>
          <p:nvPr>
            <p:ph type="sldNum" idx="12"/>
          </p:nvPr>
        </p:nvSpPr>
        <p:spPr>
          <a:xfrm>
            <a:off x="8571932"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29</a:t>
            </a:fld>
            <a:endParaRPr/>
          </a:p>
        </p:txBody>
      </p:sp>
      <p:sp>
        <p:nvSpPr>
          <p:cNvPr id="1359" name="Google Shape;1359;p62"/>
          <p:cNvSpPr txBox="1">
            <a:spLocks noGrp="1"/>
          </p:cNvSpPr>
          <p:nvPr>
            <p:ph type="title"/>
          </p:nvPr>
        </p:nvSpPr>
        <p:spPr>
          <a:xfrm>
            <a:off x="501575" y="500925"/>
            <a:ext cx="35166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500"/>
              <a:t>Breadth-First Search</a:t>
            </a:r>
            <a:endParaRPr sz="2500"/>
          </a:p>
          <a:p>
            <a:pPr marL="0" lvl="0" indent="0" algn="l" rtl="0">
              <a:lnSpc>
                <a:spcPct val="100000"/>
              </a:lnSpc>
              <a:spcBef>
                <a:spcPts val="0"/>
              </a:spcBef>
              <a:spcAft>
                <a:spcPts val="0"/>
              </a:spcAft>
              <a:buSzPts val="2800"/>
              <a:buNone/>
            </a:pPr>
            <a:r>
              <a:rPr lang="en" sz="2300"/>
              <a:t>(BFS)</a:t>
            </a:r>
            <a:endParaRPr sz="2300"/>
          </a:p>
        </p:txBody>
      </p:sp>
      <p:grpSp>
        <p:nvGrpSpPr>
          <p:cNvPr id="1360" name="Google Shape;1360;p62"/>
          <p:cNvGrpSpPr/>
          <p:nvPr/>
        </p:nvGrpSpPr>
        <p:grpSpPr>
          <a:xfrm>
            <a:off x="870985" y="1277166"/>
            <a:ext cx="2180058" cy="2162415"/>
            <a:chOff x="5900277" y="743776"/>
            <a:chExt cx="2727118" cy="2705047"/>
          </a:xfrm>
        </p:grpSpPr>
        <p:sp>
          <p:nvSpPr>
            <p:cNvPr id="1361" name="Google Shape;1361;p62"/>
            <p:cNvSpPr/>
            <p:nvPr/>
          </p:nvSpPr>
          <p:spPr>
            <a:xfrm>
              <a:off x="6072743" y="743776"/>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362" name="Google Shape;1362;p62"/>
            <p:cNvSpPr/>
            <p:nvPr/>
          </p:nvSpPr>
          <p:spPr>
            <a:xfrm>
              <a:off x="7213995" y="106668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363" name="Google Shape;1363;p62"/>
            <p:cNvSpPr/>
            <p:nvPr/>
          </p:nvSpPr>
          <p:spPr>
            <a:xfrm>
              <a:off x="5900277" y="19409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364" name="Google Shape;1364;p62"/>
            <p:cNvSpPr/>
            <p:nvPr/>
          </p:nvSpPr>
          <p:spPr>
            <a:xfrm>
              <a:off x="7108281" y="2181542"/>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365" name="Google Shape;1365;p62"/>
            <p:cNvSpPr/>
            <p:nvPr/>
          </p:nvSpPr>
          <p:spPr>
            <a:xfrm>
              <a:off x="7936395" y="29268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366" name="Google Shape;1366;p62"/>
            <p:cNvCxnSpPr>
              <a:stCxn id="1361" idx="6"/>
              <a:endCxn id="1362" idx="1"/>
            </p:cNvCxnSpPr>
            <p:nvPr/>
          </p:nvCxnSpPr>
          <p:spPr>
            <a:xfrm>
              <a:off x="6594743" y="1004776"/>
              <a:ext cx="695700" cy="138300"/>
            </a:xfrm>
            <a:prstGeom prst="straightConnector1">
              <a:avLst/>
            </a:prstGeom>
            <a:noFill/>
            <a:ln w="19050" cap="flat" cmpd="sng">
              <a:solidFill>
                <a:srgbClr val="FFFFFF"/>
              </a:solidFill>
              <a:prstDash val="solid"/>
              <a:round/>
              <a:headEnd type="none" w="sm" len="sm"/>
              <a:tailEnd type="none" w="sm" len="sm"/>
            </a:ln>
          </p:spPr>
        </p:cxnSp>
        <p:cxnSp>
          <p:nvCxnSpPr>
            <p:cNvPr id="1367" name="Google Shape;1367;p62"/>
            <p:cNvCxnSpPr>
              <a:stCxn id="1361" idx="4"/>
              <a:endCxn id="1363" idx="0"/>
            </p:cNvCxnSpPr>
            <p:nvPr/>
          </p:nvCxnSpPr>
          <p:spPr>
            <a:xfrm flipH="1">
              <a:off x="6161243" y="1265776"/>
              <a:ext cx="172500" cy="675000"/>
            </a:xfrm>
            <a:prstGeom prst="straightConnector1">
              <a:avLst/>
            </a:prstGeom>
            <a:noFill/>
            <a:ln w="19050" cap="flat" cmpd="sng">
              <a:solidFill>
                <a:srgbClr val="FFFFFF"/>
              </a:solidFill>
              <a:prstDash val="solid"/>
              <a:round/>
              <a:headEnd type="none" w="sm" len="sm"/>
              <a:tailEnd type="none" w="sm" len="sm"/>
            </a:ln>
          </p:spPr>
        </p:cxnSp>
        <p:cxnSp>
          <p:nvCxnSpPr>
            <p:cNvPr id="1368" name="Google Shape;1368;p62"/>
            <p:cNvCxnSpPr>
              <a:stCxn id="1363" idx="5"/>
              <a:endCxn id="1364" idx="2"/>
            </p:cNvCxnSpPr>
            <p:nvPr/>
          </p:nvCxnSpPr>
          <p:spPr>
            <a:xfrm>
              <a:off x="6345832" y="2386478"/>
              <a:ext cx="762300" cy="56100"/>
            </a:xfrm>
            <a:prstGeom prst="straightConnector1">
              <a:avLst/>
            </a:prstGeom>
            <a:noFill/>
            <a:ln w="19050" cap="flat" cmpd="sng">
              <a:solidFill>
                <a:srgbClr val="FFFFFF"/>
              </a:solidFill>
              <a:prstDash val="solid"/>
              <a:round/>
              <a:headEnd type="none" w="sm" len="sm"/>
              <a:tailEnd type="none" w="sm" len="sm"/>
            </a:ln>
          </p:spPr>
        </p:cxnSp>
        <p:cxnSp>
          <p:nvCxnSpPr>
            <p:cNvPr id="1369" name="Google Shape;1369;p62"/>
            <p:cNvCxnSpPr>
              <a:stCxn id="1364" idx="5"/>
              <a:endCxn id="1365" idx="1"/>
            </p:cNvCxnSpPr>
            <p:nvPr/>
          </p:nvCxnSpPr>
          <p:spPr>
            <a:xfrm>
              <a:off x="7553836" y="2627097"/>
              <a:ext cx="459000" cy="376200"/>
            </a:xfrm>
            <a:prstGeom prst="straightConnector1">
              <a:avLst/>
            </a:prstGeom>
            <a:noFill/>
            <a:ln w="19050" cap="flat" cmpd="sng">
              <a:solidFill>
                <a:srgbClr val="FFFFFF"/>
              </a:solidFill>
              <a:prstDash val="solid"/>
              <a:round/>
              <a:headEnd type="none" w="sm" len="sm"/>
              <a:tailEnd type="none" w="sm" len="sm"/>
            </a:ln>
          </p:spPr>
        </p:cxnSp>
        <p:sp>
          <p:nvSpPr>
            <p:cNvPr id="1370" name="Google Shape;1370;p62"/>
            <p:cNvSpPr/>
            <p:nvPr/>
          </p:nvSpPr>
          <p:spPr>
            <a:xfrm>
              <a:off x="8105395" y="16736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371" name="Google Shape;1371;p62"/>
            <p:cNvCxnSpPr>
              <a:stCxn id="1364" idx="6"/>
              <a:endCxn id="1370" idx="3"/>
            </p:cNvCxnSpPr>
            <p:nvPr/>
          </p:nvCxnSpPr>
          <p:spPr>
            <a:xfrm rot="10800000" flipH="1">
              <a:off x="7630281" y="2119142"/>
              <a:ext cx="551700" cy="323400"/>
            </a:xfrm>
            <a:prstGeom prst="straightConnector1">
              <a:avLst/>
            </a:prstGeom>
            <a:noFill/>
            <a:ln w="19050" cap="flat" cmpd="sng">
              <a:solidFill>
                <a:srgbClr val="FFFFFF"/>
              </a:solidFill>
              <a:prstDash val="solid"/>
              <a:round/>
              <a:headEnd type="none" w="sm" len="sm"/>
              <a:tailEnd type="none" w="sm" len="sm"/>
            </a:ln>
          </p:spPr>
        </p:cxnSp>
      </p:grpSp>
      <p:graphicFrame>
        <p:nvGraphicFramePr>
          <p:cNvPr id="1372" name="Google Shape;1372;p62"/>
          <p:cNvGraphicFramePr/>
          <p:nvPr/>
        </p:nvGraphicFramePr>
        <p:xfrm>
          <a:off x="402675" y="4527475"/>
          <a:ext cx="3301050" cy="396210"/>
        </p:xfrm>
        <a:graphic>
          <a:graphicData uri="http://schemas.openxmlformats.org/drawingml/2006/table">
            <a:tbl>
              <a:tblPr>
                <a:noFill/>
                <a:tableStyleId>{F61E8307-4E6B-4154-8BF4-D3231BAD3CED}</a:tableStyleId>
              </a:tblPr>
              <a:tblGrid>
                <a:gridCol w="807750">
                  <a:extLst>
                    <a:ext uri="{9D8B030D-6E8A-4147-A177-3AD203B41FA5}">
                      <a16:colId xmlns:a16="http://schemas.microsoft.com/office/drawing/2014/main" val="20000"/>
                    </a:ext>
                  </a:extLst>
                </a:gridCol>
                <a:gridCol w="415550">
                  <a:extLst>
                    <a:ext uri="{9D8B030D-6E8A-4147-A177-3AD203B41FA5}">
                      <a16:colId xmlns:a16="http://schemas.microsoft.com/office/drawing/2014/main" val="20001"/>
                    </a:ext>
                  </a:extLst>
                </a:gridCol>
                <a:gridCol w="415550">
                  <a:extLst>
                    <a:ext uri="{9D8B030D-6E8A-4147-A177-3AD203B41FA5}">
                      <a16:colId xmlns:a16="http://schemas.microsoft.com/office/drawing/2014/main" val="20002"/>
                    </a:ext>
                  </a:extLst>
                </a:gridCol>
                <a:gridCol w="415550">
                  <a:extLst>
                    <a:ext uri="{9D8B030D-6E8A-4147-A177-3AD203B41FA5}">
                      <a16:colId xmlns:a16="http://schemas.microsoft.com/office/drawing/2014/main" val="20003"/>
                    </a:ext>
                  </a:extLst>
                </a:gridCol>
                <a:gridCol w="415550">
                  <a:extLst>
                    <a:ext uri="{9D8B030D-6E8A-4147-A177-3AD203B41FA5}">
                      <a16:colId xmlns:a16="http://schemas.microsoft.com/office/drawing/2014/main" val="20004"/>
                    </a:ext>
                  </a:extLst>
                </a:gridCol>
                <a:gridCol w="415550">
                  <a:extLst>
                    <a:ext uri="{9D8B030D-6E8A-4147-A177-3AD203B41FA5}">
                      <a16:colId xmlns:a16="http://schemas.microsoft.com/office/drawing/2014/main" val="20005"/>
                    </a:ext>
                  </a:extLst>
                </a:gridCol>
                <a:gridCol w="415550">
                  <a:extLst>
                    <a:ext uri="{9D8B030D-6E8A-4147-A177-3AD203B41FA5}">
                      <a16:colId xmlns:a16="http://schemas.microsoft.com/office/drawing/2014/main" val="20006"/>
                    </a:ext>
                  </a:extLst>
                </a:gridCol>
              </a:tblGrid>
              <a:tr h="381000">
                <a:tc>
                  <a:txBody>
                    <a:bodyPr/>
                    <a:lstStyle/>
                    <a:p>
                      <a:pPr marL="0" marR="0" lvl="0" indent="0" algn="r"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F to B</a:t>
                      </a:r>
                      <a:endParaRPr sz="1400" u="none" strike="noStrike" cap="none">
                        <a:solidFill>
                          <a:srgbClr val="FFFFFF"/>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373" name="Google Shape;1373;p62"/>
          <p:cNvSpPr txBox="1"/>
          <p:nvPr/>
        </p:nvSpPr>
        <p:spPr>
          <a:xfrm>
            <a:off x="1640035" y="45244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0" i="0" u="none" strike="noStrike" cap="none">
              <a:solidFill>
                <a:srgbClr val="4A86E8"/>
              </a:solidFill>
              <a:latin typeface="Shadows Into Light"/>
              <a:ea typeface="Shadows Into Light"/>
              <a:cs typeface="Shadows Into Light"/>
              <a:sym typeface="Shadows Into Light"/>
            </a:endParaRPr>
          </a:p>
        </p:txBody>
      </p:sp>
      <p:sp>
        <p:nvSpPr>
          <p:cNvPr id="1374" name="Google Shape;1374;p62"/>
          <p:cNvSpPr txBox="1"/>
          <p:nvPr/>
        </p:nvSpPr>
        <p:spPr>
          <a:xfrm>
            <a:off x="2053182" y="45244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0" i="0" u="none" strike="noStrike" cap="none">
              <a:solidFill>
                <a:srgbClr val="4A86E8"/>
              </a:solidFill>
              <a:latin typeface="Shadows Into Light"/>
              <a:ea typeface="Shadows Into Light"/>
              <a:cs typeface="Shadows Into Light"/>
              <a:sym typeface="Shadows Into Light"/>
            </a:endParaRPr>
          </a:p>
        </p:txBody>
      </p:sp>
      <p:graphicFrame>
        <p:nvGraphicFramePr>
          <p:cNvPr id="1375" name="Google Shape;1375;p62"/>
          <p:cNvGraphicFramePr/>
          <p:nvPr/>
        </p:nvGraphicFramePr>
        <p:xfrm>
          <a:off x="547450" y="3521150"/>
          <a:ext cx="3156300" cy="888325"/>
        </p:xfrm>
        <a:graphic>
          <a:graphicData uri="http://schemas.openxmlformats.org/drawingml/2006/table">
            <a:tbl>
              <a:tblPr>
                <a:noFill/>
                <a:tableStyleId>{F61E8307-4E6B-4154-8BF4-D3231BAD3CED}</a:tableStyleId>
              </a:tblPr>
              <a:tblGrid>
                <a:gridCol w="673000">
                  <a:extLst>
                    <a:ext uri="{9D8B030D-6E8A-4147-A177-3AD203B41FA5}">
                      <a16:colId xmlns:a16="http://schemas.microsoft.com/office/drawing/2014/main" val="20000"/>
                    </a:ext>
                  </a:extLst>
                </a:gridCol>
                <a:gridCol w="248330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Set</a:t>
                      </a:r>
                      <a:endParaRPr sz="1400" u="none" strike="noStrike" cap="none">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pSp>
        <p:nvGrpSpPr>
          <p:cNvPr id="1376" name="Google Shape;1376;p62"/>
          <p:cNvGrpSpPr/>
          <p:nvPr/>
        </p:nvGrpSpPr>
        <p:grpSpPr>
          <a:xfrm>
            <a:off x="1233318" y="3686209"/>
            <a:ext cx="525300" cy="1231800"/>
            <a:chOff x="1201171" y="3533809"/>
            <a:chExt cx="525300" cy="1231800"/>
          </a:xfrm>
        </p:grpSpPr>
        <p:sp>
          <p:nvSpPr>
            <p:cNvPr id="1377" name="Google Shape;1377;p62"/>
            <p:cNvSpPr txBox="1"/>
            <p:nvPr/>
          </p:nvSpPr>
          <p:spPr>
            <a:xfrm>
              <a:off x="1201171" y="43720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378" name="Google Shape;1378;p62"/>
            <p:cNvSpPr txBox="1"/>
            <p:nvPr/>
          </p:nvSpPr>
          <p:spPr>
            <a:xfrm>
              <a:off x="1353571" y="35338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379" name="Google Shape;1379;p62"/>
          <p:cNvSpPr txBox="1"/>
          <p:nvPr/>
        </p:nvSpPr>
        <p:spPr>
          <a:xfrm rot="-706987">
            <a:off x="87526" y="155565"/>
            <a:ext cx="1040118" cy="383087"/>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FF0000"/>
                </a:solidFill>
                <a:latin typeface="Proxima Nova"/>
                <a:ea typeface="Proxima Nova"/>
                <a:cs typeface="Proxima Nova"/>
                <a:sym typeface="Proxima Nova"/>
              </a:rPr>
              <a:t>NEW AND IMPROVED</a:t>
            </a:r>
            <a:endParaRPr sz="1000" b="1" i="0" u="none" strike="noStrike" cap="none">
              <a:solidFill>
                <a:srgbClr val="FF0000"/>
              </a:solidFill>
              <a:latin typeface="Proxima Nova"/>
              <a:ea typeface="Proxima Nova"/>
              <a:cs typeface="Proxima Nova"/>
              <a:sym typeface="Proxima Nova"/>
            </a:endParaRPr>
          </a:p>
        </p:txBody>
      </p:sp>
      <p:grpSp>
        <p:nvGrpSpPr>
          <p:cNvPr id="1380" name="Google Shape;1380;p62"/>
          <p:cNvGrpSpPr/>
          <p:nvPr/>
        </p:nvGrpSpPr>
        <p:grpSpPr>
          <a:xfrm>
            <a:off x="1651941" y="3610009"/>
            <a:ext cx="1833559" cy="1314429"/>
            <a:chOff x="1651941" y="3457609"/>
            <a:chExt cx="1833559" cy="1314429"/>
          </a:xfrm>
        </p:grpSpPr>
        <p:sp>
          <p:nvSpPr>
            <p:cNvPr id="1381" name="Google Shape;1381;p62"/>
            <p:cNvSpPr txBox="1"/>
            <p:nvPr/>
          </p:nvSpPr>
          <p:spPr>
            <a:xfrm>
              <a:off x="1651941" y="43720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382" name="Google Shape;1382;p62"/>
            <p:cNvSpPr txBox="1"/>
            <p:nvPr/>
          </p:nvSpPr>
          <p:spPr>
            <a:xfrm>
              <a:off x="2058659" y="437843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sp>
          <p:nvSpPr>
            <p:cNvPr id="1383" name="Google Shape;1383;p62"/>
            <p:cNvSpPr txBox="1"/>
            <p:nvPr/>
          </p:nvSpPr>
          <p:spPr>
            <a:xfrm>
              <a:off x="2185341" y="37624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sp>
          <p:nvSpPr>
            <p:cNvPr id="1384" name="Google Shape;1384;p62"/>
            <p:cNvSpPr txBox="1"/>
            <p:nvPr/>
          </p:nvSpPr>
          <p:spPr>
            <a:xfrm>
              <a:off x="3112600" y="3457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385" name="Google Shape;1385;p62"/>
          <p:cNvSpPr txBox="1"/>
          <p:nvPr/>
        </p:nvSpPr>
        <p:spPr>
          <a:xfrm>
            <a:off x="1614318" y="45244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386" name="Google Shape;1386;p62"/>
          <p:cNvSpPr txBox="1"/>
          <p:nvPr/>
        </p:nvSpPr>
        <p:spPr>
          <a:xfrm>
            <a:off x="2058659" y="45244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387" name="Google Shape;1387;p62"/>
          <p:cNvSpPr txBox="1"/>
          <p:nvPr/>
        </p:nvSpPr>
        <p:spPr>
          <a:xfrm>
            <a:off x="1220459" y="45244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388" name="Google Shape;1388;p62"/>
          <p:cNvGrpSpPr/>
          <p:nvPr/>
        </p:nvGrpSpPr>
        <p:grpSpPr>
          <a:xfrm>
            <a:off x="2466329" y="3610009"/>
            <a:ext cx="525300" cy="1308000"/>
            <a:chOff x="2466329" y="3457609"/>
            <a:chExt cx="525300" cy="1308000"/>
          </a:xfrm>
        </p:grpSpPr>
        <p:sp>
          <p:nvSpPr>
            <p:cNvPr id="1389" name="Google Shape;1389;p62"/>
            <p:cNvSpPr txBox="1"/>
            <p:nvPr/>
          </p:nvSpPr>
          <p:spPr>
            <a:xfrm>
              <a:off x="2466329" y="43720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390" name="Google Shape;1390;p62"/>
            <p:cNvSpPr txBox="1"/>
            <p:nvPr/>
          </p:nvSpPr>
          <p:spPr>
            <a:xfrm>
              <a:off x="2618729" y="3457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391" name="Google Shape;1391;p62"/>
          <p:cNvSpPr txBox="1"/>
          <p:nvPr/>
        </p:nvSpPr>
        <p:spPr>
          <a:xfrm>
            <a:off x="2471806" y="45244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392" name="Google Shape;1392;p62"/>
          <p:cNvGrpSpPr/>
          <p:nvPr/>
        </p:nvGrpSpPr>
        <p:grpSpPr>
          <a:xfrm>
            <a:off x="1741953" y="3610009"/>
            <a:ext cx="1896900" cy="1308000"/>
            <a:chOff x="1741953" y="3457609"/>
            <a:chExt cx="1896900" cy="1308000"/>
          </a:xfrm>
        </p:grpSpPr>
        <p:sp>
          <p:nvSpPr>
            <p:cNvPr id="1393" name="Google Shape;1393;p62"/>
            <p:cNvSpPr txBox="1"/>
            <p:nvPr/>
          </p:nvSpPr>
          <p:spPr>
            <a:xfrm>
              <a:off x="2872094" y="43720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394" name="Google Shape;1394;p62"/>
            <p:cNvSpPr txBox="1"/>
            <p:nvPr/>
          </p:nvSpPr>
          <p:spPr>
            <a:xfrm>
              <a:off x="3265953" y="43720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sp>
          <p:nvSpPr>
            <p:cNvPr id="1395" name="Google Shape;1395;p62"/>
            <p:cNvSpPr txBox="1"/>
            <p:nvPr/>
          </p:nvSpPr>
          <p:spPr>
            <a:xfrm>
              <a:off x="2872094" y="3838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396" name="Google Shape;1396;p62"/>
            <p:cNvSpPr txBox="1"/>
            <p:nvPr/>
          </p:nvSpPr>
          <p:spPr>
            <a:xfrm>
              <a:off x="1741953" y="345760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397" name="Google Shape;1397;p62"/>
          <p:cNvSpPr/>
          <p:nvPr/>
        </p:nvSpPr>
        <p:spPr>
          <a:xfrm>
            <a:off x="2895887" y="4524425"/>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5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5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5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5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5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5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5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57">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379"/>
                                        </p:tgtEl>
                                        <p:attrNameLst>
                                          <p:attrName>style.visibility</p:attrName>
                                        </p:attrNameLst>
                                      </p:cBhvr>
                                      <p:to>
                                        <p:strVal val="visible"/>
                                      </p:to>
                                    </p:set>
                                    <p:animEffect transition="in" filter="fade">
                                      <p:cBhvr>
                                        <p:cTn id="59" dur="1000"/>
                                        <p:tgtEl>
                                          <p:spTgt spid="137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375"/>
                                        </p:tgtEl>
                                        <p:attrNameLst>
                                          <p:attrName>style.visibility</p:attrName>
                                        </p:attrNameLst>
                                      </p:cBhvr>
                                      <p:to>
                                        <p:strVal val="visible"/>
                                      </p:to>
                                    </p:set>
                                    <p:animEffect transition="in" filter="fade">
                                      <p:cBhvr>
                                        <p:cTn id="64" dur="1000"/>
                                        <p:tgtEl>
                                          <p:spTgt spid="137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376"/>
                                        </p:tgtEl>
                                        <p:attrNameLst>
                                          <p:attrName>style.visibility</p:attrName>
                                        </p:attrNameLst>
                                      </p:cBhvr>
                                      <p:to>
                                        <p:strVal val="visible"/>
                                      </p:to>
                                    </p:set>
                                    <p:animEffect transition="in" filter="fade">
                                      <p:cBhvr>
                                        <p:cTn id="69" dur="1000"/>
                                        <p:tgtEl>
                                          <p:spTgt spid="137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387"/>
                                        </p:tgtEl>
                                        <p:attrNameLst>
                                          <p:attrName>style.visibility</p:attrName>
                                        </p:attrNameLst>
                                      </p:cBhvr>
                                      <p:to>
                                        <p:strVal val="visible"/>
                                      </p:to>
                                    </p:set>
                                    <p:animEffect transition="in" filter="fade">
                                      <p:cBhvr>
                                        <p:cTn id="74" dur="1000"/>
                                        <p:tgtEl>
                                          <p:spTgt spid="1387"/>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1380"/>
                                        </p:tgtEl>
                                        <p:attrNameLst>
                                          <p:attrName>style.visibility</p:attrName>
                                        </p:attrNameLst>
                                      </p:cBhvr>
                                      <p:to>
                                        <p:strVal val="visible"/>
                                      </p:to>
                                    </p:set>
                                    <p:animEffect transition="in" filter="fade">
                                      <p:cBhvr>
                                        <p:cTn id="78" dur="1000"/>
                                        <p:tgtEl>
                                          <p:spTgt spid="138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385"/>
                                        </p:tgtEl>
                                        <p:attrNameLst>
                                          <p:attrName>style.visibility</p:attrName>
                                        </p:attrNameLst>
                                      </p:cBhvr>
                                      <p:to>
                                        <p:strVal val="visible"/>
                                      </p:to>
                                    </p:set>
                                    <p:animEffect transition="in" filter="fade">
                                      <p:cBhvr>
                                        <p:cTn id="83" dur="1000"/>
                                        <p:tgtEl>
                                          <p:spTgt spid="1385"/>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1388"/>
                                        </p:tgtEl>
                                        <p:attrNameLst>
                                          <p:attrName>style.visibility</p:attrName>
                                        </p:attrNameLst>
                                      </p:cBhvr>
                                      <p:to>
                                        <p:strVal val="visible"/>
                                      </p:to>
                                    </p:set>
                                    <p:animEffect transition="in" filter="fade">
                                      <p:cBhvr>
                                        <p:cTn id="87" dur="1000"/>
                                        <p:tgtEl>
                                          <p:spTgt spid="138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386"/>
                                        </p:tgtEl>
                                        <p:attrNameLst>
                                          <p:attrName>style.visibility</p:attrName>
                                        </p:attrNameLst>
                                      </p:cBhvr>
                                      <p:to>
                                        <p:strVal val="visible"/>
                                      </p:to>
                                    </p:set>
                                    <p:animEffect transition="in" filter="fade">
                                      <p:cBhvr>
                                        <p:cTn id="92" dur="1000"/>
                                        <p:tgtEl>
                                          <p:spTgt spid="138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391"/>
                                        </p:tgtEl>
                                        <p:attrNameLst>
                                          <p:attrName>style.visibility</p:attrName>
                                        </p:attrNameLst>
                                      </p:cBhvr>
                                      <p:to>
                                        <p:strVal val="visible"/>
                                      </p:to>
                                    </p:set>
                                    <p:animEffect transition="in" filter="fade">
                                      <p:cBhvr>
                                        <p:cTn id="97" dur="1000"/>
                                        <p:tgtEl>
                                          <p:spTgt spid="1391"/>
                                        </p:tgtEl>
                                      </p:cBhvr>
                                    </p:animEffect>
                                  </p:childTnLst>
                                </p:cTn>
                              </p:par>
                            </p:childTnLst>
                          </p:cTn>
                        </p:par>
                        <p:par>
                          <p:cTn id="98" fill="hold">
                            <p:stCondLst>
                              <p:cond delay="1000"/>
                            </p:stCondLst>
                            <p:childTnLst>
                              <p:par>
                                <p:cTn id="99" presetID="10" presetClass="entr" presetSubtype="0" fill="hold" nodeType="afterEffect">
                                  <p:stCondLst>
                                    <p:cond delay="0"/>
                                  </p:stCondLst>
                                  <p:childTnLst>
                                    <p:set>
                                      <p:cBhvr>
                                        <p:cTn id="100" dur="1" fill="hold">
                                          <p:stCondLst>
                                            <p:cond delay="0"/>
                                          </p:stCondLst>
                                        </p:cTn>
                                        <p:tgtEl>
                                          <p:spTgt spid="1392"/>
                                        </p:tgtEl>
                                        <p:attrNameLst>
                                          <p:attrName>style.visibility</p:attrName>
                                        </p:attrNameLst>
                                      </p:cBhvr>
                                      <p:to>
                                        <p:strVal val="visible"/>
                                      </p:to>
                                    </p:set>
                                    <p:animEffect transition="in" filter="fade">
                                      <p:cBhvr>
                                        <p:cTn id="101" dur="1000"/>
                                        <p:tgtEl>
                                          <p:spTgt spid="1392"/>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1397"/>
                                        </p:tgtEl>
                                        <p:attrNameLst>
                                          <p:attrName>style.visibility</p:attrName>
                                        </p:attrNameLst>
                                      </p:cBhvr>
                                      <p:to>
                                        <p:strVal val="visible"/>
                                      </p:to>
                                    </p:set>
                                    <p:animEffect transition="in" filter="fade">
                                      <p:cBhvr>
                                        <p:cTn id="106" dur="1000"/>
                                        <p:tgtEl>
                                          <p:spTgt spid="1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01"/>
        <p:cNvGrpSpPr/>
        <p:nvPr/>
      </p:nvGrpSpPr>
      <p:grpSpPr>
        <a:xfrm>
          <a:off x="0" y="0"/>
          <a:ext cx="0" cy="0"/>
          <a:chOff x="0" y="0"/>
          <a:chExt cx="0" cy="0"/>
        </a:xfrm>
      </p:grpSpPr>
      <p:sp>
        <p:nvSpPr>
          <p:cNvPr id="1402" name="Google Shape;1402;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1403" name="Google Shape;1403;p63"/>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12.10</a:t>
            </a:r>
            <a:endParaRPr/>
          </a:p>
        </p:txBody>
      </p:sp>
      <p:sp>
        <p:nvSpPr>
          <p:cNvPr id="1404" name="Google Shape;1404;p63"/>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Breadth-First Search Redux</a:t>
            </a:r>
            <a:endParaRPr/>
          </a:p>
        </p:txBody>
      </p:sp>
      <p:sp>
        <p:nvSpPr>
          <p:cNvPr id="1405" name="Google Shape;1405;p63"/>
          <p:cNvSpPr txBox="1">
            <a:spLocks noGrp="1"/>
          </p:cNvSpPr>
          <p:nvPr>
            <p:ph type="body" idx="1"/>
          </p:nvPr>
        </p:nvSpPr>
        <p:spPr>
          <a:xfrm>
            <a:off x="65250" y="6554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600"/>
              <a:buNone/>
            </a:pPr>
            <a:r>
              <a:rPr lang="en" dirty="0"/>
              <a:t>As it is currently written, our BFS algorithm may visit the same vertices over and over again if the graph that it is searching contains </a:t>
            </a:r>
            <a:r>
              <a:rPr lang="en" b="1" i="1" dirty="0">
                <a:solidFill>
                  <a:srgbClr val="FF0000"/>
                </a:solidFill>
              </a:rPr>
              <a:t>cycles</a:t>
            </a:r>
            <a:r>
              <a:rPr lang="en" dirty="0"/>
              <a:t>. Let's modify the algorithm to use a </a:t>
            </a:r>
            <a:r>
              <a:rPr lang="en" b="1" i="1" dirty="0">
                <a:solidFill>
                  <a:srgbClr val="FF0000"/>
                </a:solidFill>
              </a:rPr>
              <a:t>set</a:t>
            </a:r>
            <a:r>
              <a:rPr lang="en" dirty="0">
                <a:solidFill>
                  <a:srgbClr val="FF0000"/>
                </a:solidFill>
              </a:rPr>
              <a:t> </a:t>
            </a:r>
            <a:r>
              <a:rPr lang="en" dirty="0"/>
              <a:t>to keep track of the vertices that it has visited before so that it does not visit them more than once.</a:t>
            </a:r>
            <a:endParaRPr dirty="0"/>
          </a:p>
        </p:txBody>
      </p:sp>
      <p:graphicFrame>
        <p:nvGraphicFramePr>
          <p:cNvPr id="1406" name="Google Shape;1406;p63"/>
          <p:cNvGraphicFramePr/>
          <p:nvPr/>
        </p:nvGraphicFramePr>
        <p:xfrm>
          <a:off x="2842425" y="177165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G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407" name="Google Shape;1407;p63"/>
          <p:cNvGraphicFramePr/>
          <p:nvPr/>
        </p:nvGraphicFramePr>
        <p:xfrm>
          <a:off x="2842425" y="413385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B to G</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408" name="Google Shape;1408;p63"/>
          <p:cNvGraphicFramePr/>
          <p:nvPr/>
        </p:nvGraphicFramePr>
        <p:xfrm>
          <a:off x="2842425" y="2946797"/>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409" name="Google Shape;1409;p63"/>
          <p:cNvGrpSpPr/>
          <p:nvPr/>
        </p:nvGrpSpPr>
        <p:grpSpPr>
          <a:xfrm>
            <a:off x="337941" y="1734406"/>
            <a:ext cx="2160423" cy="2142938"/>
            <a:chOff x="5900277" y="743776"/>
            <a:chExt cx="2727118" cy="2705047"/>
          </a:xfrm>
        </p:grpSpPr>
        <p:sp>
          <p:nvSpPr>
            <p:cNvPr id="1410" name="Google Shape;1410;p63"/>
            <p:cNvSpPr/>
            <p:nvPr/>
          </p:nvSpPr>
          <p:spPr>
            <a:xfrm>
              <a:off x="6072743" y="743776"/>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411" name="Google Shape;1411;p63"/>
            <p:cNvSpPr/>
            <p:nvPr/>
          </p:nvSpPr>
          <p:spPr>
            <a:xfrm>
              <a:off x="7213995" y="106668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412" name="Google Shape;1412;p63"/>
            <p:cNvSpPr/>
            <p:nvPr/>
          </p:nvSpPr>
          <p:spPr>
            <a:xfrm>
              <a:off x="5900277" y="19409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413" name="Google Shape;1413;p63"/>
            <p:cNvSpPr/>
            <p:nvPr/>
          </p:nvSpPr>
          <p:spPr>
            <a:xfrm>
              <a:off x="7108281" y="2181542"/>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414" name="Google Shape;1414;p63"/>
            <p:cNvSpPr/>
            <p:nvPr/>
          </p:nvSpPr>
          <p:spPr>
            <a:xfrm>
              <a:off x="7936395" y="29268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415" name="Google Shape;1415;p63"/>
            <p:cNvCxnSpPr>
              <a:stCxn id="1410" idx="6"/>
              <a:endCxn id="1411" idx="1"/>
            </p:cNvCxnSpPr>
            <p:nvPr/>
          </p:nvCxnSpPr>
          <p:spPr>
            <a:xfrm>
              <a:off x="6594743" y="1004776"/>
              <a:ext cx="695700" cy="138300"/>
            </a:xfrm>
            <a:prstGeom prst="straightConnector1">
              <a:avLst/>
            </a:prstGeom>
            <a:noFill/>
            <a:ln w="19050" cap="flat" cmpd="sng">
              <a:solidFill>
                <a:srgbClr val="000000"/>
              </a:solidFill>
              <a:prstDash val="solid"/>
              <a:round/>
              <a:headEnd type="none" w="sm" len="sm"/>
              <a:tailEnd type="none" w="sm" len="sm"/>
            </a:ln>
          </p:spPr>
        </p:cxnSp>
        <p:cxnSp>
          <p:nvCxnSpPr>
            <p:cNvPr id="1416" name="Google Shape;1416;p63"/>
            <p:cNvCxnSpPr>
              <a:stCxn id="1410" idx="4"/>
              <a:endCxn id="1412" idx="0"/>
            </p:cNvCxnSpPr>
            <p:nvPr/>
          </p:nvCxnSpPr>
          <p:spPr>
            <a:xfrm flipH="1">
              <a:off x="6161243" y="1265776"/>
              <a:ext cx="172500" cy="675000"/>
            </a:xfrm>
            <a:prstGeom prst="straightConnector1">
              <a:avLst/>
            </a:prstGeom>
            <a:noFill/>
            <a:ln w="19050" cap="flat" cmpd="sng">
              <a:solidFill>
                <a:srgbClr val="000000"/>
              </a:solidFill>
              <a:prstDash val="solid"/>
              <a:round/>
              <a:headEnd type="none" w="sm" len="sm"/>
              <a:tailEnd type="none" w="sm" len="sm"/>
            </a:ln>
          </p:spPr>
        </p:cxnSp>
        <p:cxnSp>
          <p:nvCxnSpPr>
            <p:cNvPr id="1417" name="Google Shape;1417;p63"/>
            <p:cNvCxnSpPr>
              <a:stCxn id="1412" idx="5"/>
              <a:endCxn id="1413" idx="2"/>
            </p:cNvCxnSpPr>
            <p:nvPr/>
          </p:nvCxnSpPr>
          <p:spPr>
            <a:xfrm>
              <a:off x="6345832" y="2386478"/>
              <a:ext cx="762300" cy="56100"/>
            </a:xfrm>
            <a:prstGeom prst="straightConnector1">
              <a:avLst/>
            </a:prstGeom>
            <a:noFill/>
            <a:ln w="19050" cap="flat" cmpd="sng">
              <a:solidFill>
                <a:srgbClr val="000000"/>
              </a:solidFill>
              <a:prstDash val="solid"/>
              <a:round/>
              <a:headEnd type="none" w="sm" len="sm"/>
              <a:tailEnd type="none" w="sm" len="sm"/>
            </a:ln>
          </p:spPr>
        </p:cxnSp>
        <p:cxnSp>
          <p:nvCxnSpPr>
            <p:cNvPr id="1418" name="Google Shape;1418;p63"/>
            <p:cNvCxnSpPr>
              <a:stCxn id="1413" idx="5"/>
              <a:endCxn id="1414" idx="1"/>
            </p:cNvCxnSpPr>
            <p:nvPr/>
          </p:nvCxnSpPr>
          <p:spPr>
            <a:xfrm>
              <a:off x="7553836" y="2627097"/>
              <a:ext cx="459000" cy="376200"/>
            </a:xfrm>
            <a:prstGeom prst="straightConnector1">
              <a:avLst/>
            </a:prstGeom>
            <a:noFill/>
            <a:ln w="19050" cap="flat" cmpd="sng">
              <a:solidFill>
                <a:srgbClr val="000000"/>
              </a:solidFill>
              <a:prstDash val="solid"/>
              <a:round/>
              <a:headEnd type="none" w="sm" len="sm"/>
              <a:tailEnd type="none" w="sm" len="sm"/>
            </a:ln>
          </p:spPr>
        </p:cxnSp>
        <p:sp>
          <p:nvSpPr>
            <p:cNvPr id="1419" name="Google Shape;1419;p63"/>
            <p:cNvSpPr/>
            <p:nvPr/>
          </p:nvSpPr>
          <p:spPr>
            <a:xfrm>
              <a:off x="8105395" y="16736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420" name="Google Shape;1420;p63"/>
            <p:cNvCxnSpPr>
              <a:stCxn id="1413" idx="6"/>
              <a:endCxn id="1419" idx="3"/>
            </p:cNvCxnSpPr>
            <p:nvPr/>
          </p:nvCxnSpPr>
          <p:spPr>
            <a:xfrm rot="10800000" flipH="1">
              <a:off x="7630281" y="2119142"/>
              <a:ext cx="551700" cy="323400"/>
            </a:xfrm>
            <a:prstGeom prst="straightConnector1">
              <a:avLst/>
            </a:prstGeom>
            <a:noFill/>
            <a:ln w="19050" cap="flat" cmpd="sng">
              <a:solidFill>
                <a:srgbClr val="000000"/>
              </a:solidFill>
              <a:prstDash val="solid"/>
              <a:round/>
              <a:headEnd type="none" w="sm" len="sm"/>
              <a:tailEnd type="none" w="sm" len="sm"/>
            </a:ln>
          </p:spPr>
        </p:cxnSp>
      </p:grpSp>
      <p:cxnSp>
        <p:nvCxnSpPr>
          <p:cNvPr id="1421" name="Google Shape;1421;p63"/>
          <p:cNvCxnSpPr>
            <a:stCxn id="1413" idx="0"/>
            <a:endCxn id="1411" idx="4"/>
          </p:cNvCxnSpPr>
          <p:nvPr/>
        </p:nvCxnSpPr>
        <p:spPr>
          <a:xfrm rot="10800000" flipH="1">
            <a:off x="1501686" y="2403604"/>
            <a:ext cx="83700" cy="469800"/>
          </a:xfrm>
          <a:prstGeom prst="straightConnector1">
            <a:avLst/>
          </a:prstGeom>
          <a:noFill/>
          <a:ln w="19050" cap="flat" cmpd="sng">
            <a:solidFill>
              <a:srgbClr val="000000"/>
            </a:solidFill>
            <a:prstDash val="solid"/>
            <a:round/>
            <a:headEnd type="none" w="sm" len="sm"/>
            <a:tailEnd type="none" w="sm" len="sm"/>
          </a:ln>
        </p:spPr>
      </p:cxnSp>
      <p:cxnSp>
        <p:nvCxnSpPr>
          <p:cNvPr id="1422" name="Google Shape;1422;p63"/>
          <p:cNvCxnSpPr>
            <a:stCxn id="1414" idx="0"/>
            <a:endCxn id="1419" idx="4"/>
          </p:cNvCxnSpPr>
          <p:nvPr/>
        </p:nvCxnSpPr>
        <p:spPr>
          <a:xfrm rot="10800000" flipH="1">
            <a:off x="2157718" y="2884516"/>
            <a:ext cx="133800" cy="579300"/>
          </a:xfrm>
          <a:prstGeom prst="straightConnector1">
            <a:avLst/>
          </a:prstGeom>
          <a:noFill/>
          <a:ln w="19050" cap="flat" cmpd="sng">
            <a:solidFill>
              <a:srgbClr val="000000"/>
            </a:solidFill>
            <a:prstDash val="solid"/>
            <a:round/>
            <a:headEnd type="none" w="sm" len="sm"/>
            <a:tailEnd type="triangle" w="med" len="med"/>
          </a:ln>
        </p:spPr>
      </p:cxnSp>
      <p:graphicFrame>
        <p:nvGraphicFramePr>
          <p:cNvPr id="1423" name="Google Shape;1423;p63"/>
          <p:cNvGraphicFramePr/>
          <p:nvPr/>
        </p:nvGraphicFramePr>
        <p:xfrm>
          <a:off x="6378950" y="1693100"/>
          <a:ext cx="2272875" cy="888325"/>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424" name="Google Shape;1424;p63"/>
          <p:cNvSpPr txBox="1"/>
          <p:nvPr/>
        </p:nvSpPr>
        <p:spPr>
          <a:xfrm>
            <a:off x="7078346"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425" name="Google Shape;1425;p63"/>
          <p:cNvSpPr txBox="1"/>
          <p:nvPr/>
        </p:nvSpPr>
        <p:spPr>
          <a:xfrm>
            <a:off x="7478634"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426" name="Google Shape;1426;p63"/>
          <p:cNvSpPr txBox="1"/>
          <p:nvPr/>
        </p:nvSpPr>
        <p:spPr>
          <a:xfrm>
            <a:off x="8183723"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graphicFrame>
        <p:nvGraphicFramePr>
          <p:cNvPr id="1427" name="Google Shape;1427;p63"/>
          <p:cNvGraphicFramePr/>
          <p:nvPr/>
        </p:nvGraphicFramePr>
        <p:xfrm>
          <a:off x="6378950" y="2855388"/>
          <a:ext cx="2272875" cy="888325"/>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1428" name="Google Shape;1428;p63"/>
          <p:cNvGraphicFramePr/>
          <p:nvPr/>
        </p:nvGraphicFramePr>
        <p:xfrm>
          <a:off x="6378950" y="4036009"/>
          <a:ext cx="2272875" cy="888325"/>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sp>
        <p:nvSpPr>
          <p:cNvPr id="1433" name="Google Shape;143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1434" name="Google Shape;1434;p64"/>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12.10</a:t>
            </a:r>
            <a:endParaRPr/>
          </a:p>
        </p:txBody>
      </p:sp>
      <p:sp>
        <p:nvSpPr>
          <p:cNvPr id="1435" name="Google Shape;1435;p64"/>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Breadth-First Search Redux</a:t>
            </a:r>
            <a:endParaRPr/>
          </a:p>
        </p:txBody>
      </p:sp>
      <p:sp>
        <p:nvSpPr>
          <p:cNvPr id="1436" name="Google Shape;1436;p64"/>
          <p:cNvSpPr txBox="1">
            <a:spLocks noGrp="1"/>
          </p:cNvSpPr>
          <p:nvPr>
            <p:ph type="body" idx="1"/>
          </p:nvPr>
        </p:nvSpPr>
        <p:spPr>
          <a:xfrm>
            <a:off x="65250" y="6554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600"/>
              <a:buNone/>
            </a:pPr>
            <a:r>
              <a:rPr lang="en"/>
              <a:t>As it is currently written, our BFS algorithm may visit the same vertices over and over again if the graph that it is searching contains </a:t>
            </a:r>
            <a:r>
              <a:rPr lang="en" b="1" i="1">
                <a:solidFill>
                  <a:srgbClr val="FF0000"/>
                </a:solidFill>
              </a:rPr>
              <a:t>cycles</a:t>
            </a:r>
            <a:r>
              <a:rPr lang="en"/>
              <a:t>. Let's modify the algorithm to use a </a:t>
            </a:r>
            <a:r>
              <a:rPr lang="en" b="1" i="1">
                <a:solidFill>
                  <a:srgbClr val="FF0000"/>
                </a:solidFill>
              </a:rPr>
              <a:t>set</a:t>
            </a:r>
            <a:r>
              <a:rPr lang="en">
                <a:solidFill>
                  <a:srgbClr val="FF0000"/>
                </a:solidFill>
              </a:rPr>
              <a:t> </a:t>
            </a:r>
            <a:r>
              <a:rPr lang="en"/>
              <a:t>to keep track of the vertices that it has visited before so that it does not visit them more than once.</a:t>
            </a:r>
            <a:endParaRPr/>
          </a:p>
        </p:txBody>
      </p:sp>
      <p:graphicFrame>
        <p:nvGraphicFramePr>
          <p:cNvPr id="1437" name="Google Shape;1437;p64"/>
          <p:cNvGraphicFramePr/>
          <p:nvPr/>
        </p:nvGraphicFramePr>
        <p:xfrm>
          <a:off x="2842425" y="177165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G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438" name="Google Shape;1438;p64"/>
          <p:cNvGraphicFramePr/>
          <p:nvPr/>
        </p:nvGraphicFramePr>
        <p:xfrm>
          <a:off x="2842425" y="413385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B to G</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439" name="Google Shape;1439;p64"/>
          <p:cNvGraphicFramePr/>
          <p:nvPr/>
        </p:nvGraphicFramePr>
        <p:xfrm>
          <a:off x="2842425" y="2946797"/>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440" name="Google Shape;1440;p64"/>
          <p:cNvGrpSpPr/>
          <p:nvPr/>
        </p:nvGrpSpPr>
        <p:grpSpPr>
          <a:xfrm>
            <a:off x="337941" y="1734406"/>
            <a:ext cx="2160423" cy="2142938"/>
            <a:chOff x="5900277" y="743776"/>
            <a:chExt cx="2727118" cy="2705047"/>
          </a:xfrm>
        </p:grpSpPr>
        <p:sp>
          <p:nvSpPr>
            <p:cNvPr id="1441" name="Google Shape;1441;p64"/>
            <p:cNvSpPr/>
            <p:nvPr/>
          </p:nvSpPr>
          <p:spPr>
            <a:xfrm>
              <a:off x="6072743" y="743776"/>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442" name="Google Shape;1442;p64"/>
            <p:cNvSpPr/>
            <p:nvPr/>
          </p:nvSpPr>
          <p:spPr>
            <a:xfrm>
              <a:off x="7213995" y="106668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443" name="Google Shape;1443;p64"/>
            <p:cNvSpPr/>
            <p:nvPr/>
          </p:nvSpPr>
          <p:spPr>
            <a:xfrm>
              <a:off x="5900277" y="19409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444" name="Google Shape;1444;p64"/>
            <p:cNvSpPr/>
            <p:nvPr/>
          </p:nvSpPr>
          <p:spPr>
            <a:xfrm>
              <a:off x="7108281" y="2181542"/>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445" name="Google Shape;1445;p64"/>
            <p:cNvSpPr/>
            <p:nvPr/>
          </p:nvSpPr>
          <p:spPr>
            <a:xfrm>
              <a:off x="7936395" y="29268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446" name="Google Shape;1446;p64"/>
            <p:cNvCxnSpPr>
              <a:stCxn id="1441" idx="6"/>
              <a:endCxn id="1442" idx="1"/>
            </p:cNvCxnSpPr>
            <p:nvPr/>
          </p:nvCxnSpPr>
          <p:spPr>
            <a:xfrm>
              <a:off x="6594743" y="1004776"/>
              <a:ext cx="695700" cy="138300"/>
            </a:xfrm>
            <a:prstGeom prst="straightConnector1">
              <a:avLst/>
            </a:prstGeom>
            <a:noFill/>
            <a:ln w="19050" cap="flat" cmpd="sng">
              <a:solidFill>
                <a:srgbClr val="000000"/>
              </a:solidFill>
              <a:prstDash val="solid"/>
              <a:round/>
              <a:headEnd type="none" w="sm" len="sm"/>
              <a:tailEnd type="none" w="sm" len="sm"/>
            </a:ln>
          </p:spPr>
        </p:cxnSp>
        <p:cxnSp>
          <p:nvCxnSpPr>
            <p:cNvPr id="1447" name="Google Shape;1447;p64"/>
            <p:cNvCxnSpPr>
              <a:stCxn id="1441" idx="4"/>
              <a:endCxn id="1443" idx="0"/>
            </p:cNvCxnSpPr>
            <p:nvPr/>
          </p:nvCxnSpPr>
          <p:spPr>
            <a:xfrm flipH="1">
              <a:off x="6161243" y="1265776"/>
              <a:ext cx="172500" cy="675000"/>
            </a:xfrm>
            <a:prstGeom prst="straightConnector1">
              <a:avLst/>
            </a:prstGeom>
            <a:noFill/>
            <a:ln w="19050" cap="flat" cmpd="sng">
              <a:solidFill>
                <a:srgbClr val="000000"/>
              </a:solidFill>
              <a:prstDash val="solid"/>
              <a:round/>
              <a:headEnd type="none" w="sm" len="sm"/>
              <a:tailEnd type="none" w="sm" len="sm"/>
            </a:ln>
          </p:spPr>
        </p:cxnSp>
        <p:cxnSp>
          <p:nvCxnSpPr>
            <p:cNvPr id="1448" name="Google Shape;1448;p64"/>
            <p:cNvCxnSpPr>
              <a:stCxn id="1443" idx="5"/>
              <a:endCxn id="1444" idx="2"/>
            </p:cNvCxnSpPr>
            <p:nvPr/>
          </p:nvCxnSpPr>
          <p:spPr>
            <a:xfrm>
              <a:off x="6345832" y="2386478"/>
              <a:ext cx="762300" cy="56100"/>
            </a:xfrm>
            <a:prstGeom prst="straightConnector1">
              <a:avLst/>
            </a:prstGeom>
            <a:noFill/>
            <a:ln w="19050" cap="flat" cmpd="sng">
              <a:solidFill>
                <a:srgbClr val="000000"/>
              </a:solidFill>
              <a:prstDash val="solid"/>
              <a:round/>
              <a:headEnd type="none" w="sm" len="sm"/>
              <a:tailEnd type="none" w="sm" len="sm"/>
            </a:ln>
          </p:spPr>
        </p:cxnSp>
        <p:cxnSp>
          <p:nvCxnSpPr>
            <p:cNvPr id="1449" name="Google Shape;1449;p64"/>
            <p:cNvCxnSpPr>
              <a:stCxn id="1444" idx="5"/>
              <a:endCxn id="1445" idx="1"/>
            </p:cNvCxnSpPr>
            <p:nvPr/>
          </p:nvCxnSpPr>
          <p:spPr>
            <a:xfrm>
              <a:off x="7553836" y="2627097"/>
              <a:ext cx="459000" cy="376200"/>
            </a:xfrm>
            <a:prstGeom prst="straightConnector1">
              <a:avLst/>
            </a:prstGeom>
            <a:noFill/>
            <a:ln w="19050" cap="flat" cmpd="sng">
              <a:solidFill>
                <a:srgbClr val="000000"/>
              </a:solidFill>
              <a:prstDash val="solid"/>
              <a:round/>
              <a:headEnd type="none" w="sm" len="sm"/>
              <a:tailEnd type="none" w="sm" len="sm"/>
            </a:ln>
          </p:spPr>
        </p:cxnSp>
        <p:sp>
          <p:nvSpPr>
            <p:cNvPr id="1450" name="Google Shape;1450;p64"/>
            <p:cNvSpPr/>
            <p:nvPr/>
          </p:nvSpPr>
          <p:spPr>
            <a:xfrm>
              <a:off x="8105395" y="16736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451" name="Google Shape;1451;p64"/>
            <p:cNvCxnSpPr>
              <a:stCxn id="1444" idx="6"/>
              <a:endCxn id="1450" idx="3"/>
            </p:cNvCxnSpPr>
            <p:nvPr/>
          </p:nvCxnSpPr>
          <p:spPr>
            <a:xfrm rot="10800000" flipH="1">
              <a:off x="7630281" y="2119142"/>
              <a:ext cx="551700" cy="323400"/>
            </a:xfrm>
            <a:prstGeom prst="straightConnector1">
              <a:avLst/>
            </a:prstGeom>
            <a:noFill/>
            <a:ln w="19050" cap="flat" cmpd="sng">
              <a:solidFill>
                <a:srgbClr val="000000"/>
              </a:solidFill>
              <a:prstDash val="solid"/>
              <a:round/>
              <a:headEnd type="none" w="sm" len="sm"/>
              <a:tailEnd type="none" w="sm" len="sm"/>
            </a:ln>
          </p:spPr>
        </p:cxnSp>
      </p:grpSp>
      <p:cxnSp>
        <p:nvCxnSpPr>
          <p:cNvPr id="1452" name="Google Shape;1452;p64"/>
          <p:cNvCxnSpPr>
            <a:stCxn id="1444" idx="0"/>
            <a:endCxn id="1442" idx="4"/>
          </p:cNvCxnSpPr>
          <p:nvPr/>
        </p:nvCxnSpPr>
        <p:spPr>
          <a:xfrm rot="10800000" flipH="1">
            <a:off x="1501686" y="2403604"/>
            <a:ext cx="83700" cy="469800"/>
          </a:xfrm>
          <a:prstGeom prst="straightConnector1">
            <a:avLst/>
          </a:prstGeom>
          <a:noFill/>
          <a:ln w="19050" cap="flat" cmpd="sng">
            <a:solidFill>
              <a:srgbClr val="000000"/>
            </a:solidFill>
            <a:prstDash val="solid"/>
            <a:round/>
            <a:headEnd type="none" w="sm" len="sm"/>
            <a:tailEnd type="none" w="sm" len="sm"/>
          </a:ln>
        </p:spPr>
      </p:cxnSp>
      <p:cxnSp>
        <p:nvCxnSpPr>
          <p:cNvPr id="1453" name="Google Shape;1453;p64"/>
          <p:cNvCxnSpPr>
            <a:stCxn id="1445" idx="0"/>
            <a:endCxn id="1450" idx="4"/>
          </p:cNvCxnSpPr>
          <p:nvPr/>
        </p:nvCxnSpPr>
        <p:spPr>
          <a:xfrm rot="10800000" flipH="1">
            <a:off x="2157718" y="2884516"/>
            <a:ext cx="133800" cy="579300"/>
          </a:xfrm>
          <a:prstGeom prst="straightConnector1">
            <a:avLst/>
          </a:prstGeom>
          <a:noFill/>
          <a:ln w="19050" cap="flat" cmpd="sng">
            <a:solidFill>
              <a:srgbClr val="000000"/>
            </a:solidFill>
            <a:prstDash val="solid"/>
            <a:round/>
            <a:headEnd type="none" w="sm" len="sm"/>
            <a:tailEnd type="triangle" w="med" len="med"/>
          </a:ln>
        </p:spPr>
      </p:cxnSp>
      <p:sp>
        <p:nvSpPr>
          <p:cNvPr id="1454" name="Google Shape;1454;p64"/>
          <p:cNvSpPr txBox="1"/>
          <p:nvPr/>
        </p:nvSpPr>
        <p:spPr>
          <a:xfrm>
            <a:off x="3501471" y="1769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sp>
        <p:nvSpPr>
          <p:cNvPr id="1455" name="Google Shape;1455;p64"/>
          <p:cNvSpPr txBox="1"/>
          <p:nvPr/>
        </p:nvSpPr>
        <p:spPr>
          <a:xfrm>
            <a:off x="5495529"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1456" name="Google Shape;1456;p64"/>
          <p:cNvSpPr/>
          <p:nvPr/>
        </p:nvSpPr>
        <p:spPr>
          <a:xfrm>
            <a:off x="5119962" y="4137937"/>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7" name="Google Shape;1457;p64"/>
          <p:cNvSpPr txBox="1"/>
          <p:nvPr/>
        </p:nvSpPr>
        <p:spPr>
          <a:xfrm>
            <a:off x="3488612" y="1775729"/>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458" name="Google Shape;1458;p64"/>
          <p:cNvSpPr/>
          <p:nvPr/>
        </p:nvSpPr>
        <p:spPr>
          <a:xfrm>
            <a:off x="3930540" y="1774796"/>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9" name="Google Shape;1459;p64"/>
          <p:cNvSpPr txBox="1"/>
          <p:nvPr/>
        </p:nvSpPr>
        <p:spPr>
          <a:xfrm>
            <a:off x="3495041" y="2938018"/>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460" name="Google Shape;1460;p64"/>
          <p:cNvSpPr txBox="1"/>
          <p:nvPr/>
        </p:nvSpPr>
        <p:spPr>
          <a:xfrm>
            <a:off x="3888900" y="2956353"/>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461" name="Google Shape;1461;p64"/>
          <p:cNvSpPr txBox="1"/>
          <p:nvPr/>
        </p:nvSpPr>
        <p:spPr>
          <a:xfrm>
            <a:off x="4282759" y="2938018"/>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462" name="Google Shape;1462;p64"/>
          <p:cNvSpPr/>
          <p:nvPr/>
        </p:nvSpPr>
        <p:spPr>
          <a:xfrm>
            <a:off x="4724687" y="2943513"/>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3" name="Google Shape;1463;p64"/>
          <p:cNvSpPr txBox="1"/>
          <p:nvPr/>
        </p:nvSpPr>
        <p:spPr>
          <a:xfrm>
            <a:off x="3495041"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464" name="Google Shape;1464;p64"/>
          <p:cNvSpPr txBox="1"/>
          <p:nvPr/>
        </p:nvSpPr>
        <p:spPr>
          <a:xfrm>
            <a:off x="3888900"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465" name="Google Shape;1465;p64"/>
          <p:cNvSpPr txBox="1"/>
          <p:nvPr/>
        </p:nvSpPr>
        <p:spPr>
          <a:xfrm>
            <a:off x="4282759" y="4137929"/>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graphicFrame>
        <p:nvGraphicFramePr>
          <p:cNvPr id="1466" name="Google Shape;1466;p64"/>
          <p:cNvGraphicFramePr/>
          <p:nvPr/>
        </p:nvGraphicFramePr>
        <p:xfrm>
          <a:off x="6378950" y="1693100"/>
          <a:ext cx="2272875" cy="888325"/>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467" name="Google Shape;1467;p64"/>
          <p:cNvSpPr txBox="1"/>
          <p:nvPr/>
        </p:nvSpPr>
        <p:spPr>
          <a:xfrm>
            <a:off x="4683047"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t>
            </a:r>
            <a:endParaRPr sz="2400" b="0" i="0" u="none" strike="noStrike" cap="none">
              <a:solidFill>
                <a:srgbClr val="FF0000"/>
              </a:solidFill>
              <a:latin typeface="Shadows Into Light"/>
              <a:ea typeface="Shadows Into Light"/>
              <a:cs typeface="Shadows Into Light"/>
              <a:sym typeface="Shadows Into Light"/>
            </a:endParaRPr>
          </a:p>
        </p:txBody>
      </p:sp>
      <p:sp>
        <p:nvSpPr>
          <p:cNvPr id="1468" name="Google Shape;1468;p64"/>
          <p:cNvSpPr txBox="1"/>
          <p:nvPr/>
        </p:nvSpPr>
        <p:spPr>
          <a:xfrm>
            <a:off x="7078346"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469" name="Google Shape;1469;p64"/>
          <p:cNvSpPr txBox="1"/>
          <p:nvPr/>
        </p:nvSpPr>
        <p:spPr>
          <a:xfrm>
            <a:off x="7478634"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sp>
        <p:nvSpPr>
          <p:cNvPr id="1470" name="Google Shape;1470;p64"/>
          <p:cNvSpPr txBox="1"/>
          <p:nvPr/>
        </p:nvSpPr>
        <p:spPr>
          <a:xfrm>
            <a:off x="8183723"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4A86E8"/>
              </a:solidFill>
              <a:latin typeface="Shadows Into Light"/>
              <a:ea typeface="Shadows Into Light"/>
              <a:cs typeface="Shadows Into Light"/>
              <a:sym typeface="Shadows Into Light"/>
            </a:endParaRPr>
          </a:p>
        </p:txBody>
      </p:sp>
      <p:graphicFrame>
        <p:nvGraphicFramePr>
          <p:cNvPr id="1471" name="Google Shape;1471;p64"/>
          <p:cNvGraphicFramePr/>
          <p:nvPr/>
        </p:nvGraphicFramePr>
        <p:xfrm>
          <a:off x="6378950" y="2855388"/>
          <a:ext cx="2272875" cy="888325"/>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1472" name="Google Shape;1472;p64"/>
          <p:cNvGraphicFramePr/>
          <p:nvPr/>
        </p:nvGraphicFramePr>
        <p:xfrm>
          <a:off x="6378950" y="4036009"/>
          <a:ext cx="2272875" cy="888325"/>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473" name="Google Shape;1473;p64"/>
          <p:cNvSpPr txBox="1"/>
          <p:nvPr/>
        </p:nvSpPr>
        <p:spPr>
          <a:xfrm>
            <a:off x="6907146" y="17344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grpSp>
        <p:nvGrpSpPr>
          <p:cNvPr id="1474" name="Google Shape;1474;p64"/>
          <p:cNvGrpSpPr/>
          <p:nvPr/>
        </p:nvGrpSpPr>
        <p:grpSpPr>
          <a:xfrm>
            <a:off x="3882471" y="1769300"/>
            <a:ext cx="3763117" cy="774600"/>
            <a:chOff x="3882471" y="1769300"/>
            <a:chExt cx="3763117" cy="774600"/>
          </a:xfrm>
        </p:grpSpPr>
        <p:sp>
          <p:nvSpPr>
            <p:cNvPr id="1475" name="Google Shape;1475;p64"/>
            <p:cNvSpPr txBox="1"/>
            <p:nvPr/>
          </p:nvSpPr>
          <p:spPr>
            <a:xfrm>
              <a:off x="3882471" y="1769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476" name="Google Shape;1476;p64"/>
            <p:cNvSpPr txBox="1"/>
            <p:nvPr/>
          </p:nvSpPr>
          <p:spPr>
            <a:xfrm>
              <a:off x="4289188" y="1769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1477" name="Google Shape;1477;p64"/>
            <p:cNvSpPr txBox="1"/>
            <p:nvPr/>
          </p:nvSpPr>
          <p:spPr>
            <a:xfrm>
              <a:off x="7006671" y="2150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478" name="Google Shape;1478;p64"/>
            <p:cNvSpPr txBox="1"/>
            <p:nvPr/>
          </p:nvSpPr>
          <p:spPr>
            <a:xfrm>
              <a:off x="7260988" y="19217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grpSp>
      <p:grpSp>
        <p:nvGrpSpPr>
          <p:cNvPr id="1479" name="Google Shape;1479;p64"/>
          <p:cNvGrpSpPr/>
          <p:nvPr/>
        </p:nvGrpSpPr>
        <p:grpSpPr>
          <a:xfrm>
            <a:off x="3507900" y="2944447"/>
            <a:ext cx="4880400" cy="393600"/>
            <a:chOff x="3507900" y="2868247"/>
            <a:chExt cx="4880400" cy="393600"/>
          </a:xfrm>
        </p:grpSpPr>
        <p:sp>
          <p:nvSpPr>
            <p:cNvPr id="1480" name="Google Shape;1480;p64"/>
            <p:cNvSpPr txBox="1"/>
            <p:nvPr/>
          </p:nvSpPr>
          <p:spPr>
            <a:xfrm>
              <a:off x="3507900" y="28682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1481" name="Google Shape;1481;p64"/>
            <p:cNvSpPr txBox="1"/>
            <p:nvPr/>
          </p:nvSpPr>
          <p:spPr>
            <a:xfrm>
              <a:off x="8003700" y="28682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grpSp>
      <p:grpSp>
        <p:nvGrpSpPr>
          <p:cNvPr id="1482" name="Google Shape;1482;p64"/>
          <p:cNvGrpSpPr/>
          <p:nvPr/>
        </p:nvGrpSpPr>
        <p:grpSpPr>
          <a:xfrm>
            <a:off x="3888900" y="2944447"/>
            <a:ext cx="4728000" cy="774600"/>
            <a:chOff x="3888900" y="2868247"/>
            <a:chExt cx="4728000" cy="774600"/>
          </a:xfrm>
        </p:grpSpPr>
        <p:sp>
          <p:nvSpPr>
            <p:cNvPr id="1483" name="Google Shape;1483;p64"/>
            <p:cNvSpPr txBox="1"/>
            <p:nvPr/>
          </p:nvSpPr>
          <p:spPr>
            <a:xfrm>
              <a:off x="3888900" y="28682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E</a:t>
              </a:r>
              <a:endParaRPr sz="2400" b="0" i="0" u="none" strike="noStrike" cap="none">
                <a:solidFill>
                  <a:srgbClr val="4A86E8"/>
                </a:solidFill>
                <a:latin typeface="Shadows Into Light"/>
                <a:ea typeface="Shadows Into Light"/>
                <a:cs typeface="Shadows Into Light"/>
                <a:sym typeface="Shadows Into Light"/>
              </a:endParaRPr>
            </a:p>
          </p:txBody>
        </p:sp>
        <p:sp>
          <p:nvSpPr>
            <p:cNvPr id="1484" name="Google Shape;1484;p64"/>
            <p:cNvSpPr txBox="1"/>
            <p:nvPr/>
          </p:nvSpPr>
          <p:spPr>
            <a:xfrm>
              <a:off x="4295618" y="28682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sp>
          <p:nvSpPr>
            <p:cNvPr id="1485" name="Google Shape;1485;p64"/>
            <p:cNvSpPr txBox="1"/>
            <p:nvPr/>
          </p:nvSpPr>
          <p:spPr>
            <a:xfrm>
              <a:off x="8232300" y="32492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E</a:t>
              </a:r>
              <a:endParaRPr sz="2400" b="0" i="0" u="none" strike="noStrike" cap="none">
                <a:solidFill>
                  <a:srgbClr val="4A86E8"/>
                </a:solidFill>
                <a:latin typeface="Shadows Into Light"/>
                <a:ea typeface="Shadows Into Light"/>
                <a:cs typeface="Shadows Into Light"/>
                <a:sym typeface="Shadows Into Light"/>
              </a:endParaRPr>
            </a:p>
          </p:txBody>
        </p:sp>
        <p:sp>
          <p:nvSpPr>
            <p:cNvPr id="1486" name="Google Shape;1486;p64"/>
            <p:cNvSpPr txBox="1"/>
            <p:nvPr/>
          </p:nvSpPr>
          <p:spPr>
            <a:xfrm>
              <a:off x="6899276" y="30206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grpSp>
      <p:grpSp>
        <p:nvGrpSpPr>
          <p:cNvPr id="1487" name="Google Shape;1487;p64"/>
          <p:cNvGrpSpPr/>
          <p:nvPr/>
        </p:nvGrpSpPr>
        <p:grpSpPr>
          <a:xfrm>
            <a:off x="4689476" y="2944447"/>
            <a:ext cx="3051600" cy="469800"/>
            <a:chOff x="4689476" y="2944447"/>
            <a:chExt cx="3051600" cy="469800"/>
          </a:xfrm>
        </p:grpSpPr>
        <p:sp>
          <p:nvSpPr>
            <p:cNvPr id="1488" name="Google Shape;1488;p64"/>
            <p:cNvSpPr txBox="1"/>
            <p:nvPr/>
          </p:nvSpPr>
          <p:spPr>
            <a:xfrm>
              <a:off x="4689476" y="29444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489" name="Google Shape;1489;p64"/>
            <p:cNvSpPr txBox="1"/>
            <p:nvPr/>
          </p:nvSpPr>
          <p:spPr>
            <a:xfrm>
              <a:off x="7356476" y="3020647"/>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grpSp>
      <p:grpSp>
        <p:nvGrpSpPr>
          <p:cNvPr id="1490" name="Google Shape;1490;p64"/>
          <p:cNvGrpSpPr/>
          <p:nvPr/>
        </p:nvGrpSpPr>
        <p:grpSpPr>
          <a:xfrm>
            <a:off x="3507900" y="4131500"/>
            <a:ext cx="4423200" cy="546000"/>
            <a:chOff x="3507900" y="4131500"/>
            <a:chExt cx="4423200" cy="546000"/>
          </a:xfrm>
        </p:grpSpPr>
        <p:sp>
          <p:nvSpPr>
            <p:cNvPr id="1491" name="Google Shape;1491;p64"/>
            <p:cNvSpPr txBox="1"/>
            <p:nvPr/>
          </p:nvSpPr>
          <p:spPr>
            <a:xfrm>
              <a:off x="3507900"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B</a:t>
              </a:r>
              <a:endParaRPr sz="2400" b="0" i="0" u="none" strike="noStrike" cap="none">
                <a:solidFill>
                  <a:srgbClr val="4A86E8"/>
                </a:solidFill>
                <a:latin typeface="Shadows Into Light"/>
                <a:ea typeface="Shadows Into Light"/>
                <a:cs typeface="Shadows Into Light"/>
                <a:sym typeface="Shadows Into Light"/>
              </a:endParaRPr>
            </a:p>
          </p:txBody>
        </p:sp>
        <p:sp>
          <p:nvSpPr>
            <p:cNvPr id="1492" name="Google Shape;1492;p64"/>
            <p:cNvSpPr txBox="1"/>
            <p:nvPr/>
          </p:nvSpPr>
          <p:spPr>
            <a:xfrm>
              <a:off x="7546500" y="42839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B</a:t>
              </a:r>
              <a:endParaRPr sz="2400" b="0" i="0" u="none" strike="noStrike" cap="none">
                <a:solidFill>
                  <a:srgbClr val="4A86E8"/>
                </a:solidFill>
                <a:latin typeface="Shadows Into Light"/>
                <a:ea typeface="Shadows Into Light"/>
                <a:cs typeface="Shadows Into Light"/>
                <a:sym typeface="Shadows Into Light"/>
              </a:endParaRPr>
            </a:p>
          </p:txBody>
        </p:sp>
      </p:grpSp>
      <p:grpSp>
        <p:nvGrpSpPr>
          <p:cNvPr id="1493" name="Google Shape;1493;p64"/>
          <p:cNvGrpSpPr/>
          <p:nvPr/>
        </p:nvGrpSpPr>
        <p:grpSpPr>
          <a:xfrm>
            <a:off x="3888900" y="4055300"/>
            <a:ext cx="4753718" cy="850800"/>
            <a:chOff x="3888900" y="4055300"/>
            <a:chExt cx="4753718" cy="850800"/>
          </a:xfrm>
        </p:grpSpPr>
        <p:sp>
          <p:nvSpPr>
            <p:cNvPr id="1494" name="Google Shape;1494;p64"/>
            <p:cNvSpPr txBox="1"/>
            <p:nvPr/>
          </p:nvSpPr>
          <p:spPr>
            <a:xfrm>
              <a:off x="3888900"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495" name="Google Shape;1495;p64"/>
            <p:cNvSpPr txBox="1"/>
            <p:nvPr/>
          </p:nvSpPr>
          <p:spPr>
            <a:xfrm>
              <a:off x="4295618"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H</a:t>
              </a:r>
              <a:endParaRPr sz="2400" b="0" i="0" u="none" strike="noStrike" cap="none">
                <a:solidFill>
                  <a:srgbClr val="4A86E8"/>
                </a:solidFill>
                <a:latin typeface="Shadows Into Light"/>
                <a:ea typeface="Shadows Into Light"/>
                <a:cs typeface="Shadows Into Light"/>
                <a:sym typeface="Shadows Into Light"/>
              </a:endParaRPr>
            </a:p>
          </p:txBody>
        </p:sp>
        <p:sp>
          <p:nvSpPr>
            <p:cNvPr id="1496" name="Google Shape;1496;p64"/>
            <p:cNvSpPr txBox="1"/>
            <p:nvPr/>
          </p:nvSpPr>
          <p:spPr>
            <a:xfrm>
              <a:off x="6873559" y="4512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1497" name="Google Shape;1497;p64"/>
            <p:cNvSpPr txBox="1"/>
            <p:nvPr/>
          </p:nvSpPr>
          <p:spPr>
            <a:xfrm>
              <a:off x="8258018"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H</a:t>
              </a:r>
              <a:endParaRPr sz="2400" b="0" i="0" u="none" strike="noStrike" cap="none">
                <a:solidFill>
                  <a:srgbClr val="4A86E8"/>
                </a:solidFill>
                <a:latin typeface="Shadows Into Light"/>
                <a:ea typeface="Shadows Into Light"/>
                <a:cs typeface="Shadows Into Light"/>
                <a:sym typeface="Shadows Into Light"/>
              </a:endParaRPr>
            </a:p>
          </p:txBody>
        </p:sp>
      </p:grpSp>
      <p:grpSp>
        <p:nvGrpSpPr>
          <p:cNvPr id="1498" name="Google Shape;1498;p64"/>
          <p:cNvGrpSpPr/>
          <p:nvPr/>
        </p:nvGrpSpPr>
        <p:grpSpPr>
          <a:xfrm>
            <a:off x="4689476" y="4055300"/>
            <a:ext cx="3674059" cy="774600"/>
            <a:chOff x="4689476" y="4055300"/>
            <a:chExt cx="3674059" cy="774600"/>
          </a:xfrm>
        </p:grpSpPr>
        <p:sp>
          <p:nvSpPr>
            <p:cNvPr id="1499" name="Google Shape;1499;p64"/>
            <p:cNvSpPr txBox="1"/>
            <p:nvPr/>
          </p:nvSpPr>
          <p:spPr>
            <a:xfrm>
              <a:off x="4689476"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E</a:t>
              </a:r>
              <a:endParaRPr sz="2400" b="0" i="0" u="none" strike="noStrike" cap="none">
                <a:solidFill>
                  <a:srgbClr val="4A86E8"/>
                </a:solidFill>
                <a:latin typeface="Shadows Into Light"/>
                <a:ea typeface="Shadows Into Light"/>
                <a:cs typeface="Shadows Into Light"/>
                <a:sym typeface="Shadows Into Light"/>
              </a:endParaRPr>
            </a:p>
          </p:txBody>
        </p:sp>
        <p:sp>
          <p:nvSpPr>
            <p:cNvPr id="1500" name="Google Shape;1500;p64"/>
            <p:cNvSpPr txBox="1"/>
            <p:nvPr/>
          </p:nvSpPr>
          <p:spPr>
            <a:xfrm>
              <a:off x="5083335" y="41315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sp>
          <p:nvSpPr>
            <p:cNvPr id="1501" name="Google Shape;1501;p64"/>
            <p:cNvSpPr txBox="1"/>
            <p:nvPr/>
          </p:nvSpPr>
          <p:spPr>
            <a:xfrm>
              <a:off x="7051676" y="4055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E</a:t>
              </a:r>
              <a:endParaRPr sz="2400" b="0" i="0" u="none" strike="noStrike" cap="none">
                <a:solidFill>
                  <a:srgbClr val="4A86E8"/>
                </a:solidFill>
                <a:latin typeface="Shadows Into Light"/>
                <a:ea typeface="Shadows Into Light"/>
                <a:cs typeface="Shadows Into Light"/>
                <a:sym typeface="Shadows Into Light"/>
              </a:endParaRPr>
            </a:p>
          </p:txBody>
        </p:sp>
        <p:sp>
          <p:nvSpPr>
            <p:cNvPr id="1502" name="Google Shape;1502;p64"/>
            <p:cNvSpPr txBox="1"/>
            <p:nvPr/>
          </p:nvSpPr>
          <p:spPr>
            <a:xfrm>
              <a:off x="7978935" y="4436300"/>
              <a:ext cx="384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73"/>
                                        </p:tgtEl>
                                        <p:attrNameLst>
                                          <p:attrName>style.visibility</p:attrName>
                                        </p:attrNameLst>
                                      </p:cBhvr>
                                      <p:to>
                                        <p:strVal val="visible"/>
                                      </p:to>
                                    </p:set>
                                    <p:animEffect transition="in" filter="fade">
                                      <p:cBhvr>
                                        <p:cTn id="7" dur="1000"/>
                                        <p:tgtEl>
                                          <p:spTgt spid="1473"/>
                                        </p:tgtEl>
                                      </p:cBhvr>
                                    </p:animEffect>
                                  </p:childTnLst>
                                </p:cTn>
                              </p:par>
                              <p:par>
                                <p:cTn id="8" presetID="10" presetClass="entr" presetSubtype="0" fill="hold" nodeType="withEffect">
                                  <p:stCondLst>
                                    <p:cond delay="0"/>
                                  </p:stCondLst>
                                  <p:childTnLst>
                                    <p:set>
                                      <p:cBhvr>
                                        <p:cTn id="9" dur="1" fill="hold">
                                          <p:stCondLst>
                                            <p:cond delay="0"/>
                                          </p:stCondLst>
                                        </p:cTn>
                                        <p:tgtEl>
                                          <p:spTgt spid="1454"/>
                                        </p:tgtEl>
                                        <p:attrNameLst>
                                          <p:attrName>style.visibility</p:attrName>
                                        </p:attrNameLst>
                                      </p:cBhvr>
                                      <p:to>
                                        <p:strVal val="visible"/>
                                      </p:to>
                                    </p:set>
                                    <p:animEffect transition="in" filter="fade">
                                      <p:cBhvr>
                                        <p:cTn id="10" dur="1000"/>
                                        <p:tgtEl>
                                          <p:spTgt spid="145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57"/>
                                        </p:tgtEl>
                                        <p:attrNameLst>
                                          <p:attrName>style.visibility</p:attrName>
                                        </p:attrNameLst>
                                      </p:cBhvr>
                                      <p:to>
                                        <p:strVal val="visible"/>
                                      </p:to>
                                    </p:set>
                                    <p:animEffect transition="in" filter="fade">
                                      <p:cBhvr>
                                        <p:cTn id="15" dur="1000"/>
                                        <p:tgtEl>
                                          <p:spTgt spid="1457"/>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474"/>
                                        </p:tgtEl>
                                        <p:attrNameLst>
                                          <p:attrName>style.visibility</p:attrName>
                                        </p:attrNameLst>
                                      </p:cBhvr>
                                      <p:to>
                                        <p:strVal val="visible"/>
                                      </p:to>
                                    </p:set>
                                    <p:animEffect transition="in" filter="fade">
                                      <p:cBhvr>
                                        <p:cTn id="19" dur="1000"/>
                                        <p:tgtEl>
                                          <p:spTgt spid="147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58"/>
                                        </p:tgtEl>
                                        <p:attrNameLst>
                                          <p:attrName>style.visibility</p:attrName>
                                        </p:attrNameLst>
                                      </p:cBhvr>
                                      <p:to>
                                        <p:strVal val="visible"/>
                                      </p:to>
                                    </p:set>
                                    <p:animEffect transition="in" filter="fade">
                                      <p:cBhvr>
                                        <p:cTn id="24" dur="1000"/>
                                        <p:tgtEl>
                                          <p:spTgt spid="145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79"/>
                                        </p:tgtEl>
                                        <p:attrNameLst>
                                          <p:attrName>style.visibility</p:attrName>
                                        </p:attrNameLst>
                                      </p:cBhvr>
                                      <p:to>
                                        <p:strVal val="visible"/>
                                      </p:to>
                                    </p:set>
                                    <p:animEffect transition="in" filter="fade">
                                      <p:cBhvr>
                                        <p:cTn id="29" dur="1000"/>
                                        <p:tgtEl>
                                          <p:spTgt spid="147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459"/>
                                        </p:tgtEl>
                                        <p:attrNameLst>
                                          <p:attrName>style.visibility</p:attrName>
                                        </p:attrNameLst>
                                      </p:cBhvr>
                                      <p:to>
                                        <p:strVal val="visible"/>
                                      </p:to>
                                    </p:set>
                                    <p:animEffect transition="in" filter="fade">
                                      <p:cBhvr>
                                        <p:cTn id="34" dur="1000"/>
                                        <p:tgtEl>
                                          <p:spTgt spid="1459"/>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482"/>
                                        </p:tgtEl>
                                        <p:attrNameLst>
                                          <p:attrName>style.visibility</p:attrName>
                                        </p:attrNameLst>
                                      </p:cBhvr>
                                      <p:to>
                                        <p:strVal val="visible"/>
                                      </p:to>
                                    </p:set>
                                    <p:animEffect transition="in" filter="fade">
                                      <p:cBhvr>
                                        <p:cTn id="38" dur="1000"/>
                                        <p:tgtEl>
                                          <p:spTgt spid="148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60"/>
                                        </p:tgtEl>
                                        <p:attrNameLst>
                                          <p:attrName>style.visibility</p:attrName>
                                        </p:attrNameLst>
                                      </p:cBhvr>
                                      <p:to>
                                        <p:strVal val="visible"/>
                                      </p:to>
                                    </p:set>
                                    <p:animEffect transition="in" filter="fade">
                                      <p:cBhvr>
                                        <p:cTn id="43" dur="1000"/>
                                        <p:tgtEl>
                                          <p:spTgt spid="1460"/>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487"/>
                                        </p:tgtEl>
                                        <p:attrNameLst>
                                          <p:attrName>style.visibility</p:attrName>
                                        </p:attrNameLst>
                                      </p:cBhvr>
                                      <p:to>
                                        <p:strVal val="visible"/>
                                      </p:to>
                                    </p:set>
                                    <p:animEffect transition="in" filter="fade">
                                      <p:cBhvr>
                                        <p:cTn id="47" dur="1000"/>
                                        <p:tgtEl>
                                          <p:spTgt spid="148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61"/>
                                        </p:tgtEl>
                                        <p:attrNameLst>
                                          <p:attrName>style.visibility</p:attrName>
                                        </p:attrNameLst>
                                      </p:cBhvr>
                                      <p:to>
                                        <p:strVal val="visible"/>
                                      </p:to>
                                    </p:set>
                                    <p:animEffect transition="in" filter="fade">
                                      <p:cBhvr>
                                        <p:cTn id="52" dur="1000"/>
                                        <p:tgtEl>
                                          <p:spTgt spid="146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462"/>
                                        </p:tgtEl>
                                        <p:attrNameLst>
                                          <p:attrName>style.visibility</p:attrName>
                                        </p:attrNameLst>
                                      </p:cBhvr>
                                      <p:to>
                                        <p:strVal val="visible"/>
                                      </p:to>
                                    </p:set>
                                    <p:animEffect transition="in" filter="fade">
                                      <p:cBhvr>
                                        <p:cTn id="57" dur="1000"/>
                                        <p:tgtEl>
                                          <p:spTgt spid="146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490"/>
                                        </p:tgtEl>
                                        <p:attrNameLst>
                                          <p:attrName>style.visibility</p:attrName>
                                        </p:attrNameLst>
                                      </p:cBhvr>
                                      <p:to>
                                        <p:strVal val="visible"/>
                                      </p:to>
                                    </p:set>
                                    <p:animEffect transition="in" filter="fade">
                                      <p:cBhvr>
                                        <p:cTn id="62" dur="1000"/>
                                        <p:tgtEl>
                                          <p:spTgt spid="149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463"/>
                                        </p:tgtEl>
                                        <p:attrNameLst>
                                          <p:attrName>style.visibility</p:attrName>
                                        </p:attrNameLst>
                                      </p:cBhvr>
                                      <p:to>
                                        <p:strVal val="visible"/>
                                      </p:to>
                                    </p:set>
                                    <p:animEffect transition="in" filter="fade">
                                      <p:cBhvr>
                                        <p:cTn id="67" dur="1000"/>
                                        <p:tgtEl>
                                          <p:spTgt spid="1463"/>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1493"/>
                                        </p:tgtEl>
                                        <p:attrNameLst>
                                          <p:attrName>style.visibility</p:attrName>
                                        </p:attrNameLst>
                                      </p:cBhvr>
                                      <p:to>
                                        <p:strVal val="visible"/>
                                      </p:to>
                                    </p:set>
                                    <p:animEffect transition="in" filter="fade">
                                      <p:cBhvr>
                                        <p:cTn id="71" dur="1000"/>
                                        <p:tgtEl>
                                          <p:spTgt spid="149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464"/>
                                        </p:tgtEl>
                                        <p:attrNameLst>
                                          <p:attrName>style.visibility</p:attrName>
                                        </p:attrNameLst>
                                      </p:cBhvr>
                                      <p:to>
                                        <p:strVal val="visible"/>
                                      </p:to>
                                    </p:set>
                                    <p:animEffect transition="in" filter="fade">
                                      <p:cBhvr>
                                        <p:cTn id="76" dur="1000"/>
                                        <p:tgtEl>
                                          <p:spTgt spid="1464"/>
                                        </p:tgtEl>
                                      </p:cBhvr>
                                    </p:animEffect>
                                  </p:childTnLst>
                                </p:cTn>
                              </p:par>
                            </p:childTnLst>
                          </p:cTn>
                        </p:par>
                        <p:par>
                          <p:cTn id="77" fill="hold">
                            <p:stCondLst>
                              <p:cond delay="1000"/>
                            </p:stCondLst>
                            <p:childTnLst>
                              <p:par>
                                <p:cTn id="78" presetID="10" presetClass="entr" presetSubtype="0" fill="hold" nodeType="afterEffect">
                                  <p:stCondLst>
                                    <p:cond delay="0"/>
                                  </p:stCondLst>
                                  <p:childTnLst>
                                    <p:set>
                                      <p:cBhvr>
                                        <p:cTn id="79" dur="1" fill="hold">
                                          <p:stCondLst>
                                            <p:cond delay="0"/>
                                          </p:stCondLst>
                                        </p:cTn>
                                        <p:tgtEl>
                                          <p:spTgt spid="1498"/>
                                        </p:tgtEl>
                                        <p:attrNameLst>
                                          <p:attrName>style.visibility</p:attrName>
                                        </p:attrNameLst>
                                      </p:cBhvr>
                                      <p:to>
                                        <p:strVal val="visible"/>
                                      </p:to>
                                    </p:set>
                                    <p:animEffect transition="in" filter="fade">
                                      <p:cBhvr>
                                        <p:cTn id="80" dur="1000"/>
                                        <p:tgtEl>
                                          <p:spTgt spid="149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465"/>
                                        </p:tgtEl>
                                        <p:attrNameLst>
                                          <p:attrName>style.visibility</p:attrName>
                                        </p:attrNameLst>
                                      </p:cBhvr>
                                      <p:to>
                                        <p:strVal val="visible"/>
                                      </p:to>
                                    </p:set>
                                    <p:animEffect transition="in" filter="fade">
                                      <p:cBhvr>
                                        <p:cTn id="85" dur="1000"/>
                                        <p:tgtEl>
                                          <p:spTgt spid="1465"/>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467"/>
                                        </p:tgtEl>
                                        <p:attrNameLst>
                                          <p:attrName>style.visibility</p:attrName>
                                        </p:attrNameLst>
                                      </p:cBhvr>
                                      <p:to>
                                        <p:strVal val="visible"/>
                                      </p:to>
                                    </p:set>
                                    <p:animEffect transition="in" filter="fade">
                                      <p:cBhvr>
                                        <p:cTn id="90" dur="1000"/>
                                        <p:tgtEl>
                                          <p:spTgt spid="1467"/>
                                        </p:tgtEl>
                                      </p:cBhvr>
                                    </p:animEffect>
                                  </p:childTnLst>
                                </p:cTn>
                              </p:par>
                            </p:childTnLst>
                          </p:cTn>
                        </p:par>
                        <p:par>
                          <p:cTn id="91" fill="hold">
                            <p:stCondLst>
                              <p:cond delay="1000"/>
                            </p:stCondLst>
                            <p:childTnLst>
                              <p:par>
                                <p:cTn id="92" presetID="10" presetClass="entr" presetSubtype="0" fill="hold" nodeType="afterEffect">
                                  <p:stCondLst>
                                    <p:cond delay="0"/>
                                  </p:stCondLst>
                                  <p:childTnLst>
                                    <p:set>
                                      <p:cBhvr>
                                        <p:cTn id="93" dur="1" fill="hold">
                                          <p:stCondLst>
                                            <p:cond delay="0"/>
                                          </p:stCondLst>
                                        </p:cTn>
                                        <p:tgtEl>
                                          <p:spTgt spid="1455"/>
                                        </p:tgtEl>
                                        <p:attrNameLst>
                                          <p:attrName>style.visibility</p:attrName>
                                        </p:attrNameLst>
                                      </p:cBhvr>
                                      <p:to>
                                        <p:strVal val="visible"/>
                                      </p:to>
                                    </p:set>
                                    <p:animEffect transition="in" filter="fade">
                                      <p:cBhvr>
                                        <p:cTn id="94" dur="1000"/>
                                        <p:tgtEl>
                                          <p:spTgt spid="1455"/>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1456"/>
                                        </p:tgtEl>
                                        <p:attrNameLst>
                                          <p:attrName>style.visibility</p:attrName>
                                        </p:attrNameLst>
                                      </p:cBhvr>
                                      <p:to>
                                        <p:strVal val="visible"/>
                                      </p:to>
                                    </p:set>
                                    <p:animEffect transition="in" filter="fade">
                                      <p:cBhvr>
                                        <p:cTn id="99" dur="1000"/>
                                        <p:tgtEl>
                                          <p:spTgt spid="1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sp>
        <p:nvSpPr>
          <p:cNvPr id="1507" name="Google Shape;1507;p6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Breadth-First Search may be run on any graph, and so it should be part of the Graph interface. Java's default method feature can be used to to add the new method to the interface without immediately breaking any existing implementations.</a:t>
            </a:r>
            <a:endParaRPr/>
          </a:p>
        </p:txBody>
      </p:sp>
      <p:sp>
        <p:nvSpPr>
          <p:cNvPr id="1508" name="Google Shape;1508;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1509" name="Google Shape;1509;p65"/>
          <p:cNvSpPr txBox="1">
            <a:spLocks noGrp="1"/>
          </p:cNvSpPr>
          <p:nvPr>
            <p:ph type="body" idx="2"/>
          </p:nvPr>
        </p:nvSpPr>
        <p:spPr>
          <a:xfrm>
            <a:off x="3077125" y="1740950"/>
            <a:ext cx="5879100" cy="25242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the </a:t>
            </a:r>
            <a:r>
              <a:rPr lang="en" sz="1600" dirty="0">
                <a:solidFill>
                  <a:srgbClr val="FF0000"/>
                </a:solidFill>
                <a:latin typeface="Courier New"/>
                <a:ea typeface="Courier New"/>
                <a:cs typeface="Courier New"/>
                <a:sym typeface="Courier New"/>
              </a:rPr>
              <a:t>Graph</a:t>
            </a:r>
            <a:r>
              <a:rPr lang="en" sz="1600" dirty="0">
                <a:solidFill>
                  <a:srgbClr val="FF0000"/>
                </a:solidFill>
              </a:rPr>
              <a:t> </a:t>
            </a:r>
            <a:r>
              <a:rPr lang="en" sz="1600" dirty="0"/>
              <a:t>interface and define a new </a:t>
            </a:r>
            <a:r>
              <a:rPr lang="en" sz="1600" dirty="0">
                <a:solidFill>
                  <a:srgbClr val="FF0000"/>
                </a:solidFill>
                <a:latin typeface="Courier New"/>
                <a:ea typeface="Courier New"/>
                <a:cs typeface="Courier New"/>
                <a:sym typeface="Courier New"/>
              </a:rPr>
              <a:t>default</a:t>
            </a:r>
            <a:r>
              <a:rPr lang="en" sz="1600" dirty="0">
                <a:solidFill>
                  <a:srgbClr val="FF0000"/>
                </a:solidFill>
              </a:rPr>
              <a:t> </a:t>
            </a:r>
            <a:r>
              <a:rPr lang="en" sz="1600" dirty="0"/>
              <a:t>method named </a:t>
            </a:r>
            <a:r>
              <a:rPr lang="en" sz="1600" dirty="0">
                <a:solidFill>
                  <a:srgbClr val="FF0000"/>
                </a:solidFill>
                <a:latin typeface="Courier New"/>
                <a:ea typeface="Courier New"/>
                <a:cs typeface="Courier New"/>
                <a:sym typeface="Courier New"/>
              </a:rPr>
              <a:t>bfSearch</a:t>
            </a:r>
            <a:r>
              <a:rPr lang="en" sz="1600" dirty="0">
                <a:solidFill>
                  <a:srgbClr val="FF0000"/>
                </a:solidFill>
              </a:rPr>
              <a:t> </a:t>
            </a:r>
            <a:r>
              <a:rPr lang="en" sz="1600" dirty="0"/>
              <a:t>that declares </a:t>
            </a:r>
            <a:r>
              <a:rPr lang="en" sz="1600" b="1" i="1" dirty="0">
                <a:solidFill>
                  <a:srgbClr val="FF0000"/>
                </a:solidFill>
              </a:rPr>
              <a:t>parameters</a:t>
            </a:r>
            <a:r>
              <a:rPr lang="en" sz="1600" dirty="0">
                <a:solidFill>
                  <a:srgbClr val="FF0000"/>
                </a:solidFill>
              </a:rPr>
              <a:t> </a:t>
            </a:r>
            <a:r>
              <a:rPr lang="en" sz="1600" dirty="0"/>
              <a:t>for </a:t>
            </a:r>
            <a:r>
              <a:rPr lang="en" sz="1600" dirty="0">
                <a:solidFill>
                  <a:srgbClr val="FF0000"/>
                </a:solidFill>
                <a:latin typeface="Courier New"/>
                <a:ea typeface="Courier New"/>
                <a:cs typeface="Courier New"/>
                <a:sym typeface="Courier New"/>
              </a:rPr>
              <a:t>start</a:t>
            </a:r>
            <a:r>
              <a:rPr lang="en" sz="1600" dirty="0">
                <a:solidFill>
                  <a:srgbClr val="FF0000"/>
                </a:solidFill>
              </a:rPr>
              <a:t> </a:t>
            </a:r>
            <a:r>
              <a:rPr lang="en" sz="1600" dirty="0"/>
              <a:t>and </a:t>
            </a:r>
            <a:r>
              <a:rPr lang="en" sz="1600" dirty="0">
                <a:solidFill>
                  <a:srgbClr val="FF0000"/>
                </a:solidFill>
                <a:latin typeface="Courier New"/>
                <a:ea typeface="Courier New"/>
                <a:cs typeface="Courier New"/>
                <a:sym typeface="Courier New"/>
              </a:rPr>
              <a:t>end</a:t>
            </a:r>
            <a:r>
              <a:rPr lang="en" sz="1600" dirty="0">
                <a:solidFill>
                  <a:srgbClr val="FF0000"/>
                </a:solidFill>
              </a:rPr>
              <a:t> </a:t>
            </a:r>
            <a:r>
              <a:rPr lang="en" sz="1600" dirty="0"/>
              <a:t>values and </a:t>
            </a:r>
            <a:r>
              <a:rPr lang="en" sz="1600" b="1" i="1" dirty="0">
                <a:solidFill>
                  <a:srgbClr val="FF0000"/>
                </a:solidFill>
              </a:rPr>
              <a:t>returns </a:t>
            </a:r>
            <a:r>
              <a:rPr lang="en" sz="1600" dirty="0"/>
              <a:t>a </a:t>
            </a:r>
            <a:r>
              <a:rPr lang="en" sz="1600" dirty="0">
                <a:solidFill>
                  <a:srgbClr val="FF0000"/>
                </a:solidFill>
                <a:latin typeface="Courier New"/>
                <a:ea typeface="Courier New"/>
                <a:cs typeface="Courier New"/>
                <a:sym typeface="Courier New"/>
              </a:rPr>
              <a:t>boolean</a:t>
            </a:r>
            <a:r>
              <a:rPr lang="en" sz="1600" dirty="0"/>
              <a:t>.</a:t>
            </a:r>
            <a:endParaRPr sz="1600" dirty="0"/>
          </a:p>
          <a:p>
            <a:pPr marL="914400" lvl="1" indent="-317500" algn="l" rtl="0">
              <a:spcBef>
                <a:spcPts val="0"/>
              </a:spcBef>
              <a:spcAft>
                <a:spcPts val="0"/>
              </a:spcAft>
              <a:buSzPts val="1400"/>
              <a:buChar char="○"/>
            </a:pPr>
            <a:r>
              <a:rPr lang="en" sz="1400" dirty="0"/>
              <a:t>Use the provided UML as a guide for your method signature.</a:t>
            </a:r>
            <a:endParaRPr sz="1400" dirty="0"/>
          </a:p>
          <a:p>
            <a:pPr marL="914400" lvl="1" indent="-317500" algn="l" rtl="0">
              <a:spcBef>
                <a:spcPts val="0"/>
              </a:spcBef>
              <a:spcAft>
                <a:spcPts val="0"/>
              </a:spcAft>
              <a:buSzPts val="1400"/>
              <a:buChar char="○"/>
            </a:pPr>
            <a:r>
              <a:rPr lang="en" sz="1400" dirty="0"/>
              <a:t>Throw an </a:t>
            </a:r>
            <a:r>
              <a:rPr lang="en" sz="1400" dirty="0">
                <a:solidFill>
                  <a:srgbClr val="FF0000"/>
                </a:solidFill>
                <a:latin typeface="Courier New"/>
                <a:ea typeface="Courier New"/>
                <a:cs typeface="Courier New"/>
                <a:sym typeface="Courier New"/>
              </a:rPr>
              <a:t>UnsupportedOperationException</a:t>
            </a:r>
            <a:r>
              <a:rPr lang="en" sz="1400" dirty="0">
                <a:solidFill>
                  <a:srgbClr val="FF0000"/>
                </a:solidFill>
              </a:rPr>
              <a:t> </a:t>
            </a:r>
            <a:r>
              <a:rPr lang="en" sz="1400" dirty="0"/>
              <a:t>from this default implementation.</a:t>
            </a:r>
            <a:endParaRPr sz="1400" dirty="0"/>
          </a:p>
          <a:p>
            <a:pPr marL="457200" lvl="0" indent="-330200" algn="l" rtl="0">
              <a:spcBef>
                <a:spcPts val="0"/>
              </a:spcBef>
              <a:spcAft>
                <a:spcPts val="0"/>
              </a:spcAft>
              <a:buSzPts val="1600"/>
              <a:buChar char="●"/>
            </a:pPr>
            <a:r>
              <a:rPr lang="en" sz="1600" b="1" i="1" dirty="0">
                <a:solidFill>
                  <a:srgbClr val="FF0000"/>
                </a:solidFill>
              </a:rPr>
              <a:t>Run</a:t>
            </a:r>
            <a:r>
              <a:rPr lang="en" sz="1600" dirty="0">
                <a:solidFill>
                  <a:srgbClr val="FF0000"/>
                </a:solidFill>
              </a:rPr>
              <a:t> </a:t>
            </a:r>
            <a:r>
              <a:rPr lang="en" sz="1600" dirty="0"/>
              <a:t>the provided </a:t>
            </a:r>
            <a:r>
              <a:rPr lang="en" sz="1600" dirty="0">
                <a:solidFill>
                  <a:srgbClr val="FF0000"/>
                </a:solidFill>
                <a:latin typeface="Courier New"/>
                <a:ea typeface="Courier New"/>
                <a:cs typeface="Courier New"/>
                <a:sym typeface="Courier New"/>
              </a:rPr>
              <a:t>BFSearchTest</a:t>
            </a:r>
            <a:r>
              <a:rPr lang="en" sz="1600" dirty="0"/>
              <a:t> JUnit test.</a:t>
            </a:r>
            <a:endParaRPr sz="1600" dirty="0"/>
          </a:p>
          <a:p>
            <a:pPr marL="914400" lvl="1" indent="-317500" algn="l" rtl="0">
              <a:spcBef>
                <a:spcPts val="0"/>
              </a:spcBef>
              <a:spcAft>
                <a:spcPts val="0"/>
              </a:spcAft>
              <a:buSzPts val="1400"/>
              <a:buChar char="○"/>
            </a:pPr>
            <a:r>
              <a:rPr lang="en" sz="1400" dirty="0"/>
              <a:t>The tests should </a:t>
            </a:r>
            <a:r>
              <a:rPr lang="en" sz="1400" b="1" i="1" dirty="0">
                <a:solidFill>
                  <a:srgbClr val="FF0000"/>
                </a:solidFill>
              </a:rPr>
              <a:t>run</a:t>
            </a:r>
            <a:r>
              <a:rPr lang="en" sz="1400" dirty="0"/>
              <a:t>, but will </a:t>
            </a:r>
            <a:r>
              <a:rPr lang="en" sz="1400" b="1" i="1" dirty="0">
                <a:solidFill>
                  <a:srgbClr val="FF0000"/>
                </a:solidFill>
              </a:rPr>
              <a:t>fail</a:t>
            </a:r>
            <a:r>
              <a:rPr lang="en" sz="1400" dirty="0">
                <a:solidFill>
                  <a:srgbClr val="FF0000"/>
                </a:solidFill>
              </a:rPr>
              <a:t> </a:t>
            </a:r>
            <a:r>
              <a:rPr lang="en" sz="1400" dirty="0"/>
              <a:t>when the exception is thrown.</a:t>
            </a:r>
            <a:endParaRPr sz="1400" dirty="0"/>
          </a:p>
        </p:txBody>
      </p:sp>
      <p:sp>
        <p:nvSpPr>
          <p:cNvPr id="1510" name="Google Shape;1510;p6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BFS to the </a:t>
            </a:r>
            <a:r>
              <a:rPr lang="en">
                <a:latin typeface="Courier New"/>
                <a:ea typeface="Courier New"/>
                <a:cs typeface="Courier New"/>
                <a:sym typeface="Courier New"/>
              </a:rPr>
              <a:t>Graph</a:t>
            </a:r>
            <a:r>
              <a:rPr lang="en"/>
              <a:t> Interface</a:t>
            </a:r>
            <a:endParaRPr/>
          </a:p>
        </p:txBody>
      </p:sp>
      <p:sp>
        <p:nvSpPr>
          <p:cNvPr id="1511" name="Google Shape;1511;p6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12.11</a:t>
            </a:r>
            <a:endParaRPr/>
          </a:p>
        </p:txBody>
      </p:sp>
      <p:graphicFrame>
        <p:nvGraphicFramePr>
          <p:cNvPr id="1512" name="Google Shape;1512;p65"/>
          <p:cNvGraphicFramePr/>
          <p:nvPr/>
        </p:nvGraphicFramePr>
        <p:xfrm>
          <a:off x="174250" y="1847850"/>
          <a:ext cx="2805850" cy="2072550"/>
        </p:xfrm>
        <a:graphic>
          <a:graphicData uri="http://schemas.openxmlformats.org/drawingml/2006/table">
            <a:tbl>
              <a:tblPr>
                <a:noFill/>
                <a:tableStyleId>{F61E8307-4E6B-4154-8BF4-D3231BAD3CED}</a:tableStyleId>
              </a:tblPr>
              <a:tblGrid>
                <a:gridCol w="2805850">
                  <a:extLst>
                    <a:ext uri="{9D8B030D-6E8A-4147-A177-3AD203B41FA5}">
                      <a16:colId xmlns:a16="http://schemas.microsoft.com/office/drawing/2014/main" val="20000"/>
                    </a:ext>
                  </a:extLst>
                </a:gridCol>
              </a:tblGrid>
              <a:tr h="257275">
                <a:tc>
                  <a:txBody>
                    <a:bodyPr/>
                    <a:lstStyle/>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&lt;&lt;interface&gt;&gt;</a:t>
                      </a:r>
                      <a:endParaRPr sz="1000"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Graph&lt;E&gt;</a:t>
                      </a: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78850">
                <a:tc>
                  <a:txBody>
                    <a:bodyPr/>
                    <a:lstStyle/>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add(value: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contains(value: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size(): int</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connectUndirected(a: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connected(a: E, b: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 bfSearch(start: E, end: E): boolean</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pic>
        <p:nvPicPr>
          <p:cNvPr id="1517" name="Google Shape;1517;p66"/>
          <p:cNvPicPr preferRelativeResize="0"/>
          <p:nvPr/>
        </p:nvPicPr>
        <p:blipFill rotWithShape="1">
          <a:blip r:embed="rId3">
            <a:alphaModFix/>
          </a:blip>
          <a:srcRect/>
          <a:stretch/>
        </p:blipFill>
        <p:spPr>
          <a:xfrm>
            <a:off x="152400" y="1821375"/>
            <a:ext cx="2376599" cy="2759851"/>
          </a:xfrm>
          <a:prstGeom prst="rect">
            <a:avLst/>
          </a:prstGeom>
          <a:noFill/>
          <a:ln>
            <a:noFill/>
          </a:ln>
        </p:spPr>
      </p:pic>
      <p:sp>
        <p:nvSpPr>
          <p:cNvPr id="1518" name="Google Shape;1518;p66"/>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Begin Implementing BFS</a:t>
            </a:r>
            <a:endParaRPr/>
          </a:p>
        </p:txBody>
      </p:sp>
      <p:sp>
        <p:nvSpPr>
          <p:cNvPr id="1519" name="Google Shape;1519;p66"/>
          <p:cNvSpPr txBox="1">
            <a:spLocks noGrp="1"/>
          </p:cNvSpPr>
          <p:nvPr>
            <p:ph type="body" idx="1"/>
          </p:nvPr>
        </p:nvSpPr>
        <p:spPr>
          <a:xfrm>
            <a:off x="65250" y="731625"/>
            <a:ext cx="8955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The Breadth-First Search algorithm is fairly straightforward, but it still requires a significant amount of code to implement fully. Let's begin implementing the algorithm in the </a:t>
            </a:r>
            <a:r>
              <a:rPr lang="en">
                <a:latin typeface="Courier New"/>
                <a:ea typeface="Courier New"/>
                <a:cs typeface="Courier New"/>
                <a:sym typeface="Courier New"/>
              </a:rPr>
              <a:t>AdjacencyGraph</a:t>
            </a:r>
            <a:r>
              <a:rPr lang="en"/>
              <a:t> now by creating all of the data structures that we will need.</a:t>
            </a:r>
            <a:endParaRPr/>
          </a:p>
        </p:txBody>
      </p:sp>
      <p:sp>
        <p:nvSpPr>
          <p:cNvPr id="1520" name="Google Shape;1520;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1521" name="Google Shape;1521;p66"/>
          <p:cNvSpPr txBox="1">
            <a:spLocks noGrp="1"/>
          </p:cNvSpPr>
          <p:nvPr>
            <p:ph type="body" idx="2"/>
          </p:nvPr>
        </p:nvSpPr>
        <p:spPr>
          <a:xfrm>
            <a:off x="2755175" y="1786950"/>
            <a:ext cx="6126000" cy="2883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Char char="●"/>
            </a:pPr>
            <a:r>
              <a:rPr lang="en" sz="1400" dirty="0"/>
              <a:t>Open the </a:t>
            </a:r>
            <a:r>
              <a:rPr lang="en" sz="1400" dirty="0">
                <a:solidFill>
                  <a:srgbClr val="FF0000"/>
                </a:solidFill>
                <a:latin typeface="Courier New"/>
                <a:ea typeface="Courier New"/>
                <a:cs typeface="Courier New"/>
                <a:sym typeface="Courier New"/>
              </a:rPr>
              <a:t>AdjacencyGraph</a:t>
            </a:r>
            <a:r>
              <a:rPr lang="en" sz="1400" dirty="0">
                <a:solidFill>
                  <a:srgbClr val="FF0000"/>
                </a:solidFill>
              </a:rPr>
              <a:t> </a:t>
            </a:r>
            <a:r>
              <a:rPr lang="en" sz="1400" dirty="0"/>
              <a:t>class and </a:t>
            </a:r>
            <a:r>
              <a:rPr lang="en" sz="1400" b="1" i="1" dirty="0">
                <a:solidFill>
                  <a:srgbClr val="FF0000"/>
                </a:solidFill>
              </a:rPr>
              <a:t>override</a:t>
            </a:r>
            <a:r>
              <a:rPr lang="en" sz="1400" dirty="0">
                <a:solidFill>
                  <a:srgbClr val="FF0000"/>
                </a:solidFill>
              </a:rPr>
              <a:t> </a:t>
            </a:r>
            <a:r>
              <a:rPr lang="en" sz="1400" dirty="0"/>
              <a:t>the default implementation of </a:t>
            </a:r>
            <a:r>
              <a:rPr lang="en" sz="1400" dirty="0">
                <a:solidFill>
                  <a:srgbClr val="FF0000"/>
                </a:solidFill>
                <a:latin typeface="Courier New"/>
                <a:ea typeface="Courier New"/>
                <a:cs typeface="Courier New"/>
                <a:sym typeface="Courier New"/>
              </a:rPr>
              <a:t>bfSearch</a:t>
            </a:r>
            <a:r>
              <a:rPr lang="en" sz="1400" dirty="0">
                <a:solidFill>
                  <a:srgbClr val="FF0000"/>
                </a:solidFill>
              </a:rPr>
              <a:t> </a:t>
            </a:r>
            <a:r>
              <a:rPr lang="en" sz="1400" dirty="0"/>
              <a:t>inherited from the </a:t>
            </a:r>
            <a:r>
              <a:rPr lang="en" sz="1400" dirty="0">
                <a:latin typeface="Courier New"/>
                <a:ea typeface="Courier New"/>
                <a:cs typeface="Courier New"/>
                <a:sym typeface="Courier New"/>
              </a:rPr>
              <a:t>Graph</a:t>
            </a:r>
            <a:r>
              <a:rPr lang="en" sz="1400" dirty="0"/>
              <a:t> interface.</a:t>
            </a:r>
            <a:endParaRPr sz="1400" dirty="0"/>
          </a:p>
          <a:p>
            <a:pPr marL="457200" lvl="0" indent="-317500" algn="l" rtl="0">
              <a:lnSpc>
                <a:spcPct val="115000"/>
              </a:lnSpc>
              <a:spcBef>
                <a:spcPts val="0"/>
              </a:spcBef>
              <a:spcAft>
                <a:spcPts val="0"/>
              </a:spcAft>
              <a:buSzPts val="1400"/>
              <a:buChar char="●"/>
            </a:pPr>
            <a:r>
              <a:rPr lang="en" sz="1400" dirty="0"/>
              <a:t>For now, focus only  on the setup for the algorithm.</a:t>
            </a:r>
            <a:endParaRPr sz="1400" dirty="0"/>
          </a:p>
          <a:p>
            <a:pPr marL="914400" lvl="1" indent="-304800" algn="l" rtl="0">
              <a:lnSpc>
                <a:spcPct val="115000"/>
              </a:lnSpc>
              <a:spcBef>
                <a:spcPts val="0"/>
              </a:spcBef>
              <a:spcAft>
                <a:spcPts val="0"/>
              </a:spcAft>
              <a:buSzPts val="1200"/>
              <a:buChar char="○"/>
            </a:pPr>
            <a:r>
              <a:rPr lang="en" sz="1200" dirty="0"/>
              <a:t>Get the vertices corresponding to the </a:t>
            </a:r>
            <a:r>
              <a:rPr lang="en" sz="1200" dirty="0">
                <a:solidFill>
                  <a:srgbClr val="FF0000"/>
                </a:solidFill>
                <a:latin typeface="Courier New"/>
                <a:ea typeface="Courier New"/>
                <a:cs typeface="Courier New"/>
                <a:sym typeface="Courier New"/>
              </a:rPr>
              <a:t>start</a:t>
            </a:r>
            <a:r>
              <a:rPr lang="en" sz="1200" dirty="0">
                <a:solidFill>
                  <a:srgbClr val="FF0000"/>
                </a:solidFill>
              </a:rPr>
              <a:t> </a:t>
            </a:r>
            <a:r>
              <a:rPr lang="en" sz="1200" dirty="0"/>
              <a:t>and </a:t>
            </a:r>
            <a:r>
              <a:rPr lang="en" sz="1200" dirty="0">
                <a:solidFill>
                  <a:srgbClr val="FF0000"/>
                </a:solidFill>
                <a:latin typeface="Courier New"/>
                <a:ea typeface="Courier New"/>
                <a:cs typeface="Courier New"/>
                <a:sym typeface="Courier New"/>
              </a:rPr>
              <a:t>end</a:t>
            </a:r>
            <a:r>
              <a:rPr lang="en" sz="1200" dirty="0">
                <a:solidFill>
                  <a:srgbClr val="FF0000"/>
                </a:solidFill>
              </a:rPr>
              <a:t> </a:t>
            </a:r>
            <a:r>
              <a:rPr lang="en" sz="1200" dirty="0"/>
              <a:t>values from the graph's map of </a:t>
            </a:r>
            <a:r>
              <a:rPr lang="en" sz="1200" dirty="0">
                <a:solidFill>
                  <a:srgbClr val="FF0000"/>
                </a:solidFill>
                <a:latin typeface="Courier New"/>
                <a:ea typeface="Courier New"/>
                <a:cs typeface="Courier New"/>
                <a:sym typeface="Courier New"/>
              </a:rPr>
              <a:t>vertices</a:t>
            </a:r>
            <a:r>
              <a:rPr lang="en" sz="1200" dirty="0"/>
              <a:t>.</a:t>
            </a:r>
            <a:endParaRPr sz="1200" dirty="0"/>
          </a:p>
          <a:p>
            <a:pPr marL="914400" lvl="1" indent="-304800" algn="l" rtl="0">
              <a:lnSpc>
                <a:spcPct val="115000"/>
              </a:lnSpc>
              <a:spcBef>
                <a:spcPts val="0"/>
              </a:spcBef>
              <a:spcAft>
                <a:spcPts val="0"/>
              </a:spcAft>
              <a:buSzPts val="1200"/>
              <a:buChar char="○"/>
            </a:pPr>
            <a:r>
              <a:rPr lang="en" sz="1200" dirty="0"/>
              <a:t>Create the </a:t>
            </a:r>
            <a:r>
              <a:rPr lang="en" sz="1200" b="1" i="1" dirty="0">
                <a:solidFill>
                  <a:srgbClr val="FF0000"/>
                </a:solidFill>
              </a:rPr>
              <a:t>queue</a:t>
            </a:r>
            <a:r>
              <a:rPr lang="en" sz="1200" dirty="0">
                <a:solidFill>
                  <a:srgbClr val="FF0000"/>
                </a:solidFill>
              </a:rPr>
              <a:t> </a:t>
            </a:r>
            <a:r>
              <a:rPr lang="en" sz="1200" dirty="0"/>
              <a:t>(</a:t>
            </a:r>
            <a:r>
              <a:rPr lang="en" sz="1200" dirty="0">
                <a:solidFill>
                  <a:srgbClr val="FF0000"/>
                </a:solidFill>
                <a:latin typeface="Courier New"/>
                <a:ea typeface="Courier New"/>
                <a:cs typeface="Courier New"/>
                <a:sym typeface="Courier New"/>
              </a:rPr>
              <a:t>java.util.LinkedList</a:t>
            </a:r>
            <a:r>
              <a:rPr lang="en" sz="1200" dirty="0"/>
              <a:t>) and </a:t>
            </a:r>
            <a:r>
              <a:rPr lang="en" sz="1200" b="1" i="1" dirty="0">
                <a:solidFill>
                  <a:srgbClr val="FF0000"/>
                </a:solidFill>
              </a:rPr>
              <a:t>set</a:t>
            </a:r>
            <a:r>
              <a:rPr lang="en" sz="1200" dirty="0">
                <a:solidFill>
                  <a:srgbClr val="FF0000"/>
                </a:solidFill>
              </a:rPr>
              <a:t> </a:t>
            </a:r>
            <a:r>
              <a:rPr lang="en" sz="1200" dirty="0"/>
              <a:t>(</a:t>
            </a:r>
            <a:r>
              <a:rPr lang="en" sz="1200" dirty="0">
                <a:solidFill>
                  <a:srgbClr val="FF0000"/>
                </a:solidFill>
                <a:latin typeface="Courier New"/>
                <a:ea typeface="Courier New"/>
                <a:cs typeface="Courier New"/>
                <a:sym typeface="Courier New"/>
              </a:rPr>
              <a:t>java.util.HashSet</a:t>
            </a:r>
            <a:r>
              <a:rPr lang="en" sz="1200" dirty="0"/>
              <a:t>).</a:t>
            </a:r>
            <a:endParaRPr sz="1200" dirty="0"/>
          </a:p>
          <a:p>
            <a:pPr marL="914400" lvl="1" indent="-304800" algn="l" rtl="0">
              <a:lnSpc>
                <a:spcPct val="115000"/>
              </a:lnSpc>
              <a:spcBef>
                <a:spcPts val="0"/>
              </a:spcBef>
              <a:spcAft>
                <a:spcPts val="0"/>
              </a:spcAft>
              <a:buSzPts val="1200"/>
              <a:buChar char="○"/>
            </a:pPr>
            <a:r>
              <a:rPr lang="en" sz="1200" b="1" i="1" dirty="0">
                <a:solidFill>
                  <a:srgbClr val="FF0000"/>
                </a:solidFill>
              </a:rPr>
              <a:t>Add</a:t>
            </a:r>
            <a:r>
              <a:rPr lang="en" sz="1200" dirty="0">
                <a:solidFill>
                  <a:srgbClr val="FF0000"/>
                </a:solidFill>
              </a:rPr>
              <a:t> </a:t>
            </a:r>
            <a:r>
              <a:rPr lang="en" sz="1200" dirty="0"/>
              <a:t>the starting vertex to </a:t>
            </a:r>
            <a:r>
              <a:rPr lang="en" sz="1200" b="1" i="1" dirty="0">
                <a:solidFill>
                  <a:srgbClr val="FF0000"/>
                </a:solidFill>
              </a:rPr>
              <a:t>both</a:t>
            </a:r>
            <a:r>
              <a:rPr lang="en" sz="1200" dirty="0"/>
              <a:t>.</a:t>
            </a:r>
            <a:endParaRPr sz="1200" dirty="0"/>
          </a:p>
          <a:p>
            <a:pPr marL="914400" lvl="1" indent="-304800" algn="l" rtl="0">
              <a:lnSpc>
                <a:spcPct val="115000"/>
              </a:lnSpc>
              <a:spcBef>
                <a:spcPts val="0"/>
              </a:spcBef>
              <a:spcAft>
                <a:spcPts val="0"/>
              </a:spcAft>
              <a:buSzPts val="1200"/>
              <a:buChar char="○"/>
            </a:pPr>
            <a:r>
              <a:rPr lang="en" sz="1200" dirty="0">
                <a:solidFill>
                  <a:srgbClr val="FF0000"/>
                </a:solidFill>
              </a:rPr>
              <a:t>Return </a:t>
            </a:r>
            <a:r>
              <a:rPr lang="en" sz="1200" dirty="0">
                <a:solidFill>
                  <a:srgbClr val="FF0000"/>
                </a:solidFill>
                <a:latin typeface="Courier New"/>
                <a:ea typeface="Courier New"/>
                <a:cs typeface="Courier New"/>
                <a:sym typeface="Courier New"/>
              </a:rPr>
              <a:t>false</a:t>
            </a:r>
            <a:r>
              <a:rPr lang="en" sz="1200" dirty="0">
                <a:solidFill>
                  <a:srgbClr val="FF0000"/>
                </a:solidFill>
              </a:rPr>
              <a:t> </a:t>
            </a:r>
            <a:r>
              <a:rPr lang="en" sz="1200" dirty="0"/>
              <a:t>for now.</a:t>
            </a:r>
            <a:endParaRPr sz="1200" dirty="0"/>
          </a:p>
          <a:p>
            <a:pPr marL="457200" lvl="0" indent="-317500" algn="l" rtl="0">
              <a:lnSpc>
                <a:spcPct val="115000"/>
              </a:lnSpc>
              <a:spcBef>
                <a:spcPts val="0"/>
              </a:spcBef>
              <a:spcAft>
                <a:spcPts val="0"/>
              </a:spcAft>
              <a:buSzPts val="1400"/>
              <a:buChar char="●"/>
            </a:pPr>
            <a:r>
              <a:rPr lang="en" sz="1400" b="1" i="1" dirty="0">
                <a:solidFill>
                  <a:srgbClr val="FF0000"/>
                </a:solidFill>
              </a:rPr>
              <a:t>Test</a:t>
            </a:r>
            <a:r>
              <a:rPr lang="en" sz="1400" dirty="0">
                <a:solidFill>
                  <a:srgbClr val="FF0000"/>
                </a:solidFill>
              </a:rPr>
              <a:t> </a:t>
            </a:r>
            <a:r>
              <a:rPr lang="en" sz="1400" dirty="0"/>
              <a:t>your partially implemented algorithm using the provided </a:t>
            </a:r>
            <a:r>
              <a:rPr lang="en" sz="1400" dirty="0">
                <a:solidFill>
                  <a:srgbClr val="FF0000"/>
                </a:solidFill>
                <a:latin typeface="Courier New"/>
                <a:ea typeface="Courier New"/>
                <a:cs typeface="Courier New"/>
                <a:sym typeface="Courier New"/>
              </a:rPr>
              <a:t>BFSearchTest</a:t>
            </a:r>
            <a:r>
              <a:rPr lang="en" sz="1400" dirty="0"/>
              <a:t>.</a:t>
            </a:r>
            <a:endParaRPr sz="1400" dirty="0"/>
          </a:p>
          <a:p>
            <a:pPr marL="914400" lvl="1" indent="-304800" algn="l" rtl="0">
              <a:lnSpc>
                <a:spcPct val="115000"/>
              </a:lnSpc>
              <a:spcBef>
                <a:spcPts val="0"/>
              </a:spcBef>
              <a:spcAft>
                <a:spcPts val="0"/>
              </a:spcAft>
              <a:buSzPts val="1200"/>
              <a:buChar char="○"/>
            </a:pPr>
            <a:r>
              <a:rPr lang="en" sz="1200" b="1" i="1" dirty="0">
                <a:solidFill>
                  <a:srgbClr val="FF0000"/>
                </a:solidFill>
              </a:rPr>
              <a:t>Some </a:t>
            </a:r>
            <a:r>
              <a:rPr lang="en" sz="1200" dirty="0"/>
              <a:t>of the tests should now </a:t>
            </a:r>
            <a:r>
              <a:rPr lang="en" sz="1200" b="1" i="1" dirty="0">
                <a:solidFill>
                  <a:srgbClr val="FF0000"/>
                </a:solidFill>
              </a:rPr>
              <a:t>pass</a:t>
            </a:r>
            <a:r>
              <a:rPr lang="en" sz="1200" dirty="0"/>
              <a:t>.</a:t>
            </a:r>
            <a:endParaRPr sz="1200" dirty="0"/>
          </a:p>
        </p:txBody>
      </p:sp>
      <p:sp>
        <p:nvSpPr>
          <p:cNvPr id="1522" name="Google Shape;1522;p66"/>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12.12</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26"/>
        <p:cNvGrpSpPr/>
        <p:nvPr/>
      </p:nvGrpSpPr>
      <p:grpSpPr>
        <a:xfrm>
          <a:off x="0" y="0"/>
          <a:ext cx="0" cy="0"/>
          <a:chOff x="0" y="0"/>
          <a:chExt cx="0" cy="0"/>
        </a:xfrm>
      </p:grpSpPr>
      <p:sp>
        <p:nvSpPr>
          <p:cNvPr id="1527" name="Google Shape;1527;p67"/>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Complete the BFS Algorithm</a:t>
            </a:r>
            <a:endParaRPr/>
          </a:p>
        </p:txBody>
      </p:sp>
      <p:sp>
        <p:nvSpPr>
          <p:cNvPr id="1528" name="Google Shape;1528;p67"/>
          <p:cNvSpPr txBox="1">
            <a:spLocks noGrp="1"/>
          </p:cNvSpPr>
          <p:nvPr>
            <p:ph type="body" idx="1"/>
          </p:nvPr>
        </p:nvSpPr>
        <p:spPr>
          <a:xfrm>
            <a:off x="65250" y="731625"/>
            <a:ext cx="8955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Now that the data structures are squared away, we can begin implementing the main BFS loop in the </a:t>
            </a:r>
            <a:r>
              <a:rPr lang="en">
                <a:latin typeface="Courier New"/>
                <a:ea typeface="Courier New"/>
                <a:cs typeface="Courier New"/>
                <a:sym typeface="Courier New"/>
              </a:rPr>
              <a:t>AdjacencyGraph</a:t>
            </a:r>
            <a:r>
              <a:rPr lang="en"/>
              <a:t> class. This loop will continue visiting vertices until the end vertex is found, or the queue is empty, whichever happens first.</a:t>
            </a:r>
            <a:endParaRPr/>
          </a:p>
        </p:txBody>
      </p:sp>
      <p:sp>
        <p:nvSpPr>
          <p:cNvPr id="1529" name="Google Shape;1529;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1530" name="Google Shape;1530;p67"/>
          <p:cNvSpPr txBox="1">
            <a:spLocks noGrp="1"/>
          </p:cNvSpPr>
          <p:nvPr>
            <p:ph type="body" idx="2"/>
          </p:nvPr>
        </p:nvSpPr>
        <p:spPr>
          <a:xfrm>
            <a:off x="2858675" y="1951925"/>
            <a:ext cx="5938800" cy="2847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Char char="●"/>
            </a:pPr>
            <a:r>
              <a:rPr lang="en" sz="1400" dirty="0"/>
              <a:t>Open the </a:t>
            </a:r>
            <a:r>
              <a:rPr lang="en" sz="1400" dirty="0">
                <a:latin typeface="Courier New"/>
                <a:ea typeface="Courier New"/>
                <a:cs typeface="Courier New"/>
                <a:sym typeface="Courier New"/>
              </a:rPr>
              <a:t>AdjacencyGraph</a:t>
            </a:r>
            <a:r>
              <a:rPr lang="en" sz="1400" dirty="0"/>
              <a:t> class and navigate to the </a:t>
            </a:r>
            <a:r>
              <a:rPr lang="en" sz="1400" dirty="0">
                <a:latin typeface="Courier New"/>
                <a:ea typeface="Courier New"/>
                <a:cs typeface="Courier New"/>
                <a:sym typeface="Courier New"/>
              </a:rPr>
              <a:t>bfSearch</a:t>
            </a:r>
            <a:r>
              <a:rPr lang="en" sz="1400" dirty="0"/>
              <a:t> method.</a:t>
            </a:r>
            <a:endParaRPr sz="1400" dirty="0"/>
          </a:p>
          <a:p>
            <a:pPr marL="457200" lvl="0" indent="-317500" algn="l" rtl="0">
              <a:lnSpc>
                <a:spcPct val="115000"/>
              </a:lnSpc>
              <a:spcBef>
                <a:spcPts val="0"/>
              </a:spcBef>
              <a:spcAft>
                <a:spcPts val="0"/>
              </a:spcAft>
              <a:buSzPts val="1400"/>
              <a:buChar char="●"/>
            </a:pPr>
            <a:r>
              <a:rPr lang="en" sz="1400" dirty="0"/>
              <a:t>Implement the </a:t>
            </a:r>
            <a:r>
              <a:rPr lang="en" sz="1400" b="1" i="1" dirty="0">
                <a:solidFill>
                  <a:srgbClr val="FF0000"/>
                </a:solidFill>
              </a:rPr>
              <a:t>main BFS loop</a:t>
            </a:r>
            <a:r>
              <a:rPr lang="en" sz="1400" dirty="0"/>
              <a:t> according to the following algorithm:</a:t>
            </a:r>
            <a:endParaRPr sz="1400" dirty="0"/>
          </a:p>
          <a:p>
            <a:pPr marL="914400" lvl="1" indent="-304800" algn="l" rtl="0">
              <a:lnSpc>
                <a:spcPct val="115000"/>
              </a:lnSpc>
              <a:spcBef>
                <a:spcPts val="0"/>
              </a:spcBef>
              <a:spcAft>
                <a:spcPts val="0"/>
              </a:spcAft>
              <a:buSzPts val="1200"/>
              <a:buChar char="○"/>
            </a:pPr>
            <a:r>
              <a:rPr lang="en" sz="1200" dirty="0"/>
              <a:t>As long as the queue is </a:t>
            </a:r>
            <a:r>
              <a:rPr lang="en" sz="1200" b="1" i="1" dirty="0">
                <a:solidFill>
                  <a:srgbClr val="FF0000"/>
                </a:solidFill>
              </a:rPr>
              <a:t>not empty</a:t>
            </a:r>
            <a:r>
              <a:rPr lang="en" sz="1200" dirty="0"/>
              <a:t>:</a:t>
            </a:r>
            <a:endParaRPr sz="1200" dirty="0"/>
          </a:p>
          <a:p>
            <a:pPr marL="1371600" lvl="2" indent="-304800" algn="l" rtl="0">
              <a:lnSpc>
                <a:spcPct val="115000"/>
              </a:lnSpc>
              <a:spcBef>
                <a:spcPts val="0"/>
              </a:spcBef>
              <a:spcAft>
                <a:spcPts val="0"/>
              </a:spcAft>
              <a:buSzPts val="1200"/>
              <a:buChar char="■"/>
            </a:pPr>
            <a:r>
              <a:rPr lang="en" sz="1200" b="1" i="1" dirty="0">
                <a:solidFill>
                  <a:srgbClr val="FF0000"/>
                </a:solidFill>
              </a:rPr>
              <a:t>Dequeue </a:t>
            </a:r>
            <a:r>
              <a:rPr lang="en" sz="1200" dirty="0"/>
              <a:t>the next vertex and call it </a:t>
            </a:r>
            <a:r>
              <a:rPr lang="en" sz="1200" b="1" i="1" dirty="0">
                <a:solidFill>
                  <a:srgbClr val="FF0000"/>
                </a:solidFill>
              </a:rPr>
              <a:t>V</a:t>
            </a:r>
            <a:r>
              <a:rPr lang="en" sz="1200" dirty="0"/>
              <a:t>.</a:t>
            </a:r>
            <a:endParaRPr sz="1200" dirty="0"/>
          </a:p>
          <a:p>
            <a:pPr marL="1371600" lvl="2" indent="-304800" algn="l" rtl="0">
              <a:lnSpc>
                <a:spcPct val="115000"/>
              </a:lnSpc>
              <a:spcBef>
                <a:spcPts val="0"/>
              </a:spcBef>
              <a:spcAft>
                <a:spcPts val="0"/>
              </a:spcAft>
              <a:buSzPts val="1200"/>
              <a:buChar char="■"/>
            </a:pPr>
            <a:r>
              <a:rPr lang="en" sz="1200" dirty="0"/>
              <a:t>If </a:t>
            </a:r>
            <a:r>
              <a:rPr lang="en" sz="1200" b="1" i="1" dirty="0">
                <a:solidFill>
                  <a:srgbClr val="FF0000"/>
                </a:solidFill>
              </a:rPr>
              <a:t>V</a:t>
            </a:r>
            <a:r>
              <a:rPr lang="en" sz="1200" dirty="0"/>
              <a:t> is </a:t>
            </a:r>
            <a:r>
              <a:rPr lang="en" sz="1200" b="1" i="1" dirty="0">
                <a:solidFill>
                  <a:srgbClr val="FF0000"/>
                </a:solidFill>
              </a:rPr>
              <a:t>E</a:t>
            </a:r>
            <a:r>
              <a:rPr lang="en" sz="1200" dirty="0"/>
              <a:t> return </a:t>
            </a:r>
            <a:r>
              <a:rPr lang="en" sz="1200" dirty="0">
                <a:solidFill>
                  <a:srgbClr val="FF0000"/>
                </a:solidFill>
                <a:latin typeface="Courier New"/>
                <a:ea typeface="Courier New"/>
                <a:cs typeface="Courier New"/>
                <a:sym typeface="Courier New"/>
              </a:rPr>
              <a:t>true</a:t>
            </a:r>
            <a:r>
              <a:rPr lang="en" sz="1200" dirty="0"/>
              <a:t>.</a:t>
            </a:r>
            <a:endParaRPr sz="1200" dirty="0"/>
          </a:p>
          <a:p>
            <a:pPr marL="1371600" lvl="2" indent="-304800" algn="l" rtl="0">
              <a:lnSpc>
                <a:spcPct val="115000"/>
              </a:lnSpc>
              <a:spcBef>
                <a:spcPts val="0"/>
              </a:spcBef>
              <a:spcAft>
                <a:spcPts val="0"/>
              </a:spcAft>
              <a:buSzPts val="1200"/>
              <a:buChar char="■"/>
            </a:pPr>
            <a:r>
              <a:rPr lang="en" sz="1200" dirty="0"/>
              <a:t>Otherwise, for each of</a:t>
            </a:r>
            <a:r>
              <a:rPr lang="en" sz="1200" dirty="0">
                <a:solidFill>
                  <a:srgbClr val="FF0000"/>
                </a:solidFill>
              </a:rPr>
              <a:t> </a:t>
            </a:r>
            <a:r>
              <a:rPr lang="en" sz="1200" b="1" i="1" dirty="0">
                <a:solidFill>
                  <a:srgbClr val="FF0000"/>
                </a:solidFill>
              </a:rPr>
              <a:t>V</a:t>
            </a:r>
            <a:r>
              <a:rPr lang="en" sz="1200" dirty="0"/>
              <a:t>'s neighbors </a:t>
            </a:r>
            <a:r>
              <a:rPr lang="en" sz="1200" b="1" i="1" dirty="0">
                <a:solidFill>
                  <a:srgbClr val="FF0000"/>
                </a:solidFill>
              </a:rPr>
              <a:t>N</a:t>
            </a:r>
            <a:r>
              <a:rPr lang="en" sz="1200" dirty="0"/>
              <a:t>:</a:t>
            </a:r>
            <a:endParaRPr sz="1200" dirty="0"/>
          </a:p>
          <a:p>
            <a:pPr marL="1828800" lvl="3" indent="-304800" algn="l" rtl="0">
              <a:lnSpc>
                <a:spcPct val="115000"/>
              </a:lnSpc>
              <a:spcBef>
                <a:spcPts val="0"/>
              </a:spcBef>
              <a:spcAft>
                <a:spcPts val="0"/>
              </a:spcAft>
              <a:buSzPts val="1200"/>
              <a:buChar char="●"/>
            </a:pPr>
            <a:r>
              <a:rPr lang="en" sz="1200" dirty="0"/>
              <a:t>If the </a:t>
            </a:r>
            <a:r>
              <a:rPr lang="en" sz="1200" b="1" i="1" dirty="0">
                <a:solidFill>
                  <a:srgbClr val="FF0000"/>
                </a:solidFill>
              </a:rPr>
              <a:t>N</a:t>
            </a:r>
            <a:r>
              <a:rPr lang="en" sz="1200" b="1" i="1" dirty="0"/>
              <a:t> </a:t>
            </a:r>
            <a:r>
              <a:rPr lang="en" sz="1200" dirty="0"/>
              <a:t>is </a:t>
            </a:r>
            <a:r>
              <a:rPr lang="en" sz="1200" b="1" i="1" dirty="0">
                <a:solidFill>
                  <a:srgbClr val="FF0000"/>
                </a:solidFill>
              </a:rPr>
              <a:t>not</a:t>
            </a:r>
            <a:r>
              <a:rPr lang="en" sz="1200" dirty="0">
                <a:solidFill>
                  <a:srgbClr val="FF0000"/>
                </a:solidFill>
              </a:rPr>
              <a:t> </a:t>
            </a:r>
            <a:r>
              <a:rPr lang="en" sz="1200" dirty="0"/>
              <a:t>already in the set:</a:t>
            </a:r>
            <a:endParaRPr sz="1200" dirty="0"/>
          </a:p>
          <a:p>
            <a:pPr marL="2286000" lvl="4" indent="-304800" algn="l" rtl="0">
              <a:lnSpc>
                <a:spcPct val="115000"/>
              </a:lnSpc>
              <a:spcBef>
                <a:spcPts val="0"/>
              </a:spcBef>
              <a:spcAft>
                <a:spcPts val="0"/>
              </a:spcAft>
              <a:buSzPts val="1200"/>
              <a:buChar char="○"/>
            </a:pPr>
            <a:r>
              <a:rPr lang="en" sz="1200" b="1" i="1" dirty="0">
                <a:solidFill>
                  <a:srgbClr val="FF0000"/>
                </a:solidFill>
              </a:rPr>
              <a:t>Add</a:t>
            </a:r>
            <a:r>
              <a:rPr lang="en" sz="1200" dirty="0">
                <a:solidFill>
                  <a:srgbClr val="FF0000"/>
                </a:solidFill>
              </a:rPr>
              <a:t> </a:t>
            </a:r>
            <a:r>
              <a:rPr lang="en" sz="1200" b="1" i="1" dirty="0">
                <a:solidFill>
                  <a:srgbClr val="FF0000"/>
                </a:solidFill>
              </a:rPr>
              <a:t>N</a:t>
            </a:r>
            <a:r>
              <a:rPr lang="en" sz="1200" dirty="0"/>
              <a:t> to </a:t>
            </a:r>
            <a:r>
              <a:rPr lang="en" sz="1200" b="1" i="1" dirty="0">
                <a:solidFill>
                  <a:srgbClr val="FF0000"/>
                </a:solidFill>
              </a:rPr>
              <a:t>both</a:t>
            </a:r>
            <a:r>
              <a:rPr lang="en" sz="1200" dirty="0">
                <a:solidFill>
                  <a:srgbClr val="FF0000"/>
                </a:solidFill>
              </a:rPr>
              <a:t> </a:t>
            </a:r>
            <a:r>
              <a:rPr lang="en" sz="1200" dirty="0"/>
              <a:t>the set </a:t>
            </a:r>
            <a:r>
              <a:rPr lang="en" sz="1200" b="1" i="1" dirty="0">
                <a:solidFill>
                  <a:srgbClr val="FF0000"/>
                </a:solidFill>
              </a:rPr>
              <a:t>and</a:t>
            </a:r>
            <a:r>
              <a:rPr lang="en" sz="1200" dirty="0">
                <a:solidFill>
                  <a:srgbClr val="FF0000"/>
                </a:solidFill>
              </a:rPr>
              <a:t> </a:t>
            </a:r>
            <a:r>
              <a:rPr lang="en" sz="1200" dirty="0"/>
              <a:t>the queue</a:t>
            </a:r>
            <a:endParaRPr sz="1200" dirty="0"/>
          </a:p>
          <a:p>
            <a:pPr marL="914400" lvl="1" indent="-304800" algn="l" rtl="0">
              <a:lnSpc>
                <a:spcPct val="115000"/>
              </a:lnSpc>
              <a:spcBef>
                <a:spcPts val="0"/>
              </a:spcBef>
              <a:spcAft>
                <a:spcPts val="0"/>
              </a:spcAft>
              <a:buSzPts val="1200"/>
              <a:buChar char="○"/>
            </a:pPr>
            <a:r>
              <a:rPr lang="en" sz="1200" dirty="0"/>
              <a:t>If the queue is </a:t>
            </a:r>
            <a:r>
              <a:rPr lang="en" sz="1200" b="1" i="1" dirty="0">
                <a:solidFill>
                  <a:srgbClr val="FF0000"/>
                </a:solidFill>
              </a:rPr>
              <a:t>empty</a:t>
            </a:r>
            <a:r>
              <a:rPr lang="en" sz="1200" dirty="0"/>
              <a:t>, return </a:t>
            </a:r>
            <a:r>
              <a:rPr lang="en" sz="1200" dirty="0">
                <a:solidFill>
                  <a:srgbClr val="FF0000"/>
                </a:solidFill>
                <a:latin typeface="Courier New"/>
                <a:ea typeface="Courier New"/>
                <a:cs typeface="Courier New"/>
                <a:sym typeface="Courier New"/>
              </a:rPr>
              <a:t>false</a:t>
            </a:r>
            <a:r>
              <a:rPr lang="en" sz="1200" dirty="0"/>
              <a:t>.</a:t>
            </a:r>
            <a:endParaRPr sz="1200" dirty="0"/>
          </a:p>
          <a:p>
            <a:pPr marL="457200" lvl="0" indent="-317500" algn="l" rtl="0">
              <a:lnSpc>
                <a:spcPct val="115000"/>
              </a:lnSpc>
              <a:spcBef>
                <a:spcPts val="0"/>
              </a:spcBef>
              <a:spcAft>
                <a:spcPts val="0"/>
              </a:spcAft>
              <a:buSzPts val="1400"/>
              <a:buChar char="●"/>
            </a:pPr>
            <a:r>
              <a:rPr lang="en" sz="1400" b="1" i="1" dirty="0">
                <a:solidFill>
                  <a:srgbClr val="FF0000"/>
                </a:solidFill>
              </a:rPr>
              <a:t>Test</a:t>
            </a:r>
            <a:r>
              <a:rPr lang="en" sz="1400" dirty="0">
                <a:solidFill>
                  <a:srgbClr val="FF0000"/>
                </a:solidFill>
              </a:rPr>
              <a:t> </a:t>
            </a:r>
            <a:r>
              <a:rPr lang="en" sz="1400" dirty="0"/>
              <a:t>your completed algorithm using the provided </a:t>
            </a:r>
            <a:r>
              <a:rPr lang="en" sz="1400" dirty="0">
                <a:solidFill>
                  <a:srgbClr val="FF0000"/>
                </a:solidFill>
                <a:latin typeface="Courier New"/>
                <a:ea typeface="Courier New"/>
                <a:cs typeface="Courier New"/>
                <a:sym typeface="Courier New"/>
              </a:rPr>
              <a:t>BFSearchTest</a:t>
            </a:r>
            <a:r>
              <a:rPr lang="en" sz="1400" dirty="0"/>
              <a:t>.</a:t>
            </a:r>
            <a:endParaRPr sz="1400" dirty="0"/>
          </a:p>
          <a:p>
            <a:pPr marL="914400" lvl="1" indent="-304800" algn="l" rtl="0">
              <a:lnSpc>
                <a:spcPct val="115000"/>
              </a:lnSpc>
              <a:spcBef>
                <a:spcPts val="0"/>
              </a:spcBef>
              <a:spcAft>
                <a:spcPts val="0"/>
              </a:spcAft>
              <a:buSzPts val="1200"/>
              <a:buChar char="○"/>
            </a:pPr>
            <a:r>
              <a:rPr lang="en" sz="1200" b="1" i="1" dirty="0">
                <a:solidFill>
                  <a:srgbClr val="FF0000"/>
                </a:solidFill>
              </a:rPr>
              <a:t>All</a:t>
            </a:r>
            <a:r>
              <a:rPr lang="en" sz="1200" dirty="0">
                <a:solidFill>
                  <a:srgbClr val="FF0000"/>
                </a:solidFill>
              </a:rPr>
              <a:t> </a:t>
            </a:r>
            <a:r>
              <a:rPr lang="en" sz="1200" dirty="0"/>
              <a:t>of the tests should now pass.</a:t>
            </a:r>
            <a:endParaRPr sz="1200" dirty="0"/>
          </a:p>
        </p:txBody>
      </p:sp>
      <p:sp>
        <p:nvSpPr>
          <p:cNvPr id="1531" name="Google Shape;1531;p67"/>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12.13</a:t>
            </a:r>
            <a:endParaRPr/>
          </a:p>
        </p:txBody>
      </p:sp>
      <p:pic>
        <p:nvPicPr>
          <p:cNvPr id="1532" name="Google Shape;1532;p67"/>
          <p:cNvPicPr preferRelativeResize="0"/>
          <p:nvPr/>
        </p:nvPicPr>
        <p:blipFill rotWithShape="1">
          <a:blip r:embed="rId3">
            <a:alphaModFix/>
          </a:blip>
          <a:srcRect/>
          <a:stretch/>
        </p:blipFill>
        <p:spPr>
          <a:xfrm>
            <a:off x="152400" y="1821375"/>
            <a:ext cx="2376599" cy="27598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36"/>
        <p:cNvGrpSpPr/>
        <p:nvPr/>
      </p:nvGrpSpPr>
      <p:grpSpPr>
        <a:xfrm>
          <a:off x="0" y="0"/>
          <a:ext cx="0" cy="0"/>
          <a:chOff x="0" y="0"/>
          <a:chExt cx="0" cy="0"/>
        </a:xfrm>
      </p:grpSpPr>
      <p:sp>
        <p:nvSpPr>
          <p:cNvPr id="1537" name="Google Shape;1537;p68"/>
          <p:cNvSpPr txBox="1">
            <a:spLocks noGrp="1"/>
          </p:cNvSpPr>
          <p:nvPr>
            <p:ph type="title"/>
          </p:nvPr>
        </p:nvSpPr>
        <p:spPr>
          <a:xfrm>
            <a:off x="4959925" y="56568"/>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Building a path </a:t>
            </a:r>
            <a:endParaRPr/>
          </a:p>
        </p:txBody>
      </p:sp>
      <p:sp>
        <p:nvSpPr>
          <p:cNvPr id="1538" name="Google Shape;1538;p68"/>
          <p:cNvSpPr txBox="1">
            <a:spLocks noGrp="1"/>
          </p:cNvSpPr>
          <p:nvPr>
            <p:ph type="body" idx="1"/>
          </p:nvPr>
        </p:nvSpPr>
        <p:spPr>
          <a:xfrm>
            <a:off x="301275" y="43725"/>
            <a:ext cx="4388100" cy="49716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The</a:t>
            </a:r>
            <a:r>
              <a:rPr lang="en" dirty="0">
                <a:solidFill>
                  <a:srgbClr val="FF0000"/>
                </a:solidFill>
              </a:rPr>
              <a:t> </a:t>
            </a:r>
            <a:r>
              <a:rPr lang="en" b="1" i="1" dirty="0">
                <a:solidFill>
                  <a:srgbClr val="FF0000"/>
                </a:solidFill>
              </a:rPr>
              <a:t>breadth-first search</a:t>
            </a:r>
            <a:r>
              <a:rPr lang="en" dirty="0"/>
              <a:t> algorithm that we implemented determines whether or not a path </a:t>
            </a:r>
            <a:r>
              <a:rPr lang="en" b="1" i="1" dirty="0">
                <a:solidFill>
                  <a:srgbClr val="FF0000"/>
                </a:solidFill>
              </a:rPr>
              <a:t>exists</a:t>
            </a:r>
            <a:r>
              <a:rPr lang="en" dirty="0">
                <a:solidFill>
                  <a:srgbClr val="FF0000"/>
                </a:solidFill>
              </a:rPr>
              <a:t> </a:t>
            </a:r>
            <a:r>
              <a:rPr lang="en" dirty="0"/>
              <a:t>between two vertices in the graph, but it doesn't tell us what the path </a:t>
            </a:r>
            <a:r>
              <a:rPr lang="en" b="1" i="1" dirty="0">
                <a:solidFill>
                  <a:srgbClr val="FF0000"/>
                </a:solidFill>
              </a:rPr>
              <a:t>actually is</a:t>
            </a:r>
            <a:r>
              <a:rPr lang="en" dirty="0"/>
              <a:t>.</a:t>
            </a:r>
            <a:endParaRPr dirty="0"/>
          </a:p>
          <a:p>
            <a:pPr marL="914400" lvl="1" indent="-298450" algn="l" rtl="0">
              <a:lnSpc>
                <a:spcPct val="100000"/>
              </a:lnSpc>
              <a:spcBef>
                <a:spcPts val="0"/>
              </a:spcBef>
              <a:spcAft>
                <a:spcPts val="0"/>
              </a:spcAft>
              <a:buSzPts val="1100"/>
              <a:buChar char="○"/>
            </a:pPr>
            <a:r>
              <a:rPr lang="en" dirty="0"/>
              <a:t>It's useful to know that we can get from </a:t>
            </a:r>
            <a:r>
              <a:rPr lang="en" dirty="0">
                <a:highlight>
                  <a:srgbClr val="FFFF00"/>
                </a:highlight>
              </a:rPr>
              <a:t>ROC to LAX, </a:t>
            </a:r>
            <a:r>
              <a:rPr lang="en" dirty="0"/>
              <a:t>but we can't book the trip if we don't know through which airports to fly!</a:t>
            </a:r>
            <a:endParaRPr dirty="0"/>
          </a:p>
          <a:p>
            <a:pPr marL="457200" lvl="0" indent="-311150" algn="l" rtl="0">
              <a:lnSpc>
                <a:spcPct val="100000"/>
              </a:lnSpc>
              <a:spcBef>
                <a:spcPts val="1000"/>
              </a:spcBef>
              <a:spcAft>
                <a:spcPts val="0"/>
              </a:spcAft>
              <a:buSzPts val="1300"/>
              <a:buChar char="●"/>
            </a:pPr>
            <a:r>
              <a:rPr lang="en" dirty="0"/>
              <a:t>Recall that, for each neighbor </a:t>
            </a:r>
            <a:r>
              <a:rPr lang="en" b="1" i="1" dirty="0">
                <a:solidFill>
                  <a:srgbClr val="FF0000"/>
                </a:solidFill>
              </a:rPr>
              <a:t>N</a:t>
            </a:r>
            <a:r>
              <a:rPr lang="en" dirty="0"/>
              <a:t> of vertex</a:t>
            </a:r>
            <a:r>
              <a:rPr lang="en" dirty="0">
                <a:solidFill>
                  <a:srgbClr val="FF0000"/>
                </a:solidFill>
              </a:rPr>
              <a:t> </a:t>
            </a:r>
            <a:r>
              <a:rPr lang="en" b="1" i="1" dirty="0">
                <a:solidFill>
                  <a:srgbClr val="FF0000"/>
                </a:solidFill>
              </a:rPr>
              <a:t>V</a:t>
            </a:r>
            <a:r>
              <a:rPr lang="en" dirty="0"/>
              <a:t>:</a:t>
            </a:r>
            <a:endParaRPr dirty="0"/>
          </a:p>
          <a:p>
            <a:pPr marL="914400" lvl="1" indent="-298450" algn="l" rtl="0">
              <a:lnSpc>
                <a:spcPct val="100000"/>
              </a:lnSpc>
              <a:spcBef>
                <a:spcPts val="0"/>
              </a:spcBef>
              <a:spcAft>
                <a:spcPts val="0"/>
              </a:spcAft>
              <a:buSzPts val="1100"/>
              <a:buChar char="○"/>
            </a:pPr>
            <a:r>
              <a:rPr lang="en" dirty="0"/>
              <a:t>If </a:t>
            </a:r>
            <a:r>
              <a:rPr lang="en" b="1" i="1" dirty="0">
                <a:solidFill>
                  <a:srgbClr val="FF0000"/>
                </a:solidFill>
              </a:rPr>
              <a:t>N</a:t>
            </a:r>
            <a:r>
              <a:rPr lang="en" dirty="0"/>
              <a:t> is not already in the set, this is the </a:t>
            </a:r>
            <a:r>
              <a:rPr lang="en" b="1" i="1" dirty="0">
                <a:solidFill>
                  <a:srgbClr val="FF0000"/>
                </a:solidFill>
              </a:rPr>
              <a:t>first time</a:t>
            </a:r>
            <a:r>
              <a:rPr lang="en" dirty="0">
                <a:solidFill>
                  <a:srgbClr val="FF0000"/>
                </a:solidFill>
              </a:rPr>
              <a:t> </a:t>
            </a:r>
            <a:r>
              <a:rPr lang="en" dirty="0"/>
              <a:t>that we have seen</a:t>
            </a:r>
            <a:r>
              <a:rPr lang="en" dirty="0">
                <a:solidFill>
                  <a:srgbClr val="FF0000"/>
                </a:solidFill>
              </a:rPr>
              <a:t> </a:t>
            </a:r>
            <a:r>
              <a:rPr lang="en" b="1" i="1" dirty="0">
                <a:solidFill>
                  <a:srgbClr val="FF0000"/>
                </a:solidFill>
              </a:rPr>
              <a:t>N</a:t>
            </a:r>
            <a:r>
              <a:rPr lang="en" dirty="0"/>
              <a:t>.</a:t>
            </a:r>
            <a:endParaRPr dirty="0"/>
          </a:p>
          <a:p>
            <a:pPr marL="914400" lvl="1" indent="-298450" algn="l" rtl="0">
              <a:lnSpc>
                <a:spcPct val="100000"/>
              </a:lnSpc>
              <a:spcBef>
                <a:spcPts val="0"/>
              </a:spcBef>
              <a:spcAft>
                <a:spcPts val="0"/>
              </a:spcAft>
              <a:buSzPts val="1100"/>
              <a:buChar char="○"/>
            </a:pPr>
            <a:r>
              <a:rPr lang="en" dirty="0"/>
              <a:t>This means that </a:t>
            </a:r>
            <a:r>
              <a:rPr lang="en" b="1" i="1" dirty="0">
                <a:solidFill>
                  <a:srgbClr val="FF0000"/>
                </a:solidFill>
              </a:rPr>
              <a:t>V</a:t>
            </a:r>
            <a:r>
              <a:rPr lang="en" dirty="0"/>
              <a:t> is </a:t>
            </a:r>
            <a:r>
              <a:rPr lang="en" b="1" i="1" dirty="0">
                <a:solidFill>
                  <a:srgbClr val="FF0000"/>
                </a:solidFill>
              </a:rPr>
              <a:t>N</a:t>
            </a:r>
            <a:r>
              <a:rPr lang="en" dirty="0"/>
              <a:t>'s </a:t>
            </a:r>
            <a:r>
              <a:rPr lang="en" b="1" i="1" dirty="0">
                <a:solidFill>
                  <a:srgbClr val="FF0000"/>
                </a:solidFill>
              </a:rPr>
              <a:t>predecessor</a:t>
            </a:r>
            <a:r>
              <a:rPr lang="en" dirty="0">
                <a:solidFill>
                  <a:srgbClr val="FF0000"/>
                </a:solidFill>
              </a:rPr>
              <a:t> </a:t>
            </a:r>
            <a:r>
              <a:rPr lang="en" dirty="0"/>
              <a:t>along the path (if it exists) - </a:t>
            </a:r>
            <a:r>
              <a:rPr lang="en" b="1" i="1" dirty="0">
                <a:solidFill>
                  <a:srgbClr val="FF0000"/>
                </a:solidFill>
              </a:rPr>
              <a:t>V</a:t>
            </a:r>
            <a:r>
              <a:rPr lang="en" dirty="0"/>
              <a:t> is the vertex through which we </a:t>
            </a:r>
            <a:r>
              <a:rPr lang="en" b="1" i="1" dirty="0">
                <a:solidFill>
                  <a:srgbClr val="FF0000"/>
                </a:solidFill>
              </a:rPr>
              <a:t>first discovered N</a:t>
            </a:r>
            <a:r>
              <a:rPr lang="en" dirty="0"/>
              <a:t>.</a:t>
            </a:r>
            <a:endParaRPr dirty="0"/>
          </a:p>
          <a:p>
            <a:pPr marL="457200" lvl="0" indent="-311150" algn="l" rtl="0">
              <a:lnSpc>
                <a:spcPct val="100000"/>
              </a:lnSpc>
              <a:spcBef>
                <a:spcPts val="1000"/>
              </a:spcBef>
              <a:spcAft>
                <a:spcPts val="0"/>
              </a:spcAft>
              <a:buSzPts val="1300"/>
              <a:buChar char="●"/>
            </a:pPr>
            <a:r>
              <a:rPr lang="en" dirty="0"/>
              <a:t>We will need to make a </a:t>
            </a:r>
            <a:r>
              <a:rPr lang="en" b="1" i="1" dirty="0">
                <a:solidFill>
                  <a:srgbClr val="FF0000"/>
                </a:solidFill>
              </a:rPr>
              <a:t>small</a:t>
            </a:r>
            <a:r>
              <a:rPr lang="en" dirty="0">
                <a:solidFill>
                  <a:srgbClr val="FF0000"/>
                </a:solidFill>
              </a:rPr>
              <a:t> </a:t>
            </a:r>
            <a:r>
              <a:rPr lang="en" dirty="0"/>
              <a:t>change to the BFS algorithm so that it not only keeps track of every vertex, but also its </a:t>
            </a:r>
            <a:r>
              <a:rPr lang="en" b="1" i="1" dirty="0">
                <a:solidFill>
                  <a:srgbClr val="FF0000"/>
                </a:solidFill>
              </a:rPr>
              <a:t>predecessor</a:t>
            </a:r>
            <a:r>
              <a:rPr lang="en" dirty="0"/>
              <a:t>.</a:t>
            </a:r>
            <a:endParaRPr dirty="0"/>
          </a:p>
          <a:p>
            <a:pPr marL="914400" lvl="1" indent="-298450" algn="l" rtl="0">
              <a:lnSpc>
                <a:spcPct val="100000"/>
              </a:lnSpc>
              <a:spcBef>
                <a:spcPts val="0"/>
              </a:spcBef>
              <a:spcAft>
                <a:spcPts val="0"/>
              </a:spcAft>
              <a:buSzPts val="1100"/>
              <a:buChar char="○"/>
            </a:pPr>
            <a:r>
              <a:rPr lang="en" dirty="0"/>
              <a:t>We will use a </a:t>
            </a:r>
            <a:r>
              <a:rPr lang="en" b="1" i="1" dirty="0">
                <a:solidFill>
                  <a:srgbClr val="FF0000"/>
                </a:solidFill>
              </a:rPr>
              <a:t>map</a:t>
            </a:r>
            <a:r>
              <a:rPr lang="en" dirty="0">
                <a:solidFill>
                  <a:srgbClr val="FF0000"/>
                </a:solidFill>
              </a:rPr>
              <a:t> </a:t>
            </a:r>
            <a:r>
              <a:rPr lang="en" dirty="0"/>
              <a:t>instead of a </a:t>
            </a:r>
            <a:r>
              <a:rPr lang="en" b="1" i="1" dirty="0">
                <a:solidFill>
                  <a:srgbClr val="FF0000"/>
                </a:solidFill>
              </a:rPr>
              <a:t>set</a:t>
            </a:r>
            <a:r>
              <a:rPr lang="en" dirty="0">
                <a:solidFill>
                  <a:srgbClr val="FF0000"/>
                </a:solidFill>
              </a:rPr>
              <a:t> </a:t>
            </a:r>
            <a:r>
              <a:rPr lang="en" dirty="0"/>
              <a:t>where the </a:t>
            </a:r>
            <a:r>
              <a:rPr lang="en" b="1" i="1" dirty="0">
                <a:solidFill>
                  <a:srgbClr val="FF0000"/>
                </a:solidFill>
              </a:rPr>
              <a:t>key</a:t>
            </a:r>
            <a:r>
              <a:rPr lang="en" dirty="0">
                <a:solidFill>
                  <a:srgbClr val="FF0000"/>
                </a:solidFill>
              </a:rPr>
              <a:t> </a:t>
            </a:r>
            <a:r>
              <a:rPr lang="en" dirty="0"/>
              <a:t>is the </a:t>
            </a:r>
            <a:r>
              <a:rPr lang="en" b="1" i="1" dirty="0">
                <a:solidFill>
                  <a:srgbClr val="FF0000"/>
                </a:solidFill>
              </a:rPr>
              <a:t>vertex </a:t>
            </a:r>
            <a:r>
              <a:rPr lang="en" dirty="0"/>
              <a:t>and the </a:t>
            </a:r>
            <a:r>
              <a:rPr lang="en" b="1" i="1" dirty="0">
                <a:solidFill>
                  <a:srgbClr val="FF0000"/>
                </a:solidFill>
              </a:rPr>
              <a:t>value</a:t>
            </a:r>
            <a:r>
              <a:rPr lang="en" dirty="0">
                <a:solidFill>
                  <a:srgbClr val="FF0000"/>
                </a:solidFill>
              </a:rPr>
              <a:t> </a:t>
            </a:r>
            <a:r>
              <a:rPr lang="en" dirty="0"/>
              <a:t>is its </a:t>
            </a:r>
            <a:r>
              <a:rPr lang="en" b="1" i="1" dirty="0">
                <a:solidFill>
                  <a:srgbClr val="FF0000"/>
                </a:solidFill>
              </a:rPr>
              <a:t>predecessor</a:t>
            </a:r>
            <a:r>
              <a:rPr lang="en" dirty="0"/>
              <a:t>.</a:t>
            </a:r>
            <a:endParaRPr dirty="0"/>
          </a:p>
          <a:p>
            <a:pPr marL="914400" lvl="1" indent="-298450" algn="l" rtl="0">
              <a:lnSpc>
                <a:spcPct val="100000"/>
              </a:lnSpc>
              <a:spcBef>
                <a:spcPts val="0"/>
              </a:spcBef>
              <a:spcAft>
                <a:spcPts val="0"/>
              </a:spcAft>
              <a:buSzPts val="1100"/>
              <a:buChar char="○"/>
            </a:pPr>
            <a:r>
              <a:rPr lang="en" dirty="0"/>
              <a:t>In other words, for each neighbor </a:t>
            </a:r>
            <a:r>
              <a:rPr lang="en" b="1" i="1" dirty="0">
                <a:solidFill>
                  <a:srgbClr val="FF0000"/>
                </a:solidFill>
              </a:rPr>
              <a:t>N</a:t>
            </a:r>
            <a:r>
              <a:rPr lang="en" dirty="0"/>
              <a:t> of vertex </a:t>
            </a:r>
            <a:r>
              <a:rPr lang="en" b="1" i="1" dirty="0">
                <a:solidFill>
                  <a:srgbClr val="FF0000"/>
                </a:solidFill>
              </a:rPr>
              <a:t>V</a:t>
            </a:r>
            <a:r>
              <a:rPr lang="en" dirty="0"/>
              <a:t>, if </a:t>
            </a:r>
            <a:r>
              <a:rPr lang="en" b="1" i="1" dirty="0">
                <a:solidFill>
                  <a:srgbClr val="FF0000"/>
                </a:solidFill>
              </a:rPr>
              <a:t>N</a:t>
            </a:r>
            <a:r>
              <a:rPr lang="en" dirty="0"/>
              <a:t> is not already in the map, we will put the </a:t>
            </a:r>
            <a:r>
              <a:rPr lang="en" b="1" i="1" dirty="0">
                <a:solidFill>
                  <a:srgbClr val="FF0000"/>
                </a:solidFill>
              </a:rPr>
              <a:t>N:V</a:t>
            </a:r>
            <a:r>
              <a:rPr lang="en" b="1" i="1" dirty="0"/>
              <a:t> </a:t>
            </a:r>
            <a:r>
              <a:rPr lang="en" dirty="0"/>
              <a:t>pair into the map.</a:t>
            </a:r>
            <a:endParaRPr dirty="0"/>
          </a:p>
          <a:p>
            <a:pPr marL="457200" lvl="0" indent="-311150" algn="l" rtl="0">
              <a:lnSpc>
                <a:spcPct val="100000"/>
              </a:lnSpc>
              <a:spcBef>
                <a:spcPts val="1000"/>
              </a:spcBef>
              <a:spcAft>
                <a:spcPts val="0"/>
              </a:spcAft>
              <a:buSzPts val="1300"/>
              <a:buChar char="●"/>
            </a:pPr>
            <a:r>
              <a:rPr lang="en" dirty="0"/>
              <a:t>This will allow us to reverse engineer vertices along the path (if it exists) by working </a:t>
            </a:r>
            <a:r>
              <a:rPr lang="en" b="1" i="1" dirty="0">
                <a:solidFill>
                  <a:srgbClr val="FF0000"/>
                </a:solidFill>
              </a:rPr>
              <a:t>backwards</a:t>
            </a:r>
            <a:r>
              <a:rPr lang="en" dirty="0">
                <a:solidFill>
                  <a:srgbClr val="FF0000"/>
                </a:solidFill>
              </a:rPr>
              <a:t> </a:t>
            </a:r>
            <a:r>
              <a:rPr lang="en" dirty="0"/>
              <a:t>through the map.</a:t>
            </a:r>
            <a:endParaRPr dirty="0"/>
          </a:p>
        </p:txBody>
      </p:sp>
      <p:sp>
        <p:nvSpPr>
          <p:cNvPr id="1539" name="Google Shape;1539;p68"/>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
              <a:t>35</a:t>
            </a:fld>
            <a:endParaRPr/>
          </a:p>
        </p:txBody>
      </p:sp>
      <p:grpSp>
        <p:nvGrpSpPr>
          <p:cNvPr id="1540" name="Google Shape;1540;p68"/>
          <p:cNvGrpSpPr/>
          <p:nvPr/>
        </p:nvGrpSpPr>
        <p:grpSpPr>
          <a:xfrm>
            <a:off x="6814585" y="623472"/>
            <a:ext cx="2180058" cy="2162415"/>
            <a:chOff x="5900277" y="743776"/>
            <a:chExt cx="2727118" cy="2705047"/>
          </a:xfrm>
        </p:grpSpPr>
        <p:sp>
          <p:nvSpPr>
            <p:cNvPr id="1541" name="Google Shape;1541;p68"/>
            <p:cNvSpPr/>
            <p:nvPr/>
          </p:nvSpPr>
          <p:spPr>
            <a:xfrm>
              <a:off x="6072743" y="743776"/>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542" name="Google Shape;1542;p68"/>
            <p:cNvSpPr/>
            <p:nvPr/>
          </p:nvSpPr>
          <p:spPr>
            <a:xfrm>
              <a:off x="7213995" y="106668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543" name="Google Shape;1543;p68"/>
            <p:cNvSpPr/>
            <p:nvPr/>
          </p:nvSpPr>
          <p:spPr>
            <a:xfrm>
              <a:off x="5900277" y="19409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544" name="Google Shape;1544;p68"/>
            <p:cNvSpPr/>
            <p:nvPr/>
          </p:nvSpPr>
          <p:spPr>
            <a:xfrm>
              <a:off x="7108281" y="2181542"/>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545" name="Google Shape;1545;p68"/>
            <p:cNvSpPr/>
            <p:nvPr/>
          </p:nvSpPr>
          <p:spPr>
            <a:xfrm>
              <a:off x="7936395" y="29268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546" name="Google Shape;1546;p68"/>
            <p:cNvCxnSpPr>
              <a:stCxn id="1541" idx="6"/>
              <a:endCxn id="1542" idx="1"/>
            </p:cNvCxnSpPr>
            <p:nvPr/>
          </p:nvCxnSpPr>
          <p:spPr>
            <a:xfrm>
              <a:off x="6594743" y="1004776"/>
              <a:ext cx="695700" cy="138300"/>
            </a:xfrm>
            <a:prstGeom prst="straightConnector1">
              <a:avLst/>
            </a:prstGeom>
            <a:noFill/>
            <a:ln w="19050" cap="flat" cmpd="sng">
              <a:solidFill>
                <a:srgbClr val="FFFFFF"/>
              </a:solidFill>
              <a:prstDash val="solid"/>
              <a:round/>
              <a:headEnd type="none" w="sm" len="sm"/>
              <a:tailEnd type="none" w="sm" len="sm"/>
            </a:ln>
          </p:spPr>
        </p:cxnSp>
        <p:cxnSp>
          <p:nvCxnSpPr>
            <p:cNvPr id="1547" name="Google Shape;1547;p68"/>
            <p:cNvCxnSpPr>
              <a:stCxn id="1541" idx="4"/>
              <a:endCxn id="1543" idx="0"/>
            </p:cNvCxnSpPr>
            <p:nvPr/>
          </p:nvCxnSpPr>
          <p:spPr>
            <a:xfrm flipH="1">
              <a:off x="6161243" y="1265776"/>
              <a:ext cx="172500" cy="675000"/>
            </a:xfrm>
            <a:prstGeom prst="straightConnector1">
              <a:avLst/>
            </a:prstGeom>
            <a:noFill/>
            <a:ln w="19050" cap="flat" cmpd="sng">
              <a:solidFill>
                <a:srgbClr val="FFFFFF"/>
              </a:solidFill>
              <a:prstDash val="solid"/>
              <a:round/>
              <a:headEnd type="none" w="sm" len="sm"/>
              <a:tailEnd type="none" w="sm" len="sm"/>
            </a:ln>
          </p:spPr>
        </p:cxnSp>
        <p:cxnSp>
          <p:nvCxnSpPr>
            <p:cNvPr id="1548" name="Google Shape;1548;p68"/>
            <p:cNvCxnSpPr>
              <a:stCxn id="1543" idx="5"/>
              <a:endCxn id="1544" idx="2"/>
            </p:cNvCxnSpPr>
            <p:nvPr/>
          </p:nvCxnSpPr>
          <p:spPr>
            <a:xfrm>
              <a:off x="6345832" y="2386478"/>
              <a:ext cx="762300" cy="56100"/>
            </a:xfrm>
            <a:prstGeom prst="straightConnector1">
              <a:avLst/>
            </a:prstGeom>
            <a:noFill/>
            <a:ln w="19050" cap="flat" cmpd="sng">
              <a:solidFill>
                <a:srgbClr val="FFFFFF"/>
              </a:solidFill>
              <a:prstDash val="solid"/>
              <a:round/>
              <a:headEnd type="none" w="sm" len="sm"/>
              <a:tailEnd type="none" w="sm" len="sm"/>
            </a:ln>
          </p:spPr>
        </p:cxnSp>
        <p:cxnSp>
          <p:nvCxnSpPr>
            <p:cNvPr id="1549" name="Google Shape;1549;p68"/>
            <p:cNvCxnSpPr>
              <a:stCxn id="1544" idx="5"/>
              <a:endCxn id="1545" idx="1"/>
            </p:cNvCxnSpPr>
            <p:nvPr/>
          </p:nvCxnSpPr>
          <p:spPr>
            <a:xfrm>
              <a:off x="7553836" y="2627097"/>
              <a:ext cx="459000" cy="376200"/>
            </a:xfrm>
            <a:prstGeom prst="straightConnector1">
              <a:avLst/>
            </a:prstGeom>
            <a:noFill/>
            <a:ln w="19050" cap="flat" cmpd="sng">
              <a:solidFill>
                <a:srgbClr val="FFFFFF"/>
              </a:solidFill>
              <a:prstDash val="solid"/>
              <a:round/>
              <a:headEnd type="none" w="sm" len="sm"/>
              <a:tailEnd type="none" w="sm" len="sm"/>
            </a:ln>
          </p:spPr>
        </p:cxnSp>
        <p:sp>
          <p:nvSpPr>
            <p:cNvPr id="1550" name="Google Shape;1550;p68"/>
            <p:cNvSpPr/>
            <p:nvPr/>
          </p:nvSpPr>
          <p:spPr>
            <a:xfrm>
              <a:off x="8105395" y="1673623"/>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551" name="Google Shape;1551;p68"/>
            <p:cNvCxnSpPr>
              <a:stCxn id="1544" idx="6"/>
              <a:endCxn id="1550" idx="3"/>
            </p:cNvCxnSpPr>
            <p:nvPr/>
          </p:nvCxnSpPr>
          <p:spPr>
            <a:xfrm rot="10800000" flipH="1">
              <a:off x="7630281" y="2119142"/>
              <a:ext cx="551700" cy="323400"/>
            </a:xfrm>
            <a:prstGeom prst="straightConnector1">
              <a:avLst/>
            </a:prstGeom>
            <a:noFill/>
            <a:ln w="19050" cap="flat" cmpd="sng">
              <a:solidFill>
                <a:srgbClr val="FFFFFF"/>
              </a:solidFill>
              <a:prstDash val="solid"/>
              <a:round/>
              <a:headEnd type="none" w="sm" len="sm"/>
              <a:tailEnd type="none" w="sm" len="sm"/>
            </a:ln>
          </p:spPr>
        </p:cxnSp>
      </p:grpSp>
      <p:graphicFrame>
        <p:nvGraphicFramePr>
          <p:cNvPr id="1552" name="Google Shape;1552;p68"/>
          <p:cNvGraphicFramePr/>
          <p:nvPr/>
        </p:nvGraphicFramePr>
        <p:xfrm>
          <a:off x="5158725" y="2102822"/>
          <a:ext cx="2381200" cy="234675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553" name="Google Shape;1553;p68"/>
          <p:cNvGraphicFramePr/>
          <p:nvPr/>
        </p:nvGraphicFramePr>
        <p:xfrm>
          <a:off x="5188525" y="4559582"/>
          <a:ext cx="3301050" cy="396210"/>
        </p:xfrm>
        <a:graphic>
          <a:graphicData uri="http://schemas.openxmlformats.org/drawingml/2006/table">
            <a:tbl>
              <a:tblPr>
                <a:noFill/>
                <a:tableStyleId>{F61E8307-4E6B-4154-8BF4-D3231BAD3CED}</a:tableStyleId>
              </a:tblPr>
              <a:tblGrid>
                <a:gridCol w="807750">
                  <a:extLst>
                    <a:ext uri="{9D8B030D-6E8A-4147-A177-3AD203B41FA5}">
                      <a16:colId xmlns:a16="http://schemas.microsoft.com/office/drawing/2014/main" val="20000"/>
                    </a:ext>
                  </a:extLst>
                </a:gridCol>
                <a:gridCol w="415550">
                  <a:extLst>
                    <a:ext uri="{9D8B030D-6E8A-4147-A177-3AD203B41FA5}">
                      <a16:colId xmlns:a16="http://schemas.microsoft.com/office/drawing/2014/main" val="20001"/>
                    </a:ext>
                  </a:extLst>
                </a:gridCol>
                <a:gridCol w="415550">
                  <a:extLst>
                    <a:ext uri="{9D8B030D-6E8A-4147-A177-3AD203B41FA5}">
                      <a16:colId xmlns:a16="http://schemas.microsoft.com/office/drawing/2014/main" val="20002"/>
                    </a:ext>
                  </a:extLst>
                </a:gridCol>
                <a:gridCol w="415550">
                  <a:extLst>
                    <a:ext uri="{9D8B030D-6E8A-4147-A177-3AD203B41FA5}">
                      <a16:colId xmlns:a16="http://schemas.microsoft.com/office/drawing/2014/main" val="20003"/>
                    </a:ext>
                  </a:extLst>
                </a:gridCol>
                <a:gridCol w="415550">
                  <a:extLst>
                    <a:ext uri="{9D8B030D-6E8A-4147-A177-3AD203B41FA5}">
                      <a16:colId xmlns:a16="http://schemas.microsoft.com/office/drawing/2014/main" val="20004"/>
                    </a:ext>
                  </a:extLst>
                </a:gridCol>
                <a:gridCol w="415550">
                  <a:extLst>
                    <a:ext uri="{9D8B030D-6E8A-4147-A177-3AD203B41FA5}">
                      <a16:colId xmlns:a16="http://schemas.microsoft.com/office/drawing/2014/main" val="20005"/>
                    </a:ext>
                  </a:extLst>
                </a:gridCol>
                <a:gridCol w="415550">
                  <a:extLst>
                    <a:ext uri="{9D8B030D-6E8A-4147-A177-3AD203B41FA5}">
                      <a16:colId xmlns:a16="http://schemas.microsoft.com/office/drawing/2014/main" val="20006"/>
                    </a:ext>
                  </a:extLst>
                </a:gridCol>
              </a:tblGrid>
              <a:tr h="381000">
                <a:tc>
                  <a:txBody>
                    <a:bodyPr/>
                    <a:lstStyle/>
                    <a:p>
                      <a:pPr marL="0" marR="0" lvl="0" indent="0" algn="r"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F to B</a:t>
                      </a:r>
                      <a:endParaRPr sz="1400" u="none" strike="noStrike" cap="none">
                        <a:solidFill>
                          <a:srgbClr val="FFFFFF"/>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
        <p:nvSpPr>
          <p:cNvPr id="1554" name="Google Shape;1554;p68"/>
          <p:cNvSpPr txBox="1"/>
          <p:nvPr/>
        </p:nvSpPr>
        <p:spPr>
          <a:xfrm>
            <a:off x="6026086" y="454751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555" name="Google Shape;1555;p68"/>
          <p:cNvSpPr txBox="1"/>
          <p:nvPr/>
        </p:nvSpPr>
        <p:spPr>
          <a:xfrm>
            <a:off x="6012932" y="45727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556" name="Google Shape;1556;p68"/>
          <p:cNvGrpSpPr/>
          <p:nvPr/>
        </p:nvGrpSpPr>
        <p:grpSpPr>
          <a:xfrm>
            <a:off x="5544057" y="2413047"/>
            <a:ext cx="1995967" cy="393613"/>
            <a:chOff x="5544057" y="2413047"/>
            <a:chExt cx="1995967" cy="393613"/>
          </a:xfrm>
        </p:grpSpPr>
        <p:sp>
          <p:nvSpPr>
            <p:cNvPr id="1557" name="Google Shape;1557;p68"/>
            <p:cNvSpPr txBox="1"/>
            <p:nvPr/>
          </p:nvSpPr>
          <p:spPr>
            <a:xfrm>
              <a:off x="5544057" y="241306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558" name="Google Shape;1558;p68"/>
            <p:cNvSpPr txBox="1"/>
            <p:nvPr/>
          </p:nvSpPr>
          <p:spPr>
            <a:xfrm>
              <a:off x="6349324" y="2413047"/>
              <a:ext cx="11907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null</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559" name="Google Shape;1559;p68"/>
          <p:cNvGrpSpPr/>
          <p:nvPr/>
        </p:nvGrpSpPr>
        <p:grpSpPr>
          <a:xfrm>
            <a:off x="5544057" y="2730703"/>
            <a:ext cx="1668300" cy="2210413"/>
            <a:chOff x="5544057" y="2730703"/>
            <a:chExt cx="1668300" cy="2210413"/>
          </a:xfrm>
        </p:grpSpPr>
        <p:grpSp>
          <p:nvGrpSpPr>
            <p:cNvPr id="1560" name="Google Shape;1560;p68"/>
            <p:cNvGrpSpPr/>
            <p:nvPr/>
          </p:nvGrpSpPr>
          <p:grpSpPr>
            <a:xfrm>
              <a:off x="5544057" y="2730703"/>
              <a:ext cx="1566414" cy="742493"/>
              <a:chOff x="5544057" y="2730703"/>
              <a:chExt cx="1566414" cy="742493"/>
            </a:xfrm>
          </p:grpSpPr>
          <p:sp>
            <p:nvSpPr>
              <p:cNvPr id="1561" name="Google Shape;1561;p68"/>
              <p:cNvSpPr txBox="1"/>
              <p:nvPr/>
            </p:nvSpPr>
            <p:spPr>
              <a:xfrm>
                <a:off x="5544057" y="2749967"/>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562" name="Google Shape;1562;p68"/>
              <p:cNvSpPr txBox="1"/>
              <p:nvPr/>
            </p:nvSpPr>
            <p:spPr>
              <a:xfrm>
                <a:off x="5544057" y="307959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sp>
            <p:nvSpPr>
              <p:cNvPr id="1563" name="Google Shape;1563;p68"/>
              <p:cNvSpPr txBox="1"/>
              <p:nvPr/>
            </p:nvSpPr>
            <p:spPr>
              <a:xfrm>
                <a:off x="6737571" y="273070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564" name="Google Shape;1564;p68"/>
              <p:cNvSpPr txBox="1"/>
              <p:nvPr/>
            </p:nvSpPr>
            <p:spPr>
              <a:xfrm>
                <a:off x="6737571" y="307959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565" name="Google Shape;1565;p68"/>
            <p:cNvGrpSpPr/>
            <p:nvPr/>
          </p:nvGrpSpPr>
          <p:grpSpPr>
            <a:xfrm>
              <a:off x="6432771" y="4547516"/>
              <a:ext cx="779586" cy="393600"/>
              <a:chOff x="6432771" y="4547516"/>
              <a:chExt cx="779586" cy="393600"/>
            </a:xfrm>
          </p:grpSpPr>
          <p:sp>
            <p:nvSpPr>
              <p:cNvPr id="1566" name="Google Shape;1566;p68"/>
              <p:cNvSpPr txBox="1"/>
              <p:nvPr/>
            </p:nvSpPr>
            <p:spPr>
              <a:xfrm>
                <a:off x="6432771" y="454751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567" name="Google Shape;1567;p68"/>
              <p:cNvSpPr txBox="1"/>
              <p:nvPr/>
            </p:nvSpPr>
            <p:spPr>
              <a:xfrm>
                <a:off x="6839457" y="454751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grpSp>
      </p:grpSp>
      <p:grpSp>
        <p:nvGrpSpPr>
          <p:cNvPr id="1568" name="Google Shape;1568;p68"/>
          <p:cNvGrpSpPr/>
          <p:nvPr/>
        </p:nvGrpSpPr>
        <p:grpSpPr>
          <a:xfrm>
            <a:off x="5544057" y="3403660"/>
            <a:ext cx="2093393" cy="1537456"/>
            <a:chOff x="5544057" y="3403660"/>
            <a:chExt cx="2093393" cy="1537456"/>
          </a:xfrm>
        </p:grpSpPr>
        <p:sp>
          <p:nvSpPr>
            <p:cNvPr id="1569" name="Google Shape;1569;p68"/>
            <p:cNvSpPr txBox="1"/>
            <p:nvPr/>
          </p:nvSpPr>
          <p:spPr>
            <a:xfrm>
              <a:off x="5544057" y="340366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570" name="Google Shape;1570;p68"/>
            <p:cNvSpPr txBox="1"/>
            <p:nvPr/>
          </p:nvSpPr>
          <p:spPr>
            <a:xfrm>
              <a:off x="6737571" y="341650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571" name="Google Shape;1571;p68"/>
            <p:cNvSpPr txBox="1"/>
            <p:nvPr/>
          </p:nvSpPr>
          <p:spPr>
            <a:xfrm>
              <a:off x="7264550" y="454751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572" name="Google Shape;1572;p68"/>
          <p:cNvGrpSpPr/>
          <p:nvPr/>
        </p:nvGrpSpPr>
        <p:grpSpPr>
          <a:xfrm>
            <a:off x="5544057" y="3740567"/>
            <a:ext cx="2918750" cy="1200549"/>
            <a:chOff x="5544057" y="3740567"/>
            <a:chExt cx="2918750" cy="1200549"/>
          </a:xfrm>
        </p:grpSpPr>
        <p:sp>
          <p:nvSpPr>
            <p:cNvPr id="1573" name="Google Shape;1573;p68"/>
            <p:cNvSpPr txBox="1"/>
            <p:nvPr/>
          </p:nvSpPr>
          <p:spPr>
            <a:xfrm>
              <a:off x="5544057" y="3740567"/>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574" name="Google Shape;1574;p68"/>
            <p:cNvSpPr txBox="1"/>
            <p:nvPr/>
          </p:nvSpPr>
          <p:spPr>
            <a:xfrm>
              <a:off x="5544057" y="407019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sp>
          <p:nvSpPr>
            <p:cNvPr id="1575" name="Google Shape;1575;p68"/>
            <p:cNvSpPr txBox="1"/>
            <p:nvPr/>
          </p:nvSpPr>
          <p:spPr>
            <a:xfrm>
              <a:off x="6737571" y="375255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576" name="Google Shape;1576;p68"/>
            <p:cNvSpPr txBox="1"/>
            <p:nvPr/>
          </p:nvSpPr>
          <p:spPr>
            <a:xfrm>
              <a:off x="6737571" y="408303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577" name="Google Shape;1577;p68"/>
            <p:cNvGrpSpPr/>
            <p:nvPr/>
          </p:nvGrpSpPr>
          <p:grpSpPr>
            <a:xfrm>
              <a:off x="7696065" y="4547516"/>
              <a:ext cx="766742" cy="393600"/>
              <a:chOff x="7696065" y="4547516"/>
              <a:chExt cx="766742" cy="393600"/>
            </a:xfrm>
          </p:grpSpPr>
          <p:sp>
            <p:nvSpPr>
              <p:cNvPr id="1578" name="Google Shape;1578;p68"/>
              <p:cNvSpPr txBox="1"/>
              <p:nvPr/>
            </p:nvSpPr>
            <p:spPr>
              <a:xfrm>
                <a:off x="7696065" y="454751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579" name="Google Shape;1579;p68"/>
              <p:cNvSpPr txBox="1"/>
              <p:nvPr/>
            </p:nvSpPr>
            <p:spPr>
              <a:xfrm>
                <a:off x="8089907" y="454751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grpSp>
      </p:grpSp>
      <p:sp>
        <p:nvSpPr>
          <p:cNvPr id="1580" name="Google Shape;1580;p68"/>
          <p:cNvSpPr txBox="1"/>
          <p:nvPr/>
        </p:nvSpPr>
        <p:spPr>
          <a:xfrm>
            <a:off x="6426038" y="45727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581" name="Google Shape;1581;p68"/>
          <p:cNvSpPr txBox="1"/>
          <p:nvPr/>
        </p:nvSpPr>
        <p:spPr>
          <a:xfrm>
            <a:off x="6826302" y="45727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582" name="Google Shape;1582;p68"/>
          <p:cNvSpPr txBox="1"/>
          <p:nvPr/>
        </p:nvSpPr>
        <p:spPr>
          <a:xfrm>
            <a:off x="7270660" y="45727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583" name="Google Shape;1583;p68"/>
          <p:cNvSpPr/>
          <p:nvPr/>
        </p:nvSpPr>
        <p:spPr>
          <a:xfrm>
            <a:off x="7709330" y="4550110"/>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3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3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552"/>
                                        </p:tgtEl>
                                        <p:attrNameLst>
                                          <p:attrName>style.visibility</p:attrName>
                                        </p:attrNameLst>
                                      </p:cBhvr>
                                      <p:to>
                                        <p:strVal val="visible"/>
                                      </p:to>
                                    </p:set>
                                    <p:animEffect transition="in" filter="fade">
                                      <p:cBhvr>
                                        <p:cTn id="43" dur="1000"/>
                                        <p:tgtEl>
                                          <p:spTgt spid="155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554"/>
                                        </p:tgtEl>
                                        <p:attrNameLst>
                                          <p:attrName>style.visibility</p:attrName>
                                        </p:attrNameLst>
                                      </p:cBhvr>
                                      <p:to>
                                        <p:strVal val="visible"/>
                                      </p:to>
                                    </p:set>
                                    <p:animEffect transition="in" filter="fade">
                                      <p:cBhvr>
                                        <p:cTn id="48" dur="1000"/>
                                        <p:tgtEl>
                                          <p:spTgt spid="1554"/>
                                        </p:tgtEl>
                                      </p:cBhvr>
                                    </p:animEffect>
                                  </p:childTnLst>
                                </p:cTn>
                              </p:par>
                              <p:par>
                                <p:cTn id="49" presetID="10" presetClass="entr" presetSubtype="0" fill="hold" nodeType="withEffect">
                                  <p:stCondLst>
                                    <p:cond delay="0"/>
                                  </p:stCondLst>
                                  <p:childTnLst>
                                    <p:set>
                                      <p:cBhvr>
                                        <p:cTn id="50" dur="1" fill="hold">
                                          <p:stCondLst>
                                            <p:cond delay="0"/>
                                          </p:stCondLst>
                                        </p:cTn>
                                        <p:tgtEl>
                                          <p:spTgt spid="1556"/>
                                        </p:tgtEl>
                                        <p:attrNameLst>
                                          <p:attrName>style.visibility</p:attrName>
                                        </p:attrNameLst>
                                      </p:cBhvr>
                                      <p:to>
                                        <p:strVal val="visible"/>
                                      </p:to>
                                    </p:set>
                                    <p:animEffect transition="in" filter="fade">
                                      <p:cBhvr>
                                        <p:cTn id="51" dur="1000"/>
                                        <p:tgtEl>
                                          <p:spTgt spid="155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555"/>
                                        </p:tgtEl>
                                        <p:attrNameLst>
                                          <p:attrName>style.visibility</p:attrName>
                                        </p:attrNameLst>
                                      </p:cBhvr>
                                      <p:to>
                                        <p:strVal val="visible"/>
                                      </p:to>
                                    </p:set>
                                    <p:animEffect transition="in" filter="fade">
                                      <p:cBhvr>
                                        <p:cTn id="56" dur="1000"/>
                                        <p:tgtEl>
                                          <p:spTgt spid="1555"/>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1559"/>
                                        </p:tgtEl>
                                        <p:attrNameLst>
                                          <p:attrName>style.visibility</p:attrName>
                                        </p:attrNameLst>
                                      </p:cBhvr>
                                      <p:to>
                                        <p:strVal val="visible"/>
                                      </p:to>
                                    </p:set>
                                    <p:animEffect transition="in" filter="fade">
                                      <p:cBhvr>
                                        <p:cTn id="60" dur="1000"/>
                                        <p:tgtEl>
                                          <p:spTgt spid="155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580"/>
                                        </p:tgtEl>
                                        <p:attrNameLst>
                                          <p:attrName>style.visibility</p:attrName>
                                        </p:attrNameLst>
                                      </p:cBhvr>
                                      <p:to>
                                        <p:strVal val="visible"/>
                                      </p:to>
                                    </p:set>
                                    <p:animEffect transition="in" filter="fade">
                                      <p:cBhvr>
                                        <p:cTn id="65" dur="1000"/>
                                        <p:tgtEl>
                                          <p:spTgt spid="1580"/>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1568"/>
                                        </p:tgtEl>
                                        <p:attrNameLst>
                                          <p:attrName>style.visibility</p:attrName>
                                        </p:attrNameLst>
                                      </p:cBhvr>
                                      <p:to>
                                        <p:strVal val="visible"/>
                                      </p:to>
                                    </p:set>
                                    <p:animEffect transition="in" filter="fade">
                                      <p:cBhvr>
                                        <p:cTn id="69" dur="1000"/>
                                        <p:tgtEl>
                                          <p:spTgt spid="156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581"/>
                                        </p:tgtEl>
                                        <p:attrNameLst>
                                          <p:attrName>style.visibility</p:attrName>
                                        </p:attrNameLst>
                                      </p:cBhvr>
                                      <p:to>
                                        <p:strVal val="visible"/>
                                      </p:to>
                                    </p:set>
                                    <p:animEffect transition="in" filter="fade">
                                      <p:cBhvr>
                                        <p:cTn id="74" dur="1000"/>
                                        <p:tgtEl>
                                          <p:spTgt spid="1581"/>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582"/>
                                        </p:tgtEl>
                                        <p:attrNameLst>
                                          <p:attrName>style.visibility</p:attrName>
                                        </p:attrNameLst>
                                      </p:cBhvr>
                                      <p:to>
                                        <p:strVal val="visible"/>
                                      </p:to>
                                    </p:set>
                                    <p:animEffect transition="in" filter="fade">
                                      <p:cBhvr>
                                        <p:cTn id="79" dur="1000"/>
                                        <p:tgtEl>
                                          <p:spTgt spid="1582"/>
                                        </p:tgtEl>
                                      </p:cBhvr>
                                    </p:animEffect>
                                  </p:childTnLst>
                                </p:cTn>
                              </p:par>
                            </p:childTnLst>
                          </p:cTn>
                        </p:par>
                        <p:par>
                          <p:cTn id="80" fill="hold">
                            <p:stCondLst>
                              <p:cond delay="1000"/>
                            </p:stCondLst>
                            <p:childTnLst>
                              <p:par>
                                <p:cTn id="81" presetID="10" presetClass="entr" presetSubtype="0" fill="hold" nodeType="afterEffect">
                                  <p:stCondLst>
                                    <p:cond delay="0"/>
                                  </p:stCondLst>
                                  <p:childTnLst>
                                    <p:set>
                                      <p:cBhvr>
                                        <p:cTn id="82" dur="1" fill="hold">
                                          <p:stCondLst>
                                            <p:cond delay="0"/>
                                          </p:stCondLst>
                                        </p:cTn>
                                        <p:tgtEl>
                                          <p:spTgt spid="1572"/>
                                        </p:tgtEl>
                                        <p:attrNameLst>
                                          <p:attrName>style.visibility</p:attrName>
                                        </p:attrNameLst>
                                      </p:cBhvr>
                                      <p:to>
                                        <p:strVal val="visible"/>
                                      </p:to>
                                    </p:set>
                                    <p:animEffect transition="in" filter="fade">
                                      <p:cBhvr>
                                        <p:cTn id="83" dur="1000"/>
                                        <p:tgtEl>
                                          <p:spTgt spid="1572"/>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583"/>
                                        </p:tgtEl>
                                        <p:attrNameLst>
                                          <p:attrName>style.visibility</p:attrName>
                                        </p:attrNameLst>
                                      </p:cBhvr>
                                      <p:to>
                                        <p:strVal val="visible"/>
                                      </p:to>
                                    </p:set>
                                    <p:animEffect transition="in" filter="fade">
                                      <p:cBhvr>
                                        <p:cTn id="88" dur="1000"/>
                                        <p:tgtEl>
                                          <p:spTgt spid="1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87"/>
        <p:cNvGrpSpPr/>
        <p:nvPr/>
      </p:nvGrpSpPr>
      <p:grpSpPr>
        <a:xfrm>
          <a:off x="0" y="0"/>
          <a:ext cx="0" cy="0"/>
          <a:chOff x="0" y="0"/>
          <a:chExt cx="0" cy="0"/>
        </a:xfrm>
      </p:grpSpPr>
      <p:sp>
        <p:nvSpPr>
          <p:cNvPr id="1588" name="Google Shape;1588;p69"/>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Constructing a Path</a:t>
            </a:r>
            <a:endParaRPr/>
          </a:p>
        </p:txBody>
      </p:sp>
      <p:sp>
        <p:nvSpPr>
          <p:cNvPr id="1589" name="Google Shape;1589;p69"/>
          <p:cNvSpPr txBox="1">
            <a:spLocks noGrp="1"/>
          </p:cNvSpPr>
          <p:nvPr>
            <p:ph type="body" idx="4294967295"/>
          </p:nvPr>
        </p:nvSpPr>
        <p:spPr>
          <a:xfrm>
            <a:off x="125500" y="1368875"/>
            <a:ext cx="4749300" cy="37434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t>So now that we've filled a map with each </a:t>
            </a:r>
            <a:r>
              <a:rPr lang="en" b="1" i="1" dirty="0">
                <a:solidFill>
                  <a:srgbClr val="FF0000"/>
                </a:solidFill>
              </a:rPr>
              <a:t>vertex and its predecessor</a:t>
            </a:r>
            <a:r>
              <a:rPr lang="en" dirty="0">
                <a:solidFill>
                  <a:srgbClr val="FF0000"/>
                </a:solidFill>
              </a:rPr>
              <a:t> </a:t>
            </a:r>
            <a:r>
              <a:rPr lang="en" dirty="0"/>
              <a:t>along the path, how do we know exactly which vertices actually form the path between</a:t>
            </a:r>
            <a:r>
              <a:rPr lang="en" dirty="0">
                <a:solidFill>
                  <a:srgbClr val="FF0000"/>
                </a:solidFill>
              </a:rPr>
              <a:t> </a:t>
            </a:r>
            <a:r>
              <a:rPr lang="en" b="1" i="1" dirty="0">
                <a:solidFill>
                  <a:srgbClr val="FF0000"/>
                </a:solidFill>
              </a:rPr>
              <a:t>F and B</a:t>
            </a:r>
            <a:r>
              <a:rPr lang="en" dirty="0"/>
              <a:t>?</a:t>
            </a:r>
            <a:endParaRPr dirty="0"/>
          </a:p>
          <a:p>
            <a:pPr marL="457200" lvl="0" indent="-311150" algn="l" rtl="0">
              <a:lnSpc>
                <a:spcPct val="115000"/>
              </a:lnSpc>
              <a:spcBef>
                <a:spcPts val="1000"/>
              </a:spcBef>
              <a:spcAft>
                <a:spcPts val="0"/>
              </a:spcAft>
              <a:buSzPts val="1300"/>
              <a:buChar char="●"/>
            </a:pPr>
            <a:r>
              <a:rPr lang="en" dirty="0"/>
              <a:t>Using the map, we start at the </a:t>
            </a:r>
            <a:r>
              <a:rPr lang="en" b="1" i="1" dirty="0">
                <a:solidFill>
                  <a:srgbClr val="FF0000"/>
                </a:solidFill>
              </a:rPr>
              <a:t>end</a:t>
            </a:r>
            <a:r>
              <a:rPr lang="en" dirty="0">
                <a:solidFill>
                  <a:srgbClr val="FF0000"/>
                </a:solidFill>
              </a:rPr>
              <a:t> </a:t>
            </a:r>
            <a:r>
              <a:rPr lang="en" dirty="0"/>
              <a:t>of the path (</a:t>
            </a:r>
            <a:r>
              <a:rPr lang="en" b="1" i="1" dirty="0">
                <a:solidFill>
                  <a:srgbClr val="FF0000"/>
                </a:solidFill>
              </a:rPr>
              <a:t>B</a:t>
            </a:r>
            <a:r>
              <a:rPr lang="en" dirty="0"/>
              <a:t>) and work our way </a:t>
            </a:r>
            <a:r>
              <a:rPr lang="en" b="1" i="1" dirty="0">
                <a:solidFill>
                  <a:srgbClr val="FF0000"/>
                </a:solidFill>
              </a:rPr>
              <a:t>backwards</a:t>
            </a:r>
            <a:r>
              <a:rPr lang="en" dirty="0">
                <a:solidFill>
                  <a:srgbClr val="FF0000"/>
                </a:solidFill>
              </a:rPr>
              <a:t> </a:t>
            </a:r>
            <a:r>
              <a:rPr lang="en" dirty="0"/>
              <a:t>to the beginning (</a:t>
            </a:r>
            <a:r>
              <a:rPr lang="en" b="1" i="1" dirty="0">
                <a:solidFill>
                  <a:srgbClr val="FF0000"/>
                </a:solidFill>
              </a:rPr>
              <a:t>F</a:t>
            </a:r>
            <a:r>
              <a:rPr lang="en" dirty="0"/>
              <a:t>).</a:t>
            </a:r>
            <a:endParaRPr dirty="0"/>
          </a:p>
          <a:p>
            <a:pPr marL="914400" lvl="1" indent="-298450" algn="l" rtl="0">
              <a:lnSpc>
                <a:spcPct val="115000"/>
              </a:lnSpc>
              <a:spcBef>
                <a:spcPts val="0"/>
              </a:spcBef>
              <a:spcAft>
                <a:spcPts val="0"/>
              </a:spcAft>
              <a:buSzPts val="1100"/>
              <a:buChar char="○"/>
            </a:pPr>
            <a:r>
              <a:rPr lang="en" dirty="0"/>
              <a:t>We use each </a:t>
            </a:r>
            <a:r>
              <a:rPr lang="en" b="1" i="1" dirty="0">
                <a:solidFill>
                  <a:srgbClr val="FF0000"/>
                </a:solidFill>
              </a:rPr>
              <a:t>vertex</a:t>
            </a:r>
            <a:r>
              <a:rPr lang="en" dirty="0">
                <a:solidFill>
                  <a:srgbClr val="FF0000"/>
                </a:solidFill>
              </a:rPr>
              <a:t> </a:t>
            </a:r>
            <a:r>
              <a:rPr lang="en" dirty="0"/>
              <a:t>along the path to look up its </a:t>
            </a:r>
            <a:r>
              <a:rPr lang="en" b="1" i="1" dirty="0">
                <a:solidFill>
                  <a:srgbClr val="FF0000"/>
                </a:solidFill>
              </a:rPr>
              <a:t>predecessor</a:t>
            </a:r>
            <a:r>
              <a:rPr lang="en" dirty="0"/>
              <a:t>.</a:t>
            </a:r>
            <a:endParaRPr dirty="0"/>
          </a:p>
          <a:p>
            <a:pPr marL="914400" lvl="1" indent="-298450" algn="l" rtl="0">
              <a:lnSpc>
                <a:spcPct val="115000"/>
              </a:lnSpc>
              <a:spcBef>
                <a:spcPts val="0"/>
              </a:spcBef>
              <a:spcAft>
                <a:spcPts val="0"/>
              </a:spcAft>
              <a:buSzPts val="1100"/>
              <a:buChar char="○"/>
            </a:pPr>
            <a:r>
              <a:rPr lang="en" dirty="0"/>
              <a:t>Each time we retrieve a vertex from the map, we insert it at the </a:t>
            </a:r>
            <a:r>
              <a:rPr lang="en" b="1" i="1" dirty="0">
                <a:solidFill>
                  <a:srgbClr val="FF0000"/>
                </a:solidFill>
              </a:rPr>
              <a:t>front</a:t>
            </a:r>
            <a:r>
              <a:rPr lang="en" dirty="0">
                <a:solidFill>
                  <a:srgbClr val="FF0000"/>
                </a:solidFill>
              </a:rPr>
              <a:t> </a:t>
            </a:r>
            <a:r>
              <a:rPr lang="en" dirty="0"/>
              <a:t>of the path.</a:t>
            </a:r>
            <a:endParaRPr dirty="0"/>
          </a:p>
          <a:p>
            <a:pPr marL="914400" lvl="1" indent="-298450" algn="l" rtl="0">
              <a:lnSpc>
                <a:spcPct val="115000"/>
              </a:lnSpc>
              <a:spcBef>
                <a:spcPts val="0"/>
              </a:spcBef>
              <a:spcAft>
                <a:spcPts val="0"/>
              </a:spcAft>
              <a:buSzPts val="1100"/>
              <a:buChar char="○"/>
            </a:pPr>
            <a:r>
              <a:rPr lang="en" dirty="0"/>
              <a:t>We continue until the predecessor is </a:t>
            </a:r>
            <a:r>
              <a:rPr lang="en" dirty="0">
                <a:solidFill>
                  <a:srgbClr val="FF0000"/>
                </a:solidFill>
                <a:latin typeface="Courier New"/>
                <a:ea typeface="Courier New"/>
                <a:cs typeface="Courier New"/>
                <a:sym typeface="Courier New"/>
              </a:rPr>
              <a:t>null</a:t>
            </a:r>
            <a:r>
              <a:rPr lang="en" dirty="0"/>
              <a:t>.</a:t>
            </a:r>
            <a:endParaRPr dirty="0"/>
          </a:p>
          <a:p>
            <a:pPr marL="457200" lvl="0" indent="-311150" algn="l" rtl="0">
              <a:lnSpc>
                <a:spcPct val="115000"/>
              </a:lnSpc>
              <a:spcBef>
                <a:spcPts val="1000"/>
              </a:spcBef>
              <a:spcAft>
                <a:spcPts val="0"/>
              </a:spcAft>
              <a:buSzPts val="1300"/>
              <a:buChar char="●"/>
            </a:pPr>
            <a:r>
              <a:rPr lang="en" dirty="0"/>
              <a:t>What data structure provides the features we need the most efficiently?</a:t>
            </a:r>
            <a:endParaRPr dirty="0"/>
          </a:p>
          <a:p>
            <a:pPr marL="914400" lvl="1" indent="-298450" algn="l" rtl="0">
              <a:lnSpc>
                <a:spcPct val="115000"/>
              </a:lnSpc>
              <a:spcBef>
                <a:spcPts val="0"/>
              </a:spcBef>
              <a:spcAft>
                <a:spcPts val="0"/>
              </a:spcAft>
              <a:buSzPts val="1100"/>
              <a:buChar char="○"/>
            </a:pPr>
            <a:r>
              <a:rPr lang="en" dirty="0"/>
              <a:t>It needs to be </a:t>
            </a:r>
            <a:r>
              <a:rPr lang="en" b="1" i="1" dirty="0">
                <a:solidFill>
                  <a:srgbClr val="FF0000"/>
                </a:solidFill>
              </a:rPr>
              <a:t>iterable </a:t>
            </a:r>
            <a:r>
              <a:rPr lang="en" dirty="0"/>
              <a:t>and/or offer </a:t>
            </a:r>
            <a:r>
              <a:rPr lang="en" b="1" i="1" dirty="0">
                <a:solidFill>
                  <a:srgbClr val="FF0000"/>
                </a:solidFill>
              </a:rPr>
              <a:t>access by index</a:t>
            </a:r>
            <a:r>
              <a:rPr lang="en" dirty="0"/>
              <a:t>.</a:t>
            </a:r>
            <a:endParaRPr dirty="0"/>
          </a:p>
          <a:p>
            <a:pPr marL="914400" lvl="1" indent="-298450" algn="l" rtl="0">
              <a:lnSpc>
                <a:spcPct val="115000"/>
              </a:lnSpc>
              <a:spcBef>
                <a:spcPts val="0"/>
              </a:spcBef>
              <a:spcAft>
                <a:spcPts val="0"/>
              </a:spcAft>
              <a:buSzPts val="1100"/>
              <a:buChar char="○"/>
            </a:pPr>
            <a:r>
              <a:rPr lang="en" dirty="0"/>
              <a:t>Insert at the </a:t>
            </a:r>
            <a:r>
              <a:rPr lang="en" b="1" i="1" dirty="0">
                <a:solidFill>
                  <a:srgbClr val="FF0000"/>
                </a:solidFill>
              </a:rPr>
              <a:t>front </a:t>
            </a:r>
            <a:r>
              <a:rPr lang="en" dirty="0"/>
              <a:t>needs to be efficient.</a:t>
            </a:r>
            <a:endParaRPr dirty="0"/>
          </a:p>
          <a:p>
            <a:pPr marL="457200" lvl="0" indent="-311150" algn="l" rtl="0">
              <a:lnSpc>
                <a:spcPct val="115000"/>
              </a:lnSpc>
              <a:spcBef>
                <a:spcPts val="1000"/>
              </a:spcBef>
              <a:spcAft>
                <a:spcPts val="0"/>
              </a:spcAft>
              <a:buSzPts val="1300"/>
              <a:buChar char="●"/>
            </a:pPr>
            <a:r>
              <a:rPr lang="en" dirty="0"/>
              <a:t>How about a </a:t>
            </a:r>
            <a:r>
              <a:rPr lang="en" dirty="0">
                <a:solidFill>
                  <a:srgbClr val="FF0000"/>
                </a:solidFill>
                <a:highlight>
                  <a:srgbClr val="FFFF00"/>
                </a:highlight>
                <a:latin typeface="Courier New"/>
                <a:ea typeface="Courier New"/>
                <a:cs typeface="Courier New"/>
                <a:sym typeface="Courier New"/>
              </a:rPr>
              <a:t>LinkedList</a:t>
            </a:r>
            <a:r>
              <a:rPr lang="en" dirty="0"/>
              <a:t>?</a:t>
            </a:r>
            <a:endParaRPr dirty="0"/>
          </a:p>
        </p:txBody>
      </p:sp>
      <p:sp>
        <p:nvSpPr>
          <p:cNvPr id="1590" name="Google Shape;1590;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36</a:t>
            </a:fld>
            <a:endParaRPr/>
          </a:p>
        </p:txBody>
      </p:sp>
      <p:graphicFrame>
        <p:nvGraphicFramePr>
          <p:cNvPr id="1591" name="Google Shape;1591;p69"/>
          <p:cNvGraphicFramePr/>
          <p:nvPr/>
        </p:nvGraphicFramePr>
        <p:xfrm>
          <a:off x="5768325" y="1486801"/>
          <a:ext cx="2381200" cy="234675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endParaRPr sz="1000" u="none" strike="noStrike" cap="none">
                        <a:solidFill>
                          <a:srgbClr val="4A86E8"/>
                        </a:solidFill>
                        <a:latin typeface="Shadows Into Light"/>
                        <a:ea typeface="Shadows Into Light"/>
                        <a:cs typeface="Shadows Into Light"/>
                        <a:sym typeface="Shadows Into 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592" name="Google Shape;1592;p69"/>
          <p:cNvGraphicFramePr/>
          <p:nvPr/>
        </p:nvGraphicFramePr>
        <p:xfrm>
          <a:off x="4959917" y="4166197"/>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pSp>
        <p:nvGrpSpPr>
          <p:cNvPr id="1593" name="Google Shape;1593;p69"/>
          <p:cNvGrpSpPr/>
          <p:nvPr/>
        </p:nvGrpSpPr>
        <p:grpSpPr>
          <a:xfrm>
            <a:off x="6147235" y="1803447"/>
            <a:ext cx="1995967" cy="393613"/>
            <a:chOff x="5544057" y="2413047"/>
            <a:chExt cx="1995967" cy="393613"/>
          </a:xfrm>
        </p:grpSpPr>
        <p:sp>
          <p:nvSpPr>
            <p:cNvPr id="1594" name="Google Shape;1594;p69"/>
            <p:cNvSpPr txBox="1"/>
            <p:nvPr/>
          </p:nvSpPr>
          <p:spPr>
            <a:xfrm>
              <a:off x="5544057" y="241306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595" name="Google Shape;1595;p69"/>
            <p:cNvSpPr txBox="1"/>
            <p:nvPr/>
          </p:nvSpPr>
          <p:spPr>
            <a:xfrm>
              <a:off x="6349324" y="2413047"/>
              <a:ext cx="11907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null</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596" name="Google Shape;1596;p69"/>
          <p:cNvGrpSpPr/>
          <p:nvPr/>
        </p:nvGrpSpPr>
        <p:grpSpPr>
          <a:xfrm>
            <a:off x="6147235" y="2121103"/>
            <a:ext cx="1566414" cy="742493"/>
            <a:chOff x="5544057" y="2730703"/>
            <a:chExt cx="1566414" cy="742493"/>
          </a:xfrm>
        </p:grpSpPr>
        <p:sp>
          <p:nvSpPr>
            <p:cNvPr id="1597" name="Google Shape;1597;p69"/>
            <p:cNvSpPr txBox="1"/>
            <p:nvPr/>
          </p:nvSpPr>
          <p:spPr>
            <a:xfrm>
              <a:off x="5544057" y="2749967"/>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598" name="Google Shape;1598;p69"/>
            <p:cNvSpPr txBox="1"/>
            <p:nvPr/>
          </p:nvSpPr>
          <p:spPr>
            <a:xfrm>
              <a:off x="5544057" y="307959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sp>
          <p:nvSpPr>
            <p:cNvPr id="1599" name="Google Shape;1599;p69"/>
            <p:cNvSpPr txBox="1"/>
            <p:nvPr/>
          </p:nvSpPr>
          <p:spPr>
            <a:xfrm>
              <a:off x="6737571" y="273070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600" name="Google Shape;1600;p69"/>
            <p:cNvSpPr txBox="1"/>
            <p:nvPr/>
          </p:nvSpPr>
          <p:spPr>
            <a:xfrm>
              <a:off x="6737571" y="307959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601" name="Google Shape;1601;p69"/>
          <p:cNvGrpSpPr/>
          <p:nvPr/>
        </p:nvGrpSpPr>
        <p:grpSpPr>
          <a:xfrm>
            <a:off x="6147235" y="2794060"/>
            <a:ext cx="1566414" cy="406443"/>
            <a:chOff x="5544057" y="3403660"/>
            <a:chExt cx="1566414" cy="406443"/>
          </a:xfrm>
        </p:grpSpPr>
        <p:sp>
          <p:nvSpPr>
            <p:cNvPr id="1602" name="Google Shape;1602;p69"/>
            <p:cNvSpPr txBox="1"/>
            <p:nvPr/>
          </p:nvSpPr>
          <p:spPr>
            <a:xfrm>
              <a:off x="5544057" y="340366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603" name="Google Shape;1603;p69"/>
            <p:cNvSpPr txBox="1"/>
            <p:nvPr/>
          </p:nvSpPr>
          <p:spPr>
            <a:xfrm>
              <a:off x="6737571" y="341650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604" name="Google Shape;1604;p69"/>
          <p:cNvGrpSpPr/>
          <p:nvPr/>
        </p:nvGrpSpPr>
        <p:grpSpPr>
          <a:xfrm>
            <a:off x="6147235" y="3130967"/>
            <a:ext cx="1566414" cy="736072"/>
            <a:chOff x="5544057" y="3740567"/>
            <a:chExt cx="1566414" cy="736072"/>
          </a:xfrm>
        </p:grpSpPr>
        <p:sp>
          <p:nvSpPr>
            <p:cNvPr id="1605" name="Google Shape;1605;p69"/>
            <p:cNvSpPr txBox="1"/>
            <p:nvPr/>
          </p:nvSpPr>
          <p:spPr>
            <a:xfrm>
              <a:off x="5544057" y="3740567"/>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606" name="Google Shape;1606;p69"/>
            <p:cNvSpPr txBox="1"/>
            <p:nvPr/>
          </p:nvSpPr>
          <p:spPr>
            <a:xfrm>
              <a:off x="5544057" y="4070196"/>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sp>
          <p:nvSpPr>
            <p:cNvPr id="1607" name="Google Shape;1607;p69"/>
            <p:cNvSpPr txBox="1"/>
            <p:nvPr/>
          </p:nvSpPr>
          <p:spPr>
            <a:xfrm>
              <a:off x="6737571" y="375255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608" name="Google Shape;1608;p69"/>
            <p:cNvSpPr txBox="1"/>
            <p:nvPr/>
          </p:nvSpPr>
          <p:spPr>
            <a:xfrm>
              <a:off x="6737571" y="408303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609" name="Google Shape;1609;p69"/>
          <p:cNvGrpSpPr/>
          <p:nvPr/>
        </p:nvGrpSpPr>
        <p:grpSpPr>
          <a:xfrm>
            <a:off x="4950853" y="3036445"/>
            <a:ext cx="2239475" cy="1524645"/>
            <a:chOff x="5331853" y="2884045"/>
            <a:chExt cx="2239475" cy="1524645"/>
          </a:xfrm>
        </p:grpSpPr>
        <p:sp>
          <p:nvSpPr>
            <p:cNvPr id="1610" name="Google Shape;1610;p69"/>
            <p:cNvSpPr txBox="1"/>
            <p:nvPr/>
          </p:nvSpPr>
          <p:spPr>
            <a:xfrm>
              <a:off x="7198428" y="40150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611" name="Google Shape;1611;p69"/>
            <p:cNvGrpSpPr/>
            <p:nvPr/>
          </p:nvGrpSpPr>
          <p:grpSpPr>
            <a:xfrm>
              <a:off x="5331853" y="2884045"/>
              <a:ext cx="1247097" cy="557400"/>
              <a:chOff x="5331853" y="2884045"/>
              <a:chExt cx="1247097" cy="557400"/>
            </a:xfrm>
          </p:grpSpPr>
          <p:sp>
            <p:nvSpPr>
              <p:cNvPr id="1612" name="Google Shape;1612;p69"/>
              <p:cNvSpPr/>
              <p:nvPr/>
            </p:nvSpPr>
            <p:spPr>
              <a:xfrm>
                <a:off x="5879025" y="3091947"/>
                <a:ext cx="699925" cy="93300"/>
              </a:xfrm>
              <a:custGeom>
                <a:avLst/>
                <a:gdLst/>
                <a:ahLst/>
                <a:cxnLst/>
                <a:rect l="l" t="t" r="r" b="b"/>
                <a:pathLst>
                  <a:path w="27997" h="3732" extrusionOk="0">
                    <a:moveTo>
                      <a:pt x="0" y="907"/>
                    </a:moveTo>
                    <a:cubicBezTo>
                      <a:pt x="1712" y="779"/>
                      <a:pt x="5608" y="-335"/>
                      <a:pt x="10274" y="136"/>
                    </a:cubicBezTo>
                    <a:cubicBezTo>
                      <a:pt x="14940" y="607"/>
                      <a:pt x="25043" y="3133"/>
                      <a:pt x="27997" y="3732"/>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3" name="Google Shape;1613;p69"/>
              <p:cNvSpPr txBox="1"/>
              <p:nvPr/>
            </p:nvSpPr>
            <p:spPr>
              <a:xfrm rot="-1181307">
                <a:off x="5371882" y="2986199"/>
                <a:ext cx="667843" cy="35309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START HERE</a:t>
                </a:r>
                <a:endParaRPr sz="1400" b="0" i="0" u="none" strike="noStrike" cap="none">
                  <a:solidFill>
                    <a:srgbClr val="FF0000"/>
                  </a:solidFill>
                  <a:latin typeface="Shadows Into Light"/>
                  <a:ea typeface="Shadows Into Light"/>
                  <a:cs typeface="Shadows Into Light"/>
                  <a:sym typeface="Shadows Into Light"/>
                </a:endParaRPr>
              </a:p>
            </p:txBody>
          </p:sp>
        </p:grpSp>
      </p:grpSp>
      <p:grpSp>
        <p:nvGrpSpPr>
          <p:cNvPr id="1614" name="Google Shape;1614;p69"/>
          <p:cNvGrpSpPr/>
          <p:nvPr/>
        </p:nvGrpSpPr>
        <p:grpSpPr>
          <a:xfrm>
            <a:off x="7796025" y="1516156"/>
            <a:ext cx="1163761" cy="541500"/>
            <a:chOff x="5008732" y="1376599"/>
            <a:chExt cx="1163761" cy="541500"/>
          </a:xfrm>
        </p:grpSpPr>
        <p:sp>
          <p:nvSpPr>
            <p:cNvPr id="1615" name="Google Shape;1615;p69"/>
            <p:cNvSpPr txBox="1"/>
            <p:nvPr/>
          </p:nvSpPr>
          <p:spPr>
            <a:xfrm rot="1075329">
              <a:off x="5466590" y="1470792"/>
              <a:ext cx="667805" cy="35311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STOP HERE</a:t>
              </a:r>
              <a:endParaRPr sz="1400" b="0" i="0" u="none" strike="noStrike" cap="none">
                <a:solidFill>
                  <a:srgbClr val="FF0000"/>
                </a:solidFill>
                <a:latin typeface="Shadows Into Light"/>
                <a:ea typeface="Shadows Into Light"/>
                <a:cs typeface="Shadows Into Light"/>
                <a:sym typeface="Shadows Into Light"/>
              </a:endParaRPr>
            </a:p>
          </p:txBody>
        </p:sp>
        <p:sp>
          <p:nvSpPr>
            <p:cNvPr id="1616" name="Google Shape;1616;p69"/>
            <p:cNvSpPr/>
            <p:nvPr/>
          </p:nvSpPr>
          <p:spPr>
            <a:xfrm>
              <a:off x="5008732" y="1573496"/>
              <a:ext cx="584325" cy="314646"/>
            </a:xfrm>
            <a:custGeom>
              <a:avLst/>
              <a:gdLst/>
              <a:ahLst/>
              <a:cxnLst/>
              <a:rect l="l" t="t" r="r" b="b"/>
              <a:pathLst>
                <a:path w="23373" h="22347" extrusionOk="0">
                  <a:moveTo>
                    <a:pt x="23373" y="0"/>
                  </a:moveTo>
                  <a:cubicBezTo>
                    <a:pt x="21575" y="1199"/>
                    <a:pt x="16482" y="3468"/>
                    <a:pt x="12586" y="7192"/>
                  </a:cubicBezTo>
                  <a:cubicBezTo>
                    <a:pt x="8691" y="10917"/>
                    <a:pt x="2098" y="19821"/>
                    <a:pt x="0" y="22347"/>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617" name="Google Shape;1617;p69"/>
          <p:cNvCxnSpPr/>
          <p:nvPr/>
        </p:nvCxnSpPr>
        <p:spPr>
          <a:xfrm>
            <a:off x="6507293" y="3341465"/>
            <a:ext cx="833400" cy="0"/>
          </a:xfrm>
          <a:prstGeom prst="straightConnector1">
            <a:avLst/>
          </a:prstGeom>
          <a:noFill/>
          <a:ln w="19050" cap="flat" cmpd="sng">
            <a:solidFill>
              <a:srgbClr val="FF0000"/>
            </a:solidFill>
            <a:prstDash val="solid"/>
            <a:round/>
            <a:headEnd type="none" w="sm" len="sm"/>
            <a:tailEnd type="triangle" w="med" len="med"/>
          </a:ln>
        </p:spPr>
      </p:cxnSp>
      <p:sp>
        <p:nvSpPr>
          <p:cNvPr id="1618" name="Google Shape;1618;p69"/>
          <p:cNvSpPr txBox="1"/>
          <p:nvPr/>
        </p:nvSpPr>
        <p:spPr>
          <a:xfrm>
            <a:off x="6423585" y="41674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619" name="Google Shape;1619;p69"/>
          <p:cNvSpPr txBox="1"/>
          <p:nvPr/>
        </p:nvSpPr>
        <p:spPr>
          <a:xfrm>
            <a:off x="6023321" y="41674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620" name="Google Shape;1620;p69"/>
          <p:cNvSpPr txBox="1"/>
          <p:nvPr/>
        </p:nvSpPr>
        <p:spPr>
          <a:xfrm>
            <a:off x="5623057" y="41674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cxnSp>
        <p:nvCxnSpPr>
          <p:cNvPr id="1621" name="Google Shape;1621;p69"/>
          <p:cNvCxnSpPr/>
          <p:nvPr/>
        </p:nvCxnSpPr>
        <p:spPr>
          <a:xfrm>
            <a:off x="6507293" y="3010980"/>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622" name="Google Shape;1622;p69"/>
          <p:cNvCxnSpPr/>
          <p:nvPr/>
        </p:nvCxnSpPr>
        <p:spPr>
          <a:xfrm>
            <a:off x="6507293" y="2325180"/>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623" name="Google Shape;1623;p69"/>
          <p:cNvCxnSpPr/>
          <p:nvPr/>
        </p:nvCxnSpPr>
        <p:spPr>
          <a:xfrm>
            <a:off x="6507293" y="1969865"/>
            <a:ext cx="833400" cy="0"/>
          </a:xfrm>
          <a:prstGeom prst="straightConnector1">
            <a:avLst/>
          </a:prstGeom>
          <a:noFill/>
          <a:ln w="19050" cap="flat" cmpd="sng">
            <a:solidFill>
              <a:srgbClr val="FF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09"/>
                                        </p:tgtEl>
                                        <p:attrNameLst>
                                          <p:attrName>style.visibility</p:attrName>
                                        </p:attrNameLst>
                                      </p:cBhvr>
                                      <p:to>
                                        <p:strVal val="visible"/>
                                      </p:to>
                                    </p:set>
                                    <p:animEffect transition="in" filter="fade">
                                      <p:cBhvr>
                                        <p:cTn id="43" dur="1000"/>
                                        <p:tgtEl>
                                          <p:spTgt spid="160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617"/>
                                        </p:tgtEl>
                                        <p:attrNameLst>
                                          <p:attrName>style.visibility</p:attrName>
                                        </p:attrNameLst>
                                      </p:cBhvr>
                                      <p:to>
                                        <p:strVal val="visible"/>
                                      </p:to>
                                    </p:set>
                                    <p:animEffect transition="in" filter="fade">
                                      <p:cBhvr>
                                        <p:cTn id="48" dur="1000"/>
                                        <p:tgtEl>
                                          <p:spTgt spid="1617"/>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1618"/>
                                        </p:tgtEl>
                                        <p:attrNameLst>
                                          <p:attrName>style.visibility</p:attrName>
                                        </p:attrNameLst>
                                      </p:cBhvr>
                                      <p:to>
                                        <p:strVal val="visible"/>
                                      </p:to>
                                    </p:set>
                                    <p:animEffect transition="in" filter="fade">
                                      <p:cBhvr>
                                        <p:cTn id="52" dur="1000"/>
                                        <p:tgtEl>
                                          <p:spTgt spid="16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621"/>
                                        </p:tgtEl>
                                        <p:attrNameLst>
                                          <p:attrName>style.visibility</p:attrName>
                                        </p:attrNameLst>
                                      </p:cBhvr>
                                      <p:to>
                                        <p:strVal val="visible"/>
                                      </p:to>
                                    </p:set>
                                    <p:animEffect transition="in" filter="fade">
                                      <p:cBhvr>
                                        <p:cTn id="57" dur="1000"/>
                                        <p:tgtEl>
                                          <p:spTgt spid="1621"/>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1619"/>
                                        </p:tgtEl>
                                        <p:attrNameLst>
                                          <p:attrName>style.visibility</p:attrName>
                                        </p:attrNameLst>
                                      </p:cBhvr>
                                      <p:to>
                                        <p:strVal val="visible"/>
                                      </p:to>
                                    </p:set>
                                    <p:animEffect transition="in" filter="fade">
                                      <p:cBhvr>
                                        <p:cTn id="61" dur="1000"/>
                                        <p:tgtEl>
                                          <p:spTgt spid="161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622"/>
                                        </p:tgtEl>
                                        <p:attrNameLst>
                                          <p:attrName>style.visibility</p:attrName>
                                        </p:attrNameLst>
                                      </p:cBhvr>
                                      <p:to>
                                        <p:strVal val="visible"/>
                                      </p:to>
                                    </p:set>
                                    <p:animEffect transition="in" filter="fade">
                                      <p:cBhvr>
                                        <p:cTn id="66" dur="1000"/>
                                        <p:tgtEl>
                                          <p:spTgt spid="1622"/>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1620"/>
                                        </p:tgtEl>
                                        <p:attrNameLst>
                                          <p:attrName>style.visibility</p:attrName>
                                        </p:attrNameLst>
                                      </p:cBhvr>
                                      <p:to>
                                        <p:strVal val="visible"/>
                                      </p:to>
                                    </p:set>
                                    <p:animEffect transition="in" filter="fade">
                                      <p:cBhvr>
                                        <p:cTn id="70" dur="1000"/>
                                        <p:tgtEl>
                                          <p:spTgt spid="1620"/>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623"/>
                                        </p:tgtEl>
                                        <p:attrNameLst>
                                          <p:attrName>style.visibility</p:attrName>
                                        </p:attrNameLst>
                                      </p:cBhvr>
                                      <p:to>
                                        <p:strVal val="visible"/>
                                      </p:to>
                                    </p:set>
                                    <p:animEffect transition="in" filter="fade">
                                      <p:cBhvr>
                                        <p:cTn id="75" dur="1000"/>
                                        <p:tgtEl>
                                          <p:spTgt spid="1623"/>
                                        </p:tgtEl>
                                      </p:cBhvr>
                                    </p:animEffect>
                                  </p:childTnLst>
                                </p:cTn>
                              </p:par>
                            </p:childTnLst>
                          </p:cTn>
                        </p:par>
                        <p:par>
                          <p:cTn id="76" fill="hold">
                            <p:stCondLst>
                              <p:cond delay="1000"/>
                            </p:stCondLst>
                            <p:childTnLst>
                              <p:par>
                                <p:cTn id="77" presetID="10" presetClass="entr" presetSubtype="0" fill="hold" nodeType="afterEffect">
                                  <p:stCondLst>
                                    <p:cond delay="0"/>
                                  </p:stCondLst>
                                  <p:childTnLst>
                                    <p:set>
                                      <p:cBhvr>
                                        <p:cTn id="78" dur="1" fill="hold">
                                          <p:stCondLst>
                                            <p:cond delay="0"/>
                                          </p:stCondLst>
                                        </p:cTn>
                                        <p:tgtEl>
                                          <p:spTgt spid="1614"/>
                                        </p:tgtEl>
                                        <p:attrNameLst>
                                          <p:attrName>style.visibility</p:attrName>
                                        </p:attrNameLst>
                                      </p:cBhvr>
                                      <p:to>
                                        <p:strVal val="visible"/>
                                      </p:to>
                                    </p:set>
                                    <p:animEffect transition="in" filter="fade">
                                      <p:cBhvr>
                                        <p:cTn id="79" dur="1000"/>
                                        <p:tgtEl>
                                          <p:spTgt spid="1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27"/>
        <p:cNvGrpSpPr/>
        <p:nvPr/>
      </p:nvGrpSpPr>
      <p:grpSpPr>
        <a:xfrm>
          <a:off x="0" y="0"/>
          <a:ext cx="0" cy="0"/>
          <a:chOff x="0" y="0"/>
          <a:chExt cx="0" cy="0"/>
        </a:xfrm>
      </p:grpSpPr>
      <p:sp>
        <p:nvSpPr>
          <p:cNvPr id="1628" name="Google Shape;1628;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1629" name="Google Shape;1629;p70"/>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12.14</a:t>
            </a:r>
            <a:endParaRPr/>
          </a:p>
        </p:txBody>
      </p:sp>
      <p:graphicFrame>
        <p:nvGraphicFramePr>
          <p:cNvPr id="1630" name="Google Shape;1630;p70"/>
          <p:cNvGraphicFramePr/>
          <p:nvPr/>
        </p:nvGraphicFramePr>
        <p:xfrm>
          <a:off x="5296960" y="42064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 to 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631" name="Google Shape;1631;p70"/>
          <p:cNvGraphicFramePr/>
          <p:nvPr/>
        </p:nvGraphicFramePr>
        <p:xfrm>
          <a:off x="6368500" y="1682997"/>
          <a:ext cx="2381200" cy="234675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632" name="Google Shape;1632;p70"/>
          <p:cNvGraphicFramePr/>
          <p:nvPr/>
        </p:nvGraphicFramePr>
        <p:xfrm>
          <a:off x="1715560" y="42064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G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633" name="Google Shape;1633;p70"/>
          <p:cNvGraphicFramePr/>
          <p:nvPr/>
        </p:nvGraphicFramePr>
        <p:xfrm>
          <a:off x="2787100" y="1682997"/>
          <a:ext cx="2381200" cy="234675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1634" name="Google Shape;1634;p70"/>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Breadth-First Path</a:t>
            </a:r>
            <a:endParaRPr/>
          </a:p>
        </p:txBody>
      </p:sp>
      <p:sp>
        <p:nvSpPr>
          <p:cNvPr id="1635" name="Google Shape;1635;p70"/>
          <p:cNvSpPr txBox="1">
            <a:spLocks noGrp="1"/>
          </p:cNvSpPr>
          <p:nvPr>
            <p:ph type="body" idx="1"/>
          </p:nvPr>
        </p:nvSpPr>
        <p:spPr>
          <a:xfrm>
            <a:off x="65250" y="6554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1600"/>
              <a:buNone/>
            </a:pPr>
            <a:r>
              <a:rPr lang="en" i="1"/>
              <a:t>Building </a:t>
            </a:r>
            <a:r>
              <a:rPr lang="en"/>
              <a:t>a path using BFS is a little more complicated than simply </a:t>
            </a:r>
            <a:r>
              <a:rPr lang="en" i="1"/>
              <a:t>finding</a:t>
            </a:r>
            <a:r>
              <a:rPr lang="en"/>
              <a:t> one. Once again, it can be a useful activity to run through the steps "on paper" before trying to implement the algorithm Try it now using the searches below. Don't forget to visit neighbors in </a:t>
            </a:r>
            <a:r>
              <a:rPr lang="en" b="1" i="1" u="sng">
                <a:solidFill>
                  <a:srgbClr val="FF0000"/>
                </a:solidFill>
              </a:rPr>
              <a:t>alphabetical order</a:t>
            </a:r>
            <a:r>
              <a:rPr lang="en"/>
              <a:t>.</a:t>
            </a:r>
            <a:endParaRPr/>
          </a:p>
        </p:txBody>
      </p:sp>
      <p:grpSp>
        <p:nvGrpSpPr>
          <p:cNvPr id="1636" name="Google Shape;1636;p70"/>
          <p:cNvGrpSpPr/>
          <p:nvPr/>
        </p:nvGrpSpPr>
        <p:grpSpPr>
          <a:xfrm>
            <a:off x="185541" y="1658206"/>
            <a:ext cx="2160423" cy="2142938"/>
            <a:chOff x="5900277" y="743776"/>
            <a:chExt cx="2727118" cy="2705047"/>
          </a:xfrm>
        </p:grpSpPr>
        <p:sp>
          <p:nvSpPr>
            <p:cNvPr id="1637" name="Google Shape;1637;p70"/>
            <p:cNvSpPr/>
            <p:nvPr/>
          </p:nvSpPr>
          <p:spPr>
            <a:xfrm>
              <a:off x="6072743" y="743776"/>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638" name="Google Shape;1638;p70"/>
            <p:cNvSpPr/>
            <p:nvPr/>
          </p:nvSpPr>
          <p:spPr>
            <a:xfrm>
              <a:off x="7213995" y="106668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639" name="Google Shape;1639;p70"/>
            <p:cNvSpPr/>
            <p:nvPr/>
          </p:nvSpPr>
          <p:spPr>
            <a:xfrm>
              <a:off x="5900277" y="19409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640" name="Google Shape;1640;p70"/>
            <p:cNvSpPr/>
            <p:nvPr/>
          </p:nvSpPr>
          <p:spPr>
            <a:xfrm>
              <a:off x="7108281" y="2181542"/>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641" name="Google Shape;1641;p70"/>
            <p:cNvSpPr/>
            <p:nvPr/>
          </p:nvSpPr>
          <p:spPr>
            <a:xfrm>
              <a:off x="7936395" y="29268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642" name="Google Shape;1642;p70"/>
            <p:cNvCxnSpPr>
              <a:stCxn id="1637" idx="6"/>
              <a:endCxn id="1638" idx="1"/>
            </p:cNvCxnSpPr>
            <p:nvPr/>
          </p:nvCxnSpPr>
          <p:spPr>
            <a:xfrm>
              <a:off x="6594743" y="1004776"/>
              <a:ext cx="695700" cy="138300"/>
            </a:xfrm>
            <a:prstGeom prst="straightConnector1">
              <a:avLst/>
            </a:prstGeom>
            <a:noFill/>
            <a:ln w="19050" cap="flat" cmpd="sng">
              <a:solidFill>
                <a:srgbClr val="000000"/>
              </a:solidFill>
              <a:prstDash val="solid"/>
              <a:round/>
              <a:headEnd type="none" w="sm" len="sm"/>
              <a:tailEnd type="none" w="sm" len="sm"/>
            </a:ln>
          </p:spPr>
        </p:cxnSp>
        <p:cxnSp>
          <p:nvCxnSpPr>
            <p:cNvPr id="1643" name="Google Shape;1643;p70"/>
            <p:cNvCxnSpPr>
              <a:stCxn id="1637" idx="4"/>
              <a:endCxn id="1639" idx="0"/>
            </p:cNvCxnSpPr>
            <p:nvPr/>
          </p:nvCxnSpPr>
          <p:spPr>
            <a:xfrm flipH="1">
              <a:off x="6161243" y="1265776"/>
              <a:ext cx="172500" cy="675000"/>
            </a:xfrm>
            <a:prstGeom prst="straightConnector1">
              <a:avLst/>
            </a:prstGeom>
            <a:noFill/>
            <a:ln w="19050" cap="flat" cmpd="sng">
              <a:solidFill>
                <a:srgbClr val="000000"/>
              </a:solidFill>
              <a:prstDash val="solid"/>
              <a:round/>
              <a:headEnd type="none" w="sm" len="sm"/>
              <a:tailEnd type="none" w="sm" len="sm"/>
            </a:ln>
          </p:spPr>
        </p:cxnSp>
        <p:cxnSp>
          <p:nvCxnSpPr>
            <p:cNvPr id="1644" name="Google Shape;1644;p70"/>
            <p:cNvCxnSpPr>
              <a:stCxn id="1639" idx="5"/>
              <a:endCxn id="1640" idx="2"/>
            </p:cNvCxnSpPr>
            <p:nvPr/>
          </p:nvCxnSpPr>
          <p:spPr>
            <a:xfrm>
              <a:off x="6345832" y="2386478"/>
              <a:ext cx="762300" cy="56100"/>
            </a:xfrm>
            <a:prstGeom prst="straightConnector1">
              <a:avLst/>
            </a:prstGeom>
            <a:noFill/>
            <a:ln w="19050" cap="flat" cmpd="sng">
              <a:solidFill>
                <a:srgbClr val="000000"/>
              </a:solidFill>
              <a:prstDash val="solid"/>
              <a:round/>
              <a:headEnd type="none" w="sm" len="sm"/>
              <a:tailEnd type="none" w="sm" len="sm"/>
            </a:ln>
          </p:spPr>
        </p:cxnSp>
        <p:cxnSp>
          <p:nvCxnSpPr>
            <p:cNvPr id="1645" name="Google Shape;1645;p70"/>
            <p:cNvCxnSpPr>
              <a:stCxn id="1640" idx="5"/>
              <a:endCxn id="1641" idx="1"/>
            </p:cNvCxnSpPr>
            <p:nvPr/>
          </p:nvCxnSpPr>
          <p:spPr>
            <a:xfrm>
              <a:off x="7553836" y="2627097"/>
              <a:ext cx="459000" cy="376200"/>
            </a:xfrm>
            <a:prstGeom prst="straightConnector1">
              <a:avLst/>
            </a:prstGeom>
            <a:noFill/>
            <a:ln w="19050" cap="flat" cmpd="sng">
              <a:solidFill>
                <a:srgbClr val="000000"/>
              </a:solidFill>
              <a:prstDash val="solid"/>
              <a:round/>
              <a:headEnd type="none" w="sm" len="sm"/>
              <a:tailEnd type="none" w="sm" len="sm"/>
            </a:ln>
          </p:spPr>
        </p:cxnSp>
        <p:sp>
          <p:nvSpPr>
            <p:cNvPr id="1646" name="Google Shape;1646;p70"/>
            <p:cNvSpPr/>
            <p:nvPr/>
          </p:nvSpPr>
          <p:spPr>
            <a:xfrm>
              <a:off x="8105395" y="16736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647" name="Google Shape;1647;p70"/>
            <p:cNvCxnSpPr>
              <a:stCxn id="1640" idx="6"/>
              <a:endCxn id="1646" idx="3"/>
            </p:cNvCxnSpPr>
            <p:nvPr/>
          </p:nvCxnSpPr>
          <p:spPr>
            <a:xfrm rot="10800000" flipH="1">
              <a:off x="7630281" y="2119142"/>
              <a:ext cx="551700" cy="323400"/>
            </a:xfrm>
            <a:prstGeom prst="straightConnector1">
              <a:avLst/>
            </a:prstGeom>
            <a:noFill/>
            <a:ln w="19050" cap="flat" cmpd="sng">
              <a:solidFill>
                <a:srgbClr val="000000"/>
              </a:solidFill>
              <a:prstDash val="solid"/>
              <a:round/>
              <a:headEnd type="none" w="sm" len="sm"/>
              <a:tailEnd type="none" w="sm" len="sm"/>
            </a:ln>
          </p:spPr>
        </p:cxnSp>
      </p:grpSp>
      <p:graphicFrame>
        <p:nvGraphicFramePr>
          <p:cNvPr id="1648" name="Google Shape;1648;p70"/>
          <p:cNvGraphicFramePr/>
          <p:nvPr/>
        </p:nvGraphicFramePr>
        <p:xfrm>
          <a:off x="1715560" y="46636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649" name="Google Shape;1649;p70"/>
          <p:cNvGraphicFramePr/>
          <p:nvPr/>
        </p:nvGraphicFramePr>
        <p:xfrm>
          <a:off x="5296960" y="46636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53"/>
        <p:cNvGrpSpPr/>
        <p:nvPr/>
      </p:nvGrpSpPr>
      <p:grpSpPr>
        <a:xfrm>
          <a:off x="0" y="0"/>
          <a:ext cx="0" cy="0"/>
          <a:chOff x="0" y="0"/>
          <a:chExt cx="0" cy="0"/>
        </a:xfrm>
      </p:grpSpPr>
      <p:sp>
        <p:nvSpPr>
          <p:cNvPr id="1654" name="Google Shape;1654;p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1655" name="Google Shape;1655;p71"/>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12.14</a:t>
            </a:r>
            <a:endParaRPr/>
          </a:p>
        </p:txBody>
      </p:sp>
      <p:graphicFrame>
        <p:nvGraphicFramePr>
          <p:cNvPr id="1656" name="Google Shape;1656;p71"/>
          <p:cNvGraphicFramePr/>
          <p:nvPr/>
        </p:nvGraphicFramePr>
        <p:xfrm>
          <a:off x="5296960" y="42064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F to 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657" name="Google Shape;1657;p71"/>
          <p:cNvGraphicFramePr/>
          <p:nvPr/>
        </p:nvGraphicFramePr>
        <p:xfrm>
          <a:off x="6368500" y="1682997"/>
          <a:ext cx="2381200" cy="234675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658" name="Google Shape;1658;p71"/>
          <p:cNvGraphicFramePr/>
          <p:nvPr/>
        </p:nvGraphicFramePr>
        <p:xfrm>
          <a:off x="1715560" y="42064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G to C</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659" name="Google Shape;1659;p71"/>
          <p:cNvGraphicFramePr/>
          <p:nvPr/>
        </p:nvGraphicFramePr>
        <p:xfrm>
          <a:off x="2787100" y="1682997"/>
          <a:ext cx="2381200" cy="234675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1660" name="Google Shape;1660;p71"/>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Breadth-First Path</a:t>
            </a:r>
            <a:endParaRPr/>
          </a:p>
        </p:txBody>
      </p:sp>
      <p:sp>
        <p:nvSpPr>
          <p:cNvPr id="1661" name="Google Shape;1661;p71"/>
          <p:cNvSpPr txBox="1">
            <a:spLocks noGrp="1"/>
          </p:cNvSpPr>
          <p:nvPr>
            <p:ph type="body" idx="1"/>
          </p:nvPr>
        </p:nvSpPr>
        <p:spPr>
          <a:xfrm>
            <a:off x="65250" y="6554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1600"/>
              <a:buNone/>
            </a:pPr>
            <a:r>
              <a:rPr lang="en" i="1" dirty="0"/>
              <a:t>Building </a:t>
            </a:r>
            <a:r>
              <a:rPr lang="en" dirty="0"/>
              <a:t>a path using BFS is a little more complicated than simply </a:t>
            </a:r>
            <a:r>
              <a:rPr lang="en" i="1" dirty="0"/>
              <a:t>finding</a:t>
            </a:r>
            <a:r>
              <a:rPr lang="en" dirty="0"/>
              <a:t> one. Once again, it can be a useful activity to run through the steps "on paper" before trying to implement the algorithm Try it now using the searches below. Don't forget to visit neighbors in </a:t>
            </a:r>
            <a:r>
              <a:rPr lang="en" b="1" i="1" u="sng" dirty="0"/>
              <a:t>alphabetical order</a:t>
            </a:r>
            <a:r>
              <a:rPr lang="en" dirty="0"/>
              <a:t>.</a:t>
            </a:r>
            <a:endParaRPr dirty="0"/>
          </a:p>
        </p:txBody>
      </p:sp>
      <p:grpSp>
        <p:nvGrpSpPr>
          <p:cNvPr id="1662" name="Google Shape;1662;p71"/>
          <p:cNvGrpSpPr/>
          <p:nvPr/>
        </p:nvGrpSpPr>
        <p:grpSpPr>
          <a:xfrm>
            <a:off x="185541" y="1658206"/>
            <a:ext cx="2160423" cy="2142938"/>
            <a:chOff x="5900277" y="743776"/>
            <a:chExt cx="2727118" cy="2705047"/>
          </a:xfrm>
        </p:grpSpPr>
        <p:sp>
          <p:nvSpPr>
            <p:cNvPr id="1663" name="Google Shape;1663;p71"/>
            <p:cNvSpPr/>
            <p:nvPr/>
          </p:nvSpPr>
          <p:spPr>
            <a:xfrm>
              <a:off x="6072743" y="743776"/>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664" name="Google Shape;1664;p71"/>
            <p:cNvSpPr/>
            <p:nvPr/>
          </p:nvSpPr>
          <p:spPr>
            <a:xfrm>
              <a:off x="7213995" y="106668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665" name="Google Shape;1665;p71"/>
            <p:cNvSpPr/>
            <p:nvPr/>
          </p:nvSpPr>
          <p:spPr>
            <a:xfrm>
              <a:off x="5900277" y="19409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666" name="Google Shape;1666;p71"/>
            <p:cNvSpPr/>
            <p:nvPr/>
          </p:nvSpPr>
          <p:spPr>
            <a:xfrm>
              <a:off x="7108281" y="2181542"/>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667" name="Google Shape;1667;p71"/>
            <p:cNvSpPr/>
            <p:nvPr/>
          </p:nvSpPr>
          <p:spPr>
            <a:xfrm>
              <a:off x="7936395" y="29268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cxnSp>
          <p:nvCxnSpPr>
            <p:cNvPr id="1668" name="Google Shape;1668;p71"/>
            <p:cNvCxnSpPr>
              <a:stCxn id="1663" idx="6"/>
              <a:endCxn id="1664" idx="1"/>
            </p:cNvCxnSpPr>
            <p:nvPr/>
          </p:nvCxnSpPr>
          <p:spPr>
            <a:xfrm>
              <a:off x="6594743" y="1004776"/>
              <a:ext cx="695700" cy="138300"/>
            </a:xfrm>
            <a:prstGeom prst="straightConnector1">
              <a:avLst/>
            </a:prstGeom>
            <a:noFill/>
            <a:ln w="19050" cap="flat" cmpd="sng">
              <a:solidFill>
                <a:srgbClr val="000000"/>
              </a:solidFill>
              <a:prstDash val="solid"/>
              <a:round/>
              <a:headEnd type="none" w="sm" len="sm"/>
              <a:tailEnd type="none" w="sm" len="sm"/>
            </a:ln>
          </p:spPr>
        </p:cxnSp>
        <p:cxnSp>
          <p:nvCxnSpPr>
            <p:cNvPr id="1669" name="Google Shape;1669;p71"/>
            <p:cNvCxnSpPr>
              <a:stCxn id="1663" idx="4"/>
              <a:endCxn id="1665" idx="0"/>
            </p:cNvCxnSpPr>
            <p:nvPr/>
          </p:nvCxnSpPr>
          <p:spPr>
            <a:xfrm flipH="1">
              <a:off x="6161243" y="1265776"/>
              <a:ext cx="172500" cy="675000"/>
            </a:xfrm>
            <a:prstGeom prst="straightConnector1">
              <a:avLst/>
            </a:prstGeom>
            <a:noFill/>
            <a:ln w="19050" cap="flat" cmpd="sng">
              <a:solidFill>
                <a:srgbClr val="000000"/>
              </a:solidFill>
              <a:prstDash val="solid"/>
              <a:round/>
              <a:headEnd type="none" w="sm" len="sm"/>
              <a:tailEnd type="none" w="sm" len="sm"/>
            </a:ln>
          </p:spPr>
        </p:cxnSp>
        <p:cxnSp>
          <p:nvCxnSpPr>
            <p:cNvPr id="1670" name="Google Shape;1670;p71"/>
            <p:cNvCxnSpPr>
              <a:stCxn id="1665" idx="5"/>
              <a:endCxn id="1666" idx="2"/>
            </p:cNvCxnSpPr>
            <p:nvPr/>
          </p:nvCxnSpPr>
          <p:spPr>
            <a:xfrm>
              <a:off x="6345832" y="2386478"/>
              <a:ext cx="762300" cy="56100"/>
            </a:xfrm>
            <a:prstGeom prst="straightConnector1">
              <a:avLst/>
            </a:prstGeom>
            <a:noFill/>
            <a:ln w="19050" cap="flat" cmpd="sng">
              <a:solidFill>
                <a:srgbClr val="000000"/>
              </a:solidFill>
              <a:prstDash val="solid"/>
              <a:round/>
              <a:headEnd type="none" w="sm" len="sm"/>
              <a:tailEnd type="none" w="sm" len="sm"/>
            </a:ln>
          </p:spPr>
        </p:cxnSp>
        <p:cxnSp>
          <p:nvCxnSpPr>
            <p:cNvPr id="1671" name="Google Shape;1671;p71"/>
            <p:cNvCxnSpPr>
              <a:stCxn id="1666" idx="5"/>
              <a:endCxn id="1667" idx="1"/>
            </p:cNvCxnSpPr>
            <p:nvPr/>
          </p:nvCxnSpPr>
          <p:spPr>
            <a:xfrm>
              <a:off x="7553836" y="2627097"/>
              <a:ext cx="459000" cy="376200"/>
            </a:xfrm>
            <a:prstGeom prst="straightConnector1">
              <a:avLst/>
            </a:prstGeom>
            <a:noFill/>
            <a:ln w="19050" cap="flat" cmpd="sng">
              <a:solidFill>
                <a:srgbClr val="000000"/>
              </a:solidFill>
              <a:prstDash val="solid"/>
              <a:round/>
              <a:headEnd type="none" w="sm" len="sm"/>
              <a:tailEnd type="none" w="sm" len="sm"/>
            </a:ln>
          </p:spPr>
        </p:cxnSp>
        <p:sp>
          <p:nvSpPr>
            <p:cNvPr id="1672" name="Google Shape;1672;p71"/>
            <p:cNvSpPr/>
            <p:nvPr/>
          </p:nvSpPr>
          <p:spPr>
            <a:xfrm>
              <a:off x="8105395" y="1673623"/>
              <a:ext cx="522000" cy="5220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cxnSp>
          <p:nvCxnSpPr>
            <p:cNvPr id="1673" name="Google Shape;1673;p71"/>
            <p:cNvCxnSpPr>
              <a:stCxn id="1666" idx="6"/>
              <a:endCxn id="1672" idx="3"/>
            </p:cNvCxnSpPr>
            <p:nvPr/>
          </p:nvCxnSpPr>
          <p:spPr>
            <a:xfrm rot="10800000" flipH="1">
              <a:off x="7630281" y="2119142"/>
              <a:ext cx="551700" cy="323400"/>
            </a:xfrm>
            <a:prstGeom prst="straightConnector1">
              <a:avLst/>
            </a:prstGeom>
            <a:noFill/>
            <a:ln w="19050" cap="flat" cmpd="sng">
              <a:solidFill>
                <a:srgbClr val="000000"/>
              </a:solidFill>
              <a:prstDash val="solid"/>
              <a:round/>
              <a:headEnd type="none" w="sm" len="sm"/>
              <a:tailEnd type="none" w="sm" len="sm"/>
            </a:ln>
          </p:spPr>
        </p:cxnSp>
      </p:grpSp>
      <p:sp>
        <p:nvSpPr>
          <p:cNvPr id="1674" name="Google Shape;1674;p71"/>
          <p:cNvSpPr txBox="1"/>
          <p:nvPr/>
        </p:nvSpPr>
        <p:spPr>
          <a:xfrm>
            <a:off x="2381329" y="4229017"/>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675" name="Google Shape;1675;p71"/>
          <p:cNvGrpSpPr/>
          <p:nvPr/>
        </p:nvGrpSpPr>
        <p:grpSpPr>
          <a:xfrm>
            <a:off x="3162593" y="1981545"/>
            <a:ext cx="1884976" cy="419290"/>
            <a:chOff x="3391193" y="1981545"/>
            <a:chExt cx="1884976" cy="419290"/>
          </a:xfrm>
        </p:grpSpPr>
        <p:sp>
          <p:nvSpPr>
            <p:cNvPr id="1676" name="Google Shape;1676;p71"/>
            <p:cNvSpPr txBox="1"/>
            <p:nvPr/>
          </p:nvSpPr>
          <p:spPr>
            <a:xfrm>
              <a:off x="3391193" y="198154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sp>
          <p:nvSpPr>
            <p:cNvPr id="1677" name="Google Shape;1677;p71"/>
            <p:cNvSpPr txBox="1"/>
            <p:nvPr/>
          </p:nvSpPr>
          <p:spPr>
            <a:xfrm>
              <a:off x="4292769" y="2007235"/>
              <a:ext cx="9834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null</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678" name="Google Shape;1678;p71"/>
          <p:cNvSpPr txBox="1"/>
          <p:nvPr/>
        </p:nvSpPr>
        <p:spPr>
          <a:xfrm>
            <a:off x="2364482"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679" name="Google Shape;1679;p71"/>
          <p:cNvGrpSpPr/>
          <p:nvPr/>
        </p:nvGrpSpPr>
        <p:grpSpPr>
          <a:xfrm>
            <a:off x="2781593" y="2324873"/>
            <a:ext cx="1960257" cy="2284901"/>
            <a:chOff x="3010193" y="2324873"/>
            <a:chExt cx="1960257" cy="2284901"/>
          </a:xfrm>
        </p:grpSpPr>
        <p:sp>
          <p:nvSpPr>
            <p:cNvPr id="1680" name="Google Shape;1680;p71"/>
            <p:cNvSpPr txBox="1"/>
            <p:nvPr/>
          </p:nvSpPr>
          <p:spPr>
            <a:xfrm>
              <a:off x="3010193" y="421617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681" name="Google Shape;1681;p71"/>
            <p:cNvGrpSpPr/>
            <p:nvPr/>
          </p:nvGrpSpPr>
          <p:grpSpPr>
            <a:xfrm>
              <a:off x="3391193" y="2324873"/>
              <a:ext cx="1579257" cy="393600"/>
              <a:chOff x="3391193" y="2324873"/>
              <a:chExt cx="1579257" cy="393600"/>
            </a:xfrm>
          </p:grpSpPr>
          <p:sp>
            <p:nvSpPr>
              <p:cNvPr id="1682" name="Google Shape;1682;p71"/>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683" name="Google Shape;1683;p71"/>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grpSp>
      </p:grpSp>
      <p:grpSp>
        <p:nvGrpSpPr>
          <p:cNvPr id="1684" name="Google Shape;1684;p71"/>
          <p:cNvGrpSpPr/>
          <p:nvPr/>
        </p:nvGrpSpPr>
        <p:grpSpPr>
          <a:xfrm>
            <a:off x="3162593" y="2668201"/>
            <a:ext cx="1579257" cy="1930443"/>
            <a:chOff x="3391193" y="2668201"/>
            <a:chExt cx="1579257" cy="1930443"/>
          </a:xfrm>
        </p:grpSpPr>
        <p:grpSp>
          <p:nvGrpSpPr>
            <p:cNvPr id="1685" name="Google Shape;1685;p71"/>
            <p:cNvGrpSpPr/>
            <p:nvPr/>
          </p:nvGrpSpPr>
          <p:grpSpPr>
            <a:xfrm>
              <a:off x="3391193" y="2668201"/>
              <a:ext cx="1579257" cy="393600"/>
              <a:chOff x="3391193" y="2324873"/>
              <a:chExt cx="1579257" cy="393600"/>
            </a:xfrm>
          </p:grpSpPr>
          <p:sp>
            <p:nvSpPr>
              <p:cNvPr id="1686" name="Google Shape;1686;p71"/>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687" name="Google Shape;1687;p71"/>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688" name="Google Shape;1688;p71"/>
            <p:cNvSpPr txBox="1"/>
            <p:nvPr/>
          </p:nvSpPr>
          <p:spPr>
            <a:xfrm>
              <a:off x="3391193" y="42050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689" name="Google Shape;1689;p71"/>
          <p:cNvSpPr txBox="1"/>
          <p:nvPr/>
        </p:nvSpPr>
        <p:spPr>
          <a:xfrm>
            <a:off x="2764746"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690" name="Google Shape;1690;p71"/>
          <p:cNvSpPr txBox="1"/>
          <p:nvPr/>
        </p:nvSpPr>
        <p:spPr>
          <a:xfrm>
            <a:off x="3165010"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691" name="Google Shape;1691;p71"/>
          <p:cNvGrpSpPr/>
          <p:nvPr/>
        </p:nvGrpSpPr>
        <p:grpSpPr>
          <a:xfrm>
            <a:off x="3162593" y="2992265"/>
            <a:ext cx="1579257" cy="1612800"/>
            <a:chOff x="3391193" y="2992265"/>
            <a:chExt cx="1579257" cy="1612800"/>
          </a:xfrm>
        </p:grpSpPr>
        <p:grpSp>
          <p:nvGrpSpPr>
            <p:cNvPr id="1692" name="Google Shape;1692;p71"/>
            <p:cNvGrpSpPr/>
            <p:nvPr/>
          </p:nvGrpSpPr>
          <p:grpSpPr>
            <a:xfrm>
              <a:off x="3391193" y="2992265"/>
              <a:ext cx="1579257" cy="393600"/>
              <a:chOff x="3391193" y="2324873"/>
              <a:chExt cx="1579257" cy="393600"/>
            </a:xfrm>
          </p:grpSpPr>
          <p:sp>
            <p:nvSpPr>
              <p:cNvPr id="1693" name="Google Shape;1693;p71"/>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694" name="Google Shape;1694;p71"/>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695" name="Google Shape;1695;p71"/>
            <p:cNvSpPr txBox="1"/>
            <p:nvPr/>
          </p:nvSpPr>
          <p:spPr>
            <a:xfrm>
              <a:off x="3816286" y="42114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696" name="Google Shape;1696;p71"/>
          <p:cNvSpPr/>
          <p:nvPr/>
        </p:nvSpPr>
        <p:spPr>
          <a:xfrm>
            <a:off x="3594530" y="4219625"/>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697" name="Google Shape;1697;p71"/>
          <p:cNvGraphicFramePr/>
          <p:nvPr/>
        </p:nvGraphicFramePr>
        <p:xfrm>
          <a:off x="1715560" y="46636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698" name="Google Shape;1698;p71"/>
          <p:cNvSpPr txBox="1"/>
          <p:nvPr/>
        </p:nvSpPr>
        <p:spPr>
          <a:xfrm>
            <a:off x="3174990"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699" name="Google Shape;1699;p71"/>
          <p:cNvSpPr txBox="1"/>
          <p:nvPr/>
        </p:nvSpPr>
        <p:spPr>
          <a:xfrm>
            <a:off x="2781147"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700" name="Google Shape;1700;p71"/>
          <p:cNvSpPr txBox="1"/>
          <p:nvPr/>
        </p:nvSpPr>
        <p:spPr>
          <a:xfrm>
            <a:off x="2368896"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701" name="Google Shape;1701;p71"/>
          <p:cNvGrpSpPr/>
          <p:nvPr/>
        </p:nvGrpSpPr>
        <p:grpSpPr>
          <a:xfrm>
            <a:off x="1979053" y="2851938"/>
            <a:ext cx="1969101" cy="2206552"/>
            <a:chOff x="2207653" y="2851938"/>
            <a:chExt cx="1969101" cy="2206552"/>
          </a:xfrm>
        </p:grpSpPr>
        <p:sp>
          <p:nvSpPr>
            <p:cNvPr id="1702" name="Google Shape;1702;p71"/>
            <p:cNvSpPr txBox="1"/>
            <p:nvPr/>
          </p:nvSpPr>
          <p:spPr>
            <a:xfrm>
              <a:off x="3803854"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703" name="Google Shape;1703;p71"/>
            <p:cNvGrpSpPr/>
            <p:nvPr/>
          </p:nvGrpSpPr>
          <p:grpSpPr>
            <a:xfrm>
              <a:off x="2207653" y="2851938"/>
              <a:ext cx="1247097" cy="557400"/>
              <a:chOff x="2207653" y="2851938"/>
              <a:chExt cx="1247097" cy="557400"/>
            </a:xfrm>
          </p:grpSpPr>
          <p:sp>
            <p:nvSpPr>
              <p:cNvPr id="1704" name="Google Shape;1704;p71"/>
              <p:cNvSpPr/>
              <p:nvPr/>
            </p:nvSpPr>
            <p:spPr>
              <a:xfrm>
                <a:off x="2754825" y="3059840"/>
                <a:ext cx="699925" cy="93300"/>
              </a:xfrm>
              <a:custGeom>
                <a:avLst/>
                <a:gdLst/>
                <a:ahLst/>
                <a:cxnLst/>
                <a:rect l="l" t="t" r="r" b="b"/>
                <a:pathLst>
                  <a:path w="27997" h="3732" extrusionOk="0">
                    <a:moveTo>
                      <a:pt x="0" y="907"/>
                    </a:moveTo>
                    <a:cubicBezTo>
                      <a:pt x="1712" y="779"/>
                      <a:pt x="5608" y="-335"/>
                      <a:pt x="10274" y="136"/>
                    </a:cubicBezTo>
                    <a:cubicBezTo>
                      <a:pt x="14940" y="607"/>
                      <a:pt x="25043" y="3133"/>
                      <a:pt x="27997" y="3732"/>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5" name="Google Shape;1705;p71"/>
              <p:cNvSpPr txBox="1"/>
              <p:nvPr/>
            </p:nvSpPr>
            <p:spPr>
              <a:xfrm rot="-1181307">
                <a:off x="2247682" y="2954092"/>
                <a:ext cx="667843" cy="35309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START HERE</a:t>
                </a:r>
                <a:endParaRPr sz="1400" b="0" i="0" u="none" strike="noStrike" cap="none">
                  <a:solidFill>
                    <a:srgbClr val="FF0000"/>
                  </a:solidFill>
                  <a:latin typeface="Shadows Into Light"/>
                  <a:ea typeface="Shadows Into Light"/>
                  <a:cs typeface="Shadows Into Light"/>
                  <a:sym typeface="Shadows Into Light"/>
                </a:endParaRPr>
              </a:p>
            </p:txBody>
          </p:sp>
        </p:grpSp>
      </p:grpSp>
      <p:grpSp>
        <p:nvGrpSpPr>
          <p:cNvPr id="1706" name="Google Shape;1706;p71"/>
          <p:cNvGrpSpPr/>
          <p:nvPr/>
        </p:nvGrpSpPr>
        <p:grpSpPr>
          <a:xfrm>
            <a:off x="4780125" y="1528999"/>
            <a:ext cx="1087568" cy="675015"/>
            <a:chOff x="5008725" y="1528999"/>
            <a:chExt cx="1087568" cy="675015"/>
          </a:xfrm>
        </p:grpSpPr>
        <p:sp>
          <p:nvSpPr>
            <p:cNvPr id="1707" name="Google Shape;1707;p71"/>
            <p:cNvSpPr txBox="1"/>
            <p:nvPr/>
          </p:nvSpPr>
          <p:spPr>
            <a:xfrm rot="1075329">
              <a:off x="5390390" y="1623192"/>
              <a:ext cx="667805" cy="35311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STOP HERE</a:t>
              </a:r>
              <a:endParaRPr sz="1400" b="0" i="0" u="none" strike="noStrike" cap="none">
                <a:solidFill>
                  <a:srgbClr val="FF0000"/>
                </a:solidFill>
                <a:latin typeface="Shadows Into Light"/>
                <a:ea typeface="Shadows Into Light"/>
                <a:cs typeface="Shadows Into Light"/>
                <a:sym typeface="Shadows Into Light"/>
              </a:endParaRPr>
            </a:p>
          </p:txBody>
        </p:sp>
        <p:sp>
          <p:nvSpPr>
            <p:cNvPr id="1708" name="Google Shape;1708;p71"/>
            <p:cNvSpPr/>
            <p:nvPr/>
          </p:nvSpPr>
          <p:spPr>
            <a:xfrm>
              <a:off x="5008725" y="1725900"/>
              <a:ext cx="584325" cy="478114"/>
            </a:xfrm>
            <a:custGeom>
              <a:avLst/>
              <a:gdLst/>
              <a:ahLst/>
              <a:cxnLst/>
              <a:rect l="l" t="t" r="r" b="b"/>
              <a:pathLst>
                <a:path w="23373" h="22347" extrusionOk="0">
                  <a:moveTo>
                    <a:pt x="23373" y="0"/>
                  </a:moveTo>
                  <a:cubicBezTo>
                    <a:pt x="21575" y="1199"/>
                    <a:pt x="16482" y="3468"/>
                    <a:pt x="12586" y="7192"/>
                  </a:cubicBezTo>
                  <a:cubicBezTo>
                    <a:pt x="8691" y="10917"/>
                    <a:pt x="2098" y="19821"/>
                    <a:pt x="0" y="22347"/>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709" name="Google Shape;1709;p71"/>
          <p:cNvCxnSpPr>
            <a:stCxn id="1693" idx="3"/>
            <a:endCxn id="1694" idx="1"/>
          </p:cNvCxnSpPr>
          <p:nvPr/>
        </p:nvCxnSpPr>
        <p:spPr>
          <a:xfrm>
            <a:off x="3535493" y="3189065"/>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710" name="Google Shape;1710;p71"/>
          <p:cNvCxnSpPr>
            <a:stCxn id="1686" idx="3"/>
            <a:endCxn id="1687" idx="1"/>
          </p:cNvCxnSpPr>
          <p:nvPr/>
        </p:nvCxnSpPr>
        <p:spPr>
          <a:xfrm>
            <a:off x="3535493" y="2865001"/>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711" name="Google Shape;1711;p71"/>
          <p:cNvCxnSpPr>
            <a:stCxn id="1682" idx="3"/>
            <a:endCxn id="1683" idx="1"/>
          </p:cNvCxnSpPr>
          <p:nvPr/>
        </p:nvCxnSpPr>
        <p:spPr>
          <a:xfrm>
            <a:off x="3535493" y="2521673"/>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712" name="Google Shape;1712;p71"/>
          <p:cNvCxnSpPr/>
          <p:nvPr/>
        </p:nvCxnSpPr>
        <p:spPr>
          <a:xfrm>
            <a:off x="3535493" y="2216873"/>
            <a:ext cx="833400" cy="0"/>
          </a:xfrm>
          <a:prstGeom prst="straightConnector1">
            <a:avLst/>
          </a:prstGeom>
          <a:noFill/>
          <a:ln w="19050" cap="flat" cmpd="sng">
            <a:solidFill>
              <a:srgbClr val="FF0000"/>
            </a:solidFill>
            <a:prstDash val="solid"/>
            <a:round/>
            <a:headEnd type="none" w="sm" len="sm"/>
            <a:tailEnd type="triangle" w="med" len="med"/>
          </a:ln>
        </p:spPr>
      </p:cxnSp>
      <p:grpSp>
        <p:nvGrpSpPr>
          <p:cNvPr id="1713" name="Google Shape;1713;p71"/>
          <p:cNvGrpSpPr/>
          <p:nvPr/>
        </p:nvGrpSpPr>
        <p:grpSpPr>
          <a:xfrm>
            <a:off x="5958714" y="1981545"/>
            <a:ext cx="2670255" cy="2613507"/>
            <a:chOff x="6187314" y="1981545"/>
            <a:chExt cx="2670255" cy="2613507"/>
          </a:xfrm>
        </p:grpSpPr>
        <p:sp>
          <p:nvSpPr>
            <p:cNvPr id="1714" name="Google Shape;1714;p71"/>
            <p:cNvSpPr txBox="1"/>
            <p:nvPr/>
          </p:nvSpPr>
          <p:spPr>
            <a:xfrm>
              <a:off x="6187314" y="4201452"/>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715" name="Google Shape;1715;p71"/>
            <p:cNvGrpSpPr/>
            <p:nvPr/>
          </p:nvGrpSpPr>
          <p:grpSpPr>
            <a:xfrm>
              <a:off x="6972593" y="1981545"/>
              <a:ext cx="1884976" cy="419290"/>
              <a:chOff x="3391193" y="1981545"/>
              <a:chExt cx="1884976" cy="419290"/>
            </a:xfrm>
          </p:grpSpPr>
          <p:sp>
            <p:nvSpPr>
              <p:cNvPr id="1716" name="Google Shape;1716;p71"/>
              <p:cNvSpPr txBox="1"/>
              <p:nvPr/>
            </p:nvSpPr>
            <p:spPr>
              <a:xfrm>
                <a:off x="3391193" y="198154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717" name="Google Shape;1717;p71"/>
              <p:cNvSpPr txBox="1"/>
              <p:nvPr/>
            </p:nvSpPr>
            <p:spPr>
              <a:xfrm>
                <a:off x="4292769" y="2007235"/>
                <a:ext cx="9834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null</a:t>
                </a:r>
                <a:endParaRPr sz="2500" b="0" i="0" u="none" strike="noStrike" cap="none">
                  <a:solidFill>
                    <a:srgbClr val="4A86E8"/>
                  </a:solidFill>
                  <a:latin typeface="Shadows Into Light"/>
                  <a:ea typeface="Shadows Into Light"/>
                  <a:cs typeface="Shadows Into Light"/>
                  <a:sym typeface="Shadows Into Light"/>
                </a:endParaRPr>
              </a:p>
            </p:txBody>
          </p:sp>
        </p:grpSp>
      </p:grpSp>
      <p:sp>
        <p:nvSpPr>
          <p:cNvPr id="1718" name="Google Shape;1718;p71"/>
          <p:cNvSpPr txBox="1"/>
          <p:nvPr/>
        </p:nvSpPr>
        <p:spPr>
          <a:xfrm>
            <a:off x="5965146"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719" name="Google Shape;1719;p71"/>
          <p:cNvGrpSpPr/>
          <p:nvPr/>
        </p:nvGrpSpPr>
        <p:grpSpPr>
          <a:xfrm>
            <a:off x="6355715" y="2331295"/>
            <a:ext cx="1973100" cy="2273785"/>
            <a:chOff x="6584315" y="2331295"/>
            <a:chExt cx="1973100" cy="2273785"/>
          </a:xfrm>
        </p:grpSpPr>
        <p:sp>
          <p:nvSpPr>
            <p:cNvPr id="1720" name="Google Shape;1720;p71"/>
            <p:cNvSpPr txBox="1"/>
            <p:nvPr/>
          </p:nvSpPr>
          <p:spPr>
            <a:xfrm>
              <a:off x="6965315" y="233129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721" name="Google Shape;1721;p71"/>
            <p:cNvSpPr txBox="1"/>
            <p:nvPr/>
          </p:nvSpPr>
          <p:spPr>
            <a:xfrm>
              <a:off x="6965315" y="266178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sp>
          <p:nvSpPr>
            <p:cNvPr id="1722" name="Google Shape;1722;p71"/>
            <p:cNvSpPr txBox="1"/>
            <p:nvPr/>
          </p:nvSpPr>
          <p:spPr>
            <a:xfrm>
              <a:off x="8184515" y="233129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723" name="Google Shape;1723;p71"/>
            <p:cNvSpPr txBox="1"/>
            <p:nvPr/>
          </p:nvSpPr>
          <p:spPr>
            <a:xfrm>
              <a:off x="8184515" y="266178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sp>
          <p:nvSpPr>
            <p:cNvPr id="1724" name="Google Shape;1724;p71"/>
            <p:cNvSpPr txBox="1"/>
            <p:nvPr/>
          </p:nvSpPr>
          <p:spPr>
            <a:xfrm>
              <a:off x="6584315" y="42114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725" name="Google Shape;1725;p71"/>
            <p:cNvSpPr txBox="1"/>
            <p:nvPr/>
          </p:nvSpPr>
          <p:spPr>
            <a:xfrm>
              <a:off x="6987733" y="421148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G</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726" name="Google Shape;1726;p71"/>
          <p:cNvGrpSpPr/>
          <p:nvPr/>
        </p:nvGrpSpPr>
        <p:grpSpPr>
          <a:xfrm>
            <a:off x="6736715" y="2985844"/>
            <a:ext cx="1592100" cy="1612800"/>
            <a:chOff x="6965315" y="2985844"/>
            <a:chExt cx="1592100" cy="1612800"/>
          </a:xfrm>
        </p:grpSpPr>
        <p:sp>
          <p:nvSpPr>
            <p:cNvPr id="1727" name="Google Shape;1727;p71"/>
            <p:cNvSpPr txBox="1"/>
            <p:nvPr/>
          </p:nvSpPr>
          <p:spPr>
            <a:xfrm>
              <a:off x="6965315" y="29858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728" name="Google Shape;1728;p71"/>
            <p:cNvSpPr txBox="1"/>
            <p:nvPr/>
          </p:nvSpPr>
          <p:spPr>
            <a:xfrm>
              <a:off x="8184515" y="29858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729" name="Google Shape;1729;p71"/>
            <p:cNvSpPr txBox="1"/>
            <p:nvPr/>
          </p:nvSpPr>
          <p:spPr>
            <a:xfrm>
              <a:off x="7396830" y="42050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730" name="Google Shape;1730;p71"/>
          <p:cNvGrpSpPr/>
          <p:nvPr/>
        </p:nvGrpSpPr>
        <p:grpSpPr>
          <a:xfrm>
            <a:off x="6736715" y="3329172"/>
            <a:ext cx="1592100" cy="1263907"/>
            <a:chOff x="6965315" y="3329172"/>
            <a:chExt cx="1592100" cy="1263907"/>
          </a:xfrm>
        </p:grpSpPr>
        <p:sp>
          <p:nvSpPr>
            <p:cNvPr id="1731" name="Google Shape;1731;p71"/>
            <p:cNvSpPr txBox="1"/>
            <p:nvPr/>
          </p:nvSpPr>
          <p:spPr>
            <a:xfrm>
              <a:off x="6965315" y="3329172"/>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732" name="Google Shape;1732;p71"/>
            <p:cNvSpPr txBox="1"/>
            <p:nvPr/>
          </p:nvSpPr>
          <p:spPr>
            <a:xfrm>
              <a:off x="6965315" y="365965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sp>
          <p:nvSpPr>
            <p:cNvPr id="1733" name="Google Shape;1733;p71"/>
            <p:cNvSpPr txBox="1"/>
            <p:nvPr/>
          </p:nvSpPr>
          <p:spPr>
            <a:xfrm>
              <a:off x="8184515" y="3329172"/>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734" name="Google Shape;1734;p71"/>
            <p:cNvSpPr txBox="1"/>
            <p:nvPr/>
          </p:nvSpPr>
          <p:spPr>
            <a:xfrm>
              <a:off x="8184515" y="365965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735" name="Google Shape;1735;p71"/>
            <p:cNvSpPr txBox="1"/>
            <p:nvPr/>
          </p:nvSpPr>
          <p:spPr>
            <a:xfrm>
              <a:off x="7781086" y="419710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B</a:t>
              </a:r>
              <a:endParaRPr sz="2500" b="0" i="0" u="none" strike="noStrike" cap="none">
                <a:solidFill>
                  <a:srgbClr val="4A86E8"/>
                </a:solidFill>
                <a:latin typeface="Shadows Into Light"/>
                <a:ea typeface="Shadows Into Light"/>
                <a:cs typeface="Shadows Into Light"/>
                <a:sym typeface="Shadows Into Light"/>
              </a:endParaRPr>
            </a:p>
          </p:txBody>
        </p:sp>
        <p:sp>
          <p:nvSpPr>
            <p:cNvPr id="1736" name="Google Shape;1736;p71"/>
            <p:cNvSpPr txBox="1"/>
            <p:nvPr/>
          </p:nvSpPr>
          <p:spPr>
            <a:xfrm>
              <a:off x="8184515" y="41994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737" name="Google Shape;1737;p71"/>
          <p:cNvSpPr txBox="1"/>
          <p:nvPr/>
        </p:nvSpPr>
        <p:spPr>
          <a:xfrm>
            <a:off x="6352567"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738" name="Google Shape;1738;p71"/>
          <p:cNvSpPr txBox="1"/>
          <p:nvPr/>
        </p:nvSpPr>
        <p:spPr>
          <a:xfrm>
            <a:off x="6746410"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739" name="Google Shape;1739;p71"/>
          <p:cNvSpPr txBox="1"/>
          <p:nvPr/>
        </p:nvSpPr>
        <p:spPr>
          <a:xfrm>
            <a:off x="7165082"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aphicFrame>
        <p:nvGraphicFramePr>
          <p:cNvPr id="1740" name="Google Shape;1740;p71"/>
          <p:cNvGraphicFramePr/>
          <p:nvPr/>
        </p:nvGraphicFramePr>
        <p:xfrm>
          <a:off x="5296960" y="4663600"/>
          <a:ext cx="3445075" cy="39621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741" name="Google Shape;1741;p71"/>
          <p:cNvGrpSpPr/>
          <p:nvPr/>
        </p:nvGrpSpPr>
        <p:grpSpPr>
          <a:xfrm>
            <a:off x="5331853" y="3544159"/>
            <a:ext cx="2202856" cy="1506120"/>
            <a:chOff x="5331853" y="3544159"/>
            <a:chExt cx="2202856" cy="1506120"/>
          </a:xfrm>
        </p:grpSpPr>
        <p:grpSp>
          <p:nvGrpSpPr>
            <p:cNvPr id="1742" name="Google Shape;1742;p71"/>
            <p:cNvGrpSpPr/>
            <p:nvPr/>
          </p:nvGrpSpPr>
          <p:grpSpPr>
            <a:xfrm>
              <a:off x="5331853" y="3544159"/>
              <a:ext cx="1247097" cy="557400"/>
              <a:chOff x="2207653" y="3163159"/>
              <a:chExt cx="1247097" cy="557400"/>
            </a:xfrm>
          </p:grpSpPr>
          <p:sp>
            <p:nvSpPr>
              <p:cNvPr id="1743" name="Google Shape;1743;p71"/>
              <p:cNvSpPr/>
              <p:nvPr/>
            </p:nvSpPr>
            <p:spPr>
              <a:xfrm>
                <a:off x="2754825" y="3371061"/>
                <a:ext cx="699925" cy="93300"/>
              </a:xfrm>
              <a:custGeom>
                <a:avLst/>
                <a:gdLst/>
                <a:ahLst/>
                <a:cxnLst/>
                <a:rect l="l" t="t" r="r" b="b"/>
                <a:pathLst>
                  <a:path w="27997" h="3732" extrusionOk="0">
                    <a:moveTo>
                      <a:pt x="0" y="907"/>
                    </a:moveTo>
                    <a:cubicBezTo>
                      <a:pt x="1712" y="779"/>
                      <a:pt x="5608" y="-335"/>
                      <a:pt x="10274" y="136"/>
                    </a:cubicBezTo>
                    <a:cubicBezTo>
                      <a:pt x="14940" y="607"/>
                      <a:pt x="25043" y="3133"/>
                      <a:pt x="27997" y="3732"/>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4" name="Google Shape;1744;p71"/>
              <p:cNvSpPr txBox="1"/>
              <p:nvPr/>
            </p:nvSpPr>
            <p:spPr>
              <a:xfrm rot="-1181307">
                <a:off x="2247682" y="3265313"/>
                <a:ext cx="667843" cy="35309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START HERE</a:t>
                </a:r>
                <a:endParaRPr sz="1400" b="0" i="0" u="none" strike="noStrike" cap="none">
                  <a:solidFill>
                    <a:srgbClr val="FF0000"/>
                  </a:solidFill>
                  <a:latin typeface="Shadows Into Light"/>
                  <a:ea typeface="Shadows Into Light"/>
                  <a:cs typeface="Shadows Into Light"/>
                  <a:sym typeface="Shadows Into Light"/>
                </a:endParaRPr>
              </a:p>
            </p:txBody>
          </p:sp>
        </p:grpSp>
        <p:sp>
          <p:nvSpPr>
            <p:cNvPr id="1745" name="Google Shape;1745;p71"/>
            <p:cNvSpPr txBox="1"/>
            <p:nvPr/>
          </p:nvSpPr>
          <p:spPr>
            <a:xfrm>
              <a:off x="7161809"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H</a:t>
              </a:r>
              <a:endParaRPr sz="2500" b="0" i="0" u="none" strike="noStrike" cap="none">
                <a:solidFill>
                  <a:srgbClr val="4A86E8"/>
                </a:solidFill>
                <a:latin typeface="Shadows Into Light"/>
                <a:ea typeface="Shadows Into Light"/>
                <a:cs typeface="Shadows Into Light"/>
                <a:sym typeface="Shadows Into Light"/>
              </a:endParaRPr>
            </a:p>
          </p:txBody>
        </p:sp>
      </p:grpSp>
      <p:cxnSp>
        <p:nvCxnSpPr>
          <p:cNvPr id="1746" name="Google Shape;1746;p71"/>
          <p:cNvCxnSpPr/>
          <p:nvPr/>
        </p:nvCxnSpPr>
        <p:spPr>
          <a:xfrm>
            <a:off x="7116037" y="3836337"/>
            <a:ext cx="833400" cy="0"/>
          </a:xfrm>
          <a:prstGeom prst="straightConnector1">
            <a:avLst/>
          </a:prstGeom>
          <a:noFill/>
          <a:ln w="19050" cap="flat" cmpd="sng">
            <a:solidFill>
              <a:srgbClr val="FF0000"/>
            </a:solidFill>
            <a:prstDash val="solid"/>
            <a:round/>
            <a:headEnd type="none" w="sm" len="sm"/>
            <a:tailEnd type="triangle" w="med" len="med"/>
          </a:ln>
        </p:spPr>
      </p:cxnSp>
      <p:sp>
        <p:nvSpPr>
          <p:cNvPr id="1747" name="Google Shape;1747;p71"/>
          <p:cNvSpPr txBox="1"/>
          <p:nvPr/>
        </p:nvSpPr>
        <p:spPr>
          <a:xfrm>
            <a:off x="6767966"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C</a:t>
            </a:r>
            <a:endParaRPr sz="2500" b="0" i="0" u="none" strike="noStrike" cap="none">
              <a:solidFill>
                <a:srgbClr val="4A86E8"/>
              </a:solidFill>
              <a:latin typeface="Shadows Into Light"/>
              <a:ea typeface="Shadows Into Light"/>
              <a:cs typeface="Shadows Into Light"/>
              <a:sym typeface="Shadows Into Light"/>
            </a:endParaRPr>
          </a:p>
        </p:txBody>
      </p:sp>
      <p:sp>
        <p:nvSpPr>
          <p:cNvPr id="1748" name="Google Shape;1748;p71"/>
          <p:cNvSpPr txBox="1"/>
          <p:nvPr/>
        </p:nvSpPr>
        <p:spPr>
          <a:xfrm>
            <a:off x="6367702"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E</a:t>
            </a:r>
            <a:endParaRPr sz="2500" b="0" i="0" u="none" strike="noStrike" cap="none">
              <a:solidFill>
                <a:srgbClr val="4A86E8"/>
              </a:solidFill>
              <a:latin typeface="Shadows Into Light"/>
              <a:ea typeface="Shadows Into Light"/>
              <a:cs typeface="Shadows Into Light"/>
              <a:sym typeface="Shadows Into Light"/>
            </a:endParaRPr>
          </a:p>
        </p:txBody>
      </p:sp>
      <p:sp>
        <p:nvSpPr>
          <p:cNvPr id="1749" name="Google Shape;1749;p71"/>
          <p:cNvSpPr txBox="1"/>
          <p:nvPr/>
        </p:nvSpPr>
        <p:spPr>
          <a:xfrm>
            <a:off x="5973859"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F</a:t>
            </a:r>
            <a:endParaRPr sz="2500" b="0" i="0" u="none" strike="noStrike" cap="none">
              <a:solidFill>
                <a:srgbClr val="4A86E8"/>
              </a:solidFill>
              <a:latin typeface="Shadows Into Light"/>
              <a:ea typeface="Shadows Into Light"/>
              <a:cs typeface="Shadows Into Light"/>
              <a:sym typeface="Shadows Into Light"/>
            </a:endParaRPr>
          </a:p>
        </p:txBody>
      </p:sp>
      <p:cxnSp>
        <p:nvCxnSpPr>
          <p:cNvPr id="1750" name="Google Shape;1750;p71"/>
          <p:cNvCxnSpPr/>
          <p:nvPr/>
        </p:nvCxnSpPr>
        <p:spPr>
          <a:xfrm>
            <a:off x="7116037" y="3201052"/>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751" name="Google Shape;1751;p71"/>
          <p:cNvCxnSpPr/>
          <p:nvPr/>
        </p:nvCxnSpPr>
        <p:spPr>
          <a:xfrm>
            <a:off x="7116037" y="2528095"/>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752" name="Google Shape;1752;p71"/>
          <p:cNvCxnSpPr/>
          <p:nvPr/>
        </p:nvCxnSpPr>
        <p:spPr>
          <a:xfrm>
            <a:off x="7116037" y="2204031"/>
            <a:ext cx="833400" cy="0"/>
          </a:xfrm>
          <a:prstGeom prst="straightConnector1">
            <a:avLst/>
          </a:prstGeom>
          <a:noFill/>
          <a:ln w="19050" cap="flat" cmpd="sng">
            <a:solidFill>
              <a:srgbClr val="FF0000"/>
            </a:solidFill>
            <a:prstDash val="solid"/>
            <a:round/>
            <a:headEnd type="none" w="sm" len="sm"/>
            <a:tailEnd type="triangle" w="med" len="med"/>
          </a:ln>
        </p:spPr>
      </p:cxnSp>
      <p:grpSp>
        <p:nvGrpSpPr>
          <p:cNvPr id="1753" name="Google Shape;1753;p71"/>
          <p:cNvGrpSpPr/>
          <p:nvPr/>
        </p:nvGrpSpPr>
        <p:grpSpPr>
          <a:xfrm>
            <a:off x="8116650" y="1237041"/>
            <a:ext cx="1065314" cy="863433"/>
            <a:chOff x="5144850" y="1465641"/>
            <a:chExt cx="1065314" cy="863433"/>
          </a:xfrm>
        </p:grpSpPr>
        <p:sp>
          <p:nvSpPr>
            <p:cNvPr id="1754" name="Google Shape;1754;p71"/>
            <p:cNvSpPr txBox="1"/>
            <p:nvPr/>
          </p:nvSpPr>
          <p:spPr>
            <a:xfrm rot="1075329">
              <a:off x="5504261" y="1559834"/>
              <a:ext cx="667805" cy="35311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STOP HERE</a:t>
              </a:r>
              <a:endParaRPr sz="1400" b="0" i="0" u="none" strike="noStrike" cap="none">
                <a:solidFill>
                  <a:srgbClr val="FF0000"/>
                </a:solidFill>
                <a:latin typeface="Shadows Into Light"/>
                <a:ea typeface="Shadows Into Light"/>
                <a:cs typeface="Shadows Into Light"/>
                <a:sym typeface="Shadows Into Light"/>
              </a:endParaRPr>
            </a:p>
          </p:txBody>
        </p:sp>
        <p:sp>
          <p:nvSpPr>
            <p:cNvPr id="1755" name="Google Shape;1755;p71"/>
            <p:cNvSpPr/>
            <p:nvPr/>
          </p:nvSpPr>
          <p:spPr>
            <a:xfrm>
              <a:off x="5144850" y="1787551"/>
              <a:ext cx="448177" cy="541524"/>
            </a:xfrm>
            <a:custGeom>
              <a:avLst/>
              <a:gdLst/>
              <a:ahLst/>
              <a:cxnLst/>
              <a:rect l="l" t="t" r="r" b="b"/>
              <a:pathLst>
                <a:path w="23373" h="22347" extrusionOk="0">
                  <a:moveTo>
                    <a:pt x="23373" y="0"/>
                  </a:moveTo>
                  <a:cubicBezTo>
                    <a:pt x="21575" y="1199"/>
                    <a:pt x="16482" y="3468"/>
                    <a:pt x="12586" y="7192"/>
                  </a:cubicBezTo>
                  <a:cubicBezTo>
                    <a:pt x="8691" y="10917"/>
                    <a:pt x="2098" y="19821"/>
                    <a:pt x="0" y="22347"/>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56" name="Google Shape;1756;p71"/>
          <p:cNvSpPr/>
          <p:nvPr/>
        </p:nvSpPr>
        <p:spPr>
          <a:xfrm>
            <a:off x="7982879" y="4201217"/>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7" name="Google Shape;1757;p71"/>
          <p:cNvSpPr txBox="1"/>
          <p:nvPr/>
        </p:nvSpPr>
        <p:spPr>
          <a:xfrm>
            <a:off x="7552503"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74"/>
                                        </p:tgtEl>
                                        <p:attrNameLst>
                                          <p:attrName>style.visibility</p:attrName>
                                        </p:attrNameLst>
                                      </p:cBhvr>
                                      <p:to>
                                        <p:strVal val="visible"/>
                                      </p:to>
                                    </p:set>
                                    <p:animEffect transition="in" filter="fade">
                                      <p:cBhvr>
                                        <p:cTn id="7" dur="1000"/>
                                        <p:tgtEl>
                                          <p:spTgt spid="167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675"/>
                                        </p:tgtEl>
                                        <p:attrNameLst>
                                          <p:attrName>style.visibility</p:attrName>
                                        </p:attrNameLst>
                                      </p:cBhvr>
                                      <p:to>
                                        <p:strVal val="visible"/>
                                      </p:to>
                                    </p:set>
                                    <p:animEffect transition="in" filter="fade">
                                      <p:cBhvr>
                                        <p:cTn id="11" dur="1000"/>
                                        <p:tgtEl>
                                          <p:spTgt spid="167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678"/>
                                        </p:tgtEl>
                                        <p:attrNameLst>
                                          <p:attrName>style.visibility</p:attrName>
                                        </p:attrNameLst>
                                      </p:cBhvr>
                                      <p:to>
                                        <p:strVal val="visible"/>
                                      </p:to>
                                    </p:set>
                                    <p:animEffect transition="in" filter="fade">
                                      <p:cBhvr>
                                        <p:cTn id="16" dur="1000"/>
                                        <p:tgtEl>
                                          <p:spTgt spid="1678"/>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679"/>
                                        </p:tgtEl>
                                        <p:attrNameLst>
                                          <p:attrName>style.visibility</p:attrName>
                                        </p:attrNameLst>
                                      </p:cBhvr>
                                      <p:to>
                                        <p:strVal val="visible"/>
                                      </p:to>
                                    </p:set>
                                    <p:animEffect transition="in" filter="fade">
                                      <p:cBhvr>
                                        <p:cTn id="20" dur="1000"/>
                                        <p:tgtEl>
                                          <p:spTgt spid="167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89"/>
                                        </p:tgtEl>
                                        <p:attrNameLst>
                                          <p:attrName>style.visibility</p:attrName>
                                        </p:attrNameLst>
                                      </p:cBhvr>
                                      <p:to>
                                        <p:strVal val="visible"/>
                                      </p:to>
                                    </p:set>
                                    <p:animEffect transition="in" filter="fade">
                                      <p:cBhvr>
                                        <p:cTn id="25" dur="1000"/>
                                        <p:tgtEl>
                                          <p:spTgt spid="1689"/>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684"/>
                                        </p:tgtEl>
                                        <p:attrNameLst>
                                          <p:attrName>style.visibility</p:attrName>
                                        </p:attrNameLst>
                                      </p:cBhvr>
                                      <p:to>
                                        <p:strVal val="visible"/>
                                      </p:to>
                                    </p:set>
                                    <p:animEffect transition="in" filter="fade">
                                      <p:cBhvr>
                                        <p:cTn id="29" dur="1000"/>
                                        <p:tgtEl>
                                          <p:spTgt spid="168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690"/>
                                        </p:tgtEl>
                                        <p:attrNameLst>
                                          <p:attrName>style.visibility</p:attrName>
                                        </p:attrNameLst>
                                      </p:cBhvr>
                                      <p:to>
                                        <p:strVal val="visible"/>
                                      </p:to>
                                    </p:set>
                                    <p:animEffect transition="in" filter="fade">
                                      <p:cBhvr>
                                        <p:cTn id="34" dur="1000"/>
                                        <p:tgtEl>
                                          <p:spTgt spid="1690"/>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691"/>
                                        </p:tgtEl>
                                        <p:attrNameLst>
                                          <p:attrName>style.visibility</p:attrName>
                                        </p:attrNameLst>
                                      </p:cBhvr>
                                      <p:to>
                                        <p:strVal val="visible"/>
                                      </p:to>
                                    </p:set>
                                    <p:animEffect transition="in" filter="fade">
                                      <p:cBhvr>
                                        <p:cTn id="38" dur="1000"/>
                                        <p:tgtEl>
                                          <p:spTgt spid="169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96"/>
                                        </p:tgtEl>
                                        <p:attrNameLst>
                                          <p:attrName>style.visibility</p:attrName>
                                        </p:attrNameLst>
                                      </p:cBhvr>
                                      <p:to>
                                        <p:strVal val="visible"/>
                                      </p:to>
                                    </p:set>
                                    <p:animEffect transition="in" filter="fade">
                                      <p:cBhvr>
                                        <p:cTn id="43" dur="1000"/>
                                        <p:tgtEl>
                                          <p:spTgt spid="169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701"/>
                                        </p:tgtEl>
                                        <p:attrNameLst>
                                          <p:attrName>style.visibility</p:attrName>
                                        </p:attrNameLst>
                                      </p:cBhvr>
                                      <p:to>
                                        <p:strVal val="visible"/>
                                      </p:to>
                                    </p:set>
                                    <p:animEffect transition="in" filter="fade">
                                      <p:cBhvr>
                                        <p:cTn id="48" dur="1000"/>
                                        <p:tgtEl>
                                          <p:spTgt spid="170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709"/>
                                        </p:tgtEl>
                                        <p:attrNameLst>
                                          <p:attrName>style.visibility</p:attrName>
                                        </p:attrNameLst>
                                      </p:cBhvr>
                                      <p:to>
                                        <p:strVal val="visible"/>
                                      </p:to>
                                    </p:set>
                                    <p:animEffect transition="in" filter="fade">
                                      <p:cBhvr>
                                        <p:cTn id="53" dur="1000"/>
                                        <p:tgtEl>
                                          <p:spTgt spid="1709"/>
                                        </p:tgtEl>
                                      </p:cBhvr>
                                    </p:animEffect>
                                  </p:childTnLst>
                                </p:cTn>
                              </p:par>
                            </p:childTnLst>
                          </p:cTn>
                        </p:par>
                        <p:par>
                          <p:cTn id="54" fill="hold">
                            <p:stCondLst>
                              <p:cond delay="1000"/>
                            </p:stCondLst>
                            <p:childTnLst>
                              <p:par>
                                <p:cTn id="55" presetID="10" presetClass="entr" presetSubtype="0" fill="hold" nodeType="afterEffect">
                                  <p:stCondLst>
                                    <p:cond delay="0"/>
                                  </p:stCondLst>
                                  <p:childTnLst>
                                    <p:set>
                                      <p:cBhvr>
                                        <p:cTn id="56" dur="1" fill="hold">
                                          <p:stCondLst>
                                            <p:cond delay="0"/>
                                          </p:stCondLst>
                                        </p:cTn>
                                        <p:tgtEl>
                                          <p:spTgt spid="1698"/>
                                        </p:tgtEl>
                                        <p:attrNameLst>
                                          <p:attrName>style.visibility</p:attrName>
                                        </p:attrNameLst>
                                      </p:cBhvr>
                                      <p:to>
                                        <p:strVal val="visible"/>
                                      </p:to>
                                    </p:set>
                                    <p:animEffect transition="in" filter="fade">
                                      <p:cBhvr>
                                        <p:cTn id="57" dur="1000"/>
                                        <p:tgtEl>
                                          <p:spTgt spid="169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710"/>
                                        </p:tgtEl>
                                        <p:attrNameLst>
                                          <p:attrName>style.visibility</p:attrName>
                                        </p:attrNameLst>
                                      </p:cBhvr>
                                      <p:to>
                                        <p:strVal val="visible"/>
                                      </p:to>
                                    </p:set>
                                    <p:animEffect transition="in" filter="fade">
                                      <p:cBhvr>
                                        <p:cTn id="62" dur="1000"/>
                                        <p:tgtEl>
                                          <p:spTgt spid="1710"/>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1699"/>
                                        </p:tgtEl>
                                        <p:attrNameLst>
                                          <p:attrName>style.visibility</p:attrName>
                                        </p:attrNameLst>
                                      </p:cBhvr>
                                      <p:to>
                                        <p:strVal val="visible"/>
                                      </p:to>
                                    </p:set>
                                    <p:animEffect transition="in" filter="fade">
                                      <p:cBhvr>
                                        <p:cTn id="66" dur="1000"/>
                                        <p:tgtEl>
                                          <p:spTgt spid="169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11"/>
                                        </p:tgtEl>
                                        <p:attrNameLst>
                                          <p:attrName>style.visibility</p:attrName>
                                        </p:attrNameLst>
                                      </p:cBhvr>
                                      <p:to>
                                        <p:strVal val="visible"/>
                                      </p:to>
                                    </p:set>
                                    <p:animEffect transition="in" filter="fade">
                                      <p:cBhvr>
                                        <p:cTn id="71" dur="1000"/>
                                        <p:tgtEl>
                                          <p:spTgt spid="1711"/>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1700"/>
                                        </p:tgtEl>
                                        <p:attrNameLst>
                                          <p:attrName>style.visibility</p:attrName>
                                        </p:attrNameLst>
                                      </p:cBhvr>
                                      <p:to>
                                        <p:strVal val="visible"/>
                                      </p:to>
                                    </p:set>
                                    <p:animEffect transition="in" filter="fade">
                                      <p:cBhvr>
                                        <p:cTn id="75" dur="1000"/>
                                        <p:tgtEl>
                                          <p:spTgt spid="1700"/>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712"/>
                                        </p:tgtEl>
                                        <p:attrNameLst>
                                          <p:attrName>style.visibility</p:attrName>
                                        </p:attrNameLst>
                                      </p:cBhvr>
                                      <p:to>
                                        <p:strVal val="visible"/>
                                      </p:to>
                                    </p:set>
                                    <p:animEffect transition="in" filter="fade">
                                      <p:cBhvr>
                                        <p:cTn id="80" dur="1000"/>
                                        <p:tgtEl>
                                          <p:spTgt spid="1712"/>
                                        </p:tgtEl>
                                      </p:cBhvr>
                                    </p:animEffect>
                                  </p:childTnLst>
                                </p:cTn>
                              </p:par>
                            </p:childTnLst>
                          </p:cTn>
                        </p:par>
                        <p:par>
                          <p:cTn id="81" fill="hold">
                            <p:stCondLst>
                              <p:cond delay="1000"/>
                            </p:stCondLst>
                            <p:childTnLst>
                              <p:par>
                                <p:cTn id="82" presetID="10" presetClass="entr" presetSubtype="0" fill="hold" nodeType="afterEffect">
                                  <p:stCondLst>
                                    <p:cond delay="0"/>
                                  </p:stCondLst>
                                  <p:childTnLst>
                                    <p:set>
                                      <p:cBhvr>
                                        <p:cTn id="83" dur="1" fill="hold">
                                          <p:stCondLst>
                                            <p:cond delay="0"/>
                                          </p:stCondLst>
                                        </p:cTn>
                                        <p:tgtEl>
                                          <p:spTgt spid="1706"/>
                                        </p:tgtEl>
                                        <p:attrNameLst>
                                          <p:attrName>style.visibility</p:attrName>
                                        </p:attrNameLst>
                                      </p:cBhvr>
                                      <p:to>
                                        <p:strVal val="visible"/>
                                      </p:to>
                                    </p:set>
                                    <p:animEffect transition="in" filter="fade">
                                      <p:cBhvr>
                                        <p:cTn id="84" dur="1000"/>
                                        <p:tgtEl>
                                          <p:spTgt spid="1706"/>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713"/>
                                        </p:tgtEl>
                                        <p:attrNameLst>
                                          <p:attrName>style.visibility</p:attrName>
                                        </p:attrNameLst>
                                      </p:cBhvr>
                                      <p:to>
                                        <p:strVal val="visible"/>
                                      </p:to>
                                    </p:set>
                                    <p:animEffect transition="in" filter="fade">
                                      <p:cBhvr>
                                        <p:cTn id="89" dur="1000"/>
                                        <p:tgtEl>
                                          <p:spTgt spid="171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718"/>
                                        </p:tgtEl>
                                        <p:attrNameLst>
                                          <p:attrName>style.visibility</p:attrName>
                                        </p:attrNameLst>
                                      </p:cBhvr>
                                      <p:to>
                                        <p:strVal val="visible"/>
                                      </p:to>
                                    </p:set>
                                    <p:animEffect transition="in" filter="fade">
                                      <p:cBhvr>
                                        <p:cTn id="94" dur="1000"/>
                                        <p:tgtEl>
                                          <p:spTgt spid="1718"/>
                                        </p:tgtEl>
                                      </p:cBhvr>
                                    </p:animEffect>
                                  </p:childTnLst>
                                </p:cTn>
                              </p:par>
                            </p:childTnLst>
                          </p:cTn>
                        </p:par>
                        <p:par>
                          <p:cTn id="95" fill="hold">
                            <p:stCondLst>
                              <p:cond delay="1000"/>
                            </p:stCondLst>
                            <p:childTnLst>
                              <p:par>
                                <p:cTn id="96" presetID="10" presetClass="entr" presetSubtype="0" fill="hold" nodeType="afterEffect">
                                  <p:stCondLst>
                                    <p:cond delay="0"/>
                                  </p:stCondLst>
                                  <p:childTnLst>
                                    <p:set>
                                      <p:cBhvr>
                                        <p:cTn id="97" dur="1" fill="hold">
                                          <p:stCondLst>
                                            <p:cond delay="0"/>
                                          </p:stCondLst>
                                        </p:cTn>
                                        <p:tgtEl>
                                          <p:spTgt spid="1719"/>
                                        </p:tgtEl>
                                        <p:attrNameLst>
                                          <p:attrName>style.visibility</p:attrName>
                                        </p:attrNameLst>
                                      </p:cBhvr>
                                      <p:to>
                                        <p:strVal val="visible"/>
                                      </p:to>
                                    </p:set>
                                    <p:animEffect transition="in" filter="fade">
                                      <p:cBhvr>
                                        <p:cTn id="98" dur="1000"/>
                                        <p:tgtEl>
                                          <p:spTgt spid="1719"/>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1737"/>
                                        </p:tgtEl>
                                        <p:attrNameLst>
                                          <p:attrName>style.visibility</p:attrName>
                                        </p:attrNameLst>
                                      </p:cBhvr>
                                      <p:to>
                                        <p:strVal val="visible"/>
                                      </p:to>
                                    </p:set>
                                    <p:animEffect transition="in" filter="fade">
                                      <p:cBhvr>
                                        <p:cTn id="103" dur="1000"/>
                                        <p:tgtEl>
                                          <p:spTgt spid="1737"/>
                                        </p:tgtEl>
                                      </p:cBhvr>
                                    </p:animEffect>
                                  </p:childTnLst>
                                </p:cTn>
                              </p:par>
                            </p:childTnLst>
                          </p:cTn>
                        </p:par>
                        <p:par>
                          <p:cTn id="104" fill="hold">
                            <p:stCondLst>
                              <p:cond delay="1000"/>
                            </p:stCondLst>
                            <p:childTnLst>
                              <p:par>
                                <p:cTn id="105" presetID="10" presetClass="entr" presetSubtype="0" fill="hold" nodeType="afterEffect">
                                  <p:stCondLst>
                                    <p:cond delay="0"/>
                                  </p:stCondLst>
                                  <p:childTnLst>
                                    <p:set>
                                      <p:cBhvr>
                                        <p:cTn id="106" dur="1" fill="hold">
                                          <p:stCondLst>
                                            <p:cond delay="0"/>
                                          </p:stCondLst>
                                        </p:cTn>
                                        <p:tgtEl>
                                          <p:spTgt spid="1726"/>
                                        </p:tgtEl>
                                        <p:attrNameLst>
                                          <p:attrName>style.visibility</p:attrName>
                                        </p:attrNameLst>
                                      </p:cBhvr>
                                      <p:to>
                                        <p:strVal val="visible"/>
                                      </p:to>
                                    </p:set>
                                    <p:animEffect transition="in" filter="fade">
                                      <p:cBhvr>
                                        <p:cTn id="107" dur="1000"/>
                                        <p:tgtEl>
                                          <p:spTgt spid="1726"/>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738"/>
                                        </p:tgtEl>
                                        <p:attrNameLst>
                                          <p:attrName>style.visibility</p:attrName>
                                        </p:attrNameLst>
                                      </p:cBhvr>
                                      <p:to>
                                        <p:strVal val="visible"/>
                                      </p:to>
                                    </p:set>
                                    <p:animEffect transition="in" filter="fade">
                                      <p:cBhvr>
                                        <p:cTn id="112" dur="1000"/>
                                        <p:tgtEl>
                                          <p:spTgt spid="1738"/>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739"/>
                                        </p:tgtEl>
                                        <p:attrNameLst>
                                          <p:attrName>style.visibility</p:attrName>
                                        </p:attrNameLst>
                                      </p:cBhvr>
                                      <p:to>
                                        <p:strVal val="visible"/>
                                      </p:to>
                                    </p:set>
                                    <p:animEffect transition="in" filter="fade">
                                      <p:cBhvr>
                                        <p:cTn id="117" dur="1000"/>
                                        <p:tgtEl>
                                          <p:spTgt spid="1739"/>
                                        </p:tgtEl>
                                      </p:cBhvr>
                                    </p:animEffect>
                                  </p:childTnLst>
                                </p:cTn>
                              </p:par>
                            </p:childTnLst>
                          </p:cTn>
                        </p:par>
                        <p:par>
                          <p:cTn id="118" fill="hold">
                            <p:stCondLst>
                              <p:cond delay="1000"/>
                            </p:stCondLst>
                            <p:childTnLst>
                              <p:par>
                                <p:cTn id="119" presetID="10" presetClass="entr" presetSubtype="0" fill="hold" nodeType="afterEffect">
                                  <p:stCondLst>
                                    <p:cond delay="0"/>
                                  </p:stCondLst>
                                  <p:childTnLst>
                                    <p:set>
                                      <p:cBhvr>
                                        <p:cTn id="120" dur="1" fill="hold">
                                          <p:stCondLst>
                                            <p:cond delay="0"/>
                                          </p:stCondLst>
                                        </p:cTn>
                                        <p:tgtEl>
                                          <p:spTgt spid="1730"/>
                                        </p:tgtEl>
                                        <p:attrNameLst>
                                          <p:attrName>style.visibility</p:attrName>
                                        </p:attrNameLst>
                                      </p:cBhvr>
                                      <p:to>
                                        <p:strVal val="visible"/>
                                      </p:to>
                                    </p:set>
                                    <p:animEffect transition="in" filter="fade">
                                      <p:cBhvr>
                                        <p:cTn id="121" dur="1000"/>
                                        <p:tgtEl>
                                          <p:spTgt spid="1730"/>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1757"/>
                                        </p:tgtEl>
                                        <p:attrNameLst>
                                          <p:attrName>style.visibility</p:attrName>
                                        </p:attrNameLst>
                                      </p:cBhvr>
                                      <p:to>
                                        <p:strVal val="visible"/>
                                      </p:to>
                                    </p:set>
                                    <p:animEffect transition="in" filter="fade">
                                      <p:cBhvr>
                                        <p:cTn id="126" dur="1000"/>
                                        <p:tgtEl>
                                          <p:spTgt spid="1757"/>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1756"/>
                                        </p:tgtEl>
                                        <p:attrNameLst>
                                          <p:attrName>style.visibility</p:attrName>
                                        </p:attrNameLst>
                                      </p:cBhvr>
                                      <p:to>
                                        <p:strVal val="visible"/>
                                      </p:to>
                                    </p:set>
                                    <p:animEffect transition="in" filter="fade">
                                      <p:cBhvr>
                                        <p:cTn id="131" dur="1000"/>
                                        <p:tgtEl>
                                          <p:spTgt spid="1756"/>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1741"/>
                                        </p:tgtEl>
                                        <p:attrNameLst>
                                          <p:attrName>style.visibility</p:attrName>
                                        </p:attrNameLst>
                                      </p:cBhvr>
                                      <p:to>
                                        <p:strVal val="visible"/>
                                      </p:to>
                                    </p:set>
                                    <p:animEffect transition="in" filter="fade">
                                      <p:cBhvr>
                                        <p:cTn id="136" dur="1000"/>
                                        <p:tgtEl>
                                          <p:spTgt spid="1741"/>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1746"/>
                                        </p:tgtEl>
                                        <p:attrNameLst>
                                          <p:attrName>style.visibility</p:attrName>
                                        </p:attrNameLst>
                                      </p:cBhvr>
                                      <p:to>
                                        <p:strVal val="visible"/>
                                      </p:to>
                                    </p:set>
                                    <p:animEffect transition="in" filter="fade">
                                      <p:cBhvr>
                                        <p:cTn id="141" dur="1000"/>
                                        <p:tgtEl>
                                          <p:spTgt spid="1746"/>
                                        </p:tgtEl>
                                      </p:cBhvr>
                                    </p:animEffect>
                                  </p:childTnLst>
                                </p:cTn>
                              </p:par>
                            </p:childTnLst>
                          </p:cTn>
                        </p:par>
                        <p:par>
                          <p:cTn id="142" fill="hold">
                            <p:stCondLst>
                              <p:cond delay="1000"/>
                            </p:stCondLst>
                            <p:childTnLst>
                              <p:par>
                                <p:cTn id="143" presetID="10" presetClass="entr" presetSubtype="0" fill="hold" nodeType="afterEffect">
                                  <p:stCondLst>
                                    <p:cond delay="0"/>
                                  </p:stCondLst>
                                  <p:childTnLst>
                                    <p:set>
                                      <p:cBhvr>
                                        <p:cTn id="144" dur="1" fill="hold">
                                          <p:stCondLst>
                                            <p:cond delay="0"/>
                                          </p:stCondLst>
                                        </p:cTn>
                                        <p:tgtEl>
                                          <p:spTgt spid="1747"/>
                                        </p:tgtEl>
                                        <p:attrNameLst>
                                          <p:attrName>style.visibility</p:attrName>
                                        </p:attrNameLst>
                                      </p:cBhvr>
                                      <p:to>
                                        <p:strVal val="visible"/>
                                      </p:to>
                                    </p:set>
                                    <p:animEffect transition="in" filter="fade">
                                      <p:cBhvr>
                                        <p:cTn id="145" dur="1000"/>
                                        <p:tgtEl>
                                          <p:spTgt spid="1747"/>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nodeType="clickEffect">
                                  <p:stCondLst>
                                    <p:cond delay="0"/>
                                  </p:stCondLst>
                                  <p:childTnLst>
                                    <p:set>
                                      <p:cBhvr>
                                        <p:cTn id="149" dur="1" fill="hold">
                                          <p:stCondLst>
                                            <p:cond delay="0"/>
                                          </p:stCondLst>
                                        </p:cTn>
                                        <p:tgtEl>
                                          <p:spTgt spid="1750"/>
                                        </p:tgtEl>
                                        <p:attrNameLst>
                                          <p:attrName>style.visibility</p:attrName>
                                        </p:attrNameLst>
                                      </p:cBhvr>
                                      <p:to>
                                        <p:strVal val="visible"/>
                                      </p:to>
                                    </p:set>
                                    <p:animEffect transition="in" filter="fade">
                                      <p:cBhvr>
                                        <p:cTn id="150" dur="1000"/>
                                        <p:tgtEl>
                                          <p:spTgt spid="1750"/>
                                        </p:tgtEl>
                                      </p:cBhvr>
                                    </p:animEffect>
                                  </p:childTnLst>
                                </p:cTn>
                              </p:par>
                            </p:childTnLst>
                          </p:cTn>
                        </p:par>
                        <p:par>
                          <p:cTn id="151" fill="hold">
                            <p:stCondLst>
                              <p:cond delay="1000"/>
                            </p:stCondLst>
                            <p:childTnLst>
                              <p:par>
                                <p:cTn id="152" presetID="10" presetClass="entr" presetSubtype="0" fill="hold" nodeType="afterEffect">
                                  <p:stCondLst>
                                    <p:cond delay="0"/>
                                  </p:stCondLst>
                                  <p:childTnLst>
                                    <p:set>
                                      <p:cBhvr>
                                        <p:cTn id="153" dur="1" fill="hold">
                                          <p:stCondLst>
                                            <p:cond delay="0"/>
                                          </p:stCondLst>
                                        </p:cTn>
                                        <p:tgtEl>
                                          <p:spTgt spid="1748"/>
                                        </p:tgtEl>
                                        <p:attrNameLst>
                                          <p:attrName>style.visibility</p:attrName>
                                        </p:attrNameLst>
                                      </p:cBhvr>
                                      <p:to>
                                        <p:strVal val="visible"/>
                                      </p:to>
                                    </p:set>
                                    <p:animEffect transition="in" filter="fade">
                                      <p:cBhvr>
                                        <p:cTn id="154" dur="1000"/>
                                        <p:tgtEl>
                                          <p:spTgt spid="1748"/>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nodeType="clickEffect">
                                  <p:stCondLst>
                                    <p:cond delay="0"/>
                                  </p:stCondLst>
                                  <p:childTnLst>
                                    <p:set>
                                      <p:cBhvr>
                                        <p:cTn id="158" dur="1" fill="hold">
                                          <p:stCondLst>
                                            <p:cond delay="0"/>
                                          </p:stCondLst>
                                        </p:cTn>
                                        <p:tgtEl>
                                          <p:spTgt spid="1751"/>
                                        </p:tgtEl>
                                        <p:attrNameLst>
                                          <p:attrName>style.visibility</p:attrName>
                                        </p:attrNameLst>
                                      </p:cBhvr>
                                      <p:to>
                                        <p:strVal val="visible"/>
                                      </p:to>
                                    </p:set>
                                    <p:animEffect transition="in" filter="fade">
                                      <p:cBhvr>
                                        <p:cTn id="159" dur="1000"/>
                                        <p:tgtEl>
                                          <p:spTgt spid="1751"/>
                                        </p:tgtEl>
                                      </p:cBhvr>
                                    </p:animEffect>
                                  </p:childTnLst>
                                </p:cTn>
                              </p:par>
                            </p:childTnLst>
                          </p:cTn>
                        </p:par>
                        <p:par>
                          <p:cTn id="160" fill="hold">
                            <p:stCondLst>
                              <p:cond delay="1000"/>
                            </p:stCondLst>
                            <p:childTnLst>
                              <p:par>
                                <p:cTn id="161" presetID="10" presetClass="entr" presetSubtype="0" fill="hold" nodeType="afterEffect">
                                  <p:stCondLst>
                                    <p:cond delay="0"/>
                                  </p:stCondLst>
                                  <p:childTnLst>
                                    <p:set>
                                      <p:cBhvr>
                                        <p:cTn id="162" dur="1" fill="hold">
                                          <p:stCondLst>
                                            <p:cond delay="0"/>
                                          </p:stCondLst>
                                        </p:cTn>
                                        <p:tgtEl>
                                          <p:spTgt spid="1749"/>
                                        </p:tgtEl>
                                        <p:attrNameLst>
                                          <p:attrName>style.visibility</p:attrName>
                                        </p:attrNameLst>
                                      </p:cBhvr>
                                      <p:to>
                                        <p:strVal val="visible"/>
                                      </p:to>
                                    </p:set>
                                    <p:animEffect transition="in" filter="fade">
                                      <p:cBhvr>
                                        <p:cTn id="163" dur="1000"/>
                                        <p:tgtEl>
                                          <p:spTgt spid="1749"/>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nodeType="clickEffect">
                                  <p:stCondLst>
                                    <p:cond delay="0"/>
                                  </p:stCondLst>
                                  <p:childTnLst>
                                    <p:set>
                                      <p:cBhvr>
                                        <p:cTn id="167" dur="1" fill="hold">
                                          <p:stCondLst>
                                            <p:cond delay="0"/>
                                          </p:stCondLst>
                                        </p:cTn>
                                        <p:tgtEl>
                                          <p:spTgt spid="1752"/>
                                        </p:tgtEl>
                                        <p:attrNameLst>
                                          <p:attrName>style.visibility</p:attrName>
                                        </p:attrNameLst>
                                      </p:cBhvr>
                                      <p:to>
                                        <p:strVal val="visible"/>
                                      </p:to>
                                    </p:set>
                                    <p:animEffect transition="in" filter="fade">
                                      <p:cBhvr>
                                        <p:cTn id="168" dur="1000"/>
                                        <p:tgtEl>
                                          <p:spTgt spid="1752"/>
                                        </p:tgtEl>
                                      </p:cBhvr>
                                    </p:animEffect>
                                  </p:childTnLst>
                                </p:cTn>
                              </p:par>
                            </p:childTnLst>
                          </p:cTn>
                        </p:par>
                        <p:par>
                          <p:cTn id="169" fill="hold">
                            <p:stCondLst>
                              <p:cond delay="1000"/>
                            </p:stCondLst>
                            <p:childTnLst>
                              <p:par>
                                <p:cTn id="170" presetID="10" presetClass="entr" presetSubtype="0" fill="hold" nodeType="afterEffect">
                                  <p:stCondLst>
                                    <p:cond delay="0"/>
                                  </p:stCondLst>
                                  <p:childTnLst>
                                    <p:set>
                                      <p:cBhvr>
                                        <p:cTn id="171" dur="1" fill="hold">
                                          <p:stCondLst>
                                            <p:cond delay="0"/>
                                          </p:stCondLst>
                                        </p:cTn>
                                        <p:tgtEl>
                                          <p:spTgt spid="1753"/>
                                        </p:tgtEl>
                                        <p:attrNameLst>
                                          <p:attrName>style.visibility</p:attrName>
                                        </p:attrNameLst>
                                      </p:cBhvr>
                                      <p:to>
                                        <p:strVal val="visible"/>
                                      </p:to>
                                    </p:set>
                                    <p:animEffect transition="in" filter="fade">
                                      <p:cBhvr>
                                        <p:cTn id="172" dur="1000"/>
                                        <p:tgtEl>
                                          <p:spTgt spid="1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61"/>
        <p:cNvGrpSpPr/>
        <p:nvPr/>
      </p:nvGrpSpPr>
      <p:grpSpPr>
        <a:xfrm>
          <a:off x="0" y="0"/>
          <a:ext cx="0" cy="0"/>
          <a:chOff x="0" y="0"/>
          <a:chExt cx="0" cy="0"/>
        </a:xfrm>
      </p:grpSpPr>
      <p:sp>
        <p:nvSpPr>
          <p:cNvPr id="1762" name="Google Shape;1762;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1763" name="Google Shape;1763;p72"/>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12.15</a:t>
            </a:r>
            <a:endParaRPr/>
          </a:p>
        </p:txBody>
      </p:sp>
      <p:sp>
        <p:nvSpPr>
          <p:cNvPr id="1764" name="Google Shape;1764;p72"/>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Another Default Method in </a:t>
            </a:r>
            <a:r>
              <a:rPr lang="en">
                <a:latin typeface="Courier New"/>
                <a:ea typeface="Courier New"/>
                <a:cs typeface="Courier New"/>
                <a:sym typeface="Courier New"/>
              </a:rPr>
              <a:t>Graph</a:t>
            </a:r>
            <a:endParaRPr>
              <a:latin typeface="Courier New"/>
              <a:ea typeface="Courier New"/>
              <a:cs typeface="Courier New"/>
              <a:sym typeface="Courier New"/>
            </a:endParaRPr>
          </a:p>
        </p:txBody>
      </p:sp>
      <p:sp>
        <p:nvSpPr>
          <p:cNvPr id="1765" name="Google Shape;1765;p72"/>
          <p:cNvSpPr txBox="1">
            <a:spLocks noGrp="1"/>
          </p:cNvSpPr>
          <p:nvPr>
            <p:ph type="body" idx="1"/>
          </p:nvPr>
        </p:nvSpPr>
        <p:spPr>
          <a:xfrm>
            <a:off x="65250" y="731625"/>
            <a:ext cx="8955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The current Breadth-First Search method returns a boolean indicating whether or not a path was found. Let's add another default method to the </a:t>
            </a:r>
            <a:r>
              <a:rPr lang="en">
                <a:latin typeface="Courier New"/>
                <a:ea typeface="Courier New"/>
                <a:cs typeface="Courier New"/>
                <a:sym typeface="Courier New"/>
              </a:rPr>
              <a:t>Graph</a:t>
            </a:r>
            <a:r>
              <a:rPr lang="en"/>
              <a:t> interface that uses BFS to find and return the values along the path (if it exists).</a:t>
            </a:r>
            <a:endParaRPr/>
          </a:p>
        </p:txBody>
      </p:sp>
      <p:sp>
        <p:nvSpPr>
          <p:cNvPr id="1766" name="Google Shape;1766;p72"/>
          <p:cNvSpPr txBox="1">
            <a:spLocks noGrp="1"/>
          </p:cNvSpPr>
          <p:nvPr>
            <p:ph type="body" idx="2"/>
          </p:nvPr>
        </p:nvSpPr>
        <p:spPr>
          <a:xfrm>
            <a:off x="3062150" y="1847850"/>
            <a:ext cx="5819100" cy="28074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SzPts val="1600"/>
              <a:buChar char="●"/>
            </a:pPr>
            <a:r>
              <a:rPr lang="en" sz="1600"/>
              <a:t>Open the </a:t>
            </a:r>
            <a:r>
              <a:rPr lang="en" sz="1600">
                <a:solidFill>
                  <a:srgbClr val="FF0000"/>
                </a:solidFill>
                <a:latin typeface="Courier New"/>
                <a:ea typeface="Courier New"/>
                <a:cs typeface="Courier New"/>
                <a:sym typeface="Courier New"/>
              </a:rPr>
              <a:t>Graph</a:t>
            </a:r>
            <a:r>
              <a:rPr lang="en" sz="1600">
                <a:solidFill>
                  <a:srgbClr val="FF0000"/>
                </a:solidFill>
              </a:rPr>
              <a:t> </a:t>
            </a:r>
            <a:r>
              <a:rPr lang="en" sz="1600"/>
              <a:t>interface and define a new </a:t>
            </a:r>
            <a:r>
              <a:rPr lang="en" sz="1600">
                <a:solidFill>
                  <a:srgbClr val="FF0000"/>
                </a:solidFill>
                <a:latin typeface="Courier New"/>
                <a:ea typeface="Courier New"/>
                <a:cs typeface="Courier New"/>
                <a:sym typeface="Courier New"/>
              </a:rPr>
              <a:t>default</a:t>
            </a:r>
            <a:r>
              <a:rPr lang="en" sz="1600">
                <a:solidFill>
                  <a:srgbClr val="FF0000"/>
                </a:solidFill>
              </a:rPr>
              <a:t> </a:t>
            </a:r>
            <a:r>
              <a:rPr lang="en" sz="1600"/>
              <a:t>method named </a:t>
            </a:r>
            <a:r>
              <a:rPr lang="en" sz="1600">
                <a:solidFill>
                  <a:srgbClr val="FF0000"/>
                </a:solidFill>
                <a:latin typeface="Courier New"/>
                <a:ea typeface="Courier New"/>
                <a:cs typeface="Courier New"/>
                <a:sym typeface="Courier New"/>
              </a:rPr>
              <a:t>bfPath</a:t>
            </a:r>
            <a:r>
              <a:rPr lang="en" sz="1600">
                <a:solidFill>
                  <a:srgbClr val="FF0000"/>
                </a:solidFill>
              </a:rPr>
              <a:t> </a:t>
            </a:r>
            <a:r>
              <a:rPr lang="en" sz="1600"/>
              <a:t>that declares </a:t>
            </a:r>
            <a:r>
              <a:rPr lang="en" sz="1600" b="1" i="1">
                <a:solidFill>
                  <a:srgbClr val="FF0000"/>
                </a:solidFill>
              </a:rPr>
              <a:t>parameters</a:t>
            </a:r>
            <a:r>
              <a:rPr lang="en" sz="1600">
                <a:solidFill>
                  <a:srgbClr val="FF0000"/>
                </a:solidFill>
              </a:rPr>
              <a:t> </a:t>
            </a:r>
            <a:r>
              <a:rPr lang="en" sz="1600"/>
              <a:t>for </a:t>
            </a:r>
            <a:r>
              <a:rPr lang="en" sz="1600">
                <a:solidFill>
                  <a:srgbClr val="FF0000"/>
                </a:solidFill>
                <a:latin typeface="Courier New"/>
                <a:ea typeface="Courier New"/>
                <a:cs typeface="Courier New"/>
                <a:sym typeface="Courier New"/>
              </a:rPr>
              <a:t>start</a:t>
            </a:r>
            <a:r>
              <a:rPr lang="en" sz="1600">
                <a:solidFill>
                  <a:srgbClr val="FF0000"/>
                </a:solidFill>
              </a:rPr>
              <a:t> </a:t>
            </a:r>
            <a:r>
              <a:rPr lang="en" sz="1600"/>
              <a:t>and </a:t>
            </a:r>
            <a:r>
              <a:rPr lang="en" sz="1600">
                <a:solidFill>
                  <a:srgbClr val="FF0000"/>
                </a:solidFill>
                <a:latin typeface="Courier New"/>
                <a:ea typeface="Courier New"/>
                <a:cs typeface="Courier New"/>
                <a:sym typeface="Courier New"/>
              </a:rPr>
              <a:t>end</a:t>
            </a:r>
            <a:r>
              <a:rPr lang="en" sz="1600">
                <a:solidFill>
                  <a:srgbClr val="FF0000"/>
                </a:solidFill>
              </a:rPr>
              <a:t> </a:t>
            </a:r>
            <a:r>
              <a:rPr lang="en" sz="1600"/>
              <a:t>values and </a:t>
            </a:r>
            <a:r>
              <a:rPr lang="en" sz="1600" b="1" i="1">
                <a:solidFill>
                  <a:srgbClr val="FF0000"/>
                </a:solidFill>
              </a:rPr>
              <a:t>returns </a:t>
            </a:r>
            <a:r>
              <a:rPr lang="en" sz="1600"/>
              <a:t>a </a:t>
            </a:r>
            <a:r>
              <a:rPr lang="en" sz="1600">
                <a:solidFill>
                  <a:srgbClr val="FF0000"/>
                </a:solidFill>
                <a:latin typeface="Courier New"/>
                <a:ea typeface="Courier New"/>
                <a:cs typeface="Courier New"/>
                <a:sym typeface="Courier New"/>
              </a:rPr>
              <a:t>java.util.List&lt;E&gt;</a:t>
            </a:r>
            <a:r>
              <a:rPr lang="en" sz="1600"/>
              <a:t>.</a:t>
            </a:r>
            <a:endParaRPr sz="1600"/>
          </a:p>
          <a:p>
            <a:pPr marL="914400" lvl="1" indent="-317500" algn="l" rtl="0">
              <a:lnSpc>
                <a:spcPct val="115000"/>
              </a:lnSpc>
              <a:spcBef>
                <a:spcPts val="0"/>
              </a:spcBef>
              <a:spcAft>
                <a:spcPts val="0"/>
              </a:spcAft>
              <a:buSzPts val="1400"/>
              <a:buChar char="○"/>
            </a:pPr>
            <a:r>
              <a:rPr lang="en" sz="1400"/>
              <a:t>Use the provided UML as a guide for your method signature.</a:t>
            </a:r>
            <a:endParaRPr sz="1400"/>
          </a:p>
          <a:p>
            <a:pPr marL="914400" lvl="1" indent="-317500" algn="l" rtl="0">
              <a:lnSpc>
                <a:spcPct val="115000"/>
              </a:lnSpc>
              <a:spcBef>
                <a:spcPts val="0"/>
              </a:spcBef>
              <a:spcAft>
                <a:spcPts val="0"/>
              </a:spcAft>
              <a:buSzPts val="1400"/>
              <a:buChar char="○"/>
            </a:pPr>
            <a:r>
              <a:rPr lang="en" sz="1400"/>
              <a:t>Throw an </a:t>
            </a:r>
            <a:r>
              <a:rPr lang="en" sz="1400">
                <a:solidFill>
                  <a:srgbClr val="FF0000"/>
                </a:solidFill>
                <a:latin typeface="Courier New"/>
                <a:ea typeface="Courier New"/>
                <a:cs typeface="Courier New"/>
                <a:sym typeface="Courier New"/>
              </a:rPr>
              <a:t>UnsupportedOperationException</a:t>
            </a:r>
            <a:r>
              <a:rPr lang="en" sz="1400">
                <a:solidFill>
                  <a:srgbClr val="FF0000"/>
                </a:solidFill>
              </a:rPr>
              <a:t> </a:t>
            </a:r>
            <a:r>
              <a:rPr lang="en" sz="1400"/>
              <a:t>from this default implementation.</a:t>
            </a:r>
            <a:endParaRPr sz="1400"/>
          </a:p>
          <a:p>
            <a:pPr marL="457200" lvl="0" indent="-330200" algn="l" rtl="0">
              <a:lnSpc>
                <a:spcPct val="115000"/>
              </a:lnSpc>
              <a:spcBef>
                <a:spcPts val="0"/>
              </a:spcBef>
              <a:spcAft>
                <a:spcPts val="0"/>
              </a:spcAft>
              <a:buSzPts val="1600"/>
              <a:buChar char="●"/>
            </a:pPr>
            <a:r>
              <a:rPr lang="en" sz="1600" b="1" i="1">
                <a:solidFill>
                  <a:srgbClr val="FF0000"/>
                </a:solidFill>
              </a:rPr>
              <a:t>Run</a:t>
            </a:r>
            <a:r>
              <a:rPr lang="en" sz="1600">
                <a:solidFill>
                  <a:srgbClr val="FF0000"/>
                </a:solidFill>
              </a:rPr>
              <a:t> </a:t>
            </a:r>
            <a:r>
              <a:rPr lang="en" sz="1600"/>
              <a:t>the provided </a:t>
            </a:r>
            <a:r>
              <a:rPr lang="en" sz="1600">
                <a:solidFill>
                  <a:srgbClr val="FF0000"/>
                </a:solidFill>
                <a:latin typeface="Courier New"/>
                <a:ea typeface="Courier New"/>
                <a:cs typeface="Courier New"/>
                <a:sym typeface="Courier New"/>
              </a:rPr>
              <a:t>BFPathTest</a:t>
            </a:r>
            <a:r>
              <a:rPr lang="en" sz="1600"/>
              <a:t> JUnit test.</a:t>
            </a:r>
            <a:endParaRPr sz="1600"/>
          </a:p>
          <a:p>
            <a:pPr marL="914400" lvl="1" indent="-317500" algn="l" rtl="0">
              <a:lnSpc>
                <a:spcPct val="115000"/>
              </a:lnSpc>
              <a:spcBef>
                <a:spcPts val="0"/>
              </a:spcBef>
              <a:spcAft>
                <a:spcPts val="0"/>
              </a:spcAft>
              <a:buSzPts val="1400"/>
              <a:buChar char="○"/>
            </a:pPr>
            <a:r>
              <a:rPr lang="en" sz="1400"/>
              <a:t>The tests should </a:t>
            </a:r>
            <a:r>
              <a:rPr lang="en" sz="1400" b="1" i="1">
                <a:solidFill>
                  <a:srgbClr val="FF0000"/>
                </a:solidFill>
              </a:rPr>
              <a:t>run</a:t>
            </a:r>
            <a:r>
              <a:rPr lang="en" sz="1400"/>
              <a:t>, but will </a:t>
            </a:r>
            <a:r>
              <a:rPr lang="en" sz="1400" b="1" i="1">
                <a:solidFill>
                  <a:srgbClr val="FF0000"/>
                </a:solidFill>
              </a:rPr>
              <a:t>fail</a:t>
            </a:r>
            <a:r>
              <a:rPr lang="en" sz="1400">
                <a:solidFill>
                  <a:srgbClr val="FF0000"/>
                </a:solidFill>
              </a:rPr>
              <a:t> </a:t>
            </a:r>
            <a:r>
              <a:rPr lang="en" sz="1400"/>
              <a:t>when the exception is thrown.</a:t>
            </a:r>
            <a:endParaRPr sz="1400"/>
          </a:p>
        </p:txBody>
      </p:sp>
      <p:graphicFrame>
        <p:nvGraphicFramePr>
          <p:cNvPr id="1767" name="Google Shape;1767;p72"/>
          <p:cNvGraphicFramePr/>
          <p:nvPr/>
        </p:nvGraphicFramePr>
        <p:xfrm>
          <a:off x="161407" y="1847850"/>
          <a:ext cx="2805850" cy="2224950"/>
        </p:xfrm>
        <a:graphic>
          <a:graphicData uri="http://schemas.openxmlformats.org/drawingml/2006/table">
            <a:tbl>
              <a:tblPr>
                <a:noFill/>
                <a:tableStyleId>{F61E8307-4E6B-4154-8BF4-D3231BAD3CED}</a:tableStyleId>
              </a:tblPr>
              <a:tblGrid>
                <a:gridCol w="2805850">
                  <a:extLst>
                    <a:ext uri="{9D8B030D-6E8A-4147-A177-3AD203B41FA5}">
                      <a16:colId xmlns:a16="http://schemas.microsoft.com/office/drawing/2014/main" val="20000"/>
                    </a:ext>
                  </a:extLst>
                </a:gridCol>
              </a:tblGrid>
              <a:tr h="257275">
                <a:tc>
                  <a:txBody>
                    <a:bodyPr/>
                    <a:lstStyle/>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&lt;&lt;interface&gt;&gt;</a:t>
                      </a:r>
                      <a:endParaRPr sz="1000"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Graph&lt;E&gt;</a:t>
                      </a: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78850">
                <a:tc>
                  <a:txBody>
                    <a:bodyPr/>
                    <a:lstStyle/>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add(value: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contains(value: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size(): int</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connectUndirected(a: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connected(a: E, b: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bfSearch(start: E, end: E): boolean</a:t>
                      </a:r>
                      <a:endParaRPr sz="10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 bfPath(start: E, end: E): List&lt;E&gt;</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2" name="Google Shape;1772;p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1773" name="Google Shape;1773;p73"/>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12.16</a:t>
            </a:r>
            <a:endParaRPr/>
          </a:p>
        </p:txBody>
      </p:sp>
      <p:pic>
        <p:nvPicPr>
          <p:cNvPr id="1774" name="Google Shape;1774;p73"/>
          <p:cNvPicPr preferRelativeResize="0"/>
          <p:nvPr/>
        </p:nvPicPr>
        <p:blipFill rotWithShape="1">
          <a:blip r:embed="rId3">
            <a:alphaModFix/>
          </a:blip>
          <a:srcRect/>
          <a:stretch/>
        </p:blipFill>
        <p:spPr>
          <a:xfrm>
            <a:off x="228600" y="2049975"/>
            <a:ext cx="2376599" cy="2759851"/>
          </a:xfrm>
          <a:prstGeom prst="rect">
            <a:avLst/>
          </a:prstGeom>
          <a:noFill/>
          <a:ln>
            <a:noFill/>
          </a:ln>
        </p:spPr>
      </p:pic>
      <p:sp>
        <p:nvSpPr>
          <p:cNvPr id="1775" name="Google Shape;1775;p73"/>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Begin Implementing BFS-Path</a:t>
            </a:r>
            <a:endParaRPr/>
          </a:p>
        </p:txBody>
      </p:sp>
      <p:sp>
        <p:nvSpPr>
          <p:cNvPr id="1776" name="Google Shape;1776;p73"/>
          <p:cNvSpPr txBox="1">
            <a:spLocks noGrp="1"/>
          </p:cNvSpPr>
          <p:nvPr>
            <p:ph type="body" idx="1"/>
          </p:nvPr>
        </p:nvSpPr>
        <p:spPr>
          <a:xfrm>
            <a:off x="65250" y="731625"/>
            <a:ext cx="8955900" cy="1280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The setup for BFS-Path is very similar to the existing BFS implementation. The only major difference is that we will be using a </a:t>
            </a:r>
            <a:r>
              <a:rPr lang="en" b="1" i="1">
                <a:solidFill>
                  <a:srgbClr val="FF0000"/>
                </a:solidFill>
              </a:rPr>
              <a:t>map</a:t>
            </a:r>
            <a:r>
              <a:rPr lang="en">
                <a:solidFill>
                  <a:srgbClr val="FF0000"/>
                </a:solidFill>
              </a:rPr>
              <a:t> </a:t>
            </a:r>
            <a:r>
              <a:rPr lang="en"/>
              <a:t>to keep track of each visited vertex and its predecessor (instead of a set). Begin implementing the algorithm now by focusing on creating the data structures that you will need.</a:t>
            </a:r>
            <a:endParaRPr/>
          </a:p>
        </p:txBody>
      </p:sp>
      <p:sp>
        <p:nvSpPr>
          <p:cNvPr id="1777" name="Google Shape;1777;p73"/>
          <p:cNvSpPr txBox="1">
            <a:spLocks noGrp="1"/>
          </p:cNvSpPr>
          <p:nvPr>
            <p:ph type="body" idx="2"/>
          </p:nvPr>
        </p:nvSpPr>
        <p:spPr>
          <a:xfrm>
            <a:off x="2725250" y="2025925"/>
            <a:ext cx="6193500" cy="28287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AdjacencyGraph</a:t>
            </a:r>
            <a:r>
              <a:rPr lang="en" sz="1400">
                <a:solidFill>
                  <a:srgbClr val="FF0000"/>
                </a:solidFill>
              </a:rPr>
              <a:t> </a:t>
            </a:r>
            <a:r>
              <a:rPr lang="en" sz="1400"/>
              <a:t>class and </a:t>
            </a:r>
            <a:r>
              <a:rPr lang="en" sz="1400" b="1" i="1">
                <a:solidFill>
                  <a:srgbClr val="FF0000"/>
                </a:solidFill>
              </a:rPr>
              <a:t>override</a:t>
            </a:r>
            <a:r>
              <a:rPr lang="en" sz="1400">
                <a:solidFill>
                  <a:srgbClr val="FF0000"/>
                </a:solidFill>
              </a:rPr>
              <a:t> </a:t>
            </a:r>
            <a:r>
              <a:rPr lang="en" sz="1400"/>
              <a:t>the default implementation of </a:t>
            </a:r>
            <a:r>
              <a:rPr lang="en" sz="1400">
                <a:solidFill>
                  <a:srgbClr val="FF0000"/>
                </a:solidFill>
                <a:latin typeface="Courier New"/>
                <a:ea typeface="Courier New"/>
                <a:cs typeface="Courier New"/>
                <a:sym typeface="Courier New"/>
              </a:rPr>
              <a:t>bfPath</a:t>
            </a:r>
            <a:r>
              <a:rPr lang="en" sz="1400">
                <a:solidFill>
                  <a:srgbClr val="FF0000"/>
                </a:solidFill>
              </a:rPr>
              <a:t> </a:t>
            </a:r>
            <a:r>
              <a:rPr lang="en" sz="1400"/>
              <a:t>inherited from the </a:t>
            </a:r>
            <a:r>
              <a:rPr lang="en" sz="1400">
                <a:latin typeface="Courier New"/>
                <a:ea typeface="Courier New"/>
                <a:cs typeface="Courier New"/>
                <a:sym typeface="Courier New"/>
              </a:rPr>
              <a:t>Graph</a:t>
            </a:r>
            <a:r>
              <a:rPr lang="en" sz="1400"/>
              <a:t> interface.</a:t>
            </a:r>
            <a:endParaRPr sz="1400"/>
          </a:p>
          <a:p>
            <a:pPr marL="457200" lvl="0" indent="-317500" algn="l" rtl="0">
              <a:lnSpc>
                <a:spcPct val="115000"/>
              </a:lnSpc>
              <a:spcBef>
                <a:spcPts val="0"/>
              </a:spcBef>
              <a:spcAft>
                <a:spcPts val="0"/>
              </a:spcAft>
              <a:buSzPts val="1400"/>
              <a:buChar char="●"/>
            </a:pPr>
            <a:r>
              <a:rPr lang="en" sz="1400"/>
              <a:t>Focus on the setup for the algorithm.</a:t>
            </a:r>
            <a:endParaRPr sz="1400"/>
          </a:p>
          <a:p>
            <a:pPr marL="914400" lvl="1" indent="-304800" algn="l" rtl="0">
              <a:lnSpc>
                <a:spcPct val="115000"/>
              </a:lnSpc>
              <a:spcBef>
                <a:spcPts val="0"/>
              </a:spcBef>
              <a:spcAft>
                <a:spcPts val="0"/>
              </a:spcAft>
              <a:buSzPts val="1200"/>
              <a:buChar char="○"/>
            </a:pPr>
            <a:r>
              <a:rPr lang="en" sz="1200"/>
              <a:t>Get the vertices corresponding to the </a:t>
            </a:r>
            <a:r>
              <a:rPr lang="en" sz="1200">
                <a:solidFill>
                  <a:srgbClr val="FF0000"/>
                </a:solidFill>
                <a:latin typeface="Courier New"/>
                <a:ea typeface="Courier New"/>
                <a:cs typeface="Courier New"/>
                <a:sym typeface="Courier New"/>
              </a:rPr>
              <a:t>start</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end</a:t>
            </a:r>
            <a:r>
              <a:rPr lang="en" sz="1200">
                <a:solidFill>
                  <a:srgbClr val="FF0000"/>
                </a:solidFill>
              </a:rPr>
              <a:t> </a:t>
            </a:r>
            <a:r>
              <a:rPr lang="en" sz="1200"/>
              <a:t>values from the graph's map of </a:t>
            </a:r>
            <a:r>
              <a:rPr lang="en" sz="1200">
                <a:solidFill>
                  <a:srgbClr val="FF0000"/>
                </a:solidFill>
                <a:latin typeface="Courier New"/>
                <a:ea typeface="Courier New"/>
                <a:cs typeface="Courier New"/>
                <a:sym typeface="Courier New"/>
              </a:rPr>
              <a:t>vertices</a:t>
            </a:r>
            <a:r>
              <a:rPr lang="en" sz="1200"/>
              <a:t>.</a:t>
            </a:r>
            <a:endParaRPr sz="1200"/>
          </a:p>
          <a:p>
            <a:pPr marL="914400" lvl="1" indent="-304800" algn="l" rtl="0">
              <a:lnSpc>
                <a:spcPct val="115000"/>
              </a:lnSpc>
              <a:spcBef>
                <a:spcPts val="0"/>
              </a:spcBef>
              <a:spcAft>
                <a:spcPts val="0"/>
              </a:spcAft>
              <a:buSzPts val="1200"/>
              <a:buChar char="○"/>
            </a:pPr>
            <a:r>
              <a:rPr lang="en" sz="1200"/>
              <a:t>Create the </a:t>
            </a:r>
            <a:r>
              <a:rPr lang="en" sz="1200" b="1" i="1">
                <a:solidFill>
                  <a:srgbClr val="FF0000"/>
                </a:solidFill>
              </a:rPr>
              <a:t>queue</a:t>
            </a:r>
            <a:r>
              <a:rPr lang="en" sz="1200">
                <a:solidFill>
                  <a:srgbClr val="FF0000"/>
                </a:solidFill>
              </a:rPr>
              <a:t> </a:t>
            </a:r>
            <a:r>
              <a:rPr lang="en" sz="1200"/>
              <a:t>(</a:t>
            </a:r>
            <a:r>
              <a:rPr lang="en" sz="1200">
                <a:solidFill>
                  <a:srgbClr val="FF0000"/>
                </a:solidFill>
                <a:latin typeface="Courier New"/>
                <a:ea typeface="Courier New"/>
                <a:cs typeface="Courier New"/>
                <a:sym typeface="Courier New"/>
              </a:rPr>
              <a:t>java.util.LinkedList</a:t>
            </a:r>
            <a:r>
              <a:rPr lang="en" sz="1200"/>
              <a:t>) and add the starting vertex.</a:t>
            </a:r>
            <a:endParaRPr sz="1200"/>
          </a:p>
          <a:p>
            <a:pPr marL="914400" lvl="1" indent="-304800" algn="l" rtl="0">
              <a:lnSpc>
                <a:spcPct val="115000"/>
              </a:lnSpc>
              <a:spcBef>
                <a:spcPts val="0"/>
              </a:spcBef>
              <a:spcAft>
                <a:spcPts val="0"/>
              </a:spcAft>
              <a:buSzPts val="1200"/>
              <a:buChar char="○"/>
            </a:pPr>
            <a:r>
              <a:rPr lang="en" sz="1200"/>
              <a:t>Create a </a:t>
            </a:r>
            <a:r>
              <a:rPr lang="en" sz="1200" b="1" i="1">
                <a:solidFill>
                  <a:srgbClr val="FF0000"/>
                </a:solidFill>
              </a:rPr>
              <a:t>predecessor map </a:t>
            </a:r>
            <a:r>
              <a:rPr lang="en" sz="1200"/>
              <a:t>(</a:t>
            </a:r>
            <a:r>
              <a:rPr lang="en" sz="1200">
                <a:solidFill>
                  <a:srgbClr val="FF0000"/>
                </a:solidFill>
                <a:latin typeface="Courier New"/>
                <a:ea typeface="Courier New"/>
                <a:cs typeface="Courier New"/>
                <a:sym typeface="Courier New"/>
              </a:rPr>
              <a:t>java.util.HashMap</a:t>
            </a:r>
            <a:r>
              <a:rPr lang="en" sz="1200"/>
              <a:t>) and add the starting vertex as the key with a </a:t>
            </a:r>
            <a:r>
              <a:rPr lang="en" sz="1200">
                <a:solidFill>
                  <a:srgbClr val="FF0000"/>
                </a:solidFill>
                <a:latin typeface="Courier New"/>
                <a:ea typeface="Courier New"/>
                <a:cs typeface="Courier New"/>
                <a:sym typeface="Courier New"/>
              </a:rPr>
              <a:t>null</a:t>
            </a:r>
            <a:r>
              <a:rPr lang="en" sz="1200"/>
              <a:t> predecessor.</a:t>
            </a:r>
            <a:endParaRPr sz="1200"/>
          </a:p>
          <a:p>
            <a:pPr marL="914400" lvl="1" indent="-304800" algn="l" rtl="0">
              <a:lnSpc>
                <a:spcPct val="115000"/>
              </a:lnSpc>
              <a:spcBef>
                <a:spcPts val="0"/>
              </a:spcBef>
              <a:spcAft>
                <a:spcPts val="0"/>
              </a:spcAft>
              <a:buSzPts val="1200"/>
              <a:buChar char="○"/>
            </a:pPr>
            <a:r>
              <a:rPr lang="en" sz="1200">
                <a:solidFill>
                  <a:srgbClr val="FF0000"/>
                </a:solidFill>
              </a:rPr>
              <a:t>Return </a:t>
            </a:r>
            <a:r>
              <a:rPr lang="en" sz="1200">
                <a:solidFill>
                  <a:srgbClr val="FF0000"/>
                </a:solidFill>
                <a:latin typeface="Courier New"/>
                <a:ea typeface="Courier New"/>
                <a:cs typeface="Courier New"/>
                <a:sym typeface="Courier New"/>
              </a:rPr>
              <a:t>null</a:t>
            </a:r>
            <a:r>
              <a:rPr lang="en" sz="1200">
                <a:solidFill>
                  <a:srgbClr val="FF0000"/>
                </a:solidFill>
              </a:rPr>
              <a:t> </a:t>
            </a:r>
            <a:r>
              <a:rPr lang="en" sz="1200"/>
              <a:t>for now.</a:t>
            </a:r>
            <a:endParaRPr sz="1200"/>
          </a:p>
          <a:p>
            <a:pPr marL="457200" lvl="0" indent="-317500" algn="l" rtl="0">
              <a:lnSpc>
                <a:spcPct val="115000"/>
              </a:lnSpc>
              <a:spcBef>
                <a:spcPts val="0"/>
              </a:spcBef>
              <a:spcAft>
                <a:spcPts val="0"/>
              </a:spcAft>
              <a:buSzPts val="1400"/>
              <a:buChar char="●"/>
            </a:pPr>
            <a:r>
              <a:rPr lang="en" sz="1400" b="1" i="1">
                <a:solidFill>
                  <a:srgbClr val="FF0000"/>
                </a:solidFill>
              </a:rPr>
              <a:t>Test</a:t>
            </a:r>
            <a:r>
              <a:rPr lang="en" sz="1400">
                <a:solidFill>
                  <a:srgbClr val="FF0000"/>
                </a:solidFill>
              </a:rPr>
              <a:t> </a:t>
            </a:r>
            <a:r>
              <a:rPr lang="en" sz="1400"/>
              <a:t>your partially implemented algorithm using the provided </a:t>
            </a:r>
            <a:r>
              <a:rPr lang="en" sz="1400">
                <a:solidFill>
                  <a:srgbClr val="FF0000"/>
                </a:solidFill>
                <a:latin typeface="Courier New"/>
                <a:ea typeface="Courier New"/>
                <a:cs typeface="Courier New"/>
                <a:sym typeface="Courier New"/>
              </a:rPr>
              <a:t>BFPathTest</a:t>
            </a:r>
            <a:r>
              <a:rPr lang="en" sz="1400"/>
              <a:t>.</a:t>
            </a:r>
            <a:endParaRPr sz="1400"/>
          </a:p>
          <a:p>
            <a:pPr marL="914400" lvl="1" indent="-304800" algn="l" rtl="0">
              <a:lnSpc>
                <a:spcPct val="115000"/>
              </a:lnSpc>
              <a:spcBef>
                <a:spcPts val="0"/>
              </a:spcBef>
              <a:spcAft>
                <a:spcPts val="0"/>
              </a:spcAft>
              <a:buSzPts val="1200"/>
              <a:buChar char="○"/>
            </a:pPr>
            <a:r>
              <a:rPr lang="en" sz="1200" b="1" i="1">
                <a:solidFill>
                  <a:srgbClr val="FF0000"/>
                </a:solidFill>
              </a:rPr>
              <a:t>Some </a:t>
            </a:r>
            <a:r>
              <a:rPr lang="en" sz="1200"/>
              <a:t>of the tests should now </a:t>
            </a:r>
            <a:r>
              <a:rPr lang="en" sz="1200" b="1" i="1">
                <a:solidFill>
                  <a:srgbClr val="FF0000"/>
                </a:solidFill>
              </a:rPr>
              <a:t>pass</a:t>
            </a:r>
            <a:r>
              <a:rPr lang="en" sz="1200"/>
              <a:t>.</a:t>
            </a:r>
            <a:endParaRPr sz="1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81"/>
        <p:cNvGrpSpPr/>
        <p:nvPr/>
      </p:nvGrpSpPr>
      <p:grpSpPr>
        <a:xfrm>
          <a:off x="0" y="0"/>
          <a:ext cx="0" cy="0"/>
          <a:chOff x="0" y="0"/>
          <a:chExt cx="0" cy="0"/>
        </a:xfrm>
      </p:grpSpPr>
      <p:pic>
        <p:nvPicPr>
          <p:cNvPr id="1782" name="Google Shape;1782;p74"/>
          <p:cNvPicPr preferRelativeResize="0"/>
          <p:nvPr/>
        </p:nvPicPr>
        <p:blipFill rotWithShape="1">
          <a:blip r:embed="rId3">
            <a:alphaModFix/>
          </a:blip>
          <a:srcRect/>
          <a:stretch/>
        </p:blipFill>
        <p:spPr>
          <a:xfrm>
            <a:off x="120325" y="1861951"/>
            <a:ext cx="3084074" cy="2673249"/>
          </a:xfrm>
          <a:prstGeom prst="rect">
            <a:avLst/>
          </a:prstGeom>
          <a:noFill/>
          <a:ln>
            <a:noFill/>
          </a:ln>
        </p:spPr>
      </p:pic>
      <p:sp>
        <p:nvSpPr>
          <p:cNvPr id="1783" name="Google Shape;1783;p74"/>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A Path-Making Helper Function</a:t>
            </a:r>
            <a:endParaRPr/>
          </a:p>
        </p:txBody>
      </p:sp>
      <p:sp>
        <p:nvSpPr>
          <p:cNvPr id="1784" name="Google Shape;1784;p74"/>
          <p:cNvSpPr txBox="1">
            <a:spLocks noGrp="1"/>
          </p:cNvSpPr>
          <p:nvPr>
            <p:ph type="body" idx="1"/>
          </p:nvPr>
        </p:nvSpPr>
        <p:spPr>
          <a:xfrm>
            <a:off x="65250" y="731625"/>
            <a:ext cx="8955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The most complicated part of the BFS-Path algorithm is using the map of predecessors to build the path</a:t>
            </a:r>
            <a:r>
              <a:rPr lang="en">
                <a:solidFill>
                  <a:srgbClr val="FF0000"/>
                </a:solidFill>
              </a:rPr>
              <a:t> </a:t>
            </a:r>
            <a:r>
              <a:rPr lang="en" b="1" i="1">
                <a:solidFill>
                  <a:srgbClr val="FF0000"/>
                </a:solidFill>
              </a:rPr>
              <a:t>in reverse</a:t>
            </a:r>
            <a:r>
              <a:rPr lang="en"/>
              <a:t>. Implement a helper function that adds values to the path by inserting them at index 0 in a list. Which list implementation should you use?</a:t>
            </a:r>
            <a:endParaRPr/>
          </a:p>
        </p:txBody>
      </p:sp>
      <p:sp>
        <p:nvSpPr>
          <p:cNvPr id="1785" name="Google Shape;1785;p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1786" name="Google Shape;1786;p74"/>
          <p:cNvSpPr txBox="1">
            <a:spLocks noGrp="1"/>
          </p:cNvSpPr>
          <p:nvPr>
            <p:ph type="body" idx="2"/>
          </p:nvPr>
        </p:nvSpPr>
        <p:spPr>
          <a:xfrm>
            <a:off x="3144500" y="1708325"/>
            <a:ext cx="5796600" cy="32724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SzPts val="1400"/>
              <a:buChar char="●"/>
            </a:pPr>
            <a:r>
              <a:rPr lang="en" sz="1400"/>
              <a:t>Open the </a:t>
            </a:r>
            <a:r>
              <a:rPr lang="en" sz="1400">
                <a:latin typeface="Courier New"/>
                <a:ea typeface="Courier New"/>
                <a:cs typeface="Courier New"/>
                <a:sym typeface="Courier New"/>
              </a:rPr>
              <a:t>AdjacencyGraph</a:t>
            </a:r>
            <a:r>
              <a:rPr lang="en" sz="1400"/>
              <a:t> class and define a </a:t>
            </a:r>
            <a:r>
              <a:rPr lang="en" sz="1400">
                <a:solidFill>
                  <a:srgbClr val="FF0000"/>
                </a:solidFill>
                <a:latin typeface="Courier New"/>
                <a:ea typeface="Courier New"/>
                <a:cs typeface="Courier New"/>
                <a:sym typeface="Courier New"/>
              </a:rPr>
              <a:t>private</a:t>
            </a:r>
            <a:r>
              <a:rPr lang="en" sz="1400">
                <a:solidFill>
                  <a:srgbClr val="FF0000"/>
                </a:solidFill>
              </a:rPr>
              <a:t> </a:t>
            </a:r>
            <a:r>
              <a:rPr lang="en" sz="1400"/>
              <a:t>method named "</a:t>
            </a:r>
            <a:r>
              <a:rPr lang="en" sz="1400">
                <a:solidFill>
                  <a:srgbClr val="FF0000"/>
                </a:solidFill>
                <a:latin typeface="Courier New"/>
                <a:ea typeface="Courier New"/>
                <a:cs typeface="Courier New"/>
                <a:sym typeface="Courier New"/>
              </a:rPr>
              <a:t>makePath</a:t>
            </a:r>
            <a:r>
              <a:rPr lang="en" sz="1400"/>
              <a:t>" that declares parameters for a </a:t>
            </a:r>
            <a:r>
              <a:rPr lang="en" sz="1400">
                <a:solidFill>
                  <a:srgbClr val="FF0000"/>
                </a:solidFill>
                <a:latin typeface="Courier New"/>
                <a:ea typeface="Courier New"/>
                <a:cs typeface="Courier New"/>
                <a:sym typeface="Courier New"/>
              </a:rPr>
              <a:t>predecessors</a:t>
            </a:r>
            <a:r>
              <a:rPr lang="en" sz="1400">
                <a:solidFill>
                  <a:srgbClr val="FF0000"/>
                </a:solidFill>
              </a:rPr>
              <a:t> </a:t>
            </a:r>
            <a:r>
              <a:rPr lang="en" sz="1400"/>
              <a:t>map and the </a:t>
            </a:r>
            <a:r>
              <a:rPr lang="en" sz="1400">
                <a:solidFill>
                  <a:srgbClr val="FF0000"/>
                </a:solidFill>
                <a:latin typeface="Courier New"/>
                <a:ea typeface="Courier New"/>
                <a:cs typeface="Courier New"/>
                <a:sym typeface="Courier New"/>
              </a:rPr>
              <a:t>end</a:t>
            </a:r>
            <a:r>
              <a:rPr lang="en" sz="1400">
                <a:solidFill>
                  <a:srgbClr val="FF0000"/>
                </a:solidFill>
              </a:rPr>
              <a:t> </a:t>
            </a:r>
            <a:r>
              <a:rPr lang="en" sz="1400"/>
              <a:t>vertex and returns a </a:t>
            </a:r>
            <a:r>
              <a:rPr lang="en" sz="1400">
                <a:latin typeface="Courier New"/>
                <a:ea typeface="Courier New"/>
                <a:cs typeface="Courier New"/>
                <a:sym typeface="Courier New"/>
              </a:rPr>
              <a:t>List&lt;E&gt;</a:t>
            </a:r>
            <a:r>
              <a:rPr lang="en" sz="1400"/>
              <a:t>.</a:t>
            </a:r>
            <a:endParaRPr sz="1400"/>
          </a:p>
          <a:p>
            <a:pPr marL="457200" lvl="0" indent="-317500" algn="l" rtl="0">
              <a:lnSpc>
                <a:spcPct val="115000"/>
              </a:lnSpc>
              <a:spcBef>
                <a:spcPts val="0"/>
              </a:spcBef>
              <a:spcAft>
                <a:spcPts val="0"/>
              </a:spcAft>
              <a:buSzPts val="1400"/>
              <a:buChar char="●"/>
            </a:pPr>
            <a:r>
              <a:rPr lang="en" sz="1400"/>
              <a:t>Use the map to build a path according to the following algorithm:</a:t>
            </a:r>
            <a:endParaRPr sz="1400"/>
          </a:p>
          <a:p>
            <a:pPr marL="914400" lvl="1" indent="-304800" algn="l" rtl="0">
              <a:lnSpc>
                <a:spcPct val="115000"/>
              </a:lnSpc>
              <a:spcBef>
                <a:spcPts val="0"/>
              </a:spcBef>
              <a:spcAft>
                <a:spcPts val="0"/>
              </a:spcAft>
              <a:buSzPts val="1200"/>
              <a:buChar char="○"/>
            </a:pPr>
            <a:r>
              <a:rPr lang="en" sz="1200"/>
              <a:t>If the map</a:t>
            </a:r>
            <a:r>
              <a:rPr lang="en" sz="1200" b="1" i="1"/>
              <a:t> </a:t>
            </a:r>
            <a:r>
              <a:rPr lang="en" sz="1200" b="1" i="1">
                <a:solidFill>
                  <a:srgbClr val="FF0000"/>
                </a:solidFill>
              </a:rPr>
              <a:t>does not contain</a:t>
            </a:r>
            <a:r>
              <a:rPr lang="en" sz="1200"/>
              <a:t> the </a:t>
            </a:r>
            <a:r>
              <a:rPr lang="en" sz="1200">
                <a:latin typeface="Courier New"/>
                <a:ea typeface="Courier New"/>
                <a:cs typeface="Courier New"/>
                <a:sym typeface="Courier New"/>
              </a:rPr>
              <a:t>end</a:t>
            </a:r>
            <a:r>
              <a:rPr lang="en" sz="1200"/>
              <a:t> vertex, </a:t>
            </a:r>
            <a:r>
              <a:rPr lang="en" sz="1200" b="1" i="1">
                <a:solidFill>
                  <a:srgbClr val="FF0000"/>
                </a:solidFill>
              </a:rPr>
              <a:t>return </a:t>
            </a:r>
            <a:r>
              <a:rPr lang="en" sz="1200">
                <a:solidFill>
                  <a:srgbClr val="FF0000"/>
                </a:solidFill>
                <a:latin typeface="Courier New"/>
                <a:ea typeface="Courier New"/>
                <a:cs typeface="Courier New"/>
                <a:sym typeface="Courier New"/>
              </a:rPr>
              <a:t>null</a:t>
            </a:r>
            <a:r>
              <a:rPr lang="en" sz="1200"/>
              <a:t>.</a:t>
            </a:r>
            <a:endParaRPr sz="1200"/>
          </a:p>
          <a:p>
            <a:pPr marL="1371600" lvl="2" indent="-304800" algn="l" rtl="0">
              <a:lnSpc>
                <a:spcPct val="115000"/>
              </a:lnSpc>
              <a:spcBef>
                <a:spcPts val="0"/>
              </a:spcBef>
              <a:spcAft>
                <a:spcPts val="0"/>
              </a:spcAft>
              <a:buSzPts val="1200"/>
              <a:buChar char="■"/>
            </a:pPr>
            <a:r>
              <a:rPr lang="en" sz="1200" b="1" i="1">
                <a:solidFill>
                  <a:srgbClr val="FF0000"/>
                </a:solidFill>
              </a:rPr>
              <a:t>Hint</a:t>
            </a:r>
            <a:r>
              <a:rPr lang="en" sz="1200"/>
              <a:t>: use the </a:t>
            </a:r>
            <a:r>
              <a:rPr lang="en" sz="1200">
                <a:solidFill>
                  <a:srgbClr val="FF0000"/>
                </a:solidFill>
                <a:latin typeface="Courier New"/>
                <a:ea typeface="Courier New"/>
                <a:cs typeface="Courier New"/>
                <a:sym typeface="Courier New"/>
              </a:rPr>
              <a:t>containsKey(end)</a:t>
            </a:r>
            <a:r>
              <a:rPr lang="en" sz="1200"/>
              <a:t> method on the map.</a:t>
            </a:r>
            <a:endParaRPr sz="1200"/>
          </a:p>
          <a:p>
            <a:pPr marL="914400" lvl="1" indent="-304800" algn="l" rtl="0">
              <a:lnSpc>
                <a:spcPct val="115000"/>
              </a:lnSpc>
              <a:spcBef>
                <a:spcPts val="0"/>
              </a:spcBef>
              <a:spcAft>
                <a:spcPts val="0"/>
              </a:spcAft>
              <a:buSzPts val="1200"/>
              <a:buChar char="○"/>
            </a:pPr>
            <a:r>
              <a:rPr lang="en" sz="1200"/>
              <a:t>Otherwise:</a:t>
            </a:r>
            <a:endParaRPr sz="1200"/>
          </a:p>
          <a:p>
            <a:pPr marL="1371600" lvl="2" indent="-304800" algn="l" rtl="0">
              <a:lnSpc>
                <a:spcPct val="115000"/>
              </a:lnSpc>
              <a:spcBef>
                <a:spcPts val="0"/>
              </a:spcBef>
              <a:spcAft>
                <a:spcPts val="0"/>
              </a:spcAft>
              <a:buSzPts val="1200"/>
              <a:buChar char="■"/>
            </a:pPr>
            <a:r>
              <a:rPr lang="en" sz="1200"/>
              <a:t>Make an empty list for the </a:t>
            </a:r>
            <a:r>
              <a:rPr lang="en" sz="1200" b="1" i="1">
                <a:solidFill>
                  <a:srgbClr val="FF0000"/>
                </a:solidFill>
              </a:rPr>
              <a:t>path</a:t>
            </a:r>
            <a:r>
              <a:rPr lang="en" sz="1200"/>
              <a:t>.</a:t>
            </a:r>
            <a:endParaRPr sz="1200"/>
          </a:p>
          <a:p>
            <a:pPr marL="1371600" lvl="2" indent="-304800" algn="l" rtl="0">
              <a:lnSpc>
                <a:spcPct val="115000"/>
              </a:lnSpc>
              <a:spcBef>
                <a:spcPts val="0"/>
              </a:spcBef>
              <a:spcAft>
                <a:spcPts val="0"/>
              </a:spcAft>
              <a:buSzPts val="1200"/>
              <a:buChar char="■"/>
            </a:pPr>
            <a:r>
              <a:rPr lang="en" sz="1200"/>
              <a:t>Set the </a:t>
            </a:r>
            <a:r>
              <a:rPr lang="en" sz="1200" b="1" i="1">
                <a:solidFill>
                  <a:srgbClr val="FF0000"/>
                </a:solidFill>
              </a:rPr>
              <a:t>current </a:t>
            </a:r>
            <a:r>
              <a:rPr lang="en" sz="1200"/>
              <a:t>vertex to </a:t>
            </a:r>
            <a:r>
              <a:rPr lang="en" sz="1200">
                <a:latin typeface="Courier New"/>
                <a:ea typeface="Courier New"/>
                <a:cs typeface="Courier New"/>
                <a:sym typeface="Courier New"/>
              </a:rPr>
              <a:t>end</a:t>
            </a:r>
            <a:r>
              <a:rPr lang="en" sz="1200"/>
              <a:t>.</a:t>
            </a:r>
            <a:endParaRPr sz="1200"/>
          </a:p>
          <a:p>
            <a:pPr marL="1371600" lvl="2" indent="-304800" algn="l" rtl="0">
              <a:lnSpc>
                <a:spcPct val="115000"/>
              </a:lnSpc>
              <a:spcBef>
                <a:spcPts val="0"/>
              </a:spcBef>
              <a:spcAft>
                <a:spcPts val="0"/>
              </a:spcAft>
              <a:buSzPts val="1200"/>
              <a:buChar char="■"/>
            </a:pPr>
            <a:r>
              <a:rPr lang="en" sz="1200"/>
              <a:t>As long as current</a:t>
            </a:r>
            <a:r>
              <a:rPr lang="en" sz="1200">
                <a:solidFill>
                  <a:srgbClr val="FF0000"/>
                </a:solidFill>
              </a:rPr>
              <a:t> </a:t>
            </a:r>
            <a:r>
              <a:rPr lang="en" sz="1200" b="1" i="1">
                <a:solidFill>
                  <a:srgbClr val="FF0000"/>
                </a:solidFill>
              </a:rPr>
              <a:t>is not</a:t>
            </a:r>
            <a:r>
              <a:rPr lang="en" sz="1200">
                <a:solidFill>
                  <a:srgbClr val="FF0000"/>
                </a:solidFill>
              </a:rPr>
              <a:t> </a:t>
            </a:r>
            <a:r>
              <a:rPr lang="en" sz="1200">
                <a:solidFill>
                  <a:srgbClr val="FF0000"/>
                </a:solidFill>
                <a:latin typeface="Courier New"/>
                <a:ea typeface="Courier New"/>
                <a:cs typeface="Courier New"/>
                <a:sym typeface="Courier New"/>
              </a:rPr>
              <a:t>null</a:t>
            </a:r>
            <a:r>
              <a:rPr lang="en" sz="1200"/>
              <a:t>:</a:t>
            </a:r>
            <a:endParaRPr sz="1200"/>
          </a:p>
          <a:p>
            <a:pPr marL="1828800" lvl="3" indent="-304800" algn="l" rtl="0">
              <a:lnSpc>
                <a:spcPct val="115000"/>
              </a:lnSpc>
              <a:spcBef>
                <a:spcPts val="0"/>
              </a:spcBef>
              <a:spcAft>
                <a:spcPts val="0"/>
              </a:spcAft>
              <a:buSzPts val="1200"/>
              <a:buChar char="●"/>
            </a:pPr>
            <a:r>
              <a:rPr lang="en" sz="1200" b="1" i="1">
                <a:solidFill>
                  <a:srgbClr val="FF0000"/>
                </a:solidFill>
              </a:rPr>
              <a:t>Add</a:t>
            </a:r>
            <a:r>
              <a:rPr lang="en" sz="1200">
                <a:solidFill>
                  <a:srgbClr val="FF0000"/>
                </a:solidFill>
              </a:rPr>
              <a:t> </a:t>
            </a:r>
            <a:r>
              <a:rPr lang="en" sz="1200"/>
              <a:t>the current vertex's </a:t>
            </a:r>
            <a:r>
              <a:rPr lang="en" sz="1200" b="1" i="1">
                <a:solidFill>
                  <a:srgbClr val="FF0000"/>
                </a:solidFill>
              </a:rPr>
              <a:t>value </a:t>
            </a:r>
            <a:r>
              <a:rPr lang="en" sz="1200"/>
              <a:t>to the </a:t>
            </a:r>
            <a:r>
              <a:rPr lang="en" sz="1200" b="1" i="1">
                <a:solidFill>
                  <a:srgbClr val="FF0000"/>
                </a:solidFill>
              </a:rPr>
              <a:t>front </a:t>
            </a:r>
            <a:r>
              <a:rPr lang="en" sz="1200"/>
              <a:t>of the path.</a:t>
            </a:r>
            <a:endParaRPr sz="1200"/>
          </a:p>
          <a:p>
            <a:pPr marL="1828800" lvl="3" indent="-304800" algn="l" rtl="0">
              <a:lnSpc>
                <a:spcPct val="115000"/>
              </a:lnSpc>
              <a:spcBef>
                <a:spcPts val="0"/>
              </a:spcBef>
              <a:spcAft>
                <a:spcPts val="0"/>
              </a:spcAft>
              <a:buSzPts val="1200"/>
              <a:buChar char="●"/>
            </a:pPr>
            <a:r>
              <a:rPr lang="en" sz="1200"/>
              <a:t>Use current to </a:t>
            </a:r>
            <a:r>
              <a:rPr lang="en" sz="1200" b="1" i="1">
                <a:solidFill>
                  <a:srgbClr val="FF0000"/>
                </a:solidFill>
              </a:rPr>
              <a:t>retrieve </a:t>
            </a:r>
            <a:r>
              <a:rPr lang="en" sz="1200"/>
              <a:t>its predecessor from the map.</a:t>
            </a:r>
            <a:endParaRPr sz="1200"/>
          </a:p>
          <a:p>
            <a:pPr marL="1828800" lvl="3" indent="-304800" algn="l" rtl="0">
              <a:lnSpc>
                <a:spcPct val="115000"/>
              </a:lnSpc>
              <a:spcBef>
                <a:spcPts val="0"/>
              </a:spcBef>
              <a:spcAft>
                <a:spcPts val="0"/>
              </a:spcAft>
              <a:buSzPts val="1200"/>
              <a:buChar char="●"/>
            </a:pPr>
            <a:r>
              <a:rPr lang="en" sz="1200" b="1" i="1">
                <a:solidFill>
                  <a:srgbClr val="FF0000"/>
                </a:solidFill>
              </a:rPr>
              <a:t>Set </a:t>
            </a:r>
            <a:r>
              <a:rPr lang="en" sz="1200"/>
              <a:t>current to the predecessor.</a:t>
            </a:r>
            <a:endParaRPr sz="1200"/>
          </a:p>
          <a:p>
            <a:pPr marL="1371600" lvl="2" indent="-304800" algn="l" rtl="0">
              <a:lnSpc>
                <a:spcPct val="115000"/>
              </a:lnSpc>
              <a:spcBef>
                <a:spcPts val="0"/>
              </a:spcBef>
              <a:spcAft>
                <a:spcPts val="0"/>
              </a:spcAft>
              <a:buSzPts val="1200"/>
              <a:buChar char="■"/>
            </a:pPr>
            <a:r>
              <a:rPr lang="en" sz="1200" b="1" i="1">
                <a:solidFill>
                  <a:srgbClr val="FF0000"/>
                </a:solidFill>
              </a:rPr>
              <a:t>Return </a:t>
            </a:r>
            <a:r>
              <a:rPr lang="en" sz="1200"/>
              <a:t>the path.</a:t>
            </a:r>
            <a:endParaRPr sz="1200"/>
          </a:p>
        </p:txBody>
      </p:sp>
      <p:sp>
        <p:nvSpPr>
          <p:cNvPr id="1787" name="Google Shape;1787;p74"/>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12.17</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792" name="Google Shape;1792;p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1793" name="Google Shape;1793;p75"/>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12.18</a:t>
            </a:r>
            <a:endParaRPr/>
          </a:p>
        </p:txBody>
      </p:sp>
      <p:pic>
        <p:nvPicPr>
          <p:cNvPr id="1794" name="Google Shape;1794;p75"/>
          <p:cNvPicPr preferRelativeResize="0"/>
          <p:nvPr/>
        </p:nvPicPr>
        <p:blipFill rotWithShape="1">
          <a:blip r:embed="rId3">
            <a:alphaModFix/>
          </a:blip>
          <a:srcRect/>
          <a:stretch/>
        </p:blipFill>
        <p:spPr>
          <a:xfrm>
            <a:off x="152400" y="1668975"/>
            <a:ext cx="2376599" cy="2759851"/>
          </a:xfrm>
          <a:prstGeom prst="rect">
            <a:avLst/>
          </a:prstGeom>
          <a:noFill/>
          <a:ln>
            <a:noFill/>
          </a:ln>
        </p:spPr>
      </p:pic>
      <p:sp>
        <p:nvSpPr>
          <p:cNvPr id="1795" name="Google Shape;1795;p75"/>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The Finishing Touches</a:t>
            </a:r>
            <a:endParaRPr/>
          </a:p>
        </p:txBody>
      </p:sp>
      <p:sp>
        <p:nvSpPr>
          <p:cNvPr id="1796" name="Google Shape;1796;p75"/>
          <p:cNvSpPr txBox="1">
            <a:spLocks noGrp="1"/>
          </p:cNvSpPr>
          <p:nvPr>
            <p:ph type="body" idx="1"/>
          </p:nvPr>
        </p:nvSpPr>
        <p:spPr>
          <a:xfrm>
            <a:off x="65250" y="731625"/>
            <a:ext cx="8955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Now that the hardest part of the BFS-Path algorithm has been implemented, finishing the algorithm should be fairly straightforward. Let's put all of the pieces together and then test the algorithm!</a:t>
            </a:r>
            <a:endParaRPr/>
          </a:p>
        </p:txBody>
      </p:sp>
      <p:sp>
        <p:nvSpPr>
          <p:cNvPr id="1797" name="Google Shape;1797;p75"/>
          <p:cNvSpPr txBox="1">
            <a:spLocks noGrp="1"/>
          </p:cNvSpPr>
          <p:nvPr>
            <p:ph type="body" idx="2"/>
          </p:nvPr>
        </p:nvSpPr>
        <p:spPr>
          <a:xfrm>
            <a:off x="2627900" y="1634550"/>
            <a:ext cx="6298200" cy="28287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Open the </a:t>
            </a:r>
            <a:r>
              <a:rPr lang="en" sz="1400">
                <a:latin typeface="Courier New"/>
                <a:ea typeface="Courier New"/>
                <a:cs typeface="Courier New"/>
                <a:sym typeface="Courier New"/>
              </a:rPr>
              <a:t>AdjacencyGraph</a:t>
            </a:r>
            <a:r>
              <a:rPr lang="en" sz="1400"/>
              <a:t> class and navigate to the </a:t>
            </a:r>
            <a:r>
              <a:rPr lang="en" sz="1400">
                <a:latin typeface="Courier New"/>
                <a:ea typeface="Courier New"/>
                <a:cs typeface="Courier New"/>
                <a:sym typeface="Courier New"/>
              </a:rPr>
              <a:t>bfPath</a:t>
            </a:r>
            <a:r>
              <a:rPr lang="en" sz="1400"/>
              <a:t> method.</a:t>
            </a:r>
            <a:endParaRPr sz="1400"/>
          </a:p>
          <a:p>
            <a:pPr marL="457200" lvl="0" indent="-317500" algn="l" rtl="0">
              <a:lnSpc>
                <a:spcPct val="115000"/>
              </a:lnSpc>
              <a:spcBef>
                <a:spcPts val="0"/>
              </a:spcBef>
              <a:spcAft>
                <a:spcPts val="0"/>
              </a:spcAft>
              <a:buSzPts val="1400"/>
              <a:buChar char="●"/>
            </a:pPr>
            <a:r>
              <a:rPr lang="en" sz="1400"/>
              <a:t>Implement the </a:t>
            </a:r>
            <a:r>
              <a:rPr lang="en" sz="1400" b="1" i="1">
                <a:solidFill>
                  <a:srgbClr val="FF0000"/>
                </a:solidFill>
              </a:rPr>
              <a:t>main BF Path loop</a:t>
            </a:r>
            <a:r>
              <a:rPr lang="en" sz="1400"/>
              <a:t> according to the following algorithm:</a:t>
            </a:r>
            <a:endParaRPr sz="1400"/>
          </a:p>
          <a:p>
            <a:pPr marL="914400" lvl="1" indent="-304800" algn="l" rtl="0">
              <a:lnSpc>
                <a:spcPct val="115000"/>
              </a:lnSpc>
              <a:spcBef>
                <a:spcPts val="0"/>
              </a:spcBef>
              <a:spcAft>
                <a:spcPts val="0"/>
              </a:spcAft>
              <a:buSzPts val="1200"/>
              <a:buChar char="○"/>
            </a:pPr>
            <a:r>
              <a:rPr lang="en" sz="1200"/>
              <a:t>As long as the queue is </a:t>
            </a:r>
            <a:r>
              <a:rPr lang="en" sz="1200" b="1" i="1">
                <a:solidFill>
                  <a:srgbClr val="FF0000"/>
                </a:solidFill>
              </a:rPr>
              <a:t>not empty</a:t>
            </a:r>
            <a:r>
              <a:rPr lang="en" sz="1200"/>
              <a:t>:</a:t>
            </a:r>
            <a:endParaRPr sz="1200"/>
          </a:p>
          <a:p>
            <a:pPr marL="1371600" lvl="2" indent="-304800" algn="l" rtl="0">
              <a:lnSpc>
                <a:spcPct val="115000"/>
              </a:lnSpc>
              <a:spcBef>
                <a:spcPts val="0"/>
              </a:spcBef>
              <a:spcAft>
                <a:spcPts val="0"/>
              </a:spcAft>
              <a:buSzPts val="1200"/>
              <a:buChar char="■"/>
            </a:pPr>
            <a:r>
              <a:rPr lang="en" sz="1200" b="1" i="1">
                <a:solidFill>
                  <a:srgbClr val="FF0000"/>
                </a:solidFill>
              </a:rPr>
              <a:t>Dequeue </a:t>
            </a:r>
            <a:r>
              <a:rPr lang="en" sz="1200"/>
              <a:t>the next vertex and call it </a:t>
            </a:r>
            <a:r>
              <a:rPr lang="en" sz="1200" b="1" i="1">
                <a:solidFill>
                  <a:srgbClr val="FF0000"/>
                </a:solidFill>
              </a:rPr>
              <a:t>V</a:t>
            </a:r>
            <a:r>
              <a:rPr lang="en" sz="1200"/>
              <a:t>.</a:t>
            </a:r>
            <a:endParaRPr sz="1200"/>
          </a:p>
          <a:p>
            <a:pPr marL="1371600" lvl="2" indent="-304800" algn="l" rtl="0">
              <a:lnSpc>
                <a:spcPct val="115000"/>
              </a:lnSpc>
              <a:spcBef>
                <a:spcPts val="0"/>
              </a:spcBef>
              <a:spcAft>
                <a:spcPts val="0"/>
              </a:spcAft>
              <a:buSzPts val="1200"/>
              <a:buChar char="■"/>
            </a:pPr>
            <a:r>
              <a:rPr lang="en" sz="1200"/>
              <a:t>If </a:t>
            </a:r>
            <a:r>
              <a:rPr lang="en" sz="1200" b="1" i="1">
                <a:solidFill>
                  <a:srgbClr val="FF0000"/>
                </a:solidFill>
              </a:rPr>
              <a:t>V</a:t>
            </a:r>
            <a:r>
              <a:rPr lang="en" sz="1200"/>
              <a:t> is </a:t>
            </a:r>
            <a:r>
              <a:rPr lang="en" sz="1200" b="1" i="1">
                <a:solidFill>
                  <a:srgbClr val="FF0000"/>
                </a:solidFill>
              </a:rPr>
              <a:t>E</a:t>
            </a:r>
            <a:r>
              <a:rPr lang="en" sz="1200"/>
              <a:t>, </a:t>
            </a:r>
            <a:r>
              <a:rPr lang="en" sz="1200" b="1" i="1">
                <a:solidFill>
                  <a:srgbClr val="FF0000"/>
                </a:solidFill>
              </a:rPr>
              <a:t>break</a:t>
            </a:r>
            <a:r>
              <a:rPr lang="en" sz="1200"/>
              <a:t>.</a:t>
            </a:r>
            <a:endParaRPr sz="1200"/>
          </a:p>
          <a:p>
            <a:pPr marL="1371600" lvl="2" indent="-304800" algn="l" rtl="0">
              <a:lnSpc>
                <a:spcPct val="115000"/>
              </a:lnSpc>
              <a:spcBef>
                <a:spcPts val="0"/>
              </a:spcBef>
              <a:spcAft>
                <a:spcPts val="0"/>
              </a:spcAft>
              <a:buSzPts val="1200"/>
              <a:buChar char="■"/>
            </a:pPr>
            <a:r>
              <a:rPr lang="en" sz="1200"/>
              <a:t>Otherwise, for each of</a:t>
            </a:r>
            <a:r>
              <a:rPr lang="en" sz="1200">
                <a:solidFill>
                  <a:srgbClr val="FF0000"/>
                </a:solidFill>
              </a:rPr>
              <a:t> </a:t>
            </a:r>
            <a:r>
              <a:rPr lang="en" sz="1200" b="1" i="1">
                <a:solidFill>
                  <a:srgbClr val="FF0000"/>
                </a:solidFill>
              </a:rPr>
              <a:t>V</a:t>
            </a:r>
            <a:r>
              <a:rPr lang="en" sz="1200"/>
              <a:t>'s neighbors </a:t>
            </a:r>
            <a:r>
              <a:rPr lang="en" sz="1200" b="1" i="1">
                <a:solidFill>
                  <a:srgbClr val="FF0000"/>
                </a:solidFill>
              </a:rPr>
              <a:t>N</a:t>
            </a:r>
            <a:r>
              <a:rPr lang="en" sz="1200"/>
              <a:t>:</a:t>
            </a:r>
            <a:endParaRPr sz="1200"/>
          </a:p>
          <a:p>
            <a:pPr marL="1828800" lvl="3" indent="-304800" algn="l" rtl="0">
              <a:lnSpc>
                <a:spcPct val="115000"/>
              </a:lnSpc>
              <a:spcBef>
                <a:spcPts val="0"/>
              </a:spcBef>
              <a:spcAft>
                <a:spcPts val="0"/>
              </a:spcAft>
              <a:buSzPts val="1200"/>
              <a:buChar char="●"/>
            </a:pPr>
            <a:r>
              <a:rPr lang="en" sz="1200"/>
              <a:t>If </a:t>
            </a:r>
            <a:r>
              <a:rPr lang="en" sz="1200" b="1" i="1">
                <a:solidFill>
                  <a:srgbClr val="FF0000"/>
                </a:solidFill>
              </a:rPr>
              <a:t>N</a:t>
            </a:r>
            <a:r>
              <a:rPr lang="en" sz="1200"/>
              <a:t> is </a:t>
            </a:r>
            <a:r>
              <a:rPr lang="en" sz="1200" b="1" i="1">
                <a:solidFill>
                  <a:srgbClr val="FF0000"/>
                </a:solidFill>
              </a:rPr>
              <a:t>not</a:t>
            </a:r>
            <a:r>
              <a:rPr lang="en" sz="1200">
                <a:solidFill>
                  <a:srgbClr val="FF0000"/>
                </a:solidFill>
              </a:rPr>
              <a:t> </a:t>
            </a:r>
            <a:r>
              <a:rPr lang="en" sz="1200"/>
              <a:t>already in the map:</a:t>
            </a:r>
            <a:endParaRPr sz="1200"/>
          </a:p>
          <a:p>
            <a:pPr marL="2286000" lvl="4" indent="-304800" algn="l" rtl="0">
              <a:lnSpc>
                <a:spcPct val="115000"/>
              </a:lnSpc>
              <a:spcBef>
                <a:spcPts val="0"/>
              </a:spcBef>
              <a:spcAft>
                <a:spcPts val="0"/>
              </a:spcAft>
              <a:buSzPts val="1200"/>
              <a:buChar char="○"/>
            </a:pPr>
            <a:r>
              <a:rPr lang="en" sz="1200" b="1" i="1">
                <a:solidFill>
                  <a:srgbClr val="FF0000"/>
                </a:solidFill>
              </a:rPr>
              <a:t>Add</a:t>
            </a:r>
            <a:r>
              <a:rPr lang="en" sz="1200"/>
              <a:t> </a:t>
            </a:r>
            <a:r>
              <a:rPr lang="en" sz="1200" b="1" i="1">
                <a:solidFill>
                  <a:srgbClr val="FF0000"/>
                </a:solidFill>
              </a:rPr>
              <a:t>N</a:t>
            </a:r>
            <a:r>
              <a:rPr lang="en" sz="1200" b="1" i="1"/>
              <a:t> </a:t>
            </a:r>
            <a:r>
              <a:rPr lang="en" sz="1200"/>
              <a:t>to the queue</a:t>
            </a:r>
            <a:endParaRPr sz="1200"/>
          </a:p>
          <a:p>
            <a:pPr marL="2286000" lvl="4" indent="-304800" algn="l" rtl="0">
              <a:lnSpc>
                <a:spcPct val="115000"/>
              </a:lnSpc>
              <a:spcBef>
                <a:spcPts val="0"/>
              </a:spcBef>
              <a:spcAft>
                <a:spcPts val="0"/>
              </a:spcAft>
              <a:buSzPts val="1200"/>
              <a:buChar char="○"/>
            </a:pPr>
            <a:r>
              <a:rPr lang="en" sz="1200" b="1" i="1">
                <a:solidFill>
                  <a:srgbClr val="FF0000"/>
                </a:solidFill>
              </a:rPr>
              <a:t>Put</a:t>
            </a:r>
            <a:r>
              <a:rPr lang="en" sz="1200">
                <a:solidFill>
                  <a:srgbClr val="FF0000"/>
                </a:solidFill>
              </a:rPr>
              <a:t> </a:t>
            </a:r>
            <a:r>
              <a:rPr lang="en" sz="1200" b="1" i="1">
                <a:solidFill>
                  <a:srgbClr val="FF0000"/>
                </a:solidFill>
              </a:rPr>
              <a:t>N</a:t>
            </a:r>
            <a:r>
              <a:rPr lang="en" sz="1200"/>
              <a:t> (</a:t>
            </a:r>
            <a:r>
              <a:rPr lang="en" sz="1200">
                <a:solidFill>
                  <a:srgbClr val="FF0000"/>
                </a:solidFill>
              </a:rPr>
              <a:t>key</a:t>
            </a:r>
            <a:r>
              <a:rPr lang="en" sz="1200"/>
              <a:t>) and </a:t>
            </a:r>
            <a:r>
              <a:rPr lang="en" sz="1200" b="1" i="1">
                <a:solidFill>
                  <a:srgbClr val="FF0000"/>
                </a:solidFill>
              </a:rPr>
              <a:t>V</a:t>
            </a:r>
            <a:r>
              <a:rPr lang="en" sz="1200">
                <a:solidFill>
                  <a:srgbClr val="FF0000"/>
                </a:solidFill>
              </a:rPr>
              <a:t> </a:t>
            </a:r>
            <a:r>
              <a:rPr lang="en" sz="1200"/>
              <a:t>(</a:t>
            </a:r>
            <a:r>
              <a:rPr lang="en" sz="1200">
                <a:solidFill>
                  <a:srgbClr val="FF0000"/>
                </a:solidFill>
              </a:rPr>
              <a:t>value</a:t>
            </a:r>
            <a:r>
              <a:rPr lang="en" sz="1200"/>
              <a:t>) in the predecessor map. </a:t>
            </a:r>
            <a:endParaRPr sz="1200"/>
          </a:p>
          <a:p>
            <a:pPr marL="914400" lvl="1" indent="-304800" algn="l" rtl="0">
              <a:lnSpc>
                <a:spcPct val="115000"/>
              </a:lnSpc>
              <a:spcBef>
                <a:spcPts val="0"/>
              </a:spcBef>
              <a:spcAft>
                <a:spcPts val="0"/>
              </a:spcAft>
              <a:buSzPts val="1200"/>
              <a:buChar char="○"/>
            </a:pPr>
            <a:r>
              <a:rPr lang="en" sz="1200" b="1" i="1">
                <a:solidFill>
                  <a:srgbClr val="FF0000"/>
                </a:solidFill>
              </a:rPr>
              <a:t>Call </a:t>
            </a:r>
            <a:r>
              <a:rPr lang="en" sz="1200"/>
              <a:t>your </a:t>
            </a:r>
            <a:r>
              <a:rPr lang="en" sz="1200">
                <a:solidFill>
                  <a:srgbClr val="FF0000"/>
                </a:solidFill>
                <a:latin typeface="Courier New"/>
                <a:ea typeface="Courier New"/>
                <a:cs typeface="Courier New"/>
                <a:sym typeface="Courier New"/>
              </a:rPr>
              <a:t>makePath</a:t>
            </a:r>
            <a:r>
              <a:rPr lang="en" sz="1200">
                <a:solidFill>
                  <a:srgbClr val="FF0000"/>
                </a:solidFill>
              </a:rPr>
              <a:t> </a:t>
            </a:r>
            <a:r>
              <a:rPr lang="en" sz="1200"/>
              <a:t>helper function and return the result.</a:t>
            </a:r>
            <a:endParaRPr sz="1200"/>
          </a:p>
          <a:p>
            <a:pPr marL="457200" lvl="0" indent="-317500" algn="l" rtl="0">
              <a:lnSpc>
                <a:spcPct val="115000"/>
              </a:lnSpc>
              <a:spcBef>
                <a:spcPts val="0"/>
              </a:spcBef>
              <a:spcAft>
                <a:spcPts val="0"/>
              </a:spcAft>
              <a:buSzPts val="1400"/>
              <a:buChar char="●"/>
            </a:pPr>
            <a:r>
              <a:rPr lang="en" sz="1400" b="1" i="1">
                <a:solidFill>
                  <a:srgbClr val="FF0000"/>
                </a:solidFill>
              </a:rPr>
              <a:t>Test</a:t>
            </a:r>
            <a:r>
              <a:rPr lang="en" sz="1400">
                <a:solidFill>
                  <a:srgbClr val="FF0000"/>
                </a:solidFill>
              </a:rPr>
              <a:t> </a:t>
            </a:r>
            <a:r>
              <a:rPr lang="en" sz="1400"/>
              <a:t>your completed algorithm using the provided </a:t>
            </a:r>
            <a:r>
              <a:rPr lang="en" sz="1400">
                <a:solidFill>
                  <a:srgbClr val="FF0000"/>
                </a:solidFill>
                <a:latin typeface="Courier New"/>
                <a:ea typeface="Courier New"/>
                <a:cs typeface="Courier New"/>
                <a:sym typeface="Courier New"/>
              </a:rPr>
              <a:t>BFPathTest</a:t>
            </a:r>
            <a:r>
              <a:rPr lang="en" sz="1400"/>
              <a:t>.</a:t>
            </a:r>
            <a:endParaRPr sz="1400"/>
          </a:p>
          <a:p>
            <a:pPr marL="914400" lvl="1" indent="-304800" algn="l" rtl="0">
              <a:lnSpc>
                <a:spcPct val="115000"/>
              </a:lnSpc>
              <a:spcBef>
                <a:spcPts val="0"/>
              </a:spcBef>
              <a:spcAft>
                <a:spcPts val="0"/>
              </a:spcAft>
              <a:buSzPts val="1200"/>
              <a:buChar char="○"/>
            </a:pPr>
            <a:r>
              <a:rPr lang="en" sz="1200" b="1" i="1">
                <a:solidFill>
                  <a:srgbClr val="FF0000"/>
                </a:solidFill>
              </a:rPr>
              <a:t>All</a:t>
            </a:r>
            <a:r>
              <a:rPr lang="en" sz="1200">
                <a:solidFill>
                  <a:srgbClr val="FF0000"/>
                </a:solidFill>
              </a:rPr>
              <a:t> </a:t>
            </a:r>
            <a:r>
              <a:rPr lang="en" sz="1200"/>
              <a:t>of the tests should now pass. </a:t>
            </a:r>
            <a:endParaRPr sz="1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01"/>
        <p:cNvGrpSpPr/>
        <p:nvPr/>
      </p:nvGrpSpPr>
      <p:grpSpPr>
        <a:xfrm>
          <a:off x="0" y="0"/>
          <a:ext cx="0" cy="0"/>
          <a:chOff x="0" y="0"/>
          <a:chExt cx="0" cy="0"/>
        </a:xfrm>
      </p:grpSpPr>
      <p:sp>
        <p:nvSpPr>
          <p:cNvPr id="1802" name="Google Shape;1802;p7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1803" name="Google Shape;1803;p76"/>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12.19</a:t>
            </a:r>
            <a:endParaRPr/>
          </a:p>
        </p:txBody>
      </p:sp>
      <p:graphicFrame>
        <p:nvGraphicFramePr>
          <p:cNvPr id="1804" name="Google Shape;1804;p76"/>
          <p:cNvGraphicFramePr/>
          <p:nvPr/>
        </p:nvGraphicFramePr>
        <p:xfrm>
          <a:off x="5296960" y="42064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W to Z</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805" name="Google Shape;1805;p76"/>
          <p:cNvGraphicFramePr/>
          <p:nvPr/>
        </p:nvGraphicFramePr>
        <p:xfrm>
          <a:off x="6368500" y="1682997"/>
          <a:ext cx="3000000" cy="300000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806" name="Google Shape;1806;p76"/>
          <p:cNvGraphicFramePr/>
          <p:nvPr/>
        </p:nvGraphicFramePr>
        <p:xfrm>
          <a:off x="1715560" y="42064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Z to X</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807" name="Google Shape;1807;p76"/>
          <p:cNvGraphicFramePr/>
          <p:nvPr/>
        </p:nvGraphicFramePr>
        <p:xfrm>
          <a:off x="2787100" y="1682997"/>
          <a:ext cx="3000000" cy="300000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1808" name="Google Shape;1808;p76"/>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Breadth-First Path "On Paper"</a:t>
            </a:r>
            <a:endParaRPr/>
          </a:p>
        </p:txBody>
      </p:sp>
      <p:graphicFrame>
        <p:nvGraphicFramePr>
          <p:cNvPr id="1809" name="Google Shape;1809;p76"/>
          <p:cNvGraphicFramePr/>
          <p:nvPr/>
        </p:nvGraphicFramePr>
        <p:xfrm>
          <a:off x="1715560" y="46636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810" name="Google Shape;1810;p76"/>
          <p:cNvGraphicFramePr/>
          <p:nvPr/>
        </p:nvGraphicFramePr>
        <p:xfrm>
          <a:off x="5296960" y="46636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811" name="Google Shape;1811;p76"/>
          <p:cNvGrpSpPr/>
          <p:nvPr/>
        </p:nvGrpSpPr>
        <p:grpSpPr>
          <a:xfrm>
            <a:off x="119466" y="1491981"/>
            <a:ext cx="2380778" cy="2101576"/>
            <a:chOff x="119466" y="1644381"/>
            <a:chExt cx="2380778" cy="2101576"/>
          </a:xfrm>
        </p:grpSpPr>
        <p:sp>
          <p:nvSpPr>
            <p:cNvPr id="1812" name="Google Shape;1812;p76"/>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1813" name="Google Shape;1813;p76"/>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1814" name="Google Shape;1814;p76"/>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1815" name="Google Shape;1815;p76"/>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1816" name="Google Shape;1816;p76"/>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1817" name="Google Shape;1817;p76"/>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1818" name="Google Shape;1818;p76"/>
            <p:cNvCxnSpPr>
              <a:stCxn id="1812" idx="2"/>
              <a:endCxn id="1814"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1819" name="Google Shape;1819;p76"/>
            <p:cNvCxnSpPr>
              <a:stCxn id="1814" idx="5"/>
              <a:endCxn id="1816"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1820" name="Google Shape;1820;p76"/>
            <p:cNvCxnSpPr>
              <a:stCxn id="1816" idx="3"/>
              <a:endCxn id="1815"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1821" name="Google Shape;1821;p76"/>
            <p:cNvCxnSpPr>
              <a:stCxn id="1815" idx="6"/>
              <a:endCxn id="1817"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1822" name="Google Shape;1822;p76"/>
            <p:cNvCxnSpPr>
              <a:stCxn id="1817" idx="0"/>
              <a:endCxn id="1816"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1823" name="Google Shape;1823;p76"/>
            <p:cNvCxnSpPr>
              <a:stCxn id="1816" idx="7"/>
              <a:endCxn id="1813"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1824" name="Google Shape;1824;p76"/>
            <p:cNvCxnSpPr>
              <a:stCxn id="1813" idx="4"/>
              <a:endCxn id="1817"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28"/>
        <p:cNvGrpSpPr/>
        <p:nvPr/>
      </p:nvGrpSpPr>
      <p:grpSpPr>
        <a:xfrm>
          <a:off x="0" y="0"/>
          <a:ext cx="0" cy="0"/>
          <a:chOff x="0" y="0"/>
          <a:chExt cx="0" cy="0"/>
        </a:xfrm>
      </p:grpSpPr>
      <p:sp>
        <p:nvSpPr>
          <p:cNvPr id="1829" name="Google Shape;1829;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1830" name="Google Shape;1830;p77"/>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12.19</a:t>
            </a:r>
            <a:endParaRPr/>
          </a:p>
        </p:txBody>
      </p:sp>
      <p:graphicFrame>
        <p:nvGraphicFramePr>
          <p:cNvPr id="1831" name="Google Shape;1831;p77"/>
          <p:cNvGraphicFramePr/>
          <p:nvPr/>
        </p:nvGraphicFramePr>
        <p:xfrm>
          <a:off x="5296960" y="42064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W to Z</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832" name="Google Shape;1832;p77"/>
          <p:cNvGraphicFramePr/>
          <p:nvPr/>
        </p:nvGraphicFramePr>
        <p:xfrm>
          <a:off x="6368500" y="1682997"/>
          <a:ext cx="3000000" cy="300000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833" name="Google Shape;1833;p77"/>
          <p:cNvGraphicFramePr/>
          <p:nvPr/>
        </p:nvGraphicFramePr>
        <p:xfrm>
          <a:off x="1715560" y="42064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Z to X</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834" name="Google Shape;1834;p77"/>
          <p:cNvGraphicFramePr/>
          <p:nvPr/>
        </p:nvGraphicFramePr>
        <p:xfrm>
          <a:off x="2787100" y="1682997"/>
          <a:ext cx="3000000" cy="3000000"/>
        </p:xfrm>
        <a:graphic>
          <a:graphicData uri="http://schemas.openxmlformats.org/drawingml/2006/table">
            <a:tbl>
              <a:tblPr>
                <a:noFill/>
                <a:tableStyleId>{F61E8307-4E6B-4154-8BF4-D3231BAD3CED}</a:tableStyleId>
              </a:tblPr>
              <a:tblGrid>
                <a:gridCol w="1190600">
                  <a:extLst>
                    <a:ext uri="{9D8B030D-6E8A-4147-A177-3AD203B41FA5}">
                      <a16:colId xmlns:a16="http://schemas.microsoft.com/office/drawing/2014/main" val="20000"/>
                    </a:ext>
                  </a:extLst>
                </a:gridCol>
                <a:gridCol w="1190600">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Vertex</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FFFF"/>
                          </a:solidFill>
                        </a:rPr>
                        <a:t>Predecessor</a:t>
                      </a:r>
                      <a:endParaRPr sz="10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1835" name="Google Shape;1835;p77"/>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3600"/>
              <a:buNone/>
            </a:pPr>
            <a:r>
              <a:rPr lang="en">
                <a:solidFill>
                  <a:schemeClr val="lt1"/>
                </a:solidFill>
              </a:rPr>
              <a:t>Breadth-First Path "On Paper"</a:t>
            </a:r>
            <a:endParaRPr/>
          </a:p>
        </p:txBody>
      </p:sp>
      <p:sp>
        <p:nvSpPr>
          <p:cNvPr id="1836" name="Google Shape;1836;p77"/>
          <p:cNvSpPr txBox="1">
            <a:spLocks noGrp="1"/>
          </p:cNvSpPr>
          <p:nvPr>
            <p:ph type="body" idx="1"/>
          </p:nvPr>
        </p:nvSpPr>
        <p:spPr>
          <a:xfrm>
            <a:off x="65250" y="731625"/>
            <a:ext cx="8955900" cy="677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600"/>
              <a:buNone/>
            </a:pPr>
            <a:r>
              <a:rPr lang="en"/>
              <a:t>It is important that you be able to demonstrate an understanding of how the BFS-Path algorithm works on your exams, quizzes (and technical interviews!). Practice "on paper" now.</a:t>
            </a:r>
            <a:endParaRPr/>
          </a:p>
        </p:txBody>
      </p:sp>
      <p:grpSp>
        <p:nvGrpSpPr>
          <p:cNvPr id="1837" name="Google Shape;1837;p77"/>
          <p:cNvGrpSpPr/>
          <p:nvPr/>
        </p:nvGrpSpPr>
        <p:grpSpPr>
          <a:xfrm>
            <a:off x="2381329" y="1981545"/>
            <a:ext cx="2666240" cy="2641072"/>
            <a:chOff x="2381329" y="1981545"/>
            <a:chExt cx="2666240" cy="2641072"/>
          </a:xfrm>
        </p:grpSpPr>
        <p:sp>
          <p:nvSpPr>
            <p:cNvPr id="1838" name="Google Shape;1838;p77"/>
            <p:cNvSpPr txBox="1"/>
            <p:nvPr/>
          </p:nvSpPr>
          <p:spPr>
            <a:xfrm>
              <a:off x="2381329" y="4229017"/>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839" name="Google Shape;1839;p77"/>
            <p:cNvGrpSpPr/>
            <p:nvPr/>
          </p:nvGrpSpPr>
          <p:grpSpPr>
            <a:xfrm>
              <a:off x="3162593" y="1981545"/>
              <a:ext cx="1884976" cy="419290"/>
              <a:chOff x="3391193" y="1981545"/>
              <a:chExt cx="1884976" cy="419290"/>
            </a:xfrm>
          </p:grpSpPr>
          <p:sp>
            <p:nvSpPr>
              <p:cNvPr id="1840" name="Google Shape;1840;p77"/>
              <p:cNvSpPr txBox="1"/>
              <p:nvPr/>
            </p:nvSpPr>
            <p:spPr>
              <a:xfrm>
                <a:off x="3391193" y="198154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sp>
            <p:nvSpPr>
              <p:cNvPr id="1841" name="Google Shape;1841;p77"/>
              <p:cNvSpPr txBox="1"/>
              <p:nvPr/>
            </p:nvSpPr>
            <p:spPr>
              <a:xfrm>
                <a:off x="4292769" y="2007235"/>
                <a:ext cx="9834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null</a:t>
                </a:r>
                <a:endParaRPr sz="2500" b="0" i="0" u="none" strike="noStrike" cap="none">
                  <a:solidFill>
                    <a:srgbClr val="4A86E8"/>
                  </a:solidFill>
                  <a:latin typeface="Shadows Into Light"/>
                  <a:ea typeface="Shadows Into Light"/>
                  <a:cs typeface="Shadows Into Light"/>
                  <a:sym typeface="Shadows Into Light"/>
                </a:endParaRPr>
              </a:p>
            </p:txBody>
          </p:sp>
        </p:grpSp>
      </p:grpSp>
      <p:sp>
        <p:nvSpPr>
          <p:cNvPr id="1842" name="Google Shape;1842;p77"/>
          <p:cNvSpPr txBox="1"/>
          <p:nvPr/>
        </p:nvSpPr>
        <p:spPr>
          <a:xfrm>
            <a:off x="2370911"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843" name="Google Shape;1843;p77"/>
          <p:cNvGrpSpPr/>
          <p:nvPr/>
        </p:nvGrpSpPr>
        <p:grpSpPr>
          <a:xfrm>
            <a:off x="2781593" y="2324873"/>
            <a:ext cx="1960257" cy="2284901"/>
            <a:chOff x="3010193" y="2324873"/>
            <a:chExt cx="1960257" cy="2284901"/>
          </a:xfrm>
        </p:grpSpPr>
        <p:sp>
          <p:nvSpPr>
            <p:cNvPr id="1844" name="Google Shape;1844;p77"/>
            <p:cNvSpPr txBox="1"/>
            <p:nvPr/>
          </p:nvSpPr>
          <p:spPr>
            <a:xfrm>
              <a:off x="3010193" y="421617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845" name="Google Shape;1845;p77"/>
            <p:cNvGrpSpPr/>
            <p:nvPr/>
          </p:nvGrpSpPr>
          <p:grpSpPr>
            <a:xfrm>
              <a:off x="3391193" y="2324873"/>
              <a:ext cx="1579257" cy="393600"/>
              <a:chOff x="3391193" y="2324873"/>
              <a:chExt cx="1579257" cy="393600"/>
            </a:xfrm>
          </p:grpSpPr>
          <p:sp>
            <p:nvSpPr>
              <p:cNvPr id="1846" name="Google Shape;1846;p77"/>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sp>
            <p:nvSpPr>
              <p:cNvPr id="1847" name="Google Shape;1847;p77"/>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grpSp>
      </p:grpSp>
      <p:grpSp>
        <p:nvGrpSpPr>
          <p:cNvPr id="1848" name="Google Shape;1848;p77"/>
          <p:cNvGrpSpPr/>
          <p:nvPr/>
        </p:nvGrpSpPr>
        <p:grpSpPr>
          <a:xfrm>
            <a:off x="3162593" y="2668201"/>
            <a:ext cx="1579257" cy="1930443"/>
            <a:chOff x="3391193" y="2668201"/>
            <a:chExt cx="1579257" cy="1930443"/>
          </a:xfrm>
        </p:grpSpPr>
        <p:grpSp>
          <p:nvGrpSpPr>
            <p:cNvPr id="1849" name="Google Shape;1849;p77"/>
            <p:cNvGrpSpPr/>
            <p:nvPr/>
          </p:nvGrpSpPr>
          <p:grpSpPr>
            <a:xfrm>
              <a:off x="3391193" y="2668201"/>
              <a:ext cx="1579257" cy="393600"/>
              <a:chOff x="3391193" y="2324873"/>
              <a:chExt cx="1579257" cy="393600"/>
            </a:xfrm>
          </p:grpSpPr>
          <p:sp>
            <p:nvSpPr>
              <p:cNvPr id="1850" name="Google Shape;1850;p77"/>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1851" name="Google Shape;1851;p77"/>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852" name="Google Shape;1852;p77"/>
            <p:cNvSpPr txBox="1"/>
            <p:nvPr/>
          </p:nvSpPr>
          <p:spPr>
            <a:xfrm>
              <a:off x="3391193" y="42050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grpSp>
      <p:sp>
        <p:nvSpPr>
          <p:cNvPr id="1853" name="Google Shape;1853;p77"/>
          <p:cNvSpPr txBox="1"/>
          <p:nvPr/>
        </p:nvSpPr>
        <p:spPr>
          <a:xfrm>
            <a:off x="2764746"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854" name="Google Shape;1854;p77"/>
          <p:cNvSpPr txBox="1"/>
          <p:nvPr/>
        </p:nvSpPr>
        <p:spPr>
          <a:xfrm>
            <a:off x="3165010"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aphicFrame>
        <p:nvGraphicFramePr>
          <p:cNvPr id="1855" name="Google Shape;1855;p77"/>
          <p:cNvGraphicFramePr/>
          <p:nvPr/>
        </p:nvGraphicFramePr>
        <p:xfrm>
          <a:off x="1715560" y="46636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856" name="Google Shape;1856;p77"/>
          <p:cNvSpPr txBox="1"/>
          <p:nvPr/>
        </p:nvSpPr>
        <p:spPr>
          <a:xfrm>
            <a:off x="3186912"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1857" name="Google Shape;1857;p77"/>
          <p:cNvSpPr txBox="1"/>
          <p:nvPr/>
        </p:nvSpPr>
        <p:spPr>
          <a:xfrm>
            <a:off x="2774661"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858" name="Google Shape;1858;p77"/>
          <p:cNvGrpSpPr/>
          <p:nvPr/>
        </p:nvGrpSpPr>
        <p:grpSpPr>
          <a:xfrm>
            <a:off x="1979053" y="3594650"/>
            <a:ext cx="1969125" cy="1463840"/>
            <a:chOff x="1979053" y="3594650"/>
            <a:chExt cx="1969125" cy="1463840"/>
          </a:xfrm>
        </p:grpSpPr>
        <p:sp>
          <p:nvSpPr>
            <p:cNvPr id="1859" name="Google Shape;1859;p77"/>
            <p:cNvSpPr txBox="1"/>
            <p:nvPr/>
          </p:nvSpPr>
          <p:spPr>
            <a:xfrm>
              <a:off x="3575278"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860" name="Google Shape;1860;p77"/>
            <p:cNvGrpSpPr/>
            <p:nvPr/>
          </p:nvGrpSpPr>
          <p:grpSpPr>
            <a:xfrm>
              <a:off x="1979053" y="3594650"/>
              <a:ext cx="1247097" cy="557400"/>
              <a:chOff x="2207653" y="3594650"/>
              <a:chExt cx="1247097" cy="557400"/>
            </a:xfrm>
          </p:grpSpPr>
          <p:sp>
            <p:nvSpPr>
              <p:cNvPr id="1861" name="Google Shape;1861;p77"/>
              <p:cNvSpPr/>
              <p:nvPr/>
            </p:nvSpPr>
            <p:spPr>
              <a:xfrm>
                <a:off x="2754825" y="3802552"/>
                <a:ext cx="699925" cy="93300"/>
              </a:xfrm>
              <a:custGeom>
                <a:avLst/>
                <a:gdLst/>
                <a:ahLst/>
                <a:cxnLst/>
                <a:rect l="l" t="t" r="r" b="b"/>
                <a:pathLst>
                  <a:path w="27997" h="3732" extrusionOk="0">
                    <a:moveTo>
                      <a:pt x="0" y="907"/>
                    </a:moveTo>
                    <a:cubicBezTo>
                      <a:pt x="1712" y="779"/>
                      <a:pt x="5608" y="-335"/>
                      <a:pt x="10274" y="136"/>
                    </a:cubicBezTo>
                    <a:cubicBezTo>
                      <a:pt x="14940" y="607"/>
                      <a:pt x="25043" y="3133"/>
                      <a:pt x="27997" y="3732"/>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2" name="Google Shape;1862;p77"/>
              <p:cNvSpPr txBox="1"/>
              <p:nvPr/>
            </p:nvSpPr>
            <p:spPr>
              <a:xfrm rot="-1181307">
                <a:off x="2247682" y="3696804"/>
                <a:ext cx="667843" cy="35309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START HERE</a:t>
                </a:r>
                <a:endParaRPr sz="1400" b="0" i="0" u="none" strike="noStrike" cap="none">
                  <a:solidFill>
                    <a:srgbClr val="FF0000"/>
                  </a:solidFill>
                  <a:latin typeface="Shadows Into Light"/>
                  <a:ea typeface="Shadows Into Light"/>
                  <a:cs typeface="Shadows Into Light"/>
                  <a:sym typeface="Shadows Into Light"/>
                </a:endParaRPr>
              </a:p>
            </p:txBody>
          </p:sp>
        </p:grpSp>
      </p:grpSp>
      <p:grpSp>
        <p:nvGrpSpPr>
          <p:cNvPr id="1863" name="Google Shape;1863;p77"/>
          <p:cNvGrpSpPr/>
          <p:nvPr/>
        </p:nvGrpSpPr>
        <p:grpSpPr>
          <a:xfrm>
            <a:off x="4780125" y="1376599"/>
            <a:ext cx="1163768" cy="755576"/>
            <a:chOff x="5008725" y="1376599"/>
            <a:chExt cx="1163768" cy="755576"/>
          </a:xfrm>
        </p:grpSpPr>
        <p:sp>
          <p:nvSpPr>
            <p:cNvPr id="1864" name="Google Shape;1864;p77"/>
            <p:cNvSpPr txBox="1"/>
            <p:nvPr/>
          </p:nvSpPr>
          <p:spPr>
            <a:xfrm rot="1075329">
              <a:off x="5466590" y="1470792"/>
              <a:ext cx="667805" cy="35311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STOP HERE</a:t>
              </a:r>
              <a:endParaRPr sz="1400" b="0" i="0" u="none" strike="noStrike" cap="none">
                <a:solidFill>
                  <a:srgbClr val="FF0000"/>
                </a:solidFill>
                <a:latin typeface="Shadows Into Light"/>
                <a:ea typeface="Shadows Into Light"/>
                <a:cs typeface="Shadows Into Light"/>
                <a:sym typeface="Shadows Into Light"/>
              </a:endParaRPr>
            </a:p>
          </p:txBody>
        </p:sp>
        <p:sp>
          <p:nvSpPr>
            <p:cNvPr id="1865" name="Google Shape;1865;p77"/>
            <p:cNvSpPr/>
            <p:nvPr/>
          </p:nvSpPr>
          <p:spPr>
            <a:xfrm>
              <a:off x="5008725" y="1573500"/>
              <a:ext cx="584325" cy="558675"/>
            </a:xfrm>
            <a:custGeom>
              <a:avLst/>
              <a:gdLst/>
              <a:ahLst/>
              <a:cxnLst/>
              <a:rect l="l" t="t" r="r" b="b"/>
              <a:pathLst>
                <a:path w="23373" h="22347" extrusionOk="0">
                  <a:moveTo>
                    <a:pt x="23373" y="0"/>
                  </a:moveTo>
                  <a:cubicBezTo>
                    <a:pt x="21575" y="1199"/>
                    <a:pt x="16482" y="3468"/>
                    <a:pt x="12586" y="7192"/>
                  </a:cubicBezTo>
                  <a:cubicBezTo>
                    <a:pt x="8691" y="10917"/>
                    <a:pt x="2098" y="19821"/>
                    <a:pt x="0" y="22347"/>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866" name="Google Shape;1866;p77"/>
          <p:cNvCxnSpPr/>
          <p:nvPr/>
        </p:nvCxnSpPr>
        <p:spPr>
          <a:xfrm>
            <a:off x="3535493" y="3874865"/>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867" name="Google Shape;1867;p77"/>
          <p:cNvCxnSpPr>
            <a:stCxn id="1850" idx="3"/>
            <a:endCxn id="1851" idx="1"/>
          </p:cNvCxnSpPr>
          <p:nvPr/>
        </p:nvCxnSpPr>
        <p:spPr>
          <a:xfrm>
            <a:off x="3535493" y="2865001"/>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868" name="Google Shape;1868;p77"/>
          <p:cNvCxnSpPr>
            <a:stCxn id="1846" idx="3"/>
            <a:endCxn id="1847" idx="1"/>
          </p:cNvCxnSpPr>
          <p:nvPr/>
        </p:nvCxnSpPr>
        <p:spPr>
          <a:xfrm>
            <a:off x="3535493" y="2521673"/>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869" name="Google Shape;1869;p77"/>
          <p:cNvCxnSpPr/>
          <p:nvPr/>
        </p:nvCxnSpPr>
        <p:spPr>
          <a:xfrm>
            <a:off x="3535493" y="2216873"/>
            <a:ext cx="833400" cy="0"/>
          </a:xfrm>
          <a:prstGeom prst="straightConnector1">
            <a:avLst/>
          </a:prstGeom>
          <a:noFill/>
          <a:ln w="19050" cap="flat" cmpd="sng">
            <a:solidFill>
              <a:srgbClr val="FF0000"/>
            </a:solidFill>
            <a:prstDash val="solid"/>
            <a:round/>
            <a:headEnd type="none" w="sm" len="sm"/>
            <a:tailEnd type="triangle" w="med" len="med"/>
          </a:ln>
        </p:spPr>
      </p:cxnSp>
      <p:grpSp>
        <p:nvGrpSpPr>
          <p:cNvPr id="1870" name="Google Shape;1870;p77"/>
          <p:cNvGrpSpPr/>
          <p:nvPr/>
        </p:nvGrpSpPr>
        <p:grpSpPr>
          <a:xfrm>
            <a:off x="5958714" y="1981545"/>
            <a:ext cx="2670255" cy="2613507"/>
            <a:chOff x="6187314" y="1981545"/>
            <a:chExt cx="2670255" cy="2613507"/>
          </a:xfrm>
        </p:grpSpPr>
        <p:sp>
          <p:nvSpPr>
            <p:cNvPr id="1871" name="Google Shape;1871;p77"/>
            <p:cNvSpPr txBox="1"/>
            <p:nvPr/>
          </p:nvSpPr>
          <p:spPr>
            <a:xfrm>
              <a:off x="6187314" y="4201452"/>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872" name="Google Shape;1872;p77"/>
            <p:cNvGrpSpPr/>
            <p:nvPr/>
          </p:nvGrpSpPr>
          <p:grpSpPr>
            <a:xfrm>
              <a:off x="6972593" y="1981545"/>
              <a:ext cx="1884976" cy="419290"/>
              <a:chOff x="3391193" y="1981545"/>
              <a:chExt cx="1884976" cy="419290"/>
            </a:xfrm>
          </p:grpSpPr>
          <p:sp>
            <p:nvSpPr>
              <p:cNvPr id="1873" name="Google Shape;1873;p77"/>
              <p:cNvSpPr txBox="1"/>
              <p:nvPr/>
            </p:nvSpPr>
            <p:spPr>
              <a:xfrm>
                <a:off x="3391193" y="198154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1874" name="Google Shape;1874;p77"/>
              <p:cNvSpPr txBox="1"/>
              <p:nvPr/>
            </p:nvSpPr>
            <p:spPr>
              <a:xfrm>
                <a:off x="4292769" y="2007235"/>
                <a:ext cx="9834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null</a:t>
                </a:r>
                <a:endParaRPr sz="2500" b="0" i="0" u="none" strike="noStrike" cap="none">
                  <a:solidFill>
                    <a:srgbClr val="4A86E8"/>
                  </a:solidFill>
                  <a:latin typeface="Shadows Into Light"/>
                  <a:ea typeface="Shadows Into Light"/>
                  <a:cs typeface="Shadows Into Light"/>
                  <a:sym typeface="Shadows Into Light"/>
                </a:endParaRPr>
              </a:p>
            </p:txBody>
          </p:sp>
        </p:grpSp>
      </p:grpSp>
      <p:sp>
        <p:nvSpPr>
          <p:cNvPr id="1875" name="Google Shape;1875;p77"/>
          <p:cNvSpPr txBox="1"/>
          <p:nvPr/>
        </p:nvSpPr>
        <p:spPr>
          <a:xfrm>
            <a:off x="5965146"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grpSp>
        <p:nvGrpSpPr>
          <p:cNvPr id="1876" name="Google Shape;1876;p77"/>
          <p:cNvGrpSpPr/>
          <p:nvPr/>
        </p:nvGrpSpPr>
        <p:grpSpPr>
          <a:xfrm>
            <a:off x="6355715" y="2331295"/>
            <a:ext cx="1973100" cy="2273785"/>
            <a:chOff x="6355715" y="2331295"/>
            <a:chExt cx="1973100" cy="2273785"/>
          </a:xfrm>
        </p:grpSpPr>
        <p:sp>
          <p:nvSpPr>
            <p:cNvPr id="1877" name="Google Shape;1877;p77"/>
            <p:cNvSpPr txBox="1"/>
            <p:nvPr/>
          </p:nvSpPr>
          <p:spPr>
            <a:xfrm>
              <a:off x="6736715" y="233129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1878" name="Google Shape;1878;p77"/>
            <p:cNvSpPr txBox="1"/>
            <p:nvPr/>
          </p:nvSpPr>
          <p:spPr>
            <a:xfrm>
              <a:off x="6736715" y="266178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sp>
          <p:nvSpPr>
            <p:cNvPr id="1879" name="Google Shape;1879;p77"/>
            <p:cNvSpPr txBox="1"/>
            <p:nvPr/>
          </p:nvSpPr>
          <p:spPr>
            <a:xfrm>
              <a:off x="7955915" y="233129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0" name="Google Shape;1880;p77"/>
            <p:cNvSpPr txBox="1"/>
            <p:nvPr/>
          </p:nvSpPr>
          <p:spPr>
            <a:xfrm>
              <a:off x="7955915" y="266178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1" name="Google Shape;1881;p77"/>
            <p:cNvSpPr txBox="1"/>
            <p:nvPr/>
          </p:nvSpPr>
          <p:spPr>
            <a:xfrm>
              <a:off x="6355715" y="42114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2" name="Google Shape;1882;p77"/>
            <p:cNvSpPr txBox="1"/>
            <p:nvPr/>
          </p:nvSpPr>
          <p:spPr>
            <a:xfrm>
              <a:off x="6759133" y="421148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883" name="Google Shape;1883;p77"/>
          <p:cNvGrpSpPr/>
          <p:nvPr/>
        </p:nvGrpSpPr>
        <p:grpSpPr>
          <a:xfrm>
            <a:off x="6736715" y="2985844"/>
            <a:ext cx="1592100" cy="1612800"/>
            <a:chOff x="6736715" y="2985844"/>
            <a:chExt cx="1592100" cy="1612800"/>
          </a:xfrm>
        </p:grpSpPr>
        <p:sp>
          <p:nvSpPr>
            <p:cNvPr id="1884" name="Google Shape;1884;p77"/>
            <p:cNvSpPr txBox="1"/>
            <p:nvPr/>
          </p:nvSpPr>
          <p:spPr>
            <a:xfrm>
              <a:off x="6736715" y="29858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5" name="Google Shape;1885;p77"/>
            <p:cNvSpPr txBox="1"/>
            <p:nvPr/>
          </p:nvSpPr>
          <p:spPr>
            <a:xfrm>
              <a:off x="7955915" y="29858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6" name="Google Shape;1886;p77"/>
            <p:cNvSpPr txBox="1"/>
            <p:nvPr/>
          </p:nvSpPr>
          <p:spPr>
            <a:xfrm>
              <a:off x="7168230" y="420504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7" name="Google Shape;1887;p77"/>
            <p:cNvSpPr txBox="1"/>
            <p:nvPr/>
          </p:nvSpPr>
          <p:spPr>
            <a:xfrm>
              <a:off x="6736715" y="3329172"/>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8" name="Google Shape;1888;p77"/>
            <p:cNvSpPr txBox="1"/>
            <p:nvPr/>
          </p:nvSpPr>
          <p:spPr>
            <a:xfrm>
              <a:off x="7955915" y="3329172"/>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1889" name="Google Shape;1889;p77"/>
            <p:cNvSpPr txBox="1"/>
            <p:nvPr/>
          </p:nvSpPr>
          <p:spPr>
            <a:xfrm>
              <a:off x="7552486" y="4197104"/>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890" name="Google Shape;1890;p77"/>
          <p:cNvGrpSpPr/>
          <p:nvPr/>
        </p:nvGrpSpPr>
        <p:grpSpPr>
          <a:xfrm>
            <a:off x="6736715" y="3659658"/>
            <a:ext cx="1592100" cy="933421"/>
            <a:chOff x="6736715" y="3659658"/>
            <a:chExt cx="1592100" cy="933421"/>
          </a:xfrm>
        </p:grpSpPr>
        <p:sp>
          <p:nvSpPr>
            <p:cNvPr id="1891" name="Google Shape;1891;p77"/>
            <p:cNvSpPr txBox="1"/>
            <p:nvPr/>
          </p:nvSpPr>
          <p:spPr>
            <a:xfrm>
              <a:off x="6736715" y="365965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sp>
          <p:nvSpPr>
            <p:cNvPr id="1892" name="Google Shape;1892;p77"/>
            <p:cNvSpPr txBox="1"/>
            <p:nvPr/>
          </p:nvSpPr>
          <p:spPr>
            <a:xfrm>
              <a:off x="7955915" y="365965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sp>
          <p:nvSpPr>
            <p:cNvPr id="1893" name="Google Shape;1893;p77"/>
            <p:cNvSpPr txBox="1"/>
            <p:nvPr/>
          </p:nvSpPr>
          <p:spPr>
            <a:xfrm>
              <a:off x="7955915" y="41994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grpSp>
      <p:graphicFrame>
        <p:nvGraphicFramePr>
          <p:cNvPr id="1894" name="Google Shape;1894;p77"/>
          <p:cNvGraphicFramePr/>
          <p:nvPr/>
        </p:nvGraphicFramePr>
        <p:xfrm>
          <a:off x="5296960" y="466360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Path</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895" name="Google Shape;1895;p77"/>
          <p:cNvGrpSpPr/>
          <p:nvPr/>
        </p:nvGrpSpPr>
        <p:grpSpPr>
          <a:xfrm>
            <a:off x="5331853" y="3544159"/>
            <a:ext cx="2202856" cy="1506120"/>
            <a:chOff x="5331853" y="3544159"/>
            <a:chExt cx="2202856" cy="1506120"/>
          </a:xfrm>
        </p:grpSpPr>
        <p:grpSp>
          <p:nvGrpSpPr>
            <p:cNvPr id="1896" name="Google Shape;1896;p77"/>
            <p:cNvGrpSpPr/>
            <p:nvPr/>
          </p:nvGrpSpPr>
          <p:grpSpPr>
            <a:xfrm>
              <a:off x="5331853" y="3544159"/>
              <a:ext cx="1247097" cy="557400"/>
              <a:chOff x="2207653" y="3163159"/>
              <a:chExt cx="1247097" cy="557400"/>
            </a:xfrm>
          </p:grpSpPr>
          <p:sp>
            <p:nvSpPr>
              <p:cNvPr id="1897" name="Google Shape;1897;p77"/>
              <p:cNvSpPr/>
              <p:nvPr/>
            </p:nvSpPr>
            <p:spPr>
              <a:xfrm>
                <a:off x="2754825" y="3371061"/>
                <a:ext cx="699925" cy="93300"/>
              </a:xfrm>
              <a:custGeom>
                <a:avLst/>
                <a:gdLst/>
                <a:ahLst/>
                <a:cxnLst/>
                <a:rect l="l" t="t" r="r" b="b"/>
                <a:pathLst>
                  <a:path w="27997" h="3732" extrusionOk="0">
                    <a:moveTo>
                      <a:pt x="0" y="907"/>
                    </a:moveTo>
                    <a:cubicBezTo>
                      <a:pt x="1712" y="779"/>
                      <a:pt x="5608" y="-335"/>
                      <a:pt x="10274" y="136"/>
                    </a:cubicBezTo>
                    <a:cubicBezTo>
                      <a:pt x="14940" y="607"/>
                      <a:pt x="25043" y="3133"/>
                      <a:pt x="27997" y="3732"/>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8" name="Google Shape;1898;p77"/>
              <p:cNvSpPr txBox="1"/>
              <p:nvPr/>
            </p:nvSpPr>
            <p:spPr>
              <a:xfrm rot="-1181307">
                <a:off x="2247682" y="3265313"/>
                <a:ext cx="667843" cy="35309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START HERE</a:t>
                </a:r>
                <a:endParaRPr sz="1400" b="0" i="0" u="none" strike="noStrike" cap="none">
                  <a:solidFill>
                    <a:srgbClr val="FF0000"/>
                  </a:solidFill>
                  <a:latin typeface="Shadows Into Light"/>
                  <a:ea typeface="Shadows Into Light"/>
                  <a:cs typeface="Shadows Into Light"/>
                  <a:sym typeface="Shadows Into Light"/>
                </a:endParaRPr>
              </a:p>
            </p:txBody>
          </p:sp>
        </p:grpSp>
        <p:sp>
          <p:nvSpPr>
            <p:cNvPr id="1899" name="Google Shape;1899;p77"/>
            <p:cNvSpPr txBox="1"/>
            <p:nvPr/>
          </p:nvSpPr>
          <p:spPr>
            <a:xfrm>
              <a:off x="7161809"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grpSp>
      <p:cxnSp>
        <p:nvCxnSpPr>
          <p:cNvPr id="1900" name="Google Shape;1900;p77"/>
          <p:cNvCxnSpPr/>
          <p:nvPr/>
        </p:nvCxnSpPr>
        <p:spPr>
          <a:xfrm>
            <a:off x="7116037" y="3836337"/>
            <a:ext cx="833400" cy="0"/>
          </a:xfrm>
          <a:prstGeom prst="straightConnector1">
            <a:avLst/>
          </a:prstGeom>
          <a:noFill/>
          <a:ln w="19050" cap="flat" cmpd="sng">
            <a:solidFill>
              <a:srgbClr val="FF0000"/>
            </a:solidFill>
            <a:prstDash val="solid"/>
            <a:round/>
            <a:headEnd type="none" w="sm" len="sm"/>
            <a:tailEnd type="triangle" w="med" len="med"/>
          </a:ln>
        </p:spPr>
      </p:cxnSp>
      <p:sp>
        <p:nvSpPr>
          <p:cNvPr id="1901" name="Google Shape;1901;p77"/>
          <p:cNvSpPr txBox="1"/>
          <p:nvPr/>
        </p:nvSpPr>
        <p:spPr>
          <a:xfrm>
            <a:off x="6767966"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sp>
        <p:nvSpPr>
          <p:cNvPr id="1902" name="Google Shape;1902;p77"/>
          <p:cNvSpPr txBox="1"/>
          <p:nvPr/>
        </p:nvSpPr>
        <p:spPr>
          <a:xfrm>
            <a:off x="6359006"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1903" name="Google Shape;1903;p77"/>
          <p:cNvSpPr txBox="1"/>
          <p:nvPr/>
        </p:nvSpPr>
        <p:spPr>
          <a:xfrm>
            <a:off x="5973859" y="4656679"/>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cxnSp>
        <p:nvCxnSpPr>
          <p:cNvPr id="1904" name="Google Shape;1904;p77"/>
          <p:cNvCxnSpPr/>
          <p:nvPr/>
        </p:nvCxnSpPr>
        <p:spPr>
          <a:xfrm>
            <a:off x="7116037" y="3505852"/>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905" name="Google Shape;1905;p77"/>
          <p:cNvCxnSpPr/>
          <p:nvPr/>
        </p:nvCxnSpPr>
        <p:spPr>
          <a:xfrm>
            <a:off x="7116037" y="2528095"/>
            <a:ext cx="833400" cy="0"/>
          </a:xfrm>
          <a:prstGeom prst="straightConnector1">
            <a:avLst/>
          </a:prstGeom>
          <a:noFill/>
          <a:ln w="19050" cap="flat" cmpd="sng">
            <a:solidFill>
              <a:srgbClr val="FF0000"/>
            </a:solidFill>
            <a:prstDash val="solid"/>
            <a:round/>
            <a:headEnd type="none" w="sm" len="sm"/>
            <a:tailEnd type="triangle" w="med" len="med"/>
          </a:ln>
        </p:spPr>
      </p:cxnSp>
      <p:cxnSp>
        <p:nvCxnSpPr>
          <p:cNvPr id="1906" name="Google Shape;1906;p77"/>
          <p:cNvCxnSpPr/>
          <p:nvPr/>
        </p:nvCxnSpPr>
        <p:spPr>
          <a:xfrm>
            <a:off x="7116037" y="2204031"/>
            <a:ext cx="833400" cy="0"/>
          </a:xfrm>
          <a:prstGeom prst="straightConnector1">
            <a:avLst/>
          </a:prstGeom>
          <a:noFill/>
          <a:ln w="19050" cap="flat" cmpd="sng">
            <a:solidFill>
              <a:srgbClr val="FF0000"/>
            </a:solidFill>
            <a:prstDash val="solid"/>
            <a:round/>
            <a:headEnd type="none" w="sm" len="sm"/>
            <a:tailEnd type="triangle" w="med" len="med"/>
          </a:ln>
        </p:spPr>
      </p:cxnSp>
      <p:grpSp>
        <p:nvGrpSpPr>
          <p:cNvPr id="1907" name="Google Shape;1907;p77"/>
          <p:cNvGrpSpPr/>
          <p:nvPr/>
        </p:nvGrpSpPr>
        <p:grpSpPr>
          <a:xfrm>
            <a:off x="8116650" y="1237041"/>
            <a:ext cx="1065314" cy="863433"/>
            <a:chOff x="5144850" y="1465641"/>
            <a:chExt cx="1065314" cy="863433"/>
          </a:xfrm>
        </p:grpSpPr>
        <p:sp>
          <p:nvSpPr>
            <p:cNvPr id="1908" name="Google Shape;1908;p77"/>
            <p:cNvSpPr txBox="1"/>
            <p:nvPr/>
          </p:nvSpPr>
          <p:spPr>
            <a:xfrm rot="1075329">
              <a:off x="5504261" y="1559834"/>
              <a:ext cx="667805" cy="35311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Shadows Into Light"/>
                  <a:ea typeface="Shadows Into Light"/>
                  <a:cs typeface="Shadows Into Light"/>
                  <a:sym typeface="Shadows Into Light"/>
                </a:rPr>
                <a:t>STOP HERE</a:t>
              </a:r>
              <a:endParaRPr sz="1400" b="0" i="0" u="none" strike="noStrike" cap="none">
                <a:solidFill>
                  <a:srgbClr val="FF0000"/>
                </a:solidFill>
                <a:latin typeface="Shadows Into Light"/>
                <a:ea typeface="Shadows Into Light"/>
                <a:cs typeface="Shadows Into Light"/>
                <a:sym typeface="Shadows Into Light"/>
              </a:endParaRPr>
            </a:p>
          </p:txBody>
        </p:sp>
        <p:sp>
          <p:nvSpPr>
            <p:cNvPr id="1909" name="Google Shape;1909;p77"/>
            <p:cNvSpPr/>
            <p:nvPr/>
          </p:nvSpPr>
          <p:spPr>
            <a:xfrm>
              <a:off x="5144850" y="1787551"/>
              <a:ext cx="448177" cy="541524"/>
            </a:xfrm>
            <a:custGeom>
              <a:avLst/>
              <a:gdLst/>
              <a:ahLst/>
              <a:cxnLst/>
              <a:rect l="l" t="t" r="r" b="b"/>
              <a:pathLst>
                <a:path w="23373" h="22347" extrusionOk="0">
                  <a:moveTo>
                    <a:pt x="23373" y="0"/>
                  </a:moveTo>
                  <a:cubicBezTo>
                    <a:pt x="21575" y="1199"/>
                    <a:pt x="16482" y="3468"/>
                    <a:pt x="12586" y="7192"/>
                  </a:cubicBezTo>
                  <a:cubicBezTo>
                    <a:pt x="8691" y="10917"/>
                    <a:pt x="2098" y="19821"/>
                    <a:pt x="0" y="22347"/>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10" name="Google Shape;1910;p77"/>
          <p:cNvGrpSpPr/>
          <p:nvPr/>
        </p:nvGrpSpPr>
        <p:grpSpPr>
          <a:xfrm>
            <a:off x="119466" y="1491981"/>
            <a:ext cx="2380778" cy="2101576"/>
            <a:chOff x="119466" y="1644381"/>
            <a:chExt cx="2380778" cy="2101576"/>
          </a:xfrm>
        </p:grpSpPr>
        <p:sp>
          <p:nvSpPr>
            <p:cNvPr id="1911" name="Google Shape;1911;p77"/>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1912" name="Google Shape;1912;p77"/>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1913" name="Google Shape;1913;p77"/>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1914" name="Google Shape;1914;p77"/>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1915" name="Google Shape;1915;p77"/>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1916" name="Google Shape;1916;p77"/>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1917" name="Google Shape;1917;p77"/>
            <p:cNvCxnSpPr>
              <a:stCxn id="1911" idx="2"/>
              <a:endCxn id="1913"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1918" name="Google Shape;1918;p77"/>
            <p:cNvCxnSpPr>
              <a:stCxn id="1913" idx="5"/>
              <a:endCxn id="1915"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1919" name="Google Shape;1919;p77"/>
            <p:cNvCxnSpPr>
              <a:stCxn id="1915" idx="3"/>
              <a:endCxn id="1914"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1920" name="Google Shape;1920;p77"/>
            <p:cNvCxnSpPr>
              <a:stCxn id="1914" idx="6"/>
              <a:endCxn id="1916"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1921" name="Google Shape;1921;p77"/>
            <p:cNvCxnSpPr>
              <a:stCxn id="1916" idx="0"/>
              <a:endCxn id="1915"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1922" name="Google Shape;1922;p77"/>
            <p:cNvCxnSpPr>
              <a:stCxn id="1915" idx="7"/>
              <a:endCxn id="1912"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1923" name="Google Shape;1923;p77"/>
            <p:cNvCxnSpPr>
              <a:stCxn id="1912" idx="4"/>
              <a:endCxn id="1916"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grpSp>
        <p:nvGrpSpPr>
          <p:cNvPr id="1924" name="Google Shape;1924;p77"/>
          <p:cNvGrpSpPr/>
          <p:nvPr/>
        </p:nvGrpSpPr>
        <p:grpSpPr>
          <a:xfrm>
            <a:off x="3162593" y="2992265"/>
            <a:ext cx="1585711" cy="1612800"/>
            <a:chOff x="3162593" y="2992265"/>
            <a:chExt cx="1585711" cy="1612800"/>
          </a:xfrm>
        </p:grpSpPr>
        <p:sp>
          <p:nvSpPr>
            <p:cNvPr id="1925" name="Google Shape;1925;p77"/>
            <p:cNvSpPr txBox="1"/>
            <p:nvPr/>
          </p:nvSpPr>
          <p:spPr>
            <a:xfrm>
              <a:off x="3587686" y="42114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sp>
          <p:nvSpPr>
            <p:cNvPr id="1926" name="Google Shape;1926;p77"/>
            <p:cNvSpPr txBox="1"/>
            <p:nvPr/>
          </p:nvSpPr>
          <p:spPr>
            <a:xfrm>
              <a:off x="3975115" y="42114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1927" name="Google Shape;1927;p77"/>
            <p:cNvSpPr txBox="1"/>
            <p:nvPr/>
          </p:nvSpPr>
          <p:spPr>
            <a:xfrm>
              <a:off x="4375404" y="42114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grpSp>
          <p:nvGrpSpPr>
            <p:cNvPr id="1928" name="Google Shape;1928;p77"/>
            <p:cNvGrpSpPr/>
            <p:nvPr/>
          </p:nvGrpSpPr>
          <p:grpSpPr>
            <a:xfrm>
              <a:off x="3162593" y="2992265"/>
              <a:ext cx="1579257" cy="1054635"/>
              <a:chOff x="3162593" y="2992265"/>
              <a:chExt cx="1579257" cy="1054635"/>
            </a:xfrm>
          </p:grpSpPr>
          <p:grpSp>
            <p:nvGrpSpPr>
              <p:cNvPr id="1929" name="Google Shape;1929;p77"/>
              <p:cNvGrpSpPr/>
              <p:nvPr/>
            </p:nvGrpSpPr>
            <p:grpSpPr>
              <a:xfrm>
                <a:off x="3162593" y="2992265"/>
                <a:ext cx="1579257" cy="393600"/>
                <a:chOff x="3391193" y="2324873"/>
                <a:chExt cx="1579257" cy="393600"/>
              </a:xfrm>
            </p:grpSpPr>
            <p:sp>
              <p:nvSpPr>
                <p:cNvPr id="1930" name="Google Shape;1930;p77"/>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sp>
              <p:nvSpPr>
                <p:cNvPr id="1931" name="Google Shape;1931;p77"/>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932" name="Google Shape;1932;p77"/>
              <p:cNvGrpSpPr/>
              <p:nvPr/>
            </p:nvGrpSpPr>
            <p:grpSpPr>
              <a:xfrm>
                <a:off x="3162593" y="3322783"/>
                <a:ext cx="1579257" cy="393600"/>
                <a:chOff x="3391193" y="2324873"/>
                <a:chExt cx="1579257" cy="393600"/>
              </a:xfrm>
            </p:grpSpPr>
            <p:sp>
              <p:nvSpPr>
                <p:cNvPr id="1933" name="Google Shape;1933;p77"/>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1934" name="Google Shape;1934;p77"/>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1935" name="Google Shape;1935;p77"/>
              <p:cNvGrpSpPr/>
              <p:nvPr/>
            </p:nvGrpSpPr>
            <p:grpSpPr>
              <a:xfrm>
                <a:off x="3162593" y="3653300"/>
                <a:ext cx="1579257" cy="393600"/>
                <a:chOff x="3391193" y="2324873"/>
                <a:chExt cx="1579257" cy="393600"/>
              </a:xfrm>
            </p:grpSpPr>
            <p:sp>
              <p:nvSpPr>
                <p:cNvPr id="1936" name="Google Shape;1936;p77"/>
                <p:cNvSpPr txBox="1"/>
                <p:nvPr/>
              </p:nvSpPr>
              <p:spPr>
                <a:xfrm>
                  <a:off x="3391193"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sp>
              <p:nvSpPr>
                <p:cNvPr id="1937" name="Google Shape;1937;p77"/>
                <p:cNvSpPr txBox="1"/>
                <p:nvPr/>
              </p:nvSpPr>
              <p:spPr>
                <a:xfrm>
                  <a:off x="4597550" y="2324873"/>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grpSp>
        </p:grpSp>
      </p:grpSp>
      <p:sp>
        <p:nvSpPr>
          <p:cNvPr id="1938" name="Google Shape;1938;p77"/>
          <p:cNvSpPr txBox="1"/>
          <p:nvPr/>
        </p:nvSpPr>
        <p:spPr>
          <a:xfrm>
            <a:off x="3565298"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939" name="Google Shape;1939;p77"/>
          <p:cNvSpPr txBox="1"/>
          <p:nvPr/>
        </p:nvSpPr>
        <p:spPr>
          <a:xfrm>
            <a:off x="3965586"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940" name="Google Shape;1940;p77"/>
          <p:cNvSpPr/>
          <p:nvPr/>
        </p:nvSpPr>
        <p:spPr>
          <a:xfrm>
            <a:off x="4394153" y="4219625"/>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1" name="Google Shape;1941;p77"/>
          <p:cNvSpPr txBox="1"/>
          <p:nvPr/>
        </p:nvSpPr>
        <p:spPr>
          <a:xfrm>
            <a:off x="2374373" y="4664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sp>
        <p:nvSpPr>
          <p:cNvPr id="1942" name="Google Shape;1942;p77"/>
          <p:cNvSpPr txBox="1"/>
          <p:nvPr/>
        </p:nvSpPr>
        <p:spPr>
          <a:xfrm>
            <a:off x="6352567"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943" name="Google Shape;1943;p77"/>
          <p:cNvSpPr txBox="1"/>
          <p:nvPr/>
        </p:nvSpPr>
        <p:spPr>
          <a:xfrm>
            <a:off x="6746410"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944" name="Google Shape;1944;p77"/>
          <p:cNvSpPr txBox="1"/>
          <p:nvPr/>
        </p:nvSpPr>
        <p:spPr>
          <a:xfrm>
            <a:off x="7152223"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945" name="Google Shape;1945;p77"/>
          <p:cNvSpPr txBox="1"/>
          <p:nvPr/>
        </p:nvSpPr>
        <p:spPr>
          <a:xfrm>
            <a:off x="7552503" y="4207698"/>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 sz="2300" b="0" i="0" u="none" strike="noStrike" cap="none">
                <a:solidFill>
                  <a:srgbClr val="FF0000"/>
                </a:solidFill>
                <a:latin typeface="Shadows Into Light"/>
                <a:ea typeface="Shadows Into Light"/>
                <a:cs typeface="Shadows Into Light"/>
                <a:sym typeface="Shadows Into Light"/>
              </a:rPr>
              <a:t>✗</a:t>
            </a:r>
            <a:endParaRPr sz="2300" b="0" i="0" u="none" strike="noStrike" cap="none">
              <a:solidFill>
                <a:srgbClr val="FF0000"/>
              </a:solidFill>
              <a:latin typeface="Shadows Into Light"/>
              <a:ea typeface="Shadows Into Light"/>
              <a:cs typeface="Shadows Into Light"/>
              <a:sym typeface="Shadows Into Light"/>
            </a:endParaRPr>
          </a:p>
        </p:txBody>
      </p:sp>
      <p:sp>
        <p:nvSpPr>
          <p:cNvPr id="1946" name="Google Shape;1946;p77"/>
          <p:cNvSpPr/>
          <p:nvPr/>
        </p:nvSpPr>
        <p:spPr>
          <a:xfrm>
            <a:off x="7982879" y="4201217"/>
            <a:ext cx="329700" cy="393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37"/>
                                        </p:tgtEl>
                                        <p:attrNameLst>
                                          <p:attrName>style.visibility</p:attrName>
                                        </p:attrNameLst>
                                      </p:cBhvr>
                                      <p:to>
                                        <p:strVal val="visible"/>
                                      </p:to>
                                    </p:set>
                                    <p:animEffect transition="in" filter="fade">
                                      <p:cBhvr>
                                        <p:cTn id="7" dur="1000"/>
                                        <p:tgtEl>
                                          <p:spTgt spid="18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2"/>
                                        </p:tgtEl>
                                        <p:attrNameLst>
                                          <p:attrName>style.visibility</p:attrName>
                                        </p:attrNameLst>
                                      </p:cBhvr>
                                      <p:to>
                                        <p:strVal val="visible"/>
                                      </p:to>
                                    </p:set>
                                    <p:animEffect transition="in" filter="fade">
                                      <p:cBhvr>
                                        <p:cTn id="12" dur="1000"/>
                                        <p:tgtEl>
                                          <p:spTgt spid="184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843"/>
                                        </p:tgtEl>
                                        <p:attrNameLst>
                                          <p:attrName>style.visibility</p:attrName>
                                        </p:attrNameLst>
                                      </p:cBhvr>
                                      <p:to>
                                        <p:strVal val="visible"/>
                                      </p:to>
                                    </p:set>
                                    <p:animEffect transition="in" filter="fade">
                                      <p:cBhvr>
                                        <p:cTn id="16" dur="1000"/>
                                        <p:tgtEl>
                                          <p:spTgt spid="184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53"/>
                                        </p:tgtEl>
                                        <p:attrNameLst>
                                          <p:attrName>style.visibility</p:attrName>
                                        </p:attrNameLst>
                                      </p:cBhvr>
                                      <p:to>
                                        <p:strVal val="visible"/>
                                      </p:to>
                                    </p:set>
                                    <p:animEffect transition="in" filter="fade">
                                      <p:cBhvr>
                                        <p:cTn id="21" dur="1000"/>
                                        <p:tgtEl>
                                          <p:spTgt spid="1853"/>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1848"/>
                                        </p:tgtEl>
                                        <p:attrNameLst>
                                          <p:attrName>style.visibility</p:attrName>
                                        </p:attrNameLst>
                                      </p:cBhvr>
                                      <p:to>
                                        <p:strVal val="visible"/>
                                      </p:to>
                                    </p:set>
                                    <p:animEffect transition="in" filter="fade">
                                      <p:cBhvr>
                                        <p:cTn id="25" dur="1000"/>
                                        <p:tgtEl>
                                          <p:spTgt spid="184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54"/>
                                        </p:tgtEl>
                                        <p:attrNameLst>
                                          <p:attrName>style.visibility</p:attrName>
                                        </p:attrNameLst>
                                      </p:cBhvr>
                                      <p:to>
                                        <p:strVal val="visible"/>
                                      </p:to>
                                    </p:set>
                                    <p:animEffect transition="in" filter="fade">
                                      <p:cBhvr>
                                        <p:cTn id="30" dur="1000"/>
                                        <p:tgtEl>
                                          <p:spTgt spid="1854"/>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1924"/>
                                        </p:tgtEl>
                                        <p:attrNameLst>
                                          <p:attrName>style.visibility</p:attrName>
                                        </p:attrNameLst>
                                      </p:cBhvr>
                                      <p:to>
                                        <p:strVal val="visible"/>
                                      </p:to>
                                    </p:set>
                                    <p:animEffect transition="in" filter="fade">
                                      <p:cBhvr>
                                        <p:cTn id="34" dur="1000"/>
                                        <p:tgtEl>
                                          <p:spTgt spid="19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38"/>
                                        </p:tgtEl>
                                        <p:attrNameLst>
                                          <p:attrName>style.visibility</p:attrName>
                                        </p:attrNameLst>
                                      </p:cBhvr>
                                      <p:to>
                                        <p:strVal val="visible"/>
                                      </p:to>
                                    </p:set>
                                    <p:animEffect transition="in" filter="fade">
                                      <p:cBhvr>
                                        <p:cTn id="39" dur="1000"/>
                                        <p:tgtEl>
                                          <p:spTgt spid="193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39"/>
                                        </p:tgtEl>
                                        <p:attrNameLst>
                                          <p:attrName>style.visibility</p:attrName>
                                        </p:attrNameLst>
                                      </p:cBhvr>
                                      <p:to>
                                        <p:strVal val="visible"/>
                                      </p:to>
                                    </p:set>
                                    <p:animEffect transition="in" filter="fade">
                                      <p:cBhvr>
                                        <p:cTn id="44" dur="1000"/>
                                        <p:tgtEl>
                                          <p:spTgt spid="193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940"/>
                                        </p:tgtEl>
                                        <p:attrNameLst>
                                          <p:attrName>style.visibility</p:attrName>
                                        </p:attrNameLst>
                                      </p:cBhvr>
                                      <p:to>
                                        <p:strVal val="visible"/>
                                      </p:to>
                                    </p:set>
                                    <p:animEffect transition="in" filter="fade">
                                      <p:cBhvr>
                                        <p:cTn id="49" dur="1000"/>
                                        <p:tgtEl>
                                          <p:spTgt spid="194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858"/>
                                        </p:tgtEl>
                                        <p:attrNameLst>
                                          <p:attrName>style.visibility</p:attrName>
                                        </p:attrNameLst>
                                      </p:cBhvr>
                                      <p:to>
                                        <p:strVal val="visible"/>
                                      </p:to>
                                    </p:set>
                                    <p:animEffect transition="in" filter="fade">
                                      <p:cBhvr>
                                        <p:cTn id="54" dur="1000"/>
                                        <p:tgtEl>
                                          <p:spTgt spid="185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866"/>
                                        </p:tgtEl>
                                        <p:attrNameLst>
                                          <p:attrName>style.visibility</p:attrName>
                                        </p:attrNameLst>
                                      </p:cBhvr>
                                      <p:to>
                                        <p:strVal val="visible"/>
                                      </p:to>
                                    </p:set>
                                    <p:animEffect transition="in" filter="fade">
                                      <p:cBhvr>
                                        <p:cTn id="59" dur="1000"/>
                                        <p:tgtEl>
                                          <p:spTgt spid="1866"/>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1856"/>
                                        </p:tgtEl>
                                        <p:attrNameLst>
                                          <p:attrName>style.visibility</p:attrName>
                                        </p:attrNameLst>
                                      </p:cBhvr>
                                      <p:to>
                                        <p:strVal val="visible"/>
                                      </p:to>
                                    </p:set>
                                    <p:animEffect transition="in" filter="fade">
                                      <p:cBhvr>
                                        <p:cTn id="63" dur="1000"/>
                                        <p:tgtEl>
                                          <p:spTgt spid="185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867"/>
                                        </p:tgtEl>
                                        <p:attrNameLst>
                                          <p:attrName>style.visibility</p:attrName>
                                        </p:attrNameLst>
                                      </p:cBhvr>
                                      <p:to>
                                        <p:strVal val="visible"/>
                                      </p:to>
                                    </p:set>
                                    <p:animEffect transition="in" filter="fade">
                                      <p:cBhvr>
                                        <p:cTn id="68" dur="1000"/>
                                        <p:tgtEl>
                                          <p:spTgt spid="1867"/>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1857"/>
                                        </p:tgtEl>
                                        <p:attrNameLst>
                                          <p:attrName>style.visibility</p:attrName>
                                        </p:attrNameLst>
                                      </p:cBhvr>
                                      <p:to>
                                        <p:strVal val="visible"/>
                                      </p:to>
                                    </p:set>
                                    <p:animEffect transition="in" filter="fade">
                                      <p:cBhvr>
                                        <p:cTn id="72" dur="1000"/>
                                        <p:tgtEl>
                                          <p:spTgt spid="185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868"/>
                                        </p:tgtEl>
                                        <p:attrNameLst>
                                          <p:attrName>style.visibility</p:attrName>
                                        </p:attrNameLst>
                                      </p:cBhvr>
                                      <p:to>
                                        <p:strVal val="visible"/>
                                      </p:to>
                                    </p:set>
                                    <p:animEffect transition="in" filter="fade">
                                      <p:cBhvr>
                                        <p:cTn id="77" dur="1000"/>
                                        <p:tgtEl>
                                          <p:spTgt spid="1868"/>
                                        </p:tgtEl>
                                      </p:cBhvr>
                                    </p:animEffect>
                                  </p:childTnLst>
                                </p:cTn>
                              </p:par>
                            </p:childTnLst>
                          </p:cTn>
                        </p:par>
                        <p:par>
                          <p:cTn id="78" fill="hold">
                            <p:stCondLst>
                              <p:cond delay="1000"/>
                            </p:stCondLst>
                            <p:childTnLst>
                              <p:par>
                                <p:cTn id="79" presetID="10" presetClass="entr" presetSubtype="0" fill="hold" nodeType="afterEffect">
                                  <p:stCondLst>
                                    <p:cond delay="0"/>
                                  </p:stCondLst>
                                  <p:childTnLst>
                                    <p:set>
                                      <p:cBhvr>
                                        <p:cTn id="80" dur="1" fill="hold">
                                          <p:stCondLst>
                                            <p:cond delay="0"/>
                                          </p:stCondLst>
                                        </p:cTn>
                                        <p:tgtEl>
                                          <p:spTgt spid="1941"/>
                                        </p:tgtEl>
                                        <p:attrNameLst>
                                          <p:attrName>style.visibility</p:attrName>
                                        </p:attrNameLst>
                                      </p:cBhvr>
                                      <p:to>
                                        <p:strVal val="visible"/>
                                      </p:to>
                                    </p:set>
                                    <p:animEffect transition="in" filter="fade">
                                      <p:cBhvr>
                                        <p:cTn id="81" dur="1000"/>
                                        <p:tgtEl>
                                          <p:spTgt spid="194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869"/>
                                        </p:tgtEl>
                                        <p:attrNameLst>
                                          <p:attrName>style.visibility</p:attrName>
                                        </p:attrNameLst>
                                      </p:cBhvr>
                                      <p:to>
                                        <p:strVal val="visible"/>
                                      </p:to>
                                    </p:set>
                                    <p:animEffect transition="in" filter="fade">
                                      <p:cBhvr>
                                        <p:cTn id="86" dur="1000"/>
                                        <p:tgtEl>
                                          <p:spTgt spid="1869"/>
                                        </p:tgtEl>
                                      </p:cBhvr>
                                    </p:animEffect>
                                  </p:childTnLst>
                                </p:cTn>
                              </p:par>
                            </p:childTnLst>
                          </p:cTn>
                        </p:par>
                        <p:par>
                          <p:cTn id="87" fill="hold">
                            <p:stCondLst>
                              <p:cond delay="1000"/>
                            </p:stCondLst>
                            <p:childTnLst>
                              <p:par>
                                <p:cTn id="88" presetID="10" presetClass="entr" presetSubtype="0" fill="hold" nodeType="afterEffect">
                                  <p:stCondLst>
                                    <p:cond delay="0"/>
                                  </p:stCondLst>
                                  <p:childTnLst>
                                    <p:set>
                                      <p:cBhvr>
                                        <p:cTn id="89" dur="1" fill="hold">
                                          <p:stCondLst>
                                            <p:cond delay="0"/>
                                          </p:stCondLst>
                                        </p:cTn>
                                        <p:tgtEl>
                                          <p:spTgt spid="1863"/>
                                        </p:tgtEl>
                                        <p:attrNameLst>
                                          <p:attrName>style.visibility</p:attrName>
                                        </p:attrNameLst>
                                      </p:cBhvr>
                                      <p:to>
                                        <p:strVal val="visible"/>
                                      </p:to>
                                    </p:set>
                                    <p:animEffect transition="in" filter="fade">
                                      <p:cBhvr>
                                        <p:cTn id="90" dur="1000"/>
                                        <p:tgtEl>
                                          <p:spTgt spid="1863"/>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870"/>
                                        </p:tgtEl>
                                        <p:attrNameLst>
                                          <p:attrName>style.visibility</p:attrName>
                                        </p:attrNameLst>
                                      </p:cBhvr>
                                      <p:to>
                                        <p:strVal val="visible"/>
                                      </p:to>
                                    </p:set>
                                    <p:animEffect transition="in" filter="fade">
                                      <p:cBhvr>
                                        <p:cTn id="95" dur="1000"/>
                                        <p:tgtEl>
                                          <p:spTgt spid="1870"/>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1875"/>
                                        </p:tgtEl>
                                        <p:attrNameLst>
                                          <p:attrName>style.visibility</p:attrName>
                                        </p:attrNameLst>
                                      </p:cBhvr>
                                      <p:to>
                                        <p:strVal val="visible"/>
                                      </p:to>
                                    </p:set>
                                    <p:animEffect transition="in" filter="fade">
                                      <p:cBhvr>
                                        <p:cTn id="100" dur="1000"/>
                                        <p:tgtEl>
                                          <p:spTgt spid="1875"/>
                                        </p:tgtEl>
                                      </p:cBhvr>
                                    </p:animEffect>
                                  </p:childTnLst>
                                </p:cTn>
                              </p:par>
                            </p:childTnLst>
                          </p:cTn>
                        </p:par>
                        <p:par>
                          <p:cTn id="101" fill="hold">
                            <p:stCondLst>
                              <p:cond delay="1000"/>
                            </p:stCondLst>
                            <p:childTnLst>
                              <p:par>
                                <p:cTn id="102" presetID="10" presetClass="entr" presetSubtype="0" fill="hold" nodeType="afterEffect">
                                  <p:stCondLst>
                                    <p:cond delay="0"/>
                                  </p:stCondLst>
                                  <p:childTnLst>
                                    <p:set>
                                      <p:cBhvr>
                                        <p:cTn id="103" dur="1" fill="hold">
                                          <p:stCondLst>
                                            <p:cond delay="0"/>
                                          </p:stCondLst>
                                        </p:cTn>
                                        <p:tgtEl>
                                          <p:spTgt spid="1876"/>
                                        </p:tgtEl>
                                        <p:attrNameLst>
                                          <p:attrName>style.visibility</p:attrName>
                                        </p:attrNameLst>
                                      </p:cBhvr>
                                      <p:to>
                                        <p:strVal val="visible"/>
                                      </p:to>
                                    </p:set>
                                    <p:animEffect transition="in" filter="fade">
                                      <p:cBhvr>
                                        <p:cTn id="104" dur="1000"/>
                                        <p:tgtEl>
                                          <p:spTgt spid="187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1942"/>
                                        </p:tgtEl>
                                        <p:attrNameLst>
                                          <p:attrName>style.visibility</p:attrName>
                                        </p:attrNameLst>
                                      </p:cBhvr>
                                      <p:to>
                                        <p:strVal val="visible"/>
                                      </p:to>
                                    </p:set>
                                    <p:animEffect transition="in" filter="fade">
                                      <p:cBhvr>
                                        <p:cTn id="109" dur="1000"/>
                                        <p:tgtEl>
                                          <p:spTgt spid="1942"/>
                                        </p:tgtEl>
                                      </p:cBhvr>
                                    </p:animEffect>
                                  </p:childTnLst>
                                </p:cTn>
                              </p:par>
                            </p:childTnLst>
                          </p:cTn>
                        </p:par>
                        <p:par>
                          <p:cTn id="110" fill="hold">
                            <p:stCondLst>
                              <p:cond delay="1000"/>
                            </p:stCondLst>
                            <p:childTnLst>
                              <p:par>
                                <p:cTn id="111" presetID="10" presetClass="entr" presetSubtype="0" fill="hold" nodeType="afterEffect">
                                  <p:stCondLst>
                                    <p:cond delay="0"/>
                                  </p:stCondLst>
                                  <p:childTnLst>
                                    <p:set>
                                      <p:cBhvr>
                                        <p:cTn id="112" dur="1" fill="hold">
                                          <p:stCondLst>
                                            <p:cond delay="0"/>
                                          </p:stCondLst>
                                        </p:cTn>
                                        <p:tgtEl>
                                          <p:spTgt spid="1883"/>
                                        </p:tgtEl>
                                        <p:attrNameLst>
                                          <p:attrName>style.visibility</p:attrName>
                                        </p:attrNameLst>
                                      </p:cBhvr>
                                      <p:to>
                                        <p:strVal val="visible"/>
                                      </p:to>
                                    </p:set>
                                    <p:animEffect transition="in" filter="fade">
                                      <p:cBhvr>
                                        <p:cTn id="113" dur="1000"/>
                                        <p:tgtEl>
                                          <p:spTgt spid="1883"/>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1943"/>
                                        </p:tgtEl>
                                        <p:attrNameLst>
                                          <p:attrName>style.visibility</p:attrName>
                                        </p:attrNameLst>
                                      </p:cBhvr>
                                      <p:to>
                                        <p:strVal val="visible"/>
                                      </p:to>
                                    </p:set>
                                    <p:animEffect transition="in" filter="fade">
                                      <p:cBhvr>
                                        <p:cTn id="118" dur="1000"/>
                                        <p:tgtEl>
                                          <p:spTgt spid="1943"/>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1944"/>
                                        </p:tgtEl>
                                        <p:attrNameLst>
                                          <p:attrName>style.visibility</p:attrName>
                                        </p:attrNameLst>
                                      </p:cBhvr>
                                      <p:to>
                                        <p:strVal val="visible"/>
                                      </p:to>
                                    </p:set>
                                    <p:animEffect transition="in" filter="fade">
                                      <p:cBhvr>
                                        <p:cTn id="123" dur="1000"/>
                                        <p:tgtEl>
                                          <p:spTgt spid="1944"/>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1945"/>
                                        </p:tgtEl>
                                        <p:attrNameLst>
                                          <p:attrName>style.visibility</p:attrName>
                                        </p:attrNameLst>
                                      </p:cBhvr>
                                      <p:to>
                                        <p:strVal val="visible"/>
                                      </p:to>
                                    </p:set>
                                    <p:animEffect transition="in" filter="fade">
                                      <p:cBhvr>
                                        <p:cTn id="128" dur="1000"/>
                                        <p:tgtEl>
                                          <p:spTgt spid="1945"/>
                                        </p:tgtEl>
                                      </p:cBhvr>
                                    </p:animEffect>
                                  </p:childTnLst>
                                </p:cTn>
                              </p:par>
                            </p:childTnLst>
                          </p:cTn>
                        </p:par>
                        <p:par>
                          <p:cTn id="129" fill="hold">
                            <p:stCondLst>
                              <p:cond delay="1000"/>
                            </p:stCondLst>
                            <p:childTnLst>
                              <p:par>
                                <p:cTn id="130" presetID="10" presetClass="entr" presetSubtype="0" fill="hold" nodeType="afterEffect">
                                  <p:stCondLst>
                                    <p:cond delay="0"/>
                                  </p:stCondLst>
                                  <p:childTnLst>
                                    <p:set>
                                      <p:cBhvr>
                                        <p:cTn id="131" dur="1" fill="hold">
                                          <p:stCondLst>
                                            <p:cond delay="0"/>
                                          </p:stCondLst>
                                        </p:cTn>
                                        <p:tgtEl>
                                          <p:spTgt spid="1890"/>
                                        </p:tgtEl>
                                        <p:attrNameLst>
                                          <p:attrName>style.visibility</p:attrName>
                                        </p:attrNameLst>
                                      </p:cBhvr>
                                      <p:to>
                                        <p:strVal val="visible"/>
                                      </p:to>
                                    </p:set>
                                    <p:animEffect transition="in" filter="fade">
                                      <p:cBhvr>
                                        <p:cTn id="132" dur="1000"/>
                                        <p:tgtEl>
                                          <p:spTgt spid="1890"/>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1946"/>
                                        </p:tgtEl>
                                        <p:attrNameLst>
                                          <p:attrName>style.visibility</p:attrName>
                                        </p:attrNameLst>
                                      </p:cBhvr>
                                      <p:to>
                                        <p:strVal val="visible"/>
                                      </p:to>
                                    </p:set>
                                    <p:animEffect transition="in" filter="fade">
                                      <p:cBhvr>
                                        <p:cTn id="137" dur="1000"/>
                                        <p:tgtEl>
                                          <p:spTgt spid="1946"/>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1895"/>
                                        </p:tgtEl>
                                        <p:attrNameLst>
                                          <p:attrName>style.visibility</p:attrName>
                                        </p:attrNameLst>
                                      </p:cBhvr>
                                      <p:to>
                                        <p:strVal val="visible"/>
                                      </p:to>
                                    </p:set>
                                    <p:animEffect transition="in" filter="fade">
                                      <p:cBhvr>
                                        <p:cTn id="142" dur="1000"/>
                                        <p:tgtEl>
                                          <p:spTgt spid="1895"/>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1900"/>
                                        </p:tgtEl>
                                        <p:attrNameLst>
                                          <p:attrName>style.visibility</p:attrName>
                                        </p:attrNameLst>
                                      </p:cBhvr>
                                      <p:to>
                                        <p:strVal val="visible"/>
                                      </p:to>
                                    </p:set>
                                    <p:animEffect transition="in" filter="fade">
                                      <p:cBhvr>
                                        <p:cTn id="147" dur="1000"/>
                                        <p:tgtEl>
                                          <p:spTgt spid="1900"/>
                                        </p:tgtEl>
                                      </p:cBhvr>
                                    </p:animEffect>
                                  </p:childTnLst>
                                </p:cTn>
                              </p:par>
                            </p:childTnLst>
                          </p:cTn>
                        </p:par>
                        <p:par>
                          <p:cTn id="148" fill="hold">
                            <p:stCondLst>
                              <p:cond delay="1000"/>
                            </p:stCondLst>
                            <p:childTnLst>
                              <p:par>
                                <p:cTn id="149" presetID="10" presetClass="entr" presetSubtype="0" fill="hold" nodeType="afterEffect">
                                  <p:stCondLst>
                                    <p:cond delay="0"/>
                                  </p:stCondLst>
                                  <p:childTnLst>
                                    <p:set>
                                      <p:cBhvr>
                                        <p:cTn id="150" dur="1" fill="hold">
                                          <p:stCondLst>
                                            <p:cond delay="0"/>
                                          </p:stCondLst>
                                        </p:cTn>
                                        <p:tgtEl>
                                          <p:spTgt spid="1901"/>
                                        </p:tgtEl>
                                        <p:attrNameLst>
                                          <p:attrName>style.visibility</p:attrName>
                                        </p:attrNameLst>
                                      </p:cBhvr>
                                      <p:to>
                                        <p:strVal val="visible"/>
                                      </p:to>
                                    </p:set>
                                    <p:animEffect transition="in" filter="fade">
                                      <p:cBhvr>
                                        <p:cTn id="151" dur="1000"/>
                                        <p:tgtEl>
                                          <p:spTgt spid="1901"/>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1904"/>
                                        </p:tgtEl>
                                        <p:attrNameLst>
                                          <p:attrName>style.visibility</p:attrName>
                                        </p:attrNameLst>
                                      </p:cBhvr>
                                      <p:to>
                                        <p:strVal val="visible"/>
                                      </p:to>
                                    </p:set>
                                    <p:animEffect transition="in" filter="fade">
                                      <p:cBhvr>
                                        <p:cTn id="156" dur="1000"/>
                                        <p:tgtEl>
                                          <p:spTgt spid="1904"/>
                                        </p:tgtEl>
                                      </p:cBhvr>
                                    </p:animEffect>
                                  </p:childTnLst>
                                </p:cTn>
                              </p:par>
                            </p:childTnLst>
                          </p:cTn>
                        </p:par>
                        <p:par>
                          <p:cTn id="157" fill="hold">
                            <p:stCondLst>
                              <p:cond delay="1000"/>
                            </p:stCondLst>
                            <p:childTnLst>
                              <p:par>
                                <p:cTn id="158" presetID="10" presetClass="entr" presetSubtype="0" fill="hold" nodeType="afterEffect">
                                  <p:stCondLst>
                                    <p:cond delay="0"/>
                                  </p:stCondLst>
                                  <p:childTnLst>
                                    <p:set>
                                      <p:cBhvr>
                                        <p:cTn id="159" dur="1" fill="hold">
                                          <p:stCondLst>
                                            <p:cond delay="0"/>
                                          </p:stCondLst>
                                        </p:cTn>
                                        <p:tgtEl>
                                          <p:spTgt spid="1902"/>
                                        </p:tgtEl>
                                        <p:attrNameLst>
                                          <p:attrName>style.visibility</p:attrName>
                                        </p:attrNameLst>
                                      </p:cBhvr>
                                      <p:to>
                                        <p:strVal val="visible"/>
                                      </p:to>
                                    </p:set>
                                    <p:animEffect transition="in" filter="fade">
                                      <p:cBhvr>
                                        <p:cTn id="160" dur="1000"/>
                                        <p:tgtEl>
                                          <p:spTgt spid="1902"/>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1905"/>
                                        </p:tgtEl>
                                        <p:attrNameLst>
                                          <p:attrName>style.visibility</p:attrName>
                                        </p:attrNameLst>
                                      </p:cBhvr>
                                      <p:to>
                                        <p:strVal val="visible"/>
                                      </p:to>
                                    </p:set>
                                    <p:animEffect transition="in" filter="fade">
                                      <p:cBhvr>
                                        <p:cTn id="165" dur="1000"/>
                                        <p:tgtEl>
                                          <p:spTgt spid="1905"/>
                                        </p:tgtEl>
                                      </p:cBhvr>
                                    </p:animEffect>
                                  </p:childTnLst>
                                </p:cTn>
                              </p:par>
                            </p:childTnLst>
                          </p:cTn>
                        </p:par>
                        <p:par>
                          <p:cTn id="166" fill="hold">
                            <p:stCondLst>
                              <p:cond delay="1000"/>
                            </p:stCondLst>
                            <p:childTnLst>
                              <p:par>
                                <p:cTn id="167" presetID="10" presetClass="entr" presetSubtype="0" fill="hold" nodeType="afterEffect">
                                  <p:stCondLst>
                                    <p:cond delay="0"/>
                                  </p:stCondLst>
                                  <p:childTnLst>
                                    <p:set>
                                      <p:cBhvr>
                                        <p:cTn id="168" dur="1" fill="hold">
                                          <p:stCondLst>
                                            <p:cond delay="0"/>
                                          </p:stCondLst>
                                        </p:cTn>
                                        <p:tgtEl>
                                          <p:spTgt spid="1903"/>
                                        </p:tgtEl>
                                        <p:attrNameLst>
                                          <p:attrName>style.visibility</p:attrName>
                                        </p:attrNameLst>
                                      </p:cBhvr>
                                      <p:to>
                                        <p:strVal val="visible"/>
                                      </p:to>
                                    </p:set>
                                    <p:animEffect transition="in" filter="fade">
                                      <p:cBhvr>
                                        <p:cTn id="169" dur="1000"/>
                                        <p:tgtEl>
                                          <p:spTgt spid="1903"/>
                                        </p:tgtEl>
                                      </p:cBhvr>
                                    </p:animEffect>
                                  </p:childTnLst>
                                </p:cTn>
                              </p:par>
                            </p:childTnLst>
                          </p:cTn>
                        </p:par>
                      </p:childTnLst>
                    </p:cTn>
                  </p:par>
                  <p:par>
                    <p:cTn id="170" fill="hold">
                      <p:stCondLst>
                        <p:cond delay="indefinite"/>
                      </p:stCondLst>
                      <p:childTnLst>
                        <p:par>
                          <p:cTn id="171" fill="hold">
                            <p:stCondLst>
                              <p:cond delay="0"/>
                            </p:stCondLst>
                            <p:childTnLst>
                              <p:par>
                                <p:cTn id="172" presetID="10" presetClass="entr" presetSubtype="0" fill="hold" nodeType="clickEffect">
                                  <p:stCondLst>
                                    <p:cond delay="0"/>
                                  </p:stCondLst>
                                  <p:childTnLst>
                                    <p:set>
                                      <p:cBhvr>
                                        <p:cTn id="173" dur="1" fill="hold">
                                          <p:stCondLst>
                                            <p:cond delay="0"/>
                                          </p:stCondLst>
                                        </p:cTn>
                                        <p:tgtEl>
                                          <p:spTgt spid="1906"/>
                                        </p:tgtEl>
                                        <p:attrNameLst>
                                          <p:attrName>style.visibility</p:attrName>
                                        </p:attrNameLst>
                                      </p:cBhvr>
                                      <p:to>
                                        <p:strVal val="visible"/>
                                      </p:to>
                                    </p:set>
                                    <p:animEffect transition="in" filter="fade">
                                      <p:cBhvr>
                                        <p:cTn id="174" dur="1000"/>
                                        <p:tgtEl>
                                          <p:spTgt spid="1906"/>
                                        </p:tgtEl>
                                      </p:cBhvr>
                                    </p:animEffect>
                                  </p:childTnLst>
                                </p:cTn>
                              </p:par>
                            </p:childTnLst>
                          </p:cTn>
                        </p:par>
                        <p:par>
                          <p:cTn id="175" fill="hold">
                            <p:stCondLst>
                              <p:cond delay="1000"/>
                            </p:stCondLst>
                            <p:childTnLst>
                              <p:par>
                                <p:cTn id="176" presetID="10" presetClass="entr" presetSubtype="0" fill="hold" nodeType="afterEffect">
                                  <p:stCondLst>
                                    <p:cond delay="0"/>
                                  </p:stCondLst>
                                  <p:childTnLst>
                                    <p:set>
                                      <p:cBhvr>
                                        <p:cTn id="177" dur="1" fill="hold">
                                          <p:stCondLst>
                                            <p:cond delay="0"/>
                                          </p:stCondLst>
                                        </p:cTn>
                                        <p:tgtEl>
                                          <p:spTgt spid="1907"/>
                                        </p:tgtEl>
                                        <p:attrNameLst>
                                          <p:attrName>style.visibility</p:attrName>
                                        </p:attrNameLst>
                                      </p:cBhvr>
                                      <p:to>
                                        <p:strVal val="visible"/>
                                      </p:to>
                                    </p:set>
                                    <p:animEffect transition="in" filter="fade">
                                      <p:cBhvr>
                                        <p:cTn id="178" dur="1000"/>
                                        <p:tgtEl>
                                          <p:spTgt spid="1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50"/>
        <p:cNvGrpSpPr/>
        <p:nvPr/>
      </p:nvGrpSpPr>
      <p:grpSpPr>
        <a:xfrm>
          <a:off x="0" y="0"/>
          <a:ext cx="0" cy="0"/>
          <a:chOff x="0" y="0"/>
          <a:chExt cx="0" cy="0"/>
        </a:xfrm>
      </p:grpSpPr>
      <p:sp>
        <p:nvSpPr>
          <p:cNvPr id="1951" name="Google Shape;1951;p78"/>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45</a:t>
            </a:fld>
            <a:endParaRPr/>
          </a:p>
        </p:txBody>
      </p:sp>
      <p:sp>
        <p:nvSpPr>
          <p:cNvPr id="1952" name="Google Shape;1952;p78"/>
          <p:cNvSpPr txBox="1">
            <a:spLocks noGrp="1"/>
          </p:cNvSpPr>
          <p:nvPr>
            <p:ph type="title"/>
          </p:nvPr>
        </p:nvSpPr>
        <p:spPr>
          <a:xfrm>
            <a:off x="5264725" y="1961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a:t>Depth-First Search</a:t>
            </a:r>
            <a:endParaRPr/>
          </a:p>
          <a:p>
            <a:pPr marL="0" lvl="0" indent="0" algn="l" rtl="0">
              <a:lnSpc>
                <a:spcPct val="100000"/>
              </a:lnSpc>
              <a:spcBef>
                <a:spcPts val="0"/>
              </a:spcBef>
              <a:spcAft>
                <a:spcPts val="0"/>
              </a:spcAft>
              <a:buSzPts val="2800"/>
              <a:buNone/>
            </a:pPr>
            <a:r>
              <a:rPr lang="en" sz="1900"/>
              <a:t>(DFS)</a:t>
            </a:r>
            <a:endParaRPr sz="1900"/>
          </a:p>
        </p:txBody>
      </p:sp>
      <p:sp>
        <p:nvSpPr>
          <p:cNvPr id="1953" name="Google Shape;1953;p78"/>
          <p:cNvSpPr txBox="1">
            <a:spLocks noGrp="1"/>
          </p:cNvSpPr>
          <p:nvPr>
            <p:ph type="body" idx="1"/>
          </p:nvPr>
        </p:nvSpPr>
        <p:spPr>
          <a:xfrm>
            <a:off x="320550" y="231025"/>
            <a:ext cx="4420800" cy="44868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A </a:t>
            </a:r>
            <a:r>
              <a:rPr lang="en" b="1" i="1">
                <a:solidFill>
                  <a:srgbClr val="FF0000"/>
                </a:solidFill>
              </a:rPr>
              <a:t>search</a:t>
            </a:r>
            <a:r>
              <a:rPr lang="en">
                <a:solidFill>
                  <a:srgbClr val="FF0000"/>
                </a:solidFill>
              </a:rPr>
              <a:t> </a:t>
            </a:r>
            <a:r>
              <a:rPr lang="en"/>
              <a:t>is an algorithm that determines whether or not a path </a:t>
            </a:r>
            <a:r>
              <a:rPr lang="en" b="1" i="1">
                <a:solidFill>
                  <a:srgbClr val="FF0000"/>
                </a:solidFill>
              </a:rPr>
              <a:t>exists</a:t>
            </a:r>
            <a:r>
              <a:rPr lang="en">
                <a:solidFill>
                  <a:srgbClr val="FF0000"/>
                </a:solidFill>
              </a:rPr>
              <a:t> </a:t>
            </a:r>
            <a:r>
              <a:rPr lang="en"/>
              <a:t>between two vertices in a graph.</a:t>
            </a:r>
            <a:endParaRPr/>
          </a:p>
          <a:p>
            <a:pPr marL="457200" lvl="0" indent="-311150" algn="l" rtl="0">
              <a:lnSpc>
                <a:spcPct val="115000"/>
              </a:lnSpc>
              <a:spcBef>
                <a:spcPts val="1000"/>
              </a:spcBef>
              <a:spcAft>
                <a:spcPts val="0"/>
              </a:spcAft>
              <a:buSzPts val="1300"/>
              <a:buChar char="●"/>
            </a:pPr>
            <a:r>
              <a:rPr lang="en" b="1" i="1">
                <a:solidFill>
                  <a:srgbClr val="FF0000"/>
                </a:solidFill>
              </a:rPr>
              <a:t>Breadth-First Search</a:t>
            </a:r>
            <a:r>
              <a:rPr lang="en"/>
              <a:t> (</a:t>
            </a:r>
            <a:r>
              <a:rPr lang="en" b="1" i="1">
                <a:solidFill>
                  <a:srgbClr val="FF0000"/>
                </a:solidFill>
              </a:rPr>
              <a:t>BFS</a:t>
            </a:r>
            <a:r>
              <a:rPr lang="en"/>
              <a:t>) is one such algorithm.</a:t>
            </a:r>
            <a:endParaRPr/>
          </a:p>
          <a:p>
            <a:pPr marL="914400" lvl="1" indent="-298450" algn="l" rtl="0">
              <a:lnSpc>
                <a:spcPct val="115000"/>
              </a:lnSpc>
              <a:spcBef>
                <a:spcPts val="0"/>
              </a:spcBef>
              <a:spcAft>
                <a:spcPts val="0"/>
              </a:spcAft>
              <a:buSzPts val="1100"/>
              <a:buChar char="○"/>
            </a:pPr>
            <a:r>
              <a:rPr lang="en"/>
              <a:t>BFS uses a </a:t>
            </a:r>
            <a:r>
              <a:rPr lang="en" b="1" i="1">
                <a:solidFill>
                  <a:srgbClr val="FF0000"/>
                </a:solidFill>
              </a:rPr>
              <a:t>queue</a:t>
            </a:r>
            <a:r>
              <a:rPr lang="en">
                <a:solidFill>
                  <a:srgbClr val="FF0000"/>
                </a:solidFill>
              </a:rPr>
              <a:t> </a:t>
            </a:r>
            <a:r>
              <a:rPr lang="en"/>
              <a:t>to search vertices in order based on </a:t>
            </a:r>
            <a:r>
              <a:rPr lang="en" b="1" i="1">
                <a:solidFill>
                  <a:srgbClr val="FF0000"/>
                </a:solidFill>
              </a:rPr>
              <a:t>distance</a:t>
            </a:r>
            <a:r>
              <a:rPr lang="en">
                <a:solidFill>
                  <a:srgbClr val="FF0000"/>
                </a:solidFill>
              </a:rPr>
              <a:t> </a:t>
            </a:r>
            <a:r>
              <a:rPr lang="en"/>
              <a:t>from the starting vertex.</a:t>
            </a:r>
            <a:endParaRPr/>
          </a:p>
          <a:p>
            <a:pPr marL="914400" lvl="1" indent="-298450" algn="l" rtl="0">
              <a:lnSpc>
                <a:spcPct val="115000"/>
              </a:lnSpc>
              <a:spcBef>
                <a:spcPts val="0"/>
              </a:spcBef>
              <a:spcAft>
                <a:spcPts val="0"/>
              </a:spcAft>
              <a:buSzPts val="1100"/>
              <a:buChar char="○"/>
            </a:pPr>
            <a:r>
              <a:rPr lang="en"/>
              <a:t>All of the vertices that are </a:t>
            </a:r>
            <a:r>
              <a:rPr lang="en" b="1" i="1">
                <a:solidFill>
                  <a:srgbClr val="FF0000"/>
                </a:solidFill>
              </a:rPr>
              <a:t>one</a:t>
            </a:r>
            <a:r>
              <a:rPr lang="en">
                <a:solidFill>
                  <a:srgbClr val="FF0000"/>
                </a:solidFill>
              </a:rPr>
              <a:t> </a:t>
            </a:r>
            <a:r>
              <a:rPr lang="en"/>
              <a:t>edge away are searched </a:t>
            </a:r>
            <a:r>
              <a:rPr lang="en" b="1" i="1">
                <a:solidFill>
                  <a:srgbClr val="FF0000"/>
                </a:solidFill>
              </a:rPr>
              <a:t>first</a:t>
            </a:r>
            <a:r>
              <a:rPr lang="en"/>
              <a:t>, then those that are </a:t>
            </a:r>
            <a:r>
              <a:rPr lang="en" b="1" i="1">
                <a:solidFill>
                  <a:srgbClr val="FF0000"/>
                </a:solidFill>
              </a:rPr>
              <a:t>two</a:t>
            </a:r>
            <a:r>
              <a:rPr lang="en">
                <a:solidFill>
                  <a:srgbClr val="FF0000"/>
                </a:solidFill>
              </a:rPr>
              <a:t> </a:t>
            </a:r>
            <a:r>
              <a:rPr lang="en"/>
              <a:t>edges away, and so on.</a:t>
            </a:r>
            <a:endParaRPr/>
          </a:p>
          <a:p>
            <a:pPr marL="457200" lvl="0" indent="-311150" algn="l" rtl="0">
              <a:lnSpc>
                <a:spcPct val="115000"/>
              </a:lnSpc>
              <a:spcBef>
                <a:spcPts val="1000"/>
              </a:spcBef>
              <a:spcAft>
                <a:spcPts val="0"/>
              </a:spcAft>
              <a:buSzPts val="1300"/>
              <a:buChar char="●"/>
            </a:pPr>
            <a:r>
              <a:rPr lang="en"/>
              <a:t>A </a:t>
            </a:r>
            <a:r>
              <a:rPr lang="en" b="1" i="1">
                <a:solidFill>
                  <a:srgbClr val="FF0000"/>
                </a:solidFill>
              </a:rPr>
              <a:t>Depth-First Search</a:t>
            </a:r>
            <a:r>
              <a:rPr lang="en"/>
              <a:t> (</a:t>
            </a:r>
            <a:r>
              <a:rPr lang="en" b="1" i="1">
                <a:solidFill>
                  <a:srgbClr val="FF0000"/>
                </a:solidFill>
              </a:rPr>
              <a:t>DFS</a:t>
            </a:r>
            <a:r>
              <a:rPr lang="en"/>
              <a:t>) is an alternative to BFS.</a:t>
            </a:r>
            <a:endParaRPr/>
          </a:p>
          <a:p>
            <a:pPr marL="914400" lvl="1" indent="-298450" algn="l" rtl="0">
              <a:lnSpc>
                <a:spcPct val="115000"/>
              </a:lnSpc>
              <a:spcBef>
                <a:spcPts val="0"/>
              </a:spcBef>
              <a:spcAft>
                <a:spcPts val="0"/>
              </a:spcAft>
              <a:buSzPts val="1100"/>
              <a:buChar char="○"/>
            </a:pPr>
            <a:r>
              <a:rPr lang="en"/>
              <a:t>Rather than explore all of the nodes that are </a:t>
            </a:r>
            <a:r>
              <a:rPr lang="en" b="1" i="1">
                <a:solidFill>
                  <a:srgbClr val="FF0000"/>
                </a:solidFill>
              </a:rPr>
              <a:t>one</a:t>
            </a:r>
            <a:r>
              <a:rPr lang="en">
                <a:solidFill>
                  <a:srgbClr val="FF0000"/>
                </a:solidFill>
              </a:rPr>
              <a:t> </a:t>
            </a:r>
            <a:r>
              <a:rPr lang="en"/>
              <a:t>edge away first, DFS explores deeper and deeper into the graph.</a:t>
            </a:r>
            <a:endParaRPr/>
          </a:p>
          <a:p>
            <a:pPr marL="914400" lvl="1" indent="-298450" algn="l" rtl="0">
              <a:lnSpc>
                <a:spcPct val="115000"/>
              </a:lnSpc>
              <a:spcBef>
                <a:spcPts val="0"/>
              </a:spcBef>
              <a:spcAft>
                <a:spcPts val="0"/>
              </a:spcAft>
              <a:buSzPts val="1100"/>
              <a:buChar char="○"/>
            </a:pPr>
            <a:r>
              <a:rPr lang="en"/>
              <a:t>If it arrives at a vertex that does not have any </a:t>
            </a:r>
            <a:r>
              <a:rPr lang="en" b="1" i="1">
                <a:solidFill>
                  <a:srgbClr val="FF0000"/>
                </a:solidFill>
              </a:rPr>
              <a:t>unexplored</a:t>
            </a:r>
            <a:r>
              <a:rPr lang="en">
                <a:solidFill>
                  <a:srgbClr val="FF0000"/>
                </a:solidFill>
              </a:rPr>
              <a:t> </a:t>
            </a:r>
            <a:r>
              <a:rPr lang="en"/>
              <a:t>neighbors, it </a:t>
            </a:r>
            <a:r>
              <a:rPr lang="en" b="1" i="1">
                <a:solidFill>
                  <a:srgbClr val="FF0000"/>
                </a:solidFill>
              </a:rPr>
              <a:t>backtracks</a:t>
            </a:r>
            <a:r>
              <a:rPr lang="en">
                <a:solidFill>
                  <a:srgbClr val="FF0000"/>
                </a:solidFill>
              </a:rPr>
              <a:t> </a:t>
            </a:r>
            <a:r>
              <a:rPr lang="en"/>
              <a:t>along its path only as far as necessary to find a vertex with at least one unexplored neighbor.</a:t>
            </a:r>
            <a:endParaRPr/>
          </a:p>
          <a:p>
            <a:pPr marL="457200" lvl="0" indent="-311150" algn="l" rtl="0">
              <a:lnSpc>
                <a:spcPct val="115000"/>
              </a:lnSpc>
              <a:spcBef>
                <a:spcPts val="1000"/>
              </a:spcBef>
              <a:spcAft>
                <a:spcPts val="0"/>
              </a:spcAft>
              <a:buSzPts val="1300"/>
              <a:buChar char="●"/>
            </a:pPr>
            <a:r>
              <a:rPr lang="en"/>
              <a:t>A DFS can be implemented using a </a:t>
            </a:r>
            <a:r>
              <a:rPr lang="en" b="1" i="1">
                <a:solidFill>
                  <a:srgbClr val="FF0000"/>
                </a:solidFill>
              </a:rPr>
              <a:t>stack</a:t>
            </a:r>
            <a:r>
              <a:rPr lang="en">
                <a:solidFill>
                  <a:srgbClr val="FF0000"/>
                </a:solidFill>
              </a:rPr>
              <a:t> </a:t>
            </a:r>
            <a:r>
              <a:rPr lang="en"/>
              <a:t>rather than a queue, or through </a:t>
            </a:r>
            <a:r>
              <a:rPr lang="en" b="1" i="1">
                <a:solidFill>
                  <a:srgbClr val="FF0000"/>
                </a:solidFill>
              </a:rPr>
              <a:t>recursion</a:t>
            </a:r>
            <a:r>
              <a:rPr lang="en"/>
              <a:t>.</a:t>
            </a:r>
            <a:endParaRPr/>
          </a:p>
        </p:txBody>
      </p:sp>
      <p:sp>
        <p:nvSpPr>
          <p:cNvPr id="1954" name="Google Shape;1954;p78"/>
          <p:cNvSpPr txBox="1">
            <a:spLocks noGrp="1"/>
          </p:cNvSpPr>
          <p:nvPr>
            <p:ph type="body" idx="3"/>
          </p:nvPr>
        </p:nvSpPr>
        <p:spPr>
          <a:xfrm>
            <a:off x="5192225" y="4512050"/>
            <a:ext cx="3706500" cy="54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Let's practice </a:t>
            </a:r>
            <a:r>
              <a:rPr lang="en" b="1" i="1">
                <a:solidFill>
                  <a:srgbClr val="FF0000"/>
                </a:solidFill>
              </a:rPr>
              <a:t>depth-first search</a:t>
            </a:r>
            <a:r>
              <a:rPr lang="en"/>
              <a:t> on this example graph to find a path from </a:t>
            </a:r>
            <a:r>
              <a:rPr lang="en" b="1" i="1">
                <a:solidFill>
                  <a:srgbClr val="FF0000"/>
                </a:solidFill>
              </a:rPr>
              <a:t>A to G</a:t>
            </a:r>
            <a:r>
              <a:rPr lang="en"/>
              <a:t>.</a:t>
            </a:r>
            <a:endParaRPr/>
          </a:p>
        </p:txBody>
      </p:sp>
      <p:cxnSp>
        <p:nvCxnSpPr>
          <p:cNvPr id="1955" name="Google Shape;1955;p78"/>
          <p:cNvCxnSpPr>
            <a:stCxn id="1956" idx="6"/>
            <a:endCxn id="1957" idx="1"/>
          </p:cNvCxnSpPr>
          <p:nvPr/>
        </p:nvCxnSpPr>
        <p:spPr>
          <a:xfrm>
            <a:off x="6213338" y="1190770"/>
            <a:ext cx="582000" cy="115800"/>
          </a:xfrm>
          <a:prstGeom prst="straightConnector1">
            <a:avLst/>
          </a:prstGeom>
          <a:noFill/>
          <a:ln w="19050" cap="flat" cmpd="sng">
            <a:solidFill>
              <a:srgbClr val="FFFFFF"/>
            </a:solidFill>
            <a:prstDash val="solid"/>
            <a:round/>
            <a:headEnd type="none" w="sm" len="sm"/>
            <a:tailEnd type="none" w="sm" len="sm"/>
          </a:ln>
        </p:spPr>
      </p:cxnSp>
      <p:cxnSp>
        <p:nvCxnSpPr>
          <p:cNvPr id="1958" name="Google Shape;1958;p78"/>
          <p:cNvCxnSpPr>
            <a:stCxn id="1956" idx="4"/>
            <a:endCxn id="1959" idx="0"/>
          </p:cNvCxnSpPr>
          <p:nvPr/>
        </p:nvCxnSpPr>
        <p:spPr>
          <a:xfrm flipH="1">
            <a:off x="5850638" y="1409170"/>
            <a:ext cx="144300" cy="589500"/>
          </a:xfrm>
          <a:prstGeom prst="straightConnector1">
            <a:avLst/>
          </a:prstGeom>
          <a:noFill/>
          <a:ln w="19050" cap="flat" cmpd="sng">
            <a:solidFill>
              <a:srgbClr val="FFFFFF"/>
            </a:solidFill>
            <a:prstDash val="solid"/>
            <a:round/>
            <a:headEnd type="none" w="sm" len="sm"/>
            <a:tailEnd type="none" w="sm" len="sm"/>
          </a:ln>
        </p:spPr>
      </p:cxnSp>
      <p:cxnSp>
        <p:nvCxnSpPr>
          <p:cNvPr id="1960" name="Google Shape;1960;p78"/>
          <p:cNvCxnSpPr>
            <a:stCxn id="1957" idx="5"/>
            <a:endCxn id="1961" idx="1"/>
          </p:cNvCxnSpPr>
          <p:nvPr/>
        </p:nvCxnSpPr>
        <p:spPr>
          <a:xfrm>
            <a:off x="7104245" y="1615377"/>
            <a:ext cx="405900" cy="567900"/>
          </a:xfrm>
          <a:prstGeom prst="straightConnector1">
            <a:avLst/>
          </a:prstGeom>
          <a:noFill/>
          <a:ln w="19050" cap="flat" cmpd="sng">
            <a:solidFill>
              <a:srgbClr val="FFFFFF"/>
            </a:solidFill>
            <a:prstDash val="solid"/>
            <a:round/>
            <a:headEnd type="none" w="sm" len="sm"/>
            <a:tailEnd type="none" w="sm" len="sm"/>
          </a:ln>
        </p:spPr>
      </p:cxnSp>
      <p:cxnSp>
        <p:nvCxnSpPr>
          <p:cNvPr id="1962" name="Google Shape;1962;p78"/>
          <p:cNvCxnSpPr>
            <a:stCxn id="1959" idx="6"/>
            <a:endCxn id="1961" idx="2"/>
          </p:cNvCxnSpPr>
          <p:nvPr/>
        </p:nvCxnSpPr>
        <p:spPr>
          <a:xfrm>
            <a:off x="6069013" y="2217045"/>
            <a:ext cx="1377300" cy="120600"/>
          </a:xfrm>
          <a:prstGeom prst="straightConnector1">
            <a:avLst/>
          </a:prstGeom>
          <a:noFill/>
          <a:ln w="19050" cap="flat" cmpd="sng">
            <a:solidFill>
              <a:srgbClr val="FFFFFF"/>
            </a:solidFill>
            <a:prstDash val="solid"/>
            <a:round/>
            <a:headEnd type="none" w="sm" len="sm"/>
            <a:tailEnd type="none" w="sm" len="sm"/>
          </a:ln>
        </p:spPr>
      </p:cxnSp>
      <p:cxnSp>
        <p:nvCxnSpPr>
          <p:cNvPr id="1963" name="Google Shape;1963;p78"/>
          <p:cNvCxnSpPr>
            <a:stCxn id="1957" idx="3"/>
            <a:endCxn id="1964" idx="0"/>
          </p:cNvCxnSpPr>
          <p:nvPr/>
        </p:nvCxnSpPr>
        <p:spPr>
          <a:xfrm flipH="1">
            <a:off x="6680481" y="1615377"/>
            <a:ext cx="114900" cy="1154100"/>
          </a:xfrm>
          <a:prstGeom prst="straightConnector1">
            <a:avLst/>
          </a:prstGeom>
          <a:noFill/>
          <a:ln w="19050" cap="flat" cmpd="sng">
            <a:solidFill>
              <a:srgbClr val="FFFFFF"/>
            </a:solidFill>
            <a:prstDash val="solid"/>
            <a:round/>
            <a:headEnd type="none" w="sm" len="sm"/>
            <a:tailEnd type="none" w="sm" len="sm"/>
          </a:ln>
        </p:spPr>
      </p:cxnSp>
      <p:cxnSp>
        <p:nvCxnSpPr>
          <p:cNvPr id="1965" name="Google Shape;1965;p78"/>
          <p:cNvCxnSpPr>
            <a:stCxn id="1959" idx="5"/>
            <a:endCxn id="1964" idx="1"/>
          </p:cNvCxnSpPr>
          <p:nvPr/>
        </p:nvCxnSpPr>
        <p:spPr>
          <a:xfrm>
            <a:off x="6005045" y="2371477"/>
            <a:ext cx="520800" cy="462000"/>
          </a:xfrm>
          <a:prstGeom prst="straightConnector1">
            <a:avLst/>
          </a:prstGeom>
          <a:noFill/>
          <a:ln w="19050" cap="flat" cmpd="sng">
            <a:solidFill>
              <a:srgbClr val="FFFFFF"/>
            </a:solidFill>
            <a:prstDash val="solid"/>
            <a:round/>
            <a:headEnd type="none" w="sm" len="sm"/>
            <a:tailEnd type="none" w="sm" len="sm"/>
          </a:ln>
        </p:spPr>
      </p:cxnSp>
      <p:cxnSp>
        <p:nvCxnSpPr>
          <p:cNvPr id="1966" name="Google Shape;1966;p78"/>
          <p:cNvCxnSpPr>
            <a:stCxn id="1964" idx="5"/>
            <a:endCxn id="1967" idx="2"/>
          </p:cNvCxnSpPr>
          <p:nvPr/>
        </p:nvCxnSpPr>
        <p:spPr>
          <a:xfrm>
            <a:off x="6834770" y="3142302"/>
            <a:ext cx="653400" cy="179700"/>
          </a:xfrm>
          <a:prstGeom prst="straightConnector1">
            <a:avLst/>
          </a:prstGeom>
          <a:noFill/>
          <a:ln w="19050" cap="flat" cmpd="sng">
            <a:solidFill>
              <a:srgbClr val="FFFFFF"/>
            </a:solidFill>
            <a:prstDash val="solid"/>
            <a:round/>
            <a:headEnd type="none" w="sm" len="sm"/>
            <a:tailEnd type="none" w="sm" len="sm"/>
          </a:ln>
        </p:spPr>
      </p:cxnSp>
      <p:cxnSp>
        <p:nvCxnSpPr>
          <p:cNvPr id="1968" name="Google Shape;1968;p78"/>
          <p:cNvCxnSpPr>
            <a:stCxn id="1961" idx="4"/>
            <a:endCxn id="1967" idx="0"/>
          </p:cNvCxnSpPr>
          <p:nvPr/>
        </p:nvCxnSpPr>
        <p:spPr>
          <a:xfrm>
            <a:off x="7664688" y="2556170"/>
            <a:ext cx="42000" cy="547500"/>
          </a:xfrm>
          <a:prstGeom prst="straightConnector1">
            <a:avLst/>
          </a:prstGeom>
          <a:noFill/>
          <a:ln w="19050" cap="flat" cmpd="sng">
            <a:solidFill>
              <a:srgbClr val="FFFFFF"/>
            </a:solidFill>
            <a:prstDash val="solid"/>
            <a:round/>
            <a:headEnd type="none" w="sm" len="sm"/>
            <a:tailEnd type="none" w="sm" len="sm"/>
          </a:ln>
        </p:spPr>
      </p:cxnSp>
      <p:cxnSp>
        <p:nvCxnSpPr>
          <p:cNvPr id="1969" name="Google Shape;1969;p78"/>
          <p:cNvCxnSpPr>
            <a:stCxn id="1967" idx="5"/>
            <a:endCxn id="1970" idx="1"/>
          </p:cNvCxnSpPr>
          <p:nvPr/>
        </p:nvCxnSpPr>
        <p:spPr>
          <a:xfrm>
            <a:off x="7861070" y="3476552"/>
            <a:ext cx="263100" cy="305100"/>
          </a:xfrm>
          <a:prstGeom prst="straightConnector1">
            <a:avLst/>
          </a:prstGeom>
          <a:noFill/>
          <a:ln w="19050" cap="flat" cmpd="sng">
            <a:solidFill>
              <a:srgbClr val="FFFFFF"/>
            </a:solidFill>
            <a:prstDash val="solid"/>
            <a:round/>
            <a:headEnd type="none" w="sm" len="sm"/>
            <a:tailEnd type="none" w="sm" len="sm"/>
          </a:ln>
        </p:spPr>
      </p:cxnSp>
      <p:cxnSp>
        <p:nvCxnSpPr>
          <p:cNvPr id="1971" name="Google Shape;1971;p78"/>
          <p:cNvCxnSpPr>
            <a:stCxn id="1957" idx="6"/>
            <a:endCxn id="1972" idx="2"/>
          </p:cNvCxnSpPr>
          <p:nvPr/>
        </p:nvCxnSpPr>
        <p:spPr>
          <a:xfrm>
            <a:off x="7168213" y="1460945"/>
            <a:ext cx="530700" cy="0"/>
          </a:xfrm>
          <a:prstGeom prst="straightConnector1">
            <a:avLst/>
          </a:prstGeom>
          <a:noFill/>
          <a:ln w="19050" cap="flat" cmpd="sng">
            <a:solidFill>
              <a:srgbClr val="FFFFFF"/>
            </a:solidFill>
            <a:prstDash val="solid"/>
            <a:round/>
            <a:headEnd type="none" w="sm" len="sm"/>
            <a:tailEnd type="none" w="sm" len="sm"/>
          </a:ln>
        </p:spPr>
      </p:cxnSp>
      <p:cxnSp>
        <p:nvCxnSpPr>
          <p:cNvPr id="1973" name="Google Shape;1973;p78"/>
          <p:cNvCxnSpPr>
            <a:stCxn id="1974" idx="4"/>
            <a:endCxn id="1975" idx="0"/>
          </p:cNvCxnSpPr>
          <p:nvPr/>
        </p:nvCxnSpPr>
        <p:spPr>
          <a:xfrm flipH="1">
            <a:off x="5922938" y="3684920"/>
            <a:ext cx="146100" cy="258600"/>
          </a:xfrm>
          <a:prstGeom prst="straightConnector1">
            <a:avLst/>
          </a:prstGeom>
          <a:noFill/>
          <a:ln w="19050" cap="flat" cmpd="sng">
            <a:solidFill>
              <a:srgbClr val="FFFFFF"/>
            </a:solidFill>
            <a:prstDash val="solid"/>
            <a:round/>
            <a:headEnd type="none" w="sm" len="sm"/>
            <a:tailEnd type="none" w="sm" len="sm"/>
          </a:ln>
        </p:spPr>
      </p:cxnSp>
      <p:cxnSp>
        <p:nvCxnSpPr>
          <p:cNvPr id="1976" name="Google Shape;1976;p78"/>
          <p:cNvCxnSpPr>
            <a:stCxn id="1975" idx="6"/>
            <a:endCxn id="1977" idx="3"/>
          </p:cNvCxnSpPr>
          <p:nvPr/>
        </p:nvCxnSpPr>
        <p:spPr>
          <a:xfrm rot="10800000" flipH="1">
            <a:off x="6141188" y="4090470"/>
            <a:ext cx="384600" cy="71400"/>
          </a:xfrm>
          <a:prstGeom prst="straightConnector1">
            <a:avLst/>
          </a:prstGeom>
          <a:noFill/>
          <a:ln w="19050" cap="flat" cmpd="sng">
            <a:solidFill>
              <a:srgbClr val="FFFFFF"/>
            </a:solidFill>
            <a:prstDash val="solid"/>
            <a:round/>
            <a:headEnd type="none" w="sm" len="sm"/>
            <a:tailEnd type="none" w="sm" len="sm"/>
          </a:ln>
        </p:spPr>
      </p:cxnSp>
      <p:cxnSp>
        <p:nvCxnSpPr>
          <p:cNvPr id="1978" name="Google Shape;1978;p78"/>
          <p:cNvCxnSpPr>
            <a:stCxn id="1974" idx="5"/>
            <a:endCxn id="1977" idx="1"/>
          </p:cNvCxnSpPr>
          <p:nvPr/>
        </p:nvCxnSpPr>
        <p:spPr>
          <a:xfrm>
            <a:off x="6223470" y="3620952"/>
            <a:ext cx="302400" cy="160800"/>
          </a:xfrm>
          <a:prstGeom prst="straightConnector1">
            <a:avLst/>
          </a:prstGeom>
          <a:noFill/>
          <a:ln w="19050" cap="flat" cmpd="sng">
            <a:solidFill>
              <a:srgbClr val="FFFFFF"/>
            </a:solidFill>
            <a:prstDash val="solid"/>
            <a:round/>
            <a:headEnd type="none" w="sm" len="sm"/>
            <a:tailEnd type="none" w="sm" len="sm"/>
          </a:ln>
        </p:spPr>
      </p:cxnSp>
      <p:sp>
        <p:nvSpPr>
          <p:cNvPr id="1956" name="Google Shape;1956;p78"/>
          <p:cNvSpPr/>
          <p:nvPr/>
        </p:nvSpPr>
        <p:spPr>
          <a:xfrm>
            <a:off x="5776538" y="9723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A</a:t>
            </a:r>
            <a:endParaRPr sz="1400" b="0" i="0" u="none" strike="noStrike" cap="none">
              <a:solidFill>
                <a:srgbClr val="FFFFFF"/>
              </a:solidFill>
              <a:latin typeface="Arial"/>
              <a:ea typeface="Arial"/>
              <a:cs typeface="Arial"/>
              <a:sym typeface="Arial"/>
            </a:endParaRPr>
          </a:p>
        </p:txBody>
      </p:sp>
      <p:sp>
        <p:nvSpPr>
          <p:cNvPr id="1957" name="Google Shape;1957;p78"/>
          <p:cNvSpPr/>
          <p:nvPr/>
        </p:nvSpPr>
        <p:spPr>
          <a:xfrm>
            <a:off x="6731413" y="12425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959" name="Google Shape;1959;p78"/>
          <p:cNvSpPr/>
          <p:nvPr/>
        </p:nvSpPr>
        <p:spPr>
          <a:xfrm>
            <a:off x="5632213" y="19986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sp>
        <p:nvSpPr>
          <p:cNvPr id="1964" name="Google Shape;1964;p78"/>
          <p:cNvSpPr/>
          <p:nvPr/>
        </p:nvSpPr>
        <p:spPr>
          <a:xfrm>
            <a:off x="6461938" y="27694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sp>
        <p:nvSpPr>
          <p:cNvPr id="1961" name="Google Shape;1961;p78"/>
          <p:cNvSpPr/>
          <p:nvPr/>
        </p:nvSpPr>
        <p:spPr>
          <a:xfrm>
            <a:off x="7446288" y="21193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D</a:t>
            </a:r>
            <a:endParaRPr sz="1400" b="0" i="0" u="none" strike="noStrike" cap="none">
              <a:solidFill>
                <a:srgbClr val="FFFFFF"/>
              </a:solidFill>
              <a:latin typeface="Arial"/>
              <a:ea typeface="Arial"/>
              <a:cs typeface="Arial"/>
              <a:sym typeface="Arial"/>
            </a:endParaRPr>
          </a:p>
        </p:txBody>
      </p:sp>
      <p:sp>
        <p:nvSpPr>
          <p:cNvPr id="1967" name="Google Shape;1967;p78"/>
          <p:cNvSpPr/>
          <p:nvPr/>
        </p:nvSpPr>
        <p:spPr>
          <a:xfrm>
            <a:off x="7488238" y="310372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sp>
        <p:nvSpPr>
          <p:cNvPr id="1970" name="Google Shape;1970;p78"/>
          <p:cNvSpPr/>
          <p:nvPr/>
        </p:nvSpPr>
        <p:spPr>
          <a:xfrm>
            <a:off x="8060313" y="37177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sp>
        <p:nvSpPr>
          <p:cNvPr id="1972" name="Google Shape;1972;p78"/>
          <p:cNvSpPr/>
          <p:nvPr/>
        </p:nvSpPr>
        <p:spPr>
          <a:xfrm>
            <a:off x="7699051" y="12425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sp>
        <p:nvSpPr>
          <p:cNvPr id="1977" name="Google Shape;1977;p78"/>
          <p:cNvSpPr/>
          <p:nvPr/>
        </p:nvSpPr>
        <p:spPr>
          <a:xfrm>
            <a:off x="6461938" y="3717745"/>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I</a:t>
            </a:r>
            <a:endParaRPr sz="1400" b="0" i="0" u="none" strike="noStrike" cap="none">
              <a:solidFill>
                <a:srgbClr val="FFFFFF"/>
              </a:solidFill>
              <a:latin typeface="Arial"/>
              <a:ea typeface="Arial"/>
              <a:cs typeface="Arial"/>
              <a:sym typeface="Arial"/>
            </a:endParaRPr>
          </a:p>
        </p:txBody>
      </p:sp>
      <p:sp>
        <p:nvSpPr>
          <p:cNvPr id="1974" name="Google Shape;1974;p78"/>
          <p:cNvSpPr/>
          <p:nvPr/>
        </p:nvSpPr>
        <p:spPr>
          <a:xfrm>
            <a:off x="5850638" y="324812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J</a:t>
            </a:r>
            <a:endParaRPr sz="1400" b="0" i="0" u="none" strike="noStrike" cap="none">
              <a:solidFill>
                <a:srgbClr val="FFFFFF"/>
              </a:solidFill>
              <a:latin typeface="Arial"/>
              <a:ea typeface="Arial"/>
              <a:cs typeface="Arial"/>
              <a:sym typeface="Arial"/>
            </a:endParaRPr>
          </a:p>
        </p:txBody>
      </p:sp>
      <p:sp>
        <p:nvSpPr>
          <p:cNvPr id="1975" name="Google Shape;1975;p78"/>
          <p:cNvSpPr/>
          <p:nvPr/>
        </p:nvSpPr>
        <p:spPr>
          <a:xfrm>
            <a:off x="5704388" y="3943470"/>
            <a:ext cx="436800" cy="4368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K</a:t>
            </a:r>
            <a:endParaRPr sz="14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5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5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5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5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5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5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54"/>
                                        </p:tgtEl>
                                        <p:attrNameLst>
                                          <p:attrName>style.visibility</p:attrName>
                                        </p:attrNameLst>
                                      </p:cBhvr>
                                      <p:to>
                                        <p:strVal val="visible"/>
                                      </p:to>
                                    </p:set>
                                    <p:animEffect transition="in" filter="fade">
                                      <p:cBhvr>
                                        <p:cTn id="39" dur="1000"/>
                                        <p:tgtEl>
                                          <p:spTgt spid="1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982"/>
        <p:cNvGrpSpPr/>
        <p:nvPr/>
      </p:nvGrpSpPr>
      <p:grpSpPr>
        <a:xfrm>
          <a:off x="0" y="0"/>
          <a:ext cx="0" cy="0"/>
          <a:chOff x="0" y="0"/>
          <a:chExt cx="0" cy="0"/>
        </a:xfrm>
      </p:grpSpPr>
      <p:sp>
        <p:nvSpPr>
          <p:cNvPr id="1983" name="Google Shape;1983;p79"/>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DFS Illustrated Example</a:t>
            </a:r>
            <a:endParaRPr/>
          </a:p>
        </p:txBody>
      </p:sp>
      <p:sp>
        <p:nvSpPr>
          <p:cNvPr id="1984" name="Google Shape;1984;p79"/>
          <p:cNvSpPr/>
          <p:nvPr/>
        </p:nvSpPr>
        <p:spPr>
          <a:xfrm>
            <a:off x="3403738" y="1525070"/>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A</a:t>
            </a:r>
            <a:endParaRPr sz="1400" b="0" i="0" u="none" strike="noStrike" cap="none">
              <a:solidFill>
                <a:srgbClr val="FFFFFF"/>
              </a:solidFill>
              <a:latin typeface="Arial"/>
              <a:ea typeface="Arial"/>
              <a:cs typeface="Arial"/>
              <a:sym typeface="Arial"/>
            </a:endParaRPr>
          </a:p>
        </p:txBody>
      </p:sp>
      <p:sp>
        <p:nvSpPr>
          <p:cNvPr id="1985" name="Google Shape;1985;p79"/>
          <p:cNvSpPr/>
          <p:nvPr/>
        </p:nvSpPr>
        <p:spPr>
          <a:xfrm>
            <a:off x="4358613" y="1795245"/>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C</a:t>
            </a:r>
            <a:endParaRPr sz="1400" b="0" i="0" u="none" strike="noStrike" cap="none">
              <a:solidFill>
                <a:srgbClr val="FFFFFF"/>
              </a:solidFill>
              <a:latin typeface="Arial"/>
              <a:ea typeface="Arial"/>
              <a:cs typeface="Arial"/>
              <a:sym typeface="Arial"/>
            </a:endParaRPr>
          </a:p>
        </p:txBody>
      </p:sp>
      <p:sp>
        <p:nvSpPr>
          <p:cNvPr id="1986" name="Google Shape;1986;p79"/>
          <p:cNvSpPr/>
          <p:nvPr/>
        </p:nvSpPr>
        <p:spPr>
          <a:xfrm>
            <a:off x="3259413" y="2551345"/>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B</a:t>
            </a:r>
            <a:endParaRPr sz="1400" b="0" i="0" u="none" strike="noStrike" cap="none">
              <a:solidFill>
                <a:srgbClr val="FFFFFF"/>
              </a:solidFill>
              <a:latin typeface="Arial"/>
              <a:ea typeface="Arial"/>
              <a:cs typeface="Arial"/>
              <a:sym typeface="Arial"/>
            </a:endParaRPr>
          </a:p>
        </p:txBody>
      </p:sp>
      <p:sp>
        <p:nvSpPr>
          <p:cNvPr id="1987" name="Google Shape;1987;p79"/>
          <p:cNvSpPr/>
          <p:nvPr/>
        </p:nvSpPr>
        <p:spPr>
          <a:xfrm>
            <a:off x="4089138" y="3322170"/>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H</a:t>
            </a:r>
            <a:endParaRPr sz="1400" b="0" i="0" u="none" strike="noStrike" cap="none">
              <a:solidFill>
                <a:srgbClr val="FFFFFF"/>
              </a:solidFill>
              <a:latin typeface="Arial"/>
              <a:ea typeface="Arial"/>
              <a:cs typeface="Arial"/>
              <a:sym typeface="Arial"/>
            </a:endParaRPr>
          </a:p>
        </p:txBody>
      </p:sp>
      <p:sp>
        <p:nvSpPr>
          <p:cNvPr id="1988" name="Google Shape;1988;p79"/>
          <p:cNvSpPr/>
          <p:nvPr/>
        </p:nvSpPr>
        <p:spPr>
          <a:xfrm>
            <a:off x="5073488" y="2672070"/>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D</a:t>
            </a:r>
            <a:endParaRPr sz="1400" b="0" i="0" u="none" strike="noStrike" cap="none">
              <a:solidFill>
                <a:srgbClr val="FFFFFF"/>
              </a:solidFill>
              <a:latin typeface="Arial"/>
              <a:ea typeface="Arial"/>
              <a:cs typeface="Arial"/>
              <a:sym typeface="Arial"/>
            </a:endParaRPr>
          </a:p>
        </p:txBody>
      </p:sp>
      <p:sp>
        <p:nvSpPr>
          <p:cNvPr id="1989" name="Google Shape;1989;p79"/>
          <p:cNvSpPr/>
          <p:nvPr/>
        </p:nvSpPr>
        <p:spPr>
          <a:xfrm>
            <a:off x="5115438" y="3656420"/>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F</a:t>
            </a:r>
            <a:endParaRPr sz="1400" b="0" i="0" u="none" strike="noStrike" cap="none">
              <a:solidFill>
                <a:srgbClr val="FFFFFF"/>
              </a:solidFill>
              <a:latin typeface="Arial"/>
              <a:ea typeface="Arial"/>
              <a:cs typeface="Arial"/>
              <a:sym typeface="Arial"/>
            </a:endParaRPr>
          </a:p>
        </p:txBody>
      </p:sp>
      <p:cxnSp>
        <p:nvCxnSpPr>
          <p:cNvPr id="1990" name="Google Shape;1990;p79"/>
          <p:cNvCxnSpPr>
            <a:stCxn id="1984" idx="6"/>
            <a:endCxn id="1985" idx="1"/>
          </p:cNvCxnSpPr>
          <p:nvPr/>
        </p:nvCxnSpPr>
        <p:spPr>
          <a:xfrm>
            <a:off x="3840538" y="1743470"/>
            <a:ext cx="582000" cy="115800"/>
          </a:xfrm>
          <a:prstGeom prst="straightConnector1">
            <a:avLst/>
          </a:prstGeom>
          <a:noFill/>
          <a:ln w="19050" cap="flat" cmpd="sng">
            <a:solidFill>
              <a:srgbClr val="000000"/>
            </a:solidFill>
            <a:prstDash val="solid"/>
            <a:round/>
            <a:headEnd type="none" w="sm" len="sm"/>
            <a:tailEnd type="none" w="sm" len="sm"/>
          </a:ln>
        </p:spPr>
      </p:cxnSp>
      <p:cxnSp>
        <p:nvCxnSpPr>
          <p:cNvPr id="1991" name="Google Shape;1991;p79"/>
          <p:cNvCxnSpPr>
            <a:stCxn id="1984" idx="4"/>
            <a:endCxn id="1986" idx="0"/>
          </p:cNvCxnSpPr>
          <p:nvPr/>
        </p:nvCxnSpPr>
        <p:spPr>
          <a:xfrm flipH="1">
            <a:off x="3477838" y="1961870"/>
            <a:ext cx="144300" cy="589500"/>
          </a:xfrm>
          <a:prstGeom prst="straightConnector1">
            <a:avLst/>
          </a:prstGeom>
          <a:noFill/>
          <a:ln w="19050" cap="flat" cmpd="sng">
            <a:solidFill>
              <a:srgbClr val="000000"/>
            </a:solidFill>
            <a:prstDash val="solid"/>
            <a:round/>
            <a:headEnd type="none" w="sm" len="sm"/>
            <a:tailEnd type="none" w="sm" len="sm"/>
          </a:ln>
        </p:spPr>
      </p:cxnSp>
      <p:cxnSp>
        <p:nvCxnSpPr>
          <p:cNvPr id="1992" name="Google Shape;1992;p79"/>
          <p:cNvCxnSpPr>
            <a:stCxn id="1985" idx="5"/>
            <a:endCxn id="1988" idx="1"/>
          </p:cNvCxnSpPr>
          <p:nvPr/>
        </p:nvCxnSpPr>
        <p:spPr>
          <a:xfrm>
            <a:off x="4731445" y="2168077"/>
            <a:ext cx="405900" cy="567900"/>
          </a:xfrm>
          <a:prstGeom prst="straightConnector1">
            <a:avLst/>
          </a:prstGeom>
          <a:noFill/>
          <a:ln w="19050" cap="flat" cmpd="sng">
            <a:solidFill>
              <a:srgbClr val="000000"/>
            </a:solidFill>
            <a:prstDash val="solid"/>
            <a:round/>
            <a:headEnd type="none" w="sm" len="sm"/>
            <a:tailEnd type="none" w="sm" len="sm"/>
          </a:ln>
        </p:spPr>
      </p:cxnSp>
      <p:cxnSp>
        <p:nvCxnSpPr>
          <p:cNvPr id="1993" name="Google Shape;1993;p79"/>
          <p:cNvCxnSpPr>
            <a:stCxn id="1986" idx="6"/>
            <a:endCxn id="1988" idx="2"/>
          </p:cNvCxnSpPr>
          <p:nvPr/>
        </p:nvCxnSpPr>
        <p:spPr>
          <a:xfrm>
            <a:off x="3696213" y="2769745"/>
            <a:ext cx="1377300" cy="120600"/>
          </a:xfrm>
          <a:prstGeom prst="straightConnector1">
            <a:avLst/>
          </a:prstGeom>
          <a:noFill/>
          <a:ln w="19050" cap="flat" cmpd="sng">
            <a:solidFill>
              <a:srgbClr val="000000"/>
            </a:solidFill>
            <a:prstDash val="solid"/>
            <a:round/>
            <a:headEnd type="none" w="sm" len="sm"/>
            <a:tailEnd type="none" w="sm" len="sm"/>
          </a:ln>
        </p:spPr>
      </p:cxnSp>
      <p:cxnSp>
        <p:nvCxnSpPr>
          <p:cNvPr id="1994" name="Google Shape;1994;p79"/>
          <p:cNvCxnSpPr>
            <a:stCxn id="1985" idx="3"/>
            <a:endCxn id="1987" idx="0"/>
          </p:cNvCxnSpPr>
          <p:nvPr/>
        </p:nvCxnSpPr>
        <p:spPr>
          <a:xfrm flipH="1">
            <a:off x="4307681" y="2168077"/>
            <a:ext cx="114900" cy="1154100"/>
          </a:xfrm>
          <a:prstGeom prst="straightConnector1">
            <a:avLst/>
          </a:prstGeom>
          <a:noFill/>
          <a:ln w="19050" cap="flat" cmpd="sng">
            <a:solidFill>
              <a:srgbClr val="000000"/>
            </a:solidFill>
            <a:prstDash val="solid"/>
            <a:round/>
            <a:headEnd type="none" w="sm" len="sm"/>
            <a:tailEnd type="none" w="sm" len="sm"/>
          </a:ln>
        </p:spPr>
      </p:cxnSp>
      <p:cxnSp>
        <p:nvCxnSpPr>
          <p:cNvPr id="1995" name="Google Shape;1995;p79"/>
          <p:cNvCxnSpPr>
            <a:stCxn id="1986" idx="5"/>
            <a:endCxn id="1987" idx="1"/>
          </p:cNvCxnSpPr>
          <p:nvPr/>
        </p:nvCxnSpPr>
        <p:spPr>
          <a:xfrm>
            <a:off x="3632245" y="2924177"/>
            <a:ext cx="520800" cy="462000"/>
          </a:xfrm>
          <a:prstGeom prst="straightConnector1">
            <a:avLst/>
          </a:prstGeom>
          <a:noFill/>
          <a:ln w="19050" cap="flat" cmpd="sng">
            <a:solidFill>
              <a:srgbClr val="000000"/>
            </a:solidFill>
            <a:prstDash val="solid"/>
            <a:round/>
            <a:headEnd type="none" w="sm" len="sm"/>
            <a:tailEnd type="none" w="sm" len="sm"/>
          </a:ln>
        </p:spPr>
      </p:cxnSp>
      <p:cxnSp>
        <p:nvCxnSpPr>
          <p:cNvPr id="1996" name="Google Shape;1996;p79"/>
          <p:cNvCxnSpPr>
            <a:stCxn id="1987" idx="5"/>
            <a:endCxn id="1989" idx="2"/>
          </p:cNvCxnSpPr>
          <p:nvPr/>
        </p:nvCxnSpPr>
        <p:spPr>
          <a:xfrm>
            <a:off x="4461970" y="3695002"/>
            <a:ext cx="653400" cy="179700"/>
          </a:xfrm>
          <a:prstGeom prst="straightConnector1">
            <a:avLst/>
          </a:prstGeom>
          <a:noFill/>
          <a:ln w="19050" cap="flat" cmpd="sng">
            <a:solidFill>
              <a:srgbClr val="000000"/>
            </a:solidFill>
            <a:prstDash val="solid"/>
            <a:round/>
            <a:headEnd type="none" w="sm" len="sm"/>
            <a:tailEnd type="none" w="sm" len="sm"/>
          </a:ln>
        </p:spPr>
      </p:cxnSp>
      <p:cxnSp>
        <p:nvCxnSpPr>
          <p:cNvPr id="1997" name="Google Shape;1997;p79"/>
          <p:cNvCxnSpPr>
            <a:stCxn id="1988" idx="4"/>
            <a:endCxn id="1989" idx="0"/>
          </p:cNvCxnSpPr>
          <p:nvPr/>
        </p:nvCxnSpPr>
        <p:spPr>
          <a:xfrm>
            <a:off x="5291888" y="3108870"/>
            <a:ext cx="42000" cy="547500"/>
          </a:xfrm>
          <a:prstGeom prst="straightConnector1">
            <a:avLst/>
          </a:prstGeom>
          <a:noFill/>
          <a:ln w="19050" cap="flat" cmpd="sng">
            <a:solidFill>
              <a:srgbClr val="000000"/>
            </a:solidFill>
            <a:prstDash val="solid"/>
            <a:round/>
            <a:headEnd type="none" w="sm" len="sm"/>
            <a:tailEnd type="none" w="sm" len="sm"/>
          </a:ln>
        </p:spPr>
      </p:cxnSp>
      <p:sp>
        <p:nvSpPr>
          <p:cNvPr id="1998" name="Google Shape;1998;p79"/>
          <p:cNvSpPr/>
          <p:nvPr/>
        </p:nvSpPr>
        <p:spPr>
          <a:xfrm>
            <a:off x="5687513" y="4270445"/>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G</a:t>
            </a:r>
            <a:endParaRPr sz="1400" b="0" i="0" u="none" strike="noStrike" cap="none">
              <a:solidFill>
                <a:srgbClr val="FFFFFF"/>
              </a:solidFill>
              <a:latin typeface="Arial"/>
              <a:ea typeface="Arial"/>
              <a:cs typeface="Arial"/>
              <a:sym typeface="Arial"/>
            </a:endParaRPr>
          </a:p>
        </p:txBody>
      </p:sp>
      <p:cxnSp>
        <p:nvCxnSpPr>
          <p:cNvPr id="1999" name="Google Shape;1999;p79"/>
          <p:cNvCxnSpPr>
            <a:stCxn id="1989" idx="5"/>
            <a:endCxn id="1998" idx="1"/>
          </p:cNvCxnSpPr>
          <p:nvPr/>
        </p:nvCxnSpPr>
        <p:spPr>
          <a:xfrm>
            <a:off x="5488270" y="4029252"/>
            <a:ext cx="263100" cy="305100"/>
          </a:xfrm>
          <a:prstGeom prst="straightConnector1">
            <a:avLst/>
          </a:prstGeom>
          <a:noFill/>
          <a:ln w="19050" cap="flat" cmpd="sng">
            <a:solidFill>
              <a:srgbClr val="000000"/>
            </a:solidFill>
            <a:prstDash val="solid"/>
            <a:round/>
            <a:headEnd type="none" w="sm" len="sm"/>
            <a:tailEnd type="none" w="sm" len="sm"/>
          </a:ln>
        </p:spPr>
      </p:cxnSp>
      <p:sp>
        <p:nvSpPr>
          <p:cNvPr id="2000" name="Google Shape;2000;p79"/>
          <p:cNvSpPr/>
          <p:nvPr/>
        </p:nvSpPr>
        <p:spPr>
          <a:xfrm>
            <a:off x="5326251" y="1795245"/>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E</a:t>
            </a:r>
            <a:endParaRPr sz="1400" b="0" i="0" u="none" strike="noStrike" cap="none">
              <a:solidFill>
                <a:srgbClr val="FFFFFF"/>
              </a:solidFill>
              <a:latin typeface="Arial"/>
              <a:ea typeface="Arial"/>
              <a:cs typeface="Arial"/>
              <a:sym typeface="Arial"/>
            </a:endParaRPr>
          </a:p>
        </p:txBody>
      </p:sp>
      <p:cxnSp>
        <p:nvCxnSpPr>
          <p:cNvPr id="2001" name="Google Shape;2001;p79"/>
          <p:cNvCxnSpPr>
            <a:stCxn id="1985" idx="6"/>
            <a:endCxn id="2000" idx="2"/>
          </p:cNvCxnSpPr>
          <p:nvPr/>
        </p:nvCxnSpPr>
        <p:spPr>
          <a:xfrm>
            <a:off x="4795413" y="2013645"/>
            <a:ext cx="530700" cy="0"/>
          </a:xfrm>
          <a:prstGeom prst="straightConnector1">
            <a:avLst/>
          </a:prstGeom>
          <a:noFill/>
          <a:ln w="19050" cap="flat" cmpd="sng">
            <a:solidFill>
              <a:srgbClr val="000000"/>
            </a:solidFill>
            <a:prstDash val="solid"/>
            <a:round/>
            <a:headEnd type="none" w="sm" len="sm"/>
            <a:tailEnd type="none" w="sm" len="sm"/>
          </a:ln>
        </p:spPr>
      </p:cxnSp>
      <p:sp>
        <p:nvSpPr>
          <p:cNvPr id="2002" name="Google Shape;2002;p79"/>
          <p:cNvSpPr/>
          <p:nvPr/>
        </p:nvSpPr>
        <p:spPr>
          <a:xfrm>
            <a:off x="4089138" y="4270445"/>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I</a:t>
            </a:r>
            <a:endParaRPr sz="1400" b="0" i="0" u="none" strike="noStrike" cap="none">
              <a:solidFill>
                <a:srgbClr val="FFFFFF"/>
              </a:solidFill>
              <a:latin typeface="Arial"/>
              <a:ea typeface="Arial"/>
              <a:cs typeface="Arial"/>
              <a:sym typeface="Arial"/>
            </a:endParaRPr>
          </a:p>
        </p:txBody>
      </p:sp>
      <p:sp>
        <p:nvSpPr>
          <p:cNvPr id="2003" name="Google Shape;2003;p79"/>
          <p:cNvSpPr/>
          <p:nvPr/>
        </p:nvSpPr>
        <p:spPr>
          <a:xfrm>
            <a:off x="3477838" y="3800820"/>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J</a:t>
            </a:r>
            <a:endParaRPr sz="1400" b="0" i="0" u="none" strike="noStrike" cap="none">
              <a:solidFill>
                <a:srgbClr val="FFFFFF"/>
              </a:solidFill>
              <a:latin typeface="Arial"/>
              <a:ea typeface="Arial"/>
              <a:cs typeface="Arial"/>
              <a:sym typeface="Arial"/>
            </a:endParaRPr>
          </a:p>
        </p:txBody>
      </p:sp>
      <p:sp>
        <p:nvSpPr>
          <p:cNvPr id="2004" name="Google Shape;2004;p79"/>
          <p:cNvSpPr/>
          <p:nvPr/>
        </p:nvSpPr>
        <p:spPr>
          <a:xfrm>
            <a:off x="3331588" y="4496170"/>
            <a:ext cx="436800" cy="4368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K</a:t>
            </a:r>
            <a:endParaRPr sz="1400" b="0" i="0" u="none" strike="noStrike" cap="none">
              <a:solidFill>
                <a:srgbClr val="FFFFFF"/>
              </a:solidFill>
              <a:latin typeface="Arial"/>
              <a:ea typeface="Arial"/>
              <a:cs typeface="Arial"/>
              <a:sym typeface="Arial"/>
            </a:endParaRPr>
          </a:p>
        </p:txBody>
      </p:sp>
      <p:cxnSp>
        <p:nvCxnSpPr>
          <p:cNvPr id="2005" name="Google Shape;2005;p79"/>
          <p:cNvCxnSpPr>
            <a:stCxn id="2003" idx="4"/>
            <a:endCxn id="2004" idx="0"/>
          </p:cNvCxnSpPr>
          <p:nvPr/>
        </p:nvCxnSpPr>
        <p:spPr>
          <a:xfrm flipH="1">
            <a:off x="3550138" y="4237620"/>
            <a:ext cx="146100" cy="258600"/>
          </a:xfrm>
          <a:prstGeom prst="straightConnector1">
            <a:avLst/>
          </a:prstGeom>
          <a:noFill/>
          <a:ln w="19050" cap="flat" cmpd="sng">
            <a:solidFill>
              <a:srgbClr val="000000"/>
            </a:solidFill>
            <a:prstDash val="solid"/>
            <a:round/>
            <a:headEnd type="none" w="sm" len="sm"/>
            <a:tailEnd type="none" w="sm" len="sm"/>
          </a:ln>
        </p:spPr>
      </p:cxnSp>
      <p:cxnSp>
        <p:nvCxnSpPr>
          <p:cNvPr id="2006" name="Google Shape;2006;p79"/>
          <p:cNvCxnSpPr>
            <a:stCxn id="2004" idx="6"/>
            <a:endCxn id="2002" idx="3"/>
          </p:cNvCxnSpPr>
          <p:nvPr/>
        </p:nvCxnSpPr>
        <p:spPr>
          <a:xfrm rot="10800000" flipH="1">
            <a:off x="3768388" y="4643170"/>
            <a:ext cx="384600" cy="71400"/>
          </a:xfrm>
          <a:prstGeom prst="straightConnector1">
            <a:avLst/>
          </a:prstGeom>
          <a:noFill/>
          <a:ln w="19050" cap="flat" cmpd="sng">
            <a:solidFill>
              <a:srgbClr val="000000"/>
            </a:solidFill>
            <a:prstDash val="solid"/>
            <a:round/>
            <a:headEnd type="none" w="sm" len="sm"/>
            <a:tailEnd type="none" w="sm" len="sm"/>
          </a:ln>
        </p:spPr>
      </p:cxnSp>
      <p:cxnSp>
        <p:nvCxnSpPr>
          <p:cNvPr id="2007" name="Google Shape;2007;p79"/>
          <p:cNvCxnSpPr>
            <a:stCxn id="2003" idx="5"/>
            <a:endCxn id="2002" idx="1"/>
          </p:cNvCxnSpPr>
          <p:nvPr/>
        </p:nvCxnSpPr>
        <p:spPr>
          <a:xfrm>
            <a:off x="3850670" y="4173652"/>
            <a:ext cx="302400" cy="160800"/>
          </a:xfrm>
          <a:prstGeom prst="straightConnector1">
            <a:avLst/>
          </a:prstGeom>
          <a:noFill/>
          <a:ln w="19050" cap="flat" cmpd="sng">
            <a:solidFill>
              <a:srgbClr val="000000"/>
            </a:solidFill>
            <a:prstDash val="solid"/>
            <a:round/>
            <a:headEnd type="none" w="sm" len="sm"/>
            <a:tailEnd type="none" w="sm" len="sm"/>
          </a:ln>
        </p:spPr>
      </p:cxnSp>
      <p:sp>
        <p:nvSpPr>
          <p:cNvPr id="2008" name="Google Shape;2008;p7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46</a:t>
            </a:fld>
            <a:endParaRPr/>
          </a:p>
        </p:txBody>
      </p:sp>
      <p:cxnSp>
        <p:nvCxnSpPr>
          <p:cNvPr id="2009" name="Google Shape;2009;p79"/>
          <p:cNvCxnSpPr>
            <a:stCxn id="1984" idx="2"/>
            <a:endCxn id="1986" idx="2"/>
          </p:cNvCxnSpPr>
          <p:nvPr/>
        </p:nvCxnSpPr>
        <p:spPr>
          <a:xfrm flipH="1">
            <a:off x="3259438" y="1743470"/>
            <a:ext cx="144300" cy="1026300"/>
          </a:xfrm>
          <a:prstGeom prst="curvedConnector3">
            <a:avLst>
              <a:gd name="adj1" fmla="val 265038"/>
            </a:avLst>
          </a:prstGeom>
          <a:noFill/>
          <a:ln w="28575" cap="flat" cmpd="sng">
            <a:solidFill>
              <a:srgbClr val="FF0000"/>
            </a:solidFill>
            <a:prstDash val="solid"/>
            <a:round/>
            <a:headEnd type="none" w="sm" len="sm"/>
            <a:tailEnd type="triangle" w="med" len="med"/>
          </a:ln>
        </p:spPr>
      </p:cxnSp>
      <p:cxnSp>
        <p:nvCxnSpPr>
          <p:cNvPr id="2010" name="Google Shape;2010;p79"/>
          <p:cNvCxnSpPr>
            <a:stCxn id="1986" idx="7"/>
            <a:endCxn id="1988" idx="1"/>
          </p:cNvCxnSpPr>
          <p:nvPr/>
        </p:nvCxnSpPr>
        <p:spPr>
          <a:xfrm rot="-5400000" flipH="1">
            <a:off x="4324495" y="1923063"/>
            <a:ext cx="120600" cy="1505100"/>
          </a:xfrm>
          <a:prstGeom prst="curvedConnector3">
            <a:avLst>
              <a:gd name="adj1" fmla="val -250492"/>
            </a:avLst>
          </a:prstGeom>
          <a:noFill/>
          <a:ln w="28575" cap="flat" cmpd="sng">
            <a:solidFill>
              <a:srgbClr val="FF0000"/>
            </a:solidFill>
            <a:prstDash val="solid"/>
            <a:round/>
            <a:headEnd type="none" w="sm" len="sm"/>
            <a:tailEnd type="triangle" w="med" len="med"/>
          </a:ln>
        </p:spPr>
      </p:cxnSp>
      <p:cxnSp>
        <p:nvCxnSpPr>
          <p:cNvPr id="2011" name="Google Shape;2011;p79"/>
          <p:cNvCxnSpPr>
            <a:stCxn id="1988" idx="0"/>
            <a:endCxn id="1985" idx="6"/>
          </p:cNvCxnSpPr>
          <p:nvPr/>
        </p:nvCxnSpPr>
        <p:spPr>
          <a:xfrm rot="5400000" flipH="1">
            <a:off x="4714388" y="2094570"/>
            <a:ext cx="658500" cy="496500"/>
          </a:xfrm>
          <a:prstGeom prst="curvedConnector2">
            <a:avLst/>
          </a:prstGeom>
          <a:noFill/>
          <a:ln w="28575" cap="flat" cmpd="sng">
            <a:solidFill>
              <a:srgbClr val="FF0000"/>
            </a:solidFill>
            <a:prstDash val="solid"/>
            <a:round/>
            <a:headEnd type="none" w="sm" len="sm"/>
            <a:tailEnd type="triangle" w="med" len="med"/>
          </a:ln>
        </p:spPr>
      </p:cxnSp>
      <p:cxnSp>
        <p:nvCxnSpPr>
          <p:cNvPr id="2012" name="Google Shape;2012;p79"/>
          <p:cNvCxnSpPr>
            <a:stCxn id="1985" idx="7"/>
            <a:endCxn id="2000" idx="1"/>
          </p:cNvCxnSpPr>
          <p:nvPr/>
        </p:nvCxnSpPr>
        <p:spPr>
          <a:xfrm rot="-5400000" flipH="1">
            <a:off x="5060545" y="1530113"/>
            <a:ext cx="600" cy="658800"/>
          </a:xfrm>
          <a:prstGeom prst="curvedConnector3">
            <a:avLst>
              <a:gd name="adj1" fmla="val -50348773"/>
            </a:avLst>
          </a:prstGeom>
          <a:noFill/>
          <a:ln w="28575" cap="flat" cmpd="sng">
            <a:solidFill>
              <a:srgbClr val="FF0000"/>
            </a:solidFill>
            <a:prstDash val="solid"/>
            <a:round/>
            <a:headEnd type="none" w="sm" len="sm"/>
            <a:tailEnd type="triangle" w="med" len="med"/>
          </a:ln>
        </p:spPr>
      </p:cxnSp>
      <p:sp>
        <p:nvSpPr>
          <p:cNvPr id="2013" name="Google Shape;2013;p79"/>
          <p:cNvSpPr/>
          <p:nvPr/>
        </p:nvSpPr>
        <p:spPr>
          <a:xfrm>
            <a:off x="5296395" y="1765400"/>
            <a:ext cx="496500" cy="496500"/>
          </a:xfrm>
          <a:prstGeom prst="mathMultiply">
            <a:avLst>
              <a:gd name="adj1" fmla="val 11384"/>
            </a:avLst>
          </a:prstGeom>
          <a:solidFill>
            <a:srgbClr val="FF0000"/>
          </a:solidFill>
          <a:ln w="19050"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14" name="Google Shape;2014;p79"/>
          <p:cNvCxnSpPr>
            <a:stCxn id="2000" idx="0"/>
            <a:endCxn id="1985" idx="0"/>
          </p:cNvCxnSpPr>
          <p:nvPr/>
        </p:nvCxnSpPr>
        <p:spPr>
          <a:xfrm rot="5400000">
            <a:off x="5060601" y="1311795"/>
            <a:ext cx="600" cy="967500"/>
          </a:xfrm>
          <a:prstGeom prst="curvedConnector3">
            <a:avLst>
              <a:gd name="adj1" fmla="val -70678285"/>
            </a:avLst>
          </a:prstGeom>
          <a:noFill/>
          <a:ln w="28575" cap="flat" cmpd="sng">
            <a:solidFill>
              <a:srgbClr val="FF0000"/>
            </a:solidFill>
            <a:prstDash val="solid"/>
            <a:round/>
            <a:headEnd type="none" w="sm" len="sm"/>
            <a:tailEnd type="triangle" w="med" len="med"/>
          </a:ln>
        </p:spPr>
      </p:cxnSp>
      <p:cxnSp>
        <p:nvCxnSpPr>
          <p:cNvPr id="2015" name="Google Shape;2015;p79"/>
          <p:cNvCxnSpPr>
            <a:stCxn id="1985" idx="2"/>
            <a:endCxn id="1987" idx="2"/>
          </p:cNvCxnSpPr>
          <p:nvPr/>
        </p:nvCxnSpPr>
        <p:spPr>
          <a:xfrm flipH="1">
            <a:off x="4089213" y="2013645"/>
            <a:ext cx="269400" cy="1527000"/>
          </a:xfrm>
          <a:prstGeom prst="curvedConnector3">
            <a:avLst>
              <a:gd name="adj1" fmla="val 188419"/>
            </a:avLst>
          </a:prstGeom>
          <a:noFill/>
          <a:ln w="28575" cap="flat" cmpd="sng">
            <a:solidFill>
              <a:srgbClr val="FF0000"/>
            </a:solidFill>
            <a:prstDash val="solid"/>
            <a:round/>
            <a:headEnd type="none" w="sm" len="sm"/>
            <a:tailEnd type="triangle" w="med" len="med"/>
          </a:ln>
        </p:spPr>
      </p:cxnSp>
      <p:cxnSp>
        <p:nvCxnSpPr>
          <p:cNvPr id="2016" name="Google Shape;2016;p79"/>
          <p:cNvCxnSpPr>
            <a:stCxn id="1987" idx="4"/>
            <a:endCxn id="1989" idx="3"/>
          </p:cNvCxnSpPr>
          <p:nvPr/>
        </p:nvCxnSpPr>
        <p:spPr>
          <a:xfrm rot="-5400000" flipH="1">
            <a:off x="4608288" y="3458220"/>
            <a:ext cx="270300" cy="871800"/>
          </a:xfrm>
          <a:prstGeom prst="curvedConnector3">
            <a:avLst>
              <a:gd name="adj1" fmla="val 211755"/>
            </a:avLst>
          </a:prstGeom>
          <a:noFill/>
          <a:ln w="28575" cap="flat" cmpd="sng">
            <a:solidFill>
              <a:srgbClr val="FF0000"/>
            </a:solidFill>
            <a:prstDash val="solid"/>
            <a:round/>
            <a:headEnd type="none" w="sm" len="sm"/>
            <a:tailEnd type="triangle" w="med" len="med"/>
          </a:ln>
        </p:spPr>
      </p:cxnSp>
      <p:cxnSp>
        <p:nvCxnSpPr>
          <p:cNvPr id="2017" name="Google Shape;2017;p79"/>
          <p:cNvCxnSpPr>
            <a:stCxn id="1989" idx="6"/>
            <a:endCxn id="1998" idx="7"/>
          </p:cNvCxnSpPr>
          <p:nvPr/>
        </p:nvCxnSpPr>
        <p:spPr>
          <a:xfrm>
            <a:off x="5552238" y="3874820"/>
            <a:ext cx="508200" cy="459600"/>
          </a:xfrm>
          <a:prstGeom prst="curvedConnector2">
            <a:avLst/>
          </a:prstGeom>
          <a:noFill/>
          <a:ln w="28575" cap="flat" cmpd="sng">
            <a:solidFill>
              <a:srgbClr val="FF0000"/>
            </a:solidFill>
            <a:prstDash val="solid"/>
            <a:round/>
            <a:headEnd type="none" w="sm" len="sm"/>
            <a:tailEnd type="triangle" w="med" len="med"/>
          </a:ln>
        </p:spPr>
      </p:cxnSp>
      <p:sp>
        <p:nvSpPr>
          <p:cNvPr id="2018" name="Google Shape;2018;p79"/>
          <p:cNvSpPr txBox="1"/>
          <p:nvPr/>
        </p:nvSpPr>
        <p:spPr>
          <a:xfrm>
            <a:off x="225100" y="1581900"/>
            <a:ext cx="2660700" cy="848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As with BFS, when practicing </a:t>
            </a:r>
            <a:r>
              <a:rPr lang="en" sz="1200" b="1" i="1" u="none" strike="noStrike" cap="none">
                <a:solidFill>
                  <a:srgbClr val="FF0000"/>
                </a:solidFill>
                <a:latin typeface="Arial"/>
                <a:ea typeface="Arial"/>
                <a:cs typeface="Arial"/>
                <a:sym typeface="Arial"/>
              </a:rPr>
              <a:t>depth-first search</a:t>
            </a:r>
            <a:r>
              <a:rPr lang="en" sz="1200" b="1" i="1" u="none" strike="noStrike" cap="none">
                <a:solidFill>
                  <a:srgbClr val="00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we will always visit neighbors in </a:t>
            </a:r>
            <a:r>
              <a:rPr lang="en" sz="1200" b="1" i="1" u="none" strike="noStrike" cap="none">
                <a:solidFill>
                  <a:srgbClr val="FF0000"/>
                </a:solidFill>
                <a:latin typeface="Arial"/>
                <a:ea typeface="Arial"/>
                <a:cs typeface="Arial"/>
                <a:sym typeface="Arial"/>
              </a:rPr>
              <a:t>alphabetical order</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2019" name="Google Shape;2019;p79"/>
          <p:cNvSpPr txBox="1"/>
          <p:nvPr/>
        </p:nvSpPr>
        <p:spPr>
          <a:xfrm>
            <a:off x="6238034" y="2598225"/>
            <a:ext cx="2660700" cy="848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Like BFS, DFS also uses a </a:t>
            </a:r>
            <a:r>
              <a:rPr lang="en" sz="1200" b="1" i="1" u="none" strike="noStrike" cap="none">
                <a:solidFill>
                  <a:srgbClr val="FF0000"/>
                </a:solidFill>
                <a:latin typeface="Arial"/>
                <a:ea typeface="Arial"/>
                <a:cs typeface="Arial"/>
                <a:sym typeface="Arial"/>
              </a:rPr>
              <a:t>set</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to keep track of </a:t>
            </a:r>
            <a:r>
              <a:rPr lang="en" sz="1200" b="1" i="1" u="none" strike="noStrike" cap="none">
                <a:solidFill>
                  <a:srgbClr val="FF0000"/>
                </a:solidFill>
                <a:latin typeface="Arial"/>
                <a:ea typeface="Arial"/>
                <a:cs typeface="Arial"/>
                <a:sym typeface="Arial"/>
              </a:rPr>
              <a:t>previously visited vertices</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so that we avoid getting trapped in cycles.</a:t>
            </a:r>
            <a:endParaRPr sz="1200" b="0" i="0" u="none" strike="noStrike" cap="none">
              <a:solidFill>
                <a:srgbClr val="000000"/>
              </a:solidFill>
              <a:latin typeface="Arial"/>
              <a:ea typeface="Arial"/>
              <a:cs typeface="Arial"/>
              <a:sym typeface="Arial"/>
            </a:endParaRPr>
          </a:p>
        </p:txBody>
      </p:sp>
      <p:sp>
        <p:nvSpPr>
          <p:cNvPr id="2020" name="Google Shape;2020;p79"/>
          <p:cNvSpPr txBox="1"/>
          <p:nvPr/>
        </p:nvSpPr>
        <p:spPr>
          <a:xfrm>
            <a:off x="225100" y="2598224"/>
            <a:ext cx="2660700" cy="705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Rather than search </a:t>
            </a:r>
            <a:r>
              <a:rPr lang="en" sz="1200" b="1" i="1" u="none" strike="noStrike" cap="none">
                <a:solidFill>
                  <a:srgbClr val="FF0000"/>
                </a:solidFill>
                <a:latin typeface="Arial"/>
                <a:ea typeface="Arial"/>
                <a:cs typeface="Arial"/>
                <a:sym typeface="Arial"/>
              </a:rPr>
              <a:t>all</a:t>
            </a:r>
            <a:r>
              <a:rPr lang="en" sz="1200" b="1"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of the neighbors of vertex </a:t>
            </a:r>
            <a:r>
              <a:rPr lang="en" sz="1200" b="1" i="1" u="none" strike="noStrike" cap="none">
                <a:solidFill>
                  <a:srgbClr val="FF0000"/>
                </a:solidFill>
                <a:latin typeface="Arial"/>
                <a:ea typeface="Arial"/>
                <a:cs typeface="Arial"/>
                <a:sym typeface="Arial"/>
              </a:rPr>
              <a:t>A</a:t>
            </a:r>
            <a:r>
              <a:rPr lang="en" sz="1200" b="0" i="0" u="none" strike="noStrike" cap="none">
                <a:solidFill>
                  <a:srgbClr val="000000"/>
                </a:solidFill>
                <a:latin typeface="Arial"/>
                <a:ea typeface="Arial"/>
                <a:cs typeface="Arial"/>
                <a:sym typeface="Arial"/>
              </a:rPr>
              <a:t>, DFS will explore </a:t>
            </a:r>
            <a:r>
              <a:rPr lang="en" sz="1200" b="1" i="1" u="none" strike="noStrike" cap="none">
                <a:solidFill>
                  <a:srgbClr val="FF0000"/>
                </a:solidFill>
                <a:latin typeface="Arial"/>
                <a:ea typeface="Arial"/>
                <a:cs typeface="Arial"/>
                <a:sym typeface="Arial"/>
              </a:rPr>
              <a:t>deeper</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into the graph.</a:t>
            </a:r>
            <a:endParaRPr sz="1200" b="0" i="0" u="none" strike="noStrike" cap="none">
              <a:solidFill>
                <a:srgbClr val="000000"/>
              </a:solidFill>
              <a:latin typeface="Arial"/>
              <a:ea typeface="Arial"/>
              <a:cs typeface="Arial"/>
              <a:sym typeface="Arial"/>
            </a:endParaRPr>
          </a:p>
        </p:txBody>
      </p:sp>
      <p:sp>
        <p:nvSpPr>
          <p:cNvPr id="2021" name="Google Shape;2021;p79"/>
          <p:cNvSpPr txBox="1"/>
          <p:nvPr/>
        </p:nvSpPr>
        <p:spPr>
          <a:xfrm>
            <a:off x="6246650" y="1589275"/>
            <a:ext cx="2660700" cy="848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If the algorithm arrives at a node with </a:t>
            </a:r>
            <a:r>
              <a:rPr lang="en" sz="1200" b="1" i="1" u="none" strike="noStrike" cap="none">
                <a:solidFill>
                  <a:srgbClr val="FF0000"/>
                </a:solidFill>
                <a:latin typeface="Arial"/>
                <a:ea typeface="Arial"/>
                <a:cs typeface="Arial"/>
                <a:sym typeface="Arial"/>
              </a:rPr>
              <a:t>no unexplored neighbors</a:t>
            </a:r>
            <a:r>
              <a:rPr lang="en" sz="1200" b="0" i="0" u="none" strike="noStrike" cap="none">
                <a:solidFill>
                  <a:srgbClr val="000000"/>
                </a:solidFill>
                <a:latin typeface="Arial"/>
                <a:ea typeface="Arial"/>
                <a:cs typeface="Arial"/>
                <a:sym typeface="Arial"/>
              </a:rPr>
              <a:t>, it will </a:t>
            </a:r>
            <a:r>
              <a:rPr lang="en" sz="1200" b="1" i="1" u="none" strike="noStrike" cap="none">
                <a:solidFill>
                  <a:srgbClr val="FF0000"/>
                </a:solidFill>
                <a:latin typeface="Arial"/>
                <a:ea typeface="Arial"/>
                <a:cs typeface="Arial"/>
                <a:sym typeface="Arial"/>
              </a:rPr>
              <a:t>backtrack</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to the last node with at least </a:t>
            </a:r>
            <a:r>
              <a:rPr lang="en" sz="1200" b="1" i="1" u="none" strike="noStrike" cap="none">
                <a:solidFill>
                  <a:srgbClr val="FF0000"/>
                </a:solidFill>
                <a:latin typeface="Arial"/>
                <a:ea typeface="Arial"/>
                <a:cs typeface="Arial"/>
                <a:sym typeface="Arial"/>
              </a:rPr>
              <a:t>one</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unexplored neighbor.</a:t>
            </a:r>
            <a:endParaRPr sz="1200" b="0" i="0" u="none" strike="noStrike" cap="none">
              <a:solidFill>
                <a:srgbClr val="000000"/>
              </a:solidFill>
              <a:latin typeface="Arial"/>
              <a:ea typeface="Arial"/>
              <a:cs typeface="Arial"/>
              <a:sym typeface="Arial"/>
            </a:endParaRPr>
          </a:p>
        </p:txBody>
      </p:sp>
      <p:sp>
        <p:nvSpPr>
          <p:cNvPr id="2022" name="Google Shape;2022;p79"/>
          <p:cNvSpPr txBox="1"/>
          <p:nvPr/>
        </p:nvSpPr>
        <p:spPr>
          <a:xfrm>
            <a:off x="6246650" y="3607175"/>
            <a:ext cx="2660700" cy="705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search will continue until </a:t>
            </a:r>
            <a:r>
              <a:rPr lang="en" sz="1200" b="1" i="1" u="none" strike="noStrike" cap="none">
                <a:solidFill>
                  <a:srgbClr val="FF0000"/>
                </a:solidFill>
                <a:latin typeface="Arial"/>
                <a:ea typeface="Arial"/>
                <a:cs typeface="Arial"/>
                <a:sym typeface="Arial"/>
              </a:rPr>
              <a:t>all</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vertices have been explored, or until the </a:t>
            </a:r>
            <a:r>
              <a:rPr lang="en" sz="1200" b="1" i="1" u="none" strike="noStrike" cap="none">
                <a:solidFill>
                  <a:srgbClr val="FF0000"/>
                </a:solidFill>
                <a:latin typeface="Arial"/>
                <a:ea typeface="Arial"/>
                <a:cs typeface="Arial"/>
                <a:sym typeface="Arial"/>
              </a:rPr>
              <a:t>end </a:t>
            </a:r>
            <a:r>
              <a:rPr lang="en" sz="1200" b="0" i="0" u="none" strike="noStrike" cap="none">
                <a:solidFill>
                  <a:srgbClr val="000000"/>
                </a:solidFill>
                <a:latin typeface="Arial"/>
                <a:ea typeface="Arial"/>
                <a:cs typeface="Arial"/>
                <a:sym typeface="Arial"/>
              </a:rPr>
              <a:t>vertex is found.</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8"/>
                                        </p:tgtEl>
                                        <p:attrNameLst>
                                          <p:attrName>style.visibility</p:attrName>
                                        </p:attrNameLst>
                                      </p:cBhvr>
                                      <p:to>
                                        <p:strVal val="visible"/>
                                      </p:to>
                                    </p:set>
                                    <p:animEffect transition="in" filter="fade">
                                      <p:cBhvr>
                                        <p:cTn id="7" dur="1000"/>
                                        <p:tgtEl>
                                          <p:spTgt spid="201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009"/>
                                        </p:tgtEl>
                                        <p:attrNameLst>
                                          <p:attrName>style.visibility</p:attrName>
                                        </p:attrNameLst>
                                      </p:cBhvr>
                                      <p:to>
                                        <p:strVal val="visible"/>
                                      </p:to>
                                    </p:set>
                                    <p:animEffect transition="in" filter="fade">
                                      <p:cBhvr>
                                        <p:cTn id="11" dur="1000"/>
                                        <p:tgtEl>
                                          <p:spTgt spid="200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20"/>
                                        </p:tgtEl>
                                        <p:attrNameLst>
                                          <p:attrName>style.visibility</p:attrName>
                                        </p:attrNameLst>
                                      </p:cBhvr>
                                      <p:to>
                                        <p:strVal val="visible"/>
                                      </p:to>
                                    </p:set>
                                    <p:animEffect transition="in" filter="fade">
                                      <p:cBhvr>
                                        <p:cTn id="16" dur="1000"/>
                                        <p:tgtEl>
                                          <p:spTgt spid="202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010"/>
                                        </p:tgtEl>
                                        <p:attrNameLst>
                                          <p:attrName>style.visibility</p:attrName>
                                        </p:attrNameLst>
                                      </p:cBhvr>
                                      <p:to>
                                        <p:strVal val="visible"/>
                                      </p:to>
                                    </p:set>
                                    <p:animEffect transition="in" filter="fade">
                                      <p:cBhvr>
                                        <p:cTn id="20" dur="1000"/>
                                        <p:tgtEl>
                                          <p:spTgt spid="201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2011"/>
                                        </p:tgtEl>
                                        <p:attrNameLst>
                                          <p:attrName>style.visibility</p:attrName>
                                        </p:attrNameLst>
                                      </p:cBhvr>
                                      <p:to>
                                        <p:strVal val="visible"/>
                                      </p:to>
                                    </p:set>
                                    <p:animEffect transition="in" filter="fade">
                                      <p:cBhvr>
                                        <p:cTn id="24" dur="1000"/>
                                        <p:tgtEl>
                                          <p:spTgt spid="2011"/>
                                        </p:tgtEl>
                                      </p:cBhvr>
                                    </p:animEffect>
                                  </p:childTnLst>
                                </p:cTn>
                              </p:par>
                            </p:childTnLst>
                          </p:cTn>
                        </p:par>
                        <p:par>
                          <p:cTn id="25" fill="hold">
                            <p:stCondLst>
                              <p:cond delay="3000"/>
                            </p:stCondLst>
                            <p:childTnLst>
                              <p:par>
                                <p:cTn id="26" presetID="10" presetClass="entr" presetSubtype="0" fill="hold" nodeType="afterEffect">
                                  <p:stCondLst>
                                    <p:cond delay="0"/>
                                  </p:stCondLst>
                                  <p:childTnLst>
                                    <p:set>
                                      <p:cBhvr>
                                        <p:cTn id="27" dur="1" fill="hold">
                                          <p:stCondLst>
                                            <p:cond delay="0"/>
                                          </p:stCondLst>
                                        </p:cTn>
                                        <p:tgtEl>
                                          <p:spTgt spid="2012"/>
                                        </p:tgtEl>
                                        <p:attrNameLst>
                                          <p:attrName>style.visibility</p:attrName>
                                        </p:attrNameLst>
                                      </p:cBhvr>
                                      <p:to>
                                        <p:strVal val="visible"/>
                                      </p:to>
                                    </p:set>
                                    <p:animEffect transition="in" filter="fade">
                                      <p:cBhvr>
                                        <p:cTn id="28" dur="1000"/>
                                        <p:tgtEl>
                                          <p:spTgt spid="2012"/>
                                        </p:tgtEl>
                                      </p:cBhvr>
                                    </p:animEffect>
                                  </p:childTnLst>
                                </p:cTn>
                              </p:par>
                            </p:childTnLst>
                          </p:cTn>
                        </p:par>
                        <p:par>
                          <p:cTn id="29" fill="hold">
                            <p:stCondLst>
                              <p:cond delay="4000"/>
                            </p:stCondLst>
                            <p:childTnLst>
                              <p:par>
                                <p:cTn id="30" presetID="10" presetClass="entr" presetSubtype="0" fill="hold" nodeType="afterEffect">
                                  <p:stCondLst>
                                    <p:cond delay="0"/>
                                  </p:stCondLst>
                                  <p:childTnLst>
                                    <p:set>
                                      <p:cBhvr>
                                        <p:cTn id="31" dur="1" fill="hold">
                                          <p:stCondLst>
                                            <p:cond delay="0"/>
                                          </p:stCondLst>
                                        </p:cTn>
                                        <p:tgtEl>
                                          <p:spTgt spid="2013"/>
                                        </p:tgtEl>
                                        <p:attrNameLst>
                                          <p:attrName>style.visibility</p:attrName>
                                        </p:attrNameLst>
                                      </p:cBhvr>
                                      <p:to>
                                        <p:strVal val="visible"/>
                                      </p:to>
                                    </p:set>
                                    <p:animEffect transition="in" filter="fade">
                                      <p:cBhvr>
                                        <p:cTn id="32" dur="1000"/>
                                        <p:tgtEl>
                                          <p:spTgt spid="20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21"/>
                                        </p:tgtEl>
                                        <p:attrNameLst>
                                          <p:attrName>style.visibility</p:attrName>
                                        </p:attrNameLst>
                                      </p:cBhvr>
                                      <p:to>
                                        <p:strVal val="visible"/>
                                      </p:to>
                                    </p:set>
                                    <p:animEffect transition="in" filter="fade">
                                      <p:cBhvr>
                                        <p:cTn id="37" dur="1000"/>
                                        <p:tgtEl>
                                          <p:spTgt spid="2021"/>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2014"/>
                                        </p:tgtEl>
                                        <p:attrNameLst>
                                          <p:attrName>style.visibility</p:attrName>
                                        </p:attrNameLst>
                                      </p:cBhvr>
                                      <p:to>
                                        <p:strVal val="visible"/>
                                      </p:to>
                                    </p:set>
                                    <p:animEffect transition="in" filter="fade">
                                      <p:cBhvr>
                                        <p:cTn id="41" dur="1000"/>
                                        <p:tgtEl>
                                          <p:spTgt spid="20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19"/>
                                        </p:tgtEl>
                                        <p:attrNameLst>
                                          <p:attrName>style.visibility</p:attrName>
                                        </p:attrNameLst>
                                      </p:cBhvr>
                                      <p:to>
                                        <p:strVal val="visible"/>
                                      </p:to>
                                    </p:set>
                                    <p:animEffect transition="in" filter="fade">
                                      <p:cBhvr>
                                        <p:cTn id="46" dur="1000"/>
                                        <p:tgtEl>
                                          <p:spTgt spid="2019"/>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2015"/>
                                        </p:tgtEl>
                                        <p:attrNameLst>
                                          <p:attrName>style.visibility</p:attrName>
                                        </p:attrNameLst>
                                      </p:cBhvr>
                                      <p:to>
                                        <p:strVal val="visible"/>
                                      </p:to>
                                    </p:set>
                                    <p:animEffect transition="in" filter="fade">
                                      <p:cBhvr>
                                        <p:cTn id="50" dur="1000"/>
                                        <p:tgtEl>
                                          <p:spTgt spid="20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022"/>
                                        </p:tgtEl>
                                        <p:attrNameLst>
                                          <p:attrName>style.visibility</p:attrName>
                                        </p:attrNameLst>
                                      </p:cBhvr>
                                      <p:to>
                                        <p:strVal val="visible"/>
                                      </p:to>
                                    </p:set>
                                    <p:animEffect transition="in" filter="fade">
                                      <p:cBhvr>
                                        <p:cTn id="55" dur="1000"/>
                                        <p:tgtEl>
                                          <p:spTgt spid="2022"/>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2016"/>
                                        </p:tgtEl>
                                        <p:attrNameLst>
                                          <p:attrName>style.visibility</p:attrName>
                                        </p:attrNameLst>
                                      </p:cBhvr>
                                      <p:to>
                                        <p:strVal val="visible"/>
                                      </p:to>
                                    </p:set>
                                    <p:animEffect transition="in" filter="fade">
                                      <p:cBhvr>
                                        <p:cTn id="59" dur="1000"/>
                                        <p:tgtEl>
                                          <p:spTgt spid="2016"/>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2017"/>
                                        </p:tgtEl>
                                        <p:attrNameLst>
                                          <p:attrName>style.visibility</p:attrName>
                                        </p:attrNameLst>
                                      </p:cBhvr>
                                      <p:to>
                                        <p:strVal val="visible"/>
                                      </p:to>
                                    </p:set>
                                    <p:animEffect transition="in" filter="fade">
                                      <p:cBhvr>
                                        <p:cTn id="63" dur="1000"/>
                                        <p:tgtEl>
                                          <p:spTgt spid="2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26"/>
        <p:cNvGrpSpPr/>
        <p:nvPr/>
      </p:nvGrpSpPr>
      <p:grpSpPr>
        <a:xfrm>
          <a:off x="0" y="0"/>
          <a:ext cx="0" cy="0"/>
          <a:chOff x="0" y="0"/>
          <a:chExt cx="0" cy="0"/>
        </a:xfrm>
      </p:grpSpPr>
      <p:sp>
        <p:nvSpPr>
          <p:cNvPr id="2027" name="Google Shape;2027;p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2028" name="Google Shape;2028;p80"/>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12.20</a:t>
            </a:r>
            <a:endParaRPr/>
          </a:p>
        </p:txBody>
      </p:sp>
      <p:sp>
        <p:nvSpPr>
          <p:cNvPr id="2029" name="Google Shape;2029;p80"/>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Depth-First Search</a:t>
            </a:r>
            <a:endParaRPr/>
          </a:p>
        </p:txBody>
      </p:sp>
      <p:sp>
        <p:nvSpPr>
          <p:cNvPr id="2030" name="Google Shape;2030;p80"/>
          <p:cNvSpPr txBox="1">
            <a:spLocks noGrp="1"/>
          </p:cNvSpPr>
          <p:nvPr>
            <p:ph type="body" idx="1"/>
          </p:nvPr>
        </p:nvSpPr>
        <p:spPr>
          <a:xfrm>
            <a:off x="65250" y="7316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600"/>
              <a:buNone/>
            </a:pPr>
            <a:r>
              <a:rPr lang="en"/>
              <a:t>Once again, practicing a new algorithm "on paper" can help gain a better understanding before trying to implement it. Practice using Depth-First Search to perform searches beginning at each vertex listed below below. Remember to always search neighbors in </a:t>
            </a:r>
            <a:r>
              <a:rPr lang="en" b="1" i="1" u="sng">
                <a:solidFill>
                  <a:srgbClr val="FF0000"/>
                </a:solidFill>
              </a:rPr>
              <a:t>alphabetical order</a:t>
            </a:r>
            <a:r>
              <a:rPr lang="en"/>
              <a:t>.</a:t>
            </a:r>
            <a:endParaRPr/>
          </a:p>
        </p:txBody>
      </p:sp>
      <p:grpSp>
        <p:nvGrpSpPr>
          <p:cNvPr id="2031" name="Google Shape;2031;p80"/>
          <p:cNvGrpSpPr/>
          <p:nvPr/>
        </p:nvGrpSpPr>
        <p:grpSpPr>
          <a:xfrm>
            <a:off x="119466" y="1720581"/>
            <a:ext cx="2380778" cy="2101576"/>
            <a:chOff x="119466" y="1644381"/>
            <a:chExt cx="2380778" cy="2101576"/>
          </a:xfrm>
        </p:grpSpPr>
        <p:sp>
          <p:nvSpPr>
            <p:cNvPr id="2032" name="Google Shape;2032;p80"/>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033" name="Google Shape;2033;p80"/>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034" name="Google Shape;2034;p80"/>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035" name="Google Shape;2035;p80"/>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036" name="Google Shape;2036;p80"/>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037" name="Google Shape;2037;p80"/>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038" name="Google Shape;2038;p80"/>
            <p:cNvCxnSpPr>
              <a:stCxn id="2032" idx="2"/>
              <a:endCxn id="2034"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039" name="Google Shape;2039;p80"/>
            <p:cNvCxnSpPr>
              <a:stCxn id="2034" idx="5"/>
              <a:endCxn id="2036"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040" name="Google Shape;2040;p80"/>
            <p:cNvCxnSpPr>
              <a:stCxn id="2036" idx="3"/>
              <a:endCxn id="2035"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041" name="Google Shape;2041;p80"/>
            <p:cNvCxnSpPr>
              <a:stCxn id="2035" idx="6"/>
              <a:endCxn id="2037"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042" name="Google Shape;2042;p80"/>
            <p:cNvCxnSpPr>
              <a:stCxn id="2037" idx="0"/>
              <a:endCxn id="2036"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043" name="Google Shape;2043;p80"/>
            <p:cNvCxnSpPr>
              <a:stCxn id="2036" idx="7"/>
              <a:endCxn id="2033"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044" name="Google Shape;2044;p80"/>
            <p:cNvCxnSpPr>
              <a:stCxn id="2033" idx="4"/>
              <a:endCxn id="2037"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graphicFrame>
        <p:nvGraphicFramePr>
          <p:cNvPr id="2045" name="Google Shape;2045;p80"/>
          <p:cNvGraphicFramePr/>
          <p:nvPr/>
        </p:nvGraphicFramePr>
        <p:xfrm>
          <a:off x="6378950" y="1693100"/>
          <a:ext cx="3000000" cy="3000000"/>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2046" name="Google Shape;2046;p80"/>
          <p:cNvGraphicFramePr/>
          <p:nvPr/>
        </p:nvGraphicFramePr>
        <p:xfrm>
          <a:off x="2842425" y="177165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Z</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047" name="Google Shape;2047;p80"/>
          <p:cNvGraphicFramePr/>
          <p:nvPr/>
        </p:nvGraphicFramePr>
        <p:xfrm>
          <a:off x="2842425" y="413385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Y</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048" name="Google Shape;2048;p80"/>
          <p:cNvGraphicFramePr/>
          <p:nvPr/>
        </p:nvGraphicFramePr>
        <p:xfrm>
          <a:off x="2842425" y="2946797"/>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W</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049" name="Google Shape;2049;p80"/>
          <p:cNvGraphicFramePr/>
          <p:nvPr/>
        </p:nvGraphicFramePr>
        <p:xfrm>
          <a:off x="6378950" y="2855388"/>
          <a:ext cx="3000000" cy="3000000"/>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2050" name="Google Shape;2050;p80"/>
          <p:cNvGraphicFramePr/>
          <p:nvPr/>
        </p:nvGraphicFramePr>
        <p:xfrm>
          <a:off x="6378950" y="4036009"/>
          <a:ext cx="3000000" cy="3000000"/>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054"/>
        <p:cNvGrpSpPr/>
        <p:nvPr/>
      </p:nvGrpSpPr>
      <p:grpSpPr>
        <a:xfrm>
          <a:off x="0" y="0"/>
          <a:ext cx="0" cy="0"/>
          <a:chOff x="0" y="0"/>
          <a:chExt cx="0" cy="0"/>
        </a:xfrm>
      </p:grpSpPr>
      <p:sp>
        <p:nvSpPr>
          <p:cNvPr id="2055" name="Google Shape;2055;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2056" name="Google Shape;2056;p81"/>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12.20</a:t>
            </a:r>
            <a:endParaRPr/>
          </a:p>
        </p:txBody>
      </p:sp>
      <p:sp>
        <p:nvSpPr>
          <p:cNvPr id="2057" name="Google Shape;2057;p81"/>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Depth-First Search</a:t>
            </a:r>
            <a:endParaRPr/>
          </a:p>
        </p:txBody>
      </p:sp>
      <p:sp>
        <p:nvSpPr>
          <p:cNvPr id="2058" name="Google Shape;2058;p81"/>
          <p:cNvSpPr txBox="1">
            <a:spLocks noGrp="1"/>
          </p:cNvSpPr>
          <p:nvPr>
            <p:ph type="body" idx="1"/>
          </p:nvPr>
        </p:nvSpPr>
        <p:spPr>
          <a:xfrm>
            <a:off x="65250" y="731625"/>
            <a:ext cx="8955900" cy="923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600"/>
              <a:buNone/>
            </a:pPr>
            <a:r>
              <a:rPr lang="en"/>
              <a:t>Once again, practicing a new algorithm "on paper" can help gain a better understanding before trying to implement it. Practice using Depth-First Search to perform searches beginning at each vertex listed below below. Remember to always search neighbors in </a:t>
            </a:r>
            <a:r>
              <a:rPr lang="en" b="1" i="1" u="sng">
                <a:solidFill>
                  <a:srgbClr val="FF0000"/>
                </a:solidFill>
              </a:rPr>
              <a:t>alphabetical order</a:t>
            </a:r>
            <a:r>
              <a:rPr lang="en"/>
              <a:t>.</a:t>
            </a:r>
            <a:endParaRPr/>
          </a:p>
        </p:txBody>
      </p:sp>
      <p:grpSp>
        <p:nvGrpSpPr>
          <p:cNvPr id="2059" name="Google Shape;2059;p81"/>
          <p:cNvGrpSpPr/>
          <p:nvPr/>
        </p:nvGrpSpPr>
        <p:grpSpPr>
          <a:xfrm>
            <a:off x="119466" y="1720581"/>
            <a:ext cx="2380778" cy="2101576"/>
            <a:chOff x="119466" y="1644381"/>
            <a:chExt cx="2380778" cy="2101576"/>
          </a:xfrm>
        </p:grpSpPr>
        <p:sp>
          <p:nvSpPr>
            <p:cNvPr id="2060" name="Google Shape;2060;p81"/>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061" name="Google Shape;2061;p81"/>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062" name="Google Shape;2062;p81"/>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063" name="Google Shape;2063;p81"/>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064" name="Google Shape;2064;p81"/>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065" name="Google Shape;2065;p81"/>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066" name="Google Shape;2066;p81"/>
            <p:cNvCxnSpPr>
              <a:stCxn id="2060" idx="2"/>
              <a:endCxn id="2062"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067" name="Google Shape;2067;p81"/>
            <p:cNvCxnSpPr>
              <a:stCxn id="2062" idx="5"/>
              <a:endCxn id="2064"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068" name="Google Shape;2068;p81"/>
            <p:cNvCxnSpPr>
              <a:stCxn id="2064" idx="3"/>
              <a:endCxn id="2063"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069" name="Google Shape;2069;p81"/>
            <p:cNvCxnSpPr>
              <a:stCxn id="2063" idx="6"/>
              <a:endCxn id="2065"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070" name="Google Shape;2070;p81"/>
            <p:cNvCxnSpPr>
              <a:stCxn id="2065" idx="0"/>
              <a:endCxn id="2064"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071" name="Google Shape;2071;p81"/>
            <p:cNvCxnSpPr>
              <a:stCxn id="2064" idx="7"/>
              <a:endCxn id="2061"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072" name="Google Shape;2072;p81"/>
            <p:cNvCxnSpPr>
              <a:stCxn id="2061" idx="4"/>
              <a:endCxn id="2065"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graphicFrame>
        <p:nvGraphicFramePr>
          <p:cNvPr id="2073" name="Google Shape;2073;p81"/>
          <p:cNvGraphicFramePr/>
          <p:nvPr/>
        </p:nvGraphicFramePr>
        <p:xfrm>
          <a:off x="6378950" y="1693100"/>
          <a:ext cx="3000000" cy="3000000"/>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2074" name="Google Shape;2074;p81"/>
          <p:cNvGraphicFramePr/>
          <p:nvPr/>
        </p:nvGraphicFramePr>
        <p:xfrm>
          <a:off x="2842425" y="177165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Z</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075" name="Google Shape;2075;p81"/>
          <p:cNvGraphicFramePr/>
          <p:nvPr/>
        </p:nvGraphicFramePr>
        <p:xfrm>
          <a:off x="2842425" y="4133850"/>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Y</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076" name="Google Shape;2076;p81"/>
          <p:cNvGraphicFramePr/>
          <p:nvPr/>
        </p:nvGraphicFramePr>
        <p:xfrm>
          <a:off x="2842425" y="2946797"/>
          <a:ext cx="3000000" cy="3000000"/>
        </p:xfrm>
        <a:graphic>
          <a:graphicData uri="http://schemas.openxmlformats.org/drawingml/2006/table">
            <a:tbl>
              <a:tblPr>
                <a:noFill/>
                <a:tableStyleId>{F61E8307-4E6B-4154-8BF4-D3231BAD3CED}</a:tableStyleId>
              </a:tblPr>
              <a:tblGrid>
                <a:gridCol w="648925">
                  <a:extLst>
                    <a:ext uri="{9D8B030D-6E8A-4147-A177-3AD203B41FA5}">
                      <a16:colId xmlns:a16="http://schemas.microsoft.com/office/drawing/2014/main" val="20000"/>
                    </a:ext>
                  </a:extLst>
                </a:gridCol>
                <a:gridCol w="399450">
                  <a:extLst>
                    <a:ext uri="{9D8B030D-6E8A-4147-A177-3AD203B41FA5}">
                      <a16:colId xmlns:a16="http://schemas.microsoft.com/office/drawing/2014/main" val="20001"/>
                    </a:ext>
                  </a:extLst>
                </a:gridCol>
                <a:gridCol w="399450">
                  <a:extLst>
                    <a:ext uri="{9D8B030D-6E8A-4147-A177-3AD203B41FA5}">
                      <a16:colId xmlns:a16="http://schemas.microsoft.com/office/drawing/2014/main" val="20002"/>
                    </a:ext>
                  </a:extLst>
                </a:gridCol>
                <a:gridCol w="399450">
                  <a:extLst>
                    <a:ext uri="{9D8B030D-6E8A-4147-A177-3AD203B41FA5}">
                      <a16:colId xmlns:a16="http://schemas.microsoft.com/office/drawing/2014/main" val="20003"/>
                    </a:ext>
                  </a:extLst>
                </a:gridCol>
                <a:gridCol w="399450">
                  <a:extLst>
                    <a:ext uri="{9D8B030D-6E8A-4147-A177-3AD203B41FA5}">
                      <a16:colId xmlns:a16="http://schemas.microsoft.com/office/drawing/2014/main" val="20004"/>
                    </a:ext>
                  </a:extLst>
                </a:gridCol>
                <a:gridCol w="399450">
                  <a:extLst>
                    <a:ext uri="{9D8B030D-6E8A-4147-A177-3AD203B41FA5}">
                      <a16:colId xmlns:a16="http://schemas.microsoft.com/office/drawing/2014/main" val="20005"/>
                    </a:ext>
                  </a:extLst>
                </a:gridCol>
                <a:gridCol w="399450">
                  <a:extLst>
                    <a:ext uri="{9D8B030D-6E8A-4147-A177-3AD203B41FA5}">
                      <a16:colId xmlns:a16="http://schemas.microsoft.com/office/drawing/2014/main" val="20006"/>
                    </a:ext>
                  </a:extLst>
                </a:gridCol>
                <a:gridCol w="399450">
                  <a:extLst>
                    <a:ext uri="{9D8B030D-6E8A-4147-A177-3AD203B41FA5}">
                      <a16:colId xmlns:a16="http://schemas.microsoft.com/office/drawing/2014/main" val="20007"/>
                    </a:ext>
                  </a:extLst>
                </a:gridCol>
              </a:tblGrid>
              <a:tr h="396200">
                <a:tc>
                  <a:txBody>
                    <a:bodyPr/>
                    <a:lstStyle/>
                    <a:p>
                      <a:pPr marL="0" marR="0" lvl="0" indent="0" algn="r" rtl="0">
                        <a:lnSpc>
                          <a:spcPct val="100000"/>
                        </a:lnSpc>
                        <a:spcBef>
                          <a:spcPts val="0"/>
                        </a:spcBef>
                        <a:spcAft>
                          <a:spcPts val="0"/>
                        </a:spcAft>
                        <a:buClr>
                          <a:srgbClr val="000000"/>
                        </a:buClr>
                        <a:buSzPts val="1200"/>
                        <a:buFont typeface="Arial"/>
                        <a:buNone/>
                      </a:pPr>
                      <a:r>
                        <a:rPr lang="en" sz="1200" u="none" strike="noStrike" cap="none"/>
                        <a:t>W</a:t>
                      </a:r>
                      <a:endParaRPr sz="1200" u="none" strike="noStrike" cap="none"/>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077" name="Google Shape;2077;p81"/>
          <p:cNvGraphicFramePr/>
          <p:nvPr/>
        </p:nvGraphicFramePr>
        <p:xfrm>
          <a:off x="6378950" y="2855388"/>
          <a:ext cx="3000000" cy="3000000"/>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2078" name="Google Shape;2078;p81"/>
          <p:cNvGraphicFramePr/>
          <p:nvPr/>
        </p:nvGraphicFramePr>
        <p:xfrm>
          <a:off x="6378950" y="4036009"/>
          <a:ext cx="3000000" cy="3000000"/>
        </p:xfrm>
        <a:graphic>
          <a:graphicData uri="http://schemas.openxmlformats.org/drawingml/2006/table">
            <a:tbl>
              <a:tblPr>
                <a:noFill/>
                <a:tableStyleId>{F61E8307-4E6B-4154-8BF4-D3231BAD3CED}</a:tableStyleId>
              </a:tblPr>
              <a:tblGrid>
                <a:gridCol w="484625">
                  <a:extLst>
                    <a:ext uri="{9D8B030D-6E8A-4147-A177-3AD203B41FA5}">
                      <a16:colId xmlns:a16="http://schemas.microsoft.com/office/drawing/2014/main" val="20000"/>
                    </a:ext>
                  </a:extLst>
                </a:gridCol>
                <a:gridCol w="1788250">
                  <a:extLst>
                    <a:ext uri="{9D8B030D-6E8A-4147-A177-3AD203B41FA5}">
                      <a16:colId xmlns:a16="http://schemas.microsoft.com/office/drawing/2014/main" val="20001"/>
                    </a:ext>
                  </a:extLst>
                </a:gridCol>
              </a:tblGrid>
              <a:tr h="8883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Set</a:t>
                      </a:r>
                      <a:endParaRPr sz="1400" u="none" strike="noStrike" cap="none"/>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pSp>
        <p:nvGrpSpPr>
          <p:cNvPr id="2079" name="Google Shape;2079;p81"/>
          <p:cNvGrpSpPr/>
          <p:nvPr/>
        </p:nvGrpSpPr>
        <p:grpSpPr>
          <a:xfrm>
            <a:off x="3491353" y="1776865"/>
            <a:ext cx="3804575" cy="393600"/>
            <a:chOff x="3491353" y="1700665"/>
            <a:chExt cx="3804575" cy="393600"/>
          </a:xfrm>
        </p:grpSpPr>
        <p:sp>
          <p:nvSpPr>
            <p:cNvPr id="2080" name="Google Shape;2080;p81"/>
            <p:cNvSpPr txBox="1"/>
            <p:nvPr/>
          </p:nvSpPr>
          <p:spPr>
            <a:xfrm>
              <a:off x="3491353"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sp>
          <p:nvSpPr>
            <p:cNvPr id="2081" name="Google Shape;2081;p81"/>
            <p:cNvSpPr txBox="1"/>
            <p:nvPr/>
          </p:nvSpPr>
          <p:spPr>
            <a:xfrm>
              <a:off x="6923028"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082" name="Google Shape;2082;p81"/>
          <p:cNvGrpSpPr/>
          <p:nvPr/>
        </p:nvGrpSpPr>
        <p:grpSpPr>
          <a:xfrm>
            <a:off x="3884658" y="1776865"/>
            <a:ext cx="3493775" cy="823650"/>
            <a:chOff x="3884658" y="1700665"/>
            <a:chExt cx="3493775" cy="823650"/>
          </a:xfrm>
        </p:grpSpPr>
        <p:sp>
          <p:nvSpPr>
            <p:cNvPr id="2083" name="Google Shape;2083;p81"/>
            <p:cNvSpPr txBox="1"/>
            <p:nvPr/>
          </p:nvSpPr>
          <p:spPr>
            <a:xfrm>
              <a:off x="3884658"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sp>
          <p:nvSpPr>
            <p:cNvPr id="2084" name="Google Shape;2084;p81"/>
            <p:cNvSpPr txBox="1"/>
            <p:nvPr/>
          </p:nvSpPr>
          <p:spPr>
            <a:xfrm>
              <a:off x="7005533" y="21307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085" name="Google Shape;2085;p81"/>
          <p:cNvGrpSpPr/>
          <p:nvPr/>
        </p:nvGrpSpPr>
        <p:grpSpPr>
          <a:xfrm>
            <a:off x="4277963" y="1737115"/>
            <a:ext cx="4213600" cy="433350"/>
            <a:chOff x="4277963" y="1660915"/>
            <a:chExt cx="4213600" cy="433350"/>
          </a:xfrm>
        </p:grpSpPr>
        <p:sp>
          <p:nvSpPr>
            <p:cNvPr id="2086" name="Google Shape;2086;p81"/>
            <p:cNvSpPr txBox="1"/>
            <p:nvPr/>
          </p:nvSpPr>
          <p:spPr>
            <a:xfrm>
              <a:off x="4277963"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2087" name="Google Shape;2087;p81"/>
            <p:cNvSpPr txBox="1"/>
            <p:nvPr/>
          </p:nvSpPr>
          <p:spPr>
            <a:xfrm>
              <a:off x="8118663" y="16609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088" name="Google Shape;2088;p81"/>
          <p:cNvGrpSpPr/>
          <p:nvPr/>
        </p:nvGrpSpPr>
        <p:grpSpPr>
          <a:xfrm>
            <a:off x="4716705" y="1776865"/>
            <a:ext cx="3364550" cy="823650"/>
            <a:chOff x="4716705" y="1700665"/>
            <a:chExt cx="3364550" cy="823650"/>
          </a:xfrm>
        </p:grpSpPr>
        <p:sp>
          <p:nvSpPr>
            <p:cNvPr id="2089" name="Google Shape;2089;p81"/>
            <p:cNvSpPr txBox="1"/>
            <p:nvPr/>
          </p:nvSpPr>
          <p:spPr>
            <a:xfrm>
              <a:off x="4716705"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sp>
          <p:nvSpPr>
            <p:cNvPr id="2090" name="Google Shape;2090;p81"/>
            <p:cNvSpPr txBox="1"/>
            <p:nvPr/>
          </p:nvSpPr>
          <p:spPr>
            <a:xfrm>
              <a:off x="7708355" y="21307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091" name="Google Shape;2091;p81"/>
          <p:cNvGrpSpPr/>
          <p:nvPr/>
        </p:nvGrpSpPr>
        <p:grpSpPr>
          <a:xfrm>
            <a:off x="5097705" y="1776865"/>
            <a:ext cx="2653625" cy="460825"/>
            <a:chOff x="5097705" y="1700665"/>
            <a:chExt cx="2653625" cy="460825"/>
          </a:xfrm>
        </p:grpSpPr>
        <p:sp>
          <p:nvSpPr>
            <p:cNvPr id="2092" name="Google Shape;2092;p81"/>
            <p:cNvSpPr txBox="1"/>
            <p:nvPr/>
          </p:nvSpPr>
          <p:spPr>
            <a:xfrm>
              <a:off x="5097705"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2093" name="Google Shape;2093;p81"/>
            <p:cNvSpPr txBox="1"/>
            <p:nvPr/>
          </p:nvSpPr>
          <p:spPr>
            <a:xfrm>
              <a:off x="7378430" y="17678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094" name="Google Shape;2094;p81"/>
          <p:cNvGrpSpPr/>
          <p:nvPr/>
        </p:nvGrpSpPr>
        <p:grpSpPr>
          <a:xfrm>
            <a:off x="5491010" y="1776865"/>
            <a:ext cx="3044625" cy="784575"/>
            <a:chOff x="5491010" y="1700665"/>
            <a:chExt cx="3044625" cy="784575"/>
          </a:xfrm>
        </p:grpSpPr>
        <p:sp>
          <p:nvSpPr>
            <p:cNvPr id="2095" name="Google Shape;2095;p81"/>
            <p:cNvSpPr txBox="1"/>
            <p:nvPr/>
          </p:nvSpPr>
          <p:spPr>
            <a:xfrm>
              <a:off x="5491010"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sp>
          <p:nvSpPr>
            <p:cNvPr id="2096" name="Google Shape;2096;p81"/>
            <p:cNvSpPr txBox="1"/>
            <p:nvPr/>
          </p:nvSpPr>
          <p:spPr>
            <a:xfrm>
              <a:off x="8162735" y="209164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097" name="Google Shape;2097;p81"/>
          <p:cNvGrpSpPr/>
          <p:nvPr/>
        </p:nvGrpSpPr>
        <p:grpSpPr>
          <a:xfrm>
            <a:off x="3491353" y="2944476"/>
            <a:ext cx="3880775" cy="393600"/>
            <a:chOff x="3491353" y="1700665"/>
            <a:chExt cx="3880775" cy="393600"/>
          </a:xfrm>
        </p:grpSpPr>
        <p:sp>
          <p:nvSpPr>
            <p:cNvPr id="2098" name="Google Shape;2098;p81"/>
            <p:cNvSpPr txBox="1"/>
            <p:nvPr/>
          </p:nvSpPr>
          <p:spPr>
            <a:xfrm>
              <a:off x="3491353"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2099" name="Google Shape;2099;p81"/>
            <p:cNvSpPr txBox="1"/>
            <p:nvPr/>
          </p:nvSpPr>
          <p:spPr>
            <a:xfrm>
              <a:off x="6999228"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00" name="Google Shape;2100;p81"/>
          <p:cNvGrpSpPr/>
          <p:nvPr/>
        </p:nvGrpSpPr>
        <p:grpSpPr>
          <a:xfrm>
            <a:off x="3884658" y="2944476"/>
            <a:ext cx="3493775" cy="747450"/>
            <a:chOff x="3884658" y="1700665"/>
            <a:chExt cx="3493775" cy="747450"/>
          </a:xfrm>
        </p:grpSpPr>
        <p:sp>
          <p:nvSpPr>
            <p:cNvPr id="2101" name="Google Shape;2101;p81"/>
            <p:cNvSpPr txBox="1"/>
            <p:nvPr/>
          </p:nvSpPr>
          <p:spPr>
            <a:xfrm>
              <a:off x="3884658"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2102" name="Google Shape;2102;p81"/>
            <p:cNvSpPr txBox="1"/>
            <p:nvPr/>
          </p:nvSpPr>
          <p:spPr>
            <a:xfrm>
              <a:off x="7005533" y="20545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03" name="Google Shape;2103;p81"/>
          <p:cNvGrpSpPr/>
          <p:nvPr/>
        </p:nvGrpSpPr>
        <p:grpSpPr>
          <a:xfrm>
            <a:off x="4699248" y="2944476"/>
            <a:ext cx="3756400" cy="811050"/>
            <a:chOff x="4277963" y="1700665"/>
            <a:chExt cx="3756400" cy="811050"/>
          </a:xfrm>
        </p:grpSpPr>
        <p:sp>
          <p:nvSpPr>
            <p:cNvPr id="2104" name="Google Shape;2104;p81"/>
            <p:cNvSpPr txBox="1"/>
            <p:nvPr/>
          </p:nvSpPr>
          <p:spPr>
            <a:xfrm>
              <a:off x="4277963"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sp>
          <p:nvSpPr>
            <p:cNvPr id="2105" name="Google Shape;2105;p81"/>
            <p:cNvSpPr txBox="1"/>
            <p:nvPr/>
          </p:nvSpPr>
          <p:spPr>
            <a:xfrm>
              <a:off x="7661463" y="21181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06" name="Google Shape;2106;p81"/>
          <p:cNvGrpSpPr/>
          <p:nvPr/>
        </p:nvGrpSpPr>
        <p:grpSpPr>
          <a:xfrm>
            <a:off x="4306973" y="2944476"/>
            <a:ext cx="3516950" cy="442650"/>
            <a:chOff x="4716705" y="1700665"/>
            <a:chExt cx="3516950" cy="442650"/>
          </a:xfrm>
        </p:grpSpPr>
        <p:sp>
          <p:nvSpPr>
            <p:cNvPr id="2107" name="Google Shape;2107;p81"/>
            <p:cNvSpPr txBox="1"/>
            <p:nvPr/>
          </p:nvSpPr>
          <p:spPr>
            <a:xfrm>
              <a:off x="4716705"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sp>
          <p:nvSpPr>
            <p:cNvPr id="2108" name="Google Shape;2108;p81"/>
            <p:cNvSpPr txBox="1"/>
            <p:nvPr/>
          </p:nvSpPr>
          <p:spPr>
            <a:xfrm>
              <a:off x="7860755" y="17497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09" name="Google Shape;2109;p81"/>
          <p:cNvGrpSpPr/>
          <p:nvPr/>
        </p:nvGrpSpPr>
        <p:grpSpPr>
          <a:xfrm>
            <a:off x="5097705" y="2935501"/>
            <a:ext cx="3339425" cy="402575"/>
            <a:chOff x="5097705" y="1691690"/>
            <a:chExt cx="3339425" cy="402575"/>
          </a:xfrm>
        </p:grpSpPr>
        <p:sp>
          <p:nvSpPr>
            <p:cNvPr id="2110" name="Google Shape;2110;p81"/>
            <p:cNvSpPr txBox="1"/>
            <p:nvPr/>
          </p:nvSpPr>
          <p:spPr>
            <a:xfrm>
              <a:off x="5097705"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sp>
          <p:nvSpPr>
            <p:cNvPr id="2111" name="Google Shape;2111;p81"/>
            <p:cNvSpPr txBox="1"/>
            <p:nvPr/>
          </p:nvSpPr>
          <p:spPr>
            <a:xfrm>
              <a:off x="8064230" y="16916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12" name="Google Shape;2112;p81"/>
          <p:cNvGrpSpPr/>
          <p:nvPr/>
        </p:nvGrpSpPr>
        <p:grpSpPr>
          <a:xfrm>
            <a:off x="5491010" y="2944476"/>
            <a:ext cx="2663625" cy="784575"/>
            <a:chOff x="5491010" y="1700665"/>
            <a:chExt cx="2663625" cy="784575"/>
          </a:xfrm>
        </p:grpSpPr>
        <p:sp>
          <p:nvSpPr>
            <p:cNvPr id="2113" name="Google Shape;2113;p81"/>
            <p:cNvSpPr txBox="1"/>
            <p:nvPr/>
          </p:nvSpPr>
          <p:spPr>
            <a:xfrm>
              <a:off x="5491010"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sp>
          <p:nvSpPr>
            <p:cNvPr id="2114" name="Google Shape;2114;p81"/>
            <p:cNvSpPr txBox="1"/>
            <p:nvPr/>
          </p:nvSpPr>
          <p:spPr>
            <a:xfrm>
              <a:off x="7781735" y="209164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15" name="Google Shape;2115;p81"/>
          <p:cNvGrpSpPr/>
          <p:nvPr/>
        </p:nvGrpSpPr>
        <p:grpSpPr>
          <a:xfrm>
            <a:off x="3491353" y="4124391"/>
            <a:ext cx="4947575" cy="774600"/>
            <a:chOff x="3491353" y="1700665"/>
            <a:chExt cx="4947575" cy="774600"/>
          </a:xfrm>
        </p:grpSpPr>
        <p:sp>
          <p:nvSpPr>
            <p:cNvPr id="2116" name="Google Shape;2116;p81"/>
            <p:cNvSpPr txBox="1"/>
            <p:nvPr/>
          </p:nvSpPr>
          <p:spPr>
            <a:xfrm>
              <a:off x="3491353"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sp>
          <p:nvSpPr>
            <p:cNvPr id="2117" name="Google Shape;2117;p81"/>
            <p:cNvSpPr txBox="1"/>
            <p:nvPr/>
          </p:nvSpPr>
          <p:spPr>
            <a:xfrm>
              <a:off x="8066028" y="2081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Y</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18" name="Google Shape;2118;p81"/>
          <p:cNvGrpSpPr/>
          <p:nvPr/>
        </p:nvGrpSpPr>
        <p:grpSpPr>
          <a:xfrm>
            <a:off x="3884658" y="4124391"/>
            <a:ext cx="3646175" cy="442650"/>
            <a:chOff x="3884658" y="1700665"/>
            <a:chExt cx="3646175" cy="442650"/>
          </a:xfrm>
        </p:grpSpPr>
        <p:sp>
          <p:nvSpPr>
            <p:cNvPr id="2119" name="Google Shape;2119;p81"/>
            <p:cNvSpPr txBox="1"/>
            <p:nvPr/>
          </p:nvSpPr>
          <p:spPr>
            <a:xfrm>
              <a:off x="3884658"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sp>
          <p:nvSpPr>
            <p:cNvPr id="2120" name="Google Shape;2120;p81"/>
            <p:cNvSpPr txBox="1"/>
            <p:nvPr/>
          </p:nvSpPr>
          <p:spPr>
            <a:xfrm>
              <a:off x="7157933" y="17497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U</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21" name="Google Shape;2121;p81"/>
          <p:cNvGrpSpPr/>
          <p:nvPr/>
        </p:nvGrpSpPr>
        <p:grpSpPr>
          <a:xfrm>
            <a:off x="4277963" y="4084641"/>
            <a:ext cx="3756400" cy="433350"/>
            <a:chOff x="4277963" y="1660915"/>
            <a:chExt cx="3756400" cy="433350"/>
          </a:xfrm>
        </p:grpSpPr>
        <p:sp>
          <p:nvSpPr>
            <p:cNvPr id="2122" name="Google Shape;2122;p81"/>
            <p:cNvSpPr txBox="1"/>
            <p:nvPr/>
          </p:nvSpPr>
          <p:spPr>
            <a:xfrm>
              <a:off x="4277963"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sp>
          <p:nvSpPr>
            <p:cNvPr id="2123" name="Google Shape;2123;p81"/>
            <p:cNvSpPr txBox="1"/>
            <p:nvPr/>
          </p:nvSpPr>
          <p:spPr>
            <a:xfrm>
              <a:off x="7661463" y="16609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V</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24" name="Google Shape;2124;p81"/>
          <p:cNvGrpSpPr/>
          <p:nvPr/>
        </p:nvGrpSpPr>
        <p:grpSpPr>
          <a:xfrm>
            <a:off x="4698248" y="4124391"/>
            <a:ext cx="3154407" cy="747450"/>
            <a:chOff x="4698248" y="1700665"/>
            <a:chExt cx="3154407" cy="747450"/>
          </a:xfrm>
        </p:grpSpPr>
        <p:sp>
          <p:nvSpPr>
            <p:cNvPr id="2125" name="Google Shape;2125;p81"/>
            <p:cNvSpPr txBox="1"/>
            <p:nvPr/>
          </p:nvSpPr>
          <p:spPr>
            <a:xfrm>
              <a:off x="4698248"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sp>
          <p:nvSpPr>
            <p:cNvPr id="2126" name="Google Shape;2126;p81"/>
            <p:cNvSpPr txBox="1"/>
            <p:nvPr/>
          </p:nvSpPr>
          <p:spPr>
            <a:xfrm>
              <a:off x="7479755" y="205451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W</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27" name="Google Shape;2127;p81"/>
          <p:cNvGrpSpPr/>
          <p:nvPr/>
        </p:nvGrpSpPr>
        <p:grpSpPr>
          <a:xfrm>
            <a:off x="5097705" y="4115416"/>
            <a:ext cx="3339425" cy="402575"/>
            <a:chOff x="5097705" y="1691690"/>
            <a:chExt cx="3339425" cy="402575"/>
          </a:xfrm>
        </p:grpSpPr>
        <p:sp>
          <p:nvSpPr>
            <p:cNvPr id="2128" name="Google Shape;2128;p81"/>
            <p:cNvSpPr txBox="1"/>
            <p:nvPr/>
          </p:nvSpPr>
          <p:spPr>
            <a:xfrm>
              <a:off x="5097705"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sp>
          <p:nvSpPr>
            <p:cNvPr id="2129" name="Google Shape;2129;p81"/>
            <p:cNvSpPr txBox="1"/>
            <p:nvPr/>
          </p:nvSpPr>
          <p:spPr>
            <a:xfrm>
              <a:off x="8064230" y="169169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X</a:t>
              </a:r>
              <a:endParaRPr sz="2500" b="0" i="0" u="none" strike="noStrike" cap="none">
                <a:solidFill>
                  <a:srgbClr val="4A86E8"/>
                </a:solidFill>
                <a:latin typeface="Shadows Into Light"/>
                <a:ea typeface="Shadows Into Light"/>
                <a:cs typeface="Shadows Into Light"/>
                <a:sym typeface="Shadows Into Light"/>
              </a:endParaRPr>
            </a:p>
          </p:txBody>
        </p:sp>
      </p:grpSp>
      <p:grpSp>
        <p:nvGrpSpPr>
          <p:cNvPr id="2130" name="Google Shape;2130;p81"/>
          <p:cNvGrpSpPr/>
          <p:nvPr/>
        </p:nvGrpSpPr>
        <p:grpSpPr>
          <a:xfrm>
            <a:off x="5491010" y="4124391"/>
            <a:ext cx="1825425" cy="784575"/>
            <a:chOff x="5491010" y="1700665"/>
            <a:chExt cx="1825425" cy="784575"/>
          </a:xfrm>
        </p:grpSpPr>
        <p:sp>
          <p:nvSpPr>
            <p:cNvPr id="2131" name="Google Shape;2131;p81"/>
            <p:cNvSpPr txBox="1"/>
            <p:nvPr/>
          </p:nvSpPr>
          <p:spPr>
            <a:xfrm>
              <a:off x="5491010" y="1700665"/>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sp>
          <p:nvSpPr>
            <p:cNvPr id="2132" name="Google Shape;2132;p81"/>
            <p:cNvSpPr txBox="1"/>
            <p:nvPr/>
          </p:nvSpPr>
          <p:spPr>
            <a:xfrm>
              <a:off x="6943535" y="2091640"/>
              <a:ext cx="372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 sz="2500" b="0" i="0" u="none" strike="noStrike" cap="none">
                  <a:solidFill>
                    <a:srgbClr val="4A86E8"/>
                  </a:solidFill>
                  <a:latin typeface="Shadows Into Light"/>
                  <a:ea typeface="Shadows Into Light"/>
                  <a:cs typeface="Shadows Into Light"/>
                  <a:sym typeface="Shadows Into Light"/>
                </a:rPr>
                <a:t>Z</a:t>
              </a:r>
              <a:endParaRPr sz="2500" b="0" i="0" u="none" strike="noStrike" cap="non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9"/>
                                        </p:tgtEl>
                                        <p:attrNameLst>
                                          <p:attrName>style.visibility</p:attrName>
                                        </p:attrNameLst>
                                      </p:cBhvr>
                                      <p:to>
                                        <p:strVal val="visible"/>
                                      </p:to>
                                    </p:set>
                                    <p:animEffect transition="in" filter="fade">
                                      <p:cBhvr>
                                        <p:cTn id="7" dur="1000"/>
                                        <p:tgtEl>
                                          <p:spTgt spid="20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82"/>
                                        </p:tgtEl>
                                        <p:attrNameLst>
                                          <p:attrName>style.visibility</p:attrName>
                                        </p:attrNameLst>
                                      </p:cBhvr>
                                      <p:to>
                                        <p:strVal val="visible"/>
                                      </p:to>
                                    </p:set>
                                    <p:animEffect transition="in" filter="fade">
                                      <p:cBhvr>
                                        <p:cTn id="12" dur="1000"/>
                                        <p:tgtEl>
                                          <p:spTgt spid="208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85"/>
                                        </p:tgtEl>
                                        <p:attrNameLst>
                                          <p:attrName>style.visibility</p:attrName>
                                        </p:attrNameLst>
                                      </p:cBhvr>
                                      <p:to>
                                        <p:strVal val="visible"/>
                                      </p:to>
                                    </p:set>
                                    <p:animEffect transition="in" filter="fade">
                                      <p:cBhvr>
                                        <p:cTn id="17" dur="1000"/>
                                        <p:tgtEl>
                                          <p:spTgt spid="208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88"/>
                                        </p:tgtEl>
                                        <p:attrNameLst>
                                          <p:attrName>style.visibility</p:attrName>
                                        </p:attrNameLst>
                                      </p:cBhvr>
                                      <p:to>
                                        <p:strVal val="visible"/>
                                      </p:to>
                                    </p:set>
                                    <p:animEffect transition="in" filter="fade">
                                      <p:cBhvr>
                                        <p:cTn id="22" dur="1000"/>
                                        <p:tgtEl>
                                          <p:spTgt spid="208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91"/>
                                        </p:tgtEl>
                                        <p:attrNameLst>
                                          <p:attrName>style.visibility</p:attrName>
                                        </p:attrNameLst>
                                      </p:cBhvr>
                                      <p:to>
                                        <p:strVal val="visible"/>
                                      </p:to>
                                    </p:set>
                                    <p:animEffect transition="in" filter="fade">
                                      <p:cBhvr>
                                        <p:cTn id="27" dur="1000"/>
                                        <p:tgtEl>
                                          <p:spTgt spid="209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94"/>
                                        </p:tgtEl>
                                        <p:attrNameLst>
                                          <p:attrName>style.visibility</p:attrName>
                                        </p:attrNameLst>
                                      </p:cBhvr>
                                      <p:to>
                                        <p:strVal val="visible"/>
                                      </p:to>
                                    </p:set>
                                    <p:animEffect transition="in" filter="fade">
                                      <p:cBhvr>
                                        <p:cTn id="32" dur="1000"/>
                                        <p:tgtEl>
                                          <p:spTgt spid="209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97"/>
                                        </p:tgtEl>
                                        <p:attrNameLst>
                                          <p:attrName>style.visibility</p:attrName>
                                        </p:attrNameLst>
                                      </p:cBhvr>
                                      <p:to>
                                        <p:strVal val="visible"/>
                                      </p:to>
                                    </p:set>
                                    <p:animEffect transition="in" filter="fade">
                                      <p:cBhvr>
                                        <p:cTn id="37" dur="1000"/>
                                        <p:tgtEl>
                                          <p:spTgt spid="209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00"/>
                                        </p:tgtEl>
                                        <p:attrNameLst>
                                          <p:attrName>style.visibility</p:attrName>
                                        </p:attrNameLst>
                                      </p:cBhvr>
                                      <p:to>
                                        <p:strVal val="visible"/>
                                      </p:to>
                                    </p:set>
                                    <p:animEffect transition="in" filter="fade">
                                      <p:cBhvr>
                                        <p:cTn id="42" dur="1000"/>
                                        <p:tgtEl>
                                          <p:spTgt spid="210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06"/>
                                        </p:tgtEl>
                                        <p:attrNameLst>
                                          <p:attrName>style.visibility</p:attrName>
                                        </p:attrNameLst>
                                      </p:cBhvr>
                                      <p:to>
                                        <p:strVal val="visible"/>
                                      </p:to>
                                    </p:set>
                                    <p:animEffect transition="in" filter="fade">
                                      <p:cBhvr>
                                        <p:cTn id="47" dur="1000"/>
                                        <p:tgtEl>
                                          <p:spTgt spid="210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103"/>
                                        </p:tgtEl>
                                        <p:attrNameLst>
                                          <p:attrName>style.visibility</p:attrName>
                                        </p:attrNameLst>
                                      </p:cBhvr>
                                      <p:to>
                                        <p:strVal val="visible"/>
                                      </p:to>
                                    </p:set>
                                    <p:animEffect transition="in" filter="fade">
                                      <p:cBhvr>
                                        <p:cTn id="52" dur="1000"/>
                                        <p:tgtEl>
                                          <p:spTgt spid="210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109"/>
                                        </p:tgtEl>
                                        <p:attrNameLst>
                                          <p:attrName>style.visibility</p:attrName>
                                        </p:attrNameLst>
                                      </p:cBhvr>
                                      <p:to>
                                        <p:strVal val="visible"/>
                                      </p:to>
                                    </p:set>
                                    <p:animEffect transition="in" filter="fade">
                                      <p:cBhvr>
                                        <p:cTn id="57" dur="1000"/>
                                        <p:tgtEl>
                                          <p:spTgt spid="210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112"/>
                                        </p:tgtEl>
                                        <p:attrNameLst>
                                          <p:attrName>style.visibility</p:attrName>
                                        </p:attrNameLst>
                                      </p:cBhvr>
                                      <p:to>
                                        <p:strVal val="visible"/>
                                      </p:to>
                                    </p:set>
                                    <p:animEffect transition="in" filter="fade">
                                      <p:cBhvr>
                                        <p:cTn id="62" dur="1000"/>
                                        <p:tgtEl>
                                          <p:spTgt spid="211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115"/>
                                        </p:tgtEl>
                                        <p:attrNameLst>
                                          <p:attrName>style.visibility</p:attrName>
                                        </p:attrNameLst>
                                      </p:cBhvr>
                                      <p:to>
                                        <p:strVal val="visible"/>
                                      </p:to>
                                    </p:set>
                                    <p:animEffect transition="in" filter="fade">
                                      <p:cBhvr>
                                        <p:cTn id="67" dur="1000"/>
                                        <p:tgtEl>
                                          <p:spTgt spid="211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118"/>
                                        </p:tgtEl>
                                        <p:attrNameLst>
                                          <p:attrName>style.visibility</p:attrName>
                                        </p:attrNameLst>
                                      </p:cBhvr>
                                      <p:to>
                                        <p:strVal val="visible"/>
                                      </p:to>
                                    </p:set>
                                    <p:animEffect transition="in" filter="fade">
                                      <p:cBhvr>
                                        <p:cTn id="72" dur="1000"/>
                                        <p:tgtEl>
                                          <p:spTgt spid="21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121"/>
                                        </p:tgtEl>
                                        <p:attrNameLst>
                                          <p:attrName>style.visibility</p:attrName>
                                        </p:attrNameLst>
                                      </p:cBhvr>
                                      <p:to>
                                        <p:strVal val="visible"/>
                                      </p:to>
                                    </p:set>
                                    <p:animEffect transition="in" filter="fade">
                                      <p:cBhvr>
                                        <p:cTn id="77" dur="1000"/>
                                        <p:tgtEl>
                                          <p:spTgt spid="212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124"/>
                                        </p:tgtEl>
                                        <p:attrNameLst>
                                          <p:attrName>style.visibility</p:attrName>
                                        </p:attrNameLst>
                                      </p:cBhvr>
                                      <p:to>
                                        <p:strVal val="visible"/>
                                      </p:to>
                                    </p:set>
                                    <p:animEffect transition="in" filter="fade">
                                      <p:cBhvr>
                                        <p:cTn id="82" dur="1000"/>
                                        <p:tgtEl>
                                          <p:spTgt spid="212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127"/>
                                        </p:tgtEl>
                                        <p:attrNameLst>
                                          <p:attrName>style.visibility</p:attrName>
                                        </p:attrNameLst>
                                      </p:cBhvr>
                                      <p:to>
                                        <p:strVal val="visible"/>
                                      </p:to>
                                    </p:set>
                                    <p:animEffect transition="in" filter="fade">
                                      <p:cBhvr>
                                        <p:cTn id="87" dur="1000"/>
                                        <p:tgtEl>
                                          <p:spTgt spid="2127"/>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130"/>
                                        </p:tgtEl>
                                        <p:attrNameLst>
                                          <p:attrName>style.visibility</p:attrName>
                                        </p:attrNameLst>
                                      </p:cBhvr>
                                      <p:to>
                                        <p:strVal val="visible"/>
                                      </p:to>
                                    </p:set>
                                    <p:animEffect transition="in" filter="fade">
                                      <p:cBhvr>
                                        <p:cTn id="92" dur="1000"/>
                                        <p:tgtEl>
                                          <p:spTgt spid="2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graphicFrame>
        <p:nvGraphicFramePr>
          <p:cNvPr id="2137" name="Google Shape;2137;p82"/>
          <p:cNvGraphicFramePr/>
          <p:nvPr/>
        </p:nvGraphicFramePr>
        <p:xfrm>
          <a:off x="5192213" y="1778475"/>
          <a:ext cx="3000000" cy="3000000"/>
        </p:xfrm>
        <a:graphic>
          <a:graphicData uri="http://schemas.openxmlformats.org/drawingml/2006/table">
            <a:tbl>
              <a:tblPr>
                <a:noFill/>
                <a:tableStyleId>{F61E8307-4E6B-4154-8BF4-D3231BAD3CED}</a:tableStyleId>
              </a:tblPr>
              <a:tblGrid>
                <a:gridCol w="1809275">
                  <a:extLst>
                    <a:ext uri="{9D8B030D-6E8A-4147-A177-3AD203B41FA5}">
                      <a16:colId xmlns:a16="http://schemas.microsoft.com/office/drawing/2014/main" val="20000"/>
                    </a:ext>
                  </a:extLst>
                </a:gridCol>
              </a:tblGrid>
              <a:tr h="31675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Visited Set</a:t>
                      </a:r>
                      <a:endParaRPr sz="1400" u="none" strike="noStrike" cap="none">
                        <a:solidFill>
                          <a:srgbClr val="FFFFFF"/>
                        </a:solidFill>
                      </a:endParaRPr>
                    </a:p>
                  </a:txBody>
                  <a:tcPr marL="91425" marR="91425" marT="91425" marB="91425">
                    <a:lnL w="19050"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73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2138" name="Google Shape;2138;p82"/>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
              <a:t>49</a:t>
            </a:fld>
            <a:endParaRPr/>
          </a:p>
        </p:txBody>
      </p:sp>
      <p:sp>
        <p:nvSpPr>
          <p:cNvPr id="2139" name="Google Shape;2139;p82"/>
          <p:cNvSpPr txBox="1">
            <a:spLocks noGrp="1"/>
          </p:cNvSpPr>
          <p:nvPr>
            <p:ph type="title"/>
          </p:nvPr>
        </p:nvSpPr>
        <p:spPr>
          <a:xfrm>
            <a:off x="5188525" y="1961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The DFS Algorithm</a:t>
            </a:r>
            <a:endParaRPr/>
          </a:p>
        </p:txBody>
      </p:sp>
      <p:sp>
        <p:nvSpPr>
          <p:cNvPr id="2140" name="Google Shape;2140;p82"/>
          <p:cNvSpPr txBox="1">
            <a:spLocks noGrp="1"/>
          </p:cNvSpPr>
          <p:nvPr>
            <p:ph type="body" idx="1"/>
          </p:nvPr>
        </p:nvSpPr>
        <p:spPr>
          <a:xfrm>
            <a:off x="147400" y="272325"/>
            <a:ext cx="4546200" cy="45270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Like BFS, a </a:t>
            </a:r>
            <a:r>
              <a:rPr lang="en" b="1" i="1">
                <a:solidFill>
                  <a:srgbClr val="FF0000"/>
                </a:solidFill>
              </a:rPr>
              <a:t>depth-first search</a:t>
            </a:r>
            <a:r>
              <a:rPr lang="en"/>
              <a:t> can be used to determine whether or not a path </a:t>
            </a:r>
            <a:r>
              <a:rPr lang="en" b="1" i="1">
                <a:solidFill>
                  <a:srgbClr val="FF0000"/>
                </a:solidFill>
              </a:rPr>
              <a:t>exists</a:t>
            </a:r>
            <a:r>
              <a:rPr lang="en">
                <a:solidFill>
                  <a:srgbClr val="FF0000"/>
                </a:solidFill>
              </a:rPr>
              <a:t> </a:t>
            </a:r>
            <a:r>
              <a:rPr lang="en"/>
              <a:t>between a start vertex </a:t>
            </a:r>
            <a:r>
              <a:rPr lang="en" b="1" i="1">
                <a:solidFill>
                  <a:srgbClr val="FF0000"/>
                </a:solidFill>
              </a:rPr>
              <a:t>S</a:t>
            </a:r>
            <a:r>
              <a:rPr lang="en"/>
              <a:t> and an end vertex</a:t>
            </a:r>
            <a:r>
              <a:rPr lang="en">
                <a:solidFill>
                  <a:srgbClr val="FF0000"/>
                </a:solidFill>
              </a:rPr>
              <a:t> </a:t>
            </a:r>
            <a:r>
              <a:rPr lang="en" b="1" i="1">
                <a:solidFill>
                  <a:srgbClr val="FF0000"/>
                </a:solidFill>
              </a:rPr>
              <a:t>E</a:t>
            </a:r>
            <a:r>
              <a:rPr lang="en"/>
              <a:t>.</a:t>
            </a:r>
            <a:endParaRPr/>
          </a:p>
          <a:p>
            <a:pPr marL="457200" lvl="0" indent="-311150" algn="l" rtl="0">
              <a:lnSpc>
                <a:spcPct val="115000"/>
              </a:lnSpc>
              <a:spcBef>
                <a:spcPts val="1000"/>
              </a:spcBef>
              <a:spcAft>
                <a:spcPts val="0"/>
              </a:spcAft>
              <a:buSzPts val="1300"/>
              <a:buChar char="●"/>
            </a:pPr>
            <a:r>
              <a:rPr lang="en"/>
              <a:t>We will be implementing a </a:t>
            </a:r>
            <a:r>
              <a:rPr lang="en" b="1" i="1">
                <a:solidFill>
                  <a:srgbClr val="FF0000"/>
                </a:solidFill>
              </a:rPr>
              <a:t>recursive</a:t>
            </a:r>
            <a:r>
              <a:rPr lang="en">
                <a:solidFill>
                  <a:srgbClr val="FF0000"/>
                </a:solidFill>
              </a:rPr>
              <a:t> </a:t>
            </a:r>
            <a:r>
              <a:rPr lang="en"/>
              <a:t>implementation of DFS in two parts.</a:t>
            </a:r>
            <a:endParaRPr/>
          </a:p>
          <a:p>
            <a:pPr marL="457200" lvl="0" indent="-311150" algn="l" rtl="0">
              <a:lnSpc>
                <a:spcPct val="115000"/>
              </a:lnSpc>
              <a:spcBef>
                <a:spcPts val="1000"/>
              </a:spcBef>
              <a:spcAft>
                <a:spcPts val="0"/>
              </a:spcAft>
              <a:buSzPts val="1300"/>
              <a:buChar char="●"/>
            </a:pPr>
            <a:r>
              <a:rPr lang="en"/>
              <a:t>The first part is a </a:t>
            </a:r>
            <a:r>
              <a:rPr lang="en" b="1" i="1">
                <a:solidFill>
                  <a:srgbClr val="FF0000"/>
                </a:solidFill>
              </a:rPr>
              <a:t>helper function</a:t>
            </a:r>
            <a:r>
              <a:rPr lang="en"/>
              <a:t> that </a:t>
            </a:r>
            <a:r>
              <a:rPr lang="en" b="1" i="1">
                <a:solidFill>
                  <a:srgbClr val="FF0000"/>
                </a:solidFill>
              </a:rPr>
              <a:t>visits</a:t>
            </a:r>
            <a:r>
              <a:rPr lang="en">
                <a:solidFill>
                  <a:srgbClr val="FF0000"/>
                </a:solidFill>
              </a:rPr>
              <a:t> </a:t>
            </a:r>
            <a:r>
              <a:rPr lang="en"/>
              <a:t>a vertex.</a:t>
            </a:r>
            <a:endParaRPr/>
          </a:p>
          <a:p>
            <a:pPr marL="914400" lvl="1" indent="-298450" algn="l" rtl="0">
              <a:lnSpc>
                <a:spcPct val="115000"/>
              </a:lnSpc>
              <a:spcBef>
                <a:spcPts val="0"/>
              </a:spcBef>
              <a:spcAft>
                <a:spcPts val="0"/>
              </a:spcAft>
              <a:buSzPts val="1100"/>
              <a:buChar char="○"/>
            </a:pPr>
            <a:r>
              <a:rPr lang="en"/>
              <a:t>It will declare parameters for a vertex </a:t>
            </a:r>
            <a:r>
              <a:rPr lang="en" b="1" i="1">
                <a:solidFill>
                  <a:srgbClr val="FF0000"/>
                </a:solidFill>
              </a:rPr>
              <a:t>V</a:t>
            </a:r>
            <a:r>
              <a:rPr lang="en"/>
              <a:t> and a set of previously </a:t>
            </a:r>
            <a:r>
              <a:rPr lang="en" b="1" i="1">
                <a:solidFill>
                  <a:srgbClr val="FF0000"/>
                </a:solidFill>
              </a:rPr>
              <a:t>visited</a:t>
            </a:r>
            <a:r>
              <a:rPr lang="en">
                <a:solidFill>
                  <a:srgbClr val="FF0000"/>
                </a:solidFill>
              </a:rPr>
              <a:t> </a:t>
            </a:r>
            <a:r>
              <a:rPr lang="en"/>
              <a:t>vertices.</a:t>
            </a:r>
            <a:endParaRPr/>
          </a:p>
          <a:p>
            <a:pPr marL="914400" lvl="1" indent="-298450" algn="l" rtl="0">
              <a:lnSpc>
                <a:spcPct val="115000"/>
              </a:lnSpc>
              <a:spcBef>
                <a:spcPts val="0"/>
              </a:spcBef>
              <a:spcAft>
                <a:spcPts val="0"/>
              </a:spcAft>
              <a:buSzPts val="1100"/>
              <a:buChar char="○"/>
            </a:pPr>
            <a:r>
              <a:rPr lang="en"/>
              <a:t>For each neighbor </a:t>
            </a:r>
            <a:r>
              <a:rPr lang="en" b="1" i="1">
                <a:solidFill>
                  <a:srgbClr val="FF0000"/>
                </a:solidFill>
              </a:rPr>
              <a:t>N</a:t>
            </a:r>
            <a:r>
              <a:rPr lang="en"/>
              <a:t> of </a:t>
            </a:r>
            <a:r>
              <a:rPr lang="en" b="1" i="1">
                <a:solidFill>
                  <a:srgbClr val="FF0000"/>
                </a:solidFill>
              </a:rPr>
              <a:t>V</a:t>
            </a:r>
            <a:r>
              <a:rPr lang="en"/>
              <a:t> that is not already in the </a:t>
            </a:r>
            <a:r>
              <a:rPr lang="en" b="1" i="1">
                <a:solidFill>
                  <a:srgbClr val="FF0000"/>
                </a:solidFill>
              </a:rPr>
              <a:t>visited</a:t>
            </a:r>
            <a:r>
              <a:rPr lang="en">
                <a:solidFill>
                  <a:srgbClr val="FF0000"/>
                </a:solidFill>
              </a:rPr>
              <a:t> </a:t>
            </a:r>
            <a:r>
              <a:rPr lang="en"/>
              <a:t>set:</a:t>
            </a:r>
            <a:endParaRPr/>
          </a:p>
          <a:p>
            <a:pPr marL="1371600" lvl="2" indent="-298450" algn="l" rtl="0">
              <a:lnSpc>
                <a:spcPct val="115000"/>
              </a:lnSpc>
              <a:spcBef>
                <a:spcPts val="0"/>
              </a:spcBef>
              <a:spcAft>
                <a:spcPts val="0"/>
              </a:spcAft>
              <a:buSzPts val="1100"/>
              <a:buChar char="■"/>
            </a:pPr>
            <a:r>
              <a:rPr lang="en" b="1" i="1">
                <a:solidFill>
                  <a:srgbClr val="FF0000"/>
                </a:solidFill>
              </a:rPr>
              <a:t>Add</a:t>
            </a:r>
            <a:r>
              <a:rPr lang="en">
                <a:solidFill>
                  <a:srgbClr val="FF0000"/>
                </a:solidFill>
              </a:rPr>
              <a:t> </a:t>
            </a:r>
            <a:r>
              <a:rPr lang="en" b="1" i="1">
                <a:solidFill>
                  <a:srgbClr val="FF0000"/>
                </a:solidFill>
              </a:rPr>
              <a:t>N</a:t>
            </a:r>
            <a:r>
              <a:rPr lang="en"/>
              <a:t> to the </a:t>
            </a:r>
            <a:r>
              <a:rPr lang="en" b="1" i="1">
                <a:solidFill>
                  <a:srgbClr val="FF0000"/>
                </a:solidFill>
              </a:rPr>
              <a:t>visited</a:t>
            </a:r>
            <a:r>
              <a:rPr lang="en">
                <a:solidFill>
                  <a:srgbClr val="FF0000"/>
                </a:solidFill>
              </a:rPr>
              <a:t> </a:t>
            </a:r>
            <a:r>
              <a:rPr lang="en"/>
              <a:t>set.</a:t>
            </a:r>
            <a:endParaRPr/>
          </a:p>
          <a:p>
            <a:pPr marL="1371600" lvl="2" indent="-298450" algn="l" rtl="0">
              <a:lnSpc>
                <a:spcPct val="115000"/>
              </a:lnSpc>
              <a:spcBef>
                <a:spcPts val="0"/>
              </a:spcBef>
              <a:spcAft>
                <a:spcPts val="0"/>
              </a:spcAft>
              <a:buSzPts val="1100"/>
              <a:buChar char="■"/>
            </a:pPr>
            <a:r>
              <a:rPr lang="en" b="1" i="1">
                <a:solidFill>
                  <a:srgbClr val="FF0000"/>
                </a:solidFill>
              </a:rPr>
              <a:t>Visit</a:t>
            </a:r>
            <a:r>
              <a:rPr lang="en">
                <a:solidFill>
                  <a:srgbClr val="FF0000"/>
                </a:solidFill>
              </a:rPr>
              <a:t> </a:t>
            </a:r>
            <a:r>
              <a:rPr lang="en" b="1" i="1">
                <a:solidFill>
                  <a:srgbClr val="FF0000"/>
                </a:solidFill>
              </a:rPr>
              <a:t>N</a:t>
            </a:r>
            <a:r>
              <a:rPr lang="en"/>
              <a:t> (make a </a:t>
            </a:r>
            <a:r>
              <a:rPr lang="en" b="1" i="1">
                <a:solidFill>
                  <a:srgbClr val="FF0000"/>
                </a:solidFill>
              </a:rPr>
              <a:t>recursive</a:t>
            </a:r>
            <a:r>
              <a:rPr lang="en">
                <a:solidFill>
                  <a:srgbClr val="FF0000"/>
                </a:solidFill>
              </a:rPr>
              <a:t> </a:t>
            </a:r>
            <a:r>
              <a:rPr lang="en"/>
              <a:t>call).</a:t>
            </a:r>
            <a:endParaRPr/>
          </a:p>
          <a:p>
            <a:pPr marL="457200" lvl="0" indent="-311150" algn="l" rtl="0">
              <a:lnSpc>
                <a:spcPct val="115000"/>
              </a:lnSpc>
              <a:spcBef>
                <a:spcPts val="1000"/>
              </a:spcBef>
              <a:spcAft>
                <a:spcPts val="0"/>
              </a:spcAft>
              <a:buSzPts val="1300"/>
              <a:buChar char="●"/>
            </a:pPr>
            <a:r>
              <a:rPr lang="en"/>
              <a:t>The second part is the </a:t>
            </a:r>
            <a:r>
              <a:rPr lang="en" b="1" i="1">
                <a:solidFill>
                  <a:srgbClr val="FF0000"/>
                </a:solidFill>
              </a:rPr>
              <a:t>main DFS method</a:t>
            </a:r>
            <a:r>
              <a:rPr lang="en"/>
              <a:t>. It will simply:</a:t>
            </a:r>
            <a:endParaRPr/>
          </a:p>
          <a:p>
            <a:pPr marL="914400" lvl="1" indent="-298450" algn="l" rtl="0">
              <a:lnSpc>
                <a:spcPct val="115000"/>
              </a:lnSpc>
              <a:spcBef>
                <a:spcPts val="0"/>
              </a:spcBef>
              <a:spcAft>
                <a:spcPts val="0"/>
              </a:spcAft>
              <a:buSzPts val="1100"/>
              <a:buChar char="○"/>
            </a:pPr>
            <a:r>
              <a:rPr lang="en" b="1" i="1">
                <a:solidFill>
                  <a:srgbClr val="FF0000"/>
                </a:solidFill>
              </a:rPr>
              <a:t>Create </a:t>
            </a:r>
            <a:r>
              <a:rPr lang="en"/>
              <a:t>the </a:t>
            </a:r>
            <a:r>
              <a:rPr lang="en" b="1" i="1">
                <a:solidFill>
                  <a:srgbClr val="FF0000"/>
                </a:solidFill>
              </a:rPr>
              <a:t>visited</a:t>
            </a:r>
            <a:r>
              <a:rPr lang="en">
                <a:solidFill>
                  <a:srgbClr val="FF0000"/>
                </a:solidFill>
              </a:rPr>
              <a:t> </a:t>
            </a:r>
            <a:r>
              <a:rPr lang="en"/>
              <a:t>set.</a:t>
            </a:r>
            <a:endParaRPr/>
          </a:p>
          <a:p>
            <a:pPr marL="914400" lvl="1" indent="-298450" algn="l" rtl="0">
              <a:lnSpc>
                <a:spcPct val="115000"/>
              </a:lnSpc>
              <a:spcBef>
                <a:spcPts val="0"/>
              </a:spcBef>
              <a:spcAft>
                <a:spcPts val="0"/>
              </a:spcAft>
              <a:buSzPts val="1100"/>
              <a:buChar char="○"/>
            </a:pPr>
            <a:r>
              <a:rPr lang="en" b="1" i="1">
                <a:solidFill>
                  <a:srgbClr val="FF0000"/>
                </a:solidFill>
              </a:rPr>
              <a:t>Add</a:t>
            </a:r>
            <a:r>
              <a:rPr lang="en">
                <a:solidFill>
                  <a:srgbClr val="FF0000"/>
                </a:solidFill>
              </a:rPr>
              <a:t> </a:t>
            </a:r>
            <a:r>
              <a:rPr lang="en" b="1" i="1">
                <a:solidFill>
                  <a:srgbClr val="FF0000"/>
                </a:solidFill>
              </a:rPr>
              <a:t>S</a:t>
            </a:r>
            <a:r>
              <a:rPr lang="en"/>
              <a:t> to the </a:t>
            </a:r>
            <a:r>
              <a:rPr lang="en" b="1" i="1">
                <a:solidFill>
                  <a:srgbClr val="FF0000"/>
                </a:solidFill>
              </a:rPr>
              <a:t>visited</a:t>
            </a:r>
            <a:r>
              <a:rPr lang="en">
                <a:solidFill>
                  <a:srgbClr val="FF0000"/>
                </a:solidFill>
              </a:rPr>
              <a:t> </a:t>
            </a:r>
            <a:r>
              <a:rPr lang="en"/>
              <a:t>set.</a:t>
            </a:r>
            <a:endParaRPr/>
          </a:p>
          <a:p>
            <a:pPr marL="914400" lvl="1" indent="-298450" algn="l" rtl="0">
              <a:lnSpc>
                <a:spcPct val="115000"/>
              </a:lnSpc>
              <a:spcBef>
                <a:spcPts val="0"/>
              </a:spcBef>
              <a:spcAft>
                <a:spcPts val="0"/>
              </a:spcAft>
              <a:buSzPts val="1100"/>
              <a:buChar char="○"/>
            </a:pPr>
            <a:r>
              <a:rPr lang="en" b="1" i="1">
                <a:solidFill>
                  <a:srgbClr val="FF0000"/>
                </a:solidFill>
              </a:rPr>
              <a:t>Call</a:t>
            </a:r>
            <a:r>
              <a:rPr lang="en">
                <a:solidFill>
                  <a:srgbClr val="FF0000"/>
                </a:solidFill>
              </a:rPr>
              <a:t> </a:t>
            </a:r>
            <a:r>
              <a:rPr lang="en"/>
              <a:t>the helper function with </a:t>
            </a:r>
            <a:r>
              <a:rPr lang="en" b="1" i="1">
                <a:solidFill>
                  <a:srgbClr val="FF0000"/>
                </a:solidFill>
              </a:rPr>
              <a:t>S</a:t>
            </a:r>
            <a:r>
              <a:rPr lang="en"/>
              <a:t> and the </a:t>
            </a:r>
            <a:r>
              <a:rPr lang="en" b="1" i="1">
                <a:solidFill>
                  <a:srgbClr val="FF0000"/>
                </a:solidFill>
              </a:rPr>
              <a:t>visited</a:t>
            </a:r>
            <a:r>
              <a:rPr lang="en">
                <a:solidFill>
                  <a:srgbClr val="FF0000"/>
                </a:solidFill>
              </a:rPr>
              <a:t> </a:t>
            </a:r>
            <a:r>
              <a:rPr lang="en"/>
              <a:t>set.</a:t>
            </a:r>
            <a:endParaRPr/>
          </a:p>
          <a:p>
            <a:pPr marL="914400" lvl="1" indent="-298450" algn="l" rtl="0">
              <a:lnSpc>
                <a:spcPct val="115000"/>
              </a:lnSpc>
              <a:spcBef>
                <a:spcPts val="0"/>
              </a:spcBef>
              <a:spcAft>
                <a:spcPts val="0"/>
              </a:spcAft>
              <a:buSzPts val="1100"/>
              <a:buChar char="○"/>
            </a:pPr>
            <a:r>
              <a:rPr lang="en"/>
              <a:t>When the function returns, return </a:t>
            </a:r>
            <a:r>
              <a:rPr lang="en">
                <a:solidFill>
                  <a:srgbClr val="FF0000"/>
                </a:solidFill>
                <a:latin typeface="Courier New"/>
                <a:ea typeface="Courier New"/>
                <a:cs typeface="Courier New"/>
                <a:sym typeface="Courier New"/>
              </a:rPr>
              <a:t>true</a:t>
            </a:r>
            <a:r>
              <a:rPr lang="en">
                <a:solidFill>
                  <a:srgbClr val="FF0000"/>
                </a:solidFill>
              </a:rPr>
              <a:t> </a:t>
            </a:r>
            <a:r>
              <a:rPr lang="en"/>
              <a:t>if </a:t>
            </a:r>
            <a:r>
              <a:rPr lang="en" b="1" i="1">
                <a:solidFill>
                  <a:srgbClr val="FF0000"/>
                </a:solidFill>
              </a:rPr>
              <a:t>E</a:t>
            </a:r>
            <a:r>
              <a:rPr lang="en"/>
              <a:t> is in the set, and </a:t>
            </a:r>
            <a:r>
              <a:rPr lang="en">
                <a:solidFill>
                  <a:srgbClr val="FF0000"/>
                </a:solidFill>
                <a:latin typeface="Courier New"/>
                <a:ea typeface="Courier New"/>
                <a:cs typeface="Courier New"/>
                <a:sym typeface="Courier New"/>
              </a:rPr>
              <a:t>false</a:t>
            </a:r>
            <a:r>
              <a:rPr lang="en">
                <a:solidFill>
                  <a:srgbClr val="FF0000"/>
                </a:solidFill>
              </a:rPr>
              <a:t> </a:t>
            </a:r>
            <a:r>
              <a:rPr lang="en"/>
              <a:t>otherwise.</a:t>
            </a:r>
            <a:endParaRPr/>
          </a:p>
        </p:txBody>
      </p:sp>
      <p:sp>
        <p:nvSpPr>
          <p:cNvPr id="2141" name="Google Shape;2141;p82"/>
          <p:cNvSpPr txBox="1">
            <a:spLocks noGrp="1"/>
          </p:cNvSpPr>
          <p:nvPr>
            <p:ph type="body" idx="3"/>
          </p:nvPr>
        </p:nvSpPr>
        <p:spPr>
          <a:xfrm>
            <a:off x="5232525" y="1030475"/>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Let's look at an example of performing a </a:t>
            </a:r>
            <a:r>
              <a:rPr lang="en" b="1" i="1">
                <a:solidFill>
                  <a:srgbClr val="FF0000"/>
                </a:solidFill>
              </a:rPr>
              <a:t>depth-first search</a:t>
            </a:r>
            <a:r>
              <a:rPr lang="en"/>
              <a:t> on the example graph below to find a path from </a:t>
            </a:r>
            <a:r>
              <a:rPr lang="en" b="1" i="1">
                <a:solidFill>
                  <a:srgbClr val="FF0000"/>
                </a:solidFill>
              </a:rPr>
              <a:t>F to B</a:t>
            </a:r>
            <a:r>
              <a:rPr lang="en"/>
              <a:t>.</a:t>
            </a:r>
            <a:endParaRPr/>
          </a:p>
        </p:txBody>
      </p:sp>
      <p:grpSp>
        <p:nvGrpSpPr>
          <p:cNvPr id="2142" name="Google Shape;2142;p82"/>
          <p:cNvGrpSpPr/>
          <p:nvPr/>
        </p:nvGrpSpPr>
        <p:grpSpPr>
          <a:xfrm>
            <a:off x="7119770" y="1810539"/>
            <a:ext cx="1819260" cy="1804266"/>
            <a:chOff x="6699858" y="172562"/>
            <a:chExt cx="2727118" cy="2705047"/>
          </a:xfrm>
        </p:grpSpPr>
        <p:sp>
          <p:nvSpPr>
            <p:cNvPr id="2143" name="Google Shape;2143;p82"/>
            <p:cNvSpPr/>
            <p:nvPr/>
          </p:nvSpPr>
          <p:spPr>
            <a:xfrm>
              <a:off x="6872323" y="172562"/>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F</a:t>
              </a:r>
              <a:endParaRPr sz="1000" b="0" i="0" u="none" strike="noStrike" cap="none">
                <a:solidFill>
                  <a:srgbClr val="FFFFFF"/>
                </a:solidFill>
                <a:latin typeface="Arial"/>
                <a:ea typeface="Arial"/>
                <a:cs typeface="Arial"/>
                <a:sym typeface="Arial"/>
              </a:endParaRPr>
            </a:p>
          </p:txBody>
        </p:sp>
        <p:sp>
          <p:nvSpPr>
            <p:cNvPr id="2144" name="Google Shape;2144;p82"/>
            <p:cNvSpPr/>
            <p:nvPr/>
          </p:nvSpPr>
          <p:spPr>
            <a:xfrm>
              <a:off x="8013576" y="495468"/>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E</a:t>
              </a:r>
              <a:endParaRPr sz="1000" b="0" i="0" u="none" strike="noStrike" cap="none">
                <a:solidFill>
                  <a:srgbClr val="FFFFFF"/>
                </a:solidFill>
                <a:latin typeface="Arial"/>
                <a:ea typeface="Arial"/>
                <a:cs typeface="Arial"/>
                <a:sym typeface="Arial"/>
              </a:endParaRPr>
            </a:p>
          </p:txBody>
        </p:sp>
        <p:sp>
          <p:nvSpPr>
            <p:cNvPr id="2145" name="Google Shape;2145;p82"/>
            <p:cNvSpPr/>
            <p:nvPr/>
          </p:nvSpPr>
          <p:spPr>
            <a:xfrm>
              <a:off x="6699858" y="1369709"/>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G</a:t>
              </a:r>
              <a:endParaRPr sz="1000" b="0" i="0" u="none" strike="noStrike" cap="none">
                <a:solidFill>
                  <a:srgbClr val="FFFFFF"/>
                </a:solidFill>
                <a:latin typeface="Arial"/>
                <a:ea typeface="Arial"/>
                <a:cs typeface="Arial"/>
                <a:sym typeface="Arial"/>
              </a:endParaRPr>
            </a:p>
          </p:txBody>
        </p:sp>
        <p:sp>
          <p:nvSpPr>
            <p:cNvPr id="2146" name="Google Shape;2146;p82"/>
            <p:cNvSpPr/>
            <p:nvPr/>
          </p:nvSpPr>
          <p:spPr>
            <a:xfrm>
              <a:off x="7907861" y="1610328"/>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C</a:t>
              </a:r>
              <a:endParaRPr sz="1000" b="0" i="0" u="none" strike="noStrike" cap="none">
                <a:solidFill>
                  <a:srgbClr val="FFFFFF"/>
                </a:solidFill>
                <a:latin typeface="Arial"/>
                <a:ea typeface="Arial"/>
                <a:cs typeface="Arial"/>
                <a:sym typeface="Arial"/>
              </a:endParaRPr>
            </a:p>
          </p:txBody>
        </p:sp>
        <p:sp>
          <p:nvSpPr>
            <p:cNvPr id="2147" name="Google Shape;2147;p82"/>
            <p:cNvSpPr/>
            <p:nvPr/>
          </p:nvSpPr>
          <p:spPr>
            <a:xfrm>
              <a:off x="8735976" y="2355609"/>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B</a:t>
              </a:r>
              <a:endParaRPr sz="1000" b="0" i="0" u="none" strike="noStrike" cap="none">
                <a:solidFill>
                  <a:srgbClr val="FFFFFF"/>
                </a:solidFill>
                <a:latin typeface="Arial"/>
                <a:ea typeface="Arial"/>
                <a:cs typeface="Arial"/>
                <a:sym typeface="Arial"/>
              </a:endParaRPr>
            </a:p>
          </p:txBody>
        </p:sp>
        <p:cxnSp>
          <p:nvCxnSpPr>
            <p:cNvPr id="2148" name="Google Shape;2148;p82"/>
            <p:cNvCxnSpPr>
              <a:stCxn id="2143" idx="6"/>
              <a:endCxn id="2144" idx="1"/>
            </p:cNvCxnSpPr>
            <p:nvPr/>
          </p:nvCxnSpPr>
          <p:spPr>
            <a:xfrm>
              <a:off x="7394323" y="433562"/>
              <a:ext cx="695700" cy="138300"/>
            </a:xfrm>
            <a:prstGeom prst="straightConnector1">
              <a:avLst/>
            </a:prstGeom>
            <a:noFill/>
            <a:ln w="19050" cap="flat" cmpd="sng">
              <a:solidFill>
                <a:srgbClr val="FFFFFF"/>
              </a:solidFill>
              <a:prstDash val="solid"/>
              <a:round/>
              <a:headEnd type="none" w="sm" len="sm"/>
              <a:tailEnd type="none" w="sm" len="sm"/>
            </a:ln>
          </p:spPr>
        </p:cxnSp>
        <p:cxnSp>
          <p:nvCxnSpPr>
            <p:cNvPr id="2149" name="Google Shape;2149;p82"/>
            <p:cNvCxnSpPr>
              <a:stCxn id="2143" idx="4"/>
              <a:endCxn id="2145" idx="0"/>
            </p:cNvCxnSpPr>
            <p:nvPr/>
          </p:nvCxnSpPr>
          <p:spPr>
            <a:xfrm flipH="1">
              <a:off x="6960823" y="694562"/>
              <a:ext cx="172500" cy="675000"/>
            </a:xfrm>
            <a:prstGeom prst="straightConnector1">
              <a:avLst/>
            </a:prstGeom>
            <a:noFill/>
            <a:ln w="19050" cap="flat" cmpd="sng">
              <a:solidFill>
                <a:srgbClr val="FFFFFF"/>
              </a:solidFill>
              <a:prstDash val="solid"/>
              <a:round/>
              <a:headEnd type="none" w="sm" len="sm"/>
              <a:tailEnd type="none" w="sm" len="sm"/>
            </a:ln>
          </p:spPr>
        </p:cxnSp>
        <p:cxnSp>
          <p:nvCxnSpPr>
            <p:cNvPr id="2150" name="Google Shape;2150;p82"/>
            <p:cNvCxnSpPr>
              <a:stCxn id="2145" idx="5"/>
              <a:endCxn id="2146" idx="2"/>
            </p:cNvCxnSpPr>
            <p:nvPr/>
          </p:nvCxnSpPr>
          <p:spPr>
            <a:xfrm>
              <a:off x="7145413" y="1815264"/>
              <a:ext cx="762300" cy="56100"/>
            </a:xfrm>
            <a:prstGeom prst="straightConnector1">
              <a:avLst/>
            </a:prstGeom>
            <a:noFill/>
            <a:ln w="19050" cap="flat" cmpd="sng">
              <a:solidFill>
                <a:srgbClr val="FFFFFF"/>
              </a:solidFill>
              <a:prstDash val="solid"/>
              <a:round/>
              <a:headEnd type="none" w="sm" len="sm"/>
              <a:tailEnd type="none" w="sm" len="sm"/>
            </a:ln>
          </p:spPr>
        </p:cxnSp>
        <p:cxnSp>
          <p:nvCxnSpPr>
            <p:cNvPr id="2151" name="Google Shape;2151;p82"/>
            <p:cNvCxnSpPr>
              <a:stCxn id="2146" idx="5"/>
              <a:endCxn id="2147" idx="1"/>
            </p:cNvCxnSpPr>
            <p:nvPr/>
          </p:nvCxnSpPr>
          <p:spPr>
            <a:xfrm>
              <a:off x="8353416" y="2055883"/>
              <a:ext cx="459000" cy="376200"/>
            </a:xfrm>
            <a:prstGeom prst="straightConnector1">
              <a:avLst/>
            </a:prstGeom>
            <a:noFill/>
            <a:ln w="19050" cap="flat" cmpd="sng">
              <a:solidFill>
                <a:srgbClr val="FFFFFF"/>
              </a:solidFill>
              <a:prstDash val="solid"/>
              <a:round/>
              <a:headEnd type="none" w="sm" len="sm"/>
              <a:tailEnd type="none" w="sm" len="sm"/>
            </a:ln>
          </p:spPr>
        </p:cxnSp>
        <p:sp>
          <p:nvSpPr>
            <p:cNvPr id="2152" name="Google Shape;2152;p82"/>
            <p:cNvSpPr/>
            <p:nvPr/>
          </p:nvSpPr>
          <p:spPr>
            <a:xfrm>
              <a:off x="8904976" y="1102409"/>
              <a:ext cx="522000" cy="522000"/>
            </a:xfrm>
            <a:prstGeom prst="ellipse">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A</a:t>
              </a:r>
              <a:endParaRPr sz="1000" b="0" i="0" u="none" strike="noStrike" cap="none">
                <a:solidFill>
                  <a:srgbClr val="FFFFFF"/>
                </a:solidFill>
                <a:latin typeface="Arial"/>
                <a:ea typeface="Arial"/>
                <a:cs typeface="Arial"/>
                <a:sym typeface="Arial"/>
              </a:endParaRPr>
            </a:p>
          </p:txBody>
        </p:sp>
        <p:cxnSp>
          <p:nvCxnSpPr>
            <p:cNvPr id="2153" name="Google Shape;2153;p82"/>
            <p:cNvCxnSpPr>
              <a:stCxn id="2146" idx="6"/>
              <a:endCxn id="2152" idx="3"/>
            </p:cNvCxnSpPr>
            <p:nvPr/>
          </p:nvCxnSpPr>
          <p:spPr>
            <a:xfrm rot="10800000" flipH="1">
              <a:off x="8429861" y="1547928"/>
              <a:ext cx="551700" cy="323400"/>
            </a:xfrm>
            <a:prstGeom prst="straightConnector1">
              <a:avLst/>
            </a:prstGeom>
            <a:noFill/>
            <a:ln w="19050" cap="flat" cmpd="sng">
              <a:solidFill>
                <a:srgbClr val="FFFFFF"/>
              </a:solidFill>
              <a:prstDash val="solid"/>
              <a:round/>
              <a:headEnd type="none" w="sm" len="sm"/>
              <a:tailEnd type="none" w="sm" len="sm"/>
            </a:ln>
          </p:spPr>
        </p:cxnSp>
      </p:grpSp>
      <p:sp>
        <p:nvSpPr>
          <p:cNvPr id="2154" name="Google Shape;2154;p82"/>
          <p:cNvSpPr txBox="1"/>
          <p:nvPr/>
        </p:nvSpPr>
        <p:spPr>
          <a:xfrm>
            <a:off x="5307908" y="2325250"/>
            <a:ext cx="378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F</a:t>
            </a:r>
            <a:endParaRPr sz="2400" b="0" i="0" u="none" strike="noStrike" cap="none">
              <a:solidFill>
                <a:srgbClr val="4A86E8"/>
              </a:solidFill>
              <a:latin typeface="Shadows Into Light"/>
              <a:ea typeface="Shadows Into Light"/>
              <a:cs typeface="Shadows Into Light"/>
              <a:sym typeface="Shadows Into Light"/>
            </a:endParaRPr>
          </a:p>
        </p:txBody>
      </p:sp>
      <p:sp>
        <p:nvSpPr>
          <p:cNvPr id="2155" name="Google Shape;2155;p82"/>
          <p:cNvSpPr txBox="1"/>
          <p:nvPr/>
        </p:nvSpPr>
        <p:spPr>
          <a:xfrm>
            <a:off x="5688908" y="2630050"/>
            <a:ext cx="378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E</a:t>
            </a:r>
            <a:endParaRPr sz="2400" b="0" i="0" u="none" strike="noStrike" cap="none">
              <a:solidFill>
                <a:srgbClr val="4A86E8"/>
              </a:solidFill>
              <a:latin typeface="Shadows Into Light"/>
              <a:ea typeface="Shadows Into Light"/>
              <a:cs typeface="Shadows Into Light"/>
              <a:sym typeface="Shadows Into Light"/>
            </a:endParaRPr>
          </a:p>
        </p:txBody>
      </p:sp>
      <p:sp>
        <p:nvSpPr>
          <p:cNvPr id="2156" name="Google Shape;2156;p82"/>
          <p:cNvSpPr txBox="1"/>
          <p:nvPr/>
        </p:nvSpPr>
        <p:spPr>
          <a:xfrm>
            <a:off x="6146108" y="2325250"/>
            <a:ext cx="378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G</a:t>
            </a:r>
            <a:endParaRPr sz="2400" b="0" i="0" u="none" strike="noStrike" cap="none">
              <a:solidFill>
                <a:srgbClr val="4A86E8"/>
              </a:solidFill>
              <a:latin typeface="Shadows Into Light"/>
              <a:ea typeface="Shadows Into Light"/>
              <a:cs typeface="Shadows Into Light"/>
              <a:sym typeface="Shadows Into Light"/>
            </a:endParaRPr>
          </a:p>
        </p:txBody>
      </p:sp>
      <p:sp>
        <p:nvSpPr>
          <p:cNvPr id="2157" name="Google Shape;2157;p82"/>
          <p:cNvSpPr txBox="1"/>
          <p:nvPr/>
        </p:nvSpPr>
        <p:spPr>
          <a:xfrm>
            <a:off x="5612708" y="3239650"/>
            <a:ext cx="378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C</a:t>
            </a:r>
            <a:endParaRPr sz="2400" b="0" i="0" u="none" strike="noStrike" cap="none">
              <a:solidFill>
                <a:srgbClr val="4A86E8"/>
              </a:solidFill>
              <a:latin typeface="Shadows Into Light"/>
              <a:ea typeface="Shadows Into Light"/>
              <a:cs typeface="Shadows Into Light"/>
              <a:sym typeface="Shadows Into Light"/>
            </a:endParaRPr>
          </a:p>
        </p:txBody>
      </p:sp>
      <p:sp>
        <p:nvSpPr>
          <p:cNvPr id="2158" name="Google Shape;2158;p82"/>
          <p:cNvSpPr txBox="1"/>
          <p:nvPr/>
        </p:nvSpPr>
        <p:spPr>
          <a:xfrm>
            <a:off x="6222308" y="3163450"/>
            <a:ext cx="378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A</a:t>
            </a:r>
            <a:endParaRPr sz="2400" b="0" i="0" u="none" strike="noStrike" cap="none">
              <a:solidFill>
                <a:srgbClr val="4A86E8"/>
              </a:solidFill>
              <a:latin typeface="Shadows Into Light"/>
              <a:ea typeface="Shadows Into Light"/>
              <a:cs typeface="Shadows Into Light"/>
              <a:sym typeface="Shadows Into Light"/>
            </a:endParaRPr>
          </a:p>
        </p:txBody>
      </p:sp>
      <p:sp>
        <p:nvSpPr>
          <p:cNvPr id="2159" name="Google Shape;2159;p82"/>
          <p:cNvSpPr txBox="1"/>
          <p:nvPr/>
        </p:nvSpPr>
        <p:spPr>
          <a:xfrm>
            <a:off x="6527108" y="2706250"/>
            <a:ext cx="3789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4A86E8"/>
                </a:solidFill>
                <a:latin typeface="Shadows Into Light"/>
                <a:ea typeface="Shadows Into Light"/>
                <a:cs typeface="Shadows Into Light"/>
                <a:sym typeface="Shadows Into Light"/>
              </a:rPr>
              <a:t>B</a:t>
            </a:r>
            <a:endParaRPr sz="2400" b="0" i="0" u="none" strike="noStrike" cap="none">
              <a:solidFill>
                <a:srgbClr val="4A86E8"/>
              </a:solidFill>
              <a:latin typeface="Shadows Into Light"/>
              <a:ea typeface="Shadows Into Light"/>
              <a:cs typeface="Shadows Into Light"/>
              <a:sym typeface="Shadows Into Light"/>
            </a:endParaRPr>
          </a:p>
        </p:txBody>
      </p:sp>
      <p:sp>
        <p:nvSpPr>
          <p:cNvPr id="2160" name="Google Shape;2160;p82"/>
          <p:cNvSpPr txBox="1">
            <a:spLocks noGrp="1"/>
          </p:cNvSpPr>
          <p:nvPr>
            <p:ph type="body" idx="3"/>
          </p:nvPr>
        </p:nvSpPr>
        <p:spPr>
          <a:xfrm>
            <a:off x="5232525" y="3926075"/>
            <a:ext cx="3706500" cy="83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A DFS wil search </a:t>
            </a:r>
            <a:r>
              <a:rPr lang="en" b="1" i="1">
                <a:solidFill>
                  <a:srgbClr val="FF0000"/>
                </a:solidFill>
              </a:rPr>
              <a:t>all</a:t>
            </a:r>
            <a:r>
              <a:rPr lang="en">
                <a:solidFill>
                  <a:srgbClr val="FF0000"/>
                </a:solidFill>
              </a:rPr>
              <a:t> </a:t>
            </a:r>
            <a:r>
              <a:rPr lang="en"/>
              <a:t>of the vertices that are </a:t>
            </a:r>
            <a:r>
              <a:rPr lang="en" b="1" i="1">
                <a:solidFill>
                  <a:srgbClr val="FF0000"/>
                </a:solidFill>
              </a:rPr>
              <a:t>reachable </a:t>
            </a:r>
            <a:r>
              <a:rPr lang="en"/>
              <a:t>from the starting vertex. If the </a:t>
            </a:r>
            <a:r>
              <a:rPr lang="en" b="1" i="1">
                <a:solidFill>
                  <a:srgbClr val="FF0000"/>
                </a:solidFill>
              </a:rPr>
              <a:t>end</a:t>
            </a:r>
            <a:r>
              <a:rPr lang="en">
                <a:solidFill>
                  <a:srgbClr val="FF0000"/>
                </a:solidFill>
              </a:rPr>
              <a:t> </a:t>
            </a:r>
            <a:r>
              <a:rPr lang="en"/>
              <a:t>vertex is in the set after the search is complete, then a path exists!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4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4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4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4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4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4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4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141"/>
                                        </p:tgtEl>
                                        <p:attrNameLst>
                                          <p:attrName>style.visibility</p:attrName>
                                        </p:attrNameLst>
                                      </p:cBhvr>
                                      <p:to>
                                        <p:strVal val="visible"/>
                                      </p:to>
                                    </p:set>
                                    <p:animEffect transition="in" filter="fade">
                                      <p:cBhvr>
                                        <p:cTn id="55" dur="1000"/>
                                        <p:tgtEl>
                                          <p:spTgt spid="2141"/>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2142"/>
                                        </p:tgtEl>
                                        <p:attrNameLst>
                                          <p:attrName>style.visibility</p:attrName>
                                        </p:attrNameLst>
                                      </p:cBhvr>
                                      <p:to>
                                        <p:strVal val="visible"/>
                                      </p:to>
                                    </p:set>
                                    <p:animEffect transition="in" filter="fade">
                                      <p:cBhvr>
                                        <p:cTn id="59" dur="1000"/>
                                        <p:tgtEl>
                                          <p:spTgt spid="2142"/>
                                        </p:tgtEl>
                                      </p:cBhvr>
                                    </p:animEffect>
                                  </p:childTnLst>
                                </p:cTn>
                              </p:par>
                              <p:par>
                                <p:cTn id="60" presetID="10" presetClass="entr" presetSubtype="0" fill="hold" nodeType="withEffect">
                                  <p:stCondLst>
                                    <p:cond delay="0"/>
                                  </p:stCondLst>
                                  <p:childTnLst>
                                    <p:set>
                                      <p:cBhvr>
                                        <p:cTn id="61" dur="1" fill="hold">
                                          <p:stCondLst>
                                            <p:cond delay="0"/>
                                          </p:stCondLst>
                                        </p:cTn>
                                        <p:tgtEl>
                                          <p:spTgt spid="2137"/>
                                        </p:tgtEl>
                                        <p:attrNameLst>
                                          <p:attrName>style.visibility</p:attrName>
                                        </p:attrNameLst>
                                      </p:cBhvr>
                                      <p:to>
                                        <p:strVal val="visible"/>
                                      </p:to>
                                    </p:set>
                                    <p:animEffect transition="in" filter="fade">
                                      <p:cBhvr>
                                        <p:cTn id="62" dur="1000"/>
                                        <p:tgtEl>
                                          <p:spTgt spid="213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154"/>
                                        </p:tgtEl>
                                        <p:attrNameLst>
                                          <p:attrName>style.visibility</p:attrName>
                                        </p:attrNameLst>
                                      </p:cBhvr>
                                      <p:to>
                                        <p:strVal val="visible"/>
                                      </p:to>
                                    </p:set>
                                    <p:animEffect transition="in" filter="fade">
                                      <p:cBhvr>
                                        <p:cTn id="67" dur="1000"/>
                                        <p:tgtEl>
                                          <p:spTgt spid="215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155"/>
                                        </p:tgtEl>
                                        <p:attrNameLst>
                                          <p:attrName>style.visibility</p:attrName>
                                        </p:attrNameLst>
                                      </p:cBhvr>
                                      <p:to>
                                        <p:strVal val="visible"/>
                                      </p:to>
                                    </p:set>
                                    <p:animEffect transition="in" filter="fade">
                                      <p:cBhvr>
                                        <p:cTn id="72" dur="1000"/>
                                        <p:tgtEl>
                                          <p:spTgt spid="215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156"/>
                                        </p:tgtEl>
                                        <p:attrNameLst>
                                          <p:attrName>style.visibility</p:attrName>
                                        </p:attrNameLst>
                                      </p:cBhvr>
                                      <p:to>
                                        <p:strVal val="visible"/>
                                      </p:to>
                                    </p:set>
                                    <p:animEffect transition="in" filter="fade">
                                      <p:cBhvr>
                                        <p:cTn id="77" dur="1000"/>
                                        <p:tgtEl>
                                          <p:spTgt spid="215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157"/>
                                        </p:tgtEl>
                                        <p:attrNameLst>
                                          <p:attrName>style.visibility</p:attrName>
                                        </p:attrNameLst>
                                      </p:cBhvr>
                                      <p:to>
                                        <p:strVal val="visible"/>
                                      </p:to>
                                    </p:set>
                                    <p:animEffect transition="in" filter="fade">
                                      <p:cBhvr>
                                        <p:cTn id="82" dur="1000"/>
                                        <p:tgtEl>
                                          <p:spTgt spid="215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158"/>
                                        </p:tgtEl>
                                        <p:attrNameLst>
                                          <p:attrName>style.visibility</p:attrName>
                                        </p:attrNameLst>
                                      </p:cBhvr>
                                      <p:to>
                                        <p:strVal val="visible"/>
                                      </p:to>
                                    </p:set>
                                    <p:animEffect transition="in" filter="fade">
                                      <p:cBhvr>
                                        <p:cTn id="87" dur="1000"/>
                                        <p:tgtEl>
                                          <p:spTgt spid="215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159"/>
                                        </p:tgtEl>
                                        <p:attrNameLst>
                                          <p:attrName>style.visibility</p:attrName>
                                        </p:attrNameLst>
                                      </p:cBhvr>
                                      <p:to>
                                        <p:strVal val="visible"/>
                                      </p:to>
                                    </p:set>
                                    <p:animEffect transition="in" filter="fade">
                                      <p:cBhvr>
                                        <p:cTn id="92" dur="1000"/>
                                        <p:tgtEl>
                                          <p:spTgt spid="215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160"/>
                                        </p:tgtEl>
                                        <p:attrNameLst>
                                          <p:attrName>style.visibility</p:attrName>
                                        </p:attrNameLst>
                                      </p:cBhvr>
                                      <p:to>
                                        <p:strVal val="visible"/>
                                      </p:to>
                                    </p:set>
                                    <p:animEffect transition="in" filter="fade">
                                      <p:cBhvr>
                                        <p:cTn id="97" dur="1000"/>
                                        <p:tgtEl>
                                          <p:spTgt spid="2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64"/>
        <p:cNvGrpSpPr/>
        <p:nvPr/>
      </p:nvGrpSpPr>
      <p:grpSpPr>
        <a:xfrm>
          <a:off x="0" y="0"/>
          <a:ext cx="0" cy="0"/>
          <a:chOff x="0" y="0"/>
          <a:chExt cx="0" cy="0"/>
        </a:xfrm>
      </p:grpSpPr>
      <p:sp>
        <p:nvSpPr>
          <p:cNvPr id="2165" name="Google Shape;2165;p8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2166" name="Google Shape;2166;p83"/>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12.21</a:t>
            </a:r>
            <a:endParaRPr/>
          </a:p>
        </p:txBody>
      </p:sp>
      <p:sp>
        <p:nvSpPr>
          <p:cNvPr id="2167" name="Google Shape;2167;p83"/>
          <p:cNvSpPr txBox="1"/>
          <p:nvPr/>
        </p:nvSpPr>
        <p:spPr>
          <a:xfrm>
            <a:off x="2980100" y="1847850"/>
            <a:ext cx="5970600" cy="25242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15000"/>
              </a:lnSpc>
              <a:spcBef>
                <a:spcPts val="0"/>
              </a:spcBef>
              <a:spcAft>
                <a:spcPts val="0"/>
              </a:spcAft>
              <a:buClr>
                <a:srgbClr val="666666"/>
              </a:buClr>
              <a:buSzPts val="1600"/>
              <a:buFont typeface="Roboto"/>
              <a:buChar char="●"/>
            </a:pPr>
            <a:r>
              <a:rPr lang="en" sz="1600" b="0" i="0" u="none" strike="noStrike" cap="none">
                <a:solidFill>
                  <a:srgbClr val="666666"/>
                </a:solidFill>
                <a:latin typeface="Roboto"/>
                <a:ea typeface="Roboto"/>
                <a:cs typeface="Roboto"/>
                <a:sym typeface="Roboto"/>
              </a:rPr>
              <a:t>Open the </a:t>
            </a:r>
            <a:r>
              <a:rPr lang="en" sz="1600" b="0" i="0" u="none" strike="noStrike" cap="none">
                <a:solidFill>
                  <a:srgbClr val="FF0000"/>
                </a:solidFill>
                <a:latin typeface="Courier New"/>
                <a:ea typeface="Courier New"/>
                <a:cs typeface="Courier New"/>
                <a:sym typeface="Courier New"/>
              </a:rPr>
              <a:t>Graph</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interface and define a new </a:t>
            </a:r>
            <a:r>
              <a:rPr lang="en" sz="1600" b="0" i="0" u="none" strike="noStrike" cap="none">
                <a:solidFill>
                  <a:srgbClr val="FF0000"/>
                </a:solidFill>
                <a:latin typeface="Courier New"/>
                <a:ea typeface="Courier New"/>
                <a:cs typeface="Courier New"/>
                <a:sym typeface="Courier New"/>
              </a:rPr>
              <a:t>default</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method named </a:t>
            </a:r>
            <a:r>
              <a:rPr lang="en" sz="1600" b="0" i="0" u="none" strike="noStrike" cap="none">
                <a:solidFill>
                  <a:srgbClr val="FF0000"/>
                </a:solidFill>
                <a:latin typeface="Courier New"/>
                <a:ea typeface="Courier New"/>
                <a:cs typeface="Courier New"/>
                <a:sym typeface="Courier New"/>
              </a:rPr>
              <a:t>dfSearch</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that declares </a:t>
            </a:r>
            <a:r>
              <a:rPr lang="en" sz="1600" b="1" i="1" u="none" strike="noStrike" cap="none">
                <a:solidFill>
                  <a:srgbClr val="FF0000"/>
                </a:solidFill>
                <a:latin typeface="Roboto"/>
                <a:ea typeface="Roboto"/>
                <a:cs typeface="Roboto"/>
                <a:sym typeface="Roboto"/>
              </a:rPr>
              <a:t>parameters</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for </a:t>
            </a:r>
            <a:r>
              <a:rPr lang="en" sz="1600" b="0" i="0" u="none" strike="noStrike" cap="none">
                <a:solidFill>
                  <a:srgbClr val="FF0000"/>
                </a:solidFill>
                <a:latin typeface="Courier New"/>
                <a:ea typeface="Courier New"/>
                <a:cs typeface="Courier New"/>
                <a:sym typeface="Courier New"/>
              </a:rPr>
              <a:t>start</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and </a:t>
            </a:r>
            <a:r>
              <a:rPr lang="en" sz="1600" b="0" i="0" u="none" strike="noStrike" cap="none">
                <a:solidFill>
                  <a:srgbClr val="FF0000"/>
                </a:solidFill>
                <a:latin typeface="Courier New"/>
                <a:ea typeface="Courier New"/>
                <a:cs typeface="Courier New"/>
                <a:sym typeface="Courier New"/>
              </a:rPr>
              <a:t>end</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values and </a:t>
            </a:r>
            <a:r>
              <a:rPr lang="en" sz="1600" b="1" i="1" u="none" strike="noStrike" cap="none">
                <a:solidFill>
                  <a:srgbClr val="FF0000"/>
                </a:solidFill>
                <a:latin typeface="Roboto"/>
                <a:ea typeface="Roboto"/>
                <a:cs typeface="Roboto"/>
                <a:sym typeface="Roboto"/>
              </a:rPr>
              <a:t>returns </a:t>
            </a:r>
            <a:r>
              <a:rPr lang="en" sz="1600" b="0" i="0" u="none" strike="noStrike" cap="none">
                <a:solidFill>
                  <a:srgbClr val="666666"/>
                </a:solidFill>
                <a:latin typeface="Roboto"/>
                <a:ea typeface="Roboto"/>
                <a:cs typeface="Roboto"/>
                <a:sym typeface="Roboto"/>
              </a:rPr>
              <a:t>a </a:t>
            </a:r>
            <a:r>
              <a:rPr lang="en" sz="1600" b="0" i="0" u="none" strike="noStrike" cap="none">
                <a:solidFill>
                  <a:srgbClr val="FF0000"/>
                </a:solidFill>
                <a:latin typeface="Courier New"/>
                <a:ea typeface="Courier New"/>
                <a:cs typeface="Courier New"/>
                <a:sym typeface="Courier New"/>
              </a:rPr>
              <a:t>boolean</a:t>
            </a:r>
            <a:r>
              <a:rPr lang="en" sz="1600" b="0" i="0" u="none" strike="noStrike" cap="none">
                <a:solidFill>
                  <a:srgbClr val="666666"/>
                </a:solidFill>
                <a:latin typeface="Roboto"/>
                <a:ea typeface="Roboto"/>
                <a:cs typeface="Roboto"/>
                <a:sym typeface="Roboto"/>
              </a:rPr>
              <a:t>.</a:t>
            </a:r>
            <a:endParaRPr sz="1600" b="0" i="0" u="none" strike="noStrike" cap="none">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b="0" i="0" u="none" strike="noStrike" cap="none">
                <a:solidFill>
                  <a:srgbClr val="666666"/>
                </a:solidFill>
                <a:latin typeface="Roboto"/>
                <a:ea typeface="Roboto"/>
                <a:cs typeface="Roboto"/>
                <a:sym typeface="Roboto"/>
              </a:rPr>
              <a:t>Use the provided UML as a guide for your method signature.</a:t>
            </a:r>
            <a:endParaRPr b="0" i="0" u="none" strike="noStrike" cap="none">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b="0" i="0" u="none" strike="noStrike" cap="none">
                <a:solidFill>
                  <a:srgbClr val="666666"/>
                </a:solidFill>
                <a:latin typeface="Roboto"/>
                <a:ea typeface="Roboto"/>
                <a:cs typeface="Roboto"/>
                <a:sym typeface="Roboto"/>
              </a:rPr>
              <a:t>Throw an </a:t>
            </a:r>
            <a:r>
              <a:rPr lang="en" b="0" i="0" u="none" strike="noStrike" cap="none">
                <a:solidFill>
                  <a:srgbClr val="FF0000"/>
                </a:solidFill>
                <a:latin typeface="Courier New"/>
                <a:ea typeface="Courier New"/>
                <a:cs typeface="Courier New"/>
                <a:sym typeface="Courier New"/>
              </a:rPr>
              <a:t>UnsupportedOperationException</a:t>
            </a:r>
            <a:r>
              <a:rPr lang="en" b="0" i="0" u="none" strike="noStrike" cap="none">
                <a:solidFill>
                  <a:srgbClr val="FF0000"/>
                </a:solidFill>
                <a:latin typeface="Roboto"/>
                <a:ea typeface="Roboto"/>
                <a:cs typeface="Roboto"/>
                <a:sym typeface="Roboto"/>
              </a:rPr>
              <a:t> </a:t>
            </a:r>
            <a:r>
              <a:rPr lang="en" b="0" i="0" u="none" strike="noStrike" cap="none">
                <a:solidFill>
                  <a:srgbClr val="666666"/>
                </a:solidFill>
                <a:latin typeface="Roboto"/>
                <a:ea typeface="Roboto"/>
                <a:cs typeface="Roboto"/>
                <a:sym typeface="Roboto"/>
              </a:rPr>
              <a:t>from this default implementation.</a:t>
            </a:r>
            <a:endParaRPr b="0" i="0" u="none" strike="noStrike" cap="none">
              <a:solidFill>
                <a:srgbClr val="666666"/>
              </a:solidFill>
              <a:latin typeface="Roboto"/>
              <a:ea typeface="Roboto"/>
              <a:cs typeface="Roboto"/>
              <a:sym typeface="Roboto"/>
            </a:endParaRPr>
          </a:p>
          <a:p>
            <a:pPr marL="457200" marR="0" lvl="0" indent="-330200" algn="l" rtl="0">
              <a:lnSpc>
                <a:spcPct val="115000"/>
              </a:lnSpc>
              <a:spcBef>
                <a:spcPts val="0"/>
              </a:spcBef>
              <a:spcAft>
                <a:spcPts val="0"/>
              </a:spcAft>
              <a:buClr>
                <a:srgbClr val="666666"/>
              </a:buClr>
              <a:buSzPts val="1600"/>
              <a:buFont typeface="Roboto"/>
              <a:buChar char="●"/>
            </a:pPr>
            <a:r>
              <a:rPr lang="en" sz="1600" b="1" i="1" u="none" strike="noStrike" cap="none">
                <a:solidFill>
                  <a:srgbClr val="FF0000"/>
                </a:solidFill>
                <a:latin typeface="Roboto"/>
                <a:ea typeface="Roboto"/>
                <a:cs typeface="Roboto"/>
                <a:sym typeface="Roboto"/>
              </a:rPr>
              <a:t>Run</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the provided </a:t>
            </a:r>
            <a:r>
              <a:rPr lang="en" sz="1600" b="0" i="0" u="none" strike="noStrike" cap="none">
                <a:solidFill>
                  <a:srgbClr val="FF0000"/>
                </a:solidFill>
                <a:latin typeface="Courier New"/>
                <a:ea typeface="Courier New"/>
                <a:cs typeface="Courier New"/>
                <a:sym typeface="Courier New"/>
              </a:rPr>
              <a:t>DFSearchTest</a:t>
            </a:r>
            <a:r>
              <a:rPr lang="en" sz="1600" b="0" i="0" u="none" strike="noStrike" cap="none">
                <a:solidFill>
                  <a:srgbClr val="666666"/>
                </a:solidFill>
                <a:latin typeface="Roboto"/>
                <a:ea typeface="Roboto"/>
                <a:cs typeface="Roboto"/>
                <a:sym typeface="Roboto"/>
              </a:rPr>
              <a:t> JUnit test.</a:t>
            </a:r>
            <a:endParaRPr sz="1600" b="0" i="0" u="none" strike="noStrike" cap="none">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b="0" i="0" u="none" strike="noStrike" cap="none">
                <a:solidFill>
                  <a:srgbClr val="666666"/>
                </a:solidFill>
                <a:latin typeface="Roboto"/>
                <a:ea typeface="Roboto"/>
                <a:cs typeface="Roboto"/>
                <a:sym typeface="Roboto"/>
              </a:rPr>
              <a:t>The tests should </a:t>
            </a:r>
            <a:r>
              <a:rPr lang="en" b="1" i="1" u="none" strike="noStrike" cap="none">
                <a:solidFill>
                  <a:srgbClr val="FF0000"/>
                </a:solidFill>
                <a:latin typeface="Roboto"/>
                <a:ea typeface="Roboto"/>
                <a:cs typeface="Roboto"/>
                <a:sym typeface="Roboto"/>
              </a:rPr>
              <a:t>run</a:t>
            </a:r>
            <a:r>
              <a:rPr lang="en" b="0" i="0" u="none" strike="noStrike" cap="none">
                <a:solidFill>
                  <a:srgbClr val="666666"/>
                </a:solidFill>
                <a:latin typeface="Roboto"/>
                <a:ea typeface="Roboto"/>
                <a:cs typeface="Roboto"/>
                <a:sym typeface="Roboto"/>
              </a:rPr>
              <a:t>, but will </a:t>
            </a:r>
            <a:r>
              <a:rPr lang="en" b="1" i="1" u="none" strike="noStrike" cap="none">
                <a:solidFill>
                  <a:srgbClr val="FF0000"/>
                </a:solidFill>
                <a:latin typeface="Roboto"/>
                <a:ea typeface="Roboto"/>
                <a:cs typeface="Roboto"/>
                <a:sym typeface="Roboto"/>
              </a:rPr>
              <a:t>fail</a:t>
            </a:r>
            <a:r>
              <a:rPr lang="en" b="0" i="0" u="none" strike="noStrike" cap="none">
                <a:solidFill>
                  <a:srgbClr val="FF0000"/>
                </a:solidFill>
                <a:latin typeface="Roboto"/>
                <a:ea typeface="Roboto"/>
                <a:cs typeface="Roboto"/>
                <a:sym typeface="Roboto"/>
              </a:rPr>
              <a:t> </a:t>
            </a:r>
            <a:r>
              <a:rPr lang="en" b="0" i="0" u="none" strike="noStrike" cap="none">
                <a:solidFill>
                  <a:srgbClr val="666666"/>
                </a:solidFill>
                <a:latin typeface="Roboto"/>
                <a:ea typeface="Roboto"/>
                <a:cs typeface="Roboto"/>
                <a:sym typeface="Roboto"/>
              </a:rPr>
              <a:t>when the exception is thrown.</a:t>
            </a:r>
            <a:endParaRPr b="0" i="0" u="none" strike="noStrike" cap="none">
              <a:solidFill>
                <a:srgbClr val="666666"/>
              </a:solidFill>
              <a:latin typeface="Roboto"/>
              <a:ea typeface="Roboto"/>
              <a:cs typeface="Roboto"/>
              <a:sym typeface="Roboto"/>
            </a:endParaRPr>
          </a:p>
        </p:txBody>
      </p:sp>
      <p:graphicFrame>
        <p:nvGraphicFramePr>
          <p:cNvPr id="2168" name="Google Shape;2168;p83"/>
          <p:cNvGraphicFramePr/>
          <p:nvPr/>
        </p:nvGraphicFramePr>
        <p:xfrm>
          <a:off x="174250" y="1847850"/>
          <a:ext cx="3000000" cy="3000000"/>
        </p:xfrm>
        <a:graphic>
          <a:graphicData uri="http://schemas.openxmlformats.org/drawingml/2006/table">
            <a:tbl>
              <a:tblPr>
                <a:noFill/>
                <a:tableStyleId>{F61E8307-4E6B-4154-8BF4-D3231BAD3CED}</a:tableStyleId>
              </a:tblPr>
              <a:tblGrid>
                <a:gridCol w="2805850">
                  <a:extLst>
                    <a:ext uri="{9D8B030D-6E8A-4147-A177-3AD203B41FA5}">
                      <a16:colId xmlns:a16="http://schemas.microsoft.com/office/drawing/2014/main" val="20000"/>
                    </a:ext>
                  </a:extLst>
                </a:gridCol>
              </a:tblGrid>
              <a:tr h="257275">
                <a:tc>
                  <a:txBody>
                    <a:bodyPr/>
                    <a:lstStyle/>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&lt;&lt;interface&gt;&gt;</a:t>
                      </a:r>
                      <a:endParaRPr sz="1000"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Graph&lt;E&gt;</a:t>
                      </a: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78850">
                <a:tc>
                  <a:txBody>
                    <a:bodyPr/>
                    <a:lstStyle/>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add(value: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contains(value: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size(): int</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connectUndirected(a: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connected(a: E, b: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bfSearch(start: E, end: E): boolean</a:t>
                      </a:r>
                      <a:endParaRPr sz="10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bfPath(start: E, end: E): List&lt;E&gt;</a:t>
                      </a:r>
                      <a:endParaRPr sz="10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 dfSearch(start: E, end: E): boolean</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169" name="Google Shape;2169;p8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As with the BFS and BFS-Path algorithms, we'll need to add a new method to the </a:t>
            </a:r>
            <a:r>
              <a:rPr lang="en">
                <a:latin typeface="Courier New"/>
                <a:ea typeface="Courier New"/>
                <a:cs typeface="Courier New"/>
                <a:sym typeface="Courier New"/>
              </a:rPr>
              <a:t>Graph</a:t>
            </a:r>
            <a:r>
              <a:rPr lang="en"/>
              <a:t> interface so that we can attempt a Depth-First Search on any </a:t>
            </a:r>
            <a:r>
              <a:rPr lang="en">
                <a:latin typeface="Courier New"/>
                <a:ea typeface="Courier New"/>
                <a:cs typeface="Courier New"/>
                <a:sym typeface="Courier New"/>
              </a:rPr>
              <a:t>Graph</a:t>
            </a:r>
            <a:r>
              <a:rPr lang="en"/>
              <a:t> implementation. We should provide a default implementation so as to avoid breaking our existing implementation.</a:t>
            </a:r>
            <a:endParaRPr/>
          </a:p>
        </p:txBody>
      </p:sp>
      <p:sp>
        <p:nvSpPr>
          <p:cNvPr id="2170" name="Google Shape;2170;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a Default DFS Method to </a:t>
            </a:r>
            <a:r>
              <a:rPr lang="en">
                <a:latin typeface="Courier New"/>
                <a:ea typeface="Courier New"/>
                <a:cs typeface="Courier New"/>
                <a:sym typeface="Courier New"/>
              </a:rPr>
              <a:t>Graph</a:t>
            </a:r>
            <a:endParaRPr>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74"/>
        <p:cNvGrpSpPr/>
        <p:nvPr/>
      </p:nvGrpSpPr>
      <p:grpSpPr>
        <a:xfrm>
          <a:off x="0" y="0"/>
          <a:ext cx="0" cy="0"/>
          <a:chOff x="0" y="0"/>
          <a:chExt cx="0" cy="0"/>
        </a:xfrm>
      </p:grpSpPr>
      <p:pic>
        <p:nvPicPr>
          <p:cNvPr id="2175" name="Google Shape;2175;p84"/>
          <p:cNvPicPr preferRelativeResize="0"/>
          <p:nvPr/>
        </p:nvPicPr>
        <p:blipFill rotWithShape="1">
          <a:blip r:embed="rId3">
            <a:alphaModFix/>
          </a:blip>
          <a:srcRect/>
          <a:stretch/>
        </p:blipFill>
        <p:spPr>
          <a:xfrm>
            <a:off x="272650" y="1502000"/>
            <a:ext cx="2257926" cy="2622026"/>
          </a:xfrm>
          <a:prstGeom prst="rect">
            <a:avLst/>
          </a:prstGeom>
          <a:noFill/>
          <a:ln>
            <a:noFill/>
          </a:ln>
        </p:spPr>
      </p:pic>
      <p:sp>
        <p:nvSpPr>
          <p:cNvPr id="2176" name="Google Shape;2176;p84"/>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A Recursive DFS Helper Method</a:t>
            </a:r>
            <a:endParaRPr/>
          </a:p>
        </p:txBody>
      </p:sp>
      <p:sp>
        <p:nvSpPr>
          <p:cNvPr id="2177" name="Google Shape;2177;p84"/>
          <p:cNvSpPr txBox="1">
            <a:spLocks noGrp="1"/>
          </p:cNvSpPr>
          <p:nvPr>
            <p:ph type="body" idx="1"/>
          </p:nvPr>
        </p:nvSpPr>
        <p:spPr>
          <a:xfrm>
            <a:off x="65250" y="731625"/>
            <a:ext cx="89559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Depth-First Search can be implemented using either iteration or recursion. Let's write a recursive implementation beginning with a private helper method that will do most of the work.</a:t>
            </a:r>
            <a:endParaRPr/>
          </a:p>
        </p:txBody>
      </p:sp>
      <p:sp>
        <p:nvSpPr>
          <p:cNvPr id="2178" name="Google Shape;2178;p8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2179" name="Google Shape;2179;p84"/>
          <p:cNvSpPr txBox="1">
            <a:spLocks noGrp="1"/>
          </p:cNvSpPr>
          <p:nvPr>
            <p:ph type="body" idx="2"/>
          </p:nvPr>
        </p:nvSpPr>
        <p:spPr>
          <a:xfrm>
            <a:off x="2904925" y="1580750"/>
            <a:ext cx="6021300" cy="2415900"/>
          </a:xfrm>
          <a:prstGeom prst="rect">
            <a:avLst/>
          </a:prstGeom>
          <a:noFill/>
          <a:ln>
            <a:noFill/>
          </a:ln>
        </p:spPr>
        <p:txBody>
          <a:bodyPr spcFirstLastPara="1" wrap="square" lIns="91425" tIns="91425" rIns="91425" bIns="91425" anchor="t" anchorCtr="0">
            <a:spAutoFit/>
          </a:bodyPr>
          <a:lstStyle/>
          <a:p>
            <a:pPr marL="457200" lvl="0" indent="-336550" algn="l" rtl="0">
              <a:lnSpc>
                <a:spcPct val="115000"/>
              </a:lnSpc>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AdjacencyGraph</a:t>
            </a:r>
            <a:r>
              <a:rPr lang="en" sz="1700">
                <a:solidFill>
                  <a:srgbClr val="FF0000"/>
                </a:solidFill>
              </a:rPr>
              <a:t> </a:t>
            </a:r>
            <a:r>
              <a:rPr lang="en" sz="1700"/>
              <a:t>class and define a </a:t>
            </a:r>
            <a:r>
              <a:rPr lang="en" sz="1700">
                <a:solidFill>
                  <a:srgbClr val="FF0000"/>
                </a:solidFill>
                <a:latin typeface="Courier New"/>
                <a:ea typeface="Courier New"/>
                <a:cs typeface="Courier New"/>
                <a:sym typeface="Courier New"/>
              </a:rPr>
              <a:t>private</a:t>
            </a:r>
            <a:r>
              <a:rPr lang="en" sz="1700"/>
              <a:t> method named "</a:t>
            </a:r>
            <a:r>
              <a:rPr lang="en" sz="1700">
                <a:solidFill>
                  <a:srgbClr val="FF0000"/>
                </a:solidFill>
                <a:latin typeface="Courier New"/>
                <a:ea typeface="Courier New"/>
                <a:cs typeface="Courier New"/>
                <a:sym typeface="Courier New"/>
              </a:rPr>
              <a:t>visitDFS</a:t>
            </a:r>
            <a:r>
              <a:rPr lang="en" sz="1700"/>
              <a:t>" that declares parameters for a </a:t>
            </a:r>
            <a:r>
              <a:rPr lang="en" sz="1700">
                <a:solidFill>
                  <a:srgbClr val="FF0000"/>
                </a:solidFill>
                <a:latin typeface="Courier New"/>
                <a:ea typeface="Courier New"/>
                <a:cs typeface="Courier New"/>
                <a:sym typeface="Courier New"/>
              </a:rPr>
              <a:t>vertex</a:t>
            </a:r>
            <a:r>
              <a:rPr lang="en" sz="1700">
                <a:solidFill>
                  <a:srgbClr val="FF0000"/>
                </a:solidFill>
              </a:rPr>
              <a:t> </a:t>
            </a:r>
            <a:r>
              <a:rPr lang="en" sz="1700"/>
              <a:t>and a set of previously </a:t>
            </a:r>
            <a:r>
              <a:rPr lang="en" sz="1700">
                <a:solidFill>
                  <a:srgbClr val="FF0000"/>
                </a:solidFill>
                <a:latin typeface="Courier New"/>
                <a:ea typeface="Courier New"/>
                <a:cs typeface="Courier New"/>
                <a:sym typeface="Courier New"/>
              </a:rPr>
              <a:t>visited</a:t>
            </a:r>
            <a:r>
              <a:rPr lang="en" sz="1700">
                <a:solidFill>
                  <a:srgbClr val="FF0000"/>
                </a:solidFill>
              </a:rPr>
              <a:t> </a:t>
            </a:r>
            <a:r>
              <a:rPr lang="en" sz="1700"/>
              <a:t>vertices.</a:t>
            </a:r>
            <a:endParaRPr sz="1700" b="1" i="1"/>
          </a:p>
          <a:p>
            <a:pPr marL="914400" lvl="1" indent="-323850" algn="l" rtl="0">
              <a:lnSpc>
                <a:spcPct val="115000"/>
              </a:lnSpc>
              <a:spcBef>
                <a:spcPts val="0"/>
              </a:spcBef>
              <a:spcAft>
                <a:spcPts val="0"/>
              </a:spcAft>
              <a:buSzPts val="1500"/>
              <a:buChar char="○"/>
            </a:pPr>
            <a:r>
              <a:rPr lang="en" sz="1500"/>
              <a:t>For each of the </a:t>
            </a:r>
            <a:r>
              <a:rPr lang="en" sz="1500">
                <a:latin typeface="Courier New"/>
                <a:ea typeface="Courier New"/>
                <a:cs typeface="Courier New"/>
                <a:sym typeface="Courier New"/>
              </a:rPr>
              <a:t>vertex</a:t>
            </a:r>
            <a:r>
              <a:rPr lang="en" sz="1500"/>
              <a:t>'s neighbors </a:t>
            </a:r>
            <a:r>
              <a:rPr lang="en" sz="1500" b="1" i="1">
                <a:solidFill>
                  <a:srgbClr val="FF0000"/>
                </a:solidFill>
              </a:rPr>
              <a:t>N</a:t>
            </a:r>
            <a:r>
              <a:rPr lang="en" sz="1500"/>
              <a:t> that is </a:t>
            </a:r>
            <a:r>
              <a:rPr lang="en" sz="1500">
                <a:solidFill>
                  <a:srgbClr val="FF0000"/>
                </a:solidFill>
              </a:rPr>
              <a:t>not </a:t>
            </a:r>
            <a:r>
              <a:rPr lang="en" sz="1500"/>
              <a:t>already in the </a:t>
            </a:r>
            <a:r>
              <a:rPr lang="en" sz="1500">
                <a:latin typeface="Courier New"/>
                <a:ea typeface="Courier New"/>
                <a:cs typeface="Courier New"/>
                <a:sym typeface="Courier New"/>
              </a:rPr>
              <a:t>visited</a:t>
            </a:r>
            <a:r>
              <a:rPr lang="en" sz="1500"/>
              <a:t> set:</a:t>
            </a:r>
            <a:endParaRPr sz="1500"/>
          </a:p>
          <a:p>
            <a:pPr marL="1371600" lvl="2" indent="-323850" algn="l" rtl="0">
              <a:lnSpc>
                <a:spcPct val="115000"/>
              </a:lnSpc>
              <a:spcBef>
                <a:spcPts val="0"/>
              </a:spcBef>
              <a:spcAft>
                <a:spcPts val="0"/>
              </a:spcAft>
              <a:buSzPts val="1500"/>
              <a:buChar char="■"/>
            </a:pPr>
            <a:r>
              <a:rPr lang="en" sz="1500" b="1" i="1">
                <a:solidFill>
                  <a:srgbClr val="FF0000"/>
                </a:solidFill>
              </a:rPr>
              <a:t>Add N</a:t>
            </a:r>
            <a:r>
              <a:rPr lang="en" sz="1500"/>
              <a:t> to the </a:t>
            </a:r>
            <a:r>
              <a:rPr lang="en" sz="1500">
                <a:latin typeface="Courier New"/>
                <a:ea typeface="Courier New"/>
                <a:cs typeface="Courier New"/>
                <a:sym typeface="Courier New"/>
              </a:rPr>
              <a:t>visited</a:t>
            </a:r>
            <a:r>
              <a:rPr lang="en" sz="1500"/>
              <a:t> set.</a:t>
            </a:r>
            <a:endParaRPr sz="1500"/>
          </a:p>
          <a:p>
            <a:pPr marL="1371600" lvl="2" indent="-323850" algn="l" rtl="0">
              <a:lnSpc>
                <a:spcPct val="115000"/>
              </a:lnSpc>
              <a:spcBef>
                <a:spcPts val="0"/>
              </a:spcBef>
              <a:spcAft>
                <a:spcPts val="0"/>
              </a:spcAft>
              <a:buSzPts val="1500"/>
              <a:buChar char="■"/>
            </a:pPr>
            <a:r>
              <a:rPr lang="en" sz="1500"/>
              <a:t>Make a </a:t>
            </a:r>
            <a:r>
              <a:rPr lang="en" sz="1500" b="1" i="1">
                <a:solidFill>
                  <a:srgbClr val="FF0000"/>
                </a:solidFill>
              </a:rPr>
              <a:t>recursive call</a:t>
            </a:r>
            <a:r>
              <a:rPr lang="en" sz="1500"/>
              <a:t> with </a:t>
            </a:r>
            <a:r>
              <a:rPr lang="en" sz="1500" b="1" i="1">
                <a:solidFill>
                  <a:srgbClr val="FF0000"/>
                </a:solidFill>
              </a:rPr>
              <a:t>N</a:t>
            </a:r>
            <a:r>
              <a:rPr lang="en" sz="1500">
                <a:solidFill>
                  <a:srgbClr val="FF0000"/>
                </a:solidFill>
              </a:rPr>
              <a:t> </a:t>
            </a:r>
            <a:r>
              <a:rPr lang="en" sz="1500"/>
              <a:t>and the </a:t>
            </a:r>
            <a:r>
              <a:rPr lang="en" sz="1500">
                <a:latin typeface="Courier New"/>
                <a:ea typeface="Courier New"/>
                <a:cs typeface="Courier New"/>
                <a:sym typeface="Courier New"/>
              </a:rPr>
              <a:t>visited</a:t>
            </a:r>
            <a:r>
              <a:rPr lang="en" sz="1500"/>
              <a:t> set.</a:t>
            </a:r>
            <a:endParaRPr sz="1500"/>
          </a:p>
        </p:txBody>
      </p:sp>
      <p:sp>
        <p:nvSpPr>
          <p:cNvPr id="2180" name="Google Shape;2180;p84"/>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12.22</a:t>
            </a:r>
            <a:endParaRPr/>
          </a:p>
        </p:txBody>
      </p:sp>
      <p:sp>
        <p:nvSpPr>
          <p:cNvPr id="2181" name="Google Shape;2181;p84"/>
          <p:cNvSpPr txBox="1"/>
          <p:nvPr/>
        </p:nvSpPr>
        <p:spPr>
          <a:xfrm>
            <a:off x="130600" y="4124025"/>
            <a:ext cx="2660700" cy="85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Instead of searching </a:t>
            </a:r>
            <a:r>
              <a:rPr lang="en" sz="1200" b="1" i="1" u="none" strike="noStrike" cap="none">
                <a:solidFill>
                  <a:srgbClr val="FF0000"/>
                </a:solidFill>
                <a:latin typeface="Arial"/>
                <a:ea typeface="Arial"/>
                <a:cs typeface="Arial"/>
                <a:sym typeface="Arial"/>
              </a:rPr>
              <a:t>all</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of the immediate neighbors of a vertex, DFS picks </a:t>
            </a:r>
            <a:r>
              <a:rPr lang="en" sz="1200" b="1" i="1" u="none" strike="noStrike" cap="none">
                <a:solidFill>
                  <a:srgbClr val="FF0000"/>
                </a:solidFill>
                <a:latin typeface="Arial"/>
                <a:ea typeface="Arial"/>
                <a:cs typeface="Arial"/>
                <a:sym typeface="Arial"/>
              </a:rPr>
              <a:t>one</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neighbor, and then </a:t>
            </a:r>
            <a:r>
              <a:rPr lang="en" sz="1200" b="1" i="1" u="none" strike="noStrike" cap="none">
                <a:solidFill>
                  <a:srgbClr val="FF0000"/>
                </a:solidFill>
                <a:latin typeface="Arial"/>
                <a:ea typeface="Arial"/>
                <a:cs typeface="Arial"/>
                <a:sym typeface="Arial"/>
              </a:rPr>
              <a:t>one</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of its neighbors, and so on. </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85"/>
        <p:cNvGrpSpPr/>
        <p:nvPr/>
      </p:nvGrpSpPr>
      <p:grpSpPr>
        <a:xfrm>
          <a:off x="0" y="0"/>
          <a:ext cx="0" cy="0"/>
          <a:chOff x="0" y="0"/>
          <a:chExt cx="0" cy="0"/>
        </a:xfrm>
      </p:grpSpPr>
      <p:pic>
        <p:nvPicPr>
          <p:cNvPr id="2186" name="Google Shape;2186;p85"/>
          <p:cNvPicPr preferRelativeResize="0"/>
          <p:nvPr/>
        </p:nvPicPr>
        <p:blipFill rotWithShape="1">
          <a:blip r:embed="rId3">
            <a:alphaModFix/>
          </a:blip>
          <a:srcRect/>
          <a:stretch/>
        </p:blipFill>
        <p:spPr>
          <a:xfrm>
            <a:off x="272653" y="1364175"/>
            <a:ext cx="2376599" cy="2759851"/>
          </a:xfrm>
          <a:prstGeom prst="rect">
            <a:avLst/>
          </a:prstGeom>
          <a:noFill/>
          <a:ln>
            <a:noFill/>
          </a:ln>
        </p:spPr>
      </p:pic>
      <p:sp>
        <p:nvSpPr>
          <p:cNvPr id="2187" name="Google Shape;2187;p85"/>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Put the Finishing Touches on DFS</a:t>
            </a:r>
            <a:endParaRPr/>
          </a:p>
        </p:txBody>
      </p:sp>
      <p:sp>
        <p:nvSpPr>
          <p:cNvPr id="2188" name="Google Shape;2188;p85"/>
          <p:cNvSpPr txBox="1">
            <a:spLocks noGrp="1"/>
          </p:cNvSpPr>
          <p:nvPr>
            <p:ph type="body" idx="1"/>
          </p:nvPr>
        </p:nvSpPr>
        <p:spPr>
          <a:xfrm>
            <a:off x="65250" y="731625"/>
            <a:ext cx="89559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The recursive </a:t>
            </a:r>
            <a:r>
              <a:rPr lang="en">
                <a:latin typeface="Courier New"/>
                <a:ea typeface="Courier New"/>
                <a:cs typeface="Courier New"/>
                <a:sym typeface="Courier New"/>
              </a:rPr>
              <a:t>visitDFS</a:t>
            </a:r>
            <a:r>
              <a:rPr lang="en"/>
              <a:t> helper method does most of the work. The main DFS method will only need to create the set of visited vertices and return the final result.</a:t>
            </a:r>
            <a:endParaRPr/>
          </a:p>
        </p:txBody>
      </p:sp>
      <p:sp>
        <p:nvSpPr>
          <p:cNvPr id="2189" name="Google Shape;2189;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2190" name="Google Shape;2190;p85"/>
          <p:cNvSpPr txBox="1">
            <a:spLocks noGrp="1"/>
          </p:cNvSpPr>
          <p:nvPr>
            <p:ph type="body" idx="2"/>
          </p:nvPr>
        </p:nvSpPr>
        <p:spPr>
          <a:xfrm>
            <a:off x="2912400" y="1653775"/>
            <a:ext cx="6058800" cy="22434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AdjacencyGraph</a:t>
            </a:r>
            <a:r>
              <a:rPr lang="en">
                <a:solidFill>
                  <a:srgbClr val="FF0000"/>
                </a:solidFill>
              </a:rPr>
              <a:t> </a:t>
            </a:r>
            <a:r>
              <a:rPr lang="en"/>
              <a:t>class and </a:t>
            </a:r>
            <a:r>
              <a:rPr lang="en" b="1" i="1">
                <a:solidFill>
                  <a:srgbClr val="FF0000"/>
                </a:solidFill>
              </a:rPr>
              <a:t>override</a:t>
            </a:r>
            <a:r>
              <a:rPr lang="en">
                <a:solidFill>
                  <a:srgbClr val="FF0000"/>
                </a:solidFill>
              </a:rPr>
              <a:t> </a:t>
            </a:r>
            <a:r>
              <a:rPr lang="en"/>
              <a:t>the default implementation of </a:t>
            </a:r>
            <a:r>
              <a:rPr lang="en">
                <a:latin typeface="Courier New"/>
                <a:ea typeface="Courier New"/>
                <a:cs typeface="Courier New"/>
                <a:sym typeface="Courier New"/>
              </a:rPr>
              <a:t>dfSearch</a:t>
            </a:r>
            <a:r>
              <a:rPr lang="en"/>
              <a:t> inherited from the </a:t>
            </a:r>
            <a:r>
              <a:rPr lang="en">
                <a:latin typeface="Courier New"/>
                <a:ea typeface="Courier New"/>
                <a:cs typeface="Courier New"/>
                <a:sym typeface="Courier New"/>
              </a:rPr>
              <a:t>Graph</a:t>
            </a:r>
            <a:r>
              <a:rPr lang="en"/>
              <a:t> interface.</a:t>
            </a:r>
            <a:endParaRPr/>
          </a:p>
          <a:p>
            <a:pPr marL="457200" lvl="0" indent="-311150" algn="l" rtl="0">
              <a:lnSpc>
                <a:spcPct val="115000"/>
              </a:lnSpc>
              <a:spcBef>
                <a:spcPts val="0"/>
              </a:spcBef>
              <a:spcAft>
                <a:spcPts val="0"/>
              </a:spcAft>
              <a:buSzPts val="1300"/>
              <a:buChar char="●"/>
            </a:pPr>
            <a:r>
              <a:rPr lang="en"/>
              <a:t>Implement the main DFS algorithm as follows:</a:t>
            </a:r>
            <a:endParaRPr/>
          </a:p>
          <a:p>
            <a:pPr marL="914400" lvl="1" indent="-298450" algn="l" rtl="0">
              <a:lnSpc>
                <a:spcPct val="115000"/>
              </a:lnSpc>
              <a:spcBef>
                <a:spcPts val="0"/>
              </a:spcBef>
              <a:spcAft>
                <a:spcPts val="0"/>
              </a:spcAft>
              <a:buSzPts val="1100"/>
              <a:buChar char="○"/>
            </a:pPr>
            <a:r>
              <a:rPr lang="en"/>
              <a:t>Get the vertices corresponding to the </a:t>
            </a:r>
            <a:r>
              <a:rPr lang="en">
                <a:solidFill>
                  <a:srgbClr val="FF0000"/>
                </a:solidFill>
                <a:latin typeface="Courier New"/>
                <a:ea typeface="Courier New"/>
                <a:cs typeface="Courier New"/>
                <a:sym typeface="Courier New"/>
              </a:rPr>
              <a:t>start</a:t>
            </a:r>
            <a:r>
              <a:rPr lang="en">
                <a:solidFill>
                  <a:srgbClr val="FF0000"/>
                </a:solidFill>
              </a:rPr>
              <a:t> </a:t>
            </a:r>
            <a:r>
              <a:rPr lang="en"/>
              <a:t>and </a:t>
            </a:r>
            <a:r>
              <a:rPr lang="en">
                <a:solidFill>
                  <a:srgbClr val="FF0000"/>
                </a:solidFill>
                <a:latin typeface="Courier New"/>
                <a:ea typeface="Courier New"/>
                <a:cs typeface="Courier New"/>
                <a:sym typeface="Courier New"/>
              </a:rPr>
              <a:t>end</a:t>
            </a:r>
            <a:r>
              <a:rPr lang="en">
                <a:solidFill>
                  <a:srgbClr val="FF0000"/>
                </a:solidFill>
              </a:rPr>
              <a:t> </a:t>
            </a:r>
            <a:r>
              <a:rPr lang="en"/>
              <a:t>values from the graph's map of </a:t>
            </a:r>
            <a:r>
              <a:rPr lang="en">
                <a:solidFill>
                  <a:srgbClr val="FF0000"/>
                </a:solidFill>
                <a:latin typeface="Courier New"/>
                <a:ea typeface="Courier New"/>
                <a:cs typeface="Courier New"/>
                <a:sym typeface="Courier New"/>
              </a:rPr>
              <a:t>vertices</a:t>
            </a:r>
            <a:r>
              <a:rPr lang="en"/>
              <a:t>.</a:t>
            </a:r>
            <a:endParaRPr/>
          </a:p>
          <a:p>
            <a:pPr marL="914400" lvl="1" indent="-298450" algn="l" rtl="0">
              <a:lnSpc>
                <a:spcPct val="115000"/>
              </a:lnSpc>
              <a:spcBef>
                <a:spcPts val="0"/>
              </a:spcBef>
              <a:spcAft>
                <a:spcPts val="0"/>
              </a:spcAft>
              <a:buSzPts val="1100"/>
              <a:buChar char="○"/>
            </a:pPr>
            <a:r>
              <a:rPr lang="en"/>
              <a:t>Create the </a:t>
            </a:r>
            <a:r>
              <a:rPr lang="en" b="1" i="1">
                <a:solidFill>
                  <a:srgbClr val="FF0000"/>
                </a:solidFill>
              </a:rPr>
              <a:t>set</a:t>
            </a:r>
            <a:r>
              <a:rPr lang="en">
                <a:solidFill>
                  <a:srgbClr val="FF0000"/>
                </a:solidFill>
              </a:rPr>
              <a:t> </a:t>
            </a:r>
            <a:r>
              <a:rPr lang="en"/>
              <a:t>of </a:t>
            </a:r>
            <a:r>
              <a:rPr lang="en">
                <a:solidFill>
                  <a:srgbClr val="FF0000"/>
                </a:solidFill>
                <a:latin typeface="Courier New"/>
                <a:ea typeface="Courier New"/>
                <a:cs typeface="Courier New"/>
                <a:sym typeface="Courier New"/>
              </a:rPr>
              <a:t>visited</a:t>
            </a:r>
            <a:r>
              <a:rPr lang="en">
                <a:solidFill>
                  <a:srgbClr val="FF0000"/>
                </a:solidFill>
              </a:rPr>
              <a:t> </a:t>
            </a:r>
            <a:r>
              <a:rPr lang="en"/>
              <a:t>vertices.</a:t>
            </a:r>
            <a:endParaRPr/>
          </a:p>
          <a:p>
            <a:pPr marL="914400" lvl="1" indent="-298450" algn="l" rtl="0">
              <a:lnSpc>
                <a:spcPct val="115000"/>
              </a:lnSpc>
              <a:spcBef>
                <a:spcPts val="0"/>
              </a:spcBef>
              <a:spcAft>
                <a:spcPts val="0"/>
              </a:spcAft>
              <a:buSzPts val="1100"/>
              <a:buChar char="○"/>
            </a:pPr>
            <a:r>
              <a:rPr lang="en" b="1" i="1">
                <a:solidFill>
                  <a:srgbClr val="FF0000"/>
                </a:solidFill>
              </a:rPr>
              <a:t>Add</a:t>
            </a:r>
            <a:r>
              <a:rPr lang="en">
                <a:solidFill>
                  <a:srgbClr val="FF0000"/>
                </a:solidFill>
              </a:rPr>
              <a:t> </a:t>
            </a:r>
            <a:r>
              <a:rPr lang="en"/>
              <a:t>the start vertex to the </a:t>
            </a:r>
            <a:r>
              <a:rPr lang="en">
                <a:latin typeface="Courier New"/>
                <a:ea typeface="Courier New"/>
                <a:cs typeface="Courier New"/>
                <a:sym typeface="Courier New"/>
              </a:rPr>
              <a:t>visited</a:t>
            </a:r>
            <a:r>
              <a:rPr lang="en"/>
              <a:t> set.</a:t>
            </a:r>
            <a:endParaRPr/>
          </a:p>
          <a:p>
            <a:pPr marL="914400" lvl="1" indent="-298450" algn="l" rtl="0">
              <a:lnSpc>
                <a:spcPct val="115000"/>
              </a:lnSpc>
              <a:spcBef>
                <a:spcPts val="0"/>
              </a:spcBef>
              <a:spcAft>
                <a:spcPts val="0"/>
              </a:spcAft>
              <a:buSzPts val="1100"/>
              <a:buChar char="○"/>
            </a:pPr>
            <a:r>
              <a:rPr lang="en" b="1" i="1">
                <a:solidFill>
                  <a:srgbClr val="FF0000"/>
                </a:solidFill>
              </a:rPr>
              <a:t>Call</a:t>
            </a:r>
            <a:r>
              <a:rPr lang="en">
                <a:solidFill>
                  <a:srgbClr val="FF0000"/>
                </a:solidFill>
              </a:rPr>
              <a:t> </a:t>
            </a:r>
            <a:r>
              <a:rPr lang="en"/>
              <a:t>the </a:t>
            </a:r>
            <a:r>
              <a:rPr lang="en">
                <a:solidFill>
                  <a:srgbClr val="FF0000"/>
                </a:solidFill>
                <a:latin typeface="Courier New"/>
                <a:ea typeface="Courier New"/>
                <a:cs typeface="Courier New"/>
                <a:sym typeface="Courier New"/>
              </a:rPr>
              <a:t>visitDFS</a:t>
            </a:r>
            <a:r>
              <a:rPr lang="en">
                <a:solidFill>
                  <a:srgbClr val="FF0000"/>
                </a:solidFill>
              </a:rPr>
              <a:t> </a:t>
            </a:r>
            <a:r>
              <a:rPr lang="en"/>
              <a:t>helper method.</a:t>
            </a:r>
            <a:endParaRPr/>
          </a:p>
          <a:p>
            <a:pPr marL="914400" lvl="1" indent="-298450" algn="l" rtl="0">
              <a:lnSpc>
                <a:spcPct val="115000"/>
              </a:lnSpc>
              <a:spcBef>
                <a:spcPts val="0"/>
              </a:spcBef>
              <a:spcAft>
                <a:spcPts val="0"/>
              </a:spcAft>
              <a:buSzPts val="1100"/>
              <a:buChar char="○"/>
            </a:pPr>
            <a:r>
              <a:rPr lang="en" b="1" i="1">
                <a:solidFill>
                  <a:srgbClr val="FF0000"/>
                </a:solidFill>
              </a:rPr>
              <a:t>Return</a:t>
            </a:r>
            <a:r>
              <a:rPr lang="en">
                <a:solidFill>
                  <a:srgbClr val="FF0000"/>
                </a:solidFill>
              </a:rPr>
              <a:t> </a:t>
            </a:r>
            <a:r>
              <a:rPr lang="en">
                <a:solidFill>
                  <a:srgbClr val="FF0000"/>
                </a:solidFill>
                <a:latin typeface="Courier New"/>
                <a:ea typeface="Courier New"/>
                <a:cs typeface="Courier New"/>
                <a:sym typeface="Courier New"/>
              </a:rPr>
              <a:t>true</a:t>
            </a:r>
            <a:r>
              <a:rPr lang="en">
                <a:solidFill>
                  <a:srgbClr val="FF0000"/>
                </a:solidFill>
              </a:rPr>
              <a:t> </a:t>
            </a:r>
            <a:r>
              <a:rPr lang="en"/>
              <a:t>if the end vertex is in the </a:t>
            </a:r>
            <a:r>
              <a:rPr lang="en">
                <a:latin typeface="Courier New"/>
                <a:ea typeface="Courier New"/>
                <a:cs typeface="Courier New"/>
                <a:sym typeface="Courier New"/>
              </a:rPr>
              <a:t>visited</a:t>
            </a:r>
            <a:r>
              <a:rPr lang="en"/>
              <a:t> set, and </a:t>
            </a:r>
            <a:r>
              <a:rPr lang="en">
                <a:latin typeface="Courier New"/>
                <a:ea typeface="Courier New"/>
                <a:cs typeface="Courier New"/>
                <a:sym typeface="Courier New"/>
              </a:rPr>
              <a:t>false</a:t>
            </a:r>
            <a:r>
              <a:rPr lang="en"/>
              <a:t> otherwise.</a:t>
            </a:r>
            <a:endParaRPr/>
          </a:p>
          <a:p>
            <a:pPr marL="457200" lvl="0" indent="-311150" algn="l" rtl="0">
              <a:lnSpc>
                <a:spcPct val="115000"/>
              </a:lnSpc>
              <a:spcBef>
                <a:spcPts val="0"/>
              </a:spcBef>
              <a:spcAft>
                <a:spcPts val="0"/>
              </a:spcAft>
              <a:buSzPts val="1300"/>
              <a:buChar char="●"/>
            </a:pPr>
            <a:r>
              <a:rPr lang="en" b="1" i="1">
                <a:solidFill>
                  <a:srgbClr val="FF0000"/>
                </a:solidFill>
              </a:rPr>
              <a:t>Test</a:t>
            </a:r>
            <a:r>
              <a:rPr lang="en">
                <a:solidFill>
                  <a:srgbClr val="FF0000"/>
                </a:solidFill>
              </a:rPr>
              <a:t> </a:t>
            </a:r>
            <a:r>
              <a:rPr lang="en"/>
              <a:t>your algorithm using the provided </a:t>
            </a:r>
            <a:r>
              <a:rPr lang="en">
                <a:solidFill>
                  <a:srgbClr val="FF0000"/>
                </a:solidFill>
                <a:latin typeface="Courier New"/>
                <a:ea typeface="Courier New"/>
                <a:cs typeface="Courier New"/>
                <a:sym typeface="Courier New"/>
              </a:rPr>
              <a:t>DFSearchTest</a:t>
            </a:r>
            <a:r>
              <a:rPr lang="en"/>
              <a:t>.</a:t>
            </a:r>
            <a:endParaRPr/>
          </a:p>
        </p:txBody>
      </p:sp>
      <p:sp>
        <p:nvSpPr>
          <p:cNvPr id="2191" name="Google Shape;2191;p85"/>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12.23</a:t>
            </a:r>
            <a:endParaRPr/>
          </a:p>
        </p:txBody>
      </p:sp>
      <p:sp>
        <p:nvSpPr>
          <p:cNvPr id="2192" name="Google Shape;2192;p85"/>
          <p:cNvSpPr txBox="1"/>
          <p:nvPr/>
        </p:nvSpPr>
        <p:spPr>
          <a:xfrm>
            <a:off x="130600" y="4124025"/>
            <a:ext cx="2660700" cy="85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DFS searches </a:t>
            </a:r>
            <a:r>
              <a:rPr lang="en" sz="1200" b="1" i="1" u="none" strike="noStrike" cap="none">
                <a:solidFill>
                  <a:srgbClr val="FF0000"/>
                </a:solidFill>
                <a:latin typeface="Arial"/>
                <a:ea typeface="Arial"/>
                <a:cs typeface="Arial"/>
                <a:sym typeface="Arial"/>
              </a:rPr>
              <a:t>every</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vertex that is </a:t>
            </a:r>
            <a:r>
              <a:rPr lang="en" sz="1200" b="1" i="1" u="none" strike="noStrike" cap="none">
                <a:solidFill>
                  <a:srgbClr val="FF0000"/>
                </a:solidFill>
                <a:latin typeface="Arial"/>
                <a:ea typeface="Arial"/>
                <a:cs typeface="Arial"/>
                <a:sym typeface="Arial"/>
              </a:rPr>
              <a:t>reachable</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from the start vertex. If a path exists to the end vertex, it will be in the set of </a:t>
            </a:r>
            <a:r>
              <a:rPr lang="en" sz="1200" b="1" i="1" u="none" strike="noStrike" cap="none">
                <a:solidFill>
                  <a:srgbClr val="FF0000"/>
                </a:solidFill>
                <a:latin typeface="Arial"/>
                <a:ea typeface="Arial"/>
                <a:cs typeface="Arial"/>
                <a:sym typeface="Arial"/>
              </a:rPr>
              <a:t>visited</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vertices.</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96"/>
        <p:cNvGrpSpPr/>
        <p:nvPr/>
      </p:nvGrpSpPr>
      <p:grpSpPr>
        <a:xfrm>
          <a:off x="0" y="0"/>
          <a:ext cx="0" cy="0"/>
          <a:chOff x="0" y="0"/>
          <a:chExt cx="0" cy="0"/>
        </a:xfrm>
      </p:grpSpPr>
      <p:sp>
        <p:nvSpPr>
          <p:cNvPr id="2197" name="Google Shape;2197;p86"/>
          <p:cNvSpPr txBox="1">
            <a:spLocks noGrp="1"/>
          </p:cNvSpPr>
          <p:nvPr>
            <p:ph type="title"/>
          </p:nvPr>
        </p:nvSpPr>
        <p:spPr>
          <a:xfrm>
            <a:off x="311725" y="15733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DFS Path Building</a:t>
            </a:r>
            <a:endParaRPr/>
          </a:p>
        </p:txBody>
      </p:sp>
      <p:sp>
        <p:nvSpPr>
          <p:cNvPr id="2198" name="Google Shape;2198;p86"/>
          <p:cNvSpPr txBox="1">
            <a:spLocks noGrp="1"/>
          </p:cNvSpPr>
          <p:nvPr>
            <p:ph type="body" idx="1"/>
          </p:nvPr>
        </p:nvSpPr>
        <p:spPr>
          <a:xfrm>
            <a:off x="4492275" y="43725"/>
            <a:ext cx="4311600" cy="50490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As with our initial version of BFS, the current version of DFS tells us whether or not a path </a:t>
            </a:r>
            <a:r>
              <a:rPr lang="en" b="1" i="1">
                <a:solidFill>
                  <a:srgbClr val="FF0000"/>
                </a:solidFill>
              </a:rPr>
              <a:t>exists</a:t>
            </a:r>
            <a:r>
              <a:rPr lang="en"/>
              <a:t>, but not which vertices are included along the path.</a:t>
            </a:r>
            <a:endParaRPr/>
          </a:p>
          <a:p>
            <a:pPr marL="914400" lvl="1" indent="-298450" algn="l" rtl="0">
              <a:lnSpc>
                <a:spcPct val="115000"/>
              </a:lnSpc>
              <a:spcBef>
                <a:spcPts val="0"/>
              </a:spcBef>
              <a:spcAft>
                <a:spcPts val="0"/>
              </a:spcAft>
              <a:buSzPts val="1100"/>
              <a:buChar char="○"/>
            </a:pPr>
            <a:r>
              <a:rPr lang="en"/>
              <a:t>Also like BFS, we will need to modify the current algorithm to construct a path.</a:t>
            </a:r>
            <a:endParaRPr/>
          </a:p>
          <a:p>
            <a:pPr marL="457200" lvl="0" indent="-311150" algn="l" rtl="0">
              <a:lnSpc>
                <a:spcPct val="115000"/>
              </a:lnSpc>
              <a:spcBef>
                <a:spcPts val="1000"/>
              </a:spcBef>
              <a:spcAft>
                <a:spcPts val="0"/>
              </a:spcAft>
              <a:buSzPts val="1300"/>
              <a:buChar char="●"/>
            </a:pPr>
            <a:r>
              <a:rPr lang="en"/>
              <a:t>The </a:t>
            </a:r>
            <a:r>
              <a:rPr lang="en" b="1" i="1">
                <a:solidFill>
                  <a:srgbClr val="FF0000"/>
                </a:solidFill>
              </a:rPr>
              <a:t>DFS path</a:t>
            </a:r>
            <a:r>
              <a:rPr lang="en"/>
              <a:t> algorithm declares parameters for a vertex </a:t>
            </a:r>
            <a:r>
              <a:rPr lang="en" b="1" i="1">
                <a:solidFill>
                  <a:srgbClr val="FF0000"/>
                </a:solidFill>
              </a:rPr>
              <a:t>V</a:t>
            </a:r>
            <a:r>
              <a:rPr lang="en"/>
              <a:t>, the end vertex</a:t>
            </a:r>
            <a:r>
              <a:rPr lang="en">
                <a:solidFill>
                  <a:srgbClr val="FF0000"/>
                </a:solidFill>
              </a:rPr>
              <a:t> </a:t>
            </a:r>
            <a:r>
              <a:rPr lang="en" b="1" i="1">
                <a:solidFill>
                  <a:srgbClr val="FF0000"/>
                </a:solidFill>
              </a:rPr>
              <a:t>E</a:t>
            </a:r>
            <a:r>
              <a:rPr lang="en"/>
              <a:t>, and a set of previously</a:t>
            </a:r>
            <a:r>
              <a:rPr lang="en">
                <a:solidFill>
                  <a:srgbClr val="FF0000"/>
                </a:solidFill>
              </a:rPr>
              <a:t> </a:t>
            </a:r>
            <a:r>
              <a:rPr lang="en" b="1" i="1">
                <a:solidFill>
                  <a:srgbClr val="FF0000"/>
                </a:solidFill>
              </a:rPr>
              <a:t>visited</a:t>
            </a:r>
            <a:r>
              <a:rPr lang="en"/>
              <a:t> vertices.</a:t>
            </a:r>
            <a:endParaRPr/>
          </a:p>
          <a:p>
            <a:pPr marL="914400" lvl="1" indent="-298450" algn="l" rtl="0">
              <a:lnSpc>
                <a:spcPct val="115000"/>
              </a:lnSpc>
              <a:spcBef>
                <a:spcPts val="0"/>
              </a:spcBef>
              <a:spcAft>
                <a:spcPts val="0"/>
              </a:spcAft>
              <a:buSzPts val="1100"/>
              <a:buChar char="○"/>
            </a:pPr>
            <a:r>
              <a:rPr lang="en"/>
              <a:t>If </a:t>
            </a:r>
            <a:r>
              <a:rPr lang="en" b="1" i="1">
                <a:solidFill>
                  <a:srgbClr val="FF0000"/>
                </a:solidFill>
              </a:rPr>
              <a:t>V is E</a:t>
            </a:r>
            <a:r>
              <a:rPr lang="en"/>
              <a:t>, we found a path! Return the path containing </a:t>
            </a:r>
            <a:r>
              <a:rPr lang="en" b="1" i="1">
                <a:solidFill>
                  <a:srgbClr val="FF0000"/>
                </a:solidFill>
              </a:rPr>
              <a:t>only E</a:t>
            </a:r>
            <a:r>
              <a:rPr lang="en"/>
              <a:t>.</a:t>
            </a:r>
            <a:endParaRPr/>
          </a:p>
          <a:p>
            <a:pPr marL="914400" lvl="1" indent="-298450" algn="l" rtl="0">
              <a:lnSpc>
                <a:spcPct val="115000"/>
              </a:lnSpc>
              <a:spcBef>
                <a:spcPts val="0"/>
              </a:spcBef>
              <a:spcAft>
                <a:spcPts val="0"/>
              </a:spcAft>
              <a:buSzPts val="1100"/>
              <a:buChar char="○"/>
            </a:pPr>
            <a:r>
              <a:rPr lang="en"/>
              <a:t>Otherise, for each neighbor </a:t>
            </a:r>
            <a:r>
              <a:rPr lang="en" b="1" i="1">
                <a:solidFill>
                  <a:srgbClr val="FF0000"/>
                </a:solidFill>
              </a:rPr>
              <a:t>N</a:t>
            </a:r>
            <a:r>
              <a:rPr lang="en"/>
              <a:t> of</a:t>
            </a:r>
            <a:r>
              <a:rPr lang="en">
                <a:solidFill>
                  <a:srgbClr val="FF0000"/>
                </a:solidFill>
              </a:rPr>
              <a:t> </a:t>
            </a:r>
            <a:r>
              <a:rPr lang="en" b="1" i="1">
                <a:solidFill>
                  <a:srgbClr val="FF0000"/>
                </a:solidFill>
              </a:rPr>
              <a:t>V</a:t>
            </a:r>
            <a:r>
              <a:rPr lang="en"/>
              <a:t> that is not in the </a:t>
            </a:r>
            <a:r>
              <a:rPr lang="en" b="1" i="1">
                <a:solidFill>
                  <a:srgbClr val="FF0000"/>
                </a:solidFill>
              </a:rPr>
              <a:t>visited</a:t>
            </a:r>
            <a:r>
              <a:rPr lang="en">
                <a:solidFill>
                  <a:srgbClr val="FF0000"/>
                </a:solidFill>
              </a:rPr>
              <a:t> </a:t>
            </a:r>
            <a:r>
              <a:rPr lang="en"/>
              <a:t>set:</a:t>
            </a:r>
            <a:endParaRPr/>
          </a:p>
          <a:p>
            <a:pPr marL="1371600" lvl="2" indent="-298450" algn="l" rtl="0">
              <a:lnSpc>
                <a:spcPct val="115000"/>
              </a:lnSpc>
              <a:spcBef>
                <a:spcPts val="0"/>
              </a:spcBef>
              <a:spcAft>
                <a:spcPts val="0"/>
              </a:spcAft>
              <a:buSzPts val="1100"/>
              <a:buChar char="■"/>
            </a:pPr>
            <a:r>
              <a:rPr lang="en" b="1" i="1">
                <a:solidFill>
                  <a:srgbClr val="FF0000"/>
                </a:solidFill>
              </a:rPr>
              <a:t>Add N</a:t>
            </a:r>
            <a:r>
              <a:rPr lang="en"/>
              <a:t> to the </a:t>
            </a:r>
            <a:r>
              <a:rPr lang="en" b="1" i="1">
                <a:solidFill>
                  <a:srgbClr val="FF0000"/>
                </a:solidFill>
              </a:rPr>
              <a:t>visited</a:t>
            </a:r>
            <a:r>
              <a:rPr lang="en">
                <a:solidFill>
                  <a:srgbClr val="FF0000"/>
                </a:solidFill>
              </a:rPr>
              <a:t> </a:t>
            </a:r>
            <a:r>
              <a:rPr lang="en"/>
              <a:t>set.</a:t>
            </a:r>
            <a:endParaRPr/>
          </a:p>
          <a:p>
            <a:pPr marL="1371600" lvl="2" indent="-298450" algn="l" rtl="0">
              <a:lnSpc>
                <a:spcPct val="115000"/>
              </a:lnSpc>
              <a:spcBef>
                <a:spcPts val="0"/>
              </a:spcBef>
              <a:spcAft>
                <a:spcPts val="0"/>
              </a:spcAft>
              <a:buSzPts val="1100"/>
              <a:buChar char="■"/>
            </a:pPr>
            <a:r>
              <a:rPr lang="en"/>
              <a:t>Make a </a:t>
            </a:r>
            <a:r>
              <a:rPr lang="en" b="1" i="1">
                <a:solidFill>
                  <a:srgbClr val="FF0000"/>
                </a:solidFill>
              </a:rPr>
              <a:t>recursive call</a:t>
            </a:r>
            <a:r>
              <a:rPr lang="en"/>
              <a:t> to the DFS path function with </a:t>
            </a:r>
            <a:r>
              <a:rPr lang="en" b="1" i="1">
                <a:solidFill>
                  <a:srgbClr val="FF0000"/>
                </a:solidFill>
              </a:rPr>
              <a:t>N</a:t>
            </a:r>
            <a:r>
              <a:rPr lang="en"/>
              <a:t>, </a:t>
            </a:r>
            <a:r>
              <a:rPr lang="en" b="1" i="1">
                <a:solidFill>
                  <a:srgbClr val="FF0000"/>
                </a:solidFill>
              </a:rPr>
              <a:t>E</a:t>
            </a:r>
            <a:r>
              <a:rPr lang="en"/>
              <a:t>, and </a:t>
            </a:r>
            <a:r>
              <a:rPr lang="en" b="1" i="1">
                <a:solidFill>
                  <a:srgbClr val="FF0000"/>
                </a:solidFill>
              </a:rPr>
              <a:t>visited</a:t>
            </a:r>
            <a:r>
              <a:rPr lang="en"/>
              <a:t>.</a:t>
            </a:r>
            <a:endParaRPr/>
          </a:p>
          <a:p>
            <a:pPr marL="1371600" lvl="2" indent="-298450" algn="l" rtl="0">
              <a:lnSpc>
                <a:spcPct val="115000"/>
              </a:lnSpc>
              <a:spcBef>
                <a:spcPts val="0"/>
              </a:spcBef>
              <a:spcAft>
                <a:spcPts val="0"/>
              </a:spcAft>
              <a:buSzPts val="1100"/>
              <a:buChar char="■"/>
            </a:pPr>
            <a:r>
              <a:rPr lang="en"/>
              <a:t>If the recursive call returns a </a:t>
            </a:r>
            <a:r>
              <a:rPr lang="en" b="1" i="1">
                <a:solidFill>
                  <a:srgbClr val="FF0000"/>
                </a:solidFill>
              </a:rPr>
              <a:t>path</a:t>
            </a:r>
            <a:r>
              <a:rPr lang="en"/>
              <a:t>, add </a:t>
            </a:r>
            <a:r>
              <a:rPr lang="en" b="1" i="1">
                <a:solidFill>
                  <a:srgbClr val="FF0000"/>
                </a:solidFill>
              </a:rPr>
              <a:t>V</a:t>
            </a:r>
            <a:r>
              <a:rPr lang="en"/>
              <a:t> to the front of the path and </a:t>
            </a:r>
            <a:r>
              <a:rPr lang="en" b="1" i="1">
                <a:solidFill>
                  <a:srgbClr val="FF0000"/>
                </a:solidFill>
              </a:rPr>
              <a:t>return it</a:t>
            </a:r>
            <a:r>
              <a:rPr lang="en"/>
              <a:t>.</a:t>
            </a:r>
            <a:endParaRPr/>
          </a:p>
          <a:p>
            <a:pPr marL="914400" lvl="1" indent="-298450" algn="l" rtl="0">
              <a:lnSpc>
                <a:spcPct val="115000"/>
              </a:lnSpc>
              <a:spcBef>
                <a:spcPts val="0"/>
              </a:spcBef>
              <a:spcAft>
                <a:spcPts val="0"/>
              </a:spcAft>
              <a:buSzPts val="1100"/>
              <a:buChar char="○"/>
            </a:pPr>
            <a:r>
              <a:rPr lang="en"/>
              <a:t>If </a:t>
            </a:r>
            <a:r>
              <a:rPr lang="en" b="1" i="1">
                <a:solidFill>
                  <a:srgbClr val="FF0000"/>
                </a:solidFill>
              </a:rPr>
              <a:t>none</a:t>
            </a:r>
            <a:r>
              <a:rPr lang="en">
                <a:solidFill>
                  <a:srgbClr val="FF0000"/>
                </a:solidFill>
              </a:rPr>
              <a:t> </a:t>
            </a:r>
            <a:r>
              <a:rPr lang="en"/>
              <a:t>of the neighbors returns a path, </a:t>
            </a:r>
            <a:r>
              <a:rPr lang="en" b="1" i="1">
                <a:solidFill>
                  <a:srgbClr val="FF0000"/>
                </a:solidFill>
              </a:rPr>
              <a:t>return </a:t>
            </a:r>
            <a:r>
              <a:rPr lang="en">
                <a:solidFill>
                  <a:srgbClr val="FF0000"/>
                </a:solidFill>
                <a:latin typeface="Courier New"/>
                <a:ea typeface="Courier New"/>
                <a:cs typeface="Courier New"/>
                <a:sym typeface="Courier New"/>
              </a:rPr>
              <a:t>null</a:t>
            </a:r>
            <a:r>
              <a:rPr lang="en"/>
              <a:t>.</a:t>
            </a:r>
            <a:endParaRPr/>
          </a:p>
          <a:p>
            <a:pPr marL="457200" lvl="0" indent="-311150" algn="l" rtl="0">
              <a:lnSpc>
                <a:spcPct val="115000"/>
              </a:lnSpc>
              <a:spcBef>
                <a:spcPts val="1000"/>
              </a:spcBef>
              <a:spcAft>
                <a:spcPts val="0"/>
              </a:spcAft>
              <a:buSzPts val="1300"/>
              <a:buChar char="●"/>
            </a:pPr>
            <a:r>
              <a:rPr lang="en"/>
              <a:t>Once again, the </a:t>
            </a:r>
            <a:r>
              <a:rPr lang="en" b="1" i="1">
                <a:solidFill>
                  <a:srgbClr val="FF0000"/>
                </a:solidFill>
              </a:rPr>
              <a:t>path</a:t>
            </a:r>
            <a:r>
              <a:rPr lang="en">
                <a:solidFill>
                  <a:srgbClr val="FF0000"/>
                </a:solidFill>
              </a:rPr>
              <a:t> </a:t>
            </a:r>
            <a:r>
              <a:rPr lang="en"/>
              <a:t>will be built </a:t>
            </a:r>
            <a:r>
              <a:rPr lang="en" b="1" i="1">
                <a:solidFill>
                  <a:srgbClr val="FF0000"/>
                </a:solidFill>
              </a:rPr>
              <a:t>in reverse</a:t>
            </a:r>
            <a:r>
              <a:rPr lang="en"/>
              <a:t> starting with the end value and working backwards.</a:t>
            </a:r>
            <a:endParaRPr b="1" i="1"/>
          </a:p>
        </p:txBody>
      </p:sp>
      <p:sp>
        <p:nvSpPr>
          <p:cNvPr id="2199" name="Google Shape;2199;p86"/>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53</a:t>
            </a:fld>
            <a:endParaRPr/>
          </a:p>
        </p:txBody>
      </p:sp>
      <p:sp>
        <p:nvSpPr>
          <p:cNvPr id="2200" name="Google Shape;2200;p86"/>
          <p:cNvSpPr txBox="1">
            <a:spLocks noGrp="1"/>
          </p:cNvSpPr>
          <p:nvPr>
            <p:ph type="body" idx="3"/>
          </p:nvPr>
        </p:nvSpPr>
        <p:spPr>
          <a:xfrm>
            <a:off x="315425" y="779175"/>
            <a:ext cx="370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200"/>
              <a:buNone/>
            </a:pPr>
            <a:r>
              <a:rPr lang="en"/>
              <a:t>The DFS path algorithm does </a:t>
            </a:r>
            <a:r>
              <a:rPr lang="en" b="1" i="1">
                <a:solidFill>
                  <a:srgbClr val="FF0000"/>
                </a:solidFill>
              </a:rPr>
              <a:t>not</a:t>
            </a:r>
            <a:r>
              <a:rPr lang="en">
                <a:solidFill>
                  <a:srgbClr val="FF0000"/>
                </a:solidFill>
              </a:rPr>
              <a:t> </a:t>
            </a:r>
            <a:r>
              <a:rPr lang="en"/>
              <a:t>use a map to keep track of predecessors.</a:t>
            </a:r>
            <a:endParaRPr/>
          </a:p>
        </p:txBody>
      </p:sp>
      <p:sp>
        <p:nvSpPr>
          <p:cNvPr id="2201" name="Google Shape;2201;p86"/>
          <p:cNvSpPr txBox="1">
            <a:spLocks noGrp="1"/>
          </p:cNvSpPr>
          <p:nvPr>
            <p:ph type="body" idx="3"/>
          </p:nvPr>
        </p:nvSpPr>
        <p:spPr>
          <a:xfrm>
            <a:off x="315425" y="1433475"/>
            <a:ext cx="3706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200"/>
              <a:buNone/>
            </a:pPr>
            <a:r>
              <a:rPr lang="en"/>
              <a:t>Instead, vertex </a:t>
            </a:r>
            <a:r>
              <a:rPr lang="en" b="1" i="1">
                <a:solidFill>
                  <a:srgbClr val="FF0000"/>
                </a:solidFill>
              </a:rPr>
              <a:t>V</a:t>
            </a:r>
            <a:r>
              <a:rPr lang="en" b="1" i="1"/>
              <a:t> </a:t>
            </a:r>
            <a:r>
              <a:rPr lang="en"/>
              <a:t>makes a </a:t>
            </a:r>
            <a:r>
              <a:rPr lang="en" b="1" i="1">
                <a:solidFill>
                  <a:srgbClr val="FF0000"/>
                </a:solidFill>
              </a:rPr>
              <a:t>recursive call</a:t>
            </a:r>
            <a:r>
              <a:rPr lang="en"/>
              <a:t> for each of is neighbors </a:t>
            </a:r>
            <a:r>
              <a:rPr lang="en" b="1" i="1">
                <a:solidFill>
                  <a:srgbClr val="FF0000"/>
                </a:solidFill>
              </a:rPr>
              <a:t>N</a:t>
            </a:r>
            <a:r>
              <a:rPr lang="en"/>
              <a:t>. If the recursive call returns </a:t>
            </a:r>
            <a:r>
              <a:rPr lang="en">
                <a:solidFill>
                  <a:srgbClr val="FF0000"/>
                </a:solidFill>
                <a:latin typeface="Courier New"/>
                <a:ea typeface="Courier New"/>
                <a:cs typeface="Courier New"/>
                <a:sym typeface="Courier New"/>
              </a:rPr>
              <a:t>null</a:t>
            </a:r>
            <a:r>
              <a:rPr lang="en"/>
              <a:t>, that means that there</a:t>
            </a:r>
            <a:r>
              <a:rPr lang="en">
                <a:solidFill>
                  <a:srgbClr val="FF0000"/>
                </a:solidFill>
              </a:rPr>
              <a:t> </a:t>
            </a:r>
            <a:r>
              <a:rPr lang="en" b="1" i="1">
                <a:solidFill>
                  <a:srgbClr val="FF0000"/>
                </a:solidFill>
              </a:rPr>
              <a:t>is no path</a:t>
            </a:r>
            <a:r>
              <a:rPr lang="en"/>
              <a:t> to </a:t>
            </a:r>
            <a:r>
              <a:rPr lang="en" b="1" i="1">
                <a:solidFill>
                  <a:srgbClr val="FF0000"/>
                </a:solidFill>
              </a:rPr>
              <a:t>E</a:t>
            </a:r>
            <a:r>
              <a:rPr lang="en"/>
              <a:t> that includes </a:t>
            </a:r>
            <a:r>
              <a:rPr lang="en" b="1" i="1">
                <a:solidFill>
                  <a:srgbClr val="FF0000"/>
                </a:solidFill>
              </a:rPr>
              <a:t>N</a:t>
            </a:r>
            <a:r>
              <a:rPr lang="en"/>
              <a:t>.</a:t>
            </a:r>
            <a:endParaRPr/>
          </a:p>
        </p:txBody>
      </p:sp>
      <p:sp>
        <p:nvSpPr>
          <p:cNvPr id="2202" name="Google Shape;2202;p86"/>
          <p:cNvSpPr txBox="1">
            <a:spLocks noGrp="1"/>
          </p:cNvSpPr>
          <p:nvPr>
            <p:ph type="body" idx="3"/>
          </p:nvPr>
        </p:nvSpPr>
        <p:spPr>
          <a:xfrm>
            <a:off x="315425" y="2457075"/>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200"/>
              <a:buNone/>
            </a:pPr>
            <a:r>
              <a:rPr lang="en"/>
              <a:t>If the recursive call returns a</a:t>
            </a:r>
            <a:r>
              <a:rPr lang="en" b="1" i="1"/>
              <a:t> </a:t>
            </a:r>
            <a:r>
              <a:rPr lang="en" b="1" i="1">
                <a:solidFill>
                  <a:srgbClr val="FF0000"/>
                </a:solidFill>
              </a:rPr>
              <a:t>non-</a:t>
            </a:r>
            <a:r>
              <a:rPr lang="en">
                <a:solidFill>
                  <a:srgbClr val="FF0000"/>
                </a:solidFill>
                <a:latin typeface="Courier New"/>
                <a:ea typeface="Courier New"/>
                <a:cs typeface="Courier New"/>
                <a:sym typeface="Courier New"/>
              </a:rPr>
              <a:t>null</a:t>
            </a:r>
            <a:r>
              <a:rPr lang="en" b="1" i="1">
                <a:solidFill>
                  <a:srgbClr val="FF0000"/>
                </a:solidFill>
              </a:rPr>
              <a:t> path</a:t>
            </a:r>
            <a:r>
              <a:rPr lang="en"/>
              <a:t>, e.g. a </a:t>
            </a:r>
            <a:r>
              <a:rPr lang="en" b="1" i="1">
                <a:solidFill>
                  <a:srgbClr val="FF0000"/>
                </a:solidFill>
              </a:rPr>
              <a:t>list</a:t>
            </a:r>
            <a:r>
              <a:rPr lang="en">
                <a:solidFill>
                  <a:srgbClr val="FF0000"/>
                </a:solidFill>
              </a:rPr>
              <a:t> </a:t>
            </a:r>
            <a:r>
              <a:rPr lang="en"/>
              <a:t>with at least one other vertex in it, that means that a path to </a:t>
            </a:r>
            <a:r>
              <a:rPr lang="en" b="1" i="1">
                <a:solidFill>
                  <a:srgbClr val="FF0000"/>
                </a:solidFill>
              </a:rPr>
              <a:t>E</a:t>
            </a:r>
            <a:r>
              <a:rPr lang="en">
                <a:solidFill>
                  <a:srgbClr val="FF0000"/>
                </a:solidFill>
              </a:rPr>
              <a:t> </a:t>
            </a:r>
            <a:r>
              <a:rPr lang="en" b="1" i="1">
                <a:solidFill>
                  <a:srgbClr val="FF0000"/>
                </a:solidFill>
              </a:rPr>
              <a:t>exists</a:t>
            </a:r>
            <a:r>
              <a:rPr lang="en"/>
              <a:t>, and it includes </a:t>
            </a:r>
            <a:r>
              <a:rPr lang="en" b="1" i="1">
                <a:solidFill>
                  <a:srgbClr val="FF0000"/>
                </a:solidFill>
              </a:rPr>
              <a:t>N</a:t>
            </a:r>
            <a:r>
              <a:rPr lang="en"/>
              <a:t>.</a:t>
            </a:r>
            <a:endParaRPr/>
          </a:p>
        </p:txBody>
      </p:sp>
      <p:sp>
        <p:nvSpPr>
          <p:cNvPr id="2203" name="Google Shape;2203;p86"/>
          <p:cNvSpPr txBox="1">
            <a:spLocks noGrp="1"/>
          </p:cNvSpPr>
          <p:nvPr>
            <p:ph type="body" idx="3"/>
          </p:nvPr>
        </p:nvSpPr>
        <p:spPr>
          <a:xfrm>
            <a:off x="311725" y="3296175"/>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200"/>
              <a:buNone/>
            </a:pPr>
            <a:r>
              <a:rPr lang="en"/>
              <a:t>Being that </a:t>
            </a:r>
            <a:r>
              <a:rPr lang="en" b="1" i="1">
                <a:solidFill>
                  <a:srgbClr val="FF0000"/>
                </a:solidFill>
              </a:rPr>
              <a:t>V</a:t>
            </a:r>
            <a:r>
              <a:rPr lang="en"/>
              <a:t> is the vertex through which </a:t>
            </a:r>
            <a:r>
              <a:rPr lang="en" b="1" i="1">
                <a:solidFill>
                  <a:srgbClr val="FF0000"/>
                </a:solidFill>
              </a:rPr>
              <a:t>N</a:t>
            </a:r>
            <a:r>
              <a:rPr lang="en"/>
              <a:t> was first discovered, then </a:t>
            </a:r>
            <a:r>
              <a:rPr lang="en" b="1" i="1">
                <a:solidFill>
                  <a:srgbClr val="FF0000"/>
                </a:solidFill>
              </a:rPr>
              <a:t>V</a:t>
            </a:r>
            <a:r>
              <a:rPr lang="en">
                <a:solidFill>
                  <a:srgbClr val="FF0000"/>
                </a:solidFill>
              </a:rPr>
              <a:t> </a:t>
            </a:r>
            <a:r>
              <a:rPr lang="en"/>
              <a:t>is also on the path, and so </a:t>
            </a:r>
            <a:r>
              <a:rPr lang="en" b="1" i="1">
                <a:solidFill>
                  <a:srgbClr val="FF0000"/>
                </a:solidFill>
              </a:rPr>
              <a:t>V</a:t>
            </a:r>
            <a:r>
              <a:rPr lang="en"/>
              <a:t> is </a:t>
            </a:r>
            <a:r>
              <a:rPr lang="en" b="1" i="1">
                <a:solidFill>
                  <a:srgbClr val="FF0000"/>
                </a:solidFill>
              </a:rPr>
              <a:t>added to the path</a:t>
            </a:r>
            <a:r>
              <a:rPr lang="en"/>
              <a:t> before it is returned.</a:t>
            </a:r>
            <a:endParaRPr/>
          </a:p>
        </p:txBody>
      </p:sp>
      <p:sp>
        <p:nvSpPr>
          <p:cNvPr id="2204" name="Google Shape;2204;p86"/>
          <p:cNvSpPr txBox="1">
            <a:spLocks noGrp="1"/>
          </p:cNvSpPr>
          <p:nvPr>
            <p:ph type="body" idx="3"/>
          </p:nvPr>
        </p:nvSpPr>
        <p:spPr>
          <a:xfrm>
            <a:off x="315425" y="4135275"/>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200"/>
              <a:buNone/>
            </a:pPr>
            <a:r>
              <a:rPr lang="en"/>
              <a:t>If </a:t>
            </a:r>
            <a:r>
              <a:rPr lang="en" b="1" i="1">
                <a:solidFill>
                  <a:srgbClr val="FF0000"/>
                </a:solidFill>
              </a:rPr>
              <a:t>none</a:t>
            </a:r>
            <a:r>
              <a:rPr lang="en">
                <a:solidFill>
                  <a:srgbClr val="FF0000"/>
                </a:solidFill>
              </a:rPr>
              <a:t> </a:t>
            </a:r>
            <a:r>
              <a:rPr lang="en"/>
              <a:t>of </a:t>
            </a:r>
            <a:r>
              <a:rPr lang="en" b="1" i="1">
                <a:solidFill>
                  <a:srgbClr val="FF0000"/>
                </a:solidFill>
              </a:rPr>
              <a:t>V's</a:t>
            </a:r>
            <a:r>
              <a:rPr lang="en"/>
              <a:t> neighbors is on the path to </a:t>
            </a:r>
            <a:r>
              <a:rPr lang="en" b="1" i="1">
                <a:solidFill>
                  <a:srgbClr val="FF0000"/>
                </a:solidFill>
              </a:rPr>
              <a:t>E</a:t>
            </a:r>
            <a:r>
              <a:rPr lang="en"/>
              <a:t>, then that means that</a:t>
            </a:r>
            <a:r>
              <a:rPr lang="en">
                <a:solidFill>
                  <a:srgbClr val="FF0000"/>
                </a:solidFill>
              </a:rPr>
              <a:t> </a:t>
            </a:r>
            <a:r>
              <a:rPr lang="en" b="1" i="1">
                <a:solidFill>
                  <a:srgbClr val="FF0000"/>
                </a:solidFill>
              </a:rPr>
              <a:t>V</a:t>
            </a:r>
            <a:r>
              <a:rPr lang="en"/>
              <a:t> is not either, and so </a:t>
            </a:r>
            <a:r>
              <a:rPr lang="en">
                <a:latin typeface="Courier New"/>
                <a:ea typeface="Courier New"/>
                <a:cs typeface="Courier New"/>
                <a:sym typeface="Courier New"/>
              </a:rPr>
              <a:t>null</a:t>
            </a:r>
            <a:r>
              <a:rPr lang="en"/>
              <a:t> is returned (no path).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9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9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00"/>
                                        </p:tgtEl>
                                        <p:attrNameLst>
                                          <p:attrName>style.visibility</p:attrName>
                                        </p:attrNameLst>
                                      </p:cBhvr>
                                      <p:to>
                                        <p:strVal val="visible"/>
                                      </p:to>
                                    </p:set>
                                    <p:animEffect transition="in" filter="fade">
                                      <p:cBhvr>
                                        <p:cTn id="47" dur="1000"/>
                                        <p:tgtEl>
                                          <p:spTgt spid="220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01"/>
                                        </p:tgtEl>
                                        <p:attrNameLst>
                                          <p:attrName>style.visibility</p:attrName>
                                        </p:attrNameLst>
                                      </p:cBhvr>
                                      <p:to>
                                        <p:strVal val="visible"/>
                                      </p:to>
                                    </p:set>
                                    <p:animEffect transition="in" filter="fade">
                                      <p:cBhvr>
                                        <p:cTn id="52" dur="1000"/>
                                        <p:tgtEl>
                                          <p:spTgt spid="220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202"/>
                                        </p:tgtEl>
                                        <p:attrNameLst>
                                          <p:attrName>style.visibility</p:attrName>
                                        </p:attrNameLst>
                                      </p:cBhvr>
                                      <p:to>
                                        <p:strVal val="visible"/>
                                      </p:to>
                                    </p:set>
                                    <p:animEffect transition="in" filter="fade">
                                      <p:cBhvr>
                                        <p:cTn id="57" dur="1000"/>
                                        <p:tgtEl>
                                          <p:spTgt spid="220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203"/>
                                        </p:tgtEl>
                                        <p:attrNameLst>
                                          <p:attrName>style.visibility</p:attrName>
                                        </p:attrNameLst>
                                      </p:cBhvr>
                                      <p:to>
                                        <p:strVal val="visible"/>
                                      </p:to>
                                    </p:set>
                                    <p:animEffect transition="in" filter="fade">
                                      <p:cBhvr>
                                        <p:cTn id="62" dur="1000"/>
                                        <p:tgtEl>
                                          <p:spTgt spid="220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204"/>
                                        </p:tgtEl>
                                        <p:attrNameLst>
                                          <p:attrName>style.visibility</p:attrName>
                                        </p:attrNameLst>
                                      </p:cBhvr>
                                      <p:to>
                                        <p:strVal val="visible"/>
                                      </p:to>
                                    </p:set>
                                    <p:animEffect transition="in" filter="fade">
                                      <p:cBhvr>
                                        <p:cTn id="67" dur="1000"/>
                                        <p:tgtEl>
                                          <p:spTgt spid="2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208"/>
        <p:cNvGrpSpPr/>
        <p:nvPr/>
      </p:nvGrpSpPr>
      <p:grpSpPr>
        <a:xfrm>
          <a:off x="0" y="0"/>
          <a:ext cx="0" cy="0"/>
          <a:chOff x="0" y="0"/>
          <a:chExt cx="0" cy="0"/>
        </a:xfrm>
      </p:grpSpPr>
      <p:sp>
        <p:nvSpPr>
          <p:cNvPr id="2209" name="Google Shape;2209;p87"/>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DFS Path Illustrated Example: Y to Z</a:t>
            </a:r>
            <a:endParaRPr/>
          </a:p>
        </p:txBody>
      </p:sp>
      <p:sp>
        <p:nvSpPr>
          <p:cNvPr id="2210" name="Google Shape;2210;p8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54</a:t>
            </a:fld>
            <a:endParaRPr/>
          </a:p>
        </p:txBody>
      </p:sp>
      <p:grpSp>
        <p:nvGrpSpPr>
          <p:cNvPr id="2211" name="Google Shape;2211;p87"/>
          <p:cNvGrpSpPr/>
          <p:nvPr/>
        </p:nvGrpSpPr>
        <p:grpSpPr>
          <a:xfrm>
            <a:off x="3319866" y="2025381"/>
            <a:ext cx="2380778" cy="2101576"/>
            <a:chOff x="119466" y="1644381"/>
            <a:chExt cx="2380778" cy="2101576"/>
          </a:xfrm>
        </p:grpSpPr>
        <p:sp>
          <p:nvSpPr>
            <p:cNvPr id="2212" name="Google Shape;2212;p87"/>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213" name="Google Shape;2213;p87"/>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214" name="Google Shape;2214;p87"/>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215" name="Google Shape;2215;p87"/>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216" name="Google Shape;2216;p87"/>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217" name="Google Shape;2217;p87"/>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218" name="Google Shape;2218;p87"/>
            <p:cNvCxnSpPr>
              <a:stCxn id="2212" idx="2"/>
              <a:endCxn id="2214"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219" name="Google Shape;2219;p87"/>
            <p:cNvCxnSpPr>
              <a:stCxn id="2214" idx="5"/>
              <a:endCxn id="2216"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220" name="Google Shape;2220;p87"/>
            <p:cNvCxnSpPr>
              <a:stCxn id="2216" idx="3"/>
              <a:endCxn id="2215"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221" name="Google Shape;2221;p87"/>
            <p:cNvCxnSpPr>
              <a:stCxn id="2215" idx="6"/>
              <a:endCxn id="2217"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222" name="Google Shape;2222;p87"/>
            <p:cNvCxnSpPr>
              <a:stCxn id="2217" idx="0"/>
              <a:endCxn id="2216"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223" name="Google Shape;2223;p87"/>
            <p:cNvCxnSpPr>
              <a:stCxn id="2216" idx="7"/>
              <a:endCxn id="2213"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224" name="Google Shape;2224;p87"/>
            <p:cNvCxnSpPr>
              <a:stCxn id="2213" idx="4"/>
              <a:endCxn id="2217"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sp>
        <p:nvSpPr>
          <p:cNvPr id="2225" name="Google Shape;2225;p87"/>
          <p:cNvSpPr/>
          <p:nvPr/>
        </p:nvSpPr>
        <p:spPr>
          <a:xfrm>
            <a:off x="2018075" y="1553100"/>
            <a:ext cx="1433400" cy="760500"/>
          </a:xfrm>
          <a:prstGeom prst="wedgeRoundRectCallout">
            <a:avLst>
              <a:gd name="adj1" fmla="val 44000"/>
              <a:gd name="adj2" fmla="val 88024"/>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I will search my first neighbor alphabetically for </a:t>
            </a:r>
            <a:r>
              <a:rPr lang="en" sz="1000" b="1" i="1" u="none" strike="noStrike" cap="none">
                <a:solidFill>
                  <a:srgbClr val="FF0000"/>
                </a:solidFill>
                <a:latin typeface="Arial"/>
                <a:ea typeface="Arial"/>
                <a:cs typeface="Arial"/>
                <a:sym typeface="Arial"/>
              </a:rPr>
              <a:t>Z</a:t>
            </a:r>
            <a:r>
              <a:rPr lang="en" sz="1000" b="0" i="0"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cxnSp>
        <p:nvCxnSpPr>
          <p:cNvPr id="2226" name="Google Shape;2226;p87"/>
          <p:cNvCxnSpPr>
            <a:stCxn id="2214" idx="6"/>
            <a:endCxn id="2216" idx="0"/>
          </p:cNvCxnSpPr>
          <p:nvPr/>
        </p:nvCxnSpPr>
        <p:spPr>
          <a:xfrm>
            <a:off x="3733266" y="2796462"/>
            <a:ext cx="777000" cy="174000"/>
          </a:xfrm>
          <a:prstGeom prst="curvedConnector2">
            <a:avLst/>
          </a:prstGeom>
          <a:noFill/>
          <a:ln w="19050" cap="flat" cmpd="sng">
            <a:solidFill>
              <a:srgbClr val="FF0000"/>
            </a:solidFill>
            <a:prstDash val="solid"/>
            <a:round/>
            <a:headEnd type="none" w="sm" len="sm"/>
            <a:tailEnd type="triangle" w="med" len="med"/>
          </a:ln>
        </p:spPr>
      </p:cxnSp>
      <p:sp>
        <p:nvSpPr>
          <p:cNvPr id="2227" name="Google Shape;2227;p87"/>
          <p:cNvSpPr/>
          <p:nvPr/>
        </p:nvSpPr>
        <p:spPr>
          <a:xfrm>
            <a:off x="4816800" y="1747175"/>
            <a:ext cx="1589400" cy="577800"/>
          </a:xfrm>
          <a:prstGeom prst="wedgeRoundRectCallout">
            <a:avLst>
              <a:gd name="adj1" fmla="val -63894"/>
              <a:gd name="adj2" fmla="val 15344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I am not </a:t>
            </a:r>
            <a:r>
              <a:rPr lang="en" sz="1000" b="1" i="1" u="none" strike="noStrike" cap="none">
                <a:solidFill>
                  <a:srgbClr val="FF0000"/>
                </a:solidFill>
                <a:latin typeface="Arial"/>
                <a:ea typeface="Arial"/>
                <a:cs typeface="Arial"/>
                <a:sym typeface="Arial"/>
              </a:rPr>
              <a:t>Z</a:t>
            </a:r>
            <a:r>
              <a:rPr lang="en" sz="1000" b="0" i="0" u="none" strike="noStrike" cap="none">
                <a:solidFill>
                  <a:srgbClr val="000000"/>
                </a:solidFill>
                <a:latin typeface="Arial"/>
                <a:ea typeface="Arial"/>
                <a:cs typeface="Arial"/>
                <a:sym typeface="Arial"/>
              </a:rPr>
              <a:t>, so let's search my first neighbor...</a:t>
            </a:r>
            <a:endParaRPr sz="1000" b="0" i="0" u="none" strike="noStrike" cap="none">
              <a:solidFill>
                <a:srgbClr val="000000"/>
              </a:solidFill>
              <a:latin typeface="Arial"/>
              <a:ea typeface="Arial"/>
              <a:cs typeface="Arial"/>
              <a:sym typeface="Arial"/>
            </a:endParaRPr>
          </a:p>
        </p:txBody>
      </p:sp>
      <p:cxnSp>
        <p:nvCxnSpPr>
          <p:cNvPr id="2228" name="Google Shape;2228;p87"/>
          <p:cNvCxnSpPr>
            <a:stCxn id="2216" idx="4"/>
            <a:endCxn id="2217" idx="2"/>
          </p:cNvCxnSpPr>
          <p:nvPr/>
        </p:nvCxnSpPr>
        <p:spPr>
          <a:xfrm rot="-5400000" flipH="1">
            <a:off x="4501479" y="3392667"/>
            <a:ext cx="536400" cy="518700"/>
          </a:xfrm>
          <a:prstGeom prst="curvedConnector2">
            <a:avLst/>
          </a:prstGeom>
          <a:noFill/>
          <a:ln w="19050" cap="flat" cmpd="sng">
            <a:solidFill>
              <a:srgbClr val="FF0000"/>
            </a:solidFill>
            <a:prstDash val="solid"/>
            <a:round/>
            <a:headEnd type="none" w="sm" len="sm"/>
            <a:tailEnd type="triangle" w="med" len="med"/>
          </a:ln>
        </p:spPr>
      </p:cxnSp>
      <p:sp>
        <p:nvSpPr>
          <p:cNvPr id="2229" name="Google Shape;2229;p87"/>
          <p:cNvSpPr/>
          <p:nvPr/>
        </p:nvSpPr>
        <p:spPr>
          <a:xfrm>
            <a:off x="5700650" y="3920225"/>
            <a:ext cx="1589400" cy="577800"/>
          </a:xfrm>
          <a:prstGeom prst="wedgeRoundRectCallout">
            <a:avLst>
              <a:gd name="adj1" fmla="val -58953"/>
              <a:gd name="adj2" fmla="val -3692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Still no </a:t>
            </a:r>
            <a:r>
              <a:rPr lang="en" sz="1000" b="1" i="1" u="none" strike="noStrike" cap="none">
                <a:solidFill>
                  <a:srgbClr val="FF0000"/>
                </a:solidFill>
                <a:latin typeface="Arial"/>
                <a:ea typeface="Arial"/>
                <a:cs typeface="Arial"/>
                <a:sym typeface="Arial"/>
              </a:rPr>
              <a:t>Z</a:t>
            </a:r>
            <a:r>
              <a:rPr lang="en" sz="1000" b="0" i="0" u="none" strike="noStrike" cap="none">
                <a:solidFill>
                  <a:srgbClr val="000000"/>
                </a:solidFill>
                <a:latin typeface="Arial"/>
                <a:ea typeface="Arial"/>
                <a:cs typeface="Arial"/>
                <a:sym typeface="Arial"/>
              </a:rPr>
              <a:t>. Let's check </a:t>
            </a:r>
            <a:r>
              <a:rPr lang="en" sz="1000" b="1" i="1" u="none" strike="noStrike" cap="none">
                <a:solidFill>
                  <a:srgbClr val="FF0000"/>
                </a:solidFill>
                <a:latin typeface="Arial"/>
                <a:ea typeface="Arial"/>
                <a:cs typeface="Arial"/>
                <a:sym typeface="Arial"/>
              </a:rPr>
              <a:t>my</a:t>
            </a:r>
            <a:r>
              <a:rPr lang="en" sz="1000" b="0" i="0" u="none" strike="noStrike" cap="none">
                <a:solidFill>
                  <a:srgbClr val="000000"/>
                </a:solidFill>
                <a:latin typeface="Arial"/>
                <a:ea typeface="Arial"/>
                <a:cs typeface="Arial"/>
                <a:sym typeface="Arial"/>
              </a:rPr>
              <a:t> first neighbor...</a:t>
            </a:r>
            <a:endParaRPr sz="1000" b="0" i="0" u="none" strike="noStrike" cap="none">
              <a:solidFill>
                <a:srgbClr val="000000"/>
              </a:solidFill>
              <a:latin typeface="Arial"/>
              <a:ea typeface="Arial"/>
              <a:cs typeface="Arial"/>
              <a:sym typeface="Arial"/>
            </a:endParaRPr>
          </a:p>
        </p:txBody>
      </p:sp>
      <p:cxnSp>
        <p:nvCxnSpPr>
          <p:cNvPr id="2230" name="Google Shape;2230;p87"/>
          <p:cNvCxnSpPr>
            <a:stCxn id="2217" idx="6"/>
            <a:endCxn id="2213" idx="6"/>
          </p:cNvCxnSpPr>
          <p:nvPr/>
        </p:nvCxnSpPr>
        <p:spPr>
          <a:xfrm rot="10800000" flipH="1">
            <a:off x="5442411" y="2796457"/>
            <a:ext cx="258300" cy="1123800"/>
          </a:xfrm>
          <a:prstGeom prst="curvedConnector3">
            <a:avLst>
              <a:gd name="adj1" fmla="val 192163"/>
            </a:avLst>
          </a:prstGeom>
          <a:noFill/>
          <a:ln w="19050" cap="flat" cmpd="sng">
            <a:solidFill>
              <a:srgbClr val="FF0000"/>
            </a:solidFill>
            <a:prstDash val="solid"/>
            <a:round/>
            <a:headEnd type="none" w="sm" len="sm"/>
            <a:tailEnd type="triangle" w="med" len="med"/>
          </a:ln>
        </p:spPr>
      </p:cxnSp>
      <p:sp>
        <p:nvSpPr>
          <p:cNvPr id="2231" name="Google Shape;2231;p87"/>
          <p:cNvSpPr/>
          <p:nvPr/>
        </p:nvSpPr>
        <p:spPr>
          <a:xfrm>
            <a:off x="6054147" y="2389795"/>
            <a:ext cx="1821000" cy="991800"/>
          </a:xfrm>
          <a:prstGeom prst="wedgeRoundRectCallout">
            <a:avLst>
              <a:gd name="adj1" fmla="val -67066"/>
              <a:gd name="adj2" fmla="val -1466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Bad news, everyone. Not only am I </a:t>
            </a:r>
            <a:r>
              <a:rPr lang="en" sz="1000" b="1" i="1" u="none" strike="noStrike" cap="none">
                <a:solidFill>
                  <a:srgbClr val="FF0000"/>
                </a:solidFill>
                <a:latin typeface="Arial"/>
                <a:ea typeface="Arial"/>
                <a:cs typeface="Arial"/>
                <a:sym typeface="Arial"/>
              </a:rPr>
              <a:t>not</a:t>
            </a:r>
            <a:r>
              <a:rPr lang="en" sz="1000" b="0" i="0" u="none" strike="noStrike" cap="none">
                <a:solidFill>
                  <a:srgbClr val="FF0000"/>
                </a:solidFill>
                <a:latin typeface="Arial"/>
                <a:ea typeface="Arial"/>
                <a:cs typeface="Arial"/>
                <a:sym typeface="Arial"/>
              </a:rPr>
              <a:t> </a:t>
            </a:r>
            <a:r>
              <a:rPr lang="en" sz="1000" b="1" i="1" u="none" strike="noStrike" cap="none">
                <a:solidFill>
                  <a:srgbClr val="FF0000"/>
                </a:solidFill>
                <a:latin typeface="Arial"/>
                <a:ea typeface="Arial"/>
                <a:cs typeface="Arial"/>
                <a:sym typeface="Arial"/>
              </a:rPr>
              <a:t>Z</a:t>
            </a:r>
            <a:r>
              <a:rPr lang="en" sz="1000" b="0" i="0" u="none" strike="noStrike" cap="none">
                <a:solidFill>
                  <a:srgbClr val="000000"/>
                </a:solidFill>
                <a:latin typeface="Arial"/>
                <a:ea typeface="Arial"/>
                <a:cs typeface="Arial"/>
                <a:sym typeface="Arial"/>
              </a:rPr>
              <a:t>, I don't have any neighbors left to search. If there is a path, I'm not part of it. I'll </a:t>
            </a:r>
            <a:r>
              <a:rPr lang="en" sz="1000" b="1" i="1" u="none" strike="noStrike" cap="none">
                <a:solidFill>
                  <a:srgbClr val="FF9900"/>
                </a:solidFill>
                <a:latin typeface="Arial"/>
                <a:ea typeface="Arial"/>
                <a:cs typeface="Arial"/>
                <a:sym typeface="Arial"/>
              </a:rPr>
              <a:t>return</a:t>
            </a:r>
            <a:r>
              <a:rPr lang="en" sz="1000" b="0" i="0" u="none" strike="noStrike" cap="none">
                <a:solidFill>
                  <a:srgbClr val="FF9900"/>
                </a:solidFill>
                <a:latin typeface="Arial"/>
                <a:ea typeface="Arial"/>
                <a:cs typeface="Arial"/>
                <a:sym typeface="Arial"/>
              </a:rPr>
              <a:t> </a:t>
            </a:r>
            <a:r>
              <a:rPr lang="en" sz="1000" b="0" i="0" u="none" strike="noStrike" cap="none">
                <a:solidFill>
                  <a:srgbClr val="FF9900"/>
                </a:solidFill>
                <a:latin typeface="Courier New"/>
                <a:ea typeface="Courier New"/>
                <a:cs typeface="Courier New"/>
                <a:sym typeface="Courier New"/>
              </a:rPr>
              <a:t>null</a:t>
            </a:r>
            <a:r>
              <a:rPr lang="en" sz="1000" b="0" i="0" u="none" strike="noStrike" cap="none">
                <a:solidFill>
                  <a:srgbClr val="000000"/>
                </a:solidFill>
                <a:latin typeface="Arial"/>
                <a:ea typeface="Arial"/>
                <a:cs typeface="Arial"/>
                <a:sym typeface="Arial"/>
              </a:rPr>
              <a:t>.</a:t>
            </a:r>
            <a:endParaRPr sz="1000" b="0" i="0" u="none" strike="noStrike" cap="none">
              <a:solidFill>
                <a:srgbClr val="000000"/>
              </a:solidFill>
              <a:latin typeface="Arial"/>
              <a:ea typeface="Arial"/>
              <a:cs typeface="Arial"/>
              <a:sym typeface="Arial"/>
            </a:endParaRPr>
          </a:p>
        </p:txBody>
      </p:sp>
      <p:grpSp>
        <p:nvGrpSpPr>
          <p:cNvPr id="2232" name="Google Shape;2232;p87"/>
          <p:cNvGrpSpPr/>
          <p:nvPr/>
        </p:nvGrpSpPr>
        <p:grpSpPr>
          <a:xfrm>
            <a:off x="4944590" y="2942672"/>
            <a:ext cx="695513" cy="771000"/>
            <a:chOff x="4944590" y="2942672"/>
            <a:chExt cx="695513" cy="771000"/>
          </a:xfrm>
        </p:grpSpPr>
        <p:cxnSp>
          <p:nvCxnSpPr>
            <p:cNvPr id="2233" name="Google Shape;2233;p87"/>
            <p:cNvCxnSpPr>
              <a:stCxn id="2213" idx="5"/>
              <a:endCxn id="2217" idx="0"/>
            </p:cNvCxnSpPr>
            <p:nvPr/>
          </p:nvCxnSpPr>
          <p:spPr>
            <a:xfrm rot="5400000">
              <a:off x="5052403" y="3125972"/>
              <a:ext cx="771000" cy="404400"/>
            </a:xfrm>
            <a:prstGeom prst="curvedConnector3">
              <a:avLst>
                <a:gd name="adj1" fmla="val 53919"/>
              </a:avLst>
            </a:prstGeom>
            <a:noFill/>
            <a:ln w="19050" cap="flat" cmpd="sng">
              <a:solidFill>
                <a:srgbClr val="FF9900"/>
              </a:solidFill>
              <a:prstDash val="solid"/>
              <a:round/>
              <a:headEnd type="none" w="sm" len="sm"/>
              <a:tailEnd type="triangle" w="med" len="med"/>
            </a:ln>
          </p:spPr>
        </p:cxnSp>
        <p:sp>
          <p:nvSpPr>
            <p:cNvPr id="2234" name="Google Shape;2234;p87"/>
            <p:cNvSpPr txBox="1"/>
            <p:nvPr/>
          </p:nvSpPr>
          <p:spPr>
            <a:xfrm>
              <a:off x="4944590" y="3234297"/>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cxnSp>
        <p:nvCxnSpPr>
          <p:cNvPr id="2235" name="Google Shape;2235;p87"/>
          <p:cNvCxnSpPr>
            <a:endCxn id="2214" idx="1"/>
          </p:cNvCxnSpPr>
          <p:nvPr/>
        </p:nvCxnSpPr>
        <p:spPr>
          <a:xfrm>
            <a:off x="2541007" y="2650303"/>
            <a:ext cx="839400" cy="0"/>
          </a:xfrm>
          <a:prstGeom prst="straightConnector1">
            <a:avLst/>
          </a:prstGeom>
          <a:noFill/>
          <a:ln w="19050" cap="flat" cmpd="sng">
            <a:solidFill>
              <a:srgbClr val="FF0000"/>
            </a:solidFill>
            <a:prstDash val="solid"/>
            <a:round/>
            <a:headEnd type="none" w="sm" len="sm"/>
            <a:tailEnd type="triangle" w="med" len="med"/>
          </a:ln>
        </p:spPr>
      </p:cxnSp>
      <p:pic>
        <p:nvPicPr>
          <p:cNvPr id="2236" name="Google Shape;2236;p87"/>
          <p:cNvPicPr preferRelativeResize="0"/>
          <p:nvPr/>
        </p:nvPicPr>
        <p:blipFill rotWithShape="1">
          <a:blip r:embed="rId3">
            <a:alphaModFix/>
          </a:blip>
          <a:srcRect/>
          <a:stretch/>
        </p:blipFill>
        <p:spPr>
          <a:xfrm>
            <a:off x="501799" y="2368250"/>
            <a:ext cx="1958226" cy="1919850"/>
          </a:xfrm>
          <a:prstGeom prst="rect">
            <a:avLst/>
          </a:prstGeom>
          <a:noFill/>
          <a:ln>
            <a:noFill/>
          </a:ln>
        </p:spPr>
      </p:pic>
      <p:sp>
        <p:nvSpPr>
          <p:cNvPr id="2237" name="Google Shape;2237;p87"/>
          <p:cNvSpPr/>
          <p:nvPr/>
        </p:nvSpPr>
        <p:spPr>
          <a:xfrm>
            <a:off x="111750" y="1539750"/>
            <a:ext cx="1433400" cy="623700"/>
          </a:xfrm>
          <a:prstGeom prst="wedgeRoundRectCallout">
            <a:avLst>
              <a:gd name="adj1" fmla="val 22052"/>
              <a:gd name="adj2" fmla="val 89024"/>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I wonder if there is a </a:t>
            </a:r>
            <a:r>
              <a:rPr lang="en" sz="1000" b="1" i="1" u="none" strike="noStrike" cap="none">
                <a:solidFill>
                  <a:srgbClr val="FF0000"/>
                </a:solidFill>
                <a:latin typeface="Arial"/>
                <a:ea typeface="Arial"/>
                <a:cs typeface="Arial"/>
                <a:sym typeface="Arial"/>
              </a:rPr>
              <a:t>path from Y to Z</a:t>
            </a:r>
            <a:r>
              <a:rPr lang="en" sz="1000" b="0" i="0" u="none" strike="noStrike" cap="none">
                <a:solidFill>
                  <a:srgbClr val="000000"/>
                </a:solidFill>
                <a:latin typeface="Arial"/>
                <a:ea typeface="Arial"/>
                <a:cs typeface="Arial"/>
                <a:sym typeface="Arial"/>
              </a:rPr>
              <a:t> in this graph?</a:t>
            </a:r>
            <a:endParaRPr sz="10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7"/>
                                        </p:tgtEl>
                                        <p:attrNameLst>
                                          <p:attrName>style.visibility</p:attrName>
                                        </p:attrNameLst>
                                      </p:cBhvr>
                                      <p:to>
                                        <p:strVal val="visible"/>
                                      </p:to>
                                    </p:set>
                                    <p:animEffect transition="in" filter="fade">
                                      <p:cBhvr>
                                        <p:cTn id="7" dur="1000"/>
                                        <p:tgtEl>
                                          <p:spTgt spid="223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235"/>
                                        </p:tgtEl>
                                        <p:attrNameLst>
                                          <p:attrName>style.visibility</p:attrName>
                                        </p:attrNameLst>
                                      </p:cBhvr>
                                      <p:to>
                                        <p:strVal val="visible"/>
                                      </p:to>
                                    </p:set>
                                    <p:animEffect transition="in" filter="fade">
                                      <p:cBhvr>
                                        <p:cTn id="11" dur="1000"/>
                                        <p:tgtEl>
                                          <p:spTgt spid="223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225"/>
                                        </p:tgtEl>
                                        <p:attrNameLst>
                                          <p:attrName>style.visibility</p:attrName>
                                        </p:attrNameLst>
                                      </p:cBhvr>
                                      <p:to>
                                        <p:strVal val="visible"/>
                                      </p:to>
                                    </p:set>
                                    <p:animEffect transition="in" filter="fade">
                                      <p:cBhvr>
                                        <p:cTn id="16" dur="1000"/>
                                        <p:tgtEl>
                                          <p:spTgt spid="2225"/>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226"/>
                                        </p:tgtEl>
                                        <p:attrNameLst>
                                          <p:attrName>style.visibility</p:attrName>
                                        </p:attrNameLst>
                                      </p:cBhvr>
                                      <p:to>
                                        <p:strVal val="visible"/>
                                      </p:to>
                                    </p:set>
                                    <p:animEffect transition="in" filter="fade">
                                      <p:cBhvr>
                                        <p:cTn id="20" dur="1000"/>
                                        <p:tgtEl>
                                          <p:spTgt spid="22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27"/>
                                        </p:tgtEl>
                                        <p:attrNameLst>
                                          <p:attrName>style.visibility</p:attrName>
                                        </p:attrNameLst>
                                      </p:cBhvr>
                                      <p:to>
                                        <p:strVal val="visible"/>
                                      </p:to>
                                    </p:set>
                                    <p:animEffect transition="in" filter="fade">
                                      <p:cBhvr>
                                        <p:cTn id="25" dur="1000"/>
                                        <p:tgtEl>
                                          <p:spTgt spid="2227"/>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2228"/>
                                        </p:tgtEl>
                                        <p:attrNameLst>
                                          <p:attrName>style.visibility</p:attrName>
                                        </p:attrNameLst>
                                      </p:cBhvr>
                                      <p:to>
                                        <p:strVal val="visible"/>
                                      </p:to>
                                    </p:set>
                                    <p:animEffect transition="in" filter="fade">
                                      <p:cBhvr>
                                        <p:cTn id="29" dur="1000"/>
                                        <p:tgtEl>
                                          <p:spTgt spid="222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229"/>
                                        </p:tgtEl>
                                        <p:attrNameLst>
                                          <p:attrName>style.visibility</p:attrName>
                                        </p:attrNameLst>
                                      </p:cBhvr>
                                      <p:to>
                                        <p:strVal val="visible"/>
                                      </p:to>
                                    </p:set>
                                    <p:animEffect transition="in" filter="fade">
                                      <p:cBhvr>
                                        <p:cTn id="34" dur="1000"/>
                                        <p:tgtEl>
                                          <p:spTgt spid="2229"/>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2230"/>
                                        </p:tgtEl>
                                        <p:attrNameLst>
                                          <p:attrName>style.visibility</p:attrName>
                                        </p:attrNameLst>
                                      </p:cBhvr>
                                      <p:to>
                                        <p:strVal val="visible"/>
                                      </p:to>
                                    </p:set>
                                    <p:animEffect transition="in" filter="fade">
                                      <p:cBhvr>
                                        <p:cTn id="38" dur="1000"/>
                                        <p:tgtEl>
                                          <p:spTgt spid="223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231"/>
                                        </p:tgtEl>
                                        <p:attrNameLst>
                                          <p:attrName>style.visibility</p:attrName>
                                        </p:attrNameLst>
                                      </p:cBhvr>
                                      <p:to>
                                        <p:strVal val="visible"/>
                                      </p:to>
                                    </p:set>
                                    <p:animEffect transition="in" filter="fade">
                                      <p:cBhvr>
                                        <p:cTn id="43" dur="1000"/>
                                        <p:tgtEl>
                                          <p:spTgt spid="223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232"/>
                                        </p:tgtEl>
                                        <p:attrNameLst>
                                          <p:attrName>style.visibility</p:attrName>
                                        </p:attrNameLst>
                                      </p:cBhvr>
                                      <p:to>
                                        <p:strVal val="visible"/>
                                      </p:to>
                                    </p:set>
                                    <p:animEffect transition="in" filter="fade">
                                      <p:cBhvr>
                                        <p:cTn id="48" dur="1000"/>
                                        <p:tgtEl>
                                          <p:spTgt spid="223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1000"/>
                                        <p:tgtEl>
                                          <p:spTgt spid="2225"/>
                                        </p:tgtEl>
                                      </p:cBhvr>
                                    </p:animEffect>
                                    <p:set>
                                      <p:cBhvr>
                                        <p:cTn id="53" dur="1" fill="hold">
                                          <p:stCondLst>
                                            <p:cond delay="1000"/>
                                          </p:stCondLst>
                                        </p:cTn>
                                        <p:tgtEl>
                                          <p:spTgt spid="2225"/>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1000"/>
                                        <p:tgtEl>
                                          <p:spTgt spid="2227"/>
                                        </p:tgtEl>
                                      </p:cBhvr>
                                    </p:animEffect>
                                    <p:set>
                                      <p:cBhvr>
                                        <p:cTn id="56" dur="1" fill="hold">
                                          <p:stCondLst>
                                            <p:cond delay="1000"/>
                                          </p:stCondLst>
                                        </p:cTn>
                                        <p:tgtEl>
                                          <p:spTgt spid="2227"/>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1000"/>
                                        <p:tgtEl>
                                          <p:spTgt spid="2229"/>
                                        </p:tgtEl>
                                      </p:cBhvr>
                                    </p:animEffect>
                                    <p:set>
                                      <p:cBhvr>
                                        <p:cTn id="59" dur="1" fill="hold">
                                          <p:stCondLst>
                                            <p:cond delay="1000"/>
                                          </p:stCondLst>
                                        </p:cTn>
                                        <p:tgtEl>
                                          <p:spTgt spid="2229"/>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1000"/>
                                        <p:tgtEl>
                                          <p:spTgt spid="2231"/>
                                        </p:tgtEl>
                                      </p:cBhvr>
                                    </p:animEffect>
                                    <p:set>
                                      <p:cBhvr>
                                        <p:cTn id="62" dur="1" fill="hold">
                                          <p:stCondLst>
                                            <p:cond delay="1000"/>
                                          </p:stCondLst>
                                        </p:cTn>
                                        <p:tgtEl>
                                          <p:spTgt spid="2231"/>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1000"/>
                                        <p:tgtEl>
                                          <p:spTgt spid="2237"/>
                                        </p:tgtEl>
                                      </p:cBhvr>
                                    </p:animEffect>
                                    <p:set>
                                      <p:cBhvr>
                                        <p:cTn id="65" dur="1" fill="hold">
                                          <p:stCondLst>
                                            <p:cond delay="1000"/>
                                          </p:stCondLst>
                                        </p:cTn>
                                        <p:tgtEl>
                                          <p:spTgt spid="22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241"/>
        <p:cNvGrpSpPr/>
        <p:nvPr/>
      </p:nvGrpSpPr>
      <p:grpSpPr>
        <a:xfrm>
          <a:off x="0" y="0"/>
          <a:ext cx="0" cy="0"/>
          <a:chOff x="0" y="0"/>
          <a:chExt cx="0" cy="0"/>
        </a:xfrm>
      </p:grpSpPr>
      <p:sp>
        <p:nvSpPr>
          <p:cNvPr id="2242" name="Google Shape;2242;p88"/>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DFS Path Illustrated Example: Y to Z</a:t>
            </a:r>
            <a:endParaRPr/>
          </a:p>
        </p:txBody>
      </p:sp>
      <p:sp>
        <p:nvSpPr>
          <p:cNvPr id="2243" name="Google Shape;2243;p8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55</a:t>
            </a:fld>
            <a:endParaRPr/>
          </a:p>
        </p:txBody>
      </p:sp>
      <p:grpSp>
        <p:nvGrpSpPr>
          <p:cNvPr id="2244" name="Google Shape;2244;p88"/>
          <p:cNvGrpSpPr/>
          <p:nvPr/>
        </p:nvGrpSpPr>
        <p:grpSpPr>
          <a:xfrm>
            <a:off x="3319866" y="2025381"/>
            <a:ext cx="2380778" cy="2101576"/>
            <a:chOff x="119466" y="1644381"/>
            <a:chExt cx="2380778" cy="2101576"/>
          </a:xfrm>
        </p:grpSpPr>
        <p:sp>
          <p:nvSpPr>
            <p:cNvPr id="2245" name="Google Shape;2245;p88"/>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246" name="Google Shape;2246;p88"/>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247" name="Google Shape;2247;p88"/>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248" name="Google Shape;2248;p88"/>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249" name="Google Shape;2249;p88"/>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250" name="Google Shape;2250;p88"/>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251" name="Google Shape;2251;p88"/>
            <p:cNvCxnSpPr>
              <a:stCxn id="2245" idx="2"/>
              <a:endCxn id="2247"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252" name="Google Shape;2252;p88"/>
            <p:cNvCxnSpPr>
              <a:stCxn id="2247" idx="5"/>
              <a:endCxn id="2249"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253" name="Google Shape;2253;p88"/>
            <p:cNvCxnSpPr>
              <a:stCxn id="2249" idx="3"/>
              <a:endCxn id="2248"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254" name="Google Shape;2254;p88"/>
            <p:cNvCxnSpPr>
              <a:stCxn id="2248" idx="6"/>
              <a:endCxn id="2250"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255" name="Google Shape;2255;p88"/>
            <p:cNvCxnSpPr>
              <a:stCxn id="2250" idx="0"/>
              <a:endCxn id="2249"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256" name="Google Shape;2256;p88"/>
            <p:cNvCxnSpPr>
              <a:stCxn id="2249" idx="7"/>
              <a:endCxn id="2246"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257" name="Google Shape;2257;p88"/>
            <p:cNvCxnSpPr>
              <a:stCxn id="2246" idx="4"/>
              <a:endCxn id="2250"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cxnSp>
        <p:nvCxnSpPr>
          <p:cNvPr id="2258" name="Google Shape;2258;p88"/>
          <p:cNvCxnSpPr>
            <a:stCxn id="2247" idx="6"/>
            <a:endCxn id="2249" idx="0"/>
          </p:cNvCxnSpPr>
          <p:nvPr/>
        </p:nvCxnSpPr>
        <p:spPr>
          <a:xfrm>
            <a:off x="3733266" y="2796462"/>
            <a:ext cx="777000" cy="174000"/>
          </a:xfrm>
          <a:prstGeom prst="curvedConnector2">
            <a:avLst/>
          </a:prstGeom>
          <a:noFill/>
          <a:ln w="19050" cap="flat" cmpd="sng">
            <a:solidFill>
              <a:srgbClr val="FF0000"/>
            </a:solidFill>
            <a:prstDash val="solid"/>
            <a:round/>
            <a:headEnd type="none" w="sm" len="sm"/>
            <a:tailEnd type="triangle" w="med" len="med"/>
          </a:ln>
        </p:spPr>
      </p:cxnSp>
      <p:cxnSp>
        <p:nvCxnSpPr>
          <p:cNvPr id="2259" name="Google Shape;2259;p88"/>
          <p:cNvCxnSpPr>
            <a:stCxn id="2249" idx="4"/>
            <a:endCxn id="2250" idx="2"/>
          </p:cNvCxnSpPr>
          <p:nvPr/>
        </p:nvCxnSpPr>
        <p:spPr>
          <a:xfrm rot="-5400000" flipH="1">
            <a:off x="4501479" y="3392667"/>
            <a:ext cx="536400" cy="518700"/>
          </a:xfrm>
          <a:prstGeom prst="curvedConnector2">
            <a:avLst/>
          </a:prstGeom>
          <a:noFill/>
          <a:ln w="19050" cap="flat" cmpd="sng">
            <a:solidFill>
              <a:srgbClr val="FF0000"/>
            </a:solidFill>
            <a:prstDash val="solid"/>
            <a:round/>
            <a:headEnd type="none" w="sm" len="sm"/>
            <a:tailEnd type="triangle" w="med" len="med"/>
          </a:ln>
        </p:spPr>
      </p:cxnSp>
      <p:sp>
        <p:nvSpPr>
          <p:cNvPr id="2260" name="Google Shape;2260;p88"/>
          <p:cNvSpPr/>
          <p:nvPr/>
        </p:nvSpPr>
        <p:spPr>
          <a:xfrm>
            <a:off x="5700650" y="3920225"/>
            <a:ext cx="1589400" cy="577800"/>
          </a:xfrm>
          <a:prstGeom prst="wedgeRoundRectCallout">
            <a:avLst>
              <a:gd name="adj1" fmla="val -58953"/>
              <a:gd name="adj2" fmla="val -3692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OK, so there is no path through </a:t>
            </a:r>
            <a:r>
              <a:rPr lang="en" sz="1000" b="1" i="1" u="none" strike="noStrike" cap="none">
                <a:solidFill>
                  <a:srgbClr val="FF0000"/>
                </a:solidFill>
                <a:latin typeface="Arial"/>
                <a:ea typeface="Arial"/>
                <a:cs typeface="Arial"/>
                <a:sym typeface="Arial"/>
              </a:rPr>
              <a:t>W</a:t>
            </a:r>
            <a:r>
              <a:rPr lang="en" sz="1000" b="0" i="0" u="none" strike="noStrike" cap="none">
                <a:solidFill>
                  <a:srgbClr val="000000"/>
                </a:solidFill>
                <a:latin typeface="Arial"/>
                <a:ea typeface="Arial"/>
                <a:cs typeface="Arial"/>
                <a:sym typeface="Arial"/>
              </a:rPr>
              <a:t>. Let's try my next neighbor...</a:t>
            </a:r>
            <a:endParaRPr sz="1000" b="0" i="0" u="none" strike="noStrike" cap="none">
              <a:solidFill>
                <a:srgbClr val="000000"/>
              </a:solidFill>
              <a:latin typeface="Arial"/>
              <a:ea typeface="Arial"/>
              <a:cs typeface="Arial"/>
              <a:sym typeface="Arial"/>
            </a:endParaRPr>
          </a:p>
        </p:txBody>
      </p:sp>
      <p:cxnSp>
        <p:nvCxnSpPr>
          <p:cNvPr id="2261" name="Google Shape;2261;p88"/>
          <p:cNvCxnSpPr>
            <a:stCxn id="2250" idx="6"/>
            <a:endCxn id="2246" idx="6"/>
          </p:cNvCxnSpPr>
          <p:nvPr/>
        </p:nvCxnSpPr>
        <p:spPr>
          <a:xfrm rot="10800000" flipH="1">
            <a:off x="5442411" y="2796457"/>
            <a:ext cx="258300" cy="1123800"/>
          </a:xfrm>
          <a:prstGeom prst="curvedConnector3">
            <a:avLst>
              <a:gd name="adj1" fmla="val 192163"/>
            </a:avLst>
          </a:prstGeom>
          <a:noFill/>
          <a:ln w="19050" cap="flat" cmpd="sng">
            <a:solidFill>
              <a:srgbClr val="FF0000"/>
            </a:solidFill>
            <a:prstDash val="solid"/>
            <a:round/>
            <a:headEnd type="none" w="sm" len="sm"/>
            <a:tailEnd type="triangle" w="med" len="med"/>
          </a:ln>
        </p:spPr>
      </p:cxnSp>
      <p:grpSp>
        <p:nvGrpSpPr>
          <p:cNvPr id="2262" name="Google Shape;2262;p88"/>
          <p:cNvGrpSpPr/>
          <p:nvPr/>
        </p:nvGrpSpPr>
        <p:grpSpPr>
          <a:xfrm>
            <a:off x="5235703" y="2942672"/>
            <a:ext cx="714787" cy="771000"/>
            <a:chOff x="5235703" y="2942672"/>
            <a:chExt cx="714787" cy="771000"/>
          </a:xfrm>
        </p:grpSpPr>
        <p:cxnSp>
          <p:nvCxnSpPr>
            <p:cNvPr id="2263" name="Google Shape;2263;p88"/>
            <p:cNvCxnSpPr>
              <a:stCxn id="2246" idx="5"/>
              <a:endCxn id="2250" idx="0"/>
            </p:cNvCxnSpPr>
            <p:nvPr/>
          </p:nvCxnSpPr>
          <p:spPr>
            <a:xfrm rot="5400000">
              <a:off x="5052403" y="3125972"/>
              <a:ext cx="771000" cy="404400"/>
            </a:xfrm>
            <a:prstGeom prst="curvedConnector3">
              <a:avLst>
                <a:gd name="adj1" fmla="val 53919"/>
              </a:avLst>
            </a:prstGeom>
            <a:noFill/>
            <a:ln w="19050" cap="flat" cmpd="sng">
              <a:solidFill>
                <a:srgbClr val="FF9900"/>
              </a:solidFill>
              <a:prstDash val="solid"/>
              <a:round/>
              <a:headEnd type="none" w="sm" len="sm"/>
              <a:tailEnd type="triangle" w="med" len="med"/>
            </a:ln>
          </p:spPr>
        </p:cxnSp>
        <p:sp>
          <p:nvSpPr>
            <p:cNvPr id="2264" name="Google Shape;2264;p88"/>
            <p:cNvSpPr txBox="1"/>
            <p:nvPr/>
          </p:nvSpPr>
          <p:spPr>
            <a:xfrm>
              <a:off x="5401790" y="3214565"/>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cxnSp>
        <p:nvCxnSpPr>
          <p:cNvPr id="2265" name="Google Shape;2265;p88"/>
          <p:cNvCxnSpPr>
            <a:stCxn id="2250" idx="4"/>
            <a:endCxn id="2248" idx="4"/>
          </p:cNvCxnSpPr>
          <p:nvPr/>
        </p:nvCxnSpPr>
        <p:spPr>
          <a:xfrm rot="5400000">
            <a:off x="4614561" y="3506407"/>
            <a:ext cx="600" cy="1241700"/>
          </a:xfrm>
          <a:prstGeom prst="curvedConnector3">
            <a:avLst>
              <a:gd name="adj1" fmla="val 39687500"/>
            </a:avLst>
          </a:prstGeom>
          <a:noFill/>
          <a:ln w="19050" cap="flat" cmpd="sng">
            <a:solidFill>
              <a:srgbClr val="FF0000"/>
            </a:solidFill>
            <a:prstDash val="solid"/>
            <a:round/>
            <a:headEnd type="none" w="sm" len="sm"/>
            <a:tailEnd type="triangle" w="med" len="med"/>
          </a:ln>
        </p:spPr>
      </p:cxnSp>
      <p:sp>
        <p:nvSpPr>
          <p:cNvPr id="2266" name="Google Shape;2266;p88"/>
          <p:cNvSpPr/>
          <p:nvPr/>
        </p:nvSpPr>
        <p:spPr>
          <a:xfrm>
            <a:off x="1936650" y="4204824"/>
            <a:ext cx="1821000" cy="771000"/>
          </a:xfrm>
          <a:prstGeom prst="wedgeRoundRectCallout">
            <a:avLst>
              <a:gd name="adj1" fmla="val 48812"/>
              <a:gd name="adj2" fmla="val -8347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Not it! And I don't have any neighbors left to search. I'll </a:t>
            </a:r>
            <a:r>
              <a:rPr lang="en" sz="1000" b="1" i="1" u="none" strike="noStrike" cap="none">
                <a:solidFill>
                  <a:srgbClr val="FF9900"/>
                </a:solidFill>
                <a:latin typeface="Arial"/>
                <a:ea typeface="Arial"/>
                <a:cs typeface="Arial"/>
                <a:sym typeface="Arial"/>
              </a:rPr>
              <a:t>return</a:t>
            </a:r>
            <a:r>
              <a:rPr lang="en" sz="1000" b="0" i="0" u="none" strike="noStrike" cap="none">
                <a:solidFill>
                  <a:srgbClr val="FF9900"/>
                </a:solidFill>
                <a:latin typeface="Arial"/>
                <a:ea typeface="Arial"/>
                <a:cs typeface="Arial"/>
                <a:sym typeface="Arial"/>
              </a:rPr>
              <a:t> </a:t>
            </a:r>
            <a:r>
              <a:rPr lang="en" sz="1000" b="0" i="0" u="none" strike="noStrike" cap="none">
                <a:solidFill>
                  <a:srgbClr val="FF9900"/>
                </a:solidFill>
                <a:latin typeface="Courier New"/>
                <a:ea typeface="Courier New"/>
                <a:cs typeface="Courier New"/>
                <a:sym typeface="Courier New"/>
              </a:rPr>
              <a:t>null</a:t>
            </a:r>
            <a:r>
              <a:rPr lang="en" sz="1000" b="0" i="0" u="none" strike="noStrike" cap="none">
                <a:solidFill>
                  <a:srgbClr val="000000"/>
                </a:solidFill>
                <a:latin typeface="Arial"/>
                <a:ea typeface="Arial"/>
                <a:cs typeface="Arial"/>
                <a:sym typeface="Arial"/>
              </a:rPr>
              <a:t>.</a:t>
            </a:r>
            <a:endParaRPr sz="1000" b="0" i="0" u="none" strike="noStrike" cap="none">
              <a:solidFill>
                <a:srgbClr val="000000"/>
              </a:solidFill>
              <a:latin typeface="Arial"/>
              <a:ea typeface="Arial"/>
              <a:cs typeface="Arial"/>
              <a:sym typeface="Arial"/>
            </a:endParaRPr>
          </a:p>
        </p:txBody>
      </p:sp>
      <p:grpSp>
        <p:nvGrpSpPr>
          <p:cNvPr id="2267" name="Google Shape;2267;p88"/>
          <p:cNvGrpSpPr/>
          <p:nvPr/>
        </p:nvGrpSpPr>
        <p:grpSpPr>
          <a:xfrm>
            <a:off x="4140052" y="3774216"/>
            <a:ext cx="949500" cy="503319"/>
            <a:chOff x="4140052" y="3774216"/>
            <a:chExt cx="949500" cy="503319"/>
          </a:xfrm>
        </p:grpSpPr>
        <p:cxnSp>
          <p:nvCxnSpPr>
            <p:cNvPr id="2268" name="Google Shape;2268;p88"/>
            <p:cNvCxnSpPr>
              <a:endCxn id="2250" idx="3"/>
            </p:cNvCxnSpPr>
            <p:nvPr/>
          </p:nvCxnSpPr>
          <p:spPr>
            <a:xfrm>
              <a:off x="4140052" y="3774216"/>
              <a:ext cx="949500" cy="292200"/>
            </a:xfrm>
            <a:prstGeom prst="curvedConnector4">
              <a:avLst>
                <a:gd name="adj1" fmla="val 46812"/>
                <a:gd name="adj2" fmla="val 144442"/>
              </a:avLst>
            </a:prstGeom>
            <a:noFill/>
            <a:ln w="19050" cap="flat" cmpd="sng">
              <a:solidFill>
                <a:srgbClr val="FF9900"/>
              </a:solidFill>
              <a:prstDash val="solid"/>
              <a:round/>
              <a:headEnd type="none" w="sm" len="sm"/>
              <a:tailEnd type="triangle" w="med" len="med"/>
            </a:ln>
          </p:spPr>
        </p:cxnSp>
        <p:sp>
          <p:nvSpPr>
            <p:cNvPr id="2269" name="Google Shape;2269;p88"/>
            <p:cNvSpPr txBox="1"/>
            <p:nvPr/>
          </p:nvSpPr>
          <p:spPr>
            <a:xfrm>
              <a:off x="4258790" y="4041735"/>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cxnSp>
        <p:nvCxnSpPr>
          <p:cNvPr id="2270" name="Google Shape;2270;p88"/>
          <p:cNvCxnSpPr/>
          <p:nvPr/>
        </p:nvCxnSpPr>
        <p:spPr>
          <a:xfrm>
            <a:off x="2541050" y="2650300"/>
            <a:ext cx="839400" cy="0"/>
          </a:xfrm>
          <a:prstGeom prst="straightConnector1">
            <a:avLst/>
          </a:prstGeom>
          <a:noFill/>
          <a:ln w="19050" cap="flat" cmpd="sng">
            <a:solidFill>
              <a:srgbClr val="FF0000"/>
            </a:solidFill>
            <a:prstDash val="solid"/>
            <a:round/>
            <a:headEnd type="none" w="sm" len="sm"/>
            <a:tailEnd type="triangle" w="med" len="med"/>
          </a:ln>
        </p:spPr>
      </p:cxnSp>
      <p:pic>
        <p:nvPicPr>
          <p:cNvPr id="2271" name="Google Shape;2271;p88"/>
          <p:cNvPicPr preferRelativeResize="0"/>
          <p:nvPr/>
        </p:nvPicPr>
        <p:blipFill rotWithShape="1">
          <a:blip r:embed="rId3">
            <a:alphaModFix/>
          </a:blip>
          <a:srcRect/>
          <a:stretch/>
        </p:blipFill>
        <p:spPr>
          <a:xfrm>
            <a:off x="501799" y="2368250"/>
            <a:ext cx="1958226" cy="1919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60"/>
                                        </p:tgtEl>
                                        <p:attrNameLst>
                                          <p:attrName>style.visibility</p:attrName>
                                        </p:attrNameLst>
                                      </p:cBhvr>
                                      <p:to>
                                        <p:strVal val="visible"/>
                                      </p:to>
                                    </p:set>
                                    <p:animEffect transition="in" filter="fade">
                                      <p:cBhvr>
                                        <p:cTn id="7" dur="1000"/>
                                        <p:tgtEl>
                                          <p:spTgt spid="226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265"/>
                                        </p:tgtEl>
                                        <p:attrNameLst>
                                          <p:attrName>style.visibility</p:attrName>
                                        </p:attrNameLst>
                                      </p:cBhvr>
                                      <p:to>
                                        <p:strVal val="visible"/>
                                      </p:to>
                                    </p:set>
                                    <p:animEffect transition="in" filter="fade">
                                      <p:cBhvr>
                                        <p:cTn id="11" dur="1000"/>
                                        <p:tgtEl>
                                          <p:spTgt spid="226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266"/>
                                        </p:tgtEl>
                                        <p:attrNameLst>
                                          <p:attrName>style.visibility</p:attrName>
                                        </p:attrNameLst>
                                      </p:cBhvr>
                                      <p:to>
                                        <p:strVal val="visible"/>
                                      </p:to>
                                    </p:set>
                                    <p:animEffect transition="in" filter="fade">
                                      <p:cBhvr>
                                        <p:cTn id="16" dur="1000"/>
                                        <p:tgtEl>
                                          <p:spTgt spid="226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267"/>
                                        </p:tgtEl>
                                        <p:attrNameLst>
                                          <p:attrName>style.visibility</p:attrName>
                                        </p:attrNameLst>
                                      </p:cBhvr>
                                      <p:to>
                                        <p:strVal val="visible"/>
                                      </p:to>
                                    </p:set>
                                    <p:animEffect transition="in" filter="fade">
                                      <p:cBhvr>
                                        <p:cTn id="20" dur="1000"/>
                                        <p:tgtEl>
                                          <p:spTgt spid="226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1000"/>
                                        <p:tgtEl>
                                          <p:spTgt spid="2260"/>
                                        </p:tgtEl>
                                      </p:cBhvr>
                                    </p:animEffect>
                                    <p:set>
                                      <p:cBhvr>
                                        <p:cTn id="25" dur="1" fill="hold">
                                          <p:stCondLst>
                                            <p:cond delay="1000"/>
                                          </p:stCondLst>
                                        </p:cTn>
                                        <p:tgtEl>
                                          <p:spTgt spid="2260"/>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1000"/>
                                        <p:tgtEl>
                                          <p:spTgt spid="2266"/>
                                        </p:tgtEl>
                                      </p:cBhvr>
                                    </p:animEffect>
                                    <p:set>
                                      <p:cBhvr>
                                        <p:cTn id="28" dur="1" fill="hold">
                                          <p:stCondLst>
                                            <p:cond delay="1000"/>
                                          </p:stCondLst>
                                        </p:cTn>
                                        <p:tgtEl>
                                          <p:spTgt spid="22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75"/>
        <p:cNvGrpSpPr/>
        <p:nvPr/>
      </p:nvGrpSpPr>
      <p:grpSpPr>
        <a:xfrm>
          <a:off x="0" y="0"/>
          <a:ext cx="0" cy="0"/>
          <a:chOff x="0" y="0"/>
          <a:chExt cx="0" cy="0"/>
        </a:xfrm>
      </p:grpSpPr>
      <p:sp>
        <p:nvSpPr>
          <p:cNvPr id="2276" name="Google Shape;2276;p89"/>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DFS Path Illustrated Example: Y to Z</a:t>
            </a:r>
            <a:endParaRPr/>
          </a:p>
        </p:txBody>
      </p:sp>
      <p:sp>
        <p:nvSpPr>
          <p:cNvPr id="2277" name="Google Shape;2277;p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56</a:t>
            </a:fld>
            <a:endParaRPr/>
          </a:p>
        </p:txBody>
      </p:sp>
      <p:grpSp>
        <p:nvGrpSpPr>
          <p:cNvPr id="2278" name="Google Shape;2278;p89"/>
          <p:cNvGrpSpPr/>
          <p:nvPr/>
        </p:nvGrpSpPr>
        <p:grpSpPr>
          <a:xfrm>
            <a:off x="3319866" y="2025381"/>
            <a:ext cx="2380778" cy="2101576"/>
            <a:chOff x="119466" y="1644381"/>
            <a:chExt cx="2380778" cy="2101576"/>
          </a:xfrm>
        </p:grpSpPr>
        <p:sp>
          <p:nvSpPr>
            <p:cNvPr id="2279" name="Google Shape;2279;p89"/>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280" name="Google Shape;2280;p89"/>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281" name="Google Shape;2281;p89"/>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282" name="Google Shape;2282;p89"/>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283" name="Google Shape;2283;p89"/>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284" name="Google Shape;2284;p89"/>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285" name="Google Shape;2285;p89"/>
            <p:cNvCxnSpPr>
              <a:stCxn id="2279" idx="2"/>
              <a:endCxn id="2281"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286" name="Google Shape;2286;p89"/>
            <p:cNvCxnSpPr>
              <a:stCxn id="2281" idx="5"/>
              <a:endCxn id="2283"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287" name="Google Shape;2287;p89"/>
            <p:cNvCxnSpPr>
              <a:stCxn id="2283" idx="3"/>
              <a:endCxn id="2282"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288" name="Google Shape;2288;p89"/>
            <p:cNvCxnSpPr>
              <a:stCxn id="2282" idx="6"/>
              <a:endCxn id="2284"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289" name="Google Shape;2289;p89"/>
            <p:cNvCxnSpPr>
              <a:stCxn id="2284" idx="0"/>
              <a:endCxn id="2283"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290" name="Google Shape;2290;p89"/>
            <p:cNvCxnSpPr>
              <a:stCxn id="2283" idx="7"/>
              <a:endCxn id="2280"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291" name="Google Shape;2291;p89"/>
            <p:cNvCxnSpPr>
              <a:stCxn id="2280" idx="4"/>
              <a:endCxn id="2284"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cxnSp>
        <p:nvCxnSpPr>
          <p:cNvPr id="2292" name="Google Shape;2292;p89"/>
          <p:cNvCxnSpPr>
            <a:stCxn id="2281" idx="6"/>
            <a:endCxn id="2283" idx="0"/>
          </p:cNvCxnSpPr>
          <p:nvPr/>
        </p:nvCxnSpPr>
        <p:spPr>
          <a:xfrm>
            <a:off x="3733266" y="2796462"/>
            <a:ext cx="777000" cy="174000"/>
          </a:xfrm>
          <a:prstGeom prst="curvedConnector2">
            <a:avLst/>
          </a:prstGeom>
          <a:noFill/>
          <a:ln w="19050" cap="flat" cmpd="sng">
            <a:solidFill>
              <a:srgbClr val="FF0000"/>
            </a:solidFill>
            <a:prstDash val="solid"/>
            <a:round/>
            <a:headEnd type="none" w="sm" len="sm"/>
            <a:tailEnd type="triangle" w="med" len="med"/>
          </a:ln>
        </p:spPr>
      </p:cxnSp>
      <p:cxnSp>
        <p:nvCxnSpPr>
          <p:cNvPr id="2293" name="Google Shape;2293;p89"/>
          <p:cNvCxnSpPr>
            <a:stCxn id="2283" idx="4"/>
            <a:endCxn id="2284" idx="2"/>
          </p:cNvCxnSpPr>
          <p:nvPr/>
        </p:nvCxnSpPr>
        <p:spPr>
          <a:xfrm rot="-5400000" flipH="1">
            <a:off x="4501479" y="3392667"/>
            <a:ext cx="536400" cy="518700"/>
          </a:xfrm>
          <a:prstGeom prst="curvedConnector2">
            <a:avLst/>
          </a:prstGeom>
          <a:noFill/>
          <a:ln w="19050" cap="flat" cmpd="sng">
            <a:solidFill>
              <a:srgbClr val="FF0000"/>
            </a:solidFill>
            <a:prstDash val="solid"/>
            <a:round/>
            <a:headEnd type="none" w="sm" len="sm"/>
            <a:tailEnd type="triangle" w="med" len="med"/>
          </a:ln>
        </p:spPr>
      </p:cxnSp>
      <p:cxnSp>
        <p:nvCxnSpPr>
          <p:cNvPr id="2294" name="Google Shape;2294;p89"/>
          <p:cNvCxnSpPr>
            <a:stCxn id="2284" idx="6"/>
            <a:endCxn id="2280" idx="6"/>
          </p:cNvCxnSpPr>
          <p:nvPr/>
        </p:nvCxnSpPr>
        <p:spPr>
          <a:xfrm rot="10800000" flipH="1">
            <a:off x="5442411" y="2796457"/>
            <a:ext cx="258300" cy="1123800"/>
          </a:xfrm>
          <a:prstGeom prst="curvedConnector3">
            <a:avLst>
              <a:gd name="adj1" fmla="val 192163"/>
            </a:avLst>
          </a:prstGeom>
          <a:noFill/>
          <a:ln w="19050" cap="flat" cmpd="sng">
            <a:solidFill>
              <a:srgbClr val="FF0000"/>
            </a:solidFill>
            <a:prstDash val="solid"/>
            <a:round/>
            <a:headEnd type="none" w="sm" len="sm"/>
            <a:tailEnd type="triangle" w="med" len="med"/>
          </a:ln>
        </p:spPr>
      </p:cxnSp>
      <p:grpSp>
        <p:nvGrpSpPr>
          <p:cNvPr id="2295" name="Google Shape;2295;p89"/>
          <p:cNvGrpSpPr/>
          <p:nvPr/>
        </p:nvGrpSpPr>
        <p:grpSpPr>
          <a:xfrm>
            <a:off x="5235703" y="2942672"/>
            <a:ext cx="714787" cy="771000"/>
            <a:chOff x="5235703" y="2942672"/>
            <a:chExt cx="714787" cy="771000"/>
          </a:xfrm>
        </p:grpSpPr>
        <p:cxnSp>
          <p:nvCxnSpPr>
            <p:cNvPr id="2296" name="Google Shape;2296;p89"/>
            <p:cNvCxnSpPr>
              <a:stCxn id="2280" idx="5"/>
              <a:endCxn id="2284" idx="0"/>
            </p:cNvCxnSpPr>
            <p:nvPr/>
          </p:nvCxnSpPr>
          <p:spPr>
            <a:xfrm rot="5400000">
              <a:off x="5052403" y="3125972"/>
              <a:ext cx="771000" cy="404400"/>
            </a:xfrm>
            <a:prstGeom prst="curvedConnector3">
              <a:avLst>
                <a:gd name="adj1" fmla="val 53919"/>
              </a:avLst>
            </a:prstGeom>
            <a:noFill/>
            <a:ln w="19050" cap="flat" cmpd="sng">
              <a:solidFill>
                <a:srgbClr val="FF9900"/>
              </a:solidFill>
              <a:prstDash val="solid"/>
              <a:round/>
              <a:headEnd type="none" w="sm" len="sm"/>
              <a:tailEnd type="triangle" w="med" len="med"/>
            </a:ln>
          </p:spPr>
        </p:cxnSp>
        <p:sp>
          <p:nvSpPr>
            <p:cNvPr id="2297" name="Google Shape;2297;p89"/>
            <p:cNvSpPr txBox="1"/>
            <p:nvPr/>
          </p:nvSpPr>
          <p:spPr>
            <a:xfrm>
              <a:off x="5401790" y="3215840"/>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cxnSp>
        <p:nvCxnSpPr>
          <p:cNvPr id="2298" name="Google Shape;2298;p89"/>
          <p:cNvCxnSpPr>
            <a:stCxn id="2284" idx="4"/>
            <a:endCxn id="2282" idx="4"/>
          </p:cNvCxnSpPr>
          <p:nvPr/>
        </p:nvCxnSpPr>
        <p:spPr>
          <a:xfrm rot="5400000">
            <a:off x="4614561" y="3506407"/>
            <a:ext cx="600" cy="1241700"/>
          </a:xfrm>
          <a:prstGeom prst="curvedConnector3">
            <a:avLst>
              <a:gd name="adj1" fmla="val 39687500"/>
            </a:avLst>
          </a:prstGeom>
          <a:noFill/>
          <a:ln w="19050" cap="flat" cmpd="sng">
            <a:solidFill>
              <a:srgbClr val="FF0000"/>
            </a:solidFill>
            <a:prstDash val="solid"/>
            <a:round/>
            <a:headEnd type="none" w="sm" len="sm"/>
            <a:tailEnd type="triangle" w="med" len="med"/>
          </a:ln>
        </p:spPr>
      </p:cxnSp>
      <p:sp>
        <p:nvSpPr>
          <p:cNvPr id="2299" name="Google Shape;2299;p89"/>
          <p:cNvSpPr/>
          <p:nvPr/>
        </p:nvSpPr>
        <p:spPr>
          <a:xfrm>
            <a:off x="5700650" y="4030649"/>
            <a:ext cx="1821000" cy="771000"/>
          </a:xfrm>
          <a:prstGeom prst="wedgeRoundRectCallout">
            <a:avLst>
              <a:gd name="adj1" fmla="val -65051"/>
              <a:gd name="adj2" fmla="val -5006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Welp, that's it for my neighbors. If there's a path to </a:t>
            </a:r>
            <a:r>
              <a:rPr lang="en" sz="1000" b="1" i="1" u="none" strike="noStrike" cap="none">
                <a:solidFill>
                  <a:srgbClr val="FF0000"/>
                </a:solidFill>
                <a:latin typeface="Arial"/>
                <a:ea typeface="Arial"/>
                <a:cs typeface="Arial"/>
                <a:sym typeface="Arial"/>
              </a:rPr>
              <a:t>Z</a:t>
            </a:r>
            <a:r>
              <a:rPr lang="en" sz="1000" b="0" i="0" u="none" strike="noStrike" cap="none">
                <a:solidFill>
                  <a:srgbClr val="000000"/>
                </a:solidFill>
                <a:latin typeface="Arial"/>
                <a:ea typeface="Arial"/>
                <a:cs typeface="Arial"/>
                <a:sym typeface="Arial"/>
              </a:rPr>
              <a:t>, it ain't through me. I'll </a:t>
            </a:r>
            <a:r>
              <a:rPr lang="en" sz="1000" b="1" i="1" u="none" strike="noStrike" cap="none">
                <a:solidFill>
                  <a:srgbClr val="FF9900"/>
                </a:solidFill>
                <a:latin typeface="Arial"/>
                <a:ea typeface="Arial"/>
                <a:cs typeface="Arial"/>
                <a:sym typeface="Arial"/>
              </a:rPr>
              <a:t>return</a:t>
            </a:r>
            <a:r>
              <a:rPr lang="en" sz="1000" b="0" i="0" u="none" strike="noStrike" cap="none">
                <a:solidFill>
                  <a:srgbClr val="FF9900"/>
                </a:solidFill>
                <a:latin typeface="Arial"/>
                <a:ea typeface="Arial"/>
                <a:cs typeface="Arial"/>
                <a:sym typeface="Arial"/>
              </a:rPr>
              <a:t> </a:t>
            </a:r>
            <a:r>
              <a:rPr lang="en" sz="1000" b="0" i="0" u="none" strike="noStrike" cap="none">
                <a:solidFill>
                  <a:srgbClr val="FF9900"/>
                </a:solidFill>
                <a:latin typeface="Courier New"/>
                <a:ea typeface="Courier New"/>
                <a:cs typeface="Courier New"/>
                <a:sym typeface="Courier New"/>
              </a:rPr>
              <a:t>null</a:t>
            </a:r>
            <a:r>
              <a:rPr lang="en" sz="1000" b="0" i="0" u="none" strike="noStrike" cap="none">
                <a:solidFill>
                  <a:srgbClr val="000000"/>
                </a:solidFill>
                <a:latin typeface="Arial"/>
                <a:ea typeface="Arial"/>
                <a:cs typeface="Arial"/>
                <a:sym typeface="Arial"/>
              </a:rPr>
              <a:t>.</a:t>
            </a:r>
            <a:endParaRPr sz="1000" b="0" i="0" u="none" strike="noStrike" cap="none">
              <a:solidFill>
                <a:srgbClr val="000000"/>
              </a:solidFill>
              <a:latin typeface="Arial"/>
              <a:ea typeface="Arial"/>
              <a:cs typeface="Arial"/>
              <a:sym typeface="Arial"/>
            </a:endParaRPr>
          </a:p>
        </p:txBody>
      </p:sp>
      <p:grpSp>
        <p:nvGrpSpPr>
          <p:cNvPr id="2300" name="Google Shape;2300;p89"/>
          <p:cNvGrpSpPr/>
          <p:nvPr/>
        </p:nvGrpSpPr>
        <p:grpSpPr>
          <a:xfrm>
            <a:off x="4140052" y="3774216"/>
            <a:ext cx="949500" cy="503319"/>
            <a:chOff x="4140052" y="3774216"/>
            <a:chExt cx="949500" cy="503319"/>
          </a:xfrm>
        </p:grpSpPr>
        <p:cxnSp>
          <p:nvCxnSpPr>
            <p:cNvPr id="2301" name="Google Shape;2301;p89"/>
            <p:cNvCxnSpPr>
              <a:endCxn id="2284" idx="3"/>
            </p:cNvCxnSpPr>
            <p:nvPr/>
          </p:nvCxnSpPr>
          <p:spPr>
            <a:xfrm>
              <a:off x="4140052" y="3774216"/>
              <a:ext cx="949500" cy="292200"/>
            </a:xfrm>
            <a:prstGeom prst="curvedConnector4">
              <a:avLst>
                <a:gd name="adj1" fmla="val 46812"/>
                <a:gd name="adj2" fmla="val 140233"/>
              </a:avLst>
            </a:prstGeom>
            <a:noFill/>
            <a:ln w="19050" cap="flat" cmpd="sng">
              <a:solidFill>
                <a:srgbClr val="FF9900"/>
              </a:solidFill>
              <a:prstDash val="solid"/>
              <a:round/>
              <a:headEnd type="none" w="sm" len="sm"/>
              <a:tailEnd type="triangle" w="med" len="med"/>
            </a:ln>
          </p:spPr>
        </p:cxnSp>
        <p:sp>
          <p:nvSpPr>
            <p:cNvPr id="2302" name="Google Shape;2302;p89"/>
            <p:cNvSpPr txBox="1"/>
            <p:nvPr/>
          </p:nvSpPr>
          <p:spPr>
            <a:xfrm>
              <a:off x="4258790" y="4041735"/>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grpSp>
        <p:nvGrpSpPr>
          <p:cNvPr id="2303" name="Google Shape;2303;p89"/>
          <p:cNvGrpSpPr/>
          <p:nvPr/>
        </p:nvGrpSpPr>
        <p:grpSpPr>
          <a:xfrm>
            <a:off x="4716952" y="3063440"/>
            <a:ext cx="623938" cy="710658"/>
            <a:chOff x="4716952" y="3063440"/>
            <a:chExt cx="623938" cy="710658"/>
          </a:xfrm>
        </p:grpSpPr>
        <p:cxnSp>
          <p:nvCxnSpPr>
            <p:cNvPr id="2304" name="Google Shape;2304;p89"/>
            <p:cNvCxnSpPr>
              <a:stCxn id="2284" idx="1"/>
              <a:endCxn id="2283" idx="6"/>
            </p:cNvCxnSpPr>
            <p:nvPr/>
          </p:nvCxnSpPr>
          <p:spPr>
            <a:xfrm rot="5400000" flipH="1">
              <a:off x="4604752" y="3289298"/>
              <a:ext cx="597000" cy="372600"/>
            </a:xfrm>
            <a:prstGeom prst="curvedConnector2">
              <a:avLst/>
            </a:prstGeom>
            <a:noFill/>
            <a:ln w="19050" cap="flat" cmpd="sng">
              <a:solidFill>
                <a:srgbClr val="FF9900"/>
              </a:solidFill>
              <a:prstDash val="solid"/>
              <a:round/>
              <a:headEnd type="none" w="sm" len="sm"/>
              <a:tailEnd type="triangle" w="med" len="med"/>
            </a:ln>
          </p:spPr>
        </p:cxnSp>
        <p:sp>
          <p:nvSpPr>
            <p:cNvPr id="2305" name="Google Shape;2305;p89"/>
            <p:cNvSpPr txBox="1"/>
            <p:nvPr/>
          </p:nvSpPr>
          <p:spPr>
            <a:xfrm>
              <a:off x="4792190" y="3063440"/>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sp>
        <p:nvSpPr>
          <p:cNvPr id="2306" name="Google Shape;2306;p89"/>
          <p:cNvSpPr/>
          <p:nvPr/>
        </p:nvSpPr>
        <p:spPr>
          <a:xfrm>
            <a:off x="4850200" y="2025375"/>
            <a:ext cx="902400" cy="430500"/>
          </a:xfrm>
          <a:prstGeom prst="wedgeRoundRectCallout">
            <a:avLst>
              <a:gd name="adj1" fmla="val -76809"/>
              <a:gd name="adj2" fmla="val 16987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Samesies.</a:t>
            </a:r>
            <a:endParaRPr sz="1000" b="0" i="0" u="none" strike="noStrike" cap="none">
              <a:solidFill>
                <a:srgbClr val="000000"/>
              </a:solidFill>
              <a:latin typeface="Arial"/>
              <a:ea typeface="Arial"/>
              <a:cs typeface="Arial"/>
              <a:sym typeface="Arial"/>
            </a:endParaRPr>
          </a:p>
        </p:txBody>
      </p:sp>
      <p:grpSp>
        <p:nvGrpSpPr>
          <p:cNvPr id="2307" name="Google Shape;2307;p89"/>
          <p:cNvGrpSpPr/>
          <p:nvPr/>
        </p:nvGrpSpPr>
        <p:grpSpPr>
          <a:xfrm>
            <a:off x="3526629" y="3003117"/>
            <a:ext cx="777000" cy="353865"/>
            <a:chOff x="3526629" y="3003117"/>
            <a:chExt cx="777000" cy="353865"/>
          </a:xfrm>
        </p:grpSpPr>
        <p:cxnSp>
          <p:nvCxnSpPr>
            <p:cNvPr id="2308" name="Google Shape;2308;p89"/>
            <p:cNvCxnSpPr>
              <a:stCxn id="2283" idx="2"/>
              <a:endCxn id="2281" idx="4"/>
            </p:cNvCxnSpPr>
            <p:nvPr/>
          </p:nvCxnSpPr>
          <p:spPr>
            <a:xfrm rot="10800000">
              <a:off x="3526629" y="3003117"/>
              <a:ext cx="777000" cy="174000"/>
            </a:xfrm>
            <a:prstGeom prst="curvedConnector2">
              <a:avLst/>
            </a:prstGeom>
            <a:noFill/>
            <a:ln w="19050" cap="flat" cmpd="sng">
              <a:solidFill>
                <a:srgbClr val="FF9900"/>
              </a:solidFill>
              <a:prstDash val="solid"/>
              <a:round/>
              <a:headEnd type="none" w="sm" len="sm"/>
              <a:tailEnd type="triangle" w="med" len="med"/>
            </a:ln>
          </p:spPr>
        </p:cxnSp>
        <p:sp>
          <p:nvSpPr>
            <p:cNvPr id="2309" name="Google Shape;2309;p89"/>
            <p:cNvSpPr txBox="1"/>
            <p:nvPr/>
          </p:nvSpPr>
          <p:spPr>
            <a:xfrm>
              <a:off x="3572990" y="3121182"/>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sp>
        <p:nvSpPr>
          <p:cNvPr id="2310" name="Google Shape;2310;p89"/>
          <p:cNvSpPr/>
          <p:nvPr/>
        </p:nvSpPr>
        <p:spPr>
          <a:xfrm>
            <a:off x="1513575" y="1568175"/>
            <a:ext cx="1452000" cy="710700"/>
          </a:xfrm>
          <a:prstGeom prst="wedgeRoundRectCallout">
            <a:avLst>
              <a:gd name="adj1" fmla="val 78600"/>
              <a:gd name="adj2" fmla="val 8662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I guess I'll try my other unsearched neighbor....</a:t>
            </a:r>
            <a:endParaRPr sz="1000" b="0" i="0" u="none" strike="noStrike" cap="none">
              <a:solidFill>
                <a:srgbClr val="000000"/>
              </a:solidFill>
              <a:latin typeface="Arial"/>
              <a:ea typeface="Arial"/>
              <a:cs typeface="Arial"/>
              <a:sym typeface="Arial"/>
            </a:endParaRPr>
          </a:p>
        </p:txBody>
      </p:sp>
      <p:cxnSp>
        <p:nvCxnSpPr>
          <p:cNvPr id="2311" name="Google Shape;2311;p89"/>
          <p:cNvCxnSpPr>
            <a:stCxn id="2281" idx="0"/>
            <a:endCxn id="2279" idx="1"/>
          </p:cNvCxnSpPr>
          <p:nvPr/>
        </p:nvCxnSpPr>
        <p:spPr>
          <a:xfrm rot="-5400000">
            <a:off x="3693516" y="1919112"/>
            <a:ext cx="503700" cy="837600"/>
          </a:xfrm>
          <a:prstGeom prst="curvedConnector3">
            <a:avLst>
              <a:gd name="adj1" fmla="val 159322"/>
            </a:avLst>
          </a:prstGeom>
          <a:noFill/>
          <a:ln w="19050" cap="flat" cmpd="sng">
            <a:solidFill>
              <a:srgbClr val="FF0000"/>
            </a:solidFill>
            <a:prstDash val="solid"/>
            <a:round/>
            <a:headEnd type="none" w="sm" len="sm"/>
            <a:tailEnd type="triangle" w="med" len="med"/>
          </a:ln>
        </p:spPr>
      </p:cxnSp>
      <p:cxnSp>
        <p:nvCxnSpPr>
          <p:cNvPr id="2312" name="Google Shape;2312;p89"/>
          <p:cNvCxnSpPr/>
          <p:nvPr/>
        </p:nvCxnSpPr>
        <p:spPr>
          <a:xfrm>
            <a:off x="2541050" y="2650300"/>
            <a:ext cx="839400" cy="0"/>
          </a:xfrm>
          <a:prstGeom prst="straightConnector1">
            <a:avLst/>
          </a:prstGeom>
          <a:noFill/>
          <a:ln w="19050" cap="flat" cmpd="sng">
            <a:solidFill>
              <a:srgbClr val="FF0000"/>
            </a:solidFill>
            <a:prstDash val="solid"/>
            <a:round/>
            <a:headEnd type="none" w="sm" len="sm"/>
            <a:tailEnd type="triangle" w="med" len="med"/>
          </a:ln>
        </p:spPr>
      </p:cxnSp>
      <p:pic>
        <p:nvPicPr>
          <p:cNvPr id="2313" name="Google Shape;2313;p89"/>
          <p:cNvPicPr preferRelativeResize="0"/>
          <p:nvPr/>
        </p:nvPicPr>
        <p:blipFill rotWithShape="1">
          <a:blip r:embed="rId3">
            <a:alphaModFix/>
          </a:blip>
          <a:srcRect/>
          <a:stretch/>
        </p:blipFill>
        <p:spPr>
          <a:xfrm>
            <a:off x="501799" y="2368250"/>
            <a:ext cx="1958226" cy="1919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99"/>
                                        </p:tgtEl>
                                        <p:attrNameLst>
                                          <p:attrName>style.visibility</p:attrName>
                                        </p:attrNameLst>
                                      </p:cBhvr>
                                      <p:to>
                                        <p:strVal val="visible"/>
                                      </p:to>
                                    </p:set>
                                    <p:animEffect transition="in" filter="fade">
                                      <p:cBhvr>
                                        <p:cTn id="7" dur="1000"/>
                                        <p:tgtEl>
                                          <p:spTgt spid="229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303"/>
                                        </p:tgtEl>
                                        <p:attrNameLst>
                                          <p:attrName>style.visibility</p:attrName>
                                        </p:attrNameLst>
                                      </p:cBhvr>
                                      <p:to>
                                        <p:strVal val="visible"/>
                                      </p:to>
                                    </p:set>
                                    <p:animEffect transition="in" filter="fade">
                                      <p:cBhvr>
                                        <p:cTn id="11" dur="1000"/>
                                        <p:tgtEl>
                                          <p:spTgt spid="230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306"/>
                                        </p:tgtEl>
                                        <p:attrNameLst>
                                          <p:attrName>style.visibility</p:attrName>
                                        </p:attrNameLst>
                                      </p:cBhvr>
                                      <p:to>
                                        <p:strVal val="visible"/>
                                      </p:to>
                                    </p:set>
                                    <p:animEffect transition="in" filter="fade">
                                      <p:cBhvr>
                                        <p:cTn id="16" dur="1000"/>
                                        <p:tgtEl>
                                          <p:spTgt spid="230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307"/>
                                        </p:tgtEl>
                                        <p:attrNameLst>
                                          <p:attrName>style.visibility</p:attrName>
                                        </p:attrNameLst>
                                      </p:cBhvr>
                                      <p:to>
                                        <p:strVal val="visible"/>
                                      </p:to>
                                    </p:set>
                                    <p:animEffect transition="in" filter="fade">
                                      <p:cBhvr>
                                        <p:cTn id="20" dur="1000"/>
                                        <p:tgtEl>
                                          <p:spTgt spid="230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10"/>
                                        </p:tgtEl>
                                        <p:attrNameLst>
                                          <p:attrName>style.visibility</p:attrName>
                                        </p:attrNameLst>
                                      </p:cBhvr>
                                      <p:to>
                                        <p:strVal val="visible"/>
                                      </p:to>
                                    </p:set>
                                    <p:animEffect transition="in" filter="fade">
                                      <p:cBhvr>
                                        <p:cTn id="25" dur="1000"/>
                                        <p:tgtEl>
                                          <p:spTgt spid="2310"/>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2311"/>
                                        </p:tgtEl>
                                        <p:attrNameLst>
                                          <p:attrName>style.visibility</p:attrName>
                                        </p:attrNameLst>
                                      </p:cBhvr>
                                      <p:to>
                                        <p:strVal val="visible"/>
                                      </p:to>
                                    </p:set>
                                    <p:animEffect transition="in" filter="fade">
                                      <p:cBhvr>
                                        <p:cTn id="29" dur="1000"/>
                                        <p:tgtEl>
                                          <p:spTgt spid="23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1000"/>
                                        <p:tgtEl>
                                          <p:spTgt spid="2306"/>
                                        </p:tgtEl>
                                      </p:cBhvr>
                                    </p:animEffect>
                                    <p:set>
                                      <p:cBhvr>
                                        <p:cTn id="34" dur="1" fill="hold">
                                          <p:stCondLst>
                                            <p:cond delay="1000"/>
                                          </p:stCondLst>
                                        </p:cTn>
                                        <p:tgtEl>
                                          <p:spTgt spid="2306"/>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1000"/>
                                        <p:tgtEl>
                                          <p:spTgt spid="2310"/>
                                        </p:tgtEl>
                                      </p:cBhvr>
                                    </p:animEffect>
                                    <p:set>
                                      <p:cBhvr>
                                        <p:cTn id="37" dur="1" fill="hold">
                                          <p:stCondLst>
                                            <p:cond delay="1000"/>
                                          </p:stCondLst>
                                        </p:cTn>
                                        <p:tgtEl>
                                          <p:spTgt spid="2310"/>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1000"/>
                                        <p:tgtEl>
                                          <p:spTgt spid="2299"/>
                                        </p:tgtEl>
                                      </p:cBhvr>
                                    </p:animEffect>
                                    <p:set>
                                      <p:cBhvr>
                                        <p:cTn id="40" dur="1" fill="hold">
                                          <p:stCondLst>
                                            <p:cond delay="1000"/>
                                          </p:stCondLst>
                                        </p:cTn>
                                        <p:tgtEl>
                                          <p:spTgt spid="22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17"/>
        <p:cNvGrpSpPr/>
        <p:nvPr/>
      </p:nvGrpSpPr>
      <p:grpSpPr>
        <a:xfrm>
          <a:off x="0" y="0"/>
          <a:ext cx="0" cy="0"/>
          <a:chOff x="0" y="0"/>
          <a:chExt cx="0" cy="0"/>
        </a:xfrm>
      </p:grpSpPr>
      <p:sp>
        <p:nvSpPr>
          <p:cNvPr id="2318" name="Google Shape;2318;p9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DFS Path Illustrated Example: Y to Z</a:t>
            </a:r>
            <a:endParaRPr/>
          </a:p>
        </p:txBody>
      </p:sp>
      <p:sp>
        <p:nvSpPr>
          <p:cNvPr id="2319" name="Google Shape;2319;p9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57</a:t>
            </a:fld>
            <a:endParaRPr/>
          </a:p>
        </p:txBody>
      </p:sp>
      <p:cxnSp>
        <p:nvCxnSpPr>
          <p:cNvPr id="2320" name="Google Shape;2320;p90"/>
          <p:cNvCxnSpPr>
            <a:stCxn id="2321" idx="6"/>
            <a:endCxn id="2322" idx="0"/>
          </p:cNvCxnSpPr>
          <p:nvPr/>
        </p:nvCxnSpPr>
        <p:spPr>
          <a:xfrm>
            <a:off x="3733266" y="2796462"/>
            <a:ext cx="777000" cy="174000"/>
          </a:xfrm>
          <a:prstGeom prst="curvedConnector2">
            <a:avLst/>
          </a:prstGeom>
          <a:noFill/>
          <a:ln w="19050" cap="flat" cmpd="sng">
            <a:solidFill>
              <a:srgbClr val="FF0000"/>
            </a:solidFill>
            <a:prstDash val="solid"/>
            <a:round/>
            <a:headEnd type="none" w="sm" len="sm"/>
            <a:tailEnd type="triangle" w="med" len="med"/>
          </a:ln>
        </p:spPr>
      </p:cxnSp>
      <p:cxnSp>
        <p:nvCxnSpPr>
          <p:cNvPr id="2323" name="Google Shape;2323;p90"/>
          <p:cNvCxnSpPr>
            <a:stCxn id="2324" idx="6"/>
            <a:endCxn id="2325" idx="6"/>
          </p:cNvCxnSpPr>
          <p:nvPr/>
        </p:nvCxnSpPr>
        <p:spPr>
          <a:xfrm rot="10800000" flipH="1">
            <a:off x="5442411" y="2796457"/>
            <a:ext cx="258300" cy="1123800"/>
          </a:xfrm>
          <a:prstGeom prst="curvedConnector3">
            <a:avLst>
              <a:gd name="adj1" fmla="val 192163"/>
            </a:avLst>
          </a:prstGeom>
          <a:noFill/>
          <a:ln w="19050" cap="flat" cmpd="sng">
            <a:solidFill>
              <a:srgbClr val="FF0000"/>
            </a:solidFill>
            <a:prstDash val="solid"/>
            <a:round/>
            <a:headEnd type="none" w="sm" len="sm"/>
            <a:tailEnd type="triangle" w="med" len="med"/>
          </a:ln>
        </p:spPr>
      </p:cxnSp>
      <p:grpSp>
        <p:nvGrpSpPr>
          <p:cNvPr id="2326" name="Google Shape;2326;p90"/>
          <p:cNvGrpSpPr/>
          <p:nvPr/>
        </p:nvGrpSpPr>
        <p:grpSpPr>
          <a:xfrm>
            <a:off x="5235703" y="2942672"/>
            <a:ext cx="714787" cy="771000"/>
            <a:chOff x="5235703" y="2942672"/>
            <a:chExt cx="714787" cy="771000"/>
          </a:xfrm>
        </p:grpSpPr>
        <p:cxnSp>
          <p:nvCxnSpPr>
            <p:cNvPr id="2327" name="Google Shape;2327;p90"/>
            <p:cNvCxnSpPr>
              <a:stCxn id="2325" idx="5"/>
              <a:endCxn id="2324" idx="0"/>
            </p:cNvCxnSpPr>
            <p:nvPr/>
          </p:nvCxnSpPr>
          <p:spPr>
            <a:xfrm rot="5400000">
              <a:off x="5052403" y="3125972"/>
              <a:ext cx="771000" cy="404400"/>
            </a:xfrm>
            <a:prstGeom prst="curvedConnector3">
              <a:avLst>
                <a:gd name="adj1" fmla="val 53919"/>
              </a:avLst>
            </a:prstGeom>
            <a:noFill/>
            <a:ln w="19050" cap="flat" cmpd="sng">
              <a:solidFill>
                <a:srgbClr val="FF9900"/>
              </a:solidFill>
              <a:prstDash val="solid"/>
              <a:round/>
              <a:headEnd type="none" w="sm" len="sm"/>
              <a:tailEnd type="triangle" w="med" len="med"/>
            </a:ln>
          </p:spPr>
        </p:cxnSp>
        <p:sp>
          <p:nvSpPr>
            <p:cNvPr id="2328" name="Google Shape;2328;p90"/>
            <p:cNvSpPr txBox="1"/>
            <p:nvPr/>
          </p:nvSpPr>
          <p:spPr>
            <a:xfrm>
              <a:off x="5401790" y="3215840"/>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cxnSp>
        <p:nvCxnSpPr>
          <p:cNvPr id="2329" name="Google Shape;2329;p90"/>
          <p:cNvCxnSpPr>
            <a:stCxn id="2324" idx="4"/>
            <a:endCxn id="2330" idx="4"/>
          </p:cNvCxnSpPr>
          <p:nvPr/>
        </p:nvCxnSpPr>
        <p:spPr>
          <a:xfrm rot="5400000">
            <a:off x="4614561" y="3506407"/>
            <a:ext cx="600" cy="1241700"/>
          </a:xfrm>
          <a:prstGeom prst="curvedConnector3">
            <a:avLst>
              <a:gd name="adj1" fmla="val 39687500"/>
            </a:avLst>
          </a:prstGeom>
          <a:noFill/>
          <a:ln w="19050" cap="flat" cmpd="sng">
            <a:solidFill>
              <a:srgbClr val="FF0000"/>
            </a:solidFill>
            <a:prstDash val="solid"/>
            <a:round/>
            <a:headEnd type="none" w="sm" len="sm"/>
            <a:tailEnd type="triangle" w="med" len="med"/>
          </a:ln>
        </p:spPr>
      </p:cxnSp>
      <p:grpSp>
        <p:nvGrpSpPr>
          <p:cNvPr id="2331" name="Google Shape;2331;p90"/>
          <p:cNvGrpSpPr/>
          <p:nvPr/>
        </p:nvGrpSpPr>
        <p:grpSpPr>
          <a:xfrm>
            <a:off x="4140052" y="3774216"/>
            <a:ext cx="949500" cy="503319"/>
            <a:chOff x="4140052" y="3774216"/>
            <a:chExt cx="949500" cy="503319"/>
          </a:xfrm>
        </p:grpSpPr>
        <p:cxnSp>
          <p:nvCxnSpPr>
            <p:cNvPr id="2332" name="Google Shape;2332;p90"/>
            <p:cNvCxnSpPr>
              <a:endCxn id="2324" idx="3"/>
            </p:cNvCxnSpPr>
            <p:nvPr/>
          </p:nvCxnSpPr>
          <p:spPr>
            <a:xfrm>
              <a:off x="4140052" y="3774216"/>
              <a:ext cx="949500" cy="292200"/>
            </a:xfrm>
            <a:prstGeom prst="curvedConnector4">
              <a:avLst>
                <a:gd name="adj1" fmla="val 46812"/>
                <a:gd name="adj2" fmla="val 150765"/>
              </a:avLst>
            </a:prstGeom>
            <a:noFill/>
            <a:ln w="19050" cap="flat" cmpd="sng">
              <a:solidFill>
                <a:srgbClr val="FF9900"/>
              </a:solidFill>
              <a:prstDash val="solid"/>
              <a:round/>
              <a:headEnd type="none" w="sm" len="sm"/>
              <a:tailEnd type="triangle" w="med" len="med"/>
            </a:ln>
          </p:spPr>
        </p:cxnSp>
        <p:sp>
          <p:nvSpPr>
            <p:cNvPr id="2333" name="Google Shape;2333;p90"/>
            <p:cNvSpPr txBox="1"/>
            <p:nvPr/>
          </p:nvSpPr>
          <p:spPr>
            <a:xfrm>
              <a:off x="4258790" y="4041735"/>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grpSp>
        <p:nvGrpSpPr>
          <p:cNvPr id="2334" name="Google Shape;2334;p90"/>
          <p:cNvGrpSpPr/>
          <p:nvPr/>
        </p:nvGrpSpPr>
        <p:grpSpPr>
          <a:xfrm>
            <a:off x="4716952" y="3063440"/>
            <a:ext cx="623938" cy="710658"/>
            <a:chOff x="4716952" y="3063440"/>
            <a:chExt cx="623938" cy="710658"/>
          </a:xfrm>
        </p:grpSpPr>
        <p:cxnSp>
          <p:nvCxnSpPr>
            <p:cNvPr id="2335" name="Google Shape;2335;p90"/>
            <p:cNvCxnSpPr>
              <a:stCxn id="2324" idx="1"/>
              <a:endCxn id="2322" idx="6"/>
            </p:cNvCxnSpPr>
            <p:nvPr/>
          </p:nvCxnSpPr>
          <p:spPr>
            <a:xfrm rot="5400000" flipH="1">
              <a:off x="4604752" y="3289298"/>
              <a:ext cx="597000" cy="372600"/>
            </a:xfrm>
            <a:prstGeom prst="curvedConnector2">
              <a:avLst/>
            </a:prstGeom>
            <a:noFill/>
            <a:ln w="19050" cap="flat" cmpd="sng">
              <a:solidFill>
                <a:srgbClr val="FF9900"/>
              </a:solidFill>
              <a:prstDash val="solid"/>
              <a:round/>
              <a:headEnd type="none" w="sm" len="sm"/>
              <a:tailEnd type="triangle" w="med" len="med"/>
            </a:ln>
          </p:spPr>
        </p:cxnSp>
        <p:sp>
          <p:nvSpPr>
            <p:cNvPr id="2336" name="Google Shape;2336;p90"/>
            <p:cNvSpPr txBox="1"/>
            <p:nvPr/>
          </p:nvSpPr>
          <p:spPr>
            <a:xfrm>
              <a:off x="4792190" y="3063440"/>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grpSp>
        <p:nvGrpSpPr>
          <p:cNvPr id="2337" name="Google Shape;2337;p90"/>
          <p:cNvGrpSpPr/>
          <p:nvPr/>
        </p:nvGrpSpPr>
        <p:grpSpPr>
          <a:xfrm>
            <a:off x="3526629" y="3003117"/>
            <a:ext cx="777000" cy="353865"/>
            <a:chOff x="3526629" y="3003117"/>
            <a:chExt cx="777000" cy="353865"/>
          </a:xfrm>
        </p:grpSpPr>
        <p:cxnSp>
          <p:nvCxnSpPr>
            <p:cNvPr id="2338" name="Google Shape;2338;p90"/>
            <p:cNvCxnSpPr>
              <a:stCxn id="2322" idx="2"/>
              <a:endCxn id="2321" idx="4"/>
            </p:cNvCxnSpPr>
            <p:nvPr/>
          </p:nvCxnSpPr>
          <p:spPr>
            <a:xfrm rot="10800000">
              <a:off x="3526629" y="3003117"/>
              <a:ext cx="777000" cy="174000"/>
            </a:xfrm>
            <a:prstGeom prst="curvedConnector2">
              <a:avLst/>
            </a:prstGeom>
            <a:noFill/>
            <a:ln w="19050" cap="flat" cmpd="sng">
              <a:solidFill>
                <a:srgbClr val="FF9900"/>
              </a:solidFill>
              <a:prstDash val="solid"/>
              <a:round/>
              <a:headEnd type="none" w="sm" len="sm"/>
              <a:tailEnd type="triangle" w="med" len="med"/>
            </a:ln>
          </p:spPr>
        </p:cxnSp>
        <p:sp>
          <p:nvSpPr>
            <p:cNvPr id="2339" name="Google Shape;2339;p90"/>
            <p:cNvSpPr txBox="1"/>
            <p:nvPr/>
          </p:nvSpPr>
          <p:spPr>
            <a:xfrm>
              <a:off x="3572990" y="3121182"/>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null</a:t>
              </a:r>
              <a:endParaRPr sz="1400" b="0" i="0" u="none" strike="noStrike" cap="none">
                <a:solidFill>
                  <a:srgbClr val="000000"/>
                </a:solidFill>
                <a:latin typeface="Arial"/>
                <a:ea typeface="Arial"/>
                <a:cs typeface="Arial"/>
                <a:sym typeface="Arial"/>
              </a:endParaRPr>
            </a:p>
          </p:txBody>
        </p:sp>
      </p:grpSp>
      <p:sp>
        <p:nvSpPr>
          <p:cNvPr id="2340" name="Google Shape;2340;p90"/>
          <p:cNvSpPr/>
          <p:nvPr/>
        </p:nvSpPr>
        <p:spPr>
          <a:xfrm>
            <a:off x="4863850" y="1474275"/>
            <a:ext cx="1746300" cy="710700"/>
          </a:xfrm>
          <a:prstGeom prst="wedgeRoundRectCallout">
            <a:avLst>
              <a:gd name="adj1" fmla="val -58540"/>
              <a:gd name="adj2" fmla="val 3467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1" i="1" u="none" strike="noStrike" cap="none">
                <a:solidFill>
                  <a:srgbClr val="FF0000"/>
                </a:solidFill>
                <a:latin typeface="Arial"/>
                <a:ea typeface="Arial"/>
                <a:cs typeface="Arial"/>
                <a:sym typeface="Arial"/>
              </a:rPr>
              <a:t>Hello? Is it Z you're looking for?</a:t>
            </a:r>
            <a:r>
              <a:rPr lang="en" sz="1000" b="0" i="0" u="none" strike="noStrike" cap="none">
                <a:solidFill>
                  <a:srgbClr val="000000"/>
                </a:solidFill>
                <a:latin typeface="Arial"/>
                <a:ea typeface="Arial"/>
                <a:cs typeface="Arial"/>
                <a:sym typeface="Arial"/>
              </a:rPr>
              <a:t> I guess I'll make a path with </a:t>
            </a:r>
            <a:r>
              <a:rPr lang="en" sz="1000" b="1" i="1" u="none" strike="noStrike" cap="none">
                <a:solidFill>
                  <a:srgbClr val="FF0000"/>
                </a:solidFill>
                <a:latin typeface="Arial"/>
                <a:ea typeface="Arial"/>
                <a:cs typeface="Arial"/>
                <a:sym typeface="Arial"/>
              </a:rPr>
              <a:t>just my value</a:t>
            </a:r>
            <a:r>
              <a:rPr lang="en" sz="1000" b="0" i="0" u="none" strike="noStrike" cap="none">
                <a:solidFill>
                  <a:srgbClr val="000000"/>
                </a:solidFill>
                <a:latin typeface="Arial"/>
                <a:ea typeface="Arial"/>
                <a:cs typeface="Arial"/>
                <a:sym typeface="Arial"/>
              </a:rPr>
              <a:t> and return it...</a:t>
            </a:r>
            <a:endParaRPr sz="1000" b="0" i="0" u="none" strike="noStrike" cap="none">
              <a:solidFill>
                <a:srgbClr val="000000"/>
              </a:solidFill>
              <a:latin typeface="Arial"/>
              <a:ea typeface="Arial"/>
              <a:cs typeface="Arial"/>
              <a:sym typeface="Arial"/>
            </a:endParaRPr>
          </a:p>
        </p:txBody>
      </p:sp>
      <p:cxnSp>
        <p:nvCxnSpPr>
          <p:cNvPr id="2341" name="Google Shape;2341;p90"/>
          <p:cNvCxnSpPr/>
          <p:nvPr/>
        </p:nvCxnSpPr>
        <p:spPr>
          <a:xfrm rot="10800000" flipH="1">
            <a:off x="3526566" y="2086062"/>
            <a:ext cx="837600" cy="503700"/>
          </a:xfrm>
          <a:prstGeom prst="curvedConnector3">
            <a:avLst>
              <a:gd name="adj1" fmla="val 0"/>
            </a:avLst>
          </a:prstGeom>
          <a:noFill/>
          <a:ln w="19050" cap="flat" cmpd="sng">
            <a:solidFill>
              <a:srgbClr val="FF0000"/>
            </a:solidFill>
            <a:prstDash val="solid"/>
            <a:round/>
            <a:headEnd type="none" w="sm" len="sm"/>
            <a:tailEnd type="triangle" w="med" len="med"/>
          </a:ln>
        </p:spPr>
      </p:cxnSp>
      <p:grpSp>
        <p:nvGrpSpPr>
          <p:cNvPr id="2342" name="Google Shape;2342;p90"/>
          <p:cNvGrpSpPr/>
          <p:nvPr/>
        </p:nvGrpSpPr>
        <p:grpSpPr>
          <a:xfrm>
            <a:off x="3319866" y="2025381"/>
            <a:ext cx="2380778" cy="2101576"/>
            <a:chOff x="119466" y="1644381"/>
            <a:chExt cx="2380778" cy="2101576"/>
          </a:xfrm>
        </p:grpSpPr>
        <p:sp>
          <p:nvSpPr>
            <p:cNvPr id="2343" name="Google Shape;2343;p90"/>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325" name="Google Shape;2325;p90"/>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321" name="Google Shape;2321;p90"/>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330" name="Google Shape;2330;p90"/>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322" name="Google Shape;2322;p90"/>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324" name="Google Shape;2324;p90"/>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344" name="Google Shape;2344;p90"/>
            <p:cNvCxnSpPr>
              <a:stCxn id="2343" idx="2"/>
              <a:endCxn id="2321"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345" name="Google Shape;2345;p90"/>
            <p:cNvCxnSpPr>
              <a:stCxn id="2321" idx="5"/>
              <a:endCxn id="2322"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346" name="Google Shape;2346;p90"/>
            <p:cNvCxnSpPr>
              <a:stCxn id="2322" idx="3"/>
              <a:endCxn id="2330"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347" name="Google Shape;2347;p90"/>
            <p:cNvCxnSpPr>
              <a:stCxn id="2330" idx="6"/>
              <a:endCxn id="2324"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348" name="Google Shape;2348;p90"/>
            <p:cNvCxnSpPr>
              <a:stCxn id="2324" idx="0"/>
              <a:endCxn id="2322"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349" name="Google Shape;2349;p90"/>
            <p:cNvCxnSpPr>
              <a:stCxn id="2322" idx="7"/>
              <a:endCxn id="2325"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350" name="Google Shape;2350;p90"/>
            <p:cNvCxnSpPr>
              <a:stCxn id="2325" idx="4"/>
              <a:endCxn id="2324"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grpSp>
        <p:nvGrpSpPr>
          <p:cNvPr id="2351" name="Google Shape;2351;p90"/>
          <p:cNvGrpSpPr/>
          <p:nvPr/>
        </p:nvGrpSpPr>
        <p:grpSpPr>
          <a:xfrm>
            <a:off x="3733197" y="2378240"/>
            <a:ext cx="934198" cy="418200"/>
            <a:chOff x="3733197" y="2378240"/>
            <a:chExt cx="934198" cy="418200"/>
          </a:xfrm>
        </p:grpSpPr>
        <p:cxnSp>
          <p:nvCxnSpPr>
            <p:cNvPr id="2352" name="Google Shape;2352;p90"/>
            <p:cNvCxnSpPr>
              <a:stCxn id="2343" idx="3"/>
              <a:endCxn id="2321" idx="6"/>
            </p:cNvCxnSpPr>
            <p:nvPr/>
          </p:nvCxnSpPr>
          <p:spPr>
            <a:xfrm rot="5400000">
              <a:off x="3839547" y="2271890"/>
              <a:ext cx="418200" cy="630900"/>
            </a:xfrm>
            <a:prstGeom prst="curvedConnector2">
              <a:avLst/>
            </a:prstGeom>
            <a:noFill/>
            <a:ln w="19050" cap="flat" cmpd="sng">
              <a:solidFill>
                <a:srgbClr val="FF9900"/>
              </a:solidFill>
              <a:prstDash val="solid"/>
              <a:round/>
              <a:headEnd type="none" w="sm" len="sm"/>
              <a:tailEnd type="triangle" w="med" len="med"/>
            </a:ln>
          </p:spPr>
        </p:cxnSp>
        <p:sp>
          <p:nvSpPr>
            <p:cNvPr id="2353" name="Google Shape;2353;p90"/>
            <p:cNvSpPr txBox="1"/>
            <p:nvPr/>
          </p:nvSpPr>
          <p:spPr>
            <a:xfrm>
              <a:off x="4118695" y="2505430"/>
              <a:ext cx="5487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[Z]</a:t>
              </a:r>
              <a:endParaRPr sz="1400" b="0" i="0" u="none" strike="noStrike" cap="none">
                <a:solidFill>
                  <a:srgbClr val="000000"/>
                </a:solidFill>
                <a:latin typeface="Arial"/>
                <a:ea typeface="Arial"/>
                <a:cs typeface="Arial"/>
                <a:sym typeface="Arial"/>
              </a:endParaRPr>
            </a:p>
          </p:txBody>
        </p:sp>
      </p:grpSp>
      <p:sp>
        <p:nvSpPr>
          <p:cNvPr id="2354" name="Google Shape;2354;p90"/>
          <p:cNvSpPr/>
          <p:nvPr/>
        </p:nvSpPr>
        <p:spPr>
          <a:xfrm>
            <a:off x="1696250" y="1401860"/>
            <a:ext cx="1746300" cy="710700"/>
          </a:xfrm>
          <a:prstGeom prst="wedgeRoundRectCallout">
            <a:avLst>
              <a:gd name="adj1" fmla="val 48351"/>
              <a:gd name="adj2" fmla="val 111874"/>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Hey! Look at that! I found a path to </a:t>
            </a:r>
            <a:r>
              <a:rPr lang="en" sz="1000" b="1" i="1" u="none" strike="noStrike" cap="none">
                <a:solidFill>
                  <a:srgbClr val="FF0000"/>
                </a:solidFill>
                <a:latin typeface="Arial"/>
                <a:ea typeface="Arial"/>
                <a:cs typeface="Arial"/>
                <a:sym typeface="Arial"/>
              </a:rPr>
              <a:t>Z</a:t>
            </a:r>
            <a:r>
              <a:rPr lang="en" sz="1000" b="0" i="0" u="none" strike="noStrike" cap="none">
                <a:solidFill>
                  <a:srgbClr val="000000"/>
                </a:solidFill>
                <a:latin typeface="Arial"/>
                <a:ea typeface="Arial"/>
                <a:cs typeface="Arial"/>
                <a:sym typeface="Arial"/>
              </a:rPr>
              <a:t>! I'll add </a:t>
            </a:r>
            <a:r>
              <a:rPr lang="en" sz="1000" b="1" i="1" u="none" strike="noStrike" cap="none">
                <a:solidFill>
                  <a:srgbClr val="FF0000"/>
                </a:solidFill>
                <a:latin typeface="Arial"/>
                <a:ea typeface="Arial"/>
                <a:cs typeface="Arial"/>
                <a:sym typeface="Arial"/>
              </a:rPr>
              <a:t>my value</a:t>
            </a:r>
            <a:r>
              <a:rPr lang="en" sz="1000" b="1" i="1" u="none" strike="noStrike" cap="none">
                <a:solidFill>
                  <a:srgbClr val="000000"/>
                </a:solidFill>
                <a:latin typeface="Arial"/>
                <a:ea typeface="Arial"/>
                <a:cs typeface="Arial"/>
                <a:sym typeface="Arial"/>
              </a:rPr>
              <a:t> </a:t>
            </a:r>
            <a:r>
              <a:rPr lang="en" sz="1000" b="0" i="0" u="none" strike="noStrike" cap="none">
                <a:solidFill>
                  <a:srgbClr val="000000"/>
                </a:solidFill>
                <a:latin typeface="Arial"/>
                <a:ea typeface="Arial"/>
                <a:cs typeface="Arial"/>
                <a:sym typeface="Arial"/>
              </a:rPr>
              <a:t>to the front and return the path...</a:t>
            </a:r>
            <a:endParaRPr sz="1000" b="0" i="0" u="none" strike="noStrike" cap="none">
              <a:solidFill>
                <a:srgbClr val="000000"/>
              </a:solidFill>
              <a:latin typeface="Arial"/>
              <a:ea typeface="Arial"/>
              <a:cs typeface="Arial"/>
              <a:sym typeface="Arial"/>
            </a:endParaRPr>
          </a:p>
        </p:txBody>
      </p:sp>
      <p:cxnSp>
        <p:nvCxnSpPr>
          <p:cNvPr id="2355" name="Google Shape;2355;p90"/>
          <p:cNvCxnSpPr/>
          <p:nvPr/>
        </p:nvCxnSpPr>
        <p:spPr>
          <a:xfrm>
            <a:off x="2541050" y="2650300"/>
            <a:ext cx="839400" cy="0"/>
          </a:xfrm>
          <a:prstGeom prst="straightConnector1">
            <a:avLst/>
          </a:prstGeom>
          <a:noFill/>
          <a:ln w="19050" cap="flat" cmpd="sng">
            <a:solidFill>
              <a:srgbClr val="FF0000"/>
            </a:solidFill>
            <a:prstDash val="solid"/>
            <a:round/>
            <a:headEnd type="none" w="sm" len="sm"/>
            <a:tailEnd type="triangle" w="med" len="med"/>
          </a:ln>
        </p:spPr>
      </p:cxnSp>
      <p:grpSp>
        <p:nvGrpSpPr>
          <p:cNvPr id="2356" name="Google Shape;2356;p90"/>
          <p:cNvGrpSpPr/>
          <p:nvPr/>
        </p:nvGrpSpPr>
        <p:grpSpPr>
          <a:xfrm>
            <a:off x="2565607" y="2907250"/>
            <a:ext cx="814800" cy="235800"/>
            <a:chOff x="2565607" y="2907250"/>
            <a:chExt cx="814800" cy="235800"/>
          </a:xfrm>
        </p:grpSpPr>
        <p:cxnSp>
          <p:nvCxnSpPr>
            <p:cNvPr id="2357" name="Google Shape;2357;p90"/>
            <p:cNvCxnSpPr>
              <a:stCxn id="2321" idx="3"/>
            </p:cNvCxnSpPr>
            <p:nvPr/>
          </p:nvCxnSpPr>
          <p:spPr>
            <a:xfrm rot="10800000">
              <a:off x="2565607" y="2942621"/>
              <a:ext cx="814800" cy="0"/>
            </a:xfrm>
            <a:prstGeom prst="straightConnector1">
              <a:avLst/>
            </a:prstGeom>
            <a:noFill/>
            <a:ln w="19050" cap="flat" cmpd="sng">
              <a:solidFill>
                <a:srgbClr val="FF9900"/>
              </a:solidFill>
              <a:prstDash val="solid"/>
              <a:round/>
              <a:headEnd type="none" w="sm" len="sm"/>
              <a:tailEnd type="triangle" w="med" len="med"/>
            </a:ln>
          </p:spPr>
        </p:cxnSp>
        <p:sp>
          <p:nvSpPr>
            <p:cNvPr id="2358" name="Google Shape;2358;p90"/>
            <p:cNvSpPr txBox="1"/>
            <p:nvPr/>
          </p:nvSpPr>
          <p:spPr>
            <a:xfrm>
              <a:off x="2671850" y="2907250"/>
              <a:ext cx="675300" cy="23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9900"/>
                  </a:solidFill>
                  <a:latin typeface="Courier New"/>
                  <a:ea typeface="Courier New"/>
                  <a:cs typeface="Courier New"/>
                  <a:sym typeface="Courier New"/>
                </a:rPr>
                <a:t>[Y, Z]</a:t>
              </a:r>
              <a:endParaRPr sz="1400" b="0" i="0" u="none" strike="noStrike" cap="none">
                <a:solidFill>
                  <a:srgbClr val="000000"/>
                </a:solidFill>
                <a:latin typeface="Arial"/>
                <a:ea typeface="Arial"/>
                <a:cs typeface="Arial"/>
                <a:sym typeface="Arial"/>
              </a:endParaRPr>
            </a:p>
          </p:txBody>
        </p:sp>
      </p:grpSp>
      <p:pic>
        <p:nvPicPr>
          <p:cNvPr id="2359" name="Google Shape;2359;p90"/>
          <p:cNvPicPr preferRelativeResize="0"/>
          <p:nvPr/>
        </p:nvPicPr>
        <p:blipFill rotWithShape="1">
          <a:blip r:embed="rId3">
            <a:alphaModFix/>
          </a:blip>
          <a:srcRect/>
          <a:stretch/>
        </p:blipFill>
        <p:spPr>
          <a:xfrm>
            <a:off x="501799" y="2368250"/>
            <a:ext cx="1958226" cy="1919850"/>
          </a:xfrm>
          <a:prstGeom prst="rect">
            <a:avLst/>
          </a:prstGeom>
          <a:noFill/>
          <a:ln>
            <a:noFill/>
          </a:ln>
        </p:spPr>
      </p:pic>
      <p:cxnSp>
        <p:nvCxnSpPr>
          <p:cNvPr id="2360" name="Google Shape;2360;p90"/>
          <p:cNvCxnSpPr>
            <a:stCxn id="2322" idx="4"/>
            <a:endCxn id="2324" idx="2"/>
          </p:cNvCxnSpPr>
          <p:nvPr/>
        </p:nvCxnSpPr>
        <p:spPr>
          <a:xfrm rot="-5400000" flipH="1">
            <a:off x="4501479" y="3392667"/>
            <a:ext cx="536400" cy="518700"/>
          </a:xfrm>
          <a:prstGeom prst="curvedConnector2">
            <a:avLst/>
          </a:prstGeom>
          <a:noFill/>
          <a:ln w="19050" cap="flat" cmpd="sng">
            <a:solidFill>
              <a:srgbClr val="FF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40"/>
                                        </p:tgtEl>
                                        <p:attrNameLst>
                                          <p:attrName>style.visibility</p:attrName>
                                        </p:attrNameLst>
                                      </p:cBhvr>
                                      <p:to>
                                        <p:strVal val="visible"/>
                                      </p:to>
                                    </p:set>
                                    <p:animEffect transition="in" filter="fade">
                                      <p:cBhvr>
                                        <p:cTn id="7" dur="1000"/>
                                        <p:tgtEl>
                                          <p:spTgt spid="234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351"/>
                                        </p:tgtEl>
                                        <p:attrNameLst>
                                          <p:attrName>style.visibility</p:attrName>
                                        </p:attrNameLst>
                                      </p:cBhvr>
                                      <p:to>
                                        <p:strVal val="visible"/>
                                      </p:to>
                                    </p:set>
                                    <p:animEffect transition="in" filter="fade">
                                      <p:cBhvr>
                                        <p:cTn id="11" dur="1000"/>
                                        <p:tgtEl>
                                          <p:spTgt spid="235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354"/>
                                        </p:tgtEl>
                                        <p:attrNameLst>
                                          <p:attrName>style.visibility</p:attrName>
                                        </p:attrNameLst>
                                      </p:cBhvr>
                                      <p:to>
                                        <p:strVal val="visible"/>
                                      </p:to>
                                    </p:set>
                                    <p:animEffect transition="in" filter="fade">
                                      <p:cBhvr>
                                        <p:cTn id="16" dur="1000"/>
                                        <p:tgtEl>
                                          <p:spTgt spid="235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356"/>
                                        </p:tgtEl>
                                        <p:attrNameLst>
                                          <p:attrName>style.visibility</p:attrName>
                                        </p:attrNameLst>
                                      </p:cBhvr>
                                      <p:to>
                                        <p:strVal val="visible"/>
                                      </p:to>
                                    </p:set>
                                    <p:animEffect transition="in" filter="fade">
                                      <p:cBhvr>
                                        <p:cTn id="20" dur="1000"/>
                                        <p:tgtEl>
                                          <p:spTgt spid="2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364"/>
        <p:cNvGrpSpPr/>
        <p:nvPr/>
      </p:nvGrpSpPr>
      <p:grpSpPr>
        <a:xfrm>
          <a:off x="0" y="0"/>
          <a:ext cx="0" cy="0"/>
          <a:chOff x="0" y="0"/>
          <a:chExt cx="0" cy="0"/>
        </a:xfrm>
      </p:grpSpPr>
      <p:sp>
        <p:nvSpPr>
          <p:cNvPr id="2365" name="Google Shape;2365;p9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2366" name="Google Shape;2366;p91"/>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12.24</a:t>
            </a:r>
            <a:endParaRPr/>
          </a:p>
        </p:txBody>
      </p:sp>
      <p:sp>
        <p:nvSpPr>
          <p:cNvPr id="2367" name="Google Shape;2367;p91"/>
          <p:cNvSpPr txBox="1"/>
          <p:nvPr/>
        </p:nvSpPr>
        <p:spPr>
          <a:xfrm>
            <a:off x="2985400" y="1731300"/>
            <a:ext cx="5970600" cy="28074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15000"/>
              </a:lnSpc>
              <a:spcBef>
                <a:spcPts val="0"/>
              </a:spcBef>
              <a:spcAft>
                <a:spcPts val="0"/>
              </a:spcAft>
              <a:buClr>
                <a:srgbClr val="666666"/>
              </a:buClr>
              <a:buSzPts val="1600"/>
              <a:buFont typeface="Roboto"/>
              <a:buChar char="●"/>
            </a:pPr>
            <a:r>
              <a:rPr lang="en" sz="1600" b="0" i="0" u="none" strike="noStrike" cap="none">
                <a:solidFill>
                  <a:srgbClr val="666666"/>
                </a:solidFill>
                <a:latin typeface="Roboto"/>
                <a:ea typeface="Roboto"/>
                <a:cs typeface="Roboto"/>
                <a:sym typeface="Roboto"/>
              </a:rPr>
              <a:t>Open the </a:t>
            </a:r>
            <a:r>
              <a:rPr lang="en" sz="1600" b="0" i="0" u="none" strike="noStrike" cap="none">
                <a:solidFill>
                  <a:srgbClr val="FF0000"/>
                </a:solidFill>
                <a:latin typeface="Courier New"/>
                <a:ea typeface="Courier New"/>
                <a:cs typeface="Courier New"/>
                <a:sym typeface="Courier New"/>
              </a:rPr>
              <a:t>Graph</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interface and define a new </a:t>
            </a:r>
            <a:r>
              <a:rPr lang="en" sz="1600" b="0" i="0" u="none" strike="noStrike" cap="none">
                <a:solidFill>
                  <a:srgbClr val="FF0000"/>
                </a:solidFill>
                <a:latin typeface="Courier New"/>
                <a:ea typeface="Courier New"/>
                <a:cs typeface="Courier New"/>
                <a:sym typeface="Courier New"/>
              </a:rPr>
              <a:t>default</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method named </a:t>
            </a:r>
            <a:r>
              <a:rPr lang="en" sz="1600" b="0" i="0" u="none" strike="noStrike" cap="none">
                <a:solidFill>
                  <a:srgbClr val="FF0000"/>
                </a:solidFill>
                <a:latin typeface="Courier New"/>
                <a:ea typeface="Courier New"/>
                <a:cs typeface="Courier New"/>
                <a:sym typeface="Courier New"/>
              </a:rPr>
              <a:t>dfPath</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that declares </a:t>
            </a:r>
            <a:r>
              <a:rPr lang="en" sz="1600" b="1" i="1" u="none" strike="noStrike" cap="none">
                <a:solidFill>
                  <a:srgbClr val="FF0000"/>
                </a:solidFill>
                <a:latin typeface="Roboto"/>
                <a:ea typeface="Roboto"/>
                <a:cs typeface="Roboto"/>
                <a:sym typeface="Roboto"/>
              </a:rPr>
              <a:t>parameters</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for </a:t>
            </a:r>
            <a:r>
              <a:rPr lang="en" sz="1600" b="0" i="0" u="none" strike="noStrike" cap="none">
                <a:solidFill>
                  <a:srgbClr val="FF0000"/>
                </a:solidFill>
                <a:latin typeface="Courier New"/>
                <a:ea typeface="Courier New"/>
                <a:cs typeface="Courier New"/>
                <a:sym typeface="Courier New"/>
              </a:rPr>
              <a:t>start</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and </a:t>
            </a:r>
            <a:r>
              <a:rPr lang="en" sz="1600" b="0" i="0" u="none" strike="noStrike" cap="none">
                <a:solidFill>
                  <a:srgbClr val="FF0000"/>
                </a:solidFill>
                <a:latin typeface="Courier New"/>
                <a:ea typeface="Courier New"/>
                <a:cs typeface="Courier New"/>
                <a:sym typeface="Courier New"/>
              </a:rPr>
              <a:t>end</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values and </a:t>
            </a:r>
            <a:r>
              <a:rPr lang="en" sz="1600" b="1" i="1" u="none" strike="noStrike" cap="none">
                <a:solidFill>
                  <a:srgbClr val="FF0000"/>
                </a:solidFill>
                <a:latin typeface="Roboto"/>
                <a:ea typeface="Roboto"/>
                <a:cs typeface="Roboto"/>
                <a:sym typeface="Roboto"/>
              </a:rPr>
              <a:t>returns </a:t>
            </a:r>
            <a:r>
              <a:rPr lang="en" sz="1600" b="0" i="0" u="none" strike="noStrike" cap="none">
                <a:solidFill>
                  <a:srgbClr val="666666"/>
                </a:solidFill>
                <a:latin typeface="Roboto"/>
                <a:ea typeface="Roboto"/>
                <a:cs typeface="Roboto"/>
                <a:sym typeface="Roboto"/>
              </a:rPr>
              <a:t>a </a:t>
            </a:r>
            <a:r>
              <a:rPr lang="en" sz="1600" b="0" i="0" u="none" strike="noStrike" cap="none">
                <a:solidFill>
                  <a:srgbClr val="FF0000"/>
                </a:solidFill>
                <a:latin typeface="Courier New"/>
                <a:ea typeface="Courier New"/>
                <a:cs typeface="Courier New"/>
                <a:sym typeface="Courier New"/>
              </a:rPr>
              <a:t>java.util.List&lt;E&gt;</a:t>
            </a:r>
            <a:r>
              <a:rPr lang="en" sz="1600" b="0" i="0" u="none" strike="noStrike" cap="none">
                <a:solidFill>
                  <a:srgbClr val="666666"/>
                </a:solidFill>
                <a:latin typeface="Roboto"/>
                <a:ea typeface="Roboto"/>
                <a:cs typeface="Roboto"/>
                <a:sym typeface="Roboto"/>
              </a:rPr>
              <a:t>.</a:t>
            </a:r>
            <a:endParaRPr sz="1600" b="0" i="0" u="none" strike="noStrike" cap="none">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b="0" i="0" u="none" strike="noStrike" cap="none">
                <a:solidFill>
                  <a:srgbClr val="666666"/>
                </a:solidFill>
                <a:latin typeface="Roboto"/>
                <a:ea typeface="Roboto"/>
                <a:cs typeface="Roboto"/>
                <a:sym typeface="Roboto"/>
              </a:rPr>
              <a:t>Use the provided UML as a guide for your method signature.</a:t>
            </a:r>
            <a:endParaRPr b="0" i="0" u="none" strike="noStrike" cap="none">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b="0" i="0" u="none" strike="noStrike" cap="none">
                <a:solidFill>
                  <a:srgbClr val="666666"/>
                </a:solidFill>
                <a:latin typeface="Roboto"/>
                <a:ea typeface="Roboto"/>
                <a:cs typeface="Roboto"/>
                <a:sym typeface="Roboto"/>
              </a:rPr>
              <a:t>Throw an </a:t>
            </a:r>
            <a:r>
              <a:rPr lang="en" b="0" i="0" u="none" strike="noStrike" cap="none">
                <a:solidFill>
                  <a:srgbClr val="FF0000"/>
                </a:solidFill>
                <a:latin typeface="Courier New"/>
                <a:ea typeface="Courier New"/>
                <a:cs typeface="Courier New"/>
                <a:sym typeface="Courier New"/>
              </a:rPr>
              <a:t>UnsupportedOperationException</a:t>
            </a:r>
            <a:r>
              <a:rPr lang="en" b="0" i="0" u="none" strike="noStrike" cap="none">
                <a:solidFill>
                  <a:srgbClr val="FF0000"/>
                </a:solidFill>
                <a:latin typeface="Roboto"/>
                <a:ea typeface="Roboto"/>
                <a:cs typeface="Roboto"/>
                <a:sym typeface="Roboto"/>
              </a:rPr>
              <a:t> </a:t>
            </a:r>
            <a:r>
              <a:rPr lang="en" b="0" i="0" u="none" strike="noStrike" cap="none">
                <a:solidFill>
                  <a:srgbClr val="666666"/>
                </a:solidFill>
                <a:latin typeface="Roboto"/>
                <a:ea typeface="Roboto"/>
                <a:cs typeface="Roboto"/>
                <a:sym typeface="Roboto"/>
              </a:rPr>
              <a:t>from this default implementation.</a:t>
            </a:r>
            <a:endParaRPr b="0" i="0" u="none" strike="noStrike" cap="none">
              <a:solidFill>
                <a:srgbClr val="666666"/>
              </a:solidFill>
              <a:latin typeface="Roboto"/>
              <a:ea typeface="Roboto"/>
              <a:cs typeface="Roboto"/>
              <a:sym typeface="Roboto"/>
            </a:endParaRPr>
          </a:p>
          <a:p>
            <a:pPr marL="457200" marR="0" lvl="0" indent="-330200" algn="l" rtl="0">
              <a:lnSpc>
                <a:spcPct val="115000"/>
              </a:lnSpc>
              <a:spcBef>
                <a:spcPts val="0"/>
              </a:spcBef>
              <a:spcAft>
                <a:spcPts val="0"/>
              </a:spcAft>
              <a:buClr>
                <a:srgbClr val="666666"/>
              </a:buClr>
              <a:buSzPts val="1600"/>
              <a:buFont typeface="Roboto"/>
              <a:buChar char="●"/>
            </a:pPr>
            <a:r>
              <a:rPr lang="en" sz="1600" b="1" i="1" u="none" strike="noStrike" cap="none">
                <a:solidFill>
                  <a:srgbClr val="FF0000"/>
                </a:solidFill>
                <a:latin typeface="Roboto"/>
                <a:ea typeface="Roboto"/>
                <a:cs typeface="Roboto"/>
                <a:sym typeface="Roboto"/>
              </a:rPr>
              <a:t>Run</a:t>
            </a:r>
            <a:r>
              <a:rPr lang="en" sz="1600" b="0" i="0" u="none" strike="noStrike" cap="none">
                <a:solidFill>
                  <a:srgbClr val="FF0000"/>
                </a:solidFill>
                <a:latin typeface="Roboto"/>
                <a:ea typeface="Roboto"/>
                <a:cs typeface="Roboto"/>
                <a:sym typeface="Roboto"/>
              </a:rPr>
              <a:t> </a:t>
            </a:r>
            <a:r>
              <a:rPr lang="en" sz="1600" b="0" i="0" u="none" strike="noStrike" cap="none">
                <a:solidFill>
                  <a:srgbClr val="666666"/>
                </a:solidFill>
                <a:latin typeface="Roboto"/>
                <a:ea typeface="Roboto"/>
                <a:cs typeface="Roboto"/>
                <a:sym typeface="Roboto"/>
              </a:rPr>
              <a:t>the provided </a:t>
            </a:r>
            <a:r>
              <a:rPr lang="en" sz="1600" b="0" i="0" u="none" strike="noStrike" cap="none">
                <a:solidFill>
                  <a:srgbClr val="FF0000"/>
                </a:solidFill>
                <a:latin typeface="Courier New"/>
                <a:ea typeface="Courier New"/>
                <a:cs typeface="Courier New"/>
                <a:sym typeface="Courier New"/>
              </a:rPr>
              <a:t>DFPathTest</a:t>
            </a:r>
            <a:r>
              <a:rPr lang="en" sz="1600" b="0" i="0" u="none" strike="noStrike" cap="none">
                <a:solidFill>
                  <a:srgbClr val="666666"/>
                </a:solidFill>
                <a:latin typeface="Roboto"/>
                <a:ea typeface="Roboto"/>
                <a:cs typeface="Roboto"/>
                <a:sym typeface="Roboto"/>
              </a:rPr>
              <a:t> JUnit test.</a:t>
            </a:r>
            <a:endParaRPr sz="1600" b="0" i="0" u="none" strike="noStrike" cap="none">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b="0" i="0" u="none" strike="noStrike" cap="none">
                <a:solidFill>
                  <a:srgbClr val="666666"/>
                </a:solidFill>
                <a:latin typeface="Roboto"/>
                <a:ea typeface="Roboto"/>
                <a:cs typeface="Roboto"/>
                <a:sym typeface="Roboto"/>
              </a:rPr>
              <a:t>The tests should </a:t>
            </a:r>
            <a:r>
              <a:rPr lang="en" b="1" i="1" u="none" strike="noStrike" cap="none">
                <a:solidFill>
                  <a:srgbClr val="FF0000"/>
                </a:solidFill>
                <a:latin typeface="Roboto"/>
                <a:ea typeface="Roboto"/>
                <a:cs typeface="Roboto"/>
                <a:sym typeface="Roboto"/>
              </a:rPr>
              <a:t>run</a:t>
            </a:r>
            <a:r>
              <a:rPr lang="en" b="0" i="0" u="none" strike="noStrike" cap="none">
                <a:solidFill>
                  <a:srgbClr val="666666"/>
                </a:solidFill>
                <a:latin typeface="Roboto"/>
                <a:ea typeface="Roboto"/>
                <a:cs typeface="Roboto"/>
                <a:sym typeface="Roboto"/>
              </a:rPr>
              <a:t>, but will </a:t>
            </a:r>
            <a:r>
              <a:rPr lang="en" b="1" i="1" u="none" strike="noStrike" cap="none">
                <a:solidFill>
                  <a:srgbClr val="FF0000"/>
                </a:solidFill>
                <a:latin typeface="Roboto"/>
                <a:ea typeface="Roboto"/>
                <a:cs typeface="Roboto"/>
                <a:sym typeface="Roboto"/>
              </a:rPr>
              <a:t>fail</a:t>
            </a:r>
            <a:r>
              <a:rPr lang="en" b="0" i="0" u="none" strike="noStrike" cap="none">
                <a:solidFill>
                  <a:srgbClr val="FF0000"/>
                </a:solidFill>
                <a:latin typeface="Roboto"/>
                <a:ea typeface="Roboto"/>
                <a:cs typeface="Roboto"/>
                <a:sym typeface="Roboto"/>
              </a:rPr>
              <a:t> </a:t>
            </a:r>
            <a:r>
              <a:rPr lang="en" b="0" i="0" u="none" strike="noStrike" cap="none">
                <a:solidFill>
                  <a:srgbClr val="666666"/>
                </a:solidFill>
                <a:latin typeface="Roboto"/>
                <a:ea typeface="Roboto"/>
                <a:cs typeface="Roboto"/>
                <a:sym typeface="Roboto"/>
              </a:rPr>
              <a:t>when the exception is thrown.</a:t>
            </a:r>
            <a:endParaRPr b="0" i="0" u="none" strike="noStrike" cap="none">
              <a:solidFill>
                <a:srgbClr val="666666"/>
              </a:solidFill>
              <a:latin typeface="Roboto"/>
              <a:ea typeface="Roboto"/>
              <a:cs typeface="Roboto"/>
              <a:sym typeface="Roboto"/>
            </a:endParaRPr>
          </a:p>
        </p:txBody>
      </p:sp>
      <p:graphicFrame>
        <p:nvGraphicFramePr>
          <p:cNvPr id="2368" name="Google Shape;2368;p91"/>
          <p:cNvGraphicFramePr/>
          <p:nvPr/>
        </p:nvGraphicFramePr>
        <p:xfrm>
          <a:off x="174250" y="1847850"/>
          <a:ext cx="3000000" cy="3000000"/>
        </p:xfrm>
        <a:graphic>
          <a:graphicData uri="http://schemas.openxmlformats.org/drawingml/2006/table">
            <a:tbl>
              <a:tblPr>
                <a:noFill/>
                <a:tableStyleId>{F61E8307-4E6B-4154-8BF4-D3231BAD3CED}</a:tableStyleId>
              </a:tblPr>
              <a:tblGrid>
                <a:gridCol w="2805850">
                  <a:extLst>
                    <a:ext uri="{9D8B030D-6E8A-4147-A177-3AD203B41FA5}">
                      <a16:colId xmlns:a16="http://schemas.microsoft.com/office/drawing/2014/main" val="20000"/>
                    </a:ext>
                  </a:extLst>
                </a:gridCol>
              </a:tblGrid>
              <a:tr h="257275">
                <a:tc>
                  <a:txBody>
                    <a:bodyPr/>
                    <a:lstStyle/>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&lt;&lt;interface&gt;&gt;</a:t>
                      </a:r>
                      <a:endParaRPr sz="1000"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Graph&lt;E&gt;</a:t>
                      </a: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endParaRPr sz="10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78850">
                <a:tc>
                  <a:txBody>
                    <a:bodyPr/>
                    <a:lstStyle/>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add(value: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contains(value: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size(): int</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connectUndirected(a: E, b: E)</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i="1" u="none" strike="noStrike" cap="none">
                          <a:latin typeface="Consolas"/>
                          <a:ea typeface="Consolas"/>
                          <a:cs typeface="Consolas"/>
                          <a:sym typeface="Consolas"/>
                        </a:rPr>
                        <a:t>+ connected(a: E, b: E): boolean</a:t>
                      </a:r>
                      <a:endParaRPr sz="10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bfSearch(start: E, end: E): boolean</a:t>
                      </a:r>
                      <a:endParaRPr sz="10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bfPath(start: E, end: E): List&lt;E&gt;</a:t>
                      </a:r>
                      <a:endParaRPr sz="10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dfSearch(start: E, end: E): boolean</a:t>
                      </a:r>
                      <a:endParaRPr sz="10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dfPath(start: E, end: E): List&lt;E&gt;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369" name="Google Shape;2369;p9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Our current DFS implementation will return true if a path </a:t>
            </a:r>
            <a:r>
              <a:rPr lang="en" i="1"/>
              <a:t>exists</a:t>
            </a:r>
            <a:r>
              <a:rPr lang="en"/>
              <a:t>, but like the initial BFS implementation it doesn't tell us what the path </a:t>
            </a:r>
            <a:r>
              <a:rPr lang="en" i="1"/>
              <a:t>is</a:t>
            </a:r>
            <a:r>
              <a:rPr lang="en"/>
              <a:t>. Let's add a default method to the Graph interface that we can override to return the values along a DFS-path (if it exists).</a:t>
            </a:r>
            <a:endParaRPr/>
          </a:p>
        </p:txBody>
      </p:sp>
      <p:sp>
        <p:nvSpPr>
          <p:cNvPr id="2370" name="Google Shape;2370;p9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One More Update to </a:t>
            </a:r>
            <a:r>
              <a:rPr lang="en">
                <a:latin typeface="Courier New"/>
                <a:ea typeface="Courier New"/>
                <a:cs typeface="Courier New"/>
                <a:sym typeface="Courier New"/>
              </a:rPr>
              <a:t>Graph</a:t>
            </a:r>
            <a:endParaRPr>
              <a:latin typeface="Courier New"/>
              <a:ea typeface="Courier New"/>
              <a:cs typeface="Courier New"/>
              <a:sym typeface="Courier New"/>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374"/>
        <p:cNvGrpSpPr/>
        <p:nvPr/>
      </p:nvGrpSpPr>
      <p:grpSpPr>
        <a:xfrm>
          <a:off x="0" y="0"/>
          <a:ext cx="0" cy="0"/>
          <a:chOff x="0" y="0"/>
          <a:chExt cx="0" cy="0"/>
        </a:xfrm>
      </p:grpSpPr>
      <p:sp>
        <p:nvSpPr>
          <p:cNvPr id="2375" name="Google Shape;2375;p92"/>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Beginning Depth-First Path</a:t>
            </a:r>
            <a:endParaRPr/>
          </a:p>
        </p:txBody>
      </p:sp>
      <p:sp>
        <p:nvSpPr>
          <p:cNvPr id="2376" name="Google Shape;2376;p92"/>
          <p:cNvSpPr txBox="1">
            <a:spLocks noGrp="1"/>
          </p:cNvSpPr>
          <p:nvPr>
            <p:ph type="body" idx="1"/>
          </p:nvPr>
        </p:nvSpPr>
        <p:spPr>
          <a:xfrm>
            <a:off x="65250" y="731625"/>
            <a:ext cx="8955900" cy="114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600"/>
              <a:buNone/>
            </a:pPr>
            <a:r>
              <a:rPr lang="en"/>
              <a:t>As with the numerous algorithms that we have implemented so far in this unit, we will begin implementing the DFS-Path algorithm by retrieving the start and end vertices and creating the necessary data structures.</a:t>
            </a:r>
            <a:endParaRPr/>
          </a:p>
        </p:txBody>
      </p:sp>
      <p:sp>
        <p:nvSpPr>
          <p:cNvPr id="2377" name="Google Shape;2377;p9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
        <p:nvSpPr>
          <p:cNvPr id="2378" name="Google Shape;2378;p92"/>
          <p:cNvSpPr txBox="1">
            <a:spLocks noGrp="1"/>
          </p:cNvSpPr>
          <p:nvPr>
            <p:ph type="body" idx="2"/>
          </p:nvPr>
        </p:nvSpPr>
        <p:spPr>
          <a:xfrm>
            <a:off x="2800100" y="1774625"/>
            <a:ext cx="6066000" cy="28287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AdjacencyGraph</a:t>
            </a:r>
            <a:r>
              <a:rPr lang="en" sz="1400">
                <a:solidFill>
                  <a:srgbClr val="FF0000"/>
                </a:solidFill>
              </a:rPr>
              <a:t> </a:t>
            </a:r>
            <a:r>
              <a:rPr lang="en" sz="1400"/>
              <a:t>class and </a:t>
            </a:r>
            <a:r>
              <a:rPr lang="en" sz="1400" b="1" i="1">
                <a:solidFill>
                  <a:srgbClr val="FF0000"/>
                </a:solidFill>
              </a:rPr>
              <a:t>override</a:t>
            </a:r>
            <a:r>
              <a:rPr lang="en" sz="1400">
                <a:solidFill>
                  <a:srgbClr val="FF0000"/>
                </a:solidFill>
              </a:rPr>
              <a:t> </a:t>
            </a:r>
            <a:r>
              <a:rPr lang="en" sz="1400"/>
              <a:t>the default implementation of </a:t>
            </a:r>
            <a:r>
              <a:rPr lang="en" sz="1400">
                <a:solidFill>
                  <a:srgbClr val="FF0000"/>
                </a:solidFill>
                <a:latin typeface="Courier New"/>
                <a:ea typeface="Courier New"/>
                <a:cs typeface="Courier New"/>
                <a:sym typeface="Courier New"/>
              </a:rPr>
              <a:t>dfPath</a:t>
            </a:r>
            <a:r>
              <a:rPr lang="en" sz="1400">
                <a:solidFill>
                  <a:srgbClr val="FF0000"/>
                </a:solidFill>
              </a:rPr>
              <a:t> </a:t>
            </a:r>
            <a:r>
              <a:rPr lang="en" sz="1400"/>
              <a:t>inherited from the </a:t>
            </a:r>
            <a:r>
              <a:rPr lang="en" sz="1400">
                <a:latin typeface="Courier New"/>
                <a:ea typeface="Courier New"/>
                <a:cs typeface="Courier New"/>
                <a:sym typeface="Courier New"/>
              </a:rPr>
              <a:t>Graph</a:t>
            </a:r>
            <a:r>
              <a:rPr lang="en" sz="1400"/>
              <a:t> interface.</a:t>
            </a:r>
            <a:endParaRPr sz="1400"/>
          </a:p>
          <a:p>
            <a:pPr marL="457200" lvl="0" indent="-317500" algn="l" rtl="0">
              <a:lnSpc>
                <a:spcPct val="115000"/>
              </a:lnSpc>
              <a:spcBef>
                <a:spcPts val="0"/>
              </a:spcBef>
              <a:spcAft>
                <a:spcPts val="0"/>
              </a:spcAft>
              <a:buSzPts val="1400"/>
              <a:buChar char="●"/>
            </a:pPr>
            <a:r>
              <a:rPr lang="en" sz="1400"/>
              <a:t>Focus on the setup for the algorithm.</a:t>
            </a:r>
            <a:endParaRPr sz="1400"/>
          </a:p>
          <a:p>
            <a:pPr marL="914400" lvl="1" indent="-304800" algn="l" rtl="0">
              <a:lnSpc>
                <a:spcPct val="115000"/>
              </a:lnSpc>
              <a:spcBef>
                <a:spcPts val="0"/>
              </a:spcBef>
              <a:spcAft>
                <a:spcPts val="0"/>
              </a:spcAft>
              <a:buSzPts val="1200"/>
              <a:buChar char="○"/>
            </a:pPr>
            <a:r>
              <a:rPr lang="en" sz="1200"/>
              <a:t>Get the vertices corresponding to the </a:t>
            </a:r>
            <a:r>
              <a:rPr lang="en" sz="1200">
                <a:solidFill>
                  <a:srgbClr val="FF0000"/>
                </a:solidFill>
                <a:latin typeface="Courier New"/>
                <a:ea typeface="Courier New"/>
                <a:cs typeface="Courier New"/>
                <a:sym typeface="Courier New"/>
              </a:rPr>
              <a:t>start</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end</a:t>
            </a:r>
            <a:r>
              <a:rPr lang="en" sz="1200">
                <a:solidFill>
                  <a:srgbClr val="FF0000"/>
                </a:solidFill>
              </a:rPr>
              <a:t> </a:t>
            </a:r>
            <a:r>
              <a:rPr lang="en" sz="1200"/>
              <a:t>values from the graph's map of </a:t>
            </a:r>
            <a:r>
              <a:rPr lang="en" sz="1200">
                <a:solidFill>
                  <a:srgbClr val="FF0000"/>
                </a:solidFill>
                <a:latin typeface="Courier New"/>
                <a:ea typeface="Courier New"/>
                <a:cs typeface="Courier New"/>
                <a:sym typeface="Courier New"/>
              </a:rPr>
              <a:t>vertices</a:t>
            </a:r>
            <a:r>
              <a:rPr lang="en" sz="1200"/>
              <a:t>.</a:t>
            </a:r>
            <a:endParaRPr sz="1200"/>
          </a:p>
          <a:p>
            <a:pPr marL="914400" lvl="1" indent="-304800" algn="l" rtl="0">
              <a:lnSpc>
                <a:spcPct val="115000"/>
              </a:lnSpc>
              <a:spcBef>
                <a:spcPts val="0"/>
              </a:spcBef>
              <a:spcAft>
                <a:spcPts val="0"/>
              </a:spcAft>
              <a:buSzPts val="1200"/>
              <a:buChar char="○"/>
            </a:pPr>
            <a:r>
              <a:rPr lang="en" sz="1200"/>
              <a:t>Create the </a:t>
            </a:r>
            <a:r>
              <a:rPr lang="en" sz="1200" b="1" i="1">
                <a:solidFill>
                  <a:srgbClr val="FF0000"/>
                </a:solidFill>
              </a:rPr>
              <a:t>set</a:t>
            </a:r>
            <a:r>
              <a:rPr lang="en" sz="1200">
                <a:solidFill>
                  <a:srgbClr val="FF0000"/>
                </a:solidFill>
              </a:rPr>
              <a:t> </a:t>
            </a:r>
            <a:r>
              <a:rPr lang="en" sz="1200"/>
              <a:t>of previously </a:t>
            </a:r>
            <a:r>
              <a:rPr lang="en" sz="1200" b="1" i="1">
                <a:solidFill>
                  <a:srgbClr val="FF0000"/>
                </a:solidFill>
              </a:rPr>
              <a:t>visited</a:t>
            </a:r>
            <a:r>
              <a:rPr lang="en" sz="1200">
                <a:solidFill>
                  <a:srgbClr val="FF0000"/>
                </a:solidFill>
              </a:rPr>
              <a:t> </a:t>
            </a:r>
            <a:r>
              <a:rPr lang="en" sz="1200"/>
              <a:t>vertices</a:t>
            </a:r>
            <a:r>
              <a:rPr lang="en" sz="1200" b="1" i="1">
                <a:solidFill>
                  <a:srgbClr val="FF0000"/>
                </a:solidFill>
              </a:rPr>
              <a:t> </a:t>
            </a:r>
            <a:r>
              <a:rPr lang="en" sz="1200"/>
              <a:t>(</a:t>
            </a:r>
            <a:r>
              <a:rPr lang="en" sz="1200">
                <a:solidFill>
                  <a:srgbClr val="FF0000"/>
                </a:solidFill>
                <a:latin typeface="Courier New"/>
                <a:ea typeface="Courier New"/>
                <a:cs typeface="Courier New"/>
                <a:sym typeface="Courier New"/>
              </a:rPr>
              <a:t>java.util.HashSet</a:t>
            </a:r>
            <a:r>
              <a:rPr lang="en" sz="1200"/>
              <a:t>) and add the starting vertex.</a:t>
            </a:r>
            <a:endParaRPr sz="1200"/>
          </a:p>
          <a:p>
            <a:pPr marL="1371600" lvl="2" indent="-304800" algn="l" rtl="0">
              <a:lnSpc>
                <a:spcPct val="115000"/>
              </a:lnSpc>
              <a:spcBef>
                <a:spcPts val="0"/>
              </a:spcBef>
              <a:spcAft>
                <a:spcPts val="0"/>
              </a:spcAft>
              <a:buSzPts val="1200"/>
              <a:buChar char="■"/>
            </a:pPr>
            <a:r>
              <a:rPr lang="en" sz="1200" b="1" i="1">
                <a:solidFill>
                  <a:srgbClr val="FF0000"/>
                </a:solidFill>
              </a:rPr>
              <a:t>Hint</a:t>
            </a:r>
            <a:r>
              <a:rPr lang="en" sz="1200"/>
              <a:t>: copy/paste your code from </a:t>
            </a:r>
            <a:r>
              <a:rPr lang="en" sz="1200">
                <a:latin typeface="Courier New"/>
                <a:ea typeface="Courier New"/>
                <a:cs typeface="Courier New"/>
                <a:sym typeface="Courier New"/>
              </a:rPr>
              <a:t>dfSearch</a:t>
            </a:r>
            <a:r>
              <a:rPr lang="en" sz="1200"/>
              <a:t>.</a:t>
            </a:r>
            <a:endParaRPr sz="1200"/>
          </a:p>
          <a:p>
            <a:pPr marL="457200" lvl="0" indent="-317500" algn="l" rtl="0">
              <a:lnSpc>
                <a:spcPct val="115000"/>
              </a:lnSpc>
              <a:spcBef>
                <a:spcPts val="0"/>
              </a:spcBef>
              <a:spcAft>
                <a:spcPts val="0"/>
              </a:spcAft>
              <a:buSzPts val="1400"/>
              <a:buChar char="●"/>
            </a:pPr>
            <a:r>
              <a:rPr lang="en" sz="1400"/>
              <a:t>For now, just </a:t>
            </a:r>
            <a:r>
              <a:rPr lang="en" sz="1400" b="1" i="1">
                <a:solidFill>
                  <a:srgbClr val="FF0000"/>
                </a:solidFill>
              </a:rPr>
              <a:t>return </a:t>
            </a:r>
            <a:r>
              <a:rPr lang="en" sz="1400">
                <a:solidFill>
                  <a:srgbClr val="FF0000"/>
                </a:solidFill>
                <a:latin typeface="Courier New"/>
                <a:ea typeface="Courier New"/>
                <a:cs typeface="Courier New"/>
                <a:sym typeface="Courier New"/>
              </a:rPr>
              <a:t>null</a:t>
            </a:r>
            <a:r>
              <a:rPr lang="en" sz="1400"/>
              <a:t>.</a:t>
            </a:r>
            <a:endParaRPr sz="1400"/>
          </a:p>
          <a:p>
            <a:pPr marL="457200" lvl="0" indent="-317500" algn="l" rtl="0">
              <a:lnSpc>
                <a:spcPct val="115000"/>
              </a:lnSpc>
              <a:spcBef>
                <a:spcPts val="0"/>
              </a:spcBef>
              <a:spcAft>
                <a:spcPts val="0"/>
              </a:spcAft>
              <a:buSzPts val="1400"/>
              <a:buChar char="●"/>
            </a:pPr>
            <a:r>
              <a:rPr lang="en" sz="1400" b="1" i="1">
                <a:solidFill>
                  <a:srgbClr val="FF0000"/>
                </a:solidFill>
              </a:rPr>
              <a:t>Test</a:t>
            </a:r>
            <a:r>
              <a:rPr lang="en" sz="1400">
                <a:solidFill>
                  <a:srgbClr val="FF0000"/>
                </a:solidFill>
              </a:rPr>
              <a:t> </a:t>
            </a:r>
            <a:r>
              <a:rPr lang="en" sz="1400"/>
              <a:t>your partially implemented algorithm using the provided </a:t>
            </a:r>
            <a:r>
              <a:rPr lang="en" sz="1400">
                <a:solidFill>
                  <a:srgbClr val="FF0000"/>
                </a:solidFill>
                <a:latin typeface="Courier New"/>
                <a:ea typeface="Courier New"/>
                <a:cs typeface="Courier New"/>
                <a:sym typeface="Courier New"/>
              </a:rPr>
              <a:t>DFPathTest</a:t>
            </a:r>
            <a:r>
              <a:rPr lang="en" sz="1400"/>
              <a:t>.</a:t>
            </a:r>
            <a:endParaRPr sz="1400"/>
          </a:p>
          <a:p>
            <a:pPr marL="914400" lvl="1" indent="-304800" algn="l" rtl="0">
              <a:lnSpc>
                <a:spcPct val="115000"/>
              </a:lnSpc>
              <a:spcBef>
                <a:spcPts val="0"/>
              </a:spcBef>
              <a:spcAft>
                <a:spcPts val="0"/>
              </a:spcAft>
              <a:buSzPts val="1200"/>
              <a:buChar char="○"/>
            </a:pPr>
            <a:r>
              <a:rPr lang="en" sz="1200" b="1" i="1">
                <a:solidFill>
                  <a:srgbClr val="FF0000"/>
                </a:solidFill>
              </a:rPr>
              <a:t>Some </a:t>
            </a:r>
            <a:r>
              <a:rPr lang="en" sz="1200"/>
              <a:t>of the tests should now </a:t>
            </a:r>
            <a:r>
              <a:rPr lang="en" sz="1200" b="1" i="1">
                <a:solidFill>
                  <a:srgbClr val="FF0000"/>
                </a:solidFill>
              </a:rPr>
              <a:t>pass</a:t>
            </a:r>
            <a:r>
              <a:rPr lang="en" sz="1200"/>
              <a:t>.</a:t>
            </a:r>
            <a:endParaRPr sz="1200"/>
          </a:p>
        </p:txBody>
      </p:sp>
      <p:sp>
        <p:nvSpPr>
          <p:cNvPr id="2379" name="Google Shape;2379;p92"/>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12.25</a:t>
            </a:r>
            <a:endParaRPr/>
          </a:p>
        </p:txBody>
      </p:sp>
      <p:grpSp>
        <p:nvGrpSpPr>
          <p:cNvPr id="2380" name="Google Shape;2380;p92"/>
          <p:cNvGrpSpPr/>
          <p:nvPr/>
        </p:nvGrpSpPr>
        <p:grpSpPr>
          <a:xfrm>
            <a:off x="119466" y="1949181"/>
            <a:ext cx="2380778" cy="2101576"/>
            <a:chOff x="119466" y="1644381"/>
            <a:chExt cx="2380778" cy="2101576"/>
          </a:xfrm>
        </p:grpSpPr>
        <p:sp>
          <p:nvSpPr>
            <p:cNvPr id="2381" name="Google Shape;2381;p92"/>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382" name="Google Shape;2382;p92"/>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383" name="Google Shape;2383;p92"/>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384" name="Google Shape;2384;p92"/>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385" name="Google Shape;2385;p92"/>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386" name="Google Shape;2386;p92"/>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387" name="Google Shape;2387;p92"/>
            <p:cNvCxnSpPr>
              <a:stCxn id="2381" idx="2"/>
              <a:endCxn id="2383"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388" name="Google Shape;2388;p92"/>
            <p:cNvCxnSpPr>
              <a:stCxn id="2383" idx="5"/>
              <a:endCxn id="2385"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389" name="Google Shape;2389;p92"/>
            <p:cNvCxnSpPr>
              <a:stCxn id="2385" idx="3"/>
              <a:endCxn id="2384"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390" name="Google Shape;2390;p92"/>
            <p:cNvCxnSpPr>
              <a:stCxn id="2384" idx="6"/>
              <a:endCxn id="2386"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391" name="Google Shape;2391;p92"/>
            <p:cNvCxnSpPr>
              <a:stCxn id="2386" idx="0"/>
              <a:endCxn id="2385"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392" name="Google Shape;2392;p92"/>
            <p:cNvCxnSpPr>
              <a:stCxn id="2385" idx="7"/>
              <a:endCxn id="2382"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393" name="Google Shape;2393;p92"/>
            <p:cNvCxnSpPr>
              <a:stCxn id="2382" idx="4"/>
              <a:endCxn id="2386"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397"/>
        <p:cNvGrpSpPr/>
        <p:nvPr/>
      </p:nvGrpSpPr>
      <p:grpSpPr>
        <a:xfrm>
          <a:off x="0" y="0"/>
          <a:ext cx="0" cy="0"/>
          <a:chOff x="0" y="0"/>
          <a:chExt cx="0" cy="0"/>
        </a:xfrm>
      </p:grpSpPr>
      <p:sp>
        <p:nvSpPr>
          <p:cNvPr id="2398" name="Google Shape;2398;p93"/>
          <p:cNvSpPr txBox="1">
            <a:spLocks noGrp="1"/>
          </p:cNvSpPr>
          <p:nvPr>
            <p:ph type="title"/>
          </p:nvPr>
        </p:nvSpPr>
        <p:spPr>
          <a:xfrm>
            <a:off x="1436850" y="100"/>
            <a:ext cx="7642500" cy="59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Complete Depth-First Path</a:t>
            </a:r>
            <a:endParaRPr/>
          </a:p>
        </p:txBody>
      </p:sp>
      <p:sp>
        <p:nvSpPr>
          <p:cNvPr id="2399" name="Google Shape;2399;p93"/>
          <p:cNvSpPr txBox="1">
            <a:spLocks noGrp="1"/>
          </p:cNvSpPr>
          <p:nvPr>
            <p:ph type="body" idx="1"/>
          </p:nvPr>
        </p:nvSpPr>
        <p:spPr>
          <a:xfrm>
            <a:off x="65250" y="731625"/>
            <a:ext cx="8955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SzPts val="1600"/>
              <a:buNone/>
            </a:pPr>
            <a:r>
              <a:rPr lang="en"/>
              <a:t>Once again, we will be using recursion to implement the DFS-Path algorithm. As with our implementation of DFS, most of the work will be done by a helper function. Let's complete the algorithm now!</a:t>
            </a:r>
            <a:endParaRPr/>
          </a:p>
        </p:txBody>
      </p:sp>
      <p:sp>
        <p:nvSpPr>
          <p:cNvPr id="2400" name="Google Shape;2400;p9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60</a:t>
            </a:fld>
            <a:endParaRPr/>
          </a:p>
        </p:txBody>
      </p:sp>
      <p:sp>
        <p:nvSpPr>
          <p:cNvPr id="2401" name="Google Shape;2401;p93"/>
          <p:cNvSpPr txBox="1">
            <a:spLocks noGrp="1"/>
          </p:cNvSpPr>
          <p:nvPr>
            <p:ph type="body" idx="2"/>
          </p:nvPr>
        </p:nvSpPr>
        <p:spPr>
          <a:xfrm>
            <a:off x="2822575" y="1504025"/>
            <a:ext cx="6028800" cy="30978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Like the DFS algorithm, most of the work done by DFS-Path is handled by a helper function. Open </a:t>
            </a:r>
            <a:r>
              <a:rPr lang="en">
                <a:solidFill>
                  <a:srgbClr val="FF0000"/>
                </a:solidFill>
                <a:latin typeface="Courier New"/>
                <a:ea typeface="Courier New"/>
                <a:cs typeface="Courier New"/>
                <a:sym typeface="Courier New"/>
              </a:rPr>
              <a:t>AdjacencyGraph</a:t>
            </a:r>
            <a:r>
              <a:rPr lang="en">
                <a:solidFill>
                  <a:srgbClr val="FF0000"/>
                </a:solidFill>
              </a:rPr>
              <a:t> </a:t>
            </a:r>
            <a:r>
              <a:rPr lang="en"/>
              <a:t>and define a new method called "</a:t>
            </a:r>
            <a:r>
              <a:rPr lang="en">
                <a:solidFill>
                  <a:srgbClr val="FF0000"/>
                </a:solidFill>
                <a:latin typeface="Courier New"/>
                <a:ea typeface="Courier New"/>
                <a:cs typeface="Courier New"/>
                <a:sym typeface="Courier New"/>
              </a:rPr>
              <a:t>visitDFPath</a:t>
            </a:r>
            <a:r>
              <a:rPr lang="en"/>
              <a:t>" that declares parameters for vertices </a:t>
            </a:r>
            <a:r>
              <a:rPr lang="en" b="1" i="1">
                <a:solidFill>
                  <a:srgbClr val="FF0000"/>
                </a:solidFill>
              </a:rPr>
              <a:t>V</a:t>
            </a:r>
            <a:r>
              <a:rPr lang="en">
                <a:solidFill>
                  <a:srgbClr val="FF0000"/>
                </a:solidFill>
              </a:rPr>
              <a:t> &amp; </a:t>
            </a:r>
            <a:r>
              <a:rPr lang="en" b="1" i="1">
                <a:solidFill>
                  <a:srgbClr val="FF0000"/>
                </a:solidFill>
              </a:rPr>
              <a:t>E</a:t>
            </a:r>
            <a:r>
              <a:rPr lang="en"/>
              <a:t>, and a set of previously </a:t>
            </a:r>
            <a:r>
              <a:rPr lang="en" b="1" i="1">
                <a:solidFill>
                  <a:srgbClr val="FF0000"/>
                </a:solidFill>
              </a:rPr>
              <a:t>visited</a:t>
            </a:r>
            <a:r>
              <a:rPr lang="en">
                <a:solidFill>
                  <a:srgbClr val="FF0000"/>
                </a:solidFill>
              </a:rPr>
              <a:t> </a:t>
            </a:r>
            <a:r>
              <a:rPr lang="en"/>
              <a:t>vertices and returns a </a:t>
            </a:r>
            <a:r>
              <a:rPr lang="en">
                <a:solidFill>
                  <a:srgbClr val="FF0000"/>
                </a:solidFill>
                <a:latin typeface="Courier New"/>
                <a:ea typeface="Courier New"/>
                <a:cs typeface="Courier New"/>
                <a:sym typeface="Courier New"/>
              </a:rPr>
              <a:t>java.util.List&lt;E&gt;</a:t>
            </a:r>
            <a:r>
              <a:rPr lang="en"/>
              <a:t>.</a:t>
            </a:r>
            <a:endParaRPr/>
          </a:p>
          <a:p>
            <a:pPr marL="914400" lvl="1" indent="-298450" algn="l" rtl="0">
              <a:lnSpc>
                <a:spcPct val="115000"/>
              </a:lnSpc>
              <a:spcBef>
                <a:spcPts val="0"/>
              </a:spcBef>
              <a:spcAft>
                <a:spcPts val="0"/>
              </a:spcAft>
              <a:buSzPts val="1100"/>
              <a:buChar char="○"/>
            </a:pPr>
            <a:r>
              <a:rPr lang="en"/>
              <a:t>If </a:t>
            </a:r>
            <a:r>
              <a:rPr lang="en" b="1" i="1">
                <a:solidFill>
                  <a:srgbClr val="FF0000"/>
                </a:solidFill>
              </a:rPr>
              <a:t>V is E</a:t>
            </a:r>
            <a:r>
              <a:rPr lang="en"/>
              <a:t>, return a new </a:t>
            </a:r>
            <a:r>
              <a:rPr lang="en">
                <a:solidFill>
                  <a:srgbClr val="FF0000"/>
                </a:solidFill>
                <a:latin typeface="Courier New"/>
                <a:ea typeface="Courier New"/>
                <a:cs typeface="Courier New"/>
                <a:sym typeface="Courier New"/>
              </a:rPr>
              <a:t>LinkedList</a:t>
            </a:r>
            <a:r>
              <a:rPr lang="en">
                <a:solidFill>
                  <a:srgbClr val="FF0000"/>
                </a:solidFill>
              </a:rPr>
              <a:t> </a:t>
            </a:r>
            <a:r>
              <a:rPr lang="en"/>
              <a:t>containing </a:t>
            </a:r>
            <a:r>
              <a:rPr lang="en" b="1" i="1">
                <a:solidFill>
                  <a:srgbClr val="FF0000"/>
                </a:solidFill>
              </a:rPr>
              <a:t>only E's </a:t>
            </a:r>
            <a:r>
              <a:rPr lang="en" b="1" i="1" u="sng">
                <a:solidFill>
                  <a:srgbClr val="FF0000"/>
                </a:solidFill>
              </a:rPr>
              <a:t>value</a:t>
            </a:r>
            <a:r>
              <a:rPr lang="en"/>
              <a:t>.</a:t>
            </a:r>
            <a:endParaRPr/>
          </a:p>
          <a:p>
            <a:pPr marL="914400" lvl="1" indent="-298450" algn="l" rtl="0">
              <a:lnSpc>
                <a:spcPct val="115000"/>
              </a:lnSpc>
              <a:spcBef>
                <a:spcPts val="0"/>
              </a:spcBef>
              <a:spcAft>
                <a:spcPts val="0"/>
              </a:spcAft>
              <a:buSzPts val="1100"/>
              <a:buChar char="○"/>
            </a:pPr>
            <a:r>
              <a:rPr lang="en"/>
              <a:t>Otherwise, for each neighbor</a:t>
            </a:r>
            <a:r>
              <a:rPr lang="en">
                <a:solidFill>
                  <a:srgbClr val="FF0000"/>
                </a:solidFill>
              </a:rPr>
              <a:t> </a:t>
            </a:r>
            <a:r>
              <a:rPr lang="en" b="1" i="1">
                <a:solidFill>
                  <a:srgbClr val="FF0000"/>
                </a:solidFill>
              </a:rPr>
              <a:t>N</a:t>
            </a:r>
            <a:r>
              <a:rPr lang="en"/>
              <a:t> of </a:t>
            </a:r>
            <a:r>
              <a:rPr lang="en" b="1" i="1">
                <a:solidFill>
                  <a:srgbClr val="FF0000"/>
                </a:solidFill>
              </a:rPr>
              <a:t>V</a:t>
            </a:r>
            <a:r>
              <a:rPr lang="en"/>
              <a:t> that is not already in the </a:t>
            </a:r>
            <a:r>
              <a:rPr lang="en" b="1" i="1">
                <a:solidFill>
                  <a:srgbClr val="FF0000"/>
                </a:solidFill>
              </a:rPr>
              <a:t>visited</a:t>
            </a:r>
            <a:r>
              <a:rPr lang="en">
                <a:solidFill>
                  <a:srgbClr val="FF0000"/>
                </a:solidFill>
              </a:rPr>
              <a:t> </a:t>
            </a:r>
            <a:r>
              <a:rPr lang="en"/>
              <a:t>set:</a:t>
            </a:r>
            <a:endParaRPr/>
          </a:p>
          <a:p>
            <a:pPr marL="1371600" lvl="2" indent="-298450" algn="l" rtl="0">
              <a:lnSpc>
                <a:spcPct val="115000"/>
              </a:lnSpc>
              <a:spcBef>
                <a:spcPts val="0"/>
              </a:spcBef>
              <a:spcAft>
                <a:spcPts val="0"/>
              </a:spcAft>
              <a:buSzPts val="1100"/>
              <a:buChar char="■"/>
            </a:pPr>
            <a:r>
              <a:rPr lang="en"/>
              <a:t>Add </a:t>
            </a:r>
            <a:r>
              <a:rPr lang="en" b="1" i="1">
                <a:solidFill>
                  <a:srgbClr val="FF0000"/>
                </a:solidFill>
              </a:rPr>
              <a:t>N</a:t>
            </a:r>
            <a:r>
              <a:rPr lang="en"/>
              <a:t> to the </a:t>
            </a:r>
            <a:r>
              <a:rPr lang="en" b="1" i="1">
                <a:solidFill>
                  <a:srgbClr val="FF0000"/>
                </a:solidFill>
              </a:rPr>
              <a:t>visited</a:t>
            </a:r>
            <a:r>
              <a:rPr lang="en">
                <a:solidFill>
                  <a:srgbClr val="FF0000"/>
                </a:solidFill>
              </a:rPr>
              <a:t> </a:t>
            </a:r>
            <a:r>
              <a:rPr lang="en"/>
              <a:t>set.</a:t>
            </a:r>
            <a:endParaRPr/>
          </a:p>
          <a:p>
            <a:pPr marL="1371600" lvl="2" indent="-298450" algn="l" rtl="0">
              <a:lnSpc>
                <a:spcPct val="115000"/>
              </a:lnSpc>
              <a:spcBef>
                <a:spcPts val="0"/>
              </a:spcBef>
              <a:spcAft>
                <a:spcPts val="0"/>
              </a:spcAft>
              <a:buSzPts val="1100"/>
              <a:buChar char="■"/>
            </a:pPr>
            <a:r>
              <a:rPr lang="en"/>
              <a:t>Make a </a:t>
            </a:r>
            <a:r>
              <a:rPr lang="en" b="1" i="1">
                <a:solidFill>
                  <a:srgbClr val="FF0000"/>
                </a:solidFill>
              </a:rPr>
              <a:t>recursive call</a:t>
            </a:r>
            <a:r>
              <a:rPr lang="en"/>
              <a:t> with the neighbor </a:t>
            </a:r>
            <a:r>
              <a:rPr lang="en" b="1" i="1">
                <a:solidFill>
                  <a:srgbClr val="FF0000"/>
                </a:solidFill>
              </a:rPr>
              <a:t>N</a:t>
            </a:r>
            <a:r>
              <a:rPr lang="en"/>
              <a:t>, </a:t>
            </a:r>
            <a:r>
              <a:rPr lang="en" b="1" i="1">
                <a:solidFill>
                  <a:srgbClr val="FF0000"/>
                </a:solidFill>
              </a:rPr>
              <a:t>E</a:t>
            </a:r>
            <a:r>
              <a:rPr lang="en"/>
              <a:t>, and the </a:t>
            </a:r>
            <a:r>
              <a:rPr lang="en" b="1" i="1">
                <a:solidFill>
                  <a:srgbClr val="FF0000"/>
                </a:solidFill>
              </a:rPr>
              <a:t>visited</a:t>
            </a:r>
            <a:r>
              <a:rPr lang="en">
                <a:solidFill>
                  <a:srgbClr val="FF0000"/>
                </a:solidFill>
              </a:rPr>
              <a:t> </a:t>
            </a:r>
            <a:r>
              <a:rPr lang="en"/>
              <a:t>set.</a:t>
            </a:r>
            <a:endParaRPr/>
          </a:p>
          <a:p>
            <a:pPr marL="1371600" lvl="2" indent="-298450" algn="l" rtl="0">
              <a:lnSpc>
                <a:spcPct val="115000"/>
              </a:lnSpc>
              <a:spcBef>
                <a:spcPts val="0"/>
              </a:spcBef>
              <a:spcAft>
                <a:spcPts val="0"/>
              </a:spcAft>
              <a:buSzPts val="1100"/>
              <a:buChar char="■"/>
            </a:pPr>
            <a:r>
              <a:rPr lang="en"/>
              <a:t>If the recursive call returns a </a:t>
            </a:r>
            <a:r>
              <a:rPr lang="en" b="1" i="1">
                <a:solidFill>
                  <a:srgbClr val="FF0000"/>
                </a:solidFill>
              </a:rPr>
              <a:t>non-</a:t>
            </a:r>
            <a:r>
              <a:rPr lang="en">
                <a:solidFill>
                  <a:srgbClr val="FF0000"/>
                </a:solidFill>
                <a:latin typeface="Courier New"/>
                <a:ea typeface="Courier New"/>
                <a:cs typeface="Courier New"/>
                <a:sym typeface="Courier New"/>
              </a:rPr>
              <a:t>null</a:t>
            </a:r>
            <a:r>
              <a:rPr lang="en">
                <a:solidFill>
                  <a:srgbClr val="FF0000"/>
                </a:solidFill>
              </a:rPr>
              <a:t> </a:t>
            </a:r>
            <a:r>
              <a:rPr lang="en" b="1" i="1">
                <a:solidFill>
                  <a:srgbClr val="FF0000"/>
                </a:solidFill>
              </a:rPr>
              <a:t>path</a:t>
            </a:r>
            <a:r>
              <a:rPr lang="en"/>
              <a:t>:</a:t>
            </a:r>
            <a:endParaRPr/>
          </a:p>
          <a:p>
            <a:pPr marL="1828800" lvl="3" indent="-298450" algn="l" rtl="0">
              <a:lnSpc>
                <a:spcPct val="115000"/>
              </a:lnSpc>
              <a:spcBef>
                <a:spcPts val="0"/>
              </a:spcBef>
              <a:spcAft>
                <a:spcPts val="0"/>
              </a:spcAft>
              <a:buSzPts val="1100"/>
              <a:buChar char="●"/>
            </a:pPr>
            <a:r>
              <a:rPr lang="en"/>
              <a:t>Add </a:t>
            </a:r>
            <a:r>
              <a:rPr lang="en" b="1" i="1">
                <a:solidFill>
                  <a:srgbClr val="FF0000"/>
                </a:solidFill>
              </a:rPr>
              <a:t>V's </a:t>
            </a:r>
            <a:r>
              <a:rPr lang="en" b="1" i="1" u="sng">
                <a:solidFill>
                  <a:srgbClr val="FF0000"/>
                </a:solidFill>
              </a:rPr>
              <a:t>value</a:t>
            </a:r>
            <a:r>
              <a:rPr lang="en"/>
              <a:t> to the </a:t>
            </a:r>
            <a:r>
              <a:rPr lang="en" b="1" i="1">
                <a:solidFill>
                  <a:srgbClr val="FF0000"/>
                </a:solidFill>
              </a:rPr>
              <a:t>front</a:t>
            </a:r>
            <a:r>
              <a:rPr lang="en">
                <a:solidFill>
                  <a:srgbClr val="FF0000"/>
                </a:solidFill>
              </a:rPr>
              <a:t> </a:t>
            </a:r>
            <a:r>
              <a:rPr lang="en"/>
              <a:t>of the path and return it.</a:t>
            </a:r>
            <a:endParaRPr/>
          </a:p>
          <a:p>
            <a:pPr marL="914400" lvl="1" indent="-298450" algn="l" rtl="0">
              <a:lnSpc>
                <a:spcPct val="115000"/>
              </a:lnSpc>
              <a:spcBef>
                <a:spcPts val="0"/>
              </a:spcBef>
              <a:spcAft>
                <a:spcPts val="0"/>
              </a:spcAft>
              <a:buSzPts val="1100"/>
              <a:buChar char="○"/>
            </a:pPr>
            <a:r>
              <a:rPr lang="en"/>
              <a:t>If </a:t>
            </a:r>
            <a:r>
              <a:rPr lang="en" b="1" i="1">
                <a:solidFill>
                  <a:srgbClr val="FF0000"/>
                </a:solidFill>
              </a:rPr>
              <a:t>none</a:t>
            </a:r>
            <a:r>
              <a:rPr lang="en">
                <a:solidFill>
                  <a:srgbClr val="FF0000"/>
                </a:solidFill>
              </a:rPr>
              <a:t> </a:t>
            </a:r>
            <a:r>
              <a:rPr lang="en"/>
              <a:t>of </a:t>
            </a:r>
            <a:r>
              <a:rPr lang="en" b="1" i="1">
                <a:solidFill>
                  <a:srgbClr val="FF0000"/>
                </a:solidFill>
              </a:rPr>
              <a:t>V</a:t>
            </a:r>
            <a:r>
              <a:rPr lang="en"/>
              <a:t>'s neighbors returns a path, then </a:t>
            </a:r>
            <a:r>
              <a:rPr lang="en" b="1" i="1">
                <a:solidFill>
                  <a:srgbClr val="FF0000"/>
                </a:solidFill>
              </a:rPr>
              <a:t>V</a:t>
            </a:r>
            <a:r>
              <a:rPr lang="en"/>
              <a:t> is not on the path. Return </a:t>
            </a:r>
            <a:r>
              <a:rPr lang="en">
                <a:solidFill>
                  <a:srgbClr val="FF0000"/>
                </a:solidFill>
                <a:latin typeface="Courier New"/>
                <a:ea typeface="Courier New"/>
                <a:cs typeface="Courier New"/>
                <a:sym typeface="Courier New"/>
              </a:rPr>
              <a:t>null</a:t>
            </a:r>
            <a:r>
              <a:rPr lang="en"/>
              <a:t>.</a:t>
            </a:r>
            <a:endParaRPr/>
          </a:p>
          <a:p>
            <a:pPr marL="457200" lvl="0" indent="-311150" algn="l" rtl="0">
              <a:lnSpc>
                <a:spcPct val="115000"/>
              </a:lnSpc>
              <a:spcBef>
                <a:spcPts val="0"/>
              </a:spcBef>
              <a:spcAft>
                <a:spcPts val="0"/>
              </a:spcAft>
              <a:buSzPts val="1300"/>
              <a:buChar char="●"/>
            </a:pPr>
            <a:r>
              <a:rPr lang="en" b="1" i="1">
                <a:solidFill>
                  <a:srgbClr val="FF0000"/>
                </a:solidFill>
              </a:rPr>
              <a:t>Update </a:t>
            </a:r>
            <a:r>
              <a:rPr lang="en">
                <a:latin typeface="Courier New"/>
                <a:ea typeface="Courier New"/>
                <a:cs typeface="Courier New"/>
                <a:sym typeface="Courier New"/>
              </a:rPr>
              <a:t>dfPath</a:t>
            </a:r>
            <a:r>
              <a:rPr lang="en"/>
              <a:t> to call </a:t>
            </a:r>
            <a:r>
              <a:rPr lang="en">
                <a:latin typeface="Courier New"/>
                <a:ea typeface="Courier New"/>
                <a:cs typeface="Courier New"/>
                <a:sym typeface="Courier New"/>
              </a:rPr>
              <a:t>visitDFPath</a:t>
            </a:r>
            <a:r>
              <a:rPr lang="en"/>
              <a:t> and </a:t>
            </a:r>
            <a:r>
              <a:rPr lang="en" b="1" i="1">
                <a:solidFill>
                  <a:srgbClr val="FF0000"/>
                </a:solidFill>
              </a:rPr>
              <a:t>return the result</a:t>
            </a:r>
            <a:r>
              <a:rPr lang="en"/>
              <a:t>.</a:t>
            </a:r>
            <a:endParaRPr/>
          </a:p>
          <a:p>
            <a:pPr marL="457200" lvl="0" indent="-311150" algn="l" rtl="0">
              <a:lnSpc>
                <a:spcPct val="115000"/>
              </a:lnSpc>
              <a:spcBef>
                <a:spcPts val="0"/>
              </a:spcBef>
              <a:spcAft>
                <a:spcPts val="0"/>
              </a:spcAft>
              <a:buSzPts val="1300"/>
              <a:buChar char="●"/>
            </a:pPr>
            <a:r>
              <a:rPr lang="en" b="1" i="1">
                <a:solidFill>
                  <a:srgbClr val="FF0000"/>
                </a:solidFill>
              </a:rPr>
              <a:t>Test</a:t>
            </a:r>
            <a:r>
              <a:rPr lang="en">
                <a:solidFill>
                  <a:srgbClr val="FF0000"/>
                </a:solidFill>
              </a:rPr>
              <a:t> </a:t>
            </a:r>
            <a:r>
              <a:rPr lang="en"/>
              <a:t>your algorithm using the provided </a:t>
            </a:r>
            <a:r>
              <a:rPr lang="en">
                <a:solidFill>
                  <a:srgbClr val="FF0000"/>
                </a:solidFill>
                <a:latin typeface="Courier New"/>
                <a:ea typeface="Courier New"/>
                <a:cs typeface="Courier New"/>
                <a:sym typeface="Courier New"/>
              </a:rPr>
              <a:t>DFPathTest</a:t>
            </a:r>
            <a:r>
              <a:rPr lang="en"/>
              <a:t>.</a:t>
            </a:r>
            <a:endParaRPr/>
          </a:p>
          <a:p>
            <a:pPr marL="914400" lvl="1" indent="-298450" algn="l" rtl="0">
              <a:lnSpc>
                <a:spcPct val="115000"/>
              </a:lnSpc>
              <a:spcBef>
                <a:spcPts val="0"/>
              </a:spcBef>
              <a:spcAft>
                <a:spcPts val="0"/>
              </a:spcAft>
              <a:buSzPts val="1100"/>
              <a:buChar char="○"/>
            </a:pPr>
            <a:r>
              <a:rPr lang="en" b="1" i="1">
                <a:solidFill>
                  <a:srgbClr val="FF0000"/>
                </a:solidFill>
              </a:rPr>
              <a:t>All </a:t>
            </a:r>
            <a:r>
              <a:rPr lang="en"/>
              <a:t>of the tests should now </a:t>
            </a:r>
            <a:r>
              <a:rPr lang="en" b="1" i="1">
                <a:solidFill>
                  <a:srgbClr val="FF0000"/>
                </a:solidFill>
              </a:rPr>
              <a:t>pass</a:t>
            </a:r>
            <a:r>
              <a:rPr lang="en"/>
              <a:t>.</a:t>
            </a:r>
            <a:endParaRPr/>
          </a:p>
        </p:txBody>
      </p:sp>
      <p:sp>
        <p:nvSpPr>
          <p:cNvPr id="2402" name="Google Shape;2402;p93"/>
          <p:cNvSpPr txBox="1">
            <a:spLocks noGrp="1"/>
          </p:cNvSpPr>
          <p:nvPr>
            <p:ph type="title" idx="3"/>
          </p:nvPr>
        </p:nvSpPr>
        <p:spPr>
          <a:xfrm>
            <a:off x="65250" y="100"/>
            <a:ext cx="1253700" cy="596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a:t>12.26</a:t>
            </a:r>
            <a:endParaRPr/>
          </a:p>
        </p:txBody>
      </p:sp>
      <p:grpSp>
        <p:nvGrpSpPr>
          <p:cNvPr id="2403" name="Google Shape;2403;p93"/>
          <p:cNvGrpSpPr/>
          <p:nvPr/>
        </p:nvGrpSpPr>
        <p:grpSpPr>
          <a:xfrm>
            <a:off x="119466" y="1796781"/>
            <a:ext cx="2380778" cy="2101576"/>
            <a:chOff x="119466" y="1644381"/>
            <a:chExt cx="2380778" cy="2101576"/>
          </a:xfrm>
        </p:grpSpPr>
        <p:sp>
          <p:nvSpPr>
            <p:cNvPr id="2404" name="Google Shape;2404;p93"/>
            <p:cNvSpPr/>
            <p:nvPr/>
          </p:nvSpPr>
          <p:spPr>
            <a:xfrm>
              <a:off x="1103156" y="1644381"/>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Z</a:t>
              </a:r>
              <a:endParaRPr sz="1400" b="0" i="0" u="none" strike="noStrike" cap="none">
                <a:solidFill>
                  <a:srgbClr val="FFFFFF"/>
                </a:solidFill>
                <a:latin typeface="Arial"/>
                <a:ea typeface="Arial"/>
                <a:cs typeface="Arial"/>
                <a:sym typeface="Arial"/>
              </a:endParaRPr>
            </a:p>
          </p:txBody>
        </p:sp>
        <p:sp>
          <p:nvSpPr>
            <p:cNvPr id="2405" name="Google Shape;2405;p93"/>
            <p:cNvSpPr/>
            <p:nvPr/>
          </p:nvSpPr>
          <p:spPr>
            <a:xfrm>
              <a:off x="2086844" y="2208813"/>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W</a:t>
              </a:r>
              <a:endParaRPr sz="1400" b="0" i="0" u="none" strike="noStrike" cap="none">
                <a:solidFill>
                  <a:srgbClr val="FFFFFF"/>
                </a:solidFill>
                <a:latin typeface="Arial"/>
                <a:ea typeface="Arial"/>
                <a:cs typeface="Arial"/>
                <a:sym typeface="Arial"/>
              </a:endParaRPr>
            </a:p>
          </p:txBody>
        </p:sp>
        <p:sp>
          <p:nvSpPr>
            <p:cNvPr id="2406" name="Google Shape;2406;p93"/>
            <p:cNvSpPr/>
            <p:nvPr/>
          </p:nvSpPr>
          <p:spPr>
            <a:xfrm>
              <a:off x="119466" y="2208762"/>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Y</a:t>
              </a:r>
              <a:endParaRPr sz="1400" b="0" i="0" u="none" strike="noStrike" cap="none">
                <a:solidFill>
                  <a:srgbClr val="FFFFFF"/>
                </a:solidFill>
                <a:latin typeface="Arial"/>
                <a:ea typeface="Arial"/>
                <a:cs typeface="Arial"/>
                <a:sym typeface="Arial"/>
              </a:endParaRPr>
            </a:p>
          </p:txBody>
        </p:sp>
        <p:sp>
          <p:nvSpPr>
            <p:cNvPr id="2407" name="Google Shape;2407;p93"/>
            <p:cNvSpPr/>
            <p:nvPr/>
          </p:nvSpPr>
          <p:spPr>
            <a:xfrm>
              <a:off x="586897" y="3332555"/>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X</a:t>
              </a:r>
              <a:endParaRPr sz="1400" b="0" i="0" u="none" strike="noStrike" cap="none">
                <a:solidFill>
                  <a:srgbClr val="FFFFFF"/>
                </a:solidFill>
                <a:latin typeface="Arial"/>
                <a:ea typeface="Arial"/>
                <a:cs typeface="Arial"/>
                <a:sym typeface="Arial"/>
              </a:endParaRPr>
            </a:p>
          </p:txBody>
        </p:sp>
        <p:sp>
          <p:nvSpPr>
            <p:cNvPr id="2408" name="Google Shape;2408;p93"/>
            <p:cNvSpPr/>
            <p:nvPr/>
          </p:nvSpPr>
          <p:spPr>
            <a:xfrm>
              <a:off x="1103229" y="258941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U</a:t>
              </a:r>
              <a:endParaRPr sz="1400" b="0" i="0" u="none" strike="noStrike" cap="none">
                <a:solidFill>
                  <a:srgbClr val="FFFFFF"/>
                </a:solidFill>
                <a:latin typeface="Arial"/>
                <a:ea typeface="Arial"/>
                <a:cs typeface="Arial"/>
                <a:sym typeface="Arial"/>
              </a:endParaRPr>
            </a:p>
          </p:txBody>
        </p:sp>
        <p:sp>
          <p:nvSpPr>
            <p:cNvPr id="2409" name="Google Shape;2409;p93"/>
            <p:cNvSpPr/>
            <p:nvPr/>
          </p:nvSpPr>
          <p:spPr>
            <a:xfrm>
              <a:off x="1828611" y="3332557"/>
              <a:ext cx="413400" cy="413400"/>
            </a:xfrm>
            <a:prstGeom prst="ellipse">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Arial"/>
                  <a:ea typeface="Arial"/>
                  <a:cs typeface="Arial"/>
                  <a:sym typeface="Arial"/>
                </a:rPr>
                <a:t>V</a:t>
              </a:r>
              <a:endParaRPr sz="1400" b="0" i="0" u="none" strike="noStrike" cap="none">
                <a:solidFill>
                  <a:srgbClr val="FFFFFF"/>
                </a:solidFill>
                <a:latin typeface="Arial"/>
                <a:ea typeface="Arial"/>
                <a:cs typeface="Arial"/>
                <a:sym typeface="Arial"/>
              </a:endParaRPr>
            </a:p>
          </p:txBody>
        </p:sp>
        <p:cxnSp>
          <p:nvCxnSpPr>
            <p:cNvPr id="2410" name="Google Shape;2410;p93"/>
            <p:cNvCxnSpPr>
              <a:stCxn id="2404" idx="2"/>
              <a:endCxn id="2406" idx="7"/>
            </p:cNvCxnSpPr>
            <p:nvPr/>
          </p:nvCxnSpPr>
          <p:spPr>
            <a:xfrm flipH="1">
              <a:off x="472256" y="1851081"/>
              <a:ext cx="630900" cy="418200"/>
            </a:xfrm>
            <a:prstGeom prst="straightConnector1">
              <a:avLst/>
            </a:prstGeom>
            <a:noFill/>
            <a:ln w="19050" cap="flat" cmpd="sng">
              <a:solidFill>
                <a:srgbClr val="000000"/>
              </a:solidFill>
              <a:prstDash val="solid"/>
              <a:round/>
              <a:headEnd type="none" w="sm" len="sm"/>
              <a:tailEnd type="none" w="sm" len="sm"/>
            </a:ln>
          </p:spPr>
        </p:cxnSp>
        <p:cxnSp>
          <p:nvCxnSpPr>
            <p:cNvPr id="2411" name="Google Shape;2411;p93"/>
            <p:cNvCxnSpPr>
              <a:stCxn id="2406" idx="5"/>
              <a:endCxn id="2408" idx="2"/>
            </p:cNvCxnSpPr>
            <p:nvPr/>
          </p:nvCxnSpPr>
          <p:spPr>
            <a:xfrm>
              <a:off x="472325" y="2561621"/>
              <a:ext cx="630900" cy="234600"/>
            </a:xfrm>
            <a:prstGeom prst="straightConnector1">
              <a:avLst/>
            </a:prstGeom>
            <a:noFill/>
            <a:ln w="19050" cap="flat" cmpd="sng">
              <a:solidFill>
                <a:srgbClr val="000000"/>
              </a:solidFill>
              <a:prstDash val="solid"/>
              <a:round/>
              <a:headEnd type="none" w="sm" len="sm"/>
              <a:tailEnd type="none" w="sm" len="sm"/>
            </a:ln>
          </p:spPr>
        </p:cxnSp>
        <p:cxnSp>
          <p:nvCxnSpPr>
            <p:cNvPr id="2412" name="Google Shape;2412;p93"/>
            <p:cNvCxnSpPr>
              <a:stCxn id="2408" idx="3"/>
              <a:endCxn id="2407" idx="0"/>
            </p:cNvCxnSpPr>
            <p:nvPr/>
          </p:nvCxnSpPr>
          <p:spPr>
            <a:xfrm flipH="1">
              <a:off x="793570" y="2942276"/>
              <a:ext cx="370200" cy="390300"/>
            </a:xfrm>
            <a:prstGeom prst="straightConnector1">
              <a:avLst/>
            </a:prstGeom>
            <a:noFill/>
            <a:ln w="19050" cap="flat" cmpd="sng">
              <a:solidFill>
                <a:srgbClr val="000000"/>
              </a:solidFill>
              <a:prstDash val="solid"/>
              <a:round/>
              <a:headEnd type="none" w="sm" len="sm"/>
              <a:tailEnd type="none" w="sm" len="sm"/>
            </a:ln>
          </p:spPr>
        </p:cxnSp>
        <p:cxnSp>
          <p:nvCxnSpPr>
            <p:cNvPr id="2413" name="Google Shape;2413;p93"/>
            <p:cNvCxnSpPr>
              <a:stCxn id="2407" idx="6"/>
              <a:endCxn id="2409" idx="2"/>
            </p:cNvCxnSpPr>
            <p:nvPr/>
          </p:nvCxnSpPr>
          <p:spPr>
            <a:xfrm>
              <a:off x="1000297" y="3539255"/>
              <a:ext cx="828300" cy="0"/>
            </a:xfrm>
            <a:prstGeom prst="straightConnector1">
              <a:avLst/>
            </a:prstGeom>
            <a:noFill/>
            <a:ln w="19050" cap="flat" cmpd="sng">
              <a:solidFill>
                <a:srgbClr val="000000"/>
              </a:solidFill>
              <a:prstDash val="solid"/>
              <a:round/>
              <a:headEnd type="none" w="sm" len="sm"/>
              <a:tailEnd type="none" w="sm" len="sm"/>
            </a:ln>
          </p:spPr>
        </p:cxnSp>
        <p:cxnSp>
          <p:nvCxnSpPr>
            <p:cNvPr id="2414" name="Google Shape;2414;p93"/>
            <p:cNvCxnSpPr>
              <a:stCxn id="2409" idx="0"/>
              <a:endCxn id="2408" idx="5"/>
            </p:cNvCxnSpPr>
            <p:nvPr/>
          </p:nvCxnSpPr>
          <p:spPr>
            <a:xfrm rot="10800000">
              <a:off x="1456011" y="2942257"/>
              <a:ext cx="579300" cy="390300"/>
            </a:xfrm>
            <a:prstGeom prst="straightConnector1">
              <a:avLst/>
            </a:prstGeom>
            <a:noFill/>
            <a:ln w="19050" cap="flat" cmpd="sng">
              <a:solidFill>
                <a:srgbClr val="000000"/>
              </a:solidFill>
              <a:prstDash val="solid"/>
              <a:round/>
              <a:headEnd type="none" w="sm" len="sm"/>
              <a:tailEnd type="none" w="sm" len="sm"/>
            </a:ln>
          </p:spPr>
        </p:cxnSp>
        <p:cxnSp>
          <p:nvCxnSpPr>
            <p:cNvPr id="2415" name="Google Shape;2415;p93"/>
            <p:cNvCxnSpPr>
              <a:stCxn id="2408" idx="7"/>
              <a:endCxn id="2405" idx="2"/>
            </p:cNvCxnSpPr>
            <p:nvPr/>
          </p:nvCxnSpPr>
          <p:spPr>
            <a:xfrm rot="10800000" flipH="1">
              <a:off x="1456088" y="2415658"/>
              <a:ext cx="630900" cy="234300"/>
            </a:xfrm>
            <a:prstGeom prst="straightConnector1">
              <a:avLst/>
            </a:prstGeom>
            <a:noFill/>
            <a:ln w="19050" cap="flat" cmpd="sng">
              <a:solidFill>
                <a:srgbClr val="000000"/>
              </a:solidFill>
              <a:prstDash val="solid"/>
              <a:round/>
              <a:headEnd type="none" w="sm" len="sm"/>
              <a:tailEnd type="none" w="sm" len="sm"/>
            </a:ln>
          </p:spPr>
        </p:cxnSp>
        <p:cxnSp>
          <p:nvCxnSpPr>
            <p:cNvPr id="2416" name="Google Shape;2416;p93"/>
            <p:cNvCxnSpPr>
              <a:stCxn id="2405" idx="4"/>
              <a:endCxn id="2409" idx="7"/>
            </p:cNvCxnSpPr>
            <p:nvPr/>
          </p:nvCxnSpPr>
          <p:spPr>
            <a:xfrm flipH="1">
              <a:off x="2181344" y="2622213"/>
              <a:ext cx="112200" cy="771000"/>
            </a:xfrm>
            <a:prstGeom prst="straightConnector1">
              <a:avLst/>
            </a:prstGeom>
            <a:noFill/>
            <a:ln w="19050" cap="flat" cmpd="sng">
              <a:solidFill>
                <a:srgbClr val="000000"/>
              </a:solidFill>
              <a:prstDash val="solid"/>
              <a:round/>
              <a:headEnd type="none" w="sm" len="sm"/>
              <a:tailEnd type="none" w="sm" len="sm"/>
            </a:ln>
          </p:spPr>
        </p:cxnSp>
      </p:grpSp>
      <p:sp>
        <p:nvSpPr>
          <p:cNvPr id="2417" name="Google Shape;2417;p93"/>
          <p:cNvSpPr txBox="1"/>
          <p:nvPr/>
        </p:nvSpPr>
        <p:spPr>
          <a:xfrm>
            <a:off x="119475" y="4110325"/>
            <a:ext cx="2380800" cy="641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If a path is found through one of </a:t>
            </a:r>
            <a:r>
              <a:rPr lang="en" sz="1200" b="1" i="1" u="none" strike="noStrike" cap="none">
                <a:solidFill>
                  <a:srgbClr val="FF0000"/>
                </a:solidFill>
                <a:latin typeface="Arial"/>
                <a:ea typeface="Arial"/>
                <a:cs typeface="Arial"/>
                <a:sym typeface="Arial"/>
              </a:rPr>
              <a:t>V</a:t>
            </a:r>
            <a:r>
              <a:rPr lang="en" sz="1200" b="0" i="0" u="none" strike="noStrike" cap="none">
                <a:solidFill>
                  <a:srgbClr val="000000"/>
                </a:solidFill>
                <a:latin typeface="Arial"/>
                <a:ea typeface="Arial"/>
                <a:cs typeface="Arial"/>
                <a:sym typeface="Arial"/>
              </a:rPr>
              <a:t>'s neighbors, </a:t>
            </a:r>
            <a:r>
              <a:rPr lang="en" sz="1200" b="1" i="1" u="none" strike="noStrike" cap="none">
                <a:solidFill>
                  <a:srgbClr val="FF0000"/>
                </a:solidFill>
                <a:latin typeface="Arial"/>
                <a:ea typeface="Arial"/>
                <a:cs typeface="Arial"/>
                <a:sym typeface="Arial"/>
              </a:rPr>
              <a:t>V</a:t>
            </a:r>
            <a:r>
              <a:rPr lang="en" sz="1200" b="0" i="0" u="none" strike="noStrike" cap="none">
                <a:solidFill>
                  <a:srgbClr val="000000"/>
                </a:solidFill>
                <a:latin typeface="Arial"/>
                <a:ea typeface="Arial"/>
                <a:cs typeface="Arial"/>
                <a:sym typeface="Arial"/>
              </a:rPr>
              <a:t> is added to the path before it is returned.</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21"/>
        <p:cNvGrpSpPr/>
        <p:nvPr/>
      </p:nvGrpSpPr>
      <p:grpSpPr>
        <a:xfrm>
          <a:off x="0" y="0"/>
          <a:ext cx="0" cy="0"/>
          <a:chOff x="0" y="0"/>
          <a:chExt cx="0" cy="0"/>
        </a:xfrm>
      </p:grpSpPr>
      <p:sp>
        <p:nvSpPr>
          <p:cNvPr id="2422" name="Google Shape;2422;p9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BFS vs. DFS</a:t>
            </a:r>
            <a:endParaRPr/>
          </a:p>
        </p:txBody>
      </p:sp>
      <p:sp>
        <p:nvSpPr>
          <p:cNvPr id="2423" name="Google Shape;2423;p9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61</a:t>
            </a:fld>
            <a:endParaRPr/>
          </a:p>
        </p:txBody>
      </p:sp>
      <p:graphicFrame>
        <p:nvGraphicFramePr>
          <p:cNvPr id="2424" name="Google Shape;2424;p94"/>
          <p:cNvGraphicFramePr/>
          <p:nvPr/>
        </p:nvGraphicFramePr>
        <p:xfrm>
          <a:off x="431375" y="1356675"/>
          <a:ext cx="3000000" cy="3000000"/>
        </p:xfrm>
        <a:graphic>
          <a:graphicData uri="http://schemas.openxmlformats.org/drawingml/2006/table">
            <a:tbl>
              <a:tblPr>
                <a:noFill/>
                <a:tableStyleId>{F61E8307-4E6B-4154-8BF4-D3231BAD3CED}</a:tableStyleId>
              </a:tblPr>
              <a:tblGrid>
                <a:gridCol w="2404650">
                  <a:extLst>
                    <a:ext uri="{9D8B030D-6E8A-4147-A177-3AD203B41FA5}">
                      <a16:colId xmlns:a16="http://schemas.microsoft.com/office/drawing/2014/main" val="20000"/>
                    </a:ext>
                  </a:extLst>
                </a:gridCol>
                <a:gridCol w="3195950">
                  <a:extLst>
                    <a:ext uri="{9D8B030D-6E8A-4147-A177-3AD203B41FA5}">
                      <a16:colId xmlns:a16="http://schemas.microsoft.com/office/drawing/2014/main" val="20001"/>
                    </a:ext>
                  </a:extLst>
                </a:gridCol>
                <a:gridCol w="2800300">
                  <a:extLst>
                    <a:ext uri="{9D8B030D-6E8A-4147-A177-3AD203B41FA5}">
                      <a16:colId xmlns:a16="http://schemas.microsoft.com/office/drawing/2014/main" val="20002"/>
                    </a:ext>
                  </a:extLst>
                </a:gridCol>
              </a:tblGrid>
              <a:tr h="654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rgbClr val="FFFFFF"/>
                          </a:solidFill>
                        </a:rPr>
                        <a:t>Breadth-First Search (BFS)</a:t>
                      </a:r>
                      <a:endParaRPr sz="1600"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 sz="1600" u="none" strike="noStrike" cap="none">
                          <a:solidFill>
                            <a:srgbClr val="FFFFFF"/>
                          </a:solidFill>
                        </a:rPr>
                        <a:t>Depth-First Search (DFS)</a:t>
                      </a:r>
                      <a:endParaRPr sz="1600" u="none" strike="noStrike" cap="none">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6541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Order of Visits</a:t>
                      </a:r>
                      <a:endParaRPr sz="14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541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Data Structures Used</a:t>
                      </a:r>
                      <a:endParaRPr sz="14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541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Guarantees Shortest Path</a:t>
                      </a:r>
                      <a:endParaRPr sz="1400" u="none" strike="noStrike" cap="none"/>
                    </a:p>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541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Time Complexity</a:t>
                      </a:r>
                      <a:endParaRPr sz="1400" u="none" strike="noStrike" cap="none"/>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425" name="Google Shape;2425;p94"/>
          <p:cNvSpPr txBox="1"/>
          <p:nvPr/>
        </p:nvSpPr>
        <p:spPr>
          <a:xfrm>
            <a:off x="2952075" y="2064325"/>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ALL NEIGHBORS FIRST</a:t>
            </a:r>
            <a:endParaRPr sz="2400" b="0" i="0" u="none" strike="noStrike" cap="none">
              <a:solidFill>
                <a:srgbClr val="FF0000"/>
              </a:solidFill>
              <a:latin typeface="Shadows Into Light"/>
              <a:ea typeface="Shadows Into Light"/>
              <a:cs typeface="Shadows Into Light"/>
              <a:sym typeface="Shadows Into Light"/>
            </a:endParaRPr>
          </a:p>
        </p:txBody>
      </p:sp>
      <p:sp>
        <p:nvSpPr>
          <p:cNvPr id="2426" name="Google Shape;2426;p94"/>
          <p:cNvSpPr txBox="1"/>
          <p:nvPr/>
        </p:nvSpPr>
        <p:spPr>
          <a:xfrm>
            <a:off x="5923875" y="2064325"/>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ONE NEIGHBOR, THEN NEIGHBOR-OF-NEIGHBOR, ETC.</a:t>
            </a:r>
            <a:endParaRPr sz="1800" b="0" i="0" u="none" strike="noStrike" cap="none">
              <a:solidFill>
                <a:srgbClr val="FF0000"/>
              </a:solidFill>
              <a:latin typeface="Shadows Into Light"/>
              <a:ea typeface="Shadows Into Light"/>
              <a:cs typeface="Shadows Into Light"/>
              <a:sym typeface="Shadows Into Light"/>
            </a:endParaRPr>
          </a:p>
        </p:txBody>
      </p:sp>
      <p:sp>
        <p:nvSpPr>
          <p:cNvPr id="2427" name="Google Shape;2427;p94"/>
          <p:cNvSpPr txBox="1"/>
          <p:nvPr/>
        </p:nvSpPr>
        <p:spPr>
          <a:xfrm>
            <a:off x="2952075" y="2736391"/>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QUEUE, MAP</a:t>
            </a:r>
            <a:endParaRPr sz="2400" b="0" i="0" u="none" strike="noStrike" cap="none">
              <a:solidFill>
                <a:srgbClr val="FF0000"/>
              </a:solidFill>
              <a:latin typeface="Shadows Into Light"/>
              <a:ea typeface="Shadows Into Light"/>
              <a:cs typeface="Shadows Into Light"/>
              <a:sym typeface="Shadows Into Light"/>
            </a:endParaRPr>
          </a:p>
        </p:txBody>
      </p:sp>
      <p:sp>
        <p:nvSpPr>
          <p:cNvPr id="2428" name="Google Shape;2428;p94"/>
          <p:cNvSpPr txBox="1"/>
          <p:nvPr/>
        </p:nvSpPr>
        <p:spPr>
          <a:xfrm>
            <a:off x="5944476" y="2715789"/>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STACK (RECURSION)</a:t>
            </a:r>
            <a:endParaRPr sz="2400" b="0" i="0" u="none" strike="noStrike" cap="none">
              <a:solidFill>
                <a:srgbClr val="FF0000"/>
              </a:solidFill>
              <a:latin typeface="Shadows Into Light"/>
              <a:ea typeface="Shadows Into Light"/>
              <a:cs typeface="Shadows Into Light"/>
              <a:sym typeface="Shadows Into Light"/>
            </a:endParaRPr>
          </a:p>
        </p:txBody>
      </p:sp>
      <p:sp>
        <p:nvSpPr>
          <p:cNvPr id="2429" name="Google Shape;2429;p94"/>
          <p:cNvSpPr txBox="1"/>
          <p:nvPr/>
        </p:nvSpPr>
        <p:spPr>
          <a:xfrm>
            <a:off x="3048876" y="3374121"/>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YES (FEWEST EDGES)</a:t>
            </a:r>
            <a:endParaRPr sz="2400" b="0" i="0" u="none" strike="noStrike" cap="none">
              <a:solidFill>
                <a:srgbClr val="FF0000"/>
              </a:solidFill>
              <a:latin typeface="Shadows Into Light"/>
              <a:ea typeface="Shadows Into Light"/>
              <a:cs typeface="Shadows Into Light"/>
              <a:sym typeface="Shadows Into Light"/>
            </a:endParaRPr>
          </a:p>
        </p:txBody>
      </p:sp>
      <p:sp>
        <p:nvSpPr>
          <p:cNvPr id="2430" name="Google Shape;2430;p94"/>
          <p:cNvSpPr txBox="1"/>
          <p:nvPr/>
        </p:nvSpPr>
        <p:spPr>
          <a:xfrm>
            <a:off x="5944476" y="3374121"/>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NO</a:t>
            </a:r>
            <a:endParaRPr sz="2400" b="0" i="0" u="none" strike="noStrike" cap="none">
              <a:solidFill>
                <a:srgbClr val="FF0000"/>
              </a:solidFill>
              <a:latin typeface="Shadows Into Light"/>
              <a:ea typeface="Shadows Into Light"/>
              <a:cs typeface="Shadows Into Light"/>
              <a:sym typeface="Shadows Into Light"/>
            </a:endParaRPr>
          </a:p>
        </p:txBody>
      </p:sp>
      <p:sp>
        <p:nvSpPr>
          <p:cNvPr id="2431" name="Google Shape;2431;p94"/>
          <p:cNvSpPr txBox="1"/>
          <p:nvPr/>
        </p:nvSpPr>
        <p:spPr>
          <a:xfrm>
            <a:off x="2903344" y="3997455"/>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O(V + E)</a:t>
            </a:r>
            <a:endParaRPr sz="2400" b="0" i="0" u="none" strike="noStrike" cap="none">
              <a:solidFill>
                <a:srgbClr val="FF0000"/>
              </a:solidFill>
              <a:latin typeface="Shadows Into Light"/>
              <a:ea typeface="Shadows Into Light"/>
              <a:cs typeface="Shadows Into Light"/>
              <a:sym typeface="Shadows Into Light"/>
            </a:endParaRPr>
          </a:p>
        </p:txBody>
      </p:sp>
      <p:sp>
        <p:nvSpPr>
          <p:cNvPr id="2432" name="Google Shape;2432;p94"/>
          <p:cNvSpPr txBox="1"/>
          <p:nvPr/>
        </p:nvSpPr>
        <p:spPr>
          <a:xfrm>
            <a:off x="5972606" y="4004322"/>
            <a:ext cx="2925300" cy="57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FF0000"/>
                </a:solidFill>
                <a:latin typeface="Shadows Into Light"/>
                <a:ea typeface="Shadows Into Light"/>
                <a:cs typeface="Shadows Into Light"/>
                <a:sym typeface="Shadows Into Light"/>
              </a:rPr>
              <a:t>O(V + E)</a:t>
            </a:r>
            <a:endParaRPr sz="2400" b="0" i="0" u="none" strike="noStrike" cap="none">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5"/>
                                        </p:tgtEl>
                                        <p:attrNameLst>
                                          <p:attrName>style.visibility</p:attrName>
                                        </p:attrNameLst>
                                      </p:cBhvr>
                                      <p:to>
                                        <p:strVal val="visible"/>
                                      </p:to>
                                    </p:set>
                                    <p:animEffect transition="in" filter="fade">
                                      <p:cBhvr>
                                        <p:cTn id="7" dur="1000"/>
                                        <p:tgtEl>
                                          <p:spTgt spid="24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27"/>
                                        </p:tgtEl>
                                        <p:attrNameLst>
                                          <p:attrName>style.visibility</p:attrName>
                                        </p:attrNameLst>
                                      </p:cBhvr>
                                      <p:to>
                                        <p:strVal val="visible"/>
                                      </p:to>
                                    </p:set>
                                    <p:animEffect transition="in" filter="fade">
                                      <p:cBhvr>
                                        <p:cTn id="12" dur="1000"/>
                                        <p:tgtEl>
                                          <p:spTgt spid="24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29"/>
                                        </p:tgtEl>
                                        <p:attrNameLst>
                                          <p:attrName>style.visibility</p:attrName>
                                        </p:attrNameLst>
                                      </p:cBhvr>
                                      <p:to>
                                        <p:strVal val="visible"/>
                                      </p:to>
                                    </p:set>
                                    <p:animEffect transition="in" filter="fade">
                                      <p:cBhvr>
                                        <p:cTn id="17" dur="1000"/>
                                        <p:tgtEl>
                                          <p:spTgt spid="24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31"/>
                                        </p:tgtEl>
                                        <p:attrNameLst>
                                          <p:attrName>style.visibility</p:attrName>
                                        </p:attrNameLst>
                                      </p:cBhvr>
                                      <p:to>
                                        <p:strVal val="visible"/>
                                      </p:to>
                                    </p:set>
                                    <p:animEffect transition="in" filter="fade">
                                      <p:cBhvr>
                                        <p:cTn id="22" dur="1000"/>
                                        <p:tgtEl>
                                          <p:spTgt spid="24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26"/>
                                        </p:tgtEl>
                                        <p:attrNameLst>
                                          <p:attrName>style.visibility</p:attrName>
                                        </p:attrNameLst>
                                      </p:cBhvr>
                                      <p:to>
                                        <p:strVal val="visible"/>
                                      </p:to>
                                    </p:set>
                                    <p:animEffect transition="in" filter="fade">
                                      <p:cBhvr>
                                        <p:cTn id="27" dur="1000"/>
                                        <p:tgtEl>
                                          <p:spTgt spid="24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28"/>
                                        </p:tgtEl>
                                        <p:attrNameLst>
                                          <p:attrName>style.visibility</p:attrName>
                                        </p:attrNameLst>
                                      </p:cBhvr>
                                      <p:to>
                                        <p:strVal val="visible"/>
                                      </p:to>
                                    </p:set>
                                    <p:animEffect transition="in" filter="fade">
                                      <p:cBhvr>
                                        <p:cTn id="32" dur="1000"/>
                                        <p:tgtEl>
                                          <p:spTgt spid="24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30"/>
                                        </p:tgtEl>
                                        <p:attrNameLst>
                                          <p:attrName>style.visibility</p:attrName>
                                        </p:attrNameLst>
                                      </p:cBhvr>
                                      <p:to>
                                        <p:strVal val="visible"/>
                                      </p:to>
                                    </p:set>
                                    <p:animEffect transition="in" filter="fade">
                                      <p:cBhvr>
                                        <p:cTn id="37" dur="1000"/>
                                        <p:tgtEl>
                                          <p:spTgt spid="24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32"/>
                                        </p:tgtEl>
                                        <p:attrNameLst>
                                          <p:attrName>style.visibility</p:attrName>
                                        </p:attrNameLst>
                                      </p:cBhvr>
                                      <p:to>
                                        <p:strVal val="visible"/>
                                      </p:to>
                                    </p:set>
                                    <p:animEffect transition="in" filter="fade">
                                      <p:cBhvr>
                                        <p:cTn id="42" dur="1000"/>
                                        <p:tgtEl>
                                          <p:spTgt spid="2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436"/>
        <p:cNvGrpSpPr/>
        <p:nvPr/>
      </p:nvGrpSpPr>
      <p:grpSpPr>
        <a:xfrm>
          <a:off x="0" y="0"/>
          <a:ext cx="0" cy="0"/>
          <a:chOff x="0" y="0"/>
          <a:chExt cx="0" cy="0"/>
        </a:xfrm>
      </p:grpSpPr>
      <p:sp>
        <p:nvSpPr>
          <p:cNvPr id="2437" name="Google Shape;2437;p95"/>
          <p:cNvSpPr txBox="1">
            <a:spLocks noGrp="1"/>
          </p:cNvSpPr>
          <p:nvPr>
            <p:ph type="title"/>
          </p:nvPr>
        </p:nvSpPr>
        <p:spPr>
          <a:xfrm>
            <a:off x="311725" y="196125"/>
            <a:ext cx="8520600" cy="623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3900"/>
              <a:t>Summary &amp; Reflection</a:t>
            </a:r>
            <a:endParaRPr sz="3900"/>
          </a:p>
        </p:txBody>
      </p:sp>
      <p:sp>
        <p:nvSpPr>
          <p:cNvPr id="2438" name="Google Shape;2438;p95"/>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What is one new thing that you learned today?</a:t>
            </a:r>
            <a:endParaRPr sz="1200" b="0" i="0" u="none" strike="noStrike" cap="none">
              <a:solidFill>
                <a:srgbClr val="000000"/>
              </a:solidFill>
              <a:latin typeface="Arial"/>
              <a:ea typeface="Arial"/>
              <a:cs typeface="Arial"/>
              <a:sym typeface="Arial"/>
            </a:endParaRPr>
          </a:p>
        </p:txBody>
      </p:sp>
      <p:pic>
        <p:nvPicPr>
          <p:cNvPr id="2439" name="Google Shape;2439;p95"/>
          <p:cNvPicPr preferRelativeResize="0"/>
          <p:nvPr/>
        </p:nvPicPr>
        <p:blipFill rotWithShape="1">
          <a:blip r:embed="rId3">
            <a:alphaModFix/>
          </a:blip>
          <a:srcRect/>
          <a:stretch/>
        </p:blipFill>
        <p:spPr>
          <a:xfrm>
            <a:off x="5651400" y="3077250"/>
            <a:ext cx="1504525" cy="1504525"/>
          </a:xfrm>
          <a:prstGeom prst="rect">
            <a:avLst/>
          </a:prstGeom>
          <a:noFill/>
          <a:ln>
            <a:noFill/>
          </a:ln>
        </p:spPr>
      </p:pic>
      <p:sp>
        <p:nvSpPr>
          <p:cNvPr id="2440" name="Google Shape;2440;p95"/>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What is one thing that you wish you knew more about as we move forward?</a:t>
            </a:r>
            <a:endParaRPr sz="1000" b="0" i="0" u="none" strike="noStrike" cap="none">
              <a:solidFill>
                <a:srgbClr val="000000"/>
              </a:solidFill>
              <a:latin typeface="Arial"/>
              <a:ea typeface="Arial"/>
              <a:cs typeface="Arial"/>
              <a:sym typeface="Arial"/>
            </a:endParaRPr>
          </a:p>
        </p:txBody>
      </p:sp>
      <p:sp>
        <p:nvSpPr>
          <p:cNvPr id="2441" name="Google Shape;2441;p95"/>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What one question do you have about today’s class?</a:t>
            </a:r>
            <a:endParaRPr sz="1200" b="0" i="0" u="none" strike="noStrike" cap="none">
              <a:solidFill>
                <a:srgbClr val="000000"/>
              </a:solidFill>
              <a:latin typeface="Arial"/>
              <a:ea typeface="Arial"/>
              <a:cs typeface="Arial"/>
              <a:sym typeface="Arial"/>
            </a:endParaRPr>
          </a:p>
        </p:txBody>
      </p:sp>
      <p:sp>
        <p:nvSpPr>
          <p:cNvPr id="2442" name="Google Shape;2442;p95"/>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Roboto"/>
                <a:ea typeface="Roboto"/>
                <a:cs typeface="Roboto"/>
                <a:sym typeface="Roboto"/>
              </a:rPr>
              <a:t>Please answer the questions above in your notes for today.</a:t>
            </a:r>
            <a:endParaRPr sz="1200" b="0" i="0" u="none" strike="noStrike" cap="none">
              <a:solidFill>
                <a:schemeClr val="dk2"/>
              </a:solidFill>
              <a:latin typeface="Roboto"/>
              <a:ea typeface="Roboto"/>
              <a:cs typeface="Roboto"/>
              <a:sym typeface="Roboto"/>
            </a:endParaRPr>
          </a:p>
        </p:txBody>
      </p:sp>
      <p:pic>
        <p:nvPicPr>
          <p:cNvPr id="2443" name="Google Shape;2443;p95"/>
          <p:cNvPicPr preferRelativeResize="0"/>
          <p:nvPr/>
        </p:nvPicPr>
        <p:blipFill rotWithShape="1">
          <a:blip r:embed="rId4">
            <a:alphaModFix/>
          </a:blip>
          <a:srcRect/>
          <a:stretch/>
        </p:blipFill>
        <p:spPr>
          <a:xfrm rot="-1172163">
            <a:off x="798432" y="944685"/>
            <a:ext cx="2945835" cy="3808755"/>
          </a:xfrm>
          <a:prstGeom prst="rect">
            <a:avLst/>
          </a:prstGeom>
          <a:noFill/>
          <a:ln>
            <a:noFill/>
          </a:ln>
        </p:spPr>
      </p:pic>
      <p:sp>
        <p:nvSpPr>
          <p:cNvPr id="2444" name="Google Shape;2444;p95"/>
          <p:cNvSpPr txBox="1">
            <a:spLocks noGrp="1"/>
          </p:cNvSpPr>
          <p:nvPr>
            <p:ph type="body" idx="1"/>
          </p:nvPr>
        </p:nvSpPr>
        <p:spPr>
          <a:xfrm rot="-1168295">
            <a:off x="1011720" y="1531327"/>
            <a:ext cx="2569455" cy="2930016"/>
          </a:xfrm>
          <a:prstGeom prst="rect">
            <a:avLst/>
          </a:prstGeom>
          <a:noFill/>
          <a:ln>
            <a:noFill/>
          </a:ln>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Graphs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Vertices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Edges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Adjacency Lists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Searches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Breadth-First</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Depth-First</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Path-Building</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Breadth-First</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Depth-First</a:t>
            </a:r>
            <a:endParaRPr sz="1600">
              <a:solidFill>
                <a:srgbClr val="FF0000"/>
              </a:solidFill>
              <a:latin typeface="Shadows Into Light"/>
              <a:ea typeface="Shadows Into Light"/>
              <a:cs typeface="Shadows Into Light"/>
              <a:sym typeface="Shadows Into Light"/>
            </a:endParaRPr>
          </a:p>
        </p:txBody>
      </p:sp>
      <p:sp>
        <p:nvSpPr>
          <p:cNvPr id="2445" name="Google Shape;2445;p9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62</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9149</Words>
  <Application>Microsoft Office PowerPoint</Application>
  <PresentationFormat>On-screen Show (16:9)</PresentationFormat>
  <Paragraphs>1397</Paragraphs>
  <Slides>62</Slides>
  <Notes>62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62</vt:i4>
      </vt:variant>
    </vt:vector>
  </HeadingPairs>
  <TitlesOfParts>
    <vt:vector size="71" baseType="lpstr">
      <vt:lpstr>Arial</vt:lpstr>
      <vt:lpstr>Consolas</vt:lpstr>
      <vt:lpstr>Courier New</vt:lpstr>
      <vt:lpstr>Merriweather</vt:lpstr>
      <vt:lpstr>Proxima Nova</vt:lpstr>
      <vt:lpstr>Roboto</vt:lpstr>
      <vt:lpstr>Shadows Into Light</vt:lpstr>
      <vt:lpstr>Paradigm</vt:lpstr>
      <vt:lpstr>Paradigm</vt:lpstr>
      <vt:lpstr>GCIS-124 Software Development &amp; Problem Solving</vt:lpstr>
      <vt:lpstr>Graphs</vt:lpstr>
      <vt:lpstr>Review: Abstract Data  Types</vt:lpstr>
      <vt:lpstr>Identifying Data Structures</vt:lpstr>
      <vt:lpstr>Identifying Data Structures</vt:lpstr>
      <vt:lpstr>Node-Based Structures</vt:lpstr>
      <vt:lpstr>A Social Network</vt:lpstr>
      <vt:lpstr>Graphs</vt:lpstr>
      <vt:lpstr>Graph Identification</vt:lpstr>
      <vt:lpstr>Graph Identification</vt:lpstr>
      <vt:lpstr>Connected Components</vt:lpstr>
      <vt:lpstr>Directed vs Undirected Edges</vt:lpstr>
      <vt:lpstr>The Graph ADT</vt:lpstr>
      <vt:lpstr>The Graph Abstract Data Type</vt:lpstr>
      <vt:lpstr>Adjacency Lists</vt:lpstr>
      <vt:lpstr>Adjacency Lists</vt:lpstr>
      <vt:lpstr>Adjacency Lists</vt:lpstr>
      <vt:lpstr>An Adjacency List Implementation</vt:lpstr>
      <vt:lpstr>An Adjacency List Implementation</vt:lpstr>
      <vt:lpstr>A Vertex Class</vt:lpstr>
      <vt:lpstr>Implementing An Adjacency Graph</vt:lpstr>
      <vt:lpstr>Finish the Adjacency Graph</vt:lpstr>
      <vt:lpstr>Building a Graph</vt:lpstr>
      <vt:lpstr>A Simple Example</vt:lpstr>
      <vt:lpstr>Breadth-First Search (BFS)</vt:lpstr>
      <vt:lpstr>Breadth-First Search "On Paper"</vt:lpstr>
      <vt:lpstr>Breadth-First Search "On Paper"</vt:lpstr>
      <vt:lpstr>Cycles</vt:lpstr>
      <vt:lpstr>Breadth-First Search (BFS)</vt:lpstr>
      <vt:lpstr>12.10</vt:lpstr>
      <vt:lpstr>12.10</vt:lpstr>
      <vt:lpstr>Adding BFS to the Graph Interface</vt:lpstr>
      <vt:lpstr>Begin Implementing BFS</vt:lpstr>
      <vt:lpstr>Complete the BFS Algorithm</vt:lpstr>
      <vt:lpstr>Building a path </vt:lpstr>
      <vt:lpstr>Constructing a Path</vt:lpstr>
      <vt:lpstr>12.14</vt:lpstr>
      <vt:lpstr>12.14</vt:lpstr>
      <vt:lpstr>12.15</vt:lpstr>
      <vt:lpstr>12.16</vt:lpstr>
      <vt:lpstr>A Path-Making Helper Function</vt:lpstr>
      <vt:lpstr>12.18</vt:lpstr>
      <vt:lpstr>12.19</vt:lpstr>
      <vt:lpstr>12.19</vt:lpstr>
      <vt:lpstr>Depth-First Search (DFS)</vt:lpstr>
      <vt:lpstr>DFS Illustrated Example</vt:lpstr>
      <vt:lpstr>12.20</vt:lpstr>
      <vt:lpstr>12.20</vt:lpstr>
      <vt:lpstr>The DFS Algorithm</vt:lpstr>
      <vt:lpstr>12.21</vt:lpstr>
      <vt:lpstr>A Recursive DFS Helper Method</vt:lpstr>
      <vt:lpstr>Put the Finishing Touches on DFS</vt:lpstr>
      <vt:lpstr>DFS Path Building</vt:lpstr>
      <vt:lpstr>DFS Path Illustrated Example: Y to Z</vt:lpstr>
      <vt:lpstr>DFS Path Illustrated Example: Y to Z</vt:lpstr>
      <vt:lpstr>DFS Path Illustrated Example: Y to Z</vt:lpstr>
      <vt:lpstr>DFS Path Illustrated Example: Y to Z</vt:lpstr>
      <vt:lpstr>12.24</vt:lpstr>
      <vt:lpstr>Beginning Depth-First Path</vt:lpstr>
      <vt:lpstr>Complete Depth-First Path</vt:lpstr>
      <vt:lpstr>BFS vs. DFS</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GCIS-124 Software Development &amp; Problem Solving</dc:title>
  <cp:lastModifiedBy>Tanweer</cp:lastModifiedBy>
  <cp:revision>21</cp:revision>
  <dcterms:modified xsi:type="dcterms:W3CDTF">2026-04-07T23:06:03Z</dcterms:modified>
</cp:coreProperties>
</file>