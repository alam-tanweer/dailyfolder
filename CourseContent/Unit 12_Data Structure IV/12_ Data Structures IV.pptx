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9" r:id="rId5"/>
    <p:sldMasterId id="214748368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y="5143500" cx="9144000"/>
  <p:notesSz cx="6858000" cy="9144000"/>
  <p:embeddedFontLst>
    <p:embeddedFont>
      <p:font typeface="Roboto"/>
      <p:regular r:id="rId70"/>
      <p:bold r:id="rId71"/>
      <p:italic r:id="rId72"/>
      <p:boldItalic r:id="rId73"/>
    </p:embeddedFont>
    <p:embeddedFont>
      <p:font typeface="Proxima Nova"/>
      <p:regular r:id="rId74"/>
      <p:bold r:id="rId75"/>
      <p:italic r:id="rId76"/>
      <p:boldItalic r:id="rId77"/>
    </p:embeddedFont>
    <p:embeddedFont>
      <p:font typeface="Shadows Into Light"/>
      <p:regular r:id="rId78"/>
    </p:embeddedFont>
    <p:embeddedFont>
      <p:font typeface="Merriweather"/>
      <p:regular r:id="rId79"/>
      <p:bold r:id="rId80"/>
      <p:italic r:id="rId81"/>
      <p:boldItalic r:id="rId8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61E8307-4E6B-4154-8BF4-D3231BAD3CED}">
  <a:tblStyle styleId="{F61E8307-4E6B-4154-8BF4-D3231BAD3CED}"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slide" Target="slides/slide35.xml"/><Relationship Id="rId41" Type="http://schemas.openxmlformats.org/officeDocument/2006/relationships/slide" Target="slides/slide34.xml"/><Relationship Id="rId44" Type="http://schemas.openxmlformats.org/officeDocument/2006/relationships/slide" Target="slides/slide37.xml"/><Relationship Id="rId43" Type="http://schemas.openxmlformats.org/officeDocument/2006/relationships/slide" Target="slides/slide36.xml"/><Relationship Id="rId46" Type="http://schemas.openxmlformats.org/officeDocument/2006/relationships/slide" Target="slides/slide39.xml"/><Relationship Id="rId45" Type="http://schemas.openxmlformats.org/officeDocument/2006/relationships/slide" Target="slides/slide38.xml"/><Relationship Id="rId80" Type="http://schemas.openxmlformats.org/officeDocument/2006/relationships/font" Target="fonts/Merriweather-bold.fntdata"/><Relationship Id="rId82" Type="http://schemas.openxmlformats.org/officeDocument/2006/relationships/font" Target="fonts/Merriweather-boldItalic.fntdata"/><Relationship Id="rId81" Type="http://schemas.openxmlformats.org/officeDocument/2006/relationships/font" Target="fonts/Merriweather-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slide" Target="slides/slide41.xml"/><Relationship Id="rId47" Type="http://schemas.openxmlformats.org/officeDocument/2006/relationships/slide" Target="slides/slide40.xml"/><Relationship Id="rId49" Type="http://schemas.openxmlformats.org/officeDocument/2006/relationships/slide" Target="slides/slide42.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73" Type="http://schemas.openxmlformats.org/officeDocument/2006/relationships/font" Target="fonts/Roboto-boldItalic.fntdata"/><Relationship Id="rId72" Type="http://schemas.openxmlformats.org/officeDocument/2006/relationships/font" Target="fonts/Roboto-italic.fntdata"/><Relationship Id="rId31" Type="http://schemas.openxmlformats.org/officeDocument/2006/relationships/slide" Target="slides/slide24.xml"/><Relationship Id="rId75" Type="http://schemas.openxmlformats.org/officeDocument/2006/relationships/font" Target="fonts/ProximaNova-bold.fntdata"/><Relationship Id="rId30" Type="http://schemas.openxmlformats.org/officeDocument/2006/relationships/slide" Target="slides/slide23.xml"/><Relationship Id="rId74" Type="http://schemas.openxmlformats.org/officeDocument/2006/relationships/font" Target="fonts/ProximaNova-regular.fntdata"/><Relationship Id="rId33" Type="http://schemas.openxmlformats.org/officeDocument/2006/relationships/slide" Target="slides/slide26.xml"/><Relationship Id="rId77" Type="http://schemas.openxmlformats.org/officeDocument/2006/relationships/font" Target="fonts/ProximaNova-boldItalic.fntdata"/><Relationship Id="rId32" Type="http://schemas.openxmlformats.org/officeDocument/2006/relationships/slide" Target="slides/slide25.xml"/><Relationship Id="rId76" Type="http://schemas.openxmlformats.org/officeDocument/2006/relationships/font" Target="fonts/ProximaNova-italic.fntdata"/><Relationship Id="rId35" Type="http://schemas.openxmlformats.org/officeDocument/2006/relationships/slide" Target="slides/slide28.xml"/><Relationship Id="rId79" Type="http://schemas.openxmlformats.org/officeDocument/2006/relationships/font" Target="fonts/Merriweather-regular.fntdata"/><Relationship Id="rId34" Type="http://schemas.openxmlformats.org/officeDocument/2006/relationships/slide" Target="slides/slide27.xml"/><Relationship Id="rId78" Type="http://schemas.openxmlformats.org/officeDocument/2006/relationships/font" Target="fonts/ShadowsIntoLight-regular.fntdata"/><Relationship Id="rId71" Type="http://schemas.openxmlformats.org/officeDocument/2006/relationships/font" Target="fonts/Roboto-bold.fntdata"/><Relationship Id="rId70" Type="http://schemas.openxmlformats.org/officeDocument/2006/relationships/font" Target="fonts/Roboto-regular.fntdata"/><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2" Type="http://schemas.openxmlformats.org/officeDocument/2006/relationships/slide" Target="slides/slide55.xml"/><Relationship Id="rId61" Type="http://schemas.openxmlformats.org/officeDocument/2006/relationships/slide" Target="slides/slide54.xml"/><Relationship Id="rId20" Type="http://schemas.openxmlformats.org/officeDocument/2006/relationships/slide" Target="slides/slide13.xml"/><Relationship Id="rId64" Type="http://schemas.openxmlformats.org/officeDocument/2006/relationships/slide" Target="slides/slide57.xml"/><Relationship Id="rId63" Type="http://schemas.openxmlformats.org/officeDocument/2006/relationships/slide" Target="slides/slide56.xml"/><Relationship Id="rId22" Type="http://schemas.openxmlformats.org/officeDocument/2006/relationships/slide" Target="slides/slide15.xml"/><Relationship Id="rId66" Type="http://schemas.openxmlformats.org/officeDocument/2006/relationships/slide" Target="slides/slide59.xml"/><Relationship Id="rId21" Type="http://schemas.openxmlformats.org/officeDocument/2006/relationships/slide" Target="slides/slide14.xml"/><Relationship Id="rId65" Type="http://schemas.openxmlformats.org/officeDocument/2006/relationships/slide" Target="slides/slide58.xml"/><Relationship Id="rId24" Type="http://schemas.openxmlformats.org/officeDocument/2006/relationships/slide" Target="slides/slide17.xml"/><Relationship Id="rId68" Type="http://schemas.openxmlformats.org/officeDocument/2006/relationships/slide" Target="slides/slide61.xml"/><Relationship Id="rId23" Type="http://schemas.openxmlformats.org/officeDocument/2006/relationships/slide" Target="slides/slide16.xml"/><Relationship Id="rId67" Type="http://schemas.openxmlformats.org/officeDocument/2006/relationships/slide" Target="slides/slide60.xml"/><Relationship Id="rId60" Type="http://schemas.openxmlformats.org/officeDocument/2006/relationships/slide" Target="slides/slide53.xml"/><Relationship Id="rId26" Type="http://schemas.openxmlformats.org/officeDocument/2006/relationships/slide" Target="slides/slide19.xml"/><Relationship Id="rId25" Type="http://schemas.openxmlformats.org/officeDocument/2006/relationships/slide" Target="slides/slide18.xml"/><Relationship Id="rId69" Type="http://schemas.openxmlformats.org/officeDocument/2006/relationships/slide" Target="slides/slide62.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slide" Target="slides/slide44.xml"/><Relationship Id="rId50" Type="http://schemas.openxmlformats.org/officeDocument/2006/relationships/slide" Target="slides/slide43.xml"/><Relationship Id="rId53" Type="http://schemas.openxmlformats.org/officeDocument/2006/relationships/slide" Target="slides/slide46.xml"/><Relationship Id="rId52" Type="http://schemas.openxmlformats.org/officeDocument/2006/relationships/slide" Target="slides/slide45.xml"/><Relationship Id="rId11" Type="http://schemas.openxmlformats.org/officeDocument/2006/relationships/slide" Target="slides/slide4.xml"/><Relationship Id="rId55" Type="http://schemas.openxmlformats.org/officeDocument/2006/relationships/slide" Target="slides/slide48.xml"/><Relationship Id="rId10" Type="http://schemas.openxmlformats.org/officeDocument/2006/relationships/slide" Target="slides/slide3.xml"/><Relationship Id="rId54" Type="http://schemas.openxmlformats.org/officeDocument/2006/relationships/slide" Target="slides/slide47.xml"/><Relationship Id="rId13" Type="http://schemas.openxmlformats.org/officeDocument/2006/relationships/slide" Target="slides/slide6.xml"/><Relationship Id="rId57" Type="http://schemas.openxmlformats.org/officeDocument/2006/relationships/slide" Target="slides/slide50.xml"/><Relationship Id="rId12" Type="http://schemas.openxmlformats.org/officeDocument/2006/relationships/slide" Target="slides/slide5.xml"/><Relationship Id="rId56" Type="http://schemas.openxmlformats.org/officeDocument/2006/relationships/slide" Target="slides/slide49.xml"/><Relationship Id="rId15" Type="http://schemas.openxmlformats.org/officeDocument/2006/relationships/slide" Target="slides/slide8.xml"/><Relationship Id="rId59" Type="http://schemas.openxmlformats.org/officeDocument/2006/relationships/slide" Target="slides/slide52.xml"/><Relationship Id="rId14" Type="http://schemas.openxmlformats.org/officeDocument/2006/relationships/slide" Target="slides/slide7.xml"/><Relationship Id="rId58" Type="http://schemas.openxmlformats.org/officeDocument/2006/relationships/slide" Target="slides/slide51.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4" name="Google Shape;18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7" name="Google Shape;257;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g2134745c178_0_18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3" name="Google Shape;273;g2134745c178_0_18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g2134745c178_0_19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0" name="Google Shape;370;g2134745c178_0_19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1" name="Google Shape;47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0" name="Google Shape;52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0" name="Google Shape;590;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2134745c178_0_2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2134745c178_0_2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2134745c178_0_22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2134745c178_0_22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5" name="Shape 825"/>
        <p:cNvGrpSpPr/>
        <p:nvPr/>
      </p:nvGrpSpPr>
      <p:grpSpPr>
        <a:xfrm>
          <a:off x="0" y="0"/>
          <a:ext cx="0" cy="0"/>
          <a:chOff x="0" y="0"/>
          <a:chExt cx="0" cy="0"/>
        </a:xfrm>
      </p:grpSpPr>
      <p:sp>
        <p:nvSpPr>
          <p:cNvPr id="826" name="Google Shape;82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7" name="Google Shape;82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8" name="Shape 848"/>
        <p:cNvGrpSpPr/>
        <p:nvPr/>
      </p:nvGrpSpPr>
      <p:grpSpPr>
        <a:xfrm>
          <a:off x="0" y="0"/>
          <a:ext cx="0" cy="0"/>
          <a:chOff x="0" y="0"/>
          <a:chExt cx="0" cy="0"/>
        </a:xfrm>
      </p:grpSpPr>
      <p:sp>
        <p:nvSpPr>
          <p:cNvPr id="849" name="Google Shape;849;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0" name="Google Shape;850;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5" name="Shape 885"/>
        <p:cNvGrpSpPr/>
        <p:nvPr/>
      </p:nvGrpSpPr>
      <p:grpSpPr>
        <a:xfrm>
          <a:off x="0" y="0"/>
          <a:ext cx="0" cy="0"/>
          <a:chOff x="0" y="0"/>
          <a:chExt cx="0" cy="0"/>
        </a:xfrm>
      </p:grpSpPr>
      <p:sp>
        <p:nvSpPr>
          <p:cNvPr id="886" name="Google Shape;886;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7" name="Google Shape;887;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6" name="Shape 896"/>
        <p:cNvGrpSpPr/>
        <p:nvPr/>
      </p:nvGrpSpPr>
      <p:grpSpPr>
        <a:xfrm>
          <a:off x="0" y="0"/>
          <a:ext cx="0" cy="0"/>
          <a:chOff x="0" y="0"/>
          <a:chExt cx="0" cy="0"/>
        </a:xfrm>
      </p:grpSpPr>
      <p:sp>
        <p:nvSpPr>
          <p:cNvPr id="897" name="Google Shape;897;g2134745c178_0_23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8" name="Google Shape;898;g2134745c178_0_23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6" name="Shape 906"/>
        <p:cNvGrpSpPr/>
        <p:nvPr/>
      </p:nvGrpSpPr>
      <p:grpSpPr>
        <a:xfrm>
          <a:off x="0" y="0"/>
          <a:ext cx="0" cy="0"/>
          <a:chOff x="0" y="0"/>
          <a:chExt cx="0" cy="0"/>
        </a:xfrm>
      </p:grpSpPr>
      <p:sp>
        <p:nvSpPr>
          <p:cNvPr id="907" name="Google Shape;90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8" name="Google Shape;90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4" name="Shape 944"/>
        <p:cNvGrpSpPr/>
        <p:nvPr/>
      </p:nvGrpSpPr>
      <p:grpSpPr>
        <a:xfrm>
          <a:off x="0" y="0"/>
          <a:ext cx="0" cy="0"/>
          <a:chOff x="0" y="0"/>
          <a:chExt cx="0" cy="0"/>
        </a:xfrm>
      </p:grpSpPr>
      <p:sp>
        <p:nvSpPr>
          <p:cNvPr id="945" name="Google Shape;945;g2134745c178_0_23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6" name="Google Shape;946;g2134745c178_0_23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5" name="Shape 985"/>
        <p:cNvGrpSpPr/>
        <p:nvPr/>
      </p:nvGrpSpPr>
      <p:grpSpPr>
        <a:xfrm>
          <a:off x="0" y="0"/>
          <a:ext cx="0" cy="0"/>
          <a:chOff x="0" y="0"/>
          <a:chExt cx="0" cy="0"/>
        </a:xfrm>
      </p:grpSpPr>
      <p:sp>
        <p:nvSpPr>
          <p:cNvPr id="986" name="Google Shape;986;g2134745c178_0_24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7" name="Google Shape;987;g2134745c178_0_24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4" name="Shape 1054"/>
        <p:cNvGrpSpPr/>
        <p:nvPr/>
      </p:nvGrpSpPr>
      <p:grpSpPr>
        <a:xfrm>
          <a:off x="0" y="0"/>
          <a:ext cx="0" cy="0"/>
          <a:chOff x="0" y="0"/>
          <a:chExt cx="0" cy="0"/>
        </a:xfrm>
      </p:grpSpPr>
      <p:sp>
        <p:nvSpPr>
          <p:cNvPr id="1055" name="Google Shape;105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6" name="Google Shape;1056;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1" name="Shape 1061"/>
        <p:cNvGrpSpPr/>
        <p:nvPr/>
      </p:nvGrpSpPr>
      <p:grpSpPr>
        <a:xfrm>
          <a:off x="0" y="0"/>
          <a:ext cx="0" cy="0"/>
          <a:chOff x="0" y="0"/>
          <a:chExt cx="0" cy="0"/>
        </a:xfrm>
      </p:grpSpPr>
      <p:sp>
        <p:nvSpPr>
          <p:cNvPr id="1062" name="Google Shape;1062;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63" name="Google Shape;106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7" name="Shape 1077"/>
        <p:cNvGrpSpPr/>
        <p:nvPr/>
      </p:nvGrpSpPr>
      <p:grpSpPr>
        <a:xfrm>
          <a:off x="0" y="0"/>
          <a:ext cx="0" cy="0"/>
          <a:chOff x="0" y="0"/>
          <a:chExt cx="0" cy="0"/>
        </a:xfrm>
      </p:grpSpPr>
      <p:sp>
        <p:nvSpPr>
          <p:cNvPr id="1078" name="Google Shape;1078;g2134745c178_0_24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9" name="Google Shape;1079;g2134745c178_0_24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134745c178_0_25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9" name="Google Shape;1089;g2134745c178_0_25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7" name="Shape 1097"/>
        <p:cNvGrpSpPr/>
        <p:nvPr/>
      </p:nvGrpSpPr>
      <p:grpSpPr>
        <a:xfrm>
          <a:off x="0" y="0"/>
          <a:ext cx="0" cy="0"/>
          <a:chOff x="0" y="0"/>
          <a:chExt cx="0" cy="0"/>
        </a:xfrm>
      </p:grpSpPr>
      <p:sp>
        <p:nvSpPr>
          <p:cNvPr id="1098" name="Google Shape;1098;g2134745c178_0_25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9" name="Google Shape;1099;g2134745c178_0_25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7" name="Shape 1107"/>
        <p:cNvGrpSpPr/>
        <p:nvPr/>
      </p:nvGrpSpPr>
      <p:grpSpPr>
        <a:xfrm>
          <a:off x="0" y="0"/>
          <a:ext cx="0" cy="0"/>
          <a:chOff x="0" y="0"/>
          <a:chExt cx="0" cy="0"/>
        </a:xfrm>
      </p:grpSpPr>
      <p:sp>
        <p:nvSpPr>
          <p:cNvPr id="1108" name="Google Shape;1108;g2134745c178_0_2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9" name="Google Shape;1109;g2134745c178_0_2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7" name="Shape 1117"/>
        <p:cNvGrpSpPr/>
        <p:nvPr/>
      </p:nvGrpSpPr>
      <p:grpSpPr>
        <a:xfrm>
          <a:off x="0" y="0"/>
          <a:ext cx="0" cy="0"/>
          <a:chOff x="0" y="0"/>
          <a:chExt cx="0" cy="0"/>
        </a:xfrm>
      </p:grpSpPr>
      <p:sp>
        <p:nvSpPr>
          <p:cNvPr id="1118" name="Google Shape;1118;g2134745c178_0_3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9" name="Google Shape;1119;g2134745c178_0_3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9" name="Shape 1149"/>
        <p:cNvGrpSpPr/>
        <p:nvPr/>
      </p:nvGrpSpPr>
      <p:grpSpPr>
        <a:xfrm>
          <a:off x="0" y="0"/>
          <a:ext cx="0" cy="0"/>
          <a:chOff x="0" y="0"/>
          <a:chExt cx="0" cy="0"/>
        </a:xfrm>
      </p:grpSpPr>
      <p:sp>
        <p:nvSpPr>
          <p:cNvPr id="1150" name="Google Shape;1150;g2134745c178_0_3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1" name="Google Shape;1151;g2134745c178_0_3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1" name="Shape 1181"/>
        <p:cNvGrpSpPr/>
        <p:nvPr/>
      </p:nvGrpSpPr>
      <p:grpSpPr>
        <a:xfrm>
          <a:off x="0" y="0"/>
          <a:ext cx="0" cy="0"/>
          <a:chOff x="0" y="0"/>
          <a:chExt cx="0" cy="0"/>
        </a:xfrm>
      </p:grpSpPr>
      <p:sp>
        <p:nvSpPr>
          <p:cNvPr id="1182" name="Google Shape;1182;g2134745c178_0_4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3" name="Google Shape;1183;g2134745c178_0_4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6" name="Shape 1206"/>
        <p:cNvGrpSpPr/>
        <p:nvPr/>
      </p:nvGrpSpPr>
      <p:grpSpPr>
        <a:xfrm>
          <a:off x="0" y="0"/>
          <a:ext cx="0" cy="0"/>
          <a:chOff x="0" y="0"/>
          <a:chExt cx="0" cy="0"/>
        </a:xfrm>
      </p:grpSpPr>
      <p:sp>
        <p:nvSpPr>
          <p:cNvPr id="1207" name="Google Shape;1207;g2134745c178_0_26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08" name="Google Shape;1208;g2134745c178_0_26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0" name="Shape 1280"/>
        <p:cNvGrpSpPr/>
        <p:nvPr/>
      </p:nvGrpSpPr>
      <p:grpSpPr>
        <a:xfrm>
          <a:off x="0" y="0"/>
          <a:ext cx="0" cy="0"/>
          <a:chOff x="0" y="0"/>
          <a:chExt cx="0" cy="0"/>
        </a:xfrm>
      </p:grpSpPr>
      <p:sp>
        <p:nvSpPr>
          <p:cNvPr id="1281" name="Google Shape;1281;g2134745c178_0_5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2" name="Google Shape;1282;g2134745c178_0_5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3" name="Shape 1353"/>
        <p:cNvGrpSpPr/>
        <p:nvPr/>
      </p:nvGrpSpPr>
      <p:grpSpPr>
        <a:xfrm>
          <a:off x="0" y="0"/>
          <a:ext cx="0" cy="0"/>
          <a:chOff x="0" y="0"/>
          <a:chExt cx="0" cy="0"/>
        </a:xfrm>
      </p:grpSpPr>
      <p:sp>
        <p:nvSpPr>
          <p:cNvPr id="1354" name="Google Shape;1354;g2134745c178_0_5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5" name="Google Shape;1355;g2134745c178_0_5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98" name="Shape 1398"/>
        <p:cNvGrpSpPr/>
        <p:nvPr/>
      </p:nvGrpSpPr>
      <p:grpSpPr>
        <a:xfrm>
          <a:off x="0" y="0"/>
          <a:ext cx="0" cy="0"/>
          <a:chOff x="0" y="0"/>
          <a:chExt cx="0" cy="0"/>
        </a:xfrm>
      </p:grpSpPr>
      <p:sp>
        <p:nvSpPr>
          <p:cNvPr id="1399" name="Google Shape;1399;g2134745c178_0_6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00" name="Google Shape;1400;g2134745c178_0_6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9" name="Shape 1429"/>
        <p:cNvGrpSpPr/>
        <p:nvPr/>
      </p:nvGrpSpPr>
      <p:grpSpPr>
        <a:xfrm>
          <a:off x="0" y="0"/>
          <a:ext cx="0" cy="0"/>
          <a:chOff x="0" y="0"/>
          <a:chExt cx="0" cy="0"/>
        </a:xfrm>
      </p:grpSpPr>
      <p:sp>
        <p:nvSpPr>
          <p:cNvPr id="1430" name="Google Shape;1430;g2134745c178_0_27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1" name="Google Shape;1431;g2134745c178_0_27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3" name="Shape 1503"/>
        <p:cNvGrpSpPr/>
        <p:nvPr/>
      </p:nvGrpSpPr>
      <p:grpSpPr>
        <a:xfrm>
          <a:off x="0" y="0"/>
          <a:ext cx="0" cy="0"/>
          <a:chOff x="0" y="0"/>
          <a:chExt cx="0" cy="0"/>
        </a:xfrm>
      </p:grpSpPr>
      <p:sp>
        <p:nvSpPr>
          <p:cNvPr id="1504" name="Google Shape;1504;g2134745c178_0_27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5" name="Google Shape;1505;g2134745c178_0_27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3" name="Shape 1513"/>
        <p:cNvGrpSpPr/>
        <p:nvPr/>
      </p:nvGrpSpPr>
      <p:grpSpPr>
        <a:xfrm>
          <a:off x="0" y="0"/>
          <a:ext cx="0" cy="0"/>
          <a:chOff x="0" y="0"/>
          <a:chExt cx="0" cy="0"/>
        </a:xfrm>
      </p:grpSpPr>
      <p:sp>
        <p:nvSpPr>
          <p:cNvPr id="1514" name="Google Shape;1514;g2134745c178_0_7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5" name="Google Shape;1515;g2134745c178_0_7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3" name="Shape 1523"/>
        <p:cNvGrpSpPr/>
        <p:nvPr/>
      </p:nvGrpSpPr>
      <p:grpSpPr>
        <a:xfrm>
          <a:off x="0" y="0"/>
          <a:ext cx="0" cy="0"/>
          <a:chOff x="0" y="0"/>
          <a:chExt cx="0" cy="0"/>
        </a:xfrm>
      </p:grpSpPr>
      <p:sp>
        <p:nvSpPr>
          <p:cNvPr id="1524" name="Google Shape;1524;g2134745c178_0_7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25" name="Google Shape;1525;g2134745c178_0_7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3" name="Shape 1533"/>
        <p:cNvGrpSpPr/>
        <p:nvPr/>
      </p:nvGrpSpPr>
      <p:grpSpPr>
        <a:xfrm>
          <a:off x="0" y="0"/>
          <a:ext cx="0" cy="0"/>
          <a:chOff x="0" y="0"/>
          <a:chExt cx="0" cy="0"/>
        </a:xfrm>
      </p:grpSpPr>
      <p:sp>
        <p:nvSpPr>
          <p:cNvPr id="1534" name="Google Shape;1534;g2134745c178_0_74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35" name="Google Shape;1535;g2134745c178_0_7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84" name="Shape 1584"/>
        <p:cNvGrpSpPr/>
        <p:nvPr/>
      </p:nvGrpSpPr>
      <p:grpSpPr>
        <a:xfrm>
          <a:off x="0" y="0"/>
          <a:ext cx="0" cy="0"/>
          <a:chOff x="0" y="0"/>
          <a:chExt cx="0" cy="0"/>
        </a:xfrm>
      </p:grpSpPr>
      <p:sp>
        <p:nvSpPr>
          <p:cNvPr id="1585" name="Google Shape;1585;g2134745c178_0_7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6" name="Google Shape;1586;g2134745c178_0_7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4" name="Shape 1624"/>
        <p:cNvGrpSpPr/>
        <p:nvPr/>
      </p:nvGrpSpPr>
      <p:grpSpPr>
        <a:xfrm>
          <a:off x="0" y="0"/>
          <a:ext cx="0" cy="0"/>
          <a:chOff x="0" y="0"/>
          <a:chExt cx="0" cy="0"/>
        </a:xfrm>
      </p:grpSpPr>
      <p:sp>
        <p:nvSpPr>
          <p:cNvPr id="1625" name="Google Shape;1625;g2134745c178_0_8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26" name="Google Shape;1626;g2134745c178_0_8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0" name="Shape 1650"/>
        <p:cNvGrpSpPr/>
        <p:nvPr/>
      </p:nvGrpSpPr>
      <p:grpSpPr>
        <a:xfrm>
          <a:off x="0" y="0"/>
          <a:ext cx="0" cy="0"/>
          <a:chOff x="0" y="0"/>
          <a:chExt cx="0" cy="0"/>
        </a:xfrm>
      </p:grpSpPr>
      <p:sp>
        <p:nvSpPr>
          <p:cNvPr id="1651" name="Google Shape;1651;g2134745c178_0_27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2" name="Google Shape;1652;g2134745c178_0_27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8" name="Shape 1758"/>
        <p:cNvGrpSpPr/>
        <p:nvPr/>
      </p:nvGrpSpPr>
      <p:grpSpPr>
        <a:xfrm>
          <a:off x="0" y="0"/>
          <a:ext cx="0" cy="0"/>
          <a:chOff x="0" y="0"/>
          <a:chExt cx="0" cy="0"/>
        </a:xfrm>
      </p:grpSpPr>
      <p:sp>
        <p:nvSpPr>
          <p:cNvPr id="1759" name="Google Shape;1759;g2134745c178_0_9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0" name="Google Shape;1760;g2134745c178_0_9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8" name="Shape 1768"/>
        <p:cNvGrpSpPr/>
        <p:nvPr/>
      </p:nvGrpSpPr>
      <p:grpSpPr>
        <a:xfrm>
          <a:off x="0" y="0"/>
          <a:ext cx="0" cy="0"/>
          <a:chOff x="0" y="0"/>
          <a:chExt cx="0" cy="0"/>
        </a:xfrm>
      </p:grpSpPr>
      <p:sp>
        <p:nvSpPr>
          <p:cNvPr id="1769" name="Google Shape;1769;g2134745c178_0_9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0" name="Google Shape;1770;g2134745c178_0_97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8" name="Shape 1778"/>
        <p:cNvGrpSpPr/>
        <p:nvPr/>
      </p:nvGrpSpPr>
      <p:grpSpPr>
        <a:xfrm>
          <a:off x="0" y="0"/>
          <a:ext cx="0" cy="0"/>
          <a:chOff x="0" y="0"/>
          <a:chExt cx="0" cy="0"/>
        </a:xfrm>
      </p:grpSpPr>
      <p:sp>
        <p:nvSpPr>
          <p:cNvPr id="1779" name="Google Shape;1779;g2134745c178_0_9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80" name="Google Shape;1780;g2134745c178_0_9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8" name="Shape 1788"/>
        <p:cNvGrpSpPr/>
        <p:nvPr/>
      </p:nvGrpSpPr>
      <p:grpSpPr>
        <a:xfrm>
          <a:off x="0" y="0"/>
          <a:ext cx="0" cy="0"/>
          <a:chOff x="0" y="0"/>
          <a:chExt cx="0" cy="0"/>
        </a:xfrm>
      </p:grpSpPr>
      <p:sp>
        <p:nvSpPr>
          <p:cNvPr id="1789" name="Google Shape;1789;g2134745c178_0_99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90" name="Google Shape;1790;g2134745c178_0_99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8" name="Shape 1798"/>
        <p:cNvGrpSpPr/>
        <p:nvPr/>
      </p:nvGrpSpPr>
      <p:grpSpPr>
        <a:xfrm>
          <a:off x="0" y="0"/>
          <a:ext cx="0" cy="0"/>
          <a:chOff x="0" y="0"/>
          <a:chExt cx="0" cy="0"/>
        </a:xfrm>
      </p:grpSpPr>
      <p:sp>
        <p:nvSpPr>
          <p:cNvPr id="1799" name="Google Shape;1799;g2134745c178_0_118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0" name="Google Shape;1800;g2134745c178_0_118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5" name="Shape 1825"/>
        <p:cNvGrpSpPr/>
        <p:nvPr/>
      </p:nvGrpSpPr>
      <p:grpSpPr>
        <a:xfrm>
          <a:off x="0" y="0"/>
          <a:ext cx="0" cy="0"/>
          <a:chOff x="0" y="0"/>
          <a:chExt cx="0" cy="0"/>
        </a:xfrm>
      </p:grpSpPr>
      <p:sp>
        <p:nvSpPr>
          <p:cNvPr id="1826" name="Google Shape;1826;g2134745c178_0_29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7" name="Google Shape;1827;g2134745c178_0_29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7" name="Shape 1947"/>
        <p:cNvGrpSpPr/>
        <p:nvPr/>
      </p:nvGrpSpPr>
      <p:grpSpPr>
        <a:xfrm>
          <a:off x="0" y="0"/>
          <a:ext cx="0" cy="0"/>
          <a:chOff x="0" y="0"/>
          <a:chExt cx="0" cy="0"/>
        </a:xfrm>
      </p:grpSpPr>
      <p:sp>
        <p:nvSpPr>
          <p:cNvPr id="1948" name="Google Shape;1948;g2134745c178_0_130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9" name="Google Shape;1949;g2134745c178_0_13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9" name="Shape 1979"/>
        <p:cNvGrpSpPr/>
        <p:nvPr/>
      </p:nvGrpSpPr>
      <p:grpSpPr>
        <a:xfrm>
          <a:off x="0" y="0"/>
          <a:ext cx="0" cy="0"/>
          <a:chOff x="0" y="0"/>
          <a:chExt cx="0" cy="0"/>
        </a:xfrm>
      </p:grpSpPr>
      <p:sp>
        <p:nvSpPr>
          <p:cNvPr id="1980" name="Google Shape;1980;g2134745c178_0_13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81" name="Google Shape;1981;g2134745c178_0_13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3" name="Shape 2023"/>
        <p:cNvGrpSpPr/>
        <p:nvPr/>
      </p:nvGrpSpPr>
      <p:grpSpPr>
        <a:xfrm>
          <a:off x="0" y="0"/>
          <a:ext cx="0" cy="0"/>
          <a:chOff x="0" y="0"/>
          <a:chExt cx="0" cy="0"/>
        </a:xfrm>
      </p:grpSpPr>
      <p:sp>
        <p:nvSpPr>
          <p:cNvPr id="2024" name="Google Shape;2024;g2134745c178_0_30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5" name="Google Shape;2025;g2134745c178_0_30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1" name="Shape 2051"/>
        <p:cNvGrpSpPr/>
        <p:nvPr/>
      </p:nvGrpSpPr>
      <p:grpSpPr>
        <a:xfrm>
          <a:off x="0" y="0"/>
          <a:ext cx="0" cy="0"/>
          <a:chOff x="0" y="0"/>
          <a:chExt cx="0" cy="0"/>
        </a:xfrm>
      </p:grpSpPr>
      <p:sp>
        <p:nvSpPr>
          <p:cNvPr id="2052" name="Google Shape;2052;g2134745c178_0_14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3" name="Google Shape;2053;g2134745c178_0_14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3" name="Shape 2133"/>
        <p:cNvGrpSpPr/>
        <p:nvPr/>
      </p:nvGrpSpPr>
      <p:grpSpPr>
        <a:xfrm>
          <a:off x="0" y="0"/>
          <a:ext cx="0" cy="0"/>
          <a:chOff x="0" y="0"/>
          <a:chExt cx="0" cy="0"/>
        </a:xfrm>
      </p:grpSpPr>
      <p:sp>
        <p:nvSpPr>
          <p:cNvPr id="2134" name="Google Shape;2134;g2134745c178_0_149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5" name="Google Shape;2135;g2134745c178_0_149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61" name="Shape 2161"/>
        <p:cNvGrpSpPr/>
        <p:nvPr/>
      </p:nvGrpSpPr>
      <p:grpSpPr>
        <a:xfrm>
          <a:off x="0" y="0"/>
          <a:ext cx="0" cy="0"/>
          <a:chOff x="0" y="0"/>
          <a:chExt cx="0" cy="0"/>
        </a:xfrm>
      </p:grpSpPr>
      <p:sp>
        <p:nvSpPr>
          <p:cNvPr id="2162" name="Google Shape;2162;g2134745c178_0_15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63" name="Google Shape;2163;g2134745c178_0_1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1" name="Shape 2171"/>
        <p:cNvGrpSpPr/>
        <p:nvPr/>
      </p:nvGrpSpPr>
      <p:grpSpPr>
        <a:xfrm>
          <a:off x="0" y="0"/>
          <a:ext cx="0" cy="0"/>
          <a:chOff x="0" y="0"/>
          <a:chExt cx="0" cy="0"/>
        </a:xfrm>
      </p:grpSpPr>
      <p:sp>
        <p:nvSpPr>
          <p:cNvPr id="2172" name="Google Shape;2172;g2134745c178_0_15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3" name="Google Shape;2173;g2134745c178_0_15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2" name="Shape 2182"/>
        <p:cNvGrpSpPr/>
        <p:nvPr/>
      </p:nvGrpSpPr>
      <p:grpSpPr>
        <a:xfrm>
          <a:off x="0" y="0"/>
          <a:ext cx="0" cy="0"/>
          <a:chOff x="0" y="0"/>
          <a:chExt cx="0" cy="0"/>
        </a:xfrm>
      </p:grpSpPr>
      <p:sp>
        <p:nvSpPr>
          <p:cNvPr id="2183" name="Google Shape;2183;g2134745c178_0_15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84" name="Google Shape;2184;g2134745c178_0_15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3" name="Shape 2193"/>
        <p:cNvGrpSpPr/>
        <p:nvPr/>
      </p:nvGrpSpPr>
      <p:grpSpPr>
        <a:xfrm>
          <a:off x="0" y="0"/>
          <a:ext cx="0" cy="0"/>
          <a:chOff x="0" y="0"/>
          <a:chExt cx="0" cy="0"/>
        </a:xfrm>
      </p:grpSpPr>
      <p:sp>
        <p:nvSpPr>
          <p:cNvPr id="2194" name="Google Shape;2194;g2134745c178_0_154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5" name="Google Shape;2195;g2134745c178_0_154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5" name="Shape 2205"/>
        <p:cNvGrpSpPr/>
        <p:nvPr/>
      </p:nvGrpSpPr>
      <p:grpSpPr>
        <a:xfrm>
          <a:off x="0" y="0"/>
          <a:ext cx="0" cy="0"/>
          <a:chOff x="0" y="0"/>
          <a:chExt cx="0" cy="0"/>
        </a:xfrm>
      </p:grpSpPr>
      <p:sp>
        <p:nvSpPr>
          <p:cNvPr id="2206" name="Google Shape;2206;g2134745c178_0_15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7" name="Google Shape;2207;g2134745c178_0_15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8" name="Shape 2238"/>
        <p:cNvGrpSpPr/>
        <p:nvPr/>
      </p:nvGrpSpPr>
      <p:grpSpPr>
        <a:xfrm>
          <a:off x="0" y="0"/>
          <a:ext cx="0" cy="0"/>
          <a:chOff x="0" y="0"/>
          <a:chExt cx="0" cy="0"/>
        </a:xfrm>
      </p:grpSpPr>
      <p:sp>
        <p:nvSpPr>
          <p:cNvPr id="2239" name="Google Shape;2239;g2134745c178_0_159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40" name="Google Shape;2240;g2134745c178_0_159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g2134745c178_0_16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74" name="Google Shape;2274;g2134745c178_0_16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4" name="Shape 2314"/>
        <p:cNvGrpSpPr/>
        <p:nvPr/>
      </p:nvGrpSpPr>
      <p:grpSpPr>
        <a:xfrm>
          <a:off x="0" y="0"/>
          <a:ext cx="0" cy="0"/>
          <a:chOff x="0" y="0"/>
          <a:chExt cx="0" cy="0"/>
        </a:xfrm>
      </p:grpSpPr>
      <p:sp>
        <p:nvSpPr>
          <p:cNvPr id="2315" name="Google Shape;2315;g2134745c178_0_16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16" name="Google Shape;2316;g2134745c178_0_16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61" name="Shape 2361"/>
        <p:cNvGrpSpPr/>
        <p:nvPr/>
      </p:nvGrpSpPr>
      <p:grpSpPr>
        <a:xfrm>
          <a:off x="0" y="0"/>
          <a:ext cx="0" cy="0"/>
          <a:chOff x="0" y="0"/>
          <a:chExt cx="0" cy="0"/>
        </a:xfrm>
      </p:grpSpPr>
      <p:sp>
        <p:nvSpPr>
          <p:cNvPr id="2362" name="Google Shape;2362;g2134745c178_0_17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63" name="Google Shape;2363;g2134745c178_0_17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1" name="Shape 2371"/>
        <p:cNvGrpSpPr/>
        <p:nvPr/>
      </p:nvGrpSpPr>
      <p:grpSpPr>
        <a:xfrm>
          <a:off x="0" y="0"/>
          <a:ext cx="0" cy="0"/>
          <a:chOff x="0" y="0"/>
          <a:chExt cx="0" cy="0"/>
        </a:xfrm>
      </p:grpSpPr>
      <p:sp>
        <p:nvSpPr>
          <p:cNvPr id="2372" name="Google Shape;2372;g2134745c178_0_17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3" name="Google Shape;2373;g2134745c178_0_17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4" name="Shape 2394"/>
        <p:cNvGrpSpPr/>
        <p:nvPr/>
      </p:nvGrpSpPr>
      <p:grpSpPr>
        <a:xfrm>
          <a:off x="0" y="0"/>
          <a:ext cx="0" cy="0"/>
          <a:chOff x="0" y="0"/>
          <a:chExt cx="0" cy="0"/>
        </a:xfrm>
      </p:grpSpPr>
      <p:sp>
        <p:nvSpPr>
          <p:cNvPr id="2395" name="Google Shape;2395;g2134745c178_0_17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6" name="Google Shape;2396;g2134745c178_0_17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8" name="Shape 2418"/>
        <p:cNvGrpSpPr/>
        <p:nvPr/>
      </p:nvGrpSpPr>
      <p:grpSpPr>
        <a:xfrm>
          <a:off x="0" y="0"/>
          <a:ext cx="0" cy="0"/>
          <a:chOff x="0" y="0"/>
          <a:chExt cx="0" cy="0"/>
        </a:xfrm>
      </p:grpSpPr>
      <p:sp>
        <p:nvSpPr>
          <p:cNvPr id="2419" name="Google Shape;2419;g2134745c178_0_176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0" name="Google Shape;2420;g2134745c178_0_176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3" name="Shape 2433"/>
        <p:cNvGrpSpPr/>
        <p:nvPr/>
      </p:nvGrpSpPr>
      <p:grpSpPr>
        <a:xfrm>
          <a:off x="0" y="0"/>
          <a:ext cx="0" cy="0"/>
          <a:chOff x="0" y="0"/>
          <a:chExt cx="0" cy="0"/>
        </a:xfrm>
      </p:grpSpPr>
      <p:sp>
        <p:nvSpPr>
          <p:cNvPr id="2434" name="Google Shape;2434;g2134745c178_0_17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5" name="Google Shape;2435;g2134745c178_0_17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18"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600"/>
              <a:buNone/>
              <a:defRPr b="1" sz="3600">
                <a:solidFill>
                  <a:schemeClr val="dk1"/>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24" name="Google Shape;24;p4"/>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298450" lvl="1" marL="914400" algn="l">
              <a:lnSpc>
                <a:spcPct val="115000"/>
              </a:lnSpc>
              <a:spcBef>
                <a:spcPts val="1600"/>
              </a:spcBef>
              <a:spcAft>
                <a:spcPts val="0"/>
              </a:spcAft>
              <a:buClr>
                <a:schemeClr val="dk2"/>
              </a:buClr>
              <a:buSzPts val="1100"/>
              <a:buChar char="○"/>
              <a:defRPr sz="1400">
                <a:solidFill>
                  <a:schemeClr val="dk2"/>
                </a:solidFill>
              </a:defRPr>
            </a:lvl2pPr>
            <a:lvl3pPr indent="-298450" lvl="2" marL="1371600" algn="l">
              <a:lnSpc>
                <a:spcPct val="115000"/>
              </a:lnSpc>
              <a:spcBef>
                <a:spcPts val="1600"/>
              </a:spcBef>
              <a:spcAft>
                <a:spcPts val="0"/>
              </a:spcAft>
              <a:buClr>
                <a:schemeClr val="dk2"/>
              </a:buClr>
              <a:buSzPts val="1100"/>
              <a:buChar char="■"/>
              <a:defRPr sz="1400">
                <a:solidFill>
                  <a:schemeClr val="dk2"/>
                </a:solidFill>
              </a:defRPr>
            </a:lvl3pPr>
            <a:lvl4pPr indent="-298450" lvl="3" marL="1828800" algn="l">
              <a:lnSpc>
                <a:spcPct val="115000"/>
              </a:lnSpc>
              <a:spcBef>
                <a:spcPts val="1600"/>
              </a:spcBef>
              <a:spcAft>
                <a:spcPts val="0"/>
              </a:spcAft>
              <a:buClr>
                <a:schemeClr val="dk2"/>
              </a:buClr>
              <a:buSzPts val="1100"/>
              <a:buChar char="●"/>
              <a:defRPr sz="1400">
                <a:solidFill>
                  <a:schemeClr val="dk2"/>
                </a:solidFill>
              </a:defRPr>
            </a:lvl4pPr>
            <a:lvl5pPr indent="-298450" lvl="4" marL="2286000" algn="l">
              <a:lnSpc>
                <a:spcPct val="115000"/>
              </a:lnSpc>
              <a:spcBef>
                <a:spcPts val="1600"/>
              </a:spcBef>
              <a:spcAft>
                <a:spcPts val="0"/>
              </a:spcAft>
              <a:buClr>
                <a:schemeClr val="dk2"/>
              </a:buClr>
              <a:buSzPts val="1100"/>
              <a:buChar char="○"/>
              <a:defRPr sz="1400">
                <a:solidFill>
                  <a:schemeClr val="dk2"/>
                </a:solidFill>
              </a:defRPr>
            </a:lvl5pPr>
            <a:lvl6pPr indent="-298450" lvl="5" marL="2743200" algn="l">
              <a:lnSpc>
                <a:spcPct val="115000"/>
              </a:lnSpc>
              <a:spcBef>
                <a:spcPts val="1600"/>
              </a:spcBef>
              <a:spcAft>
                <a:spcPts val="0"/>
              </a:spcAft>
              <a:buClr>
                <a:schemeClr val="dk2"/>
              </a:buClr>
              <a:buSzPts val="1100"/>
              <a:buChar char="■"/>
              <a:defRPr sz="1400">
                <a:solidFill>
                  <a:schemeClr val="dk2"/>
                </a:solidFill>
              </a:defRPr>
            </a:lvl6pPr>
            <a:lvl7pPr indent="-298450" lvl="6" marL="3200400" algn="l">
              <a:lnSpc>
                <a:spcPct val="115000"/>
              </a:lnSpc>
              <a:spcBef>
                <a:spcPts val="1600"/>
              </a:spcBef>
              <a:spcAft>
                <a:spcPts val="0"/>
              </a:spcAft>
              <a:buClr>
                <a:schemeClr val="dk2"/>
              </a:buClr>
              <a:buSzPts val="1100"/>
              <a:buChar char="●"/>
              <a:defRPr sz="1400">
                <a:solidFill>
                  <a:schemeClr val="dk2"/>
                </a:solidFill>
              </a:defRPr>
            </a:lvl7pPr>
            <a:lvl8pPr indent="-298450" lvl="7" marL="3657600" algn="l">
              <a:lnSpc>
                <a:spcPct val="115000"/>
              </a:lnSpc>
              <a:spcBef>
                <a:spcPts val="1600"/>
              </a:spcBef>
              <a:spcAft>
                <a:spcPts val="0"/>
              </a:spcAft>
              <a:buClr>
                <a:schemeClr val="dk2"/>
              </a:buClr>
              <a:buSzPts val="1100"/>
              <a:buChar char="○"/>
              <a:defRPr sz="1400">
                <a:solidFill>
                  <a:schemeClr val="dk2"/>
                </a:solidFill>
              </a:defRPr>
            </a:lvl8pPr>
            <a:lvl9pPr indent="-298450" lvl="8" marL="411480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25" name="Google Shape;2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7" name="Google Shape;27;p4"/>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8" name="Google Shape;28;p4"/>
          <p:cNvSpPr txBox="1"/>
          <p:nvPr>
            <p:ph idx="4" type="title"/>
          </p:nvPr>
        </p:nvSpPr>
        <p:spPr>
          <a:xfrm>
            <a:off x="427525" y="32875"/>
            <a:ext cx="933900" cy="74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29" name="Shape 29"/>
        <p:cNvGrpSpPr/>
        <p:nvPr/>
      </p:nvGrpSpPr>
      <p:grpSpPr>
        <a:xfrm>
          <a:off x="0" y="0"/>
          <a:ext cx="0" cy="0"/>
          <a:chOff x="0" y="0"/>
          <a:chExt cx="0" cy="0"/>
        </a:xfrm>
      </p:grpSpPr>
      <p:sp>
        <p:nvSpPr>
          <p:cNvPr id="30" name="Google Shape;30;p5"/>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5"/>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32" name="Google Shape;32;p5"/>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33" name="Google Shape;33;p5"/>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34" name="Google Shape;34;p5"/>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36" name="Google Shape;36;p5"/>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5"/>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38" name="Google Shape;38;p5"/>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p6"/>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1" name="Google Shape;41;p6"/>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6"/>
          <p:cNvSpPr txBox="1"/>
          <p:nvPr>
            <p:ph type="title"/>
          </p:nvPr>
        </p:nvSpPr>
        <p:spPr>
          <a:xfrm>
            <a:off x="311725" y="500925"/>
            <a:ext cx="3706500" cy="63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3" name="Google Shape;43;p6"/>
          <p:cNvSpPr txBox="1"/>
          <p:nvPr>
            <p:ph idx="1" type="body"/>
          </p:nvPr>
        </p:nvSpPr>
        <p:spPr>
          <a:xfrm>
            <a:off x="46446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5" name="Google Shape;45;p6"/>
          <p:cNvSpPr txBox="1"/>
          <p:nvPr>
            <p:ph idx="2" type="body"/>
          </p:nvPr>
        </p:nvSpPr>
        <p:spPr>
          <a:xfrm>
            <a:off x="3154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46" name="Google Shape;46;p6"/>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7"/>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50" name="Google Shape;50;p7"/>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51" name="Google Shape;51;p7"/>
          <p:cNvSpPr txBox="1"/>
          <p:nvPr>
            <p:ph type="title"/>
          </p:nvPr>
        </p:nvSpPr>
        <p:spPr>
          <a:xfrm>
            <a:off x="5264725" y="500925"/>
            <a:ext cx="3706500" cy="6381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2" name="Google Shape;52;p7"/>
          <p:cNvSpPr txBox="1"/>
          <p:nvPr>
            <p:ph idx="1" type="body"/>
          </p:nvPr>
        </p:nvSpPr>
        <p:spPr>
          <a:xfrm>
            <a:off x="3012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53" name="Google Shape;53;p7"/>
          <p:cNvSpPr txBox="1"/>
          <p:nvPr>
            <p:ph idx="2" type="body"/>
          </p:nvPr>
        </p:nvSpPr>
        <p:spPr>
          <a:xfrm>
            <a:off x="51922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54" name="Google Shape;54;p7"/>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5" name="Shape 55"/>
        <p:cNvGrpSpPr/>
        <p:nvPr/>
      </p:nvGrpSpPr>
      <p:grpSpPr>
        <a:xfrm>
          <a:off x="0" y="0"/>
          <a:ext cx="0" cy="0"/>
          <a:chOff x="0" y="0"/>
          <a:chExt cx="0" cy="0"/>
        </a:xfrm>
      </p:grpSpPr>
      <p:sp>
        <p:nvSpPr>
          <p:cNvPr id="56" name="Google Shape;56;p8"/>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8" name="Google Shape;58;p8"/>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59" name="Google Shape;59;p8"/>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0" name="Google Shape;60;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1" name="Shape 61"/>
        <p:cNvGrpSpPr/>
        <p:nvPr/>
      </p:nvGrpSpPr>
      <p:grpSpPr>
        <a:xfrm>
          <a:off x="0" y="0"/>
          <a:ext cx="0" cy="0"/>
          <a:chOff x="0" y="0"/>
          <a:chExt cx="0" cy="0"/>
        </a:xfrm>
      </p:grpSpPr>
      <p:sp>
        <p:nvSpPr>
          <p:cNvPr id="62" name="Google Shape;62;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63" name="Shape 63"/>
        <p:cNvGrpSpPr/>
        <p:nvPr/>
      </p:nvGrpSpPr>
      <p:grpSpPr>
        <a:xfrm>
          <a:off x="0" y="0"/>
          <a:ext cx="0" cy="0"/>
          <a:chOff x="0" y="0"/>
          <a:chExt cx="0" cy="0"/>
        </a:xfrm>
      </p:grpSpPr>
      <p:sp>
        <p:nvSpPr>
          <p:cNvPr id="64" name="Google Shape;64;p10"/>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65" name="Google Shape;65;p10"/>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1600"/>
              </a:spcBef>
              <a:spcAft>
                <a:spcPts val="0"/>
              </a:spcAft>
              <a:buClr>
                <a:schemeClr val="accent2"/>
              </a:buClr>
              <a:buSzPts val="1100"/>
              <a:buChar char="○"/>
              <a:defRPr>
                <a:solidFill>
                  <a:schemeClr val="accent2"/>
                </a:solidFill>
              </a:defRPr>
            </a:lvl2pPr>
            <a:lvl3pPr indent="-298450" lvl="2" marL="1371600" algn="l">
              <a:lnSpc>
                <a:spcPct val="115000"/>
              </a:lnSpc>
              <a:spcBef>
                <a:spcPts val="1600"/>
              </a:spcBef>
              <a:spcAft>
                <a:spcPts val="0"/>
              </a:spcAft>
              <a:buClr>
                <a:schemeClr val="accent2"/>
              </a:buClr>
              <a:buSzPts val="1100"/>
              <a:buChar char="■"/>
              <a:defRPr>
                <a:solidFill>
                  <a:schemeClr val="accent2"/>
                </a:solidFill>
              </a:defRPr>
            </a:lvl3pPr>
            <a:lvl4pPr indent="-298450" lvl="3" marL="1828800" algn="l">
              <a:lnSpc>
                <a:spcPct val="115000"/>
              </a:lnSpc>
              <a:spcBef>
                <a:spcPts val="1600"/>
              </a:spcBef>
              <a:spcAft>
                <a:spcPts val="0"/>
              </a:spcAft>
              <a:buClr>
                <a:schemeClr val="accent2"/>
              </a:buClr>
              <a:buSzPts val="1100"/>
              <a:buChar char="●"/>
              <a:defRPr>
                <a:solidFill>
                  <a:schemeClr val="accent2"/>
                </a:solidFill>
              </a:defRPr>
            </a:lvl4pPr>
            <a:lvl5pPr indent="-298450" lvl="4" marL="2286000" algn="l">
              <a:lnSpc>
                <a:spcPct val="115000"/>
              </a:lnSpc>
              <a:spcBef>
                <a:spcPts val="1600"/>
              </a:spcBef>
              <a:spcAft>
                <a:spcPts val="0"/>
              </a:spcAft>
              <a:buClr>
                <a:schemeClr val="accent2"/>
              </a:buClr>
              <a:buSzPts val="1100"/>
              <a:buChar char="○"/>
              <a:defRPr>
                <a:solidFill>
                  <a:schemeClr val="accent2"/>
                </a:solidFill>
              </a:defRPr>
            </a:lvl5pPr>
            <a:lvl6pPr indent="-298450" lvl="5" marL="2743200" algn="l">
              <a:lnSpc>
                <a:spcPct val="115000"/>
              </a:lnSpc>
              <a:spcBef>
                <a:spcPts val="1600"/>
              </a:spcBef>
              <a:spcAft>
                <a:spcPts val="0"/>
              </a:spcAft>
              <a:buClr>
                <a:schemeClr val="accent2"/>
              </a:buClr>
              <a:buSzPts val="1100"/>
              <a:buChar char="■"/>
              <a:defRPr>
                <a:solidFill>
                  <a:schemeClr val="accent2"/>
                </a:solidFill>
              </a:defRPr>
            </a:lvl6pPr>
            <a:lvl7pPr indent="-298450" lvl="6" marL="3200400" algn="l">
              <a:lnSpc>
                <a:spcPct val="115000"/>
              </a:lnSpc>
              <a:spcBef>
                <a:spcPts val="1600"/>
              </a:spcBef>
              <a:spcAft>
                <a:spcPts val="0"/>
              </a:spcAft>
              <a:buClr>
                <a:schemeClr val="accent2"/>
              </a:buClr>
              <a:buSzPts val="1100"/>
              <a:buChar char="●"/>
              <a:defRPr>
                <a:solidFill>
                  <a:schemeClr val="accent2"/>
                </a:solidFill>
              </a:defRPr>
            </a:lvl7pPr>
            <a:lvl8pPr indent="-298450" lvl="7" marL="3657600" algn="l">
              <a:lnSpc>
                <a:spcPct val="115000"/>
              </a:lnSpc>
              <a:spcBef>
                <a:spcPts val="1600"/>
              </a:spcBef>
              <a:spcAft>
                <a:spcPts val="0"/>
              </a:spcAft>
              <a:buClr>
                <a:schemeClr val="accent2"/>
              </a:buClr>
              <a:buSzPts val="1100"/>
              <a:buChar char="○"/>
              <a:defRPr>
                <a:solidFill>
                  <a:schemeClr val="accent2"/>
                </a:solidFill>
              </a:defRPr>
            </a:lvl8pPr>
            <a:lvl9pPr indent="-298450" lvl="8" marL="4114800" algn="l">
              <a:lnSpc>
                <a:spcPct val="115000"/>
              </a:lnSpc>
              <a:spcBef>
                <a:spcPts val="1600"/>
              </a:spcBef>
              <a:spcAft>
                <a:spcPts val="1600"/>
              </a:spcAft>
              <a:buClr>
                <a:schemeClr val="accent2"/>
              </a:buClr>
              <a:buSzPts val="1100"/>
              <a:buChar char="■"/>
              <a:defRPr>
                <a:solidFill>
                  <a:schemeClr val="accent2"/>
                </a:solidFill>
              </a:defRPr>
            </a:lvl9pPr>
          </a:lstStyle>
          <a:p/>
        </p:txBody>
      </p:sp>
      <p:sp>
        <p:nvSpPr>
          <p:cNvPr id="66" name="Google Shape;66;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67" name="Shape 67"/>
        <p:cNvGrpSpPr/>
        <p:nvPr/>
      </p:nvGrpSpPr>
      <p:grpSpPr>
        <a:xfrm>
          <a:off x="0" y="0"/>
          <a:ext cx="0" cy="0"/>
          <a:chOff x="0" y="0"/>
          <a:chExt cx="0" cy="0"/>
        </a:xfrm>
      </p:grpSpPr>
      <p:sp>
        <p:nvSpPr>
          <p:cNvPr id="68" name="Google Shape;68;p11"/>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69" name="Google Shape;69;p11"/>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70" name="Google Shape;70;p11"/>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71" name="Google Shape;71;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72" name="Shape 72"/>
        <p:cNvGrpSpPr/>
        <p:nvPr/>
      </p:nvGrpSpPr>
      <p:grpSpPr>
        <a:xfrm>
          <a:off x="0" y="0"/>
          <a:ext cx="0" cy="0"/>
          <a:chOff x="0" y="0"/>
          <a:chExt cx="0" cy="0"/>
        </a:xfrm>
      </p:grpSpPr>
      <p:sp>
        <p:nvSpPr>
          <p:cNvPr id="73" name="Google Shape;73;p12"/>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74" name="Google Shape;74;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5" name="Shape 75"/>
        <p:cNvGrpSpPr/>
        <p:nvPr/>
      </p:nvGrpSpPr>
      <p:grpSpPr>
        <a:xfrm>
          <a:off x="0" y="0"/>
          <a:ext cx="0" cy="0"/>
          <a:chOff x="0" y="0"/>
          <a:chExt cx="0" cy="0"/>
        </a:xfrm>
      </p:grpSpPr>
      <p:sp>
        <p:nvSpPr>
          <p:cNvPr id="76" name="Google Shape;76;p13"/>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3"/>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78" name="Google Shape;78;p13"/>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79" name="Google Shape;79;p13"/>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80" name="Google Shape;80;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1" name="Shape 81"/>
        <p:cNvGrpSpPr/>
        <p:nvPr/>
      </p:nvGrpSpPr>
      <p:grpSpPr>
        <a:xfrm>
          <a:off x="0" y="0"/>
          <a:ext cx="0" cy="0"/>
          <a:chOff x="0" y="0"/>
          <a:chExt cx="0" cy="0"/>
        </a:xfrm>
      </p:grpSpPr>
      <p:sp>
        <p:nvSpPr>
          <p:cNvPr id="82" name="Google Shape;82;p14"/>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14"/>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84" name="Google Shape;84;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85" name="Shape 85"/>
        <p:cNvGrpSpPr/>
        <p:nvPr/>
      </p:nvGrpSpPr>
      <p:grpSpPr>
        <a:xfrm>
          <a:off x="0" y="0"/>
          <a:ext cx="0" cy="0"/>
          <a:chOff x="0" y="0"/>
          <a:chExt cx="0" cy="0"/>
        </a:xfrm>
      </p:grpSpPr>
      <p:sp>
        <p:nvSpPr>
          <p:cNvPr id="86" name="Google Shape;86;p15"/>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7" name="Google Shape;87;p15"/>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8" name="Google Shape;88;p15"/>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89" name="Google Shape;8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90" name="Shape 90"/>
        <p:cNvGrpSpPr/>
        <p:nvPr/>
      </p:nvGrpSpPr>
      <p:grpSpPr>
        <a:xfrm>
          <a:off x="0" y="0"/>
          <a:ext cx="0" cy="0"/>
          <a:chOff x="0" y="0"/>
          <a:chExt cx="0" cy="0"/>
        </a:xfrm>
      </p:grpSpPr>
      <p:sp>
        <p:nvSpPr>
          <p:cNvPr id="91" name="Google Shape;91;p1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92" name="Google Shape;92;p16"/>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93" name="Google Shape;93;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8" name="Shape 98"/>
        <p:cNvGrpSpPr/>
        <p:nvPr/>
      </p:nvGrpSpPr>
      <p:grpSpPr>
        <a:xfrm>
          <a:off x="0" y="0"/>
          <a:ext cx="0" cy="0"/>
          <a:chOff x="0" y="0"/>
          <a:chExt cx="0" cy="0"/>
        </a:xfrm>
      </p:grpSpPr>
      <p:sp>
        <p:nvSpPr>
          <p:cNvPr id="99" name="Google Shape;99;p18"/>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00" name="Google Shape;100;p18"/>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1" name="Google Shape;101;p18"/>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102" name="Google Shape;102;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03" name="Shape 103"/>
        <p:cNvGrpSpPr/>
        <p:nvPr/>
      </p:nvGrpSpPr>
      <p:grpSpPr>
        <a:xfrm>
          <a:off x="0" y="0"/>
          <a:ext cx="0" cy="0"/>
          <a:chOff x="0" y="0"/>
          <a:chExt cx="0" cy="0"/>
        </a:xfrm>
      </p:grpSpPr>
      <p:sp>
        <p:nvSpPr>
          <p:cNvPr id="104" name="Google Shape;104;p19"/>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05" name="Google Shape;105;p19"/>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06" name="Google Shape;106;p19"/>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07" name="Google Shape;107;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08" name="Shape 108"/>
        <p:cNvGrpSpPr/>
        <p:nvPr/>
      </p:nvGrpSpPr>
      <p:grpSpPr>
        <a:xfrm>
          <a:off x="0" y="0"/>
          <a:ext cx="0" cy="0"/>
          <a:chOff x="0" y="0"/>
          <a:chExt cx="0" cy="0"/>
        </a:xfrm>
      </p:grpSpPr>
      <p:sp>
        <p:nvSpPr>
          <p:cNvPr id="109" name="Google Shape;109;p20"/>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10" name="Google Shape;110;p20"/>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20"/>
          <p:cNvSpPr txBox="1"/>
          <p:nvPr>
            <p:ph type="title"/>
          </p:nvPr>
        </p:nvSpPr>
        <p:spPr>
          <a:xfrm>
            <a:off x="311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2" name="Google Shape;112;p20"/>
          <p:cNvSpPr txBox="1"/>
          <p:nvPr>
            <p:ph idx="1" type="body"/>
          </p:nvPr>
        </p:nvSpPr>
        <p:spPr>
          <a:xfrm>
            <a:off x="46446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13" name="Google Shape;113;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14" name="Google Shape;114;p20"/>
          <p:cNvSpPr txBox="1"/>
          <p:nvPr>
            <p:ph idx="2" type="body"/>
          </p:nvPr>
        </p:nvSpPr>
        <p:spPr>
          <a:xfrm>
            <a:off x="3154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15" name="Google Shape;115;p20"/>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16" name="Shape 116"/>
        <p:cNvGrpSpPr/>
        <p:nvPr/>
      </p:nvGrpSpPr>
      <p:grpSpPr>
        <a:xfrm>
          <a:off x="0" y="0"/>
          <a:ext cx="0" cy="0"/>
          <a:chOff x="0" y="0"/>
          <a:chExt cx="0" cy="0"/>
        </a:xfrm>
      </p:grpSpPr>
      <p:sp>
        <p:nvSpPr>
          <p:cNvPr id="117" name="Google Shape;117;p21"/>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1"/>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19" name="Google Shape;119;p21"/>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0" name="Google Shape;120;p21"/>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21" name="Google Shape;12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2" name="Shape 122"/>
        <p:cNvGrpSpPr/>
        <p:nvPr/>
      </p:nvGrpSpPr>
      <p:grpSpPr>
        <a:xfrm>
          <a:off x="0" y="0"/>
          <a:ext cx="0" cy="0"/>
          <a:chOff x="0" y="0"/>
          <a:chExt cx="0" cy="0"/>
        </a:xfrm>
      </p:grpSpPr>
      <p:sp>
        <p:nvSpPr>
          <p:cNvPr id="123" name="Google Shape;123;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2"/>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25" name="Google Shape;125;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26" name="Shape 126"/>
        <p:cNvGrpSpPr/>
        <p:nvPr/>
      </p:nvGrpSpPr>
      <p:grpSpPr>
        <a:xfrm>
          <a:off x="0" y="0"/>
          <a:ext cx="0" cy="0"/>
          <a:chOff x="0" y="0"/>
          <a:chExt cx="0" cy="0"/>
        </a:xfrm>
      </p:grpSpPr>
      <p:sp>
        <p:nvSpPr>
          <p:cNvPr id="127" name="Google Shape;127;p23"/>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3"/>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29" name="Google Shape;129;p23"/>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30" name="Google Shape;130;p23"/>
          <p:cNvSpPr txBox="1"/>
          <p:nvPr>
            <p:ph type="title"/>
          </p:nvPr>
        </p:nvSpPr>
        <p:spPr>
          <a:xfrm>
            <a:off x="5264725" y="500925"/>
            <a:ext cx="3706500" cy="6381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31" name="Google Shape;131;p23"/>
          <p:cNvSpPr txBox="1"/>
          <p:nvPr>
            <p:ph idx="1" type="body"/>
          </p:nvPr>
        </p:nvSpPr>
        <p:spPr>
          <a:xfrm>
            <a:off x="301275" y="500925"/>
            <a:ext cx="4166400" cy="4432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32" name="Google Shape;132;p23"/>
          <p:cNvSpPr txBox="1"/>
          <p:nvPr>
            <p:ph idx="2" type="body"/>
          </p:nvPr>
        </p:nvSpPr>
        <p:spPr>
          <a:xfrm>
            <a:off x="5192225" y="1286175"/>
            <a:ext cx="3706500" cy="26973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33" name="Google Shape;133;p23"/>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rtl="0">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34" name="Shape 134"/>
        <p:cNvGrpSpPr/>
        <p:nvPr/>
      </p:nvGrpSpPr>
      <p:grpSpPr>
        <a:xfrm>
          <a:off x="0" y="0"/>
          <a:ext cx="0" cy="0"/>
          <a:chOff x="0" y="0"/>
          <a:chExt cx="0" cy="0"/>
        </a:xfrm>
      </p:grpSpPr>
      <p:sp>
        <p:nvSpPr>
          <p:cNvPr id="135" name="Google Shape;135;p24"/>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36" name="Google Shape;136;p2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7" name="Shape 137"/>
        <p:cNvGrpSpPr/>
        <p:nvPr/>
      </p:nvGrpSpPr>
      <p:grpSpPr>
        <a:xfrm>
          <a:off x="0" y="0"/>
          <a:ext cx="0" cy="0"/>
          <a:chOff x="0" y="0"/>
          <a:chExt cx="0" cy="0"/>
        </a:xfrm>
      </p:grpSpPr>
      <p:sp>
        <p:nvSpPr>
          <p:cNvPr id="138" name="Google Shape;138;p25"/>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5"/>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40" name="Google Shape;140;p25"/>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141" name="Google Shape;141;p25"/>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42" name="Google Shape;142;p2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3" name="Shape 143"/>
        <p:cNvGrpSpPr/>
        <p:nvPr/>
      </p:nvGrpSpPr>
      <p:grpSpPr>
        <a:xfrm>
          <a:off x="0" y="0"/>
          <a:ext cx="0" cy="0"/>
          <a:chOff x="0" y="0"/>
          <a:chExt cx="0" cy="0"/>
        </a:xfrm>
      </p:grpSpPr>
      <p:sp>
        <p:nvSpPr>
          <p:cNvPr id="144" name="Google Shape;144;p26"/>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6"/>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46" name="Google Shape;146;p2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47" name="Shape 147"/>
        <p:cNvGrpSpPr/>
        <p:nvPr/>
      </p:nvGrpSpPr>
      <p:grpSpPr>
        <a:xfrm>
          <a:off x="0" y="0"/>
          <a:ext cx="0" cy="0"/>
          <a:chOff x="0" y="0"/>
          <a:chExt cx="0" cy="0"/>
        </a:xfrm>
      </p:grpSpPr>
      <p:sp>
        <p:nvSpPr>
          <p:cNvPr id="148" name="Google Shape;148;p27"/>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149" name="Google Shape;149;p27"/>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150" name="Google Shape;150;p2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1" name="Shape 151"/>
        <p:cNvGrpSpPr/>
        <p:nvPr/>
      </p:nvGrpSpPr>
      <p:grpSpPr>
        <a:xfrm>
          <a:off x="0" y="0"/>
          <a:ext cx="0" cy="0"/>
          <a:chOff x="0" y="0"/>
          <a:chExt cx="0" cy="0"/>
        </a:xfrm>
      </p:grpSpPr>
      <p:sp>
        <p:nvSpPr>
          <p:cNvPr id="152" name="Google Shape;152;p2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53" name="Shape 153"/>
        <p:cNvGrpSpPr/>
        <p:nvPr/>
      </p:nvGrpSpPr>
      <p:grpSpPr>
        <a:xfrm>
          <a:off x="0" y="0"/>
          <a:ext cx="0" cy="0"/>
          <a:chOff x="0" y="0"/>
          <a:chExt cx="0" cy="0"/>
        </a:xfrm>
      </p:grpSpPr>
      <p:sp>
        <p:nvSpPr>
          <p:cNvPr id="154" name="Google Shape;154;p29"/>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9"/>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56" name="Google Shape;156;p29"/>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57" name="Google Shape;157;p2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1" name="Google Shape;161;p3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162" name="Shape 162"/>
        <p:cNvGrpSpPr/>
        <p:nvPr/>
      </p:nvGrpSpPr>
      <p:grpSpPr>
        <a:xfrm>
          <a:off x="0" y="0"/>
          <a:ext cx="0" cy="0"/>
          <a:chOff x="0" y="0"/>
          <a:chExt cx="0" cy="0"/>
        </a:xfrm>
      </p:grpSpPr>
      <p:cxnSp>
        <p:nvCxnSpPr>
          <p:cNvPr id="163" name="Google Shape;163;p31"/>
          <p:cNvCxnSpPr/>
          <p:nvPr/>
        </p:nvCxnSpPr>
        <p:spPr>
          <a:xfrm>
            <a:off x="492563" y="1260284"/>
            <a:ext cx="424800" cy="0"/>
          </a:xfrm>
          <a:prstGeom prst="straightConnector1">
            <a:avLst/>
          </a:prstGeom>
          <a:noFill/>
          <a:ln cap="flat" cmpd="sng" w="38100">
            <a:solidFill>
              <a:schemeClr val="accent4"/>
            </a:solidFill>
            <a:prstDash val="solid"/>
            <a:round/>
            <a:headEnd len="sm" w="sm" type="none"/>
            <a:tailEnd len="sm" w="sm" type="none"/>
          </a:ln>
        </p:spPr>
      </p:cxnSp>
      <p:sp>
        <p:nvSpPr>
          <p:cNvPr id="164" name="Google Shape;164;p31"/>
          <p:cNvSpPr txBox="1"/>
          <p:nvPr>
            <p:ph type="title"/>
          </p:nvPr>
        </p:nvSpPr>
        <p:spPr>
          <a:xfrm>
            <a:off x="387900" y="458025"/>
            <a:ext cx="8368200" cy="6861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65" name="Google Shape;165;p31"/>
          <p:cNvSpPr txBox="1"/>
          <p:nvPr>
            <p:ph idx="1" type="body"/>
          </p:nvPr>
        </p:nvSpPr>
        <p:spPr>
          <a:xfrm>
            <a:off x="387900" y="1489824"/>
            <a:ext cx="8368200" cy="30789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66" name="Google Shape;166;p3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167" name="Shape 167"/>
        <p:cNvGrpSpPr/>
        <p:nvPr/>
      </p:nvGrpSpPr>
      <p:grpSpPr>
        <a:xfrm>
          <a:off x="0" y="0"/>
          <a:ext cx="0" cy="0"/>
          <a:chOff x="0" y="0"/>
          <a:chExt cx="0" cy="0"/>
        </a:xfrm>
      </p:grpSpPr>
      <p:sp>
        <p:nvSpPr>
          <p:cNvPr id="168" name="Google Shape;168;p32"/>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2"/>
          <p:cNvSpPr txBox="1"/>
          <p:nvPr>
            <p:ph type="title"/>
          </p:nvPr>
        </p:nvSpPr>
        <p:spPr>
          <a:xfrm>
            <a:off x="311700" y="315925"/>
            <a:ext cx="8520600" cy="8313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70" name="Google Shape;170;p32"/>
          <p:cNvSpPr txBox="1"/>
          <p:nvPr>
            <p:ph idx="1" type="body"/>
          </p:nvPr>
        </p:nvSpPr>
        <p:spPr>
          <a:xfrm>
            <a:off x="311700" y="1225225"/>
            <a:ext cx="8520600" cy="33540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71" name="Google Shape;171;p3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172" name="Shape 172"/>
        <p:cNvGrpSpPr/>
        <p:nvPr/>
      </p:nvGrpSpPr>
      <p:grpSpPr>
        <a:xfrm>
          <a:off x="0" y="0"/>
          <a:ext cx="0" cy="0"/>
          <a:chOff x="0" y="0"/>
          <a:chExt cx="0" cy="0"/>
        </a:xfrm>
      </p:grpSpPr>
      <p:sp>
        <p:nvSpPr>
          <p:cNvPr id="173" name="Google Shape;173;p33"/>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3"/>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75" name="Google Shape;175;p33"/>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176" name="Google Shape;176;p33"/>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77" name="Google Shape;177;p33"/>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3"/>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79" name="Google Shape;179;p33"/>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33"/>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81" name="Google Shape;181;p33"/>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1.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slideLayout" Target="../slideLayouts/slideLayout30.xml"/><Relationship Id="rId14" Type="http://schemas.openxmlformats.org/officeDocument/2006/relationships/slideLayout" Target="../slideLayouts/slideLayout29.xml"/><Relationship Id="rId17" Type="http://schemas.openxmlformats.org/officeDocument/2006/relationships/theme" Target="../theme/theme3.xml"/><Relationship Id="rId16" Type="http://schemas.openxmlformats.org/officeDocument/2006/relationships/slideLayout" Target="../slideLayouts/slideLayout31.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1600"/>
              </a:spcBef>
              <a:spcAft>
                <a:spcPts val="160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4" name="Shape 94"/>
        <p:cNvGrpSpPr/>
        <p:nvPr/>
      </p:nvGrpSpPr>
      <p:grpSpPr>
        <a:xfrm>
          <a:off x="0" y="0"/>
          <a:ext cx="0" cy="0"/>
          <a:chOff x="0" y="0"/>
          <a:chExt cx="0" cy="0"/>
        </a:xfrm>
      </p:grpSpPr>
      <p:sp>
        <p:nvSpPr>
          <p:cNvPr id="95" name="Google Shape;9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96" name="Google Shape;96;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97" name="Google Shape;9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4.png"/><Relationship Id="rId5" Type="http://schemas.openxmlformats.org/officeDocument/2006/relationships/image" Target="../media/image2.png"/><Relationship Id="rId6"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2.xml"/><Relationship Id="rId3" Type="http://schemas.openxmlformats.org/officeDocument/2006/relationships/image" Target="../media/image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3.xml"/><Relationship Id="rId3" Type="http://schemas.openxmlformats.org/officeDocument/2006/relationships/image" Target="../media/image9.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9.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16.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 Id="rId3" Type="http://schemas.openxmlformats.org/officeDocument/2006/relationships/image" Target="../media/image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9.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 Id="rId3" Type="http://schemas.openxmlformats.org/officeDocument/2006/relationships/image" Target="../media/image1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 Id="rId3" Type="http://schemas.openxmlformats.org/officeDocument/2006/relationships/image" Target="../media/image18.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 Id="rId3" Type="http://schemas.openxmlformats.org/officeDocument/2006/relationships/image" Target="../media/image18.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 Id="rId3" Type="http://schemas.openxmlformats.org/officeDocument/2006/relationships/image" Target="../media/image18.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13.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sp>
        <p:nvSpPr>
          <p:cNvPr id="186" name="Google Shape;186;p34"/>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GCIS-124</a:t>
            </a:r>
            <a:endParaRPr/>
          </a:p>
          <a:p>
            <a:pPr indent="0" lvl="0" marL="0" rtl="0" algn="l">
              <a:lnSpc>
                <a:spcPct val="100000"/>
              </a:lnSpc>
              <a:spcBef>
                <a:spcPts val="0"/>
              </a:spcBef>
              <a:spcAft>
                <a:spcPts val="0"/>
              </a:spcAft>
              <a:buSzPts val="3600"/>
              <a:buNone/>
            </a:pPr>
            <a:r>
              <a:rPr lang="en" sz="3100"/>
              <a:t>Software Development &amp; Problem Solving</a:t>
            </a:r>
            <a:endParaRPr sz="3100"/>
          </a:p>
        </p:txBody>
      </p:sp>
      <p:sp>
        <p:nvSpPr>
          <p:cNvPr id="187" name="Google Shape;187;p34"/>
          <p:cNvSpPr txBox="1"/>
          <p:nvPr>
            <p:ph idx="1" type="subTitle"/>
          </p:nvPr>
        </p:nvSpPr>
        <p:spPr>
          <a:xfrm>
            <a:off x="311700" y="1878550"/>
            <a:ext cx="4741200" cy="950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i="1" lang="en" sz="2600"/>
              <a:t>12</a:t>
            </a:r>
            <a:r>
              <a:rPr i="1" lang="en" sz="2600"/>
              <a:t>: Data Structures IV</a:t>
            </a:r>
            <a:endParaRPr i="1" sz="2600">
              <a:solidFill>
                <a:srgbClr val="FF0000"/>
              </a:solidFill>
            </a:endParaRPr>
          </a:p>
        </p:txBody>
      </p:sp>
      <p:grpSp>
        <p:nvGrpSpPr>
          <p:cNvPr id="188" name="Google Shape;188;p34"/>
          <p:cNvGrpSpPr/>
          <p:nvPr/>
        </p:nvGrpSpPr>
        <p:grpSpPr>
          <a:xfrm>
            <a:off x="5001999" y="4264475"/>
            <a:ext cx="3908400" cy="738300"/>
            <a:chOff x="5001999" y="4264475"/>
            <a:chExt cx="3908400" cy="738300"/>
          </a:xfrm>
        </p:grpSpPr>
        <p:sp>
          <p:nvSpPr>
            <p:cNvPr id="189" name="Google Shape;189;p34"/>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90" name="Google Shape;190;p34"/>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35"/>
          <p:cNvSpPr txBox="1"/>
          <p:nvPr>
            <p:ph type="title"/>
          </p:nvPr>
        </p:nvSpPr>
        <p:spPr>
          <a:xfrm>
            <a:off x="311725" y="2723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Graphs</a:t>
            </a:r>
            <a:endParaRPr/>
          </a:p>
        </p:txBody>
      </p:sp>
      <p:sp>
        <p:nvSpPr>
          <p:cNvPr id="196" name="Google Shape;196;p35"/>
          <p:cNvSpPr txBox="1"/>
          <p:nvPr>
            <p:ph idx="1" type="body"/>
          </p:nvPr>
        </p:nvSpPr>
        <p:spPr>
          <a:xfrm>
            <a:off x="4644675" y="272325"/>
            <a:ext cx="4166400" cy="4553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In this unit we will learn about a new kind of data structure: the </a:t>
            </a:r>
            <a:r>
              <a:rPr b="1" i="1" lang="en">
                <a:solidFill>
                  <a:srgbClr val="FF0000"/>
                </a:solidFill>
              </a:rPr>
              <a:t>graph</a:t>
            </a:r>
            <a:r>
              <a:rPr lang="en"/>
              <a:t>.</a:t>
            </a:r>
            <a:endParaRPr/>
          </a:p>
          <a:p>
            <a:pPr indent="-298450" lvl="1" marL="914400" rtl="0" algn="l">
              <a:lnSpc>
                <a:spcPct val="115000"/>
              </a:lnSpc>
              <a:spcBef>
                <a:spcPts val="0"/>
              </a:spcBef>
              <a:spcAft>
                <a:spcPts val="0"/>
              </a:spcAft>
              <a:buSzPts val="1100"/>
              <a:buChar char="○"/>
            </a:pPr>
            <a:r>
              <a:rPr lang="en"/>
              <a:t>A graph comprises </a:t>
            </a:r>
            <a:r>
              <a:rPr b="1" i="1" lang="en">
                <a:solidFill>
                  <a:srgbClr val="FF0000"/>
                </a:solidFill>
              </a:rPr>
              <a:t>vertices</a:t>
            </a:r>
            <a:r>
              <a:rPr lang="en"/>
              <a:t>, each of which holds some kind of </a:t>
            </a:r>
            <a:r>
              <a:rPr b="1" i="1" lang="en">
                <a:solidFill>
                  <a:srgbClr val="FF0000"/>
                </a:solidFill>
              </a:rPr>
              <a:t>data</a:t>
            </a:r>
            <a:r>
              <a:rPr lang="en"/>
              <a:t>.</a:t>
            </a:r>
            <a:endParaRPr/>
          </a:p>
          <a:p>
            <a:pPr indent="-298450" lvl="1" marL="914400" rtl="0" algn="l">
              <a:lnSpc>
                <a:spcPct val="115000"/>
              </a:lnSpc>
              <a:spcBef>
                <a:spcPts val="0"/>
              </a:spcBef>
              <a:spcAft>
                <a:spcPts val="0"/>
              </a:spcAft>
              <a:buSzPts val="1100"/>
              <a:buChar char="○"/>
            </a:pPr>
            <a:r>
              <a:rPr lang="en"/>
              <a:t>Two </a:t>
            </a:r>
            <a:r>
              <a:rPr b="1" i="1" lang="en">
                <a:solidFill>
                  <a:srgbClr val="FF0000"/>
                </a:solidFill>
              </a:rPr>
              <a:t>vertices</a:t>
            </a:r>
            <a:r>
              <a:rPr lang="en">
                <a:solidFill>
                  <a:srgbClr val="FF0000"/>
                </a:solidFill>
              </a:rPr>
              <a:t> </a:t>
            </a:r>
            <a:r>
              <a:rPr lang="en"/>
              <a:t>may be connected by an </a:t>
            </a:r>
            <a:r>
              <a:rPr b="1" i="1" lang="en">
                <a:solidFill>
                  <a:srgbClr val="FF0000"/>
                </a:solidFill>
              </a:rPr>
              <a:t>edge</a:t>
            </a:r>
            <a:r>
              <a:rPr lang="en"/>
              <a:t>. If so, they are said to be </a:t>
            </a:r>
            <a:r>
              <a:rPr b="1" i="1" lang="en">
                <a:solidFill>
                  <a:srgbClr val="FF0000"/>
                </a:solidFill>
              </a:rPr>
              <a:t>neighbors</a:t>
            </a:r>
            <a:r>
              <a:rPr lang="en"/>
              <a:t>.</a:t>
            </a:r>
            <a:endParaRPr/>
          </a:p>
          <a:p>
            <a:pPr indent="-298450" lvl="1" marL="914400" rtl="0" algn="l">
              <a:lnSpc>
                <a:spcPct val="115000"/>
              </a:lnSpc>
              <a:spcBef>
                <a:spcPts val="0"/>
              </a:spcBef>
              <a:spcAft>
                <a:spcPts val="0"/>
              </a:spcAft>
              <a:buSzPts val="1100"/>
              <a:buChar char="○"/>
            </a:pPr>
            <a:r>
              <a:rPr lang="en"/>
              <a:t>Graphs can be used to model complex data sets representing entities with lots of connections between them including computer networks, airports, highway systems, and so on.</a:t>
            </a:r>
            <a:endParaRPr/>
          </a:p>
          <a:p>
            <a:pPr indent="-311150" lvl="0" marL="457200" rtl="0" algn="l">
              <a:lnSpc>
                <a:spcPct val="115000"/>
              </a:lnSpc>
              <a:spcBef>
                <a:spcPts val="1000"/>
              </a:spcBef>
              <a:spcAft>
                <a:spcPts val="0"/>
              </a:spcAft>
              <a:buSzPts val="1300"/>
              <a:buChar char="●"/>
            </a:pPr>
            <a:r>
              <a:rPr lang="en"/>
              <a:t>We will be exploring several different aspects of graphs, including:</a:t>
            </a:r>
            <a:endParaRPr/>
          </a:p>
          <a:p>
            <a:pPr indent="-298450" lvl="1" marL="914400" rtl="0" algn="l">
              <a:lnSpc>
                <a:spcPct val="115000"/>
              </a:lnSpc>
              <a:spcBef>
                <a:spcPts val="0"/>
              </a:spcBef>
              <a:spcAft>
                <a:spcPts val="0"/>
              </a:spcAft>
              <a:buSzPts val="1100"/>
              <a:buChar char="○"/>
            </a:pPr>
            <a:r>
              <a:rPr lang="en"/>
              <a:t>Graph Terminology </a:t>
            </a:r>
            <a:endParaRPr/>
          </a:p>
          <a:p>
            <a:pPr indent="-298450" lvl="1" marL="914400" rtl="0" algn="l">
              <a:lnSpc>
                <a:spcPct val="115000"/>
              </a:lnSpc>
              <a:spcBef>
                <a:spcPts val="0"/>
              </a:spcBef>
              <a:spcAft>
                <a:spcPts val="0"/>
              </a:spcAft>
              <a:buSzPts val="1100"/>
              <a:buChar char="○"/>
            </a:pPr>
            <a:r>
              <a:rPr lang="en"/>
              <a:t>The Graph ADT </a:t>
            </a:r>
            <a:endParaRPr/>
          </a:p>
          <a:p>
            <a:pPr indent="-298450" lvl="1" marL="914400" rtl="0" algn="l">
              <a:lnSpc>
                <a:spcPct val="115000"/>
              </a:lnSpc>
              <a:spcBef>
                <a:spcPts val="0"/>
              </a:spcBef>
              <a:spcAft>
                <a:spcPts val="0"/>
              </a:spcAft>
              <a:buSzPts val="1100"/>
              <a:buChar char="○"/>
            </a:pPr>
            <a:r>
              <a:rPr lang="en"/>
              <a:t>Implementing a Graph using Adjacency Lists </a:t>
            </a:r>
            <a:endParaRPr/>
          </a:p>
          <a:p>
            <a:pPr indent="-298450" lvl="1" marL="914400" rtl="0" algn="l">
              <a:lnSpc>
                <a:spcPct val="115000"/>
              </a:lnSpc>
              <a:spcBef>
                <a:spcPts val="0"/>
              </a:spcBef>
              <a:spcAft>
                <a:spcPts val="0"/>
              </a:spcAft>
              <a:buSzPts val="1100"/>
              <a:buChar char="○"/>
            </a:pPr>
            <a:r>
              <a:rPr lang="en"/>
              <a:t>Breadth-First Search &amp; Path </a:t>
            </a:r>
            <a:endParaRPr/>
          </a:p>
          <a:p>
            <a:pPr indent="-298450" lvl="1" marL="914400" rtl="0" algn="l">
              <a:lnSpc>
                <a:spcPct val="115000"/>
              </a:lnSpc>
              <a:spcBef>
                <a:spcPts val="0"/>
              </a:spcBef>
              <a:spcAft>
                <a:spcPts val="0"/>
              </a:spcAft>
              <a:buSzPts val="1100"/>
              <a:buChar char="○"/>
            </a:pPr>
            <a:r>
              <a:rPr lang="en"/>
              <a:t>Depth-First Search &amp; Path</a:t>
            </a:r>
            <a:endParaRPr/>
          </a:p>
          <a:p>
            <a:pPr indent="-311150" lvl="0" marL="457200" rtl="0" algn="l">
              <a:lnSpc>
                <a:spcPct val="115000"/>
              </a:lnSpc>
              <a:spcBef>
                <a:spcPts val="1000"/>
              </a:spcBef>
              <a:spcAft>
                <a:spcPts val="0"/>
              </a:spcAft>
              <a:buSzPts val="1300"/>
              <a:buChar char="●"/>
            </a:pPr>
            <a:r>
              <a:rPr lang="en"/>
              <a:t>To begin we will specifically be focusing on </a:t>
            </a:r>
            <a:r>
              <a:rPr b="1" i="1" lang="en">
                <a:solidFill>
                  <a:srgbClr val="FF0000"/>
                </a:solidFill>
              </a:rPr>
              <a:t>graph terminology</a:t>
            </a:r>
            <a:r>
              <a:rPr lang="en"/>
              <a:t> and implementing a graph using </a:t>
            </a:r>
            <a:r>
              <a:rPr b="1" i="1" lang="en">
                <a:solidFill>
                  <a:srgbClr val="FF0000"/>
                </a:solidFill>
              </a:rPr>
              <a:t>adjacency lists</a:t>
            </a:r>
            <a:r>
              <a:rPr lang="en"/>
              <a:t>.</a:t>
            </a:r>
            <a:endParaRPr/>
          </a:p>
        </p:txBody>
      </p:sp>
      <p:sp>
        <p:nvSpPr>
          <p:cNvPr id="197" name="Google Shape;19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98" name="Google Shape;198;p35"/>
          <p:cNvSpPr txBox="1"/>
          <p:nvPr>
            <p:ph idx="3" type="body"/>
          </p:nvPr>
        </p:nvSpPr>
        <p:spPr>
          <a:xfrm>
            <a:off x="260425" y="4221933"/>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 </a:t>
            </a:r>
            <a:r>
              <a:rPr b="1" i="1" lang="en">
                <a:solidFill>
                  <a:srgbClr val="FF0000"/>
                </a:solidFill>
              </a:rPr>
              <a:t>social network</a:t>
            </a:r>
            <a:r>
              <a:rPr lang="en">
                <a:solidFill>
                  <a:srgbClr val="FF0000"/>
                </a:solidFill>
              </a:rPr>
              <a:t> </a:t>
            </a:r>
            <a:r>
              <a:rPr lang="en"/>
              <a:t>is a kind of graph that includes people who are connected based on whether or not they follow each other on the network.</a:t>
            </a:r>
            <a:endParaRPr sz="1200"/>
          </a:p>
        </p:txBody>
      </p:sp>
      <p:sp>
        <p:nvSpPr>
          <p:cNvPr id="199" name="Google Shape;199;p35"/>
          <p:cNvSpPr/>
          <p:nvPr/>
        </p:nvSpPr>
        <p:spPr>
          <a:xfrm>
            <a:off x="3379953" y="2803847"/>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0" name="Google Shape;200;p35"/>
          <p:cNvSpPr/>
          <p:nvPr/>
        </p:nvSpPr>
        <p:spPr>
          <a:xfrm>
            <a:off x="3329513" y="2180354"/>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1" name="Google Shape;201;p35"/>
          <p:cNvCxnSpPr>
            <a:stCxn id="202" idx="1"/>
            <a:endCxn id="203" idx="5"/>
          </p:cNvCxnSpPr>
          <p:nvPr/>
        </p:nvCxnSpPr>
        <p:spPr>
          <a:xfrm rot="10800000">
            <a:off x="1093681" y="1647834"/>
            <a:ext cx="296700" cy="274800"/>
          </a:xfrm>
          <a:prstGeom prst="straightConnector1">
            <a:avLst/>
          </a:prstGeom>
          <a:noFill/>
          <a:ln cap="flat" cmpd="sng" w="19050">
            <a:solidFill>
              <a:srgbClr val="FF9900"/>
            </a:solidFill>
            <a:prstDash val="solid"/>
            <a:round/>
            <a:headEnd len="sm" w="sm" type="none"/>
            <a:tailEnd len="sm" w="sm" type="none"/>
          </a:ln>
        </p:spPr>
      </p:cxnSp>
      <p:cxnSp>
        <p:nvCxnSpPr>
          <p:cNvPr id="204" name="Google Shape;204;p35"/>
          <p:cNvCxnSpPr>
            <a:endCxn id="205" idx="4"/>
          </p:cNvCxnSpPr>
          <p:nvPr/>
        </p:nvCxnSpPr>
        <p:spPr>
          <a:xfrm rot="10800000">
            <a:off x="1502620" y="1376824"/>
            <a:ext cx="0" cy="499500"/>
          </a:xfrm>
          <a:prstGeom prst="straightConnector1">
            <a:avLst/>
          </a:prstGeom>
          <a:noFill/>
          <a:ln cap="flat" cmpd="sng" w="19050">
            <a:solidFill>
              <a:srgbClr val="FF9900"/>
            </a:solidFill>
            <a:prstDash val="solid"/>
            <a:round/>
            <a:headEnd len="sm" w="sm" type="none"/>
            <a:tailEnd len="sm" w="sm" type="none"/>
          </a:ln>
        </p:spPr>
      </p:cxnSp>
      <p:cxnSp>
        <p:nvCxnSpPr>
          <p:cNvPr id="206" name="Google Shape;206;p35"/>
          <p:cNvCxnSpPr>
            <a:stCxn id="202" idx="2"/>
            <a:endCxn id="207" idx="6"/>
          </p:cNvCxnSpPr>
          <p:nvPr/>
        </p:nvCxnSpPr>
        <p:spPr>
          <a:xfrm flipH="1">
            <a:off x="907090" y="2034873"/>
            <a:ext cx="436800" cy="36600"/>
          </a:xfrm>
          <a:prstGeom prst="straightConnector1">
            <a:avLst/>
          </a:prstGeom>
          <a:noFill/>
          <a:ln cap="flat" cmpd="sng" w="19050">
            <a:solidFill>
              <a:srgbClr val="FF9900"/>
            </a:solidFill>
            <a:prstDash val="solid"/>
            <a:round/>
            <a:headEnd len="sm" w="sm" type="none"/>
            <a:tailEnd len="sm" w="sm" type="none"/>
          </a:ln>
        </p:spPr>
      </p:cxnSp>
      <p:cxnSp>
        <p:nvCxnSpPr>
          <p:cNvPr id="208" name="Google Shape;208;p35"/>
          <p:cNvCxnSpPr>
            <a:stCxn id="202" idx="3"/>
            <a:endCxn id="209" idx="7"/>
          </p:cNvCxnSpPr>
          <p:nvPr/>
        </p:nvCxnSpPr>
        <p:spPr>
          <a:xfrm flipH="1">
            <a:off x="1135981" y="2147111"/>
            <a:ext cx="254400" cy="348300"/>
          </a:xfrm>
          <a:prstGeom prst="straightConnector1">
            <a:avLst/>
          </a:prstGeom>
          <a:noFill/>
          <a:ln cap="flat" cmpd="sng" w="19050">
            <a:solidFill>
              <a:srgbClr val="FF9900"/>
            </a:solidFill>
            <a:prstDash val="solid"/>
            <a:round/>
            <a:headEnd len="sm" w="sm" type="none"/>
            <a:tailEnd len="sm" w="sm" type="none"/>
          </a:ln>
        </p:spPr>
      </p:cxnSp>
      <p:cxnSp>
        <p:nvCxnSpPr>
          <p:cNvPr id="210" name="Google Shape;210;p35"/>
          <p:cNvCxnSpPr>
            <a:stCxn id="211" idx="2"/>
            <a:endCxn id="212" idx="6"/>
          </p:cNvCxnSpPr>
          <p:nvPr/>
        </p:nvCxnSpPr>
        <p:spPr>
          <a:xfrm flipH="1">
            <a:off x="991243" y="3013325"/>
            <a:ext cx="430200" cy="79800"/>
          </a:xfrm>
          <a:prstGeom prst="straightConnector1">
            <a:avLst/>
          </a:prstGeom>
          <a:noFill/>
          <a:ln cap="flat" cmpd="sng" w="19050">
            <a:solidFill>
              <a:srgbClr val="FF9900"/>
            </a:solidFill>
            <a:prstDash val="solid"/>
            <a:round/>
            <a:headEnd len="sm" w="sm" type="none"/>
            <a:tailEnd len="sm" w="sm" type="none"/>
          </a:ln>
        </p:spPr>
      </p:cxnSp>
      <p:cxnSp>
        <p:nvCxnSpPr>
          <p:cNvPr id="213" name="Google Shape;213;p35"/>
          <p:cNvCxnSpPr>
            <a:stCxn id="211" idx="4"/>
            <a:endCxn id="214" idx="0"/>
          </p:cNvCxnSpPr>
          <p:nvPr/>
        </p:nvCxnSpPr>
        <p:spPr>
          <a:xfrm flipH="1">
            <a:off x="1407673" y="3172054"/>
            <a:ext cx="172500" cy="390300"/>
          </a:xfrm>
          <a:prstGeom prst="straightConnector1">
            <a:avLst/>
          </a:prstGeom>
          <a:noFill/>
          <a:ln cap="flat" cmpd="sng" w="19050">
            <a:solidFill>
              <a:srgbClr val="FF9900"/>
            </a:solidFill>
            <a:prstDash val="solid"/>
            <a:round/>
            <a:headEnd len="sm" w="sm" type="none"/>
            <a:tailEnd len="sm" w="sm" type="none"/>
          </a:ln>
        </p:spPr>
      </p:cxnSp>
      <p:cxnSp>
        <p:nvCxnSpPr>
          <p:cNvPr id="215" name="Google Shape;215;p35"/>
          <p:cNvCxnSpPr>
            <a:stCxn id="216" idx="4"/>
            <a:endCxn id="217" idx="0"/>
          </p:cNvCxnSpPr>
          <p:nvPr/>
        </p:nvCxnSpPr>
        <p:spPr>
          <a:xfrm flipH="1">
            <a:off x="2276066" y="3378917"/>
            <a:ext cx="78300" cy="380100"/>
          </a:xfrm>
          <a:prstGeom prst="straightConnector1">
            <a:avLst/>
          </a:prstGeom>
          <a:noFill/>
          <a:ln cap="flat" cmpd="sng" w="19050">
            <a:solidFill>
              <a:srgbClr val="FF9900"/>
            </a:solidFill>
            <a:prstDash val="solid"/>
            <a:round/>
            <a:headEnd len="sm" w="sm" type="none"/>
            <a:tailEnd len="sm" w="sm" type="none"/>
          </a:ln>
        </p:spPr>
      </p:cxnSp>
      <p:cxnSp>
        <p:nvCxnSpPr>
          <p:cNvPr id="218" name="Google Shape;218;p35"/>
          <p:cNvCxnSpPr>
            <a:stCxn id="216" idx="5"/>
            <a:endCxn id="219" idx="1"/>
          </p:cNvCxnSpPr>
          <p:nvPr/>
        </p:nvCxnSpPr>
        <p:spPr>
          <a:xfrm>
            <a:off x="2466604" y="3332426"/>
            <a:ext cx="298200" cy="335700"/>
          </a:xfrm>
          <a:prstGeom prst="straightConnector1">
            <a:avLst/>
          </a:prstGeom>
          <a:noFill/>
          <a:ln cap="flat" cmpd="sng" w="19050">
            <a:solidFill>
              <a:srgbClr val="FF9900"/>
            </a:solidFill>
            <a:prstDash val="solid"/>
            <a:round/>
            <a:headEnd len="sm" w="sm" type="none"/>
            <a:tailEnd len="sm" w="sm" type="none"/>
          </a:ln>
        </p:spPr>
      </p:cxnSp>
      <p:cxnSp>
        <p:nvCxnSpPr>
          <p:cNvPr id="220" name="Google Shape;220;p35"/>
          <p:cNvCxnSpPr>
            <a:stCxn id="221" idx="4"/>
            <a:endCxn id="222" idx="1"/>
          </p:cNvCxnSpPr>
          <p:nvPr/>
        </p:nvCxnSpPr>
        <p:spPr>
          <a:xfrm>
            <a:off x="2784151" y="2895790"/>
            <a:ext cx="412500" cy="454800"/>
          </a:xfrm>
          <a:prstGeom prst="straightConnector1">
            <a:avLst/>
          </a:prstGeom>
          <a:noFill/>
          <a:ln cap="flat" cmpd="sng" w="19050">
            <a:solidFill>
              <a:srgbClr val="FF9900"/>
            </a:solidFill>
            <a:prstDash val="solid"/>
            <a:round/>
            <a:headEnd len="sm" w="sm" type="none"/>
            <a:tailEnd len="sm" w="sm" type="none"/>
          </a:ln>
        </p:spPr>
      </p:cxnSp>
      <p:cxnSp>
        <p:nvCxnSpPr>
          <p:cNvPr id="223" name="Google Shape;223;p35"/>
          <p:cNvCxnSpPr>
            <a:stCxn id="221" idx="6"/>
            <a:endCxn id="199" idx="2"/>
          </p:cNvCxnSpPr>
          <p:nvPr/>
        </p:nvCxnSpPr>
        <p:spPr>
          <a:xfrm>
            <a:off x="2942880" y="2737061"/>
            <a:ext cx="437100" cy="225600"/>
          </a:xfrm>
          <a:prstGeom prst="straightConnector1">
            <a:avLst/>
          </a:prstGeom>
          <a:noFill/>
          <a:ln cap="flat" cmpd="sng" w="19050">
            <a:solidFill>
              <a:srgbClr val="FF9900"/>
            </a:solidFill>
            <a:prstDash val="solid"/>
            <a:round/>
            <a:headEnd len="sm" w="sm" type="none"/>
            <a:tailEnd len="sm" w="sm" type="none"/>
          </a:ln>
        </p:spPr>
      </p:cxnSp>
      <p:cxnSp>
        <p:nvCxnSpPr>
          <p:cNvPr id="224" name="Google Shape;224;p35"/>
          <p:cNvCxnSpPr>
            <a:stCxn id="221" idx="7"/>
            <a:endCxn id="200" idx="2"/>
          </p:cNvCxnSpPr>
          <p:nvPr/>
        </p:nvCxnSpPr>
        <p:spPr>
          <a:xfrm flipH="1" rot="10800000">
            <a:off x="2896389" y="2339222"/>
            <a:ext cx="433200" cy="285600"/>
          </a:xfrm>
          <a:prstGeom prst="straightConnector1">
            <a:avLst/>
          </a:prstGeom>
          <a:noFill/>
          <a:ln cap="flat" cmpd="sng" w="19050">
            <a:solidFill>
              <a:srgbClr val="FF9900"/>
            </a:solidFill>
            <a:prstDash val="solid"/>
            <a:round/>
            <a:headEnd len="sm" w="sm" type="none"/>
            <a:tailEnd len="sm" w="sm" type="none"/>
          </a:ln>
        </p:spPr>
      </p:cxnSp>
      <p:cxnSp>
        <p:nvCxnSpPr>
          <p:cNvPr id="225" name="Google Shape;225;p35"/>
          <p:cNvCxnSpPr>
            <a:stCxn id="221" idx="0"/>
            <a:endCxn id="226" idx="4"/>
          </p:cNvCxnSpPr>
          <p:nvPr/>
        </p:nvCxnSpPr>
        <p:spPr>
          <a:xfrm flipH="1" rot="10800000">
            <a:off x="2784151" y="2099831"/>
            <a:ext cx="360300" cy="478500"/>
          </a:xfrm>
          <a:prstGeom prst="straightConnector1">
            <a:avLst/>
          </a:prstGeom>
          <a:noFill/>
          <a:ln cap="flat" cmpd="sng" w="19050">
            <a:solidFill>
              <a:srgbClr val="FF9900"/>
            </a:solidFill>
            <a:prstDash val="solid"/>
            <a:round/>
            <a:headEnd len="sm" w="sm" type="none"/>
            <a:tailEnd len="sm" w="sm" type="none"/>
          </a:ln>
        </p:spPr>
      </p:cxnSp>
      <p:cxnSp>
        <p:nvCxnSpPr>
          <p:cNvPr id="227" name="Google Shape;227;p35"/>
          <p:cNvCxnSpPr>
            <a:stCxn id="228" idx="0"/>
            <a:endCxn id="229" idx="4"/>
          </p:cNvCxnSpPr>
          <p:nvPr/>
        </p:nvCxnSpPr>
        <p:spPr>
          <a:xfrm flipH="1" rot="10800000">
            <a:off x="2646873" y="1503810"/>
            <a:ext cx="180300" cy="345600"/>
          </a:xfrm>
          <a:prstGeom prst="straightConnector1">
            <a:avLst/>
          </a:prstGeom>
          <a:noFill/>
          <a:ln cap="flat" cmpd="sng" w="19050">
            <a:solidFill>
              <a:srgbClr val="FF9900"/>
            </a:solidFill>
            <a:prstDash val="solid"/>
            <a:round/>
            <a:headEnd len="sm" w="sm" type="none"/>
            <a:tailEnd len="sm" w="sm" type="none"/>
          </a:ln>
        </p:spPr>
      </p:cxnSp>
      <p:cxnSp>
        <p:nvCxnSpPr>
          <p:cNvPr id="230" name="Google Shape;230;p35"/>
          <p:cNvCxnSpPr>
            <a:stCxn id="202" idx="7"/>
            <a:endCxn id="231" idx="3"/>
          </p:cNvCxnSpPr>
          <p:nvPr/>
        </p:nvCxnSpPr>
        <p:spPr>
          <a:xfrm flipH="1" rot="10800000">
            <a:off x="1614858" y="1293534"/>
            <a:ext cx="462900" cy="629100"/>
          </a:xfrm>
          <a:prstGeom prst="straightConnector1">
            <a:avLst/>
          </a:prstGeom>
          <a:noFill/>
          <a:ln cap="flat" cmpd="sng" w="19050">
            <a:solidFill>
              <a:srgbClr val="FF9900"/>
            </a:solidFill>
            <a:prstDash val="solid"/>
            <a:round/>
            <a:headEnd len="sm" w="sm" type="none"/>
            <a:tailEnd len="sm" w="sm" type="none"/>
          </a:ln>
        </p:spPr>
      </p:cxnSp>
      <p:cxnSp>
        <p:nvCxnSpPr>
          <p:cNvPr id="232" name="Google Shape;232;p35"/>
          <p:cNvCxnSpPr>
            <a:stCxn id="212" idx="7"/>
            <a:endCxn id="209" idx="4"/>
          </p:cNvCxnSpPr>
          <p:nvPr/>
        </p:nvCxnSpPr>
        <p:spPr>
          <a:xfrm flipH="1" rot="10800000">
            <a:off x="944694" y="2766186"/>
            <a:ext cx="79200" cy="214800"/>
          </a:xfrm>
          <a:prstGeom prst="straightConnector1">
            <a:avLst/>
          </a:prstGeom>
          <a:noFill/>
          <a:ln cap="flat" cmpd="sng" w="19050">
            <a:solidFill>
              <a:srgbClr val="EA9999"/>
            </a:solidFill>
            <a:prstDash val="solid"/>
            <a:round/>
            <a:headEnd len="sm" w="sm" type="none"/>
            <a:tailEnd len="sm" w="sm" type="none"/>
          </a:ln>
        </p:spPr>
      </p:cxnSp>
      <p:cxnSp>
        <p:nvCxnSpPr>
          <p:cNvPr id="233" name="Google Shape;233;p35"/>
          <p:cNvCxnSpPr>
            <a:stCxn id="211" idx="6"/>
            <a:endCxn id="216" idx="2"/>
          </p:cNvCxnSpPr>
          <p:nvPr/>
        </p:nvCxnSpPr>
        <p:spPr>
          <a:xfrm>
            <a:off x="1738902" y="3013325"/>
            <a:ext cx="456600" cy="207000"/>
          </a:xfrm>
          <a:prstGeom prst="straightConnector1">
            <a:avLst/>
          </a:prstGeom>
          <a:noFill/>
          <a:ln cap="flat" cmpd="sng" w="19050">
            <a:solidFill>
              <a:srgbClr val="FF9900"/>
            </a:solidFill>
            <a:prstDash val="solid"/>
            <a:round/>
            <a:headEnd len="sm" w="sm" type="none"/>
            <a:tailEnd len="sm" w="sm" type="none"/>
          </a:ln>
        </p:spPr>
      </p:cxnSp>
      <p:grpSp>
        <p:nvGrpSpPr>
          <p:cNvPr id="234" name="Google Shape;234;p35"/>
          <p:cNvGrpSpPr/>
          <p:nvPr/>
        </p:nvGrpSpPr>
        <p:grpSpPr>
          <a:xfrm>
            <a:off x="748458" y="1181284"/>
            <a:ext cx="2677985" cy="2736346"/>
            <a:chOff x="4912352" y="756750"/>
            <a:chExt cx="3251955" cy="3322825"/>
          </a:xfrm>
        </p:grpSpPr>
        <p:cxnSp>
          <p:nvCxnSpPr>
            <p:cNvPr id="235" name="Google Shape;235;p35"/>
            <p:cNvCxnSpPr>
              <a:stCxn id="203" idx="4"/>
              <a:endCxn id="207" idx="7"/>
            </p:cNvCxnSpPr>
            <p:nvPr/>
          </p:nvCxnSpPr>
          <p:spPr>
            <a:xfrm flipH="1">
              <a:off x="5048776" y="1379700"/>
              <a:ext cx="146400" cy="321900"/>
            </a:xfrm>
            <a:prstGeom prst="straightConnector1">
              <a:avLst/>
            </a:prstGeom>
            <a:noFill/>
            <a:ln cap="flat" cmpd="sng" w="19050">
              <a:solidFill>
                <a:srgbClr val="FFFF00"/>
              </a:solidFill>
              <a:prstDash val="solid"/>
              <a:round/>
              <a:headEnd len="sm" w="sm" type="none"/>
              <a:tailEnd len="sm" w="sm" type="none"/>
            </a:ln>
          </p:spPr>
        </p:cxnSp>
        <p:cxnSp>
          <p:nvCxnSpPr>
            <p:cNvPr id="236" name="Google Shape;236;p35"/>
            <p:cNvCxnSpPr>
              <a:stCxn id="205" idx="6"/>
              <a:endCxn id="231" idx="2"/>
            </p:cNvCxnSpPr>
            <p:nvPr/>
          </p:nvCxnSpPr>
          <p:spPr>
            <a:xfrm flipH="1" rot="10800000">
              <a:off x="6020901" y="756750"/>
              <a:ext cx="449100" cy="44700"/>
            </a:xfrm>
            <a:prstGeom prst="straightConnector1">
              <a:avLst/>
            </a:prstGeom>
            <a:noFill/>
            <a:ln cap="flat" cmpd="sng" w="19050">
              <a:solidFill>
                <a:srgbClr val="FFFF00"/>
              </a:solidFill>
              <a:prstDash val="solid"/>
              <a:round/>
              <a:headEnd len="sm" w="sm" type="none"/>
              <a:tailEnd len="sm" w="sm" type="none"/>
            </a:ln>
          </p:spPr>
        </p:cxnSp>
        <p:cxnSp>
          <p:nvCxnSpPr>
            <p:cNvPr id="237" name="Google Shape;237;p35"/>
            <p:cNvCxnSpPr>
              <a:stCxn id="205" idx="5"/>
              <a:endCxn id="228" idx="1"/>
            </p:cNvCxnSpPr>
            <p:nvPr/>
          </p:nvCxnSpPr>
          <p:spPr>
            <a:xfrm>
              <a:off x="5964446" y="937745"/>
              <a:ext cx="1116900" cy="686700"/>
            </a:xfrm>
            <a:prstGeom prst="straightConnector1">
              <a:avLst/>
            </a:prstGeom>
            <a:noFill/>
            <a:ln cap="flat" cmpd="sng" w="19050">
              <a:solidFill>
                <a:srgbClr val="FFFF00"/>
              </a:solidFill>
              <a:prstDash val="solid"/>
              <a:round/>
              <a:headEnd len="sm" w="sm" type="none"/>
              <a:tailEnd len="sm" w="sm" type="none"/>
            </a:ln>
          </p:spPr>
        </p:cxnSp>
        <p:cxnSp>
          <p:nvCxnSpPr>
            <p:cNvPr id="238" name="Google Shape;238;p35"/>
            <p:cNvCxnSpPr>
              <a:stCxn id="205" idx="3"/>
              <a:endCxn id="209" idx="0"/>
            </p:cNvCxnSpPr>
            <p:nvPr/>
          </p:nvCxnSpPr>
          <p:spPr>
            <a:xfrm flipH="1">
              <a:off x="5246657" y="937745"/>
              <a:ext cx="445200" cy="1358100"/>
            </a:xfrm>
            <a:prstGeom prst="straightConnector1">
              <a:avLst/>
            </a:prstGeom>
            <a:noFill/>
            <a:ln cap="flat" cmpd="sng" w="19050">
              <a:solidFill>
                <a:srgbClr val="FFFF00"/>
              </a:solidFill>
              <a:prstDash val="solid"/>
              <a:round/>
              <a:headEnd len="sm" w="sm" type="none"/>
              <a:tailEnd len="sm" w="sm" type="none"/>
            </a:ln>
          </p:spPr>
        </p:cxnSp>
        <p:cxnSp>
          <p:nvCxnSpPr>
            <p:cNvPr id="239" name="Google Shape;239;p35"/>
            <p:cNvCxnSpPr>
              <a:stCxn id="212" idx="0"/>
              <a:endCxn id="207" idx="4"/>
            </p:cNvCxnSpPr>
            <p:nvPr/>
          </p:nvCxnSpPr>
          <p:spPr>
            <a:xfrm rot="10800000">
              <a:off x="4912352" y="2030425"/>
              <a:ext cx="102000" cy="855300"/>
            </a:xfrm>
            <a:prstGeom prst="straightConnector1">
              <a:avLst/>
            </a:prstGeom>
            <a:noFill/>
            <a:ln cap="flat" cmpd="sng" w="19050">
              <a:solidFill>
                <a:srgbClr val="FFFF00"/>
              </a:solidFill>
              <a:prstDash val="solid"/>
              <a:round/>
              <a:headEnd len="sm" w="sm" type="none"/>
              <a:tailEnd len="sm" w="sm" type="none"/>
            </a:ln>
          </p:spPr>
        </p:cxnSp>
        <p:cxnSp>
          <p:nvCxnSpPr>
            <p:cNvPr id="240" name="Google Shape;240;p35"/>
            <p:cNvCxnSpPr>
              <a:stCxn id="217" idx="1"/>
              <a:endCxn id="211" idx="5"/>
            </p:cNvCxnSpPr>
            <p:nvPr/>
          </p:nvCxnSpPr>
          <p:spPr>
            <a:xfrm rot="10800000">
              <a:off x="6058531" y="3117731"/>
              <a:ext cx="572400" cy="825600"/>
            </a:xfrm>
            <a:prstGeom prst="straightConnector1">
              <a:avLst/>
            </a:prstGeom>
            <a:noFill/>
            <a:ln cap="flat" cmpd="sng" w="19050">
              <a:solidFill>
                <a:srgbClr val="FFFF00"/>
              </a:solidFill>
              <a:prstDash val="solid"/>
              <a:round/>
              <a:headEnd len="sm" w="sm" type="none"/>
              <a:tailEnd len="sm" w="sm" type="none"/>
            </a:ln>
          </p:spPr>
        </p:cxnSp>
        <p:cxnSp>
          <p:nvCxnSpPr>
            <p:cNvPr id="241" name="Google Shape;241;p35"/>
            <p:cNvCxnSpPr>
              <a:stCxn id="217" idx="7"/>
              <a:endCxn id="221" idx="3"/>
            </p:cNvCxnSpPr>
            <p:nvPr/>
          </p:nvCxnSpPr>
          <p:spPr>
            <a:xfrm flipH="1" rot="10800000">
              <a:off x="6903521" y="2782331"/>
              <a:ext cx="344400" cy="1161000"/>
            </a:xfrm>
            <a:prstGeom prst="straightConnector1">
              <a:avLst/>
            </a:prstGeom>
            <a:noFill/>
            <a:ln cap="flat" cmpd="sng" w="19050">
              <a:solidFill>
                <a:srgbClr val="FFFF00"/>
              </a:solidFill>
              <a:prstDash val="solid"/>
              <a:round/>
              <a:headEnd len="sm" w="sm" type="none"/>
              <a:tailEnd len="sm" w="sm" type="none"/>
            </a:ln>
          </p:spPr>
        </p:cxnSp>
        <p:cxnSp>
          <p:nvCxnSpPr>
            <p:cNvPr id="242" name="Google Shape;242;p35"/>
            <p:cNvCxnSpPr>
              <a:stCxn id="216" idx="6"/>
              <a:endCxn id="222" idx="2"/>
            </p:cNvCxnSpPr>
            <p:nvPr/>
          </p:nvCxnSpPr>
          <p:spPr>
            <a:xfrm>
              <a:off x="7055201" y="3232650"/>
              <a:ext cx="773700" cy="294600"/>
            </a:xfrm>
            <a:prstGeom prst="straightConnector1">
              <a:avLst/>
            </a:prstGeom>
            <a:noFill/>
            <a:ln cap="flat" cmpd="sng" w="19050">
              <a:solidFill>
                <a:srgbClr val="FFFF00"/>
              </a:solidFill>
              <a:prstDash val="solid"/>
              <a:round/>
              <a:headEnd len="sm" w="sm" type="none"/>
              <a:tailEnd len="sm" w="sm" type="none"/>
            </a:ln>
          </p:spPr>
        </p:cxnSp>
        <p:cxnSp>
          <p:nvCxnSpPr>
            <p:cNvPr id="243" name="Google Shape;243;p35"/>
            <p:cNvCxnSpPr>
              <a:stCxn id="214" idx="6"/>
              <a:endCxn id="217" idx="2"/>
            </p:cNvCxnSpPr>
            <p:nvPr/>
          </p:nvCxnSpPr>
          <p:spPr>
            <a:xfrm>
              <a:off x="5905501" y="3840775"/>
              <a:ext cx="669000" cy="238800"/>
            </a:xfrm>
            <a:prstGeom prst="straightConnector1">
              <a:avLst/>
            </a:prstGeom>
            <a:noFill/>
            <a:ln cap="flat" cmpd="sng" w="19050">
              <a:solidFill>
                <a:srgbClr val="FFFF00"/>
              </a:solidFill>
              <a:prstDash val="solid"/>
              <a:round/>
              <a:headEnd len="sm" w="sm" type="none"/>
              <a:tailEnd len="sm" w="sm" type="none"/>
            </a:ln>
          </p:spPr>
        </p:cxnSp>
        <p:cxnSp>
          <p:nvCxnSpPr>
            <p:cNvPr id="244" name="Google Shape;244;p35"/>
            <p:cNvCxnSpPr>
              <a:stCxn id="229" idx="5"/>
              <a:endCxn id="226" idx="0"/>
            </p:cNvCxnSpPr>
            <p:nvPr/>
          </p:nvCxnSpPr>
          <p:spPr>
            <a:xfrm>
              <a:off x="7572821" y="1091920"/>
              <a:ext cx="249300" cy="394800"/>
            </a:xfrm>
            <a:prstGeom prst="straightConnector1">
              <a:avLst/>
            </a:prstGeom>
            <a:noFill/>
            <a:ln cap="flat" cmpd="sng" w="19050">
              <a:solidFill>
                <a:srgbClr val="FFFF00"/>
              </a:solidFill>
              <a:prstDash val="solid"/>
              <a:round/>
              <a:headEnd len="sm" w="sm" type="none"/>
              <a:tailEnd len="sm" w="sm" type="none"/>
            </a:ln>
          </p:spPr>
        </p:cxnSp>
        <p:cxnSp>
          <p:nvCxnSpPr>
            <p:cNvPr id="245" name="Google Shape;245;p35"/>
            <p:cNvCxnSpPr>
              <a:stCxn id="229" idx="2"/>
              <a:endCxn id="209" idx="6"/>
            </p:cNvCxnSpPr>
            <p:nvPr/>
          </p:nvCxnSpPr>
          <p:spPr>
            <a:xfrm flipH="1">
              <a:off x="5439577" y="955625"/>
              <a:ext cx="1804200" cy="1533000"/>
            </a:xfrm>
            <a:prstGeom prst="straightConnector1">
              <a:avLst/>
            </a:prstGeom>
            <a:noFill/>
            <a:ln cap="flat" cmpd="sng" w="19050">
              <a:solidFill>
                <a:srgbClr val="FFFF00"/>
              </a:solidFill>
              <a:prstDash val="solid"/>
              <a:round/>
              <a:headEnd len="sm" w="sm" type="none"/>
              <a:tailEnd len="sm" w="sm" type="none"/>
            </a:ln>
          </p:spPr>
        </p:cxnSp>
        <p:cxnSp>
          <p:nvCxnSpPr>
            <p:cNvPr id="246" name="Google Shape;246;p35"/>
            <p:cNvCxnSpPr>
              <a:stCxn id="226" idx="4"/>
              <a:endCxn id="222" idx="0"/>
            </p:cNvCxnSpPr>
            <p:nvPr/>
          </p:nvCxnSpPr>
          <p:spPr>
            <a:xfrm>
              <a:off x="7822026" y="1872175"/>
              <a:ext cx="199500" cy="1462500"/>
            </a:xfrm>
            <a:prstGeom prst="straightConnector1">
              <a:avLst/>
            </a:prstGeom>
            <a:noFill/>
            <a:ln cap="flat" cmpd="sng" w="19050">
              <a:solidFill>
                <a:srgbClr val="FFFF00"/>
              </a:solidFill>
              <a:prstDash val="solid"/>
              <a:round/>
              <a:headEnd len="sm" w="sm" type="none"/>
              <a:tailEnd len="sm" w="sm" type="none"/>
            </a:ln>
          </p:spPr>
        </p:cxnSp>
        <p:cxnSp>
          <p:nvCxnSpPr>
            <p:cNvPr id="247" name="Google Shape;247;p35"/>
            <p:cNvCxnSpPr>
              <a:stCxn id="199" idx="1"/>
              <a:endCxn id="228" idx="5"/>
            </p:cNvCxnSpPr>
            <p:nvPr/>
          </p:nvCxnSpPr>
          <p:spPr>
            <a:xfrm rot="10800000">
              <a:off x="7354007" y="1897031"/>
              <a:ext cx="810300" cy="886500"/>
            </a:xfrm>
            <a:prstGeom prst="straightConnector1">
              <a:avLst/>
            </a:prstGeom>
            <a:noFill/>
            <a:ln cap="flat" cmpd="sng" w="19050">
              <a:solidFill>
                <a:srgbClr val="FFFF00"/>
              </a:solidFill>
              <a:prstDash val="solid"/>
              <a:round/>
              <a:headEnd len="sm" w="sm" type="none"/>
              <a:tailEnd len="sm" w="sm" type="none"/>
            </a:ln>
          </p:spPr>
        </p:cxnSp>
        <p:cxnSp>
          <p:nvCxnSpPr>
            <p:cNvPr id="248" name="Google Shape;248;p35"/>
            <p:cNvCxnSpPr>
              <a:stCxn id="211" idx="0"/>
              <a:endCxn id="202" idx="4"/>
            </p:cNvCxnSpPr>
            <p:nvPr/>
          </p:nvCxnSpPr>
          <p:spPr>
            <a:xfrm rot="10800000">
              <a:off x="5828126" y="1985901"/>
              <a:ext cx="94200" cy="802800"/>
            </a:xfrm>
            <a:prstGeom prst="straightConnector1">
              <a:avLst/>
            </a:prstGeom>
            <a:noFill/>
            <a:ln cap="flat" cmpd="sng" w="19050">
              <a:solidFill>
                <a:srgbClr val="FFFF00"/>
              </a:solidFill>
              <a:prstDash val="solid"/>
              <a:round/>
              <a:headEnd len="sm" w="sm" type="none"/>
              <a:tailEnd len="sm" w="sm" type="none"/>
            </a:ln>
          </p:spPr>
        </p:cxnSp>
      </p:grpSp>
      <p:sp>
        <p:nvSpPr>
          <p:cNvPr id="212" name="Google Shape;212;p35"/>
          <p:cNvSpPr/>
          <p:nvPr/>
        </p:nvSpPr>
        <p:spPr>
          <a:xfrm>
            <a:off x="673726" y="2934495"/>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35"/>
          <p:cNvSpPr/>
          <p:nvPr/>
        </p:nvSpPr>
        <p:spPr>
          <a:xfrm>
            <a:off x="1248858" y="3562249"/>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p35"/>
          <p:cNvSpPr/>
          <p:nvPr/>
        </p:nvSpPr>
        <p:spPr>
          <a:xfrm>
            <a:off x="2117218" y="3758942"/>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9" name="Google Shape;219;p35"/>
          <p:cNvSpPr/>
          <p:nvPr/>
        </p:nvSpPr>
        <p:spPr>
          <a:xfrm>
            <a:off x="2718415" y="3621541"/>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9" name="Google Shape;229;p35"/>
          <p:cNvSpPr/>
          <p:nvPr/>
        </p:nvSpPr>
        <p:spPr>
          <a:xfrm>
            <a:off x="2668387" y="1186328"/>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1" name="Google Shape;231;p35"/>
          <p:cNvSpPr/>
          <p:nvPr/>
        </p:nvSpPr>
        <p:spPr>
          <a:xfrm>
            <a:off x="2031286" y="1022534"/>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35"/>
          <p:cNvSpPr/>
          <p:nvPr/>
        </p:nvSpPr>
        <p:spPr>
          <a:xfrm>
            <a:off x="1343890" y="1059365"/>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3" name="Google Shape;203;p35"/>
          <p:cNvSpPr/>
          <p:nvPr/>
        </p:nvSpPr>
        <p:spPr>
          <a:xfrm>
            <a:off x="822635" y="1376824"/>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p35"/>
          <p:cNvSpPr/>
          <p:nvPr/>
        </p:nvSpPr>
        <p:spPr>
          <a:xfrm>
            <a:off x="589729" y="1912799"/>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9" name="Google Shape;209;p35"/>
          <p:cNvSpPr/>
          <p:nvPr/>
        </p:nvSpPr>
        <p:spPr>
          <a:xfrm>
            <a:off x="865107" y="2448774"/>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9" name="Google Shape;249;p35"/>
          <p:cNvCxnSpPr>
            <a:stCxn id="250" idx="1"/>
            <a:endCxn id="202" idx="5"/>
          </p:cNvCxnSpPr>
          <p:nvPr/>
        </p:nvCxnSpPr>
        <p:spPr>
          <a:xfrm rot="10800000">
            <a:off x="1614754" y="2147215"/>
            <a:ext cx="356400" cy="260100"/>
          </a:xfrm>
          <a:prstGeom prst="straightConnector1">
            <a:avLst/>
          </a:prstGeom>
          <a:noFill/>
          <a:ln cap="flat" cmpd="sng" w="19050">
            <a:solidFill>
              <a:srgbClr val="6AA84F"/>
            </a:solidFill>
            <a:prstDash val="solid"/>
            <a:round/>
            <a:headEnd len="sm" w="sm" type="none"/>
            <a:tailEnd len="sm" w="sm" type="none"/>
          </a:ln>
        </p:spPr>
      </p:cxnSp>
      <p:cxnSp>
        <p:nvCxnSpPr>
          <p:cNvPr id="251" name="Google Shape;251;p35"/>
          <p:cNvCxnSpPr>
            <a:stCxn id="250" idx="7"/>
            <a:endCxn id="228" idx="3"/>
          </p:cNvCxnSpPr>
          <p:nvPr/>
        </p:nvCxnSpPr>
        <p:spPr>
          <a:xfrm flipH="1" rot="10800000">
            <a:off x="2195631" y="2120515"/>
            <a:ext cx="339000" cy="286800"/>
          </a:xfrm>
          <a:prstGeom prst="straightConnector1">
            <a:avLst/>
          </a:prstGeom>
          <a:noFill/>
          <a:ln cap="flat" cmpd="sng" w="19050">
            <a:solidFill>
              <a:srgbClr val="6AA84F"/>
            </a:solidFill>
            <a:prstDash val="solid"/>
            <a:round/>
            <a:headEnd len="sm" w="sm" type="none"/>
            <a:tailEnd len="sm" w="sm" type="none"/>
          </a:ln>
        </p:spPr>
      </p:cxnSp>
      <p:cxnSp>
        <p:nvCxnSpPr>
          <p:cNvPr id="252" name="Google Shape;252;p35"/>
          <p:cNvCxnSpPr>
            <a:stCxn id="250" idx="6"/>
            <a:endCxn id="221" idx="1"/>
          </p:cNvCxnSpPr>
          <p:nvPr/>
        </p:nvCxnSpPr>
        <p:spPr>
          <a:xfrm>
            <a:off x="2242122" y="2519554"/>
            <a:ext cx="429900" cy="105300"/>
          </a:xfrm>
          <a:prstGeom prst="straightConnector1">
            <a:avLst/>
          </a:prstGeom>
          <a:noFill/>
          <a:ln cap="flat" cmpd="sng" w="19050">
            <a:solidFill>
              <a:srgbClr val="6AA84F"/>
            </a:solidFill>
            <a:prstDash val="solid"/>
            <a:round/>
            <a:headEnd len="sm" w="sm" type="none"/>
            <a:tailEnd len="sm" w="sm" type="none"/>
          </a:ln>
        </p:spPr>
      </p:cxnSp>
      <p:cxnSp>
        <p:nvCxnSpPr>
          <p:cNvPr id="253" name="Google Shape;253;p35"/>
          <p:cNvCxnSpPr>
            <a:stCxn id="250" idx="5"/>
            <a:endCxn id="216" idx="0"/>
          </p:cNvCxnSpPr>
          <p:nvPr/>
        </p:nvCxnSpPr>
        <p:spPr>
          <a:xfrm>
            <a:off x="2195631" y="2631792"/>
            <a:ext cx="158700" cy="429600"/>
          </a:xfrm>
          <a:prstGeom prst="straightConnector1">
            <a:avLst/>
          </a:prstGeom>
          <a:noFill/>
          <a:ln cap="flat" cmpd="sng" w="19050">
            <a:solidFill>
              <a:srgbClr val="6AA84F"/>
            </a:solidFill>
            <a:prstDash val="solid"/>
            <a:round/>
            <a:headEnd len="sm" w="sm" type="none"/>
            <a:tailEnd len="sm" w="sm" type="none"/>
          </a:ln>
        </p:spPr>
      </p:cxnSp>
      <p:cxnSp>
        <p:nvCxnSpPr>
          <p:cNvPr id="254" name="Google Shape;254;p35"/>
          <p:cNvCxnSpPr>
            <a:stCxn id="250" idx="3"/>
            <a:endCxn id="211" idx="7"/>
          </p:cNvCxnSpPr>
          <p:nvPr/>
        </p:nvCxnSpPr>
        <p:spPr>
          <a:xfrm flipH="1">
            <a:off x="1692454" y="2631792"/>
            <a:ext cx="278700" cy="269400"/>
          </a:xfrm>
          <a:prstGeom prst="straightConnector1">
            <a:avLst/>
          </a:prstGeom>
          <a:noFill/>
          <a:ln cap="flat" cmpd="sng" w="19050">
            <a:solidFill>
              <a:srgbClr val="6AA84F"/>
            </a:solidFill>
            <a:prstDash val="solid"/>
            <a:round/>
            <a:headEnd len="sm" w="sm" type="none"/>
            <a:tailEnd len="sm" w="sm" type="none"/>
          </a:ln>
        </p:spPr>
      </p:cxnSp>
      <p:sp>
        <p:nvSpPr>
          <p:cNvPr id="250" name="Google Shape;250;p35"/>
          <p:cNvSpPr/>
          <p:nvPr/>
        </p:nvSpPr>
        <p:spPr>
          <a:xfrm>
            <a:off x="1924663" y="2360824"/>
            <a:ext cx="317459" cy="317459"/>
          </a:xfrm>
          <a:prstGeom prst="smileyFace">
            <a:avLst>
              <a:gd fmla="val 4653" name="adj"/>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1" name="Google Shape;221;p35"/>
          <p:cNvSpPr/>
          <p:nvPr/>
        </p:nvSpPr>
        <p:spPr>
          <a:xfrm>
            <a:off x="2625421" y="2578331"/>
            <a:ext cx="317459" cy="317459"/>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35"/>
          <p:cNvSpPr/>
          <p:nvPr/>
        </p:nvSpPr>
        <p:spPr>
          <a:xfrm>
            <a:off x="2195636" y="3061458"/>
            <a:ext cx="317459" cy="317459"/>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1" name="Google Shape;211;p35"/>
          <p:cNvSpPr/>
          <p:nvPr/>
        </p:nvSpPr>
        <p:spPr>
          <a:xfrm>
            <a:off x="1421443" y="2854595"/>
            <a:ext cx="317459" cy="317459"/>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p35"/>
          <p:cNvSpPr/>
          <p:nvPr/>
        </p:nvSpPr>
        <p:spPr>
          <a:xfrm>
            <a:off x="2488143" y="1849410"/>
            <a:ext cx="317459" cy="317459"/>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2" name="Google Shape;202;p35"/>
          <p:cNvSpPr/>
          <p:nvPr/>
        </p:nvSpPr>
        <p:spPr>
          <a:xfrm>
            <a:off x="1343890" y="1876143"/>
            <a:ext cx="317459" cy="317459"/>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2" name="Google Shape;222;p35"/>
          <p:cNvSpPr/>
          <p:nvPr/>
        </p:nvSpPr>
        <p:spPr>
          <a:xfrm>
            <a:off x="3150176" y="3304082"/>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p35"/>
          <p:cNvSpPr/>
          <p:nvPr/>
        </p:nvSpPr>
        <p:spPr>
          <a:xfrm>
            <a:off x="2985846" y="1782377"/>
            <a:ext cx="317459" cy="317459"/>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8"/>
                                        </p:tgtEl>
                                        <p:attrNameLst>
                                          <p:attrName>style.visibility</p:attrName>
                                        </p:attrNameLst>
                                      </p:cBhvr>
                                      <p:to>
                                        <p:strVal val="visible"/>
                                      </p:to>
                                    </p:set>
                                    <p:animEffect filter="fade" transition="in">
                                      <p:cBhvr>
                                        <p:cTn dur="1000"/>
                                        <p:tgtEl>
                                          <p:spTgt spid="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36"/>
          <p:cNvSpPr txBox="1"/>
          <p:nvPr>
            <p:ph type="title"/>
          </p:nvPr>
        </p:nvSpPr>
        <p:spPr>
          <a:xfrm>
            <a:off x="4926675" y="202554"/>
            <a:ext cx="41379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Review: Abstract Data</a:t>
            </a:r>
            <a:endParaRPr sz="2500"/>
          </a:p>
          <a:p>
            <a:pPr indent="0" lvl="0" marL="0" rtl="0" algn="l">
              <a:lnSpc>
                <a:spcPct val="100000"/>
              </a:lnSpc>
              <a:spcBef>
                <a:spcPts val="0"/>
              </a:spcBef>
              <a:spcAft>
                <a:spcPts val="0"/>
              </a:spcAft>
              <a:buSzPts val="2800"/>
              <a:buNone/>
            </a:pPr>
            <a:r>
              <a:rPr lang="en" sz="2500"/>
              <a:t> Types</a:t>
            </a:r>
            <a:endParaRPr sz="2500"/>
          </a:p>
        </p:txBody>
      </p:sp>
      <p:sp>
        <p:nvSpPr>
          <p:cNvPr id="260" name="Google Shape;260;p36"/>
          <p:cNvSpPr txBox="1"/>
          <p:nvPr>
            <p:ph idx="1" type="body"/>
          </p:nvPr>
        </p:nvSpPr>
        <p:spPr>
          <a:xfrm>
            <a:off x="170675" y="75875"/>
            <a:ext cx="4560300" cy="47715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An </a:t>
            </a:r>
            <a:r>
              <a:rPr b="1" i="1" lang="en">
                <a:solidFill>
                  <a:srgbClr val="FF0000"/>
                </a:solidFill>
              </a:rPr>
              <a:t>abstract data type</a:t>
            </a:r>
            <a:r>
              <a:rPr lang="en"/>
              <a:t> (</a:t>
            </a:r>
            <a:r>
              <a:rPr b="1" i="1" lang="en">
                <a:solidFill>
                  <a:srgbClr val="FF0000"/>
                </a:solidFill>
              </a:rPr>
              <a:t>ADT</a:t>
            </a:r>
            <a:r>
              <a:rPr lang="en"/>
              <a:t>) </a:t>
            </a:r>
            <a:r>
              <a:rPr b="1" i="1" lang="en">
                <a:solidFill>
                  <a:srgbClr val="FF0000"/>
                </a:solidFill>
              </a:rPr>
              <a:t>defines</a:t>
            </a:r>
            <a:r>
              <a:rPr lang="en">
                <a:solidFill>
                  <a:srgbClr val="FF0000"/>
                </a:solidFill>
              </a:rPr>
              <a:t> </a:t>
            </a:r>
            <a:r>
              <a:rPr lang="en"/>
              <a:t>the behavior of a data structure from the perspective of its user, but </a:t>
            </a:r>
            <a:r>
              <a:rPr b="1" i="1" lang="en">
                <a:solidFill>
                  <a:srgbClr val="FF0000"/>
                </a:solidFill>
              </a:rPr>
              <a:t>does not</a:t>
            </a:r>
            <a:r>
              <a:rPr lang="en">
                <a:solidFill>
                  <a:srgbClr val="FF0000"/>
                </a:solidFill>
              </a:rPr>
              <a:t> </a:t>
            </a:r>
            <a:r>
              <a:rPr lang="en"/>
              <a:t>provide any implementation details.</a:t>
            </a:r>
            <a:endParaRPr/>
          </a:p>
          <a:p>
            <a:pPr indent="-311150" lvl="0" marL="457200" rtl="0" algn="l">
              <a:lnSpc>
                <a:spcPct val="100000"/>
              </a:lnSpc>
              <a:spcBef>
                <a:spcPts val="1000"/>
              </a:spcBef>
              <a:spcAft>
                <a:spcPts val="0"/>
              </a:spcAft>
              <a:buSzPts val="1300"/>
              <a:buChar char="●"/>
            </a:pPr>
            <a:r>
              <a:rPr lang="en"/>
              <a:t>So far in this course we have explored many different ADTs, including:</a:t>
            </a:r>
            <a:endParaRPr/>
          </a:p>
          <a:p>
            <a:pPr indent="-298450" lvl="1" marL="914400" rtl="0" algn="l">
              <a:lnSpc>
                <a:spcPct val="100000"/>
              </a:lnSpc>
              <a:spcBef>
                <a:spcPts val="0"/>
              </a:spcBef>
              <a:spcAft>
                <a:spcPts val="0"/>
              </a:spcAft>
              <a:buSzPts val="1100"/>
              <a:buChar char="○"/>
            </a:pPr>
            <a:r>
              <a:rPr lang="en"/>
              <a:t>Stacks</a:t>
            </a:r>
            <a:endParaRPr/>
          </a:p>
          <a:p>
            <a:pPr indent="-298450" lvl="1" marL="914400" rtl="0" algn="l">
              <a:lnSpc>
                <a:spcPct val="100000"/>
              </a:lnSpc>
              <a:spcBef>
                <a:spcPts val="0"/>
              </a:spcBef>
              <a:spcAft>
                <a:spcPts val="0"/>
              </a:spcAft>
              <a:buSzPts val="1100"/>
              <a:buChar char="○"/>
            </a:pPr>
            <a:r>
              <a:rPr lang="en"/>
              <a:t>Queues</a:t>
            </a:r>
            <a:endParaRPr/>
          </a:p>
          <a:p>
            <a:pPr indent="-298450" lvl="1" marL="914400" rtl="0" algn="l">
              <a:lnSpc>
                <a:spcPct val="100000"/>
              </a:lnSpc>
              <a:spcBef>
                <a:spcPts val="0"/>
              </a:spcBef>
              <a:spcAft>
                <a:spcPts val="0"/>
              </a:spcAft>
              <a:buSzPts val="1100"/>
              <a:buChar char="○"/>
            </a:pPr>
            <a:r>
              <a:rPr lang="en"/>
              <a:t>Lists</a:t>
            </a:r>
            <a:endParaRPr/>
          </a:p>
          <a:p>
            <a:pPr indent="-298450" lvl="1" marL="914400" rtl="0" algn="l">
              <a:lnSpc>
                <a:spcPct val="100000"/>
              </a:lnSpc>
              <a:spcBef>
                <a:spcPts val="0"/>
              </a:spcBef>
              <a:spcAft>
                <a:spcPts val="0"/>
              </a:spcAft>
              <a:buSzPts val="1100"/>
              <a:buChar char="○"/>
            </a:pPr>
            <a:r>
              <a:rPr lang="en"/>
              <a:t>Binary Trees/Binary Search Trees</a:t>
            </a:r>
            <a:endParaRPr/>
          </a:p>
          <a:p>
            <a:pPr indent="-298450" lvl="1" marL="914400" rtl="0" algn="l">
              <a:lnSpc>
                <a:spcPct val="100000"/>
              </a:lnSpc>
              <a:spcBef>
                <a:spcPts val="0"/>
              </a:spcBef>
              <a:spcAft>
                <a:spcPts val="0"/>
              </a:spcAft>
              <a:buSzPts val="1100"/>
              <a:buChar char="○"/>
            </a:pPr>
            <a:r>
              <a:rPr lang="en"/>
              <a:t>Heaps</a:t>
            </a:r>
            <a:endParaRPr/>
          </a:p>
          <a:p>
            <a:pPr indent="-298450" lvl="1" marL="914400" rtl="0" algn="l">
              <a:lnSpc>
                <a:spcPct val="100000"/>
              </a:lnSpc>
              <a:spcBef>
                <a:spcPts val="0"/>
              </a:spcBef>
              <a:spcAft>
                <a:spcPts val="0"/>
              </a:spcAft>
              <a:buSzPts val="1100"/>
              <a:buChar char="○"/>
            </a:pPr>
            <a:r>
              <a:rPr lang="en"/>
              <a:t>Maps (Dictionaries)</a:t>
            </a:r>
            <a:endParaRPr/>
          </a:p>
          <a:p>
            <a:pPr indent="-298450" lvl="1" marL="914400" rtl="0" algn="l">
              <a:lnSpc>
                <a:spcPct val="100000"/>
              </a:lnSpc>
              <a:spcBef>
                <a:spcPts val="0"/>
              </a:spcBef>
              <a:spcAft>
                <a:spcPts val="0"/>
              </a:spcAft>
              <a:buSzPts val="1100"/>
              <a:buChar char="○"/>
            </a:pPr>
            <a:r>
              <a:rPr lang="en"/>
              <a:t>Sets</a:t>
            </a:r>
            <a:endParaRPr/>
          </a:p>
          <a:p>
            <a:pPr indent="-311150" lvl="0" marL="457200" rtl="0" algn="l">
              <a:lnSpc>
                <a:spcPct val="100000"/>
              </a:lnSpc>
              <a:spcBef>
                <a:spcPts val="1000"/>
              </a:spcBef>
              <a:spcAft>
                <a:spcPts val="0"/>
              </a:spcAft>
              <a:buSzPts val="1300"/>
              <a:buChar char="●"/>
            </a:pPr>
            <a:r>
              <a:rPr lang="en"/>
              <a:t>We have also discussed implementing several of these abstract data types in more than one way, for example:</a:t>
            </a:r>
            <a:endParaRPr/>
          </a:p>
          <a:p>
            <a:pPr indent="-298450" lvl="1" marL="914400" rtl="0" algn="l">
              <a:lnSpc>
                <a:spcPct val="100000"/>
              </a:lnSpc>
              <a:spcBef>
                <a:spcPts val="0"/>
              </a:spcBef>
              <a:spcAft>
                <a:spcPts val="0"/>
              </a:spcAft>
              <a:buSzPts val="1100"/>
              <a:buChar char="○"/>
            </a:pPr>
            <a:r>
              <a:rPr b="1" i="1" lang="en">
                <a:solidFill>
                  <a:srgbClr val="FF0000"/>
                </a:solidFill>
              </a:rPr>
              <a:t>Node-based</a:t>
            </a:r>
            <a:r>
              <a:rPr lang="en"/>
              <a:t> vs. </a:t>
            </a:r>
            <a:r>
              <a:rPr b="1" i="1" lang="en">
                <a:solidFill>
                  <a:srgbClr val="FF0000"/>
                </a:solidFill>
              </a:rPr>
              <a:t>array-based</a:t>
            </a:r>
            <a:r>
              <a:rPr lang="en"/>
              <a:t> queues and lists.</a:t>
            </a:r>
            <a:endParaRPr/>
          </a:p>
          <a:p>
            <a:pPr indent="-298450" lvl="1" marL="914400" rtl="0" algn="l">
              <a:lnSpc>
                <a:spcPct val="100000"/>
              </a:lnSpc>
              <a:spcBef>
                <a:spcPts val="0"/>
              </a:spcBef>
              <a:spcAft>
                <a:spcPts val="0"/>
              </a:spcAft>
              <a:buSzPts val="1100"/>
              <a:buChar char="○"/>
            </a:pPr>
            <a:r>
              <a:rPr lang="en"/>
              <a:t>Maps that use </a:t>
            </a:r>
            <a:r>
              <a:rPr b="1" i="1" lang="en">
                <a:solidFill>
                  <a:srgbClr val="FF0000"/>
                </a:solidFill>
              </a:rPr>
              <a:t>trees</a:t>
            </a:r>
            <a:r>
              <a:rPr lang="en"/>
              <a:t> vs. </a:t>
            </a:r>
            <a:r>
              <a:rPr b="1" i="1" lang="en">
                <a:solidFill>
                  <a:srgbClr val="FF0000"/>
                </a:solidFill>
              </a:rPr>
              <a:t>hashing</a:t>
            </a:r>
            <a:r>
              <a:rPr lang="en"/>
              <a:t>.</a:t>
            </a:r>
            <a:endParaRPr/>
          </a:p>
          <a:p>
            <a:pPr indent="-311150" lvl="0" marL="457200" rtl="0" algn="l">
              <a:lnSpc>
                <a:spcPct val="100000"/>
              </a:lnSpc>
              <a:spcBef>
                <a:spcPts val="1000"/>
              </a:spcBef>
              <a:spcAft>
                <a:spcPts val="0"/>
              </a:spcAft>
              <a:buSzPts val="1300"/>
              <a:buChar char="●"/>
            </a:pPr>
            <a:r>
              <a:rPr lang="en"/>
              <a:t>We have also been introduced to the </a:t>
            </a:r>
            <a:r>
              <a:rPr b="1" i="1" lang="en">
                <a:solidFill>
                  <a:srgbClr val="FF0000"/>
                </a:solidFill>
              </a:rPr>
              <a:t>Java Collections Framework</a:t>
            </a:r>
            <a:r>
              <a:rPr lang="en"/>
              <a:t> (</a:t>
            </a:r>
            <a:r>
              <a:rPr b="1" i="1" lang="en">
                <a:solidFill>
                  <a:srgbClr val="FF0000"/>
                </a:solidFill>
              </a:rPr>
              <a:t>JCF</a:t>
            </a:r>
            <a:r>
              <a:rPr lang="en"/>
              <a:t>), including:</a:t>
            </a:r>
            <a:endParaRPr/>
          </a:p>
          <a:p>
            <a:pPr indent="-298450" lvl="1" marL="914400" rtl="0" algn="l">
              <a:lnSpc>
                <a:spcPct val="100000"/>
              </a:lnSpc>
              <a:spcBef>
                <a:spcPts val="0"/>
              </a:spcBef>
              <a:spcAft>
                <a:spcPts val="0"/>
              </a:spcAft>
              <a:buSzPts val="1100"/>
              <a:buChar char="○"/>
            </a:pPr>
            <a:r>
              <a:rPr lang="en"/>
              <a:t>Java's implementations of many data structures.</a:t>
            </a:r>
            <a:endParaRPr/>
          </a:p>
          <a:p>
            <a:pPr indent="-298450" lvl="1" marL="914400" rtl="0" algn="l">
              <a:lnSpc>
                <a:spcPct val="100000"/>
              </a:lnSpc>
              <a:spcBef>
                <a:spcPts val="0"/>
              </a:spcBef>
              <a:spcAft>
                <a:spcPts val="0"/>
              </a:spcAft>
              <a:buSzPts val="1100"/>
              <a:buChar char="○"/>
            </a:pPr>
            <a:r>
              <a:rPr lang="en">
                <a:latin typeface="Courier New"/>
                <a:ea typeface="Courier New"/>
                <a:cs typeface="Courier New"/>
                <a:sym typeface="Courier New"/>
              </a:rPr>
              <a:t>Iterable</a:t>
            </a:r>
            <a:r>
              <a:rPr lang="en"/>
              <a:t> &amp; </a:t>
            </a:r>
            <a:r>
              <a:rPr lang="en">
                <a:latin typeface="Courier New"/>
                <a:ea typeface="Courier New"/>
                <a:cs typeface="Courier New"/>
                <a:sym typeface="Courier New"/>
              </a:rPr>
              <a:t>Iterator</a:t>
            </a:r>
            <a:endParaRPr>
              <a:latin typeface="Courier New"/>
              <a:ea typeface="Courier New"/>
              <a:cs typeface="Courier New"/>
              <a:sym typeface="Courier New"/>
            </a:endParaRPr>
          </a:p>
          <a:p>
            <a:pPr indent="-298450" lvl="1" marL="914400" rtl="0" algn="l">
              <a:lnSpc>
                <a:spcPct val="100000"/>
              </a:lnSpc>
              <a:spcBef>
                <a:spcPts val="0"/>
              </a:spcBef>
              <a:spcAft>
                <a:spcPts val="0"/>
              </a:spcAft>
              <a:buSzPts val="1100"/>
              <a:buFont typeface="Courier New"/>
              <a:buChar char="○"/>
            </a:pPr>
            <a:r>
              <a:rPr lang="en">
                <a:latin typeface="Courier New"/>
                <a:ea typeface="Courier New"/>
                <a:cs typeface="Courier New"/>
                <a:sym typeface="Courier New"/>
              </a:rPr>
              <a:t>Comparable</a:t>
            </a:r>
            <a:r>
              <a:rPr lang="en"/>
              <a:t> &amp; </a:t>
            </a:r>
            <a:r>
              <a:rPr lang="en">
                <a:latin typeface="Courier New"/>
                <a:ea typeface="Courier New"/>
                <a:cs typeface="Courier New"/>
                <a:sym typeface="Courier New"/>
              </a:rPr>
              <a:t>Comparator</a:t>
            </a:r>
            <a:endParaRPr>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latin typeface="Courier New"/>
                <a:ea typeface="Courier New"/>
                <a:cs typeface="Courier New"/>
                <a:sym typeface="Courier New"/>
              </a:rPr>
              <a:t>Collection</a:t>
            </a:r>
            <a:r>
              <a:rPr lang="en"/>
              <a:t> &amp; </a:t>
            </a:r>
            <a:r>
              <a:rPr lang="en">
                <a:latin typeface="Courier New"/>
                <a:ea typeface="Courier New"/>
                <a:cs typeface="Courier New"/>
                <a:sym typeface="Courier New"/>
              </a:rPr>
              <a:t>Collections</a:t>
            </a:r>
            <a:endParaRPr>
              <a:latin typeface="Courier New"/>
              <a:ea typeface="Courier New"/>
              <a:cs typeface="Courier New"/>
              <a:sym typeface="Courier New"/>
            </a:endParaRPr>
          </a:p>
        </p:txBody>
      </p:sp>
      <p:sp>
        <p:nvSpPr>
          <p:cNvPr id="261" name="Google Shape;261;p36"/>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262" name="Google Shape;262;p36"/>
          <p:cNvSpPr txBox="1"/>
          <p:nvPr>
            <p:ph idx="3" type="body"/>
          </p:nvPr>
        </p:nvSpPr>
        <p:spPr>
          <a:xfrm>
            <a:off x="4923400" y="1024750"/>
            <a:ext cx="4137900" cy="55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By now we all understand that, not only can each abstract data type be implemented in </a:t>
            </a:r>
            <a:r>
              <a:rPr b="1" i="1" lang="en">
                <a:solidFill>
                  <a:srgbClr val="FF0000"/>
                </a:solidFill>
              </a:rPr>
              <a:t>more than one way</a:t>
            </a:r>
            <a:r>
              <a:rPr lang="en"/>
              <a:t>...</a:t>
            </a:r>
            <a:endParaRPr/>
          </a:p>
        </p:txBody>
      </p:sp>
      <p:sp>
        <p:nvSpPr>
          <p:cNvPr id="263" name="Google Shape;263;p36"/>
          <p:cNvSpPr txBox="1"/>
          <p:nvPr>
            <p:ph idx="3" type="body"/>
          </p:nvPr>
        </p:nvSpPr>
        <p:spPr>
          <a:xfrm>
            <a:off x="4926675" y="1672856"/>
            <a:ext cx="4137900" cy="556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...but that each implementation has different strengths and weaknesses under different circumstances, e.g. </a:t>
            </a:r>
            <a:r>
              <a:rPr b="1" i="1" lang="en">
                <a:solidFill>
                  <a:srgbClr val="FF0000"/>
                </a:solidFill>
              </a:rPr>
              <a:t>lists</a:t>
            </a:r>
            <a:r>
              <a:rPr lang="en"/>
              <a:t>...</a:t>
            </a:r>
            <a:endParaRPr/>
          </a:p>
        </p:txBody>
      </p:sp>
      <p:graphicFrame>
        <p:nvGraphicFramePr>
          <p:cNvPr id="264" name="Google Shape;264;p36"/>
          <p:cNvGraphicFramePr/>
          <p:nvPr/>
        </p:nvGraphicFramePr>
        <p:xfrm>
          <a:off x="4908375" y="2309761"/>
          <a:ext cx="3000000" cy="3000000"/>
        </p:xfrm>
        <a:graphic>
          <a:graphicData uri="http://schemas.openxmlformats.org/drawingml/2006/table">
            <a:tbl>
              <a:tblPr>
                <a:noFill/>
                <a:tableStyleId>{F61E8307-4E6B-4154-8BF4-D3231BAD3CED}</a:tableStyleId>
              </a:tblPr>
              <a:tblGrid>
                <a:gridCol w="1202700"/>
                <a:gridCol w="1482625"/>
                <a:gridCol w="1482625"/>
              </a:tblGrid>
              <a:tr h="15507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FFFFFF"/>
                          </a:solidFill>
                        </a:rPr>
                        <a:t>If you...</a:t>
                      </a:r>
                      <a:endParaRPr sz="12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7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FFFFFF"/>
                          </a:solidFill>
                        </a:rPr>
                        <a:t>...then choose:</a:t>
                      </a:r>
                      <a:endParaRPr sz="12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265" name="Google Shape;265;p36"/>
          <p:cNvGrpSpPr/>
          <p:nvPr/>
        </p:nvGrpSpPr>
        <p:grpSpPr>
          <a:xfrm>
            <a:off x="6111075" y="2373483"/>
            <a:ext cx="2979058" cy="1882811"/>
            <a:chOff x="6111075" y="2278947"/>
            <a:chExt cx="2979058" cy="1882811"/>
          </a:xfrm>
        </p:grpSpPr>
        <p:sp>
          <p:nvSpPr>
            <p:cNvPr id="266" name="Google Shape;266;p36"/>
            <p:cNvSpPr txBox="1"/>
            <p:nvPr/>
          </p:nvSpPr>
          <p:spPr>
            <a:xfrm>
              <a:off x="6111075" y="2285374"/>
              <a:ext cx="1482600" cy="1427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Always Append at the End</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Never Insert or remove in the middle</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Need Random Access</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Know the maximum number of elements </a:t>
              </a:r>
              <a:endParaRPr b="0" i="0" sz="1200" u="none" cap="none" strike="noStrike">
                <a:solidFill>
                  <a:srgbClr val="FF0000"/>
                </a:solidFill>
                <a:latin typeface="Shadows Into Light"/>
                <a:ea typeface="Shadows Into Light"/>
                <a:cs typeface="Shadows Into Light"/>
                <a:sym typeface="Shadows Into Light"/>
              </a:endParaRPr>
            </a:p>
          </p:txBody>
        </p:sp>
        <p:sp>
          <p:nvSpPr>
            <p:cNvPr id="267" name="Google Shape;267;p36"/>
            <p:cNvSpPr txBox="1"/>
            <p:nvPr/>
          </p:nvSpPr>
          <p:spPr>
            <a:xfrm>
              <a:off x="6111075" y="3768158"/>
              <a:ext cx="1482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FF0000"/>
                  </a:solidFill>
                  <a:latin typeface="Shadows Into Light"/>
                  <a:ea typeface="Shadows Into Light"/>
                  <a:cs typeface="Shadows Into Light"/>
                  <a:sym typeface="Shadows Into Light"/>
                </a:rPr>
                <a:t>Array List</a:t>
              </a:r>
              <a:endParaRPr b="0" i="0" sz="1900" u="none" cap="none" strike="noStrike">
                <a:solidFill>
                  <a:srgbClr val="FF0000"/>
                </a:solidFill>
                <a:latin typeface="Shadows Into Light"/>
                <a:ea typeface="Shadows Into Light"/>
                <a:cs typeface="Shadows Into Light"/>
                <a:sym typeface="Shadows Into Light"/>
              </a:endParaRPr>
            </a:p>
          </p:txBody>
        </p:sp>
        <p:sp>
          <p:nvSpPr>
            <p:cNvPr id="268" name="Google Shape;268;p36"/>
            <p:cNvSpPr txBox="1"/>
            <p:nvPr/>
          </p:nvSpPr>
          <p:spPr>
            <a:xfrm>
              <a:off x="7593762" y="2278947"/>
              <a:ext cx="1482600" cy="1427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Always Insert or Remove at head </a:t>
              </a:r>
              <a:r>
                <a:rPr b="0" i="0" lang="en" sz="1200" u="sng" cap="none" strike="noStrike">
                  <a:solidFill>
                    <a:srgbClr val="FF0000"/>
                  </a:solidFill>
                  <a:latin typeface="Shadows Into Light"/>
                  <a:ea typeface="Shadows Into Light"/>
                  <a:cs typeface="Shadows Into Light"/>
                  <a:sym typeface="Shadows Into Light"/>
                </a:rPr>
                <a:t>and</a:t>
              </a:r>
              <a:r>
                <a:rPr b="0" i="0" lang="en" sz="1200" u="none" cap="none" strike="noStrike">
                  <a:solidFill>
                    <a:srgbClr val="FF0000"/>
                  </a:solidFill>
                  <a:latin typeface="Shadows Into Light"/>
                  <a:ea typeface="Shadows Into Light"/>
                  <a:cs typeface="Shadows Into Light"/>
                  <a:sym typeface="Shadows Into Light"/>
                </a:rPr>
                <a:t> tail</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Don't need random access</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Don't know the maximum number of elements</a:t>
              </a:r>
              <a:endParaRPr b="0" i="0" sz="1200" u="none" cap="none" strike="noStrike">
                <a:solidFill>
                  <a:srgbClr val="FF0000"/>
                </a:solidFill>
                <a:latin typeface="Shadows Into Light"/>
                <a:ea typeface="Shadows Into Light"/>
                <a:cs typeface="Shadows Into Light"/>
                <a:sym typeface="Shadows Into Light"/>
              </a:endParaRPr>
            </a:p>
          </p:txBody>
        </p:sp>
        <p:sp>
          <p:nvSpPr>
            <p:cNvPr id="269" name="Google Shape;269;p36"/>
            <p:cNvSpPr txBox="1"/>
            <p:nvPr/>
          </p:nvSpPr>
          <p:spPr>
            <a:xfrm>
              <a:off x="7607533" y="3768158"/>
              <a:ext cx="1482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FF0000"/>
                  </a:solidFill>
                  <a:latin typeface="Shadows Into Light"/>
                  <a:ea typeface="Shadows Into Light"/>
                  <a:cs typeface="Shadows Into Light"/>
                  <a:sym typeface="Shadows Into Light"/>
                </a:rPr>
                <a:t>Linked List</a:t>
              </a:r>
              <a:endParaRPr b="0" i="0" sz="1900" u="none" cap="none" strike="noStrike">
                <a:solidFill>
                  <a:srgbClr val="FF0000"/>
                </a:solidFill>
                <a:latin typeface="Shadows Into Light"/>
                <a:ea typeface="Shadows Into Light"/>
                <a:cs typeface="Shadows Into Light"/>
                <a:sym typeface="Shadows Into Light"/>
              </a:endParaRPr>
            </a:p>
          </p:txBody>
        </p:sp>
      </p:grpSp>
      <p:sp>
        <p:nvSpPr>
          <p:cNvPr id="270" name="Google Shape;270;p36"/>
          <p:cNvSpPr txBox="1"/>
          <p:nvPr/>
        </p:nvSpPr>
        <p:spPr>
          <a:xfrm>
            <a:off x="4923400" y="4344936"/>
            <a:ext cx="41379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Understanding which operations are needed </a:t>
            </a:r>
            <a:r>
              <a:rPr b="1" i="1" lang="en" sz="1200" u="none" cap="none" strike="noStrike">
                <a:solidFill>
                  <a:srgbClr val="FF0000"/>
                </a:solidFill>
                <a:latin typeface="Arial"/>
                <a:ea typeface="Arial"/>
                <a:cs typeface="Arial"/>
                <a:sym typeface="Arial"/>
              </a:rPr>
              <a:t>the most frequently</a:t>
            </a:r>
            <a:r>
              <a:rPr b="0" i="0" lang="en" sz="1200" u="none" cap="none" strike="noStrike">
                <a:solidFill>
                  <a:srgbClr val="000000"/>
                </a:solidFill>
                <a:latin typeface="Arial"/>
                <a:ea typeface="Arial"/>
                <a:cs typeface="Arial"/>
                <a:sym typeface="Arial"/>
              </a:rPr>
              <a:t> will help you choose the most efficient implementation to solve a specific problem.</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60">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2"/>
                                        </p:tgtEl>
                                        <p:attrNameLst>
                                          <p:attrName>style.visibility</p:attrName>
                                        </p:attrNameLst>
                                      </p:cBhvr>
                                      <p:to>
                                        <p:strVal val="visible"/>
                                      </p:to>
                                    </p:set>
                                    <p:animEffect filter="fade" transition="in">
                                      <p:cBhvr>
                                        <p:cTn dur="1000"/>
                                        <p:tgtEl>
                                          <p:spTgt spid="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3"/>
                                        </p:tgtEl>
                                        <p:attrNameLst>
                                          <p:attrName>style.visibility</p:attrName>
                                        </p:attrNameLst>
                                      </p:cBhvr>
                                      <p:to>
                                        <p:strVal val="visible"/>
                                      </p:to>
                                    </p:set>
                                    <p:animEffect filter="fade" transition="in">
                                      <p:cBhvr>
                                        <p:cTn dur="1000"/>
                                        <p:tgtEl>
                                          <p:spTgt spid="2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65"/>
                                        </p:tgtEl>
                                        <p:attrNameLst>
                                          <p:attrName>style.visibility</p:attrName>
                                        </p:attrNameLst>
                                      </p:cBhvr>
                                      <p:to>
                                        <p:strVal val="visible"/>
                                      </p:to>
                                    </p:set>
                                    <p:animEffect filter="fade" transition="in">
                                      <p:cBhvr>
                                        <p:cTn dur="1000"/>
                                        <p:tgtEl>
                                          <p:spTgt spid="265"/>
                                        </p:tgtEl>
                                      </p:cBhvr>
                                    </p:animEffect>
                                  </p:childTnLst>
                                </p:cTn>
                              </p:par>
                              <p:par>
                                <p:cTn fill="hold" nodeType="with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00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37"/>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Lots of different data structures can be created by connecting nodes </a:t>
            </a:r>
            <a:r>
              <a:rPr lang="en"/>
              <a:t>together</a:t>
            </a:r>
            <a:r>
              <a:rPr lang="en"/>
              <a:t>. We have discussed several of them over the course of the past two units. Examine each picture below and indicate the type of data structure that is being represented. Be as specific as possible with the information given.</a:t>
            </a:r>
            <a:endParaRPr/>
          </a:p>
        </p:txBody>
      </p:sp>
      <p:sp>
        <p:nvSpPr>
          <p:cNvPr id="276" name="Google Shape;276;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77" name="Google Shape;277;p3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Data Structures</a:t>
            </a:r>
            <a:endParaRPr/>
          </a:p>
        </p:txBody>
      </p:sp>
      <p:sp>
        <p:nvSpPr>
          <p:cNvPr id="278" name="Google Shape;278;p3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1</a:t>
            </a:r>
            <a:endParaRPr/>
          </a:p>
        </p:txBody>
      </p:sp>
      <p:graphicFrame>
        <p:nvGraphicFramePr>
          <p:cNvPr id="279" name="Google Shape;279;p37"/>
          <p:cNvGraphicFramePr/>
          <p:nvPr/>
        </p:nvGraphicFramePr>
        <p:xfrm>
          <a:off x="366876" y="1975812"/>
          <a:ext cx="3000000" cy="3000000"/>
        </p:xfrm>
        <a:graphic>
          <a:graphicData uri="http://schemas.openxmlformats.org/drawingml/2006/table">
            <a:tbl>
              <a:tblPr>
                <a:noFill/>
                <a:tableStyleId>{F61E8307-4E6B-4154-8BF4-D3231BAD3CED}</a:tableStyleId>
              </a:tblPr>
              <a:tblGrid>
                <a:gridCol w="2095075"/>
                <a:gridCol w="2095075"/>
                <a:gridCol w="2095075"/>
                <a:gridCol w="2095075"/>
              </a:tblGrid>
              <a:tr h="2515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3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280" name="Google Shape;280;p37"/>
          <p:cNvGrpSpPr/>
          <p:nvPr/>
        </p:nvGrpSpPr>
        <p:grpSpPr>
          <a:xfrm>
            <a:off x="1305701" y="2566412"/>
            <a:ext cx="302150" cy="321400"/>
            <a:chOff x="1015875" y="2025525"/>
            <a:chExt cx="302150" cy="321400"/>
          </a:xfrm>
        </p:grpSpPr>
        <p:sp>
          <p:nvSpPr>
            <p:cNvPr id="281" name="Google Shape;281;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82" name="Google Shape;282;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A</a:t>
              </a:r>
              <a:endParaRPr b="0" i="0" sz="1400" u="none" cap="none" strike="noStrike">
                <a:solidFill>
                  <a:srgbClr val="FFFFFF"/>
                </a:solidFill>
                <a:latin typeface="Roboto"/>
                <a:ea typeface="Roboto"/>
                <a:cs typeface="Roboto"/>
                <a:sym typeface="Roboto"/>
              </a:endParaRPr>
            </a:p>
          </p:txBody>
        </p:sp>
      </p:grpSp>
      <p:grpSp>
        <p:nvGrpSpPr>
          <p:cNvPr id="283" name="Google Shape;283;p37"/>
          <p:cNvGrpSpPr/>
          <p:nvPr/>
        </p:nvGrpSpPr>
        <p:grpSpPr>
          <a:xfrm>
            <a:off x="1305701" y="3099812"/>
            <a:ext cx="302150" cy="321400"/>
            <a:chOff x="1015875" y="2025525"/>
            <a:chExt cx="302150" cy="321400"/>
          </a:xfrm>
        </p:grpSpPr>
        <p:sp>
          <p:nvSpPr>
            <p:cNvPr id="284" name="Google Shape;284;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85" name="Google Shape;285;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B</a:t>
              </a:r>
              <a:endParaRPr b="0" i="0" sz="1400" u="none" cap="none" strike="noStrike">
                <a:solidFill>
                  <a:srgbClr val="FFFFFF"/>
                </a:solidFill>
                <a:latin typeface="Roboto"/>
                <a:ea typeface="Roboto"/>
                <a:cs typeface="Roboto"/>
                <a:sym typeface="Roboto"/>
              </a:endParaRPr>
            </a:p>
          </p:txBody>
        </p:sp>
      </p:grpSp>
      <p:cxnSp>
        <p:nvCxnSpPr>
          <p:cNvPr id="286" name="Google Shape;286;p37"/>
          <p:cNvCxnSpPr/>
          <p:nvPr/>
        </p:nvCxnSpPr>
        <p:spPr>
          <a:xfrm>
            <a:off x="1456751" y="2900571"/>
            <a:ext cx="0" cy="212100"/>
          </a:xfrm>
          <a:prstGeom prst="straightConnector1">
            <a:avLst/>
          </a:prstGeom>
          <a:noFill/>
          <a:ln cap="flat" cmpd="sng" w="19050">
            <a:solidFill>
              <a:srgbClr val="FF0000"/>
            </a:solidFill>
            <a:prstDash val="solid"/>
            <a:round/>
            <a:headEnd len="sm" w="sm" type="none"/>
            <a:tailEnd len="med" w="med" type="triangle"/>
          </a:ln>
        </p:spPr>
      </p:cxnSp>
      <p:grpSp>
        <p:nvGrpSpPr>
          <p:cNvPr id="287" name="Google Shape;287;p37"/>
          <p:cNvGrpSpPr/>
          <p:nvPr/>
        </p:nvGrpSpPr>
        <p:grpSpPr>
          <a:xfrm>
            <a:off x="1305701" y="3633212"/>
            <a:ext cx="302150" cy="321400"/>
            <a:chOff x="1015875" y="2025525"/>
            <a:chExt cx="302150" cy="321400"/>
          </a:xfrm>
        </p:grpSpPr>
        <p:sp>
          <p:nvSpPr>
            <p:cNvPr id="288" name="Google Shape;288;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89" name="Google Shape;289;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C</a:t>
              </a:r>
              <a:endParaRPr b="0" i="0" sz="1400" u="none" cap="none" strike="noStrike">
                <a:solidFill>
                  <a:srgbClr val="FFFFFF"/>
                </a:solidFill>
                <a:latin typeface="Roboto"/>
                <a:ea typeface="Roboto"/>
                <a:cs typeface="Roboto"/>
                <a:sym typeface="Roboto"/>
              </a:endParaRPr>
            </a:p>
          </p:txBody>
        </p:sp>
      </p:grpSp>
      <p:cxnSp>
        <p:nvCxnSpPr>
          <p:cNvPr id="290" name="Google Shape;290;p37"/>
          <p:cNvCxnSpPr/>
          <p:nvPr/>
        </p:nvCxnSpPr>
        <p:spPr>
          <a:xfrm>
            <a:off x="1456751" y="3433971"/>
            <a:ext cx="0" cy="212100"/>
          </a:xfrm>
          <a:prstGeom prst="straightConnector1">
            <a:avLst/>
          </a:prstGeom>
          <a:noFill/>
          <a:ln cap="flat" cmpd="sng" w="19050">
            <a:solidFill>
              <a:srgbClr val="FF0000"/>
            </a:solidFill>
            <a:prstDash val="solid"/>
            <a:round/>
            <a:headEnd len="sm" w="sm" type="none"/>
            <a:tailEnd len="med" w="med" type="triangle"/>
          </a:ln>
        </p:spPr>
      </p:cxnSp>
      <p:cxnSp>
        <p:nvCxnSpPr>
          <p:cNvPr id="291" name="Google Shape;291;p37"/>
          <p:cNvCxnSpPr>
            <a:stCxn id="292" idx="1"/>
            <a:endCxn id="293" idx="0"/>
          </p:cNvCxnSpPr>
          <p:nvPr/>
        </p:nvCxnSpPr>
        <p:spPr>
          <a:xfrm flipH="1">
            <a:off x="5266601" y="2727062"/>
            <a:ext cx="230100" cy="399300"/>
          </a:xfrm>
          <a:prstGeom prst="curvedConnector2">
            <a:avLst/>
          </a:prstGeom>
          <a:noFill/>
          <a:ln cap="flat" cmpd="sng" w="19050">
            <a:solidFill>
              <a:srgbClr val="FF0000"/>
            </a:solidFill>
            <a:prstDash val="solid"/>
            <a:round/>
            <a:headEnd len="sm" w="sm" type="none"/>
            <a:tailEnd len="med" w="med" type="triangle"/>
          </a:ln>
        </p:spPr>
      </p:cxnSp>
      <p:cxnSp>
        <p:nvCxnSpPr>
          <p:cNvPr id="294" name="Google Shape;294;p37"/>
          <p:cNvCxnSpPr>
            <a:stCxn id="292" idx="3"/>
            <a:endCxn id="295" idx="0"/>
          </p:cNvCxnSpPr>
          <p:nvPr/>
        </p:nvCxnSpPr>
        <p:spPr>
          <a:xfrm>
            <a:off x="5798801" y="2727062"/>
            <a:ext cx="230100" cy="399300"/>
          </a:xfrm>
          <a:prstGeom prst="curvedConnector2">
            <a:avLst/>
          </a:prstGeom>
          <a:noFill/>
          <a:ln cap="flat" cmpd="sng" w="19050">
            <a:solidFill>
              <a:srgbClr val="FF0000"/>
            </a:solidFill>
            <a:prstDash val="solid"/>
            <a:round/>
            <a:headEnd len="sm" w="sm" type="none"/>
            <a:tailEnd len="med" w="med" type="triangle"/>
          </a:ln>
        </p:spPr>
      </p:cxnSp>
      <p:grpSp>
        <p:nvGrpSpPr>
          <p:cNvPr id="296" name="Google Shape;296;p37"/>
          <p:cNvGrpSpPr/>
          <p:nvPr/>
        </p:nvGrpSpPr>
        <p:grpSpPr>
          <a:xfrm>
            <a:off x="5115701" y="3119112"/>
            <a:ext cx="302150" cy="302100"/>
            <a:chOff x="1015875" y="2044825"/>
            <a:chExt cx="302150" cy="302100"/>
          </a:xfrm>
        </p:grpSpPr>
        <p:sp>
          <p:nvSpPr>
            <p:cNvPr id="297" name="Google Shape;297;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93" name="Google Shape;293;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3</a:t>
              </a:r>
              <a:endParaRPr b="0" i="0" sz="1400" u="none" cap="none" strike="noStrike">
                <a:solidFill>
                  <a:srgbClr val="FFFFFF"/>
                </a:solidFill>
                <a:latin typeface="Roboto"/>
                <a:ea typeface="Roboto"/>
                <a:cs typeface="Roboto"/>
                <a:sym typeface="Roboto"/>
              </a:endParaRPr>
            </a:p>
          </p:txBody>
        </p:sp>
      </p:grpSp>
      <p:cxnSp>
        <p:nvCxnSpPr>
          <p:cNvPr id="298" name="Google Shape;298;p37"/>
          <p:cNvCxnSpPr>
            <a:stCxn id="293" idx="1"/>
            <a:endCxn id="299" idx="0"/>
          </p:cNvCxnSpPr>
          <p:nvPr/>
        </p:nvCxnSpPr>
        <p:spPr>
          <a:xfrm flipH="1">
            <a:off x="4885601" y="3264099"/>
            <a:ext cx="230100" cy="395700"/>
          </a:xfrm>
          <a:prstGeom prst="curvedConnector2">
            <a:avLst/>
          </a:prstGeom>
          <a:noFill/>
          <a:ln cap="flat" cmpd="sng" w="19050">
            <a:solidFill>
              <a:srgbClr val="FF0000"/>
            </a:solidFill>
            <a:prstDash val="solid"/>
            <a:round/>
            <a:headEnd len="sm" w="sm" type="none"/>
            <a:tailEnd len="med" w="med" type="triangle"/>
          </a:ln>
        </p:spPr>
      </p:cxnSp>
      <p:cxnSp>
        <p:nvCxnSpPr>
          <p:cNvPr id="300" name="Google Shape;300;p37"/>
          <p:cNvCxnSpPr>
            <a:stCxn id="293" idx="3"/>
            <a:endCxn id="301" idx="0"/>
          </p:cNvCxnSpPr>
          <p:nvPr/>
        </p:nvCxnSpPr>
        <p:spPr>
          <a:xfrm>
            <a:off x="54178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302" name="Google Shape;302;p37"/>
          <p:cNvGrpSpPr/>
          <p:nvPr/>
        </p:nvGrpSpPr>
        <p:grpSpPr>
          <a:xfrm>
            <a:off x="5496701" y="3652512"/>
            <a:ext cx="302150" cy="302100"/>
            <a:chOff x="1015875" y="2044825"/>
            <a:chExt cx="302150" cy="302100"/>
          </a:xfrm>
        </p:grpSpPr>
        <p:sp>
          <p:nvSpPr>
            <p:cNvPr id="303" name="Google Shape;303;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01" name="Google Shape;301;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304" name="Google Shape;304;p37"/>
          <p:cNvGrpSpPr/>
          <p:nvPr/>
        </p:nvGrpSpPr>
        <p:grpSpPr>
          <a:xfrm>
            <a:off x="4734701" y="3652512"/>
            <a:ext cx="302150" cy="302100"/>
            <a:chOff x="1015875" y="2044825"/>
            <a:chExt cx="302150" cy="302100"/>
          </a:xfrm>
        </p:grpSpPr>
        <p:sp>
          <p:nvSpPr>
            <p:cNvPr id="305" name="Google Shape;305;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99" name="Google Shape;299;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2</a:t>
              </a:r>
              <a:endParaRPr b="0" i="0" sz="1400" u="none" cap="none" strike="noStrike">
                <a:solidFill>
                  <a:srgbClr val="FFFFFF"/>
                </a:solidFill>
                <a:latin typeface="Roboto"/>
                <a:ea typeface="Roboto"/>
                <a:cs typeface="Roboto"/>
                <a:sym typeface="Roboto"/>
              </a:endParaRPr>
            </a:p>
          </p:txBody>
        </p:sp>
      </p:grpSp>
      <p:grpSp>
        <p:nvGrpSpPr>
          <p:cNvPr id="306" name="Google Shape;306;p37"/>
          <p:cNvGrpSpPr/>
          <p:nvPr/>
        </p:nvGrpSpPr>
        <p:grpSpPr>
          <a:xfrm>
            <a:off x="5496701" y="2566412"/>
            <a:ext cx="302150" cy="321400"/>
            <a:chOff x="1015875" y="2025525"/>
            <a:chExt cx="302150" cy="321400"/>
          </a:xfrm>
        </p:grpSpPr>
        <p:sp>
          <p:nvSpPr>
            <p:cNvPr id="307" name="Google Shape;307;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92" name="Google Shape;292;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5</a:t>
              </a:r>
              <a:endParaRPr b="0" i="0" sz="1400" u="none" cap="none" strike="noStrike">
                <a:solidFill>
                  <a:srgbClr val="FFFFFF"/>
                </a:solidFill>
                <a:latin typeface="Roboto"/>
                <a:ea typeface="Roboto"/>
                <a:cs typeface="Roboto"/>
                <a:sym typeface="Roboto"/>
              </a:endParaRPr>
            </a:p>
          </p:txBody>
        </p:sp>
      </p:grpSp>
      <p:cxnSp>
        <p:nvCxnSpPr>
          <p:cNvPr id="308" name="Google Shape;308;p37"/>
          <p:cNvCxnSpPr>
            <a:stCxn id="295" idx="3"/>
            <a:endCxn id="309" idx="0"/>
          </p:cNvCxnSpPr>
          <p:nvPr/>
        </p:nvCxnSpPr>
        <p:spPr>
          <a:xfrm>
            <a:off x="61798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310" name="Google Shape;310;p37"/>
          <p:cNvGrpSpPr/>
          <p:nvPr/>
        </p:nvGrpSpPr>
        <p:grpSpPr>
          <a:xfrm>
            <a:off x="5877701" y="3119112"/>
            <a:ext cx="302150" cy="302100"/>
            <a:chOff x="1015875" y="2044825"/>
            <a:chExt cx="302150" cy="302100"/>
          </a:xfrm>
        </p:grpSpPr>
        <p:sp>
          <p:nvSpPr>
            <p:cNvPr id="311" name="Google Shape;311;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95" name="Google Shape;295;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312" name="Google Shape;312;p37"/>
          <p:cNvGrpSpPr/>
          <p:nvPr/>
        </p:nvGrpSpPr>
        <p:grpSpPr>
          <a:xfrm>
            <a:off x="6258701" y="3652512"/>
            <a:ext cx="302150" cy="302100"/>
            <a:chOff x="1015875" y="2044825"/>
            <a:chExt cx="302150" cy="302100"/>
          </a:xfrm>
        </p:grpSpPr>
        <p:sp>
          <p:nvSpPr>
            <p:cNvPr id="313" name="Google Shape;313;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09" name="Google Shape;309;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cxnSp>
        <p:nvCxnSpPr>
          <p:cNvPr id="314" name="Google Shape;314;p37"/>
          <p:cNvCxnSpPr>
            <a:stCxn id="315" idx="1"/>
            <a:endCxn id="316" idx="0"/>
          </p:cNvCxnSpPr>
          <p:nvPr/>
        </p:nvCxnSpPr>
        <p:spPr>
          <a:xfrm flipH="1">
            <a:off x="3133001" y="2727062"/>
            <a:ext cx="230100" cy="399300"/>
          </a:xfrm>
          <a:prstGeom prst="curvedConnector2">
            <a:avLst/>
          </a:prstGeom>
          <a:noFill/>
          <a:ln cap="flat" cmpd="sng" w="19050">
            <a:solidFill>
              <a:srgbClr val="FF0000"/>
            </a:solidFill>
            <a:prstDash val="solid"/>
            <a:round/>
            <a:headEnd len="sm" w="sm" type="none"/>
            <a:tailEnd len="med" w="med" type="triangle"/>
          </a:ln>
        </p:spPr>
      </p:cxnSp>
      <p:cxnSp>
        <p:nvCxnSpPr>
          <p:cNvPr id="317" name="Google Shape;317;p37"/>
          <p:cNvCxnSpPr>
            <a:stCxn id="315" idx="3"/>
            <a:endCxn id="318" idx="0"/>
          </p:cNvCxnSpPr>
          <p:nvPr/>
        </p:nvCxnSpPr>
        <p:spPr>
          <a:xfrm>
            <a:off x="3665201" y="2727062"/>
            <a:ext cx="230100" cy="399300"/>
          </a:xfrm>
          <a:prstGeom prst="curvedConnector2">
            <a:avLst/>
          </a:prstGeom>
          <a:noFill/>
          <a:ln cap="flat" cmpd="sng" w="19050">
            <a:solidFill>
              <a:srgbClr val="FF0000"/>
            </a:solidFill>
            <a:prstDash val="solid"/>
            <a:round/>
            <a:headEnd len="sm" w="sm" type="none"/>
            <a:tailEnd len="med" w="med" type="triangle"/>
          </a:ln>
        </p:spPr>
      </p:cxnSp>
      <p:grpSp>
        <p:nvGrpSpPr>
          <p:cNvPr id="319" name="Google Shape;319;p37"/>
          <p:cNvGrpSpPr/>
          <p:nvPr/>
        </p:nvGrpSpPr>
        <p:grpSpPr>
          <a:xfrm>
            <a:off x="2982101" y="3119112"/>
            <a:ext cx="302150" cy="302100"/>
            <a:chOff x="1015875" y="2044825"/>
            <a:chExt cx="302150" cy="302100"/>
          </a:xfrm>
        </p:grpSpPr>
        <p:sp>
          <p:nvSpPr>
            <p:cNvPr id="320" name="Google Shape;320;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16" name="Google Shape;316;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6</a:t>
              </a:r>
              <a:endParaRPr b="0" i="0" sz="1400" u="none" cap="none" strike="noStrike">
                <a:solidFill>
                  <a:srgbClr val="FFFFFF"/>
                </a:solidFill>
                <a:latin typeface="Roboto"/>
                <a:ea typeface="Roboto"/>
                <a:cs typeface="Roboto"/>
                <a:sym typeface="Roboto"/>
              </a:endParaRPr>
            </a:p>
          </p:txBody>
        </p:sp>
      </p:grpSp>
      <p:cxnSp>
        <p:nvCxnSpPr>
          <p:cNvPr id="321" name="Google Shape;321;p37"/>
          <p:cNvCxnSpPr>
            <a:stCxn id="316" idx="1"/>
            <a:endCxn id="322" idx="0"/>
          </p:cNvCxnSpPr>
          <p:nvPr/>
        </p:nvCxnSpPr>
        <p:spPr>
          <a:xfrm flipH="1">
            <a:off x="2752301" y="3264099"/>
            <a:ext cx="229800" cy="395700"/>
          </a:xfrm>
          <a:prstGeom prst="curvedConnector2">
            <a:avLst/>
          </a:prstGeom>
          <a:noFill/>
          <a:ln cap="flat" cmpd="sng" w="19050">
            <a:solidFill>
              <a:srgbClr val="FF0000"/>
            </a:solidFill>
            <a:prstDash val="solid"/>
            <a:round/>
            <a:headEnd len="sm" w="sm" type="none"/>
            <a:tailEnd len="med" w="med" type="triangle"/>
          </a:ln>
        </p:spPr>
      </p:cxnSp>
      <p:cxnSp>
        <p:nvCxnSpPr>
          <p:cNvPr id="323" name="Google Shape;323;p37"/>
          <p:cNvCxnSpPr>
            <a:stCxn id="316" idx="3"/>
            <a:endCxn id="324" idx="0"/>
          </p:cNvCxnSpPr>
          <p:nvPr/>
        </p:nvCxnSpPr>
        <p:spPr>
          <a:xfrm>
            <a:off x="32842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325" name="Google Shape;325;p37"/>
          <p:cNvGrpSpPr/>
          <p:nvPr/>
        </p:nvGrpSpPr>
        <p:grpSpPr>
          <a:xfrm>
            <a:off x="3363101" y="3652512"/>
            <a:ext cx="302150" cy="302100"/>
            <a:chOff x="1015875" y="2044825"/>
            <a:chExt cx="302150" cy="302100"/>
          </a:xfrm>
        </p:grpSpPr>
        <p:sp>
          <p:nvSpPr>
            <p:cNvPr id="326" name="Google Shape;326;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24" name="Google Shape;324;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5</a:t>
              </a:r>
              <a:endParaRPr b="0" i="0" sz="1400" u="none" cap="none" strike="noStrike">
                <a:solidFill>
                  <a:srgbClr val="FFFFFF"/>
                </a:solidFill>
                <a:latin typeface="Roboto"/>
                <a:ea typeface="Roboto"/>
                <a:cs typeface="Roboto"/>
                <a:sym typeface="Roboto"/>
              </a:endParaRPr>
            </a:p>
          </p:txBody>
        </p:sp>
      </p:grpSp>
      <p:grpSp>
        <p:nvGrpSpPr>
          <p:cNvPr id="327" name="Google Shape;327;p37"/>
          <p:cNvGrpSpPr/>
          <p:nvPr/>
        </p:nvGrpSpPr>
        <p:grpSpPr>
          <a:xfrm>
            <a:off x="2601101" y="3652512"/>
            <a:ext cx="302150" cy="302100"/>
            <a:chOff x="1015875" y="2044825"/>
            <a:chExt cx="302150" cy="302100"/>
          </a:xfrm>
        </p:grpSpPr>
        <p:sp>
          <p:nvSpPr>
            <p:cNvPr id="328" name="Google Shape;328;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22" name="Google Shape;322;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329" name="Google Shape;329;p37"/>
          <p:cNvGrpSpPr/>
          <p:nvPr/>
        </p:nvGrpSpPr>
        <p:grpSpPr>
          <a:xfrm>
            <a:off x="3363101" y="2566412"/>
            <a:ext cx="302150" cy="321400"/>
            <a:chOff x="1015875" y="2025525"/>
            <a:chExt cx="302150" cy="321400"/>
          </a:xfrm>
        </p:grpSpPr>
        <p:sp>
          <p:nvSpPr>
            <p:cNvPr id="330" name="Google Shape;330;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15" name="Google Shape;315;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7</a:t>
              </a:r>
              <a:endParaRPr b="0" i="0" sz="1400" u="none" cap="none" strike="noStrike">
                <a:solidFill>
                  <a:srgbClr val="FFFFFF"/>
                </a:solidFill>
                <a:latin typeface="Roboto"/>
                <a:ea typeface="Roboto"/>
                <a:cs typeface="Roboto"/>
                <a:sym typeface="Roboto"/>
              </a:endParaRPr>
            </a:p>
          </p:txBody>
        </p:sp>
      </p:grpSp>
      <p:cxnSp>
        <p:nvCxnSpPr>
          <p:cNvPr id="331" name="Google Shape;331;p37"/>
          <p:cNvCxnSpPr>
            <a:stCxn id="318" idx="3"/>
            <a:endCxn id="332" idx="0"/>
          </p:cNvCxnSpPr>
          <p:nvPr/>
        </p:nvCxnSpPr>
        <p:spPr>
          <a:xfrm>
            <a:off x="40462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333" name="Google Shape;333;p37"/>
          <p:cNvGrpSpPr/>
          <p:nvPr/>
        </p:nvGrpSpPr>
        <p:grpSpPr>
          <a:xfrm>
            <a:off x="3744101" y="3119112"/>
            <a:ext cx="302150" cy="302100"/>
            <a:chOff x="1015875" y="2044825"/>
            <a:chExt cx="302150" cy="302100"/>
          </a:xfrm>
        </p:grpSpPr>
        <p:sp>
          <p:nvSpPr>
            <p:cNvPr id="334" name="Google Shape;334;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18" name="Google Shape;318;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335" name="Google Shape;335;p37"/>
          <p:cNvGrpSpPr/>
          <p:nvPr/>
        </p:nvGrpSpPr>
        <p:grpSpPr>
          <a:xfrm>
            <a:off x="4125101" y="3652512"/>
            <a:ext cx="302150" cy="302100"/>
            <a:chOff x="1015875" y="2044825"/>
            <a:chExt cx="302150" cy="302100"/>
          </a:xfrm>
        </p:grpSpPr>
        <p:sp>
          <p:nvSpPr>
            <p:cNvPr id="336" name="Google Shape;336;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32" name="Google Shape;332;p37"/>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grpSp>
        <p:nvGrpSpPr>
          <p:cNvPr id="337" name="Google Shape;337;p37"/>
          <p:cNvGrpSpPr/>
          <p:nvPr/>
        </p:nvGrpSpPr>
        <p:grpSpPr>
          <a:xfrm>
            <a:off x="7730760" y="2274412"/>
            <a:ext cx="302150" cy="321400"/>
            <a:chOff x="1015875" y="2025525"/>
            <a:chExt cx="302150" cy="321400"/>
          </a:xfrm>
        </p:grpSpPr>
        <p:sp>
          <p:nvSpPr>
            <p:cNvPr id="338" name="Google Shape;338;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39" name="Google Shape;339;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grpSp>
        <p:nvGrpSpPr>
          <p:cNvPr id="340" name="Google Shape;340;p37"/>
          <p:cNvGrpSpPr/>
          <p:nvPr/>
        </p:nvGrpSpPr>
        <p:grpSpPr>
          <a:xfrm>
            <a:off x="7730760" y="2807812"/>
            <a:ext cx="302150" cy="321400"/>
            <a:chOff x="1015875" y="2025525"/>
            <a:chExt cx="302150" cy="321400"/>
          </a:xfrm>
        </p:grpSpPr>
        <p:sp>
          <p:nvSpPr>
            <p:cNvPr id="341" name="Google Shape;341;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42" name="Google Shape;342;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7</a:t>
              </a:r>
              <a:endParaRPr b="0" i="0" sz="1400" u="none" cap="none" strike="noStrike">
                <a:solidFill>
                  <a:srgbClr val="FFFFFF"/>
                </a:solidFill>
                <a:latin typeface="Roboto"/>
                <a:ea typeface="Roboto"/>
                <a:cs typeface="Roboto"/>
                <a:sym typeface="Roboto"/>
              </a:endParaRPr>
            </a:p>
          </p:txBody>
        </p:sp>
      </p:grpSp>
      <p:grpSp>
        <p:nvGrpSpPr>
          <p:cNvPr id="343" name="Google Shape;343;p37"/>
          <p:cNvGrpSpPr/>
          <p:nvPr/>
        </p:nvGrpSpPr>
        <p:grpSpPr>
          <a:xfrm>
            <a:off x="7173101" y="3176012"/>
            <a:ext cx="302150" cy="321400"/>
            <a:chOff x="1015875" y="2025525"/>
            <a:chExt cx="302150" cy="321400"/>
          </a:xfrm>
        </p:grpSpPr>
        <p:sp>
          <p:nvSpPr>
            <p:cNvPr id="344" name="Google Shape;344;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45" name="Google Shape;345;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346" name="Google Shape;346;p37"/>
          <p:cNvGrpSpPr/>
          <p:nvPr/>
        </p:nvGrpSpPr>
        <p:grpSpPr>
          <a:xfrm>
            <a:off x="8316101" y="3176012"/>
            <a:ext cx="302150" cy="321400"/>
            <a:chOff x="1015875" y="2025525"/>
            <a:chExt cx="302150" cy="321400"/>
          </a:xfrm>
        </p:grpSpPr>
        <p:sp>
          <p:nvSpPr>
            <p:cNvPr id="347" name="Google Shape;347;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48" name="Google Shape;348;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349" name="Google Shape;349;p37"/>
          <p:cNvGrpSpPr/>
          <p:nvPr/>
        </p:nvGrpSpPr>
        <p:grpSpPr>
          <a:xfrm>
            <a:off x="8316135" y="3709412"/>
            <a:ext cx="314975" cy="321400"/>
            <a:chOff x="1003050" y="2025525"/>
            <a:chExt cx="314975" cy="321400"/>
          </a:xfrm>
        </p:grpSpPr>
        <p:sp>
          <p:nvSpPr>
            <p:cNvPr id="350" name="Google Shape;350;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51" name="Google Shape;351;p37"/>
            <p:cNvSpPr txBox="1"/>
            <p:nvPr/>
          </p:nvSpPr>
          <p:spPr>
            <a:xfrm>
              <a:off x="1003050"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352" name="Google Shape;352;p37"/>
          <p:cNvGrpSpPr/>
          <p:nvPr/>
        </p:nvGrpSpPr>
        <p:grpSpPr>
          <a:xfrm>
            <a:off x="7643160" y="3709412"/>
            <a:ext cx="302150" cy="321400"/>
            <a:chOff x="1015875" y="2025525"/>
            <a:chExt cx="302150" cy="321400"/>
          </a:xfrm>
        </p:grpSpPr>
        <p:sp>
          <p:nvSpPr>
            <p:cNvPr id="353" name="Google Shape;353;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54" name="Google Shape;354;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6</a:t>
              </a:r>
              <a:endParaRPr b="0" i="0" sz="1400" u="none" cap="none" strike="noStrike">
                <a:solidFill>
                  <a:srgbClr val="FFFFFF"/>
                </a:solidFill>
                <a:latin typeface="Roboto"/>
                <a:ea typeface="Roboto"/>
                <a:cs typeface="Roboto"/>
                <a:sym typeface="Roboto"/>
              </a:endParaRPr>
            </a:p>
          </p:txBody>
        </p:sp>
      </p:grpSp>
      <p:grpSp>
        <p:nvGrpSpPr>
          <p:cNvPr id="355" name="Google Shape;355;p37"/>
          <p:cNvGrpSpPr/>
          <p:nvPr/>
        </p:nvGrpSpPr>
        <p:grpSpPr>
          <a:xfrm>
            <a:off x="7173135" y="3709412"/>
            <a:ext cx="314975" cy="321400"/>
            <a:chOff x="1003050" y="2025525"/>
            <a:chExt cx="314975" cy="321400"/>
          </a:xfrm>
        </p:grpSpPr>
        <p:sp>
          <p:nvSpPr>
            <p:cNvPr id="356" name="Google Shape;356;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57" name="Google Shape;357;p37"/>
            <p:cNvSpPr txBox="1"/>
            <p:nvPr/>
          </p:nvSpPr>
          <p:spPr>
            <a:xfrm>
              <a:off x="1003050"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358" name="Google Shape;358;p37"/>
          <p:cNvGrpSpPr/>
          <p:nvPr/>
        </p:nvGrpSpPr>
        <p:grpSpPr>
          <a:xfrm>
            <a:off x="6715935" y="3709412"/>
            <a:ext cx="302150" cy="321400"/>
            <a:chOff x="1015875" y="2025525"/>
            <a:chExt cx="302150" cy="321400"/>
          </a:xfrm>
        </p:grpSpPr>
        <p:sp>
          <p:nvSpPr>
            <p:cNvPr id="359" name="Google Shape;359;p37"/>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60" name="Google Shape;360;p37"/>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3</a:t>
              </a:r>
              <a:endParaRPr b="0" i="0" sz="1400" u="none" cap="none" strike="noStrike">
                <a:solidFill>
                  <a:srgbClr val="FFFFFF"/>
                </a:solidFill>
                <a:latin typeface="Roboto"/>
                <a:ea typeface="Roboto"/>
                <a:cs typeface="Roboto"/>
                <a:sym typeface="Roboto"/>
              </a:endParaRPr>
            </a:p>
          </p:txBody>
        </p:sp>
      </p:grpSp>
      <p:cxnSp>
        <p:nvCxnSpPr>
          <p:cNvPr id="361" name="Google Shape;361;p37"/>
          <p:cNvCxnSpPr>
            <a:stCxn id="339" idx="2"/>
            <a:endCxn id="342" idx="0"/>
          </p:cNvCxnSpPr>
          <p:nvPr/>
        </p:nvCxnSpPr>
        <p:spPr>
          <a:xfrm flipH="1" rot="-5400000">
            <a:off x="7776060" y="27014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362" name="Google Shape;362;p37"/>
          <p:cNvCxnSpPr>
            <a:stCxn id="342" idx="1"/>
            <a:endCxn id="345" idx="0"/>
          </p:cNvCxnSpPr>
          <p:nvPr/>
        </p:nvCxnSpPr>
        <p:spPr>
          <a:xfrm flipH="1">
            <a:off x="7324260" y="2968462"/>
            <a:ext cx="406500" cy="207600"/>
          </a:xfrm>
          <a:prstGeom prst="curvedConnector2">
            <a:avLst/>
          </a:prstGeom>
          <a:noFill/>
          <a:ln cap="flat" cmpd="sng" w="19050">
            <a:solidFill>
              <a:srgbClr val="FF0000"/>
            </a:solidFill>
            <a:prstDash val="solid"/>
            <a:round/>
            <a:headEnd len="sm" w="sm" type="none"/>
            <a:tailEnd len="med" w="med" type="triangle"/>
          </a:ln>
        </p:spPr>
      </p:cxnSp>
      <p:cxnSp>
        <p:nvCxnSpPr>
          <p:cNvPr id="363" name="Google Shape;363;p37"/>
          <p:cNvCxnSpPr>
            <a:stCxn id="342" idx="3"/>
            <a:endCxn id="348" idx="0"/>
          </p:cNvCxnSpPr>
          <p:nvPr/>
        </p:nvCxnSpPr>
        <p:spPr>
          <a:xfrm>
            <a:off x="8032860" y="2968462"/>
            <a:ext cx="434400" cy="207600"/>
          </a:xfrm>
          <a:prstGeom prst="curvedConnector2">
            <a:avLst/>
          </a:prstGeom>
          <a:noFill/>
          <a:ln cap="flat" cmpd="sng" w="19050">
            <a:solidFill>
              <a:srgbClr val="FF0000"/>
            </a:solidFill>
            <a:prstDash val="solid"/>
            <a:round/>
            <a:headEnd len="sm" w="sm" type="none"/>
            <a:tailEnd len="med" w="med" type="triangle"/>
          </a:ln>
        </p:spPr>
      </p:cxnSp>
      <p:cxnSp>
        <p:nvCxnSpPr>
          <p:cNvPr id="364" name="Google Shape;364;p37"/>
          <p:cNvCxnSpPr>
            <a:stCxn id="348" idx="2"/>
            <a:endCxn id="351" idx="0"/>
          </p:cNvCxnSpPr>
          <p:nvPr/>
        </p:nvCxnSpPr>
        <p:spPr>
          <a:xfrm flipH="1" rot="-5400000">
            <a:off x="8361401" y="36030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365" name="Google Shape;365;p37"/>
          <p:cNvCxnSpPr>
            <a:stCxn id="345" idx="2"/>
            <a:endCxn id="357" idx="0"/>
          </p:cNvCxnSpPr>
          <p:nvPr/>
        </p:nvCxnSpPr>
        <p:spPr>
          <a:xfrm flipH="1" rot="-5400000">
            <a:off x="7218401" y="36030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366" name="Google Shape;366;p37"/>
          <p:cNvCxnSpPr>
            <a:stCxn id="345" idx="1"/>
            <a:endCxn id="360" idx="0"/>
          </p:cNvCxnSpPr>
          <p:nvPr/>
        </p:nvCxnSpPr>
        <p:spPr>
          <a:xfrm flipH="1">
            <a:off x="6867101" y="3336662"/>
            <a:ext cx="306000" cy="372900"/>
          </a:xfrm>
          <a:prstGeom prst="curvedConnector2">
            <a:avLst/>
          </a:prstGeom>
          <a:noFill/>
          <a:ln cap="flat" cmpd="sng" w="19050">
            <a:solidFill>
              <a:srgbClr val="FF0000"/>
            </a:solidFill>
            <a:prstDash val="solid"/>
            <a:round/>
            <a:headEnd len="sm" w="sm" type="none"/>
            <a:tailEnd len="med" w="med" type="triangle"/>
          </a:ln>
        </p:spPr>
      </p:cxnSp>
      <p:cxnSp>
        <p:nvCxnSpPr>
          <p:cNvPr id="367" name="Google Shape;367;p37"/>
          <p:cNvCxnSpPr>
            <a:stCxn id="345" idx="3"/>
            <a:endCxn id="354" idx="0"/>
          </p:cNvCxnSpPr>
          <p:nvPr/>
        </p:nvCxnSpPr>
        <p:spPr>
          <a:xfrm>
            <a:off x="7475201" y="3336662"/>
            <a:ext cx="318900" cy="372900"/>
          </a:xfrm>
          <a:prstGeom prst="curvedConnector2">
            <a:avLst/>
          </a:prstGeom>
          <a:noFill/>
          <a:ln cap="flat" cmpd="sng" w="19050">
            <a:solidFill>
              <a:srgbClr val="FF0000"/>
            </a:solidFill>
            <a:prstDash val="solid"/>
            <a:round/>
            <a:headEnd len="sm" w="sm"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1" name="Shape 371"/>
        <p:cNvGrpSpPr/>
        <p:nvPr/>
      </p:nvGrpSpPr>
      <p:grpSpPr>
        <a:xfrm>
          <a:off x="0" y="0"/>
          <a:ext cx="0" cy="0"/>
          <a:chOff x="0" y="0"/>
          <a:chExt cx="0" cy="0"/>
        </a:xfrm>
      </p:grpSpPr>
      <p:sp>
        <p:nvSpPr>
          <p:cNvPr id="372" name="Google Shape;372;p38"/>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Lots of different data structures can be created by connecting nodes together. We have discussed several of them over the course of the past two units. Examine each picture below and indicate the type of data structure that is being represented. Be as specific as possible with the information given.</a:t>
            </a:r>
            <a:endParaRPr/>
          </a:p>
        </p:txBody>
      </p:sp>
      <p:sp>
        <p:nvSpPr>
          <p:cNvPr id="373" name="Google Shape;373;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74" name="Google Shape;374;p3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Identifying Data Structures</a:t>
            </a:r>
            <a:endParaRPr/>
          </a:p>
        </p:txBody>
      </p:sp>
      <p:sp>
        <p:nvSpPr>
          <p:cNvPr id="375" name="Google Shape;375;p3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1</a:t>
            </a:r>
            <a:endParaRPr/>
          </a:p>
        </p:txBody>
      </p:sp>
      <p:graphicFrame>
        <p:nvGraphicFramePr>
          <p:cNvPr id="376" name="Google Shape;376;p38"/>
          <p:cNvGraphicFramePr/>
          <p:nvPr/>
        </p:nvGraphicFramePr>
        <p:xfrm>
          <a:off x="366876" y="1975812"/>
          <a:ext cx="3000000" cy="3000000"/>
        </p:xfrm>
        <a:graphic>
          <a:graphicData uri="http://schemas.openxmlformats.org/drawingml/2006/table">
            <a:tbl>
              <a:tblPr>
                <a:noFill/>
                <a:tableStyleId>{F61E8307-4E6B-4154-8BF4-D3231BAD3CED}</a:tableStyleId>
              </a:tblPr>
              <a:tblGrid>
                <a:gridCol w="2095075"/>
                <a:gridCol w="2095075"/>
                <a:gridCol w="2095075"/>
                <a:gridCol w="2095075"/>
              </a:tblGrid>
              <a:tr h="2515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83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377" name="Google Shape;377;p38"/>
          <p:cNvGrpSpPr/>
          <p:nvPr/>
        </p:nvGrpSpPr>
        <p:grpSpPr>
          <a:xfrm>
            <a:off x="1305701" y="2566412"/>
            <a:ext cx="302150" cy="321400"/>
            <a:chOff x="1015875" y="2025525"/>
            <a:chExt cx="302150" cy="321400"/>
          </a:xfrm>
        </p:grpSpPr>
        <p:sp>
          <p:nvSpPr>
            <p:cNvPr id="378" name="Google Shape;378;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79" name="Google Shape;379;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A</a:t>
              </a:r>
              <a:endParaRPr b="0" i="0" sz="1400" u="none" cap="none" strike="noStrike">
                <a:solidFill>
                  <a:srgbClr val="FFFFFF"/>
                </a:solidFill>
                <a:latin typeface="Roboto"/>
                <a:ea typeface="Roboto"/>
                <a:cs typeface="Roboto"/>
                <a:sym typeface="Roboto"/>
              </a:endParaRPr>
            </a:p>
          </p:txBody>
        </p:sp>
      </p:grpSp>
      <p:grpSp>
        <p:nvGrpSpPr>
          <p:cNvPr id="380" name="Google Shape;380;p38"/>
          <p:cNvGrpSpPr/>
          <p:nvPr/>
        </p:nvGrpSpPr>
        <p:grpSpPr>
          <a:xfrm>
            <a:off x="1305701" y="3099812"/>
            <a:ext cx="302150" cy="321400"/>
            <a:chOff x="1015875" y="2025525"/>
            <a:chExt cx="302150" cy="321400"/>
          </a:xfrm>
        </p:grpSpPr>
        <p:sp>
          <p:nvSpPr>
            <p:cNvPr id="381" name="Google Shape;381;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82" name="Google Shape;382;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B</a:t>
              </a:r>
              <a:endParaRPr b="0" i="0" sz="1400" u="none" cap="none" strike="noStrike">
                <a:solidFill>
                  <a:srgbClr val="FFFFFF"/>
                </a:solidFill>
                <a:latin typeface="Roboto"/>
                <a:ea typeface="Roboto"/>
                <a:cs typeface="Roboto"/>
                <a:sym typeface="Roboto"/>
              </a:endParaRPr>
            </a:p>
          </p:txBody>
        </p:sp>
      </p:grpSp>
      <p:cxnSp>
        <p:nvCxnSpPr>
          <p:cNvPr id="383" name="Google Shape;383;p38"/>
          <p:cNvCxnSpPr/>
          <p:nvPr/>
        </p:nvCxnSpPr>
        <p:spPr>
          <a:xfrm>
            <a:off x="1456751" y="2900571"/>
            <a:ext cx="0" cy="212100"/>
          </a:xfrm>
          <a:prstGeom prst="straightConnector1">
            <a:avLst/>
          </a:prstGeom>
          <a:noFill/>
          <a:ln cap="flat" cmpd="sng" w="19050">
            <a:solidFill>
              <a:srgbClr val="FF0000"/>
            </a:solidFill>
            <a:prstDash val="solid"/>
            <a:round/>
            <a:headEnd len="sm" w="sm" type="none"/>
            <a:tailEnd len="med" w="med" type="triangle"/>
          </a:ln>
        </p:spPr>
      </p:cxnSp>
      <p:grpSp>
        <p:nvGrpSpPr>
          <p:cNvPr id="384" name="Google Shape;384;p38"/>
          <p:cNvGrpSpPr/>
          <p:nvPr/>
        </p:nvGrpSpPr>
        <p:grpSpPr>
          <a:xfrm>
            <a:off x="1305701" y="3633212"/>
            <a:ext cx="302150" cy="321400"/>
            <a:chOff x="1015875" y="2025525"/>
            <a:chExt cx="302150" cy="321400"/>
          </a:xfrm>
        </p:grpSpPr>
        <p:sp>
          <p:nvSpPr>
            <p:cNvPr id="385" name="Google Shape;385;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86" name="Google Shape;386;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C</a:t>
              </a:r>
              <a:endParaRPr b="0" i="0" sz="1400" u="none" cap="none" strike="noStrike">
                <a:solidFill>
                  <a:srgbClr val="FFFFFF"/>
                </a:solidFill>
                <a:latin typeface="Roboto"/>
                <a:ea typeface="Roboto"/>
                <a:cs typeface="Roboto"/>
                <a:sym typeface="Roboto"/>
              </a:endParaRPr>
            </a:p>
          </p:txBody>
        </p:sp>
      </p:grpSp>
      <p:cxnSp>
        <p:nvCxnSpPr>
          <p:cNvPr id="387" name="Google Shape;387;p38"/>
          <p:cNvCxnSpPr/>
          <p:nvPr/>
        </p:nvCxnSpPr>
        <p:spPr>
          <a:xfrm>
            <a:off x="1456751" y="3433971"/>
            <a:ext cx="0" cy="212100"/>
          </a:xfrm>
          <a:prstGeom prst="straightConnector1">
            <a:avLst/>
          </a:prstGeom>
          <a:noFill/>
          <a:ln cap="flat" cmpd="sng" w="19050">
            <a:solidFill>
              <a:srgbClr val="FF0000"/>
            </a:solidFill>
            <a:prstDash val="solid"/>
            <a:round/>
            <a:headEnd len="sm" w="sm" type="none"/>
            <a:tailEnd len="med" w="med" type="triangle"/>
          </a:ln>
        </p:spPr>
      </p:cxnSp>
      <p:cxnSp>
        <p:nvCxnSpPr>
          <p:cNvPr id="388" name="Google Shape;388;p38"/>
          <p:cNvCxnSpPr>
            <a:stCxn id="389" idx="1"/>
            <a:endCxn id="390" idx="0"/>
          </p:cNvCxnSpPr>
          <p:nvPr/>
        </p:nvCxnSpPr>
        <p:spPr>
          <a:xfrm flipH="1">
            <a:off x="5266601" y="2727062"/>
            <a:ext cx="230100" cy="399300"/>
          </a:xfrm>
          <a:prstGeom prst="curvedConnector2">
            <a:avLst/>
          </a:prstGeom>
          <a:noFill/>
          <a:ln cap="flat" cmpd="sng" w="19050">
            <a:solidFill>
              <a:srgbClr val="FF0000"/>
            </a:solidFill>
            <a:prstDash val="solid"/>
            <a:round/>
            <a:headEnd len="sm" w="sm" type="none"/>
            <a:tailEnd len="med" w="med" type="triangle"/>
          </a:ln>
        </p:spPr>
      </p:cxnSp>
      <p:cxnSp>
        <p:nvCxnSpPr>
          <p:cNvPr id="391" name="Google Shape;391;p38"/>
          <p:cNvCxnSpPr>
            <a:stCxn id="389" idx="3"/>
            <a:endCxn id="392" idx="0"/>
          </p:cNvCxnSpPr>
          <p:nvPr/>
        </p:nvCxnSpPr>
        <p:spPr>
          <a:xfrm>
            <a:off x="5798801" y="2727062"/>
            <a:ext cx="230100" cy="399300"/>
          </a:xfrm>
          <a:prstGeom prst="curvedConnector2">
            <a:avLst/>
          </a:prstGeom>
          <a:noFill/>
          <a:ln cap="flat" cmpd="sng" w="19050">
            <a:solidFill>
              <a:srgbClr val="FF0000"/>
            </a:solidFill>
            <a:prstDash val="solid"/>
            <a:round/>
            <a:headEnd len="sm" w="sm" type="none"/>
            <a:tailEnd len="med" w="med" type="triangle"/>
          </a:ln>
        </p:spPr>
      </p:cxnSp>
      <p:grpSp>
        <p:nvGrpSpPr>
          <p:cNvPr id="393" name="Google Shape;393;p38"/>
          <p:cNvGrpSpPr/>
          <p:nvPr/>
        </p:nvGrpSpPr>
        <p:grpSpPr>
          <a:xfrm>
            <a:off x="5115701" y="3119112"/>
            <a:ext cx="302150" cy="302100"/>
            <a:chOff x="1015875" y="2044825"/>
            <a:chExt cx="302150" cy="302100"/>
          </a:xfrm>
        </p:grpSpPr>
        <p:sp>
          <p:nvSpPr>
            <p:cNvPr id="394" name="Google Shape;394;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90" name="Google Shape;390;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3</a:t>
              </a:r>
              <a:endParaRPr b="0" i="0" sz="1400" u="none" cap="none" strike="noStrike">
                <a:solidFill>
                  <a:srgbClr val="FFFFFF"/>
                </a:solidFill>
                <a:latin typeface="Roboto"/>
                <a:ea typeface="Roboto"/>
                <a:cs typeface="Roboto"/>
                <a:sym typeface="Roboto"/>
              </a:endParaRPr>
            </a:p>
          </p:txBody>
        </p:sp>
      </p:grpSp>
      <p:cxnSp>
        <p:nvCxnSpPr>
          <p:cNvPr id="395" name="Google Shape;395;p38"/>
          <p:cNvCxnSpPr>
            <a:stCxn id="390" idx="1"/>
            <a:endCxn id="396" idx="0"/>
          </p:cNvCxnSpPr>
          <p:nvPr/>
        </p:nvCxnSpPr>
        <p:spPr>
          <a:xfrm flipH="1">
            <a:off x="4885601" y="3264099"/>
            <a:ext cx="230100" cy="395700"/>
          </a:xfrm>
          <a:prstGeom prst="curvedConnector2">
            <a:avLst/>
          </a:prstGeom>
          <a:noFill/>
          <a:ln cap="flat" cmpd="sng" w="19050">
            <a:solidFill>
              <a:srgbClr val="FF0000"/>
            </a:solidFill>
            <a:prstDash val="solid"/>
            <a:round/>
            <a:headEnd len="sm" w="sm" type="none"/>
            <a:tailEnd len="med" w="med" type="triangle"/>
          </a:ln>
        </p:spPr>
      </p:cxnSp>
      <p:cxnSp>
        <p:nvCxnSpPr>
          <p:cNvPr id="397" name="Google Shape;397;p38"/>
          <p:cNvCxnSpPr>
            <a:stCxn id="390" idx="3"/>
            <a:endCxn id="398" idx="0"/>
          </p:cNvCxnSpPr>
          <p:nvPr/>
        </p:nvCxnSpPr>
        <p:spPr>
          <a:xfrm>
            <a:off x="54178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399" name="Google Shape;399;p38"/>
          <p:cNvGrpSpPr/>
          <p:nvPr/>
        </p:nvGrpSpPr>
        <p:grpSpPr>
          <a:xfrm>
            <a:off x="5496701" y="3652512"/>
            <a:ext cx="302150" cy="302100"/>
            <a:chOff x="1015875" y="2044825"/>
            <a:chExt cx="302150" cy="302100"/>
          </a:xfrm>
        </p:grpSpPr>
        <p:sp>
          <p:nvSpPr>
            <p:cNvPr id="400" name="Google Shape;400;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98" name="Google Shape;398;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401" name="Google Shape;401;p38"/>
          <p:cNvGrpSpPr/>
          <p:nvPr/>
        </p:nvGrpSpPr>
        <p:grpSpPr>
          <a:xfrm>
            <a:off x="4734701" y="3652512"/>
            <a:ext cx="302150" cy="302100"/>
            <a:chOff x="1015875" y="2044825"/>
            <a:chExt cx="302150" cy="302100"/>
          </a:xfrm>
        </p:grpSpPr>
        <p:sp>
          <p:nvSpPr>
            <p:cNvPr id="402" name="Google Shape;402;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96" name="Google Shape;396;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2</a:t>
              </a:r>
              <a:endParaRPr b="0" i="0" sz="1400" u="none" cap="none" strike="noStrike">
                <a:solidFill>
                  <a:srgbClr val="FFFFFF"/>
                </a:solidFill>
                <a:latin typeface="Roboto"/>
                <a:ea typeface="Roboto"/>
                <a:cs typeface="Roboto"/>
                <a:sym typeface="Roboto"/>
              </a:endParaRPr>
            </a:p>
          </p:txBody>
        </p:sp>
      </p:grpSp>
      <p:grpSp>
        <p:nvGrpSpPr>
          <p:cNvPr id="403" name="Google Shape;403;p38"/>
          <p:cNvGrpSpPr/>
          <p:nvPr/>
        </p:nvGrpSpPr>
        <p:grpSpPr>
          <a:xfrm>
            <a:off x="5496701" y="2566412"/>
            <a:ext cx="302150" cy="321400"/>
            <a:chOff x="1015875" y="2025525"/>
            <a:chExt cx="302150" cy="321400"/>
          </a:xfrm>
        </p:grpSpPr>
        <p:sp>
          <p:nvSpPr>
            <p:cNvPr id="404" name="Google Shape;404;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89" name="Google Shape;389;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5</a:t>
              </a:r>
              <a:endParaRPr b="0" i="0" sz="1400" u="none" cap="none" strike="noStrike">
                <a:solidFill>
                  <a:srgbClr val="FFFFFF"/>
                </a:solidFill>
                <a:latin typeface="Roboto"/>
                <a:ea typeface="Roboto"/>
                <a:cs typeface="Roboto"/>
                <a:sym typeface="Roboto"/>
              </a:endParaRPr>
            </a:p>
          </p:txBody>
        </p:sp>
      </p:grpSp>
      <p:cxnSp>
        <p:nvCxnSpPr>
          <p:cNvPr id="405" name="Google Shape;405;p38"/>
          <p:cNvCxnSpPr>
            <a:stCxn id="392" idx="3"/>
            <a:endCxn id="406" idx="0"/>
          </p:cNvCxnSpPr>
          <p:nvPr/>
        </p:nvCxnSpPr>
        <p:spPr>
          <a:xfrm>
            <a:off x="61798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407" name="Google Shape;407;p38"/>
          <p:cNvGrpSpPr/>
          <p:nvPr/>
        </p:nvGrpSpPr>
        <p:grpSpPr>
          <a:xfrm>
            <a:off x="5877701" y="3119112"/>
            <a:ext cx="302150" cy="302100"/>
            <a:chOff x="1015875" y="2044825"/>
            <a:chExt cx="302150" cy="302100"/>
          </a:xfrm>
        </p:grpSpPr>
        <p:sp>
          <p:nvSpPr>
            <p:cNvPr id="408" name="Google Shape;408;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392" name="Google Shape;392;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409" name="Google Shape;409;p38"/>
          <p:cNvGrpSpPr/>
          <p:nvPr/>
        </p:nvGrpSpPr>
        <p:grpSpPr>
          <a:xfrm>
            <a:off x="6258701" y="3652512"/>
            <a:ext cx="302150" cy="302100"/>
            <a:chOff x="1015875" y="2044825"/>
            <a:chExt cx="302150" cy="302100"/>
          </a:xfrm>
        </p:grpSpPr>
        <p:sp>
          <p:nvSpPr>
            <p:cNvPr id="410" name="Google Shape;410;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06" name="Google Shape;406;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cxnSp>
        <p:nvCxnSpPr>
          <p:cNvPr id="411" name="Google Shape;411;p38"/>
          <p:cNvCxnSpPr>
            <a:stCxn id="412" idx="1"/>
            <a:endCxn id="413" idx="0"/>
          </p:cNvCxnSpPr>
          <p:nvPr/>
        </p:nvCxnSpPr>
        <p:spPr>
          <a:xfrm flipH="1">
            <a:off x="3133001" y="2727062"/>
            <a:ext cx="230100" cy="399300"/>
          </a:xfrm>
          <a:prstGeom prst="curvedConnector2">
            <a:avLst/>
          </a:prstGeom>
          <a:noFill/>
          <a:ln cap="flat" cmpd="sng" w="19050">
            <a:solidFill>
              <a:srgbClr val="FF0000"/>
            </a:solidFill>
            <a:prstDash val="solid"/>
            <a:round/>
            <a:headEnd len="sm" w="sm" type="none"/>
            <a:tailEnd len="med" w="med" type="triangle"/>
          </a:ln>
        </p:spPr>
      </p:cxnSp>
      <p:cxnSp>
        <p:nvCxnSpPr>
          <p:cNvPr id="414" name="Google Shape;414;p38"/>
          <p:cNvCxnSpPr>
            <a:stCxn id="412" idx="3"/>
            <a:endCxn id="415" idx="0"/>
          </p:cNvCxnSpPr>
          <p:nvPr/>
        </p:nvCxnSpPr>
        <p:spPr>
          <a:xfrm>
            <a:off x="3665201" y="2727062"/>
            <a:ext cx="230100" cy="399300"/>
          </a:xfrm>
          <a:prstGeom prst="curvedConnector2">
            <a:avLst/>
          </a:prstGeom>
          <a:noFill/>
          <a:ln cap="flat" cmpd="sng" w="19050">
            <a:solidFill>
              <a:srgbClr val="FF0000"/>
            </a:solidFill>
            <a:prstDash val="solid"/>
            <a:round/>
            <a:headEnd len="sm" w="sm" type="none"/>
            <a:tailEnd len="med" w="med" type="triangle"/>
          </a:ln>
        </p:spPr>
      </p:cxnSp>
      <p:grpSp>
        <p:nvGrpSpPr>
          <p:cNvPr id="416" name="Google Shape;416;p38"/>
          <p:cNvGrpSpPr/>
          <p:nvPr/>
        </p:nvGrpSpPr>
        <p:grpSpPr>
          <a:xfrm>
            <a:off x="2982101" y="3119112"/>
            <a:ext cx="302150" cy="302100"/>
            <a:chOff x="1015875" y="2044825"/>
            <a:chExt cx="302150" cy="302100"/>
          </a:xfrm>
        </p:grpSpPr>
        <p:sp>
          <p:nvSpPr>
            <p:cNvPr id="417" name="Google Shape;417;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3" name="Google Shape;413;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6</a:t>
              </a:r>
              <a:endParaRPr b="0" i="0" sz="1400" u="none" cap="none" strike="noStrike">
                <a:solidFill>
                  <a:srgbClr val="FFFFFF"/>
                </a:solidFill>
                <a:latin typeface="Roboto"/>
                <a:ea typeface="Roboto"/>
                <a:cs typeface="Roboto"/>
                <a:sym typeface="Roboto"/>
              </a:endParaRPr>
            </a:p>
          </p:txBody>
        </p:sp>
      </p:grpSp>
      <p:cxnSp>
        <p:nvCxnSpPr>
          <p:cNvPr id="418" name="Google Shape;418;p38"/>
          <p:cNvCxnSpPr>
            <a:stCxn id="413" idx="1"/>
            <a:endCxn id="419" idx="0"/>
          </p:cNvCxnSpPr>
          <p:nvPr/>
        </p:nvCxnSpPr>
        <p:spPr>
          <a:xfrm flipH="1">
            <a:off x="2752301" y="3264099"/>
            <a:ext cx="229800" cy="395700"/>
          </a:xfrm>
          <a:prstGeom prst="curvedConnector2">
            <a:avLst/>
          </a:prstGeom>
          <a:noFill/>
          <a:ln cap="flat" cmpd="sng" w="19050">
            <a:solidFill>
              <a:srgbClr val="FF0000"/>
            </a:solidFill>
            <a:prstDash val="solid"/>
            <a:round/>
            <a:headEnd len="sm" w="sm" type="none"/>
            <a:tailEnd len="med" w="med" type="triangle"/>
          </a:ln>
        </p:spPr>
      </p:cxnSp>
      <p:cxnSp>
        <p:nvCxnSpPr>
          <p:cNvPr id="420" name="Google Shape;420;p38"/>
          <p:cNvCxnSpPr>
            <a:stCxn id="413" idx="3"/>
            <a:endCxn id="421" idx="0"/>
          </p:cNvCxnSpPr>
          <p:nvPr/>
        </p:nvCxnSpPr>
        <p:spPr>
          <a:xfrm>
            <a:off x="32842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422" name="Google Shape;422;p38"/>
          <p:cNvGrpSpPr/>
          <p:nvPr/>
        </p:nvGrpSpPr>
        <p:grpSpPr>
          <a:xfrm>
            <a:off x="3363101" y="3652512"/>
            <a:ext cx="302150" cy="302100"/>
            <a:chOff x="1015875" y="2044825"/>
            <a:chExt cx="302150" cy="302100"/>
          </a:xfrm>
        </p:grpSpPr>
        <p:sp>
          <p:nvSpPr>
            <p:cNvPr id="423" name="Google Shape;423;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21" name="Google Shape;421;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5</a:t>
              </a:r>
              <a:endParaRPr b="0" i="0" sz="1400" u="none" cap="none" strike="noStrike">
                <a:solidFill>
                  <a:srgbClr val="FFFFFF"/>
                </a:solidFill>
                <a:latin typeface="Roboto"/>
                <a:ea typeface="Roboto"/>
                <a:cs typeface="Roboto"/>
                <a:sym typeface="Roboto"/>
              </a:endParaRPr>
            </a:p>
          </p:txBody>
        </p:sp>
      </p:grpSp>
      <p:grpSp>
        <p:nvGrpSpPr>
          <p:cNvPr id="424" name="Google Shape;424;p38"/>
          <p:cNvGrpSpPr/>
          <p:nvPr/>
        </p:nvGrpSpPr>
        <p:grpSpPr>
          <a:xfrm>
            <a:off x="2601101" y="3652512"/>
            <a:ext cx="302150" cy="302100"/>
            <a:chOff x="1015875" y="2044825"/>
            <a:chExt cx="302150" cy="302100"/>
          </a:xfrm>
        </p:grpSpPr>
        <p:sp>
          <p:nvSpPr>
            <p:cNvPr id="425" name="Google Shape;425;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9" name="Google Shape;419;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426" name="Google Shape;426;p38"/>
          <p:cNvGrpSpPr/>
          <p:nvPr/>
        </p:nvGrpSpPr>
        <p:grpSpPr>
          <a:xfrm>
            <a:off x="3363101" y="2566412"/>
            <a:ext cx="302150" cy="321400"/>
            <a:chOff x="1015875" y="2025525"/>
            <a:chExt cx="302150" cy="321400"/>
          </a:xfrm>
        </p:grpSpPr>
        <p:sp>
          <p:nvSpPr>
            <p:cNvPr id="427" name="Google Shape;427;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2" name="Google Shape;412;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7</a:t>
              </a:r>
              <a:endParaRPr b="0" i="0" sz="1400" u="none" cap="none" strike="noStrike">
                <a:solidFill>
                  <a:srgbClr val="FFFFFF"/>
                </a:solidFill>
                <a:latin typeface="Roboto"/>
                <a:ea typeface="Roboto"/>
                <a:cs typeface="Roboto"/>
                <a:sym typeface="Roboto"/>
              </a:endParaRPr>
            </a:p>
          </p:txBody>
        </p:sp>
      </p:grpSp>
      <p:cxnSp>
        <p:nvCxnSpPr>
          <p:cNvPr id="428" name="Google Shape;428;p38"/>
          <p:cNvCxnSpPr>
            <a:stCxn id="415" idx="3"/>
            <a:endCxn id="429" idx="0"/>
          </p:cNvCxnSpPr>
          <p:nvPr/>
        </p:nvCxnSpPr>
        <p:spPr>
          <a:xfrm>
            <a:off x="4046201" y="3264099"/>
            <a:ext cx="230100" cy="395700"/>
          </a:xfrm>
          <a:prstGeom prst="curvedConnector2">
            <a:avLst/>
          </a:prstGeom>
          <a:noFill/>
          <a:ln cap="flat" cmpd="sng" w="19050">
            <a:solidFill>
              <a:srgbClr val="FF0000"/>
            </a:solidFill>
            <a:prstDash val="solid"/>
            <a:round/>
            <a:headEnd len="sm" w="sm" type="none"/>
            <a:tailEnd len="med" w="med" type="triangle"/>
          </a:ln>
        </p:spPr>
      </p:cxnSp>
      <p:grpSp>
        <p:nvGrpSpPr>
          <p:cNvPr id="430" name="Google Shape;430;p38"/>
          <p:cNvGrpSpPr/>
          <p:nvPr/>
        </p:nvGrpSpPr>
        <p:grpSpPr>
          <a:xfrm>
            <a:off x="3744101" y="3119112"/>
            <a:ext cx="302150" cy="302100"/>
            <a:chOff x="1015875" y="2044825"/>
            <a:chExt cx="302150" cy="302100"/>
          </a:xfrm>
        </p:grpSpPr>
        <p:sp>
          <p:nvSpPr>
            <p:cNvPr id="431" name="Google Shape;431;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15" name="Google Shape;415;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432" name="Google Shape;432;p38"/>
          <p:cNvGrpSpPr/>
          <p:nvPr/>
        </p:nvGrpSpPr>
        <p:grpSpPr>
          <a:xfrm>
            <a:off x="4125101" y="3652512"/>
            <a:ext cx="302150" cy="302100"/>
            <a:chOff x="1015875" y="2044825"/>
            <a:chExt cx="302150" cy="302100"/>
          </a:xfrm>
        </p:grpSpPr>
        <p:sp>
          <p:nvSpPr>
            <p:cNvPr id="433" name="Google Shape;433;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29" name="Google Shape;429;p38"/>
            <p:cNvSpPr txBox="1"/>
            <p:nvPr/>
          </p:nvSpPr>
          <p:spPr>
            <a:xfrm>
              <a:off x="1015875" y="2051962"/>
              <a:ext cx="302100" cy="27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grpSp>
        <p:nvGrpSpPr>
          <p:cNvPr id="434" name="Google Shape;434;p38"/>
          <p:cNvGrpSpPr/>
          <p:nvPr/>
        </p:nvGrpSpPr>
        <p:grpSpPr>
          <a:xfrm>
            <a:off x="7730760" y="2274412"/>
            <a:ext cx="302150" cy="321400"/>
            <a:chOff x="1015875" y="2025525"/>
            <a:chExt cx="302150" cy="321400"/>
          </a:xfrm>
        </p:grpSpPr>
        <p:sp>
          <p:nvSpPr>
            <p:cNvPr id="435" name="Google Shape;435;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36" name="Google Shape;436;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9</a:t>
              </a:r>
              <a:endParaRPr b="0" i="0" sz="1400" u="none" cap="none" strike="noStrike">
                <a:solidFill>
                  <a:srgbClr val="FFFFFF"/>
                </a:solidFill>
                <a:latin typeface="Roboto"/>
                <a:ea typeface="Roboto"/>
                <a:cs typeface="Roboto"/>
                <a:sym typeface="Roboto"/>
              </a:endParaRPr>
            </a:p>
          </p:txBody>
        </p:sp>
      </p:grpSp>
      <p:grpSp>
        <p:nvGrpSpPr>
          <p:cNvPr id="437" name="Google Shape;437;p38"/>
          <p:cNvGrpSpPr/>
          <p:nvPr/>
        </p:nvGrpSpPr>
        <p:grpSpPr>
          <a:xfrm>
            <a:off x="7730760" y="2807812"/>
            <a:ext cx="302150" cy="321400"/>
            <a:chOff x="1015875" y="2025525"/>
            <a:chExt cx="302150" cy="321400"/>
          </a:xfrm>
        </p:grpSpPr>
        <p:sp>
          <p:nvSpPr>
            <p:cNvPr id="438" name="Google Shape;438;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39" name="Google Shape;439;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7</a:t>
              </a:r>
              <a:endParaRPr b="0" i="0" sz="1400" u="none" cap="none" strike="noStrike">
                <a:solidFill>
                  <a:srgbClr val="FFFFFF"/>
                </a:solidFill>
                <a:latin typeface="Roboto"/>
                <a:ea typeface="Roboto"/>
                <a:cs typeface="Roboto"/>
                <a:sym typeface="Roboto"/>
              </a:endParaRPr>
            </a:p>
          </p:txBody>
        </p:sp>
      </p:grpSp>
      <p:grpSp>
        <p:nvGrpSpPr>
          <p:cNvPr id="440" name="Google Shape;440;p38"/>
          <p:cNvGrpSpPr/>
          <p:nvPr/>
        </p:nvGrpSpPr>
        <p:grpSpPr>
          <a:xfrm>
            <a:off x="7173101" y="3176012"/>
            <a:ext cx="302150" cy="321400"/>
            <a:chOff x="1015875" y="2025525"/>
            <a:chExt cx="302150" cy="321400"/>
          </a:xfrm>
        </p:grpSpPr>
        <p:sp>
          <p:nvSpPr>
            <p:cNvPr id="441" name="Google Shape;441;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42" name="Google Shape;442;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443" name="Google Shape;443;p38"/>
          <p:cNvGrpSpPr/>
          <p:nvPr/>
        </p:nvGrpSpPr>
        <p:grpSpPr>
          <a:xfrm>
            <a:off x="8316101" y="3176012"/>
            <a:ext cx="302150" cy="321400"/>
            <a:chOff x="1015875" y="2025525"/>
            <a:chExt cx="302150" cy="321400"/>
          </a:xfrm>
        </p:grpSpPr>
        <p:sp>
          <p:nvSpPr>
            <p:cNvPr id="444" name="Google Shape;444;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45" name="Google Shape;445;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446" name="Google Shape;446;p38"/>
          <p:cNvGrpSpPr/>
          <p:nvPr/>
        </p:nvGrpSpPr>
        <p:grpSpPr>
          <a:xfrm>
            <a:off x="8316135" y="3709412"/>
            <a:ext cx="314975" cy="321400"/>
            <a:chOff x="1003050" y="2025525"/>
            <a:chExt cx="314975" cy="321400"/>
          </a:xfrm>
        </p:grpSpPr>
        <p:sp>
          <p:nvSpPr>
            <p:cNvPr id="447" name="Google Shape;447;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48" name="Google Shape;448;p38"/>
            <p:cNvSpPr txBox="1"/>
            <p:nvPr/>
          </p:nvSpPr>
          <p:spPr>
            <a:xfrm>
              <a:off x="1003050"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8</a:t>
              </a:r>
              <a:endParaRPr b="0" i="0" sz="1400" u="none" cap="none" strike="noStrike">
                <a:solidFill>
                  <a:srgbClr val="FFFFFF"/>
                </a:solidFill>
                <a:latin typeface="Roboto"/>
                <a:ea typeface="Roboto"/>
                <a:cs typeface="Roboto"/>
                <a:sym typeface="Roboto"/>
              </a:endParaRPr>
            </a:p>
          </p:txBody>
        </p:sp>
      </p:grpSp>
      <p:grpSp>
        <p:nvGrpSpPr>
          <p:cNvPr id="449" name="Google Shape;449;p38"/>
          <p:cNvGrpSpPr/>
          <p:nvPr/>
        </p:nvGrpSpPr>
        <p:grpSpPr>
          <a:xfrm>
            <a:off x="7643160" y="3709412"/>
            <a:ext cx="302150" cy="321400"/>
            <a:chOff x="1015875" y="2025525"/>
            <a:chExt cx="302150" cy="321400"/>
          </a:xfrm>
        </p:grpSpPr>
        <p:sp>
          <p:nvSpPr>
            <p:cNvPr id="450" name="Google Shape;450;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51" name="Google Shape;451;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6</a:t>
              </a:r>
              <a:endParaRPr b="0" i="0" sz="1400" u="none" cap="none" strike="noStrike">
                <a:solidFill>
                  <a:srgbClr val="FFFFFF"/>
                </a:solidFill>
                <a:latin typeface="Roboto"/>
                <a:ea typeface="Roboto"/>
                <a:cs typeface="Roboto"/>
                <a:sym typeface="Roboto"/>
              </a:endParaRPr>
            </a:p>
          </p:txBody>
        </p:sp>
      </p:grpSp>
      <p:grpSp>
        <p:nvGrpSpPr>
          <p:cNvPr id="452" name="Google Shape;452;p38"/>
          <p:cNvGrpSpPr/>
          <p:nvPr/>
        </p:nvGrpSpPr>
        <p:grpSpPr>
          <a:xfrm>
            <a:off x="7173135" y="3709412"/>
            <a:ext cx="314975" cy="321400"/>
            <a:chOff x="1003050" y="2025525"/>
            <a:chExt cx="314975" cy="321400"/>
          </a:xfrm>
        </p:grpSpPr>
        <p:sp>
          <p:nvSpPr>
            <p:cNvPr id="453" name="Google Shape;453;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54" name="Google Shape;454;p38"/>
            <p:cNvSpPr txBox="1"/>
            <p:nvPr/>
          </p:nvSpPr>
          <p:spPr>
            <a:xfrm>
              <a:off x="1003050"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4</a:t>
              </a:r>
              <a:endParaRPr b="0" i="0" sz="1400" u="none" cap="none" strike="noStrike">
                <a:solidFill>
                  <a:srgbClr val="FFFFFF"/>
                </a:solidFill>
                <a:latin typeface="Roboto"/>
                <a:ea typeface="Roboto"/>
                <a:cs typeface="Roboto"/>
                <a:sym typeface="Roboto"/>
              </a:endParaRPr>
            </a:p>
          </p:txBody>
        </p:sp>
      </p:grpSp>
      <p:grpSp>
        <p:nvGrpSpPr>
          <p:cNvPr id="455" name="Google Shape;455;p38"/>
          <p:cNvGrpSpPr/>
          <p:nvPr/>
        </p:nvGrpSpPr>
        <p:grpSpPr>
          <a:xfrm>
            <a:off x="6715935" y="3709412"/>
            <a:ext cx="302150" cy="321400"/>
            <a:chOff x="1015875" y="2025525"/>
            <a:chExt cx="302150" cy="321400"/>
          </a:xfrm>
        </p:grpSpPr>
        <p:sp>
          <p:nvSpPr>
            <p:cNvPr id="456" name="Google Shape;456;p38"/>
            <p:cNvSpPr/>
            <p:nvPr/>
          </p:nvSpPr>
          <p:spPr>
            <a:xfrm>
              <a:off x="1015925" y="2044825"/>
              <a:ext cx="302100" cy="302100"/>
            </a:xfrm>
            <a:prstGeom prst="ellipse">
              <a:avLst/>
            </a:prstGeom>
            <a:solidFill>
              <a:srgbClr val="4A86E8"/>
            </a:solidFill>
            <a:ln cap="flat" cmpd="sng" w="28575">
              <a:solidFill>
                <a:srgbClr val="1C458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457" name="Google Shape;457;p38"/>
            <p:cNvSpPr txBox="1"/>
            <p:nvPr/>
          </p:nvSpPr>
          <p:spPr>
            <a:xfrm>
              <a:off x="1015875" y="2025525"/>
              <a:ext cx="302100" cy="3213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3</a:t>
              </a:r>
              <a:endParaRPr b="0" i="0" sz="1400" u="none" cap="none" strike="noStrike">
                <a:solidFill>
                  <a:srgbClr val="FFFFFF"/>
                </a:solidFill>
                <a:latin typeface="Roboto"/>
                <a:ea typeface="Roboto"/>
                <a:cs typeface="Roboto"/>
                <a:sym typeface="Roboto"/>
              </a:endParaRPr>
            </a:p>
          </p:txBody>
        </p:sp>
      </p:grpSp>
      <p:cxnSp>
        <p:nvCxnSpPr>
          <p:cNvPr id="458" name="Google Shape;458;p38"/>
          <p:cNvCxnSpPr>
            <a:stCxn id="436" idx="2"/>
            <a:endCxn id="439" idx="0"/>
          </p:cNvCxnSpPr>
          <p:nvPr/>
        </p:nvCxnSpPr>
        <p:spPr>
          <a:xfrm flipH="1" rot="-5400000">
            <a:off x="7776060" y="27014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459" name="Google Shape;459;p38"/>
          <p:cNvCxnSpPr>
            <a:stCxn id="439" idx="1"/>
            <a:endCxn id="442" idx="0"/>
          </p:cNvCxnSpPr>
          <p:nvPr/>
        </p:nvCxnSpPr>
        <p:spPr>
          <a:xfrm flipH="1">
            <a:off x="7324260" y="2968462"/>
            <a:ext cx="406500" cy="207600"/>
          </a:xfrm>
          <a:prstGeom prst="curvedConnector2">
            <a:avLst/>
          </a:prstGeom>
          <a:noFill/>
          <a:ln cap="flat" cmpd="sng" w="19050">
            <a:solidFill>
              <a:srgbClr val="FF0000"/>
            </a:solidFill>
            <a:prstDash val="solid"/>
            <a:round/>
            <a:headEnd len="sm" w="sm" type="none"/>
            <a:tailEnd len="med" w="med" type="triangle"/>
          </a:ln>
        </p:spPr>
      </p:cxnSp>
      <p:cxnSp>
        <p:nvCxnSpPr>
          <p:cNvPr id="460" name="Google Shape;460;p38"/>
          <p:cNvCxnSpPr>
            <a:stCxn id="439" idx="3"/>
            <a:endCxn id="445" idx="0"/>
          </p:cNvCxnSpPr>
          <p:nvPr/>
        </p:nvCxnSpPr>
        <p:spPr>
          <a:xfrm>
            <a:off x="8032860" y="2968462"/>
            <a:ext cx="434400" cy="207600"/>
          </a:xfrm>
          <a:prstGeom prst="curvedConnector2">
            <a:avLst/>
          </a:prstGeom>
          <a:noFill/>
          <a:ln cap="flat" cmpd="sng" w="19050">
            <a:solidFill>
              <a:srgbClr val="FF0000"/>
            </a:solidFill>
            <a:prstDash val="solid"/>
            <a:round/>
            <a:headEnd len="sm" w="sm" type="none"/>
            <a:tailEnd len="med" w="med" type="triangle"/>
          </a:ln>
        </p:spPr>
      </p:cxnSp>
      <p:cxnSp>
        <p:nvCxnSpPr>
          <p:cNvPr id="461" name="Google Shape;461;p38"/>
          <p:cNvCxnSpPr>
            <a:stCxn id="445" idx="2"/>
            <a:endCxn id="448" idx="0"/>
          </p:cNvCxnSpPr>
          <p:nvPr/>
        </p:nvCxnSpPr>
        <p:spPr>
          <a:xfrm flipH="1" rot="-5400000">
            <a:off x="8361401" y="36030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462" name="Google Shape;462;p38"/>
          <p:cNvCxnSpPr>
            <a:stCxn id="442" idx="2"/>
            <a:endCxn id="454" idx="0"/>
          </p:cNvCxnSpPr>
          <p:nvPr/>
        </p:nvCxnSpPr>
        <p:spPr>
          <a:xfrm flipH="1" rot="-5400000">
            <a:off x="7218401" y="3603062"/>
            <a:ext cx="212100" cy="600"/>
          </a:xfrm>
          <a:prstGeom prst="curvedConnector3">
            <a:avLst>
              <a:gd fmla="val 50000" name="adj1"/>
            </a:avLst>
          </a:prstGeom>
          <a:noFill/>
          <a:ln cap="flat" cmpd="sng" w="19050">
            <a:solidFill>
              <a:srgbClr val="FF0000"/>
            </a:solidFill>
            <a:prstDash val="solid"/>
            <a:round/>
            <a:headEnd len="sm" w="sm" type="none"/>
            <a:tailEnd len="med" w="med" type="triangle"/>
          </a:ln>
        </p:spPr>
      </p:cxnSp>
      <p:cxnSp>
        <p:nvCxnSpPr>
          <p:cNvPr id="463" name="Google Shape;463;p38"/>
          <p:cNvCxnSpPr>
            <a:stCxn id="442" idx="1"/>
            <a:endCxn id="457" idx="0"/>
          </p:cNvCxnSpPr>
          <p:nvPr/>
        </p:nvCxnSpPr>
        <p:spPr>
          <a:xfrm flipH="1">
            <a:off x="6867101" y="3336662"/>
            <a:ext cx="306000" cy="372900"/>
          </a:xfrm>
          <a:prstGeom prst="curvedConnector2">
            <a:avLst/>
          </a:prstGeom>
          <a:noFill/>
          <a:ln cap="flat" cmpd="sng" w="19050">
            <a:solidFill>
              <a:srgbClr val="FF0000"/>
            </a:solidFill>
            <a:prstDash val="solid"/>
            <a:round/>
            <a:headEnd len="sm" w="sm" type="none"/>
            <a:tailEnd len="med" w="med" type="triangle"/>
          </a:ln>
        </p:spPr>
      </p:cxnSp>
      <p:cxnSp>
        <p:nvCxnSpPr>
          <p:cNvPr id="464" name="Google Shape;464;p38"/>
          <p:cNvCxnSpPr>
            <a:stCxn id="442" idx="3"/>
            <a:endCxn id="451" idx="0"/>
          </p:cNvCxnSpPr>
          <p:nvPr/>
        </p:nvCxnSpPr>
        <p:spPr>
          <a:xfrm>
            <a:off x="7475201" y="3336662"/>
            <a:ext cx="318900" cy="372900"/>
          </a:xfrm>
          <a:prstGeom prst="curvedConnector2">
            <a:avLst/>
          </a:prstGeom>
          <a:noFill/>
          <a:ln cap="flat" cmpd="sng" w="19050">
            <a:solidFill>
              <a:srgbClr val="FF0000"/>
            </a:solidFill>
            <a:prstDash val="solid"/>
            <a:round/>
            <a:headEnd len="sm" w="sm" type="none"/>
            <a:tailEnd len="med" w="med" type="triangle"/>
          </a:ln>
        </p:spPr>
      </p:cxnSp>
      <p:sp>
        <p:nvSpPr>
          <p:cNvPr id="465" name="Google Shape;465;p38"/>
          <p:cNvSpPr txBox="1"/>
          <p:nvPr/>
        </p:nvSpPr>
        <p:spPr>
          <a:xfrm>
            <a:off x="411550" y="4545211"/>
            <a:ext cx="1999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LINKED SEQUENCE</a:t>
            </a:r>
            <a:endParaRPr b="0" i="0" sz="14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(LIST, STACK, QUEUE?)</a:t>
            </a:r>
            <a:endParaRPr b="0" i="0" sz="1400" u="none" cap="none" strike="noStrike">
              <a:solidFill>
                <a:srgbClr val="FF0000"/>
              </a:solidFill>
              <a:latin typeface="Shadows Into Light"/>
              <a:ea typeface="Shadows Into Light"/>
              <a:cs typeface="Shadows Into Light"/>
              <a:sym typeface="Shadows Into Light"/>
            </a:endParaRPr>
          </a:p>
        </p:txBody>
      </p:sp>
      <p:sp>
        <p:nvSpPr>
          <p:cNvPr id="466" name="Google Shape;466;p38"/>
          <p:cNvSpPr txBox="1"/>
          <p:nvPr/>
        </p:nvSpPr>
        <p:spPr>
          <a:xfrm>
            <a:off x="2525862" y="4545211"/>
            <a:ext cx="1999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BINARY TREE</a:t>
            </a:r>
            <a:endParaRPr b="0" i="0" sz="14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(5 &lt; 6)</a:t>
            </a:r>
            <a:endParaRPr b="0" i="0" sz="1400" u="none" cap="none" strike="noStrike">
              <a:solidFill>
                <a:srgbClr val="FF0000"/>
              </a:solidFill>
              <a:latin typeface="Shadows Into Light"/>
              <a:ea typeface="Shadows Into Light"/>
              <a:cs typeface="Shadows Into Light"/>
              <a:sym typeface="Shadows Into Light"/>
            </a:endParaRPr>
          </a:p>
        </p:txBody>
      </p:sp>
      <p:sp>
        <p:nvSpPr>
          <p:cNvPr id="467" name="Google Shape;467;p38"/>
          <p:cNvSpPr txBox="1"/>
          <p:nvPr/>
        </p:nvSpPr>
        <p:spPr>
          <a:xfrm>
            <a:off x="4659462" y="4545211"/>
            <a:ext cx="1999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BINARY SEARCH TREE</a:t>
            </a:r>
            <a:endParaRPr b="0" i="0" sz="1400" u="none" cap="none" strike="noStrike">
              <a:solidFill>
                <a:srgbClr val="FF0000"/>
              </a:solidFill>
              <a:latin typeface="Shadows Into Light"/>
              <a:ea typeface="Shadows Into Light"/>
              <a:cs typeface="Shadows Into Light"/>
              <a:sym typeface="Shadows Into Light"/>
            </a:endParaRPr>
          </a:p>
        </p:txBody>
      </p:sp>
      <p:sp>
        <p:nvSpPr>
          <p:cNvPr id="468" name="Google Shape;468;p38"/>
          <p:cNvSpPr txBox="1"/>
          <p:nvPr/>
        </p:nvSpPr>
        <p:spPr>
          <a:xfrm>
            <a:off x="6716862" y="4545211"/>
            <a:ext cx="1999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N-ARY TREE</a:t>
            </a:r>
            <a:endParaRPr b="0" i="0" sz="14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465"/>
                                        </p:tgtEl>
                                        <p:attrNameLst>
                                          <p:attrName>style.visibility</p:attrName>
                                        </p:attrNameLst>
                                      </p:cBhvr>
                                      <p:to>
                                        <p:strVal val="visible"/>
                                      </p:to>
                                    </p:set>
                                    <p:animEffect filter="fade" transition="in">
                                      <p:cBhvr>
                                        <p:cTn dur="1000"/>
                                        <p:tgtEl>
                                          <p:spTgt spid="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7"/>
                                        </p:tgtEl>
                                        <p:attrNameLst>
                                          <p:attrName>style.visibility</p:attrName>
                                        </p:attrNameLst>
                                      </p:cBhvr>
                                      <p:to>
                                        <p:strVal val="visible"/>
                                      </p:to>
                                    </p:set>
                                    <p:animEffect filter="fade" transition="in">
                                      <p:cBhvr>
                                        <p:cTn dur="1000"/>
                                        <p:tgtEl>
                                          <p:spTgt spid="4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74" name="Google Shape;474;p39"/>
          <p:cNvSpPr txBox="1"/>
          <p:nvPr>
            <p:ph type="title"/>
          </p:nvPr>
        </p:nvSpPr>
        <p:spPr>
          <a:xfrm>
            <a:off x="263575" y="43725"/>
            <a:ext cx="39348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Node-Based Structures</a:t>
            </a:r>
            <a:endParaRPr sz="2500"/>
          </a:p>
        </p:txBody>
      </p:sp>
      <p:sp>
        <p:nvSpPr>
          <p:cNvPr id="475" name="Google Shape;475;p39"/>
          <p:cNvSpPr txBox="1"/>
          <p:nvPr>
            <p:ph idx="1" type="body"/>
          </p:nvPr>
        </p:nvSpPr>
        <p:spPr>
          <a:xfrm>
            <a:off x="4328925" y="149225"/>
            <a:ext cx="4747800" cy="4894800"/>
          </a:xfrm>
          <a:prstGeom prst="rect">
            <a:avLst/>
          </a:prstGeom>
          <a:noFill/>
          <a:ln>
            <a:noFill/>
          </a:ln>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So far in this course we have spent a lot of time talking about </a:t>
            </a:r>
            <a:r>
              <a:rPr b="1" i="1" lang="en" sz="1200">
                <a:solidFill>
                  <a:srgbClr val="FF0000"/>
                </a:solidFill>
              </a:rPr>
              <a:t>nodes</a:t>
            </a:r>
            <a:r>
              <a:rPr lang="en" sz="1200"/>
              <a:t>.</a:t>
            </a:r>
            <a:endParaRPr sz="1200"/>
          </a:p>
          <a:p>
            <a:pPr indent="-304800" lvl="0" marL="457200" rtl="0" algn="l">
              <a:lnSpc>
                <a:spcPct val="100000"/>
              </a:lnSpc>
              <a:spcBef>
                <a:spcPts val="1000"/>
              </a:spcBef>
              <a:spcAft>
                <a:spcPts val="0"/>
              </a:spcAft>
              <a:buSzPts val="1200"/>
              <a:buChar char="●"/>
            </a:pPr>
            <a:r>
              <a:rPr lang="en" sz="1200"/>
              <a:t>As you recall, a node comprises two parts:</a:t>
            </a:r>
            <a:endParaRPr sz="1200"/>
          </a:p>
          <a:p>
            <a:pPr indent="-298450" lvl="1" marL="914400" rtl="0" algn="l">
              <a:lnSpc>
                <a:spcPct val="100000"/>
              </a:lnSpc>
              <a:spcBef>
                <a:spcPts val="0"/>
              </a:spcBef>
              <a:spcAft>
                <a:spcPts val="0"/>
              </a:spcAft>
              <a:buSzPts val="1100"/>
              <a:buChar char="○"/>
            </a:pPr>
            <a:r>
              <a:rPr lang="en"/>
              <a:t>A </a:t>
            </a:r>
            <a:r>
              <a:rPr b="1" i="1" lang="en">
                <a:solidFill>
                  <a:srgbClr val="FF0000"/>
                </a:solidFill>
              </a:rPr>
              <a:t>value</a:t>
            </a:r>
            <a:r>
              <a:rPr lang="en">
                <a:solidFill>
                  <a:srgbClr val="FF0000"/>
                </a:solidFill>
              </a:rPr>
              <a:t> </a:t>
            </a:r>
            <a:r>
              <a:rPr lang="en"/>
              <a:t>of some generic type.</a:t>
            </a:r>
            <a:endParaRPr/>
          </a:p>
          <a:p>
            <a:pPr indent="-298450" lvl="1" marL="914400" rtl="0" algn="l">
              <a:lnSpc>
                <a:spcPct val="100000"/>
              </a:lnSpc>
              <a:spcBef>
                <a:spcPts val="0"/>
              </a:spcBef>
              <a:spcAft>
                <a:spcPts val="0"/>
              </a:spcAft>
              <a:buSzPts val="1100"/>
              <a:buChar char="○"/>
            </a:pPr>
            <a:r>
              <a:rPr lang="en"/>
              <a:t>A reference to the </a:t>
            </a:r>
            <a:r>
              <a:rPr b="1" i="1" lang="en">
                <a:solidFill>
                  <a:srgbClr val="FF0000"/>
                </a:solidFill>
              </a:rPr>
              <a:t>next</a:t>
            </a:r>
            <a:r>
              <a:rPr lang="en">
                <a:solidFill>
                  <a:srgbClr val="FF0000"/>
                </a:solidFill>
              </a:rPr>
              <a:t> </a:t>
            </a:r>
            <a:r>
              <a:rPr lang="en"/>
              <a:t>node(s).</a:t>
            </a:r>
            <a:endParaRPr/>
          </a:p>
          <a:p>
            <a:pPr indent="-304800" lvl="0" marL="457200" rtl="0" algn="l">
              <a:lnSpc>
                <a:spcPct val="100000"/>
              </a:lnSpc>
              <a:spcBef>
                <a:spcPts val="1000"/>
              </a:spcBef>
              <a:spcAft>
                <a:spcPts val="0"/>
              </a:spcAft>
              <a:buSzPts val="1200"/>
              <a:buChar char="●"/>
            </a:pPr>
            <a:r>
              <a:rPr lang="en" sz="1200"/>
              <a:t>We have discussed many simple</a:t>
            </a:r>
            <a:r>
              <a:rPr lang="en" sz="1200">
                <a:solidFill>
                  <a:srgbClr val="FF0000"/>
                </a:solidFill>
              </a:rPr>
              <a:t> </a:t>
            </a:r>
            <a:r>
              <a:rPr b="1" i="1" lang="en" sz="1200">
                <a:solidFill>
                  <a:srgbClr val="FF0000"/>
                </a:solidFill>
              </a:rPr>
              <a:t>node-based</a:t>
            </a:r>
            <a:r>
              <a:rPr lang="en" sz="1200"/>
              <a:t> implementations of ADTs including </a:t>
            </a:r>
            <a:r>
              <a:rPr b="1" i="1" lang="en" sz="1200">
                <a:solidFill>
                  <a:srgbClr val="FF0000"/>
                </a:solidFill>
              </a:rPr>
              <a:t>stacks</a:t>
            </a:r>
            <a:r>
              <a:rPr lang="en" sz="1200"/>
              <a:t>, </a:t>
            </a:r>
            <a:r>
              <a:rPr b="1" i="1" lang="en" sz="1200">
                <a:solidFill>
                  <a:srgbClr val="FF0000"/>
                </a:solidFill>
              </a:rPr>
              <a:t>queues</a:t>
            </a:r>
            <a:r>
              <a:rPr lang="en" sz="1200"/>
              <a:t>, </a:t>
            </a:r>
            <a:r>
              <a:rPr b="1" i="1" lang="en" sz="1200">
                <a:solidFill>
                  <a:srgbClr val="FF0000"/>
                </a:solidFill>
              </a:rPr>
              <a:t>lists</a:t>
            </a:r>
            <a:r>
              <a:rPr lang="en" sz="1200"/>
              <a:t>, and </a:t>
            </a:r>
            <a:r>
              <a:rPr b="1" i="1" lang="en" sz="1200">
                <a:solidFill>
                  <a:srgbClr val="FF0000"/>
                </a:solidFill>
              </a:rPr>
              <a:t>binary trees</a:t>
            </a:r>
            <a:r>
              <a:rPr lang="en" sz="1200"/>
              <a:t>.</a:t>
            </a:r>
            <a:endParaRPr sz="1200"/>
          </a:p>
          <a:p>
            <a:pPr indent="-304800" lvl="0" marL="457200" rtl="0" algn="l">
              <a:lnSpc>
                <a:spcPct val="100000"/>
              </a:lnSpc>
              <a:spcBef>
                <a:spcPts val="1000"/>
              </a:spcBef>
              <a:spcAft>
                <a:spcPts val="0"/>
              </a:spcAft>
              <a:buSzPts val="1200"/>
              <a:buChar char="●"/>
            </a:pPr>
            <a:r>
              <a:rPr lang="en" sz="1200"/>
              <a:t>A </a:t>
            </a:r>
            <a:r>
              <a:rPr b="1" i="1" lang="en" sz="1200">
                <a:solidFill>
                  <a:srgbClr val="FF0000"/>
                </a:solidFill>
              </a:rPr>
              <a:t>linked list</a:t>
            </a:r>
            <a:r>
              <a:rPr lang="en" sz="1200"/>
              <a:t>, for example comprises a </a:t>
            </a:r>
            <a:r>
              <a:rPr b="1" i="1" lang="en" sz="1200">
                <a:solidFill>
                  <a:srgbClr val="FF0000"/>
                </a:solidFill>
              </a:rPr>
              <a:t>head</a:t>
            </a:r>
            <a:r>
              <a:rPr lang="en" sz="1200">
                <a:solidFill>
                  <a:srgbClr val="FF0000"/>
                </a:solidFill>
              </a:rPr>
              <a:t> </a:t>
            </a:r>
            <a:r>
              <a:rPr lang="en" sz="1200"/>
              <a:t>node and a </a:t>
            </a:r>
            <a:r>
              <a:rPr b="1" i="1" lang="en" sz="1200">
                <a:solidFill>
                  <a:srgbClr val="FF0000"/>
                </a:solidFill>
              </a:rPr>
              <a:t>tail</a:t>
            </a:r>
            <a:r>
              <a:rPr lang="en" sz="1200">
                <a:solidFill>
                  <a:srgbClr val="FF0000"/>
                </a:solidFill>
              </a:rPr>
              <a:t> </a:t>
            </a:r>
            <a:r>
              <a:rPr lang="en" sz="1200"/>
              <a:t>node, either of which may be </a:t>
            </a:r>
            <a:r>
              <a:rPr lang="en" sz="1200">
                <a:solidFill>
                  <a:srgbClr val="FF0000"/>
                </a:solidFill>
                <a:latin typeface="Courier New"/>
                <a:ea typeface="Courier New"/>
                <a:cs typeface="Courier New"/>
                <a:sym typeface="Courier New"/>
              </a:rPr>
              <a:t>null</a:t>
            </a:r>
            <a:r>
              <a:rPr lang="en" sz="1200">
                <a:solidFill>
                  <a:srgbClr val="FF0000"/>
                </a:solidFill>
              </a:rPr>
              <a:t> </a:t>
            </a:r>
            <a:r>
              <a:rPr lang="en" sz="1200"/>
              <a:t>(if the list is empty).</a:t>
            </a:r>
            <a:endParaRPr sz="1200"/>
          </a:p>
          <a:p>
            <a:pPr indent="-304800" lvl="0" marL="457200" rtl="0" algn="l">
              <a:lnSpc>
                <a:spcPct val="100000"/>
              </a:lnSpc>
              <a:spcBef>
                <a:spcPts val="1000"/>
              </a:spcBef>
              <a:spcAft>
                <a:spcPts val="0"/>
              </a:spcAft>
              <a:buSzPts val="1200"/>
              <a:buChar char="●"/>
            </a:pPr>
            <a:r>
              <a:rPr lang="en" sz="1200"/>
              <a:t>The nodes in a </a:t>
            </a:r>
            <a:r>
              <a:rPr b="1" i="1" lang="en" sz="1200">
                <a:solidFill>
                  <a:srgbClr val="FF0000"/>
                </a:solidFill>
              </a:rPr>
              <a:t>binary tree</a:t>
            </a:r>
            <a:r>
              <a:rPr lang="en" sz="1200"/>
              <a:t> are slightly more complex. </a:t>
            </a:r>
            <a:endParaRPr sz="1200"/>
          </a:p>
          <a:p>
            <a:pPr indent="-298450" lvl="1" marL="914400" rtl="0" algn="l">
              <a:lnSpc>
                <a:spcPct val="100000"/>
              </a:lnSpc>
              <a:spcBef>
                <a:spcPts val="0"/>
              </a:spcBef>
              <a:spcAft>
                <a:spcPts val="0"/>
              </a:spcAft>
              <a:buSzPts val="1100"/>
              <a:buChar char="○"/>
            </a:pPr>
            <a:r>
              <a:rPr lang="en"/>
              <a:t>Each node has a </a:t>
            </a:r>
            <a:r>
              <a:rPr b="1" i="1" lang="en">
                <a:solidFill>
                  <a:srgbClr val="FF0000"/>
                </a:solidFill>
              </a:rPr>
              <a:t>value</a:t>
            </a:r>
            <a:r>
              <a:rPr lang="en"/>
              <a:t>, a </a:t>
            </a:r>
            <a:r>
              <a:rPr b="1" i="1" lang="en">
                <a:solidFill>
                  <a:srgbClr val="FF0000"/>
                </a:solidFill>
              </a:rPr>
              <a:t>left child</a:t>
            </a:r>
            <a:r>
              <a:rPr lang="en"/>
              <a:t>, and a </a:t>
            </a:r>
            <a:r>
              <a:rPr b="1" i="1" lang="en">
                <a:solidFill>
                  <a:srgbClr val="FF0000"/>
                </a:solidFill>
              </a:rPr>
              <a:t>right child</a:t>
            </a:r>
            <a:r>
              <a:rPr lang="en"/>
              <a:t>, either or both of which may be </a:t>
            </a:r>
            <a:r>
              <a:rPr lang="en">
                <a:solidFill>
                  <a:srgbClr val="FF0000"/>
                </a:solidFill>
              </a:rPr>
              <a:t>null</a:t>
            </a:r>
            <a:r>
              <a:rPr lang="en"/>
              <a:t>.</a:t>
            </a:r>
            <a:endParaRPr/>
          </a:p>
          <a:p>
            <a:pPr indent="-304800" lvl="0" marL="457200" rtl="0" algn="l">
              <a:lnSpc>
                <a:spcPct val="100000"/>
              </a:lnSpc>
              <a:spcBef>
                <a:spcPts val="1000"/>
              </a:spcBef>
              <a:spcAft>
                <a:spcPts val="0"/>
              </a:spcAft>
              <a:buSzPts val="1200"/>
              <a:buChar char="●"/>
            </a:pPr>
            <a:r>
              <a:rPr lang="en" sz="1200"/>
              <a:t>A </a:t>
            </a:r>
            <a:r>
              <a:rPr b="1" i="1" lang="en" sz="1200">
                <a:solidFill>
                  <a:srgbClr val="FF0000"/>
                </a:solidFill>
              </a:rPr>
              <a:t>binary search tree</a:t>
            </a:r>
            <a:r>
              <a:rPr lang="en" sz="1200"/>
              <a:t> (</a:t>
            </a:r>
            <a:r>
              <a:rPr b="1" i="1" lang="en" sz="1200">
                <a:solidFill>
                  <a:srgbClr val="FF0000"/>
                </a:solidFill>
              </a:rPr>
              <a:t>BST</a:t>
            </a:r>
            <a:r>
              <a:rPr lang="en" sz="1200"/>
              <a:t>) is a special kind of binary tree with some extra rules:</a:t>
            </a:r>
            <a:endParaRPr sz="1200"/>
          </a:p>
          <a:p>
            <a:pPr indent="-298450" lvl="1" marL="914400" rtl="0" algn="l">
              <a:lnSpc>
                <a:spcPct val="100000"/>
              </a:lnSpc>
              <a:spcBef>
                <a:spcPts val="0"/>
              </a:spcBef>
              <a:spcAft>
                <a:spcPts val="0"/>
              </a:spcAft>
              <a:buSzPts val="1100"/>
              <a:buChar char="○"/>
            </a:pPr>
            <a:r>
              <a:rPr lang="en"/>
              <a:t>The values in a non-empty </a:t>
            </a:r>
            <a:r>
              <a:rPr b="1" i="1" lang="en">
                <a:solidFill>
                  <a:srgbClr val="FF0000"/>
                </a:solidFill>
              </a:rPr>
              <a:t>left subtree</a:t>
            </a:r>
            <a:r>
              <a:rPr lang="en"/>
              <a:t> are always </a:t>
            </a:r>
            <a:r>
              <a:rPr b="1" i="1" lang="en">
                <a:solidFill>
                  <a:srgbClr val="FF0000"/>
                </a:solidFill>
              </a:rPr>
              <a:t>less than</a:t>
            </a:r>
            <a:r>
              <a:rPr lang="en"/>
              <a:t> the value in the node.</a:t>
            </a:r>
            <a:endParaRPr/>
          </a:p>
          <a:p>
            <a:pPr indent="-298450" lvl="1" marL="914400" rtl="0" algn="l">
              <a:lnSpc>
                <a:spcPct val="100000"/>
              </a:lnSpc>
              <a:spcBef>
                <a:spcPts val="0"/>
              </a:spcBef>
              <a:spcAft>
                <a:spcPts val="0"/>
              </a:spcAft>
              <a:buSzPts val="1100"/>
              <a:buChar char="○"/>
            </a:pPr>
            <a:r>
              <a:rPr lang="en"/>
              <a:t>The values in a non-empty </a:t>
            </a:r>
            <a:r>
              <a:rPr b="1" i="1" lang="en">
                <a:solidFill>
                  <a:srgbClr val="FF0000"/>
                </a:solidFill>
              </a:rPr>
              <a:t>right subtree</a:t>
            </a:r>
            <a:r>
              <a:rPr lang="en"/>
              <a:t> are always </a:t>
            </a:r>
            <a:r>
              <a:rPr b="1" i="1" lang="en">
                <a:solidFill>
                  <a:srgbClr val="FF0000"/>
                </a:solidFill>
              </a:rPr>
              <a:t>greater than</a:t>
            </a:r>
            <a:r>
              <a:rPr lang="en"/>
              <a:t> the value in the node.</a:t>
            </a:r>
            <a:endParaRPr/>
          </a:p>
          <a:p>
            <a:pPr indent="-304800" lvl="0" marL="457200" rtl="0" algn="l">
              <a:lnSpc>
                <a:spcPct val="100000"/>
              </a:lnSpc>
              <a:spcBef>
                <a:spcPts val="1000"/>
              </a:spcBef>
              <a:spcAft>
                <a:spcPts val="0"/>
              </a:spcAft>
              <a:buSzPts val="1200"/>
              <a:buChar char="●"/>
            </a:pPr>
            <a:r>
              <a:rPr lang="en" sz="1200"/>
              <a:t>Of course not all trees limit nodes to exactly two children; the nodes in an </a:t>
            </a:r>
            <a:r>
              <a:rPr b="1" i="1" lang="en" sz="1200">
                <a:solidFill>
                  <a:srgbClr val="FF0000"/>
                </a:solidFill>
              </a:rPr>
              <a:t>N-ary tree</a:t>
            </a:r>
            <a:r>
              <a:rPr lang="en" sz="1200"/>
              <a:t> may contain </a:t>
            </a:r>
            <a:r>
              <a:rPr b="1" i="1" lang="en" sz="1200">
                <a:solidFill>
                  <a:srgbClr val="FF0000"/>
                </a:solidFill>
              </a:rPr>
              <a:t>zero or more</a:t>
            </a:r>
            <a:r>
              <a:rPr lang="en" sz="1200"/>
              <a:t> children.</a:t>
            </a:r>
            <a:endParaRPr sz="1200"/>
          </a:p>
        </p:txBody>
      </p:sp>
      <p:sp>
        <p:nvSpPr>
          <p:cNvPr id="476" name="Google Shape;476;p39"/>
          <p:cNvSpPr txBox="1"/>
          <p:nvPr>
            <p:ph idx="3" type="body"/>
          </p:nvPr>
        </p:nvSpPr>
        <p:spPr>
          <a:xfrm>
            <a:off x="267050" y="3566246"/>
            <a:ext cx="38028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Because the nodes in an </a:t>
            </a:r>
            <a:r>
              <a:rPr b="1" i="1" lang="en">
                <a:solidFill>
                  <a:srgbClr val="FF0000"/>
                </a:solidFill>
              </a:rPr>
              <a:t>N-ary Tree</a:t>
            </a:r>
            <a:r>
              <a:rPr lang="en"/>
              <a:t> may contain </a:t>
            </a:r>
            <a:r>
              <a:rPr b="1" i="1" lang="en">
                <a:solidFill>
                  <a:srgbClr val="FF0000"/>
                </a:solidFill>
              </a:rPr>
              <a:t>zero or more</a:t>
            </a:r>
            <a:r>
              <a:rPr lang="en"/>
              <a:t> children, children must be stored in a data structure like a </a:t>
            </a:r>
            <a:r>
              <a:rPr b="1" i="1" lang="en">
                <a:solidFill>
                  <a:srgbClr val="FF0000"/>
                </a:solidFill>
              </a:rPr>
              <a:t>list</a:t>
            </a:r>
            <a:r>
              <a:rPr lang="en"/>
              <a:t>.</a:t>
            </a:r>
            <a:endParaRPr/>
          </a:p>
        </p:txBody>
      </p:sp>
      <p:grpSp>
        <p:nvGrpSpPr>
          <p:cNvPr id="477" name="Google Shape;477;p39"/>
          <p:cNvGrpSpPr/>
          <p:nvPr/>
        </p:nvGrpSpPr>
        <p:grpSpPr>
          <a:xfrm>
            <a:off x="267056" y="681496"/>
            <a:ext cx="3802911" cy="2769622"/>
            <a:chOff x="267056" y="910096"/>
            <a:chExt cx="3802911" cy="2769622"/>
          </a:xfrm>
        </p:grpSpPr>
        <p:grpSp>
          <p:nvGrpSpPr>
            <p:cNvPr id="478" name="Google Shape;478;p39"/>
            <p:cNvGrpSpPr/>
            <p:nvPr/>
          </p:nvGrpSpPr>
          <p:grpSpPr>
            <a:xfrm>
              <a:off x="1812327" y="910096"/>
              <a:ext cx="955063" cy="638963"/>
              <a:chOff x="3956600" y="1450971"/>
              <a:chExt cx="1440300" cy="963600"/>
            </a:xfrm>
          </p:grpSpPr>
          <p:sp>
            <p:nvSpPr>
              <p:cNvPr id="479" name="Google Shape;479;p39"/>
              <p:cNvSpPr/>
              <p:nvPr/>
            </p:nvSpPr>
            <p:spPr>
              <a:xfrm>
                <a:off x="3956600" y="1450971"/>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480" name="Google Shape;480;p39"/>
              <p:cNvSpPr/>
              <p:nvPr/>
            </p:nvSpPr>
            <p:spPr>
              <a:xfrm>
                <a:off x="3956600" y="1791171"/>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onsolas"/>
                  <a:ea typeface="Consolas"/>
                  <a:cs typeface="Consolas"/>
                  <a:sym typeface="Consolas"/>
                </a:endParaRPr>
              </a:p>
            </p:txBody>
          </p:sp>
          <p:grpSp>
            <p:nvGrpSpPr>
              <p:cNvPr id="481" name="Google Shape;481;p39"/>
              <p:cNvGrpSpPr/>
              <p:nvPr/>
            </p:nvGrpSpPr>
            <p:grpSpPr>
              <a:xfrm>
                <a:off x="4371350" y="2162462"/>
                <a:ext cx="640800" cy="205800"/>
                <a:chOff x="2412675" y="2410700"/>
                <a:chExt cx="640800" cy="205800"/>
              </a:xfrm>
            </p:grpSpPr>
            <p:sp>
              <p:nvSpPr>
                <p:cNvPr id="482" name="Google Shape;482;p39"/>
                <p:cNvSpPr/>
                <p:nvPr/>
              </p:nvSpPr>
              <p:spPr>
                <a:xfrm>
                  <a:off x="2412675" y="2410700"/>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3" name="Google Shape;483;p39"/>
                <p:cNvSpPr/>
                <p:nvPr/>
              </p:nvSpPr>
              <p:spPr>
                <a:xfrm>
                  <a:off x="2626275" y="2410700"/>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4" name="Google Shape;484;p39"/>
                <p:cNvSpPr/>
                <p:nvPr/>
              </p:nvSpPr>
              <p:spPr>
                <a:xfrm>
                  <a:off x="2839875" y="2410700"/>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grpSp>
          <p:nvGrpSpPr>
            <p:cNvPr id="485" name="Google Shape;485;p39"/>
            <p:cNvGrpSpPr/>
            <p:nvPr/>
          </p:nvGrpSpPr>
          <p:grpSpPr>
            <a:xfrm>
              <a:off x="3114904" y="1920398"/>
              <a:ext cx="955063" cy="638963"/>
              <a:chOff x="3956600" y="1484875"/>
              <a:chExt cx="1440300" cy="963600"/>
            </a:xfrm>
          </p:grpSpPr>
          <p:sp>
            <p:nvSpPr>
              <p:cNvPr id="486" name="Google Shape;486;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487" name="Google Shape;487;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null</a:t>
                </a:r>
                <a:endParaRPr b="0" i="0" sz="1000" u="none" cap="none" strike="noStrike">
                  <a:solidFill>
                    <a:srgbClr val="000000"/>
                  </a:solidFill>
                  <a:latin typeface="Consolas"/>
                  <a:ea typeface="Consolas"/>
                  <a:cs typeface="Consolas"/>
                  <a:sym typeface="Consolas"/>
                </a:endParaRPr>
              </a:p>
            </p:txBody>
          </p:sp>
        </p:grpSp>
        <p:grpSp>
          <p:nvGrpSpPr>
            <p:cNvPr id="488" name="Google Shape;488;p39"/>
            <p:cNvGrpSpPr/>
            <p:nvPr/>
          </p:nvGrpSpPr>
          <p:grpSpPr>
            <a:xfrm>
              <a:off x="1916019" y="1920398"/>
              <a:ext cx="955063" cy="638963"/>
              <a:chOff x="3956600" y="1484875"/>
              <a:chExt cx="1440300" cy="963600"/>
            </a:xfrm>
          </p:grpSpPr>
          <p:sp>
            <p:nvSpPr>
              <p:cNvPr id="489" name="Google Shape;489;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490" name="Google Shape;490;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onsolas"/>
                  <a:ea typeface="Consolas"/>
                  <a:cs typeface="Consolas"/>
                  <a:sym typeface="Consolas"/>
                </a:endParaRPr>
              </a:p>
            </p:txBody>
          </p:sp>
        </p:grpSp>
        <p:sp>
          <p:nvSpPr>
            <p:cNvPr id="491" name="Google Shape;491;p39"/>
            <p:cNvSpPr/>
            <p:nvPr/>
          </p:nvSpPr>
          <p:spPr>
            <a:xfrm>
              <a:off x="2305574" y="1483547"/>
              <a:ext cx="130117" cy="440763"/>
            </a:xfrm>
            <a:custGeom>
              <a:rect b="b" l="l" r="r" t="t"/>
              <a:pathLst>
                <a:path extrusionOk="0" h="26588" w="7849">
                  <a:moveTo>
                    <a:pt x="0" y="0"/>
                  </a:moveTo>
                  <a:cubicBezTo>
                    <a:pt x="1213" y="3060"/>
                    <a:pt x="6067" y="13927"/>
                    <a:pt x="7280" y="18358"/>
                  </a:cubicBezTo>
                  <a:cubicBezTo>
                    <a:pt x="8493" y="22789"/>
                    <a:pt x="7280" y="25216"/>
                    <a:pt x="7280" y="26588"/>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492" name="Google Shape;492;p39"/>
            <p:cNvGrpSpPr/>
            <p:nvPr/>
          </p:nvGrpSpPr>
          <p:grpSpPr>
            <a:xfrm>
              <a:off x="2251913" y="2369722"/>
              <a:ext cx="283276" cy="136466"/>
              <a:chOff x="2824875" y="2410700"/>
              <a:chExt cx="427200" cy="205800"/>
            </a:xfrm>
          </p:grpSpPr>
          <p:sp>
            <p:nvSpPr>
              <p:cNvPr id="493" name="Google Shape;493;p39"/>
              <p:cNvSpPr/>
              <p:nvPr/>
            </p:nvSpPr>
            <p:spPr>
              <a:xfrm>
                <a:off x="2824875" y="2410700"/>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4" name="Google Shape;494;p39"/>
              <p:cNvSpPr/>
              <p:nvPr/>
            </p:nvSpPr>
            <p:spPr>
              <a:xfrm>
                <a:off x="3038475" y="2410700"/>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495" name="Google Shape;495;p39"/>
            <p:cNvGrpSpPr/>
            <p:nvPr/>
          </p:nvGrpSpPr>
          <p:grpSpPr>
            <a:xfrm>
              <a:off x="857264" y="1920398"/>
              <a:ext cx="955063" cy="638963"/>
              <a:chOff x="3956600" y="1484875"/>
              <a:chExt cx="1440300" cy="963600"/>
            </a:xfrm>
          </p:grpSpPr>
          <p:sp>
            <p:nvSpPr>
              <p:cNvPr id="496" name="Google Shape;496;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497" name="Google Shape;497;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000000"/>
                  </a:solidFill>
                  <a:latin typeface="Consolas"/>
                  <a:ea typeface="Consolas"/>
                  <a:cs typeface="Consolas"/>
                  <a:sym typeface="Consolas"/>
                </a:endParaRPr>
              </a:p>
            </p:txBody>
          </p:sp>
          <p:sp>
            <p:nvSpPr>
              <p:cNvPr id="498" name="Google Shape;498;p39"/>
              <p:cNvSpPr/>
              <p:nvPr/>
            </p:nvSpPr>
            <p:spPr>
              <a:xfrm>
                <a:off x="4576211" y="2162462"/>
                <a:ext cx="213600" cy="2058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99" name="Google Shape;499;p39"/>
            <p:cNvSpPr/>
            <p:nvPr/>
          </p:nvSpPr>
          <p:spPr>
            <a:xfrm>
              <a:off x="1345339" y="1457305"/>
              <a:ext cx="823802" cy="461750"/>
            </a:xfrm>
            <a:custGeom>
              <a:rect b="b" l="l" r="r" t="t"/>
              <a:pathLst>
                <a:path extrusionOk="0" h="27854" w="49694">
                  <a:moveTo>
                    <a:pt x="49694" y="0"/>
                  </a:moveTo>
                  <a:cubicBezTo>
                    <a:pt x="42731" y="1319"/>
                    <a:pt x="16195" y="3271"/>
                    <a:pt x="7913" y="7913"/>
                  </a:cubicBezTo>
                  <a:cubicBezTo>
                    <a:pt x="-369" y="12555"/>
                    <a:pt x="1319" y="24531"/>
                    <a:pt x="0" y="27854"/>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9"/>
            <p:cNvSpPr/>
            <p:nvPr/>
          </p:nvSpPr>
          <p:spPr>
            <a:xfrm>
              <a:off x="2468233" y="1457305"/>
              <a:ext cx="1185855" cy="467005"/>
            </a:xfrm>
            <a:custGeom>
              <a:rect b="b" l="l" r="r" t="t"/>
              <a:pathLst>
                <a:path extrusionOk="0" h="28171" w="71534">
                  <a:moveTo>
                    <a:pt x="0" y="0"/>
                  </a:moveTo>
                  <a:cubicBezTo>
                    <a:pt x="10498" y="2110"/>
                    <a:pt x="51066" y="7966"/>
                    <a:pt x="62988" y="12661"/>
                  </a:cubicBezTo>
                  <a:cubicBezTo>
                    <a:pt x="74910" y="17356"/>
                    <a:pt x="70110" y="25586"/>
                    <a:pt x="71534" y="28171"/>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01" name="Google Shape;501;p39"/>
            <p:cNvGrpSpPr/>
            <p:nvPr/>
          </p:nvGrpSpPr>
          <p:grpSpPr>
            <a:xfrm>
              <a:off x="267056" y="3040755"/>
              <a:ext cx="955063" cy="638963"/>
              <a:chOff x="3956600" y="1484875"/>
              <a:chExt cx="1440300" cy="963600"/>
            </a:xfrm>
          </p:grpSpPr>
          <p:sp>
            <p:nvSpPr>
              <p:cNvPr id="502" name="Google Shape;502;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503" name="Google Shape;503;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null</a:t>
                </a:r>
                <a:endParaRPr b="0" i="0" sz="1000" u="none" cap="none" strike="noStrike">
                  <a:solidFill>
                    <a:srgbClr val="000000"/>
                  </a:solidFill>
                  <a:latin typeface="Consolas"/>
                  <a:ea typeface="Consolas"/>
                  <a:cs typeface="Consolas"/>
                  <a:sym typeface="Consolas"/>
                </a:endParaRPr>
              </a:p>
            </p:txBody>
          </p:sp>
        </p:grpSp>
        <p:grpSp>
          <p:nvGrpSpPr>
            <p:cNvPr id="504" name="Google Shape;504;p39"/>
            <p:cNvGrpSpPr/>
            <p:nvPr/>
          </p:nvGrpSpPr>
          <p:grpSpPr>
            <a:xfrm>
              <a:off x="1396547" y="3040755"/>
              <a:ext cx="955063" cy="638963"/>
              <a:chOff x="3956600" y="1484875"/>
              <a:chExt cx="1440300" cy="963600"/>
            </a:xfrm>
          </p:grpSpPr>
          <p:sp>
            <p:nvSpPr>
              <p:cNvPr id="505" name="Google Shape;505;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506" name="Google Shape;506;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a:t>
                </a:r>
                <a:endParaRPr b="0" i="0" sz="1000" u="none" cap="none" strike="noStrike">
                  <a:solidFill>
                    <a:srgbClr val="000000"/>
                  </a:solidFill>
                  <a:latin typeface="Consolas"/>
                  <a:ea typeface="Consolas"/>
                  <a:cs typeface="Consolas"/>
                  <a:sym typeface="Consolas"/>
                </a:endParaRPr>
              </a:p>
            </p:txBody>
          </p:sp>
        </p:grpSp>
        <p:grpSp>
          <p:nvGrpSpPr>
            <p:cNvPr id="507" name="Google Shape;507;p39"/>
            <p:cNvGrpSpPr/>
            <p:nvPr/>
          </p:nvGrpSpPr>
          <p:grpSpPr>
            <a:xfrm>
              <a:off x="2526038" y="3040755"/>
              <a:ext cx="955063" cy="638963"/>
              <a:chOff x="3956600" y="1484875"/>
              <a:chExt cx="1440300" cy="963600"/>
            </a:xfrm>
          </p:grpSpPr>
          <p:sp>
            <p:nvSpPr>
              <p:cNvPr id="508" name="Google Shape;508;p39"/>
              <p:cNvSpPr/>
              <p:nvPr/>
            </p:nvSpPr>
            <p:spPr>
              <a:xfrm>
                <a:off x="3956600" y="1484875"/>
                <a:ext cx="1440300" cy="340200"/>
              </a:xfrm>
              <a:prstGeom prst="rect">
                <a:avLst/>
              </a:prstGeom>
              <a:solidFill>
                <a:srgbClr val="FFF2CC"/>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data</a:t>
                </a:r>
                <a:endParaRPr b="0" i="0" sz="1000" u="none" cap="none" strike="noStrike">
                  <a:solidFill>
                    <a:srgbClr val="000000"/>
                  </a:solidFill>
                  <a:latin typeface="Consolas"/>
                  <a:ea typeface="Consolas"/>
                  <a:cs typeface="Consolas"/>
                  <a:sym typeface="Consolas"/>
                </a:endParaRPr>
              </a:p>
            </p:txBody>
          </p:sp>
          <p:sp>
            <p:nvSpPr>
              <p:cNvPr id="509" name="Google Shape;509;p39"/>
              <p:cNvSpPr/>
              <p:nvPr/>
            </p:nvSpPr>
            <p:spPr>
              <a:xfrm>
                <a:off x="3956600" y="1825075"/>
                <a:ext cx="1440300" cy="623400"/>
              </a:xfrm>
              <a:prstGeom prst="rect">
                <a:avLst/>
              </a:prstGeom>
              <a:solidFill>
                <a:srgbClr val="C9DAF8"/>
              </a:solidFill>
              <a:ln cap="flat" cmpd="sng" w="9525">
                <a:solidFill>
                  <a:srgbClr val="000000"/>
                </a:solidFill>
                <a:prstDash val="solid"/>
                <a:round/>
                <a:headEnd len="sm" w="sm" type="none"/>
                <a:tailEnd len="sm" w="sm" type="none"/>
              </a:ln>
            </p:spPr>
            <p:txBody>
              <a:bodyPr anchorCtr="0" anchor="b"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children</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a:t>
                </a:r>
                <a:endParaRPr b="0" i="0" sz="1000" u="none" cap="none" strike="noStrike">
                  <a:solidFill>
                    <a:srgbClr val="000000"/>
                  </a:solidFill>
                  <a:latin typeface="Consolas"/>
                  <a:ea typeface="Consolas"/>
                  <a:cs typeface="Consolas"/>
                  <a:sym typeface="Consolas"/>
                </a:endParaRPr>
              </a:p>
            </p:txBody>
          </p:sp>
        </p:grpSp>
        <p:sp>
          <p:nvSpPr>
            <p:cNvPr id="510" name="Google Shape;510;p39"/>
            <p:cNvSpPr/>
            <p:nvPr/>
          </p:nvSpPr>
          <p:spPr>
            <a:xfrm>
              <a:off x="745313" y="2454276"/>
              <a:ext cx="579035" cy="587672"/>
            </a:xfrm>
            <a:custGeom>
              <a:rect b="b" l="l" r="r" t="t"/>
              <a:pathLst>
                <a:path extrusionOk="0" h="35450" w="34929">
                  <a:moveTo>
                    <a:pt x="34929" y="0"/>
                  </a:moveTo>
                  <a:cubicBezTo>
                    <a:pt x="29759" y="3640"/>
                    <a:pt x="9713" y="15932"/>
                    <a:pt x="3910" y="21840"/>
                  </a:cubicBezTo>
                  <a:cubicBezTo>
                    <a:pt x="-1893" y="27748"/>
                    <a:pt x="745" y="33182"/>
                    <a:pt x="112" y="35450"/>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1" name="Google Shape;511;p39"/>
            <p:cNvSpPr/>
            <p:nvPr/>
          </p:nvSpPr>
          <p:spPr>
            <a:xfrm>
              <a:off x="1804466" y="2459515"/>
              <a:ext cx="527347" cy="582434"/>
            </a:xfrm>
            <a:custGeom>
              <a:rect b="b" l="l" r="r" t="t"/>
              <a:pathLst>
                <a:path extrusionOk="0" h="35134" w="31811">
                  <a:moveTo>
                    <a:pt x="31811" y="0"/>
                  </a:moveTo>
                  <a:cubicBezTo>
                    <a:pt x="27116" y="3482"/>
                    <a:pt x="8916" y="15035"/>
                    <a:pt x="3640" y="20891"/>
                  </a:cubicBezTo>
                  <a:cubicBezTo>
                    <a:pt x="-1635" y="26747"/>
                    <a:pt x="738" y="32760"/>
                    <a:pt x="158" y="35134"/>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2" name="Google Shape;512;p39"/>
            <p:cNvSpPr/>
            <p:nvPr/>
          </p:nvSpPr>
          <p:spPr>
            <a:xfrm>
              <a:off x="2478726" y="2443782"/>
              <a:ext cx="474431" cy="592927"/>
            </a:xfrm>
            <a:custGeom>
              <a:rect b="b" l="l" r="r" t="t"/>
              <a:pathLst>
                <a:path extrusionOk="0" h="35767" w="28619">
                  <a:moveTo>
                    <a:pt x="0" y="0"/>
                  </a:moveTo>
                  <a:cubicBezTo>
                    <a:pt x="4220" y="4009"/>
                    <a:pt x="20574" y="18094"/>
                    <a:pt x="25322" y="24055"/>
                  </a:cubicBezTo>
                  <a:cubicBezTo>
                    <a:pt x="30070" y="30016"/>
                    <a:pt x="27960" y="33815"/>
                    <a:pt x="28487" y="35767"/>
                  </a:cubicBezTo>
                </a:path>
              </a:pathLst>
            </a:custGeom>
            <a:noFill/>
            <a:ln cap="flat" cmpd="sng" w="19050">
              <a:solidFill>
                <a:srgbClr val="FF99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3" name="Google Shape;513;p39"/>
            <p:cNvSpPr/>
            <p:nvPr/>
          </p:nvSpPr>
          <p:spPr>
            <a:xfrm>
              <a:off x="1616398" y="3497854"/>
              <a:ext cx="141600" cy="13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39"/>
            <p:cNvSpPr/>
            <p:nvPr/>
          </p:nvSpPr>
          <p:spPr>
            <a:xfrm>
              <a:off x="1974555" y="3497854"/>
              <a:ext cx="141600" cy="13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39"/>
            <p:cNvSpPr/>
            <p:nvPr/>
          </p:nvSpPr>
          <p:spPr>
            <a:xfrm>
              <a:off x="2729444" y="3497854"/>
              <a:ext cx="141600" cy="13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6" name="Google Shape;516;p39"/>
            <p:cNvSpPr/>
            <p:nvPr/>
          </p:nvSpPr>
          <p:spPr>
            <a:xfrm>
              <a:off x="3114904" y="3497854"/>
              <a:ext cx="141600" cy="136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17" name="Google Shape;517;p39"/>
          <p:cNvSpPr txBox="1"/>
          <p:nvPr>
            <p:ph idx="3" type="body"/>
          </p:nvPr>
        </p:nvSpPr>
        <p:spPr>
          <a:xfrm>
            <a:off x="263575" y="4376391"/>
            <a:ext cx="38028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b="1" i="1" lang="en">
                <a:solidFill>
                  <a:srgbClr val="FF0000"/>
                </a:solidFill>
              </a:rPr>
              <a:t>All</a:t>
            </a:r>
            <a:r>
              <a:rPr lang="en">
                <a:solidFill>
                  <a:srgbClr val="FF0000"/>
                </a:solidFill>
              </a:rPr>
              <a:t> </a:t>
            </a:r>
            <a:r>
              <a:rPr lang="en"/>
              <a:t>of the other node-based data structures that we have examined are simply </a:t>
            </a:r>
            <a:r>
              <a:rPr b="1" i="1" lang="en">
                <a:solidFill>
                  <a:srgbClr val="FF0000"/>
                </a:solidFill>
              </a:rPr>
              <a:t>specialized versions</a:t>
            </a:r>
            <a:r>
              <a:rPr lang="en">
                <a:solidFill>
                  <a:srgbClr val="FF0000"/>
                </a:solidFill>
              </a:rPr>
              <a:t> </a:t>
            </a:r>
            <a:r>
              <a:rPr lang="en"/>
              <a:t>of an N-ary tree.</a:t>
            </a:r>
            <a:endParaRPr b="1" i="1"/>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par>
                                <p:cTn fill="hold" nodeType="with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40"/>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Social Network</a:t>
            </a:r>
            <a:endParaRPr/>
          </a:p>
        </p:txBody>
      </p:sp>
      <p:sp>
        <p:nvSpPr>
          <p:cNvPr id="523" name="Google Shape;523;p40"/>
          <p:cNvSpPr txBox="1"/>
          <p:nvPr>
            <p:ph idx="1" type="body"/>
          </p:nvPr>
        </p:nvSpPr>
        <p:spPr>
          <a:xfrm>
            <a:off x="311700" y="1277100"/>
            <a:ext cx="3999900" cy="7962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Consider your account on the </a:t>
            </a:r>
            <a:r>
              <a:rPr b="1" i="1" lang="en">
                <a:solidFill>
                  <a:srgbClr val="FF0000"/>
                </a:solidFill>
              </a:rPr>
              <a:t>social network</a:t>
            </a:r>
            <a:r>
              <a:rPr lang="en">
                <a:solidFill>
                  <a:srgbClr val="FF0000"/>
                </a:solidFill>
              </a:rPr>
              <a:t> </a:t>
            </a:r>
            <a:r>
              <a:rPr lang="en"/>
              <a:t>of your choice.</a:t>
            </a:r>
            <a:endParaRPr/>
          </a:p>
          <a:p>
            <a:pPr indent="-298450" lvl="1" marL="914400" rtl="0" algn="l">
              <a:lnSpc>
                <a:spcPct val="115000"/>
              </a:lnSpc>
              <a:spcBef>
                <a:spcPts val="0"/>
              </a:spcBef>
              <a:spcAft>
                <a:spcPts val="0"/>
              </a:spcAft>
              <a:buSzPts val="1100"/>
              <a:buChar char="○"/>
            </a:pPr>
            <a:r>
              <a:rPr lang="en"/>
              <a:t>There is </a:t>
            </a:r>
            <a:r>
              <a:rPr b="1" i="1" lang="en">
                <a:solidFill>
                  <a:srgbClr val="FF0000"/>
                </a:solidFill>
              </a:rPr>
              <a:t>you</a:t>
            </a:r>
            <a:r>
              <a:rPr lang="en"/>
              <a:t>...</a:t>
            </a:r>
            <a:endParaRPr/>
          </a:p>
        </p:txBody>
      </p:sp>
      <p:sp>
        <p:nvSpPr>
          <p:cNvPr id="524" name="Google Shape;524;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pSp>
        <p:nvGrpSpPr>
          <p:cNvPr id="525" name="Google Shape;525;p40"/>
          <p:cNvGrpSpPr/>
          <p:nvPr/>
        </p:nvGrpSpPr>
        <p:grpSpPr>
          <a:xfrm>
            <a:off x="5598370" y="1697523"/>
            <a:ext cx="2384504" cy="2377383"/>
            <a:chOff x="5631593" y="1674570"/>
            <a:chExt cx="2472783" cy="2465397"/>
          </a:xfrm>
        </p:grpSpPr>
        <p:cxnSp>
          <p:nvCxnSpPr>
            <p:cNvPr id="526" name="Google Shape;526;p40"/>
            <p:cNvCxnSpPr>
              <a:stCxn id="527" idx="1"/>
              <a:endCxn id="528" idx="5"/>
            </p:cNvCxnSpPr>
            <p:nvPr/>
          </p:nvCxnSpPr>
          <p:spPr>
            <a:xfrm rot="10800000">
              <a:off x="5817867" y="2028870"/>
              <a:ext cx="297000" cy="274800"/>
            </a:xfrm>
            <a:prstGeom prst="straightConnector1">
              <a:avLst/>
            </a:prstGeom>
            <a:noFill/>
            <a:ln cap="flat" cmpd="sng" w="19050">
              <a:solidFill>
                <a:srgbClr val="4A86E8"/>
              </a:solidFill>
              <a:prstDash val="solid"/>
              <a:round/>
              <a:headEnd len="sm" w="sm" type="none"/>
              <a:tailEnd len="sm" w="sm" type="none"/>
            </a:ln>
          </p:spPr>
        </p:cxnSp>
        <p:cxnSp>
          <p:nvCxnSpPr>
            <p:cNvPr id="529" name="Google Shape;529;p40"/>
            <p:cNvCxnSpPr>
              <a:endCxn id="530" idx="4"/>
            </p:cNvCxnSpPr>
            <p:nvPr/>
          </p:nvCxnSpPr>
          <p:spPr>
            <a:xfrm rot="10800000">
              <a:off x="6227066" y="1757757"/>
              <a:ext cx="0" cy="499500"/>
            </a:xfrm>
            <a:prstGeom prst="straightConnector1">
              <a:avLst/>
            </a:prstGeom>
            <a:noFill/>
            <a:ln cap="flat" cmpd="sng" w="19050">
              <a:solidFill>
                <a:srgbClr val="4A86E8"/>
              </a:solidFill>
              <a:prstDash val="solid"/>
              <a:round/>
              <a:headEnd len="sm" w="sm" type="none"/>
              <a:tailEnd len="sm" w="sm" type="none"/>
            </a:ln>
          </p:spPr>
        </p:cxnSp>
        <p:cxnSp>
          <p:nvCxnSpPr>
            <p:cNvPr id="531" name="Google Shape;531;p40"/>
            <p:cNvCxnSpPr>
              <a:stCxn id="527" idx="2"/>
              <a:endCxn id="532" idx="6"/>
            </p:cNvCxnSpPr>
            <p:nvPr/>
          </p:nvCxnSpPr>
          <p:spPr>
            <a:xfrm flipH="1">
              <a:off x="5631593" y="2415869"/>
              <a:ext cx="436800" cy="36600"/>
            </a:xfrm>
            <a:prstGeom prst="straightConnector1">
              <a:avLst/>
            </a:prstGeom>
            <a:noFill/>
            <a:ln cap="flat" cmpd="sng" w="19050">
              <a:solidFill>
                <a:srgbClr val="4A86E8"/>
              </a:solidFill>
              <a:prstDash val="solid"/>
              <a:round/>
              <a:headEnd len="sm" w="sm" type="none"/>
              <a:tailEnd len="sm" w="sm" type="none"/>
            </a:ln>
          </p:spPr>
        </p:cxnSp>
        <p:cxnSp>
          <p:nvCxnSpPr>
            <p:cNvPr id="533" name="Google Shape;533;p40"/>
            <p:cNvCxnSpPr>
              <a:stCxn id="527" idx="3"/>
              <a:endCxn id="534" idx="7"/>
            </p:cNvCxnSpPr>
            <p:nvPr/>
          </p:nvCxnSpPr>
          <p:spPr>
            <a:xfrm flipH="1">
              <a:off x="5860467" y="2528068"/>
              <a:ext cx="254400" cy="348300"/>
            </a:xfrm>
            <a:prstGeom prst="straightConnector1">
              <a:avLst/>
            </a:prstGeom>
            <a:noFill/>
            <a:ln cap="flat" cmpd="sng" w="19050">
              <a:solidFill>
                <a:srgbClr val="4A86E8"/>
              </a:solidFill>
              <a:prstDash val="solid"/>
              <a:round/>
              <a:headEnd len="sm" w="sm" type="none"/>
              <a:tailEnd len="sm" w="sm" type="none"/>
            </a:ln>
          </p:spPr>
        </p:cxnSp>
        <p:cxnSp>
          <p:nvCxnSpPr>
            <p:cNvPr id="535" name="Google Shape;535;p40"/>
            <p:cNvCxnSpPr>
              <a:stCxn id="536" idx="2"/>
              <a:endCxn id="537" idx="6"/>
            </p:cNvCxnSpPr>
            <p:nvPr/>
          </p:nvCxnSpPr>
          <p:spPr>
            <a:xfrm flipH="1">
              <a:off x="5715447" y="3394329"/>
              <a:ext cx="430500" cy="79800"/>
            </a:xfrm>
            <a:prstGeom prst="straightConnector1">
              <a:avLst/>
            </a:prstGeom>
            <a:noFill/>
            <a:ln cap="flat" cmpd="sng" w="19050">
              <a:solidFill>
                <a:srgbClr val="4A86E8"/>
              </a:solidFill>
              <a:prstDash val="solid"/>
              <a:round/>
              <a:headEnd len="sm" w="sm" type="none"/>
              <a:tailEnd len="sm" w="sm" type="none"/>
            </a:ln>
          </p:spPr>
        </p:cxnSp>
        <p:cxnSp>
          <p:nvCxnSpPr>
            <p:cNvPr id="538" name="Google Shape;538;p40"/>
            <p:cNvCxnSpPr>
              <a:stCxn id="536" idx="4"/>
              <a:endCxn id="539" idx="0"/>
            </p:cNvCxnSpPr>
            <p:nvPr/>
          </p:nvCxnSpPr>
          <p:spPr>
            <a:xfrm flipH="1">
              <a:off x="6132120" y="3553002"/>
              <a:ext cx="172500" cy="390300"/>
            </a:xfrm>
            <a:prstGeom prst="straightConnector1">
              <a:avLst/>
            </a:prstGeom>
            <a:noFill/>
            <a:ln cap="flat" cmpd="sng" w="19050">
              <a:solidFill>
                <a:srgbClr val="4A86E8"/>
              </a:solidFill>
              <a:prstDash val="solid"/>
              <a:round/>
              <a:headEnd len="sm" w="sm" type="none"/>
              <a:tailEnd len="sm" w="sm" type="none"/>
            </a:ln>
          </p:spPr>
        </p:cxnSp>
        <p:cxnSp>
          <p:nvCxnSpPr>
            <p:cNvPr id="540" name="Google Shape;540;p40"/>
            <p:cNvCxnSpPr>
              <a:stCxn id="541" idx="4"/>
              <a:endCxn id="542" idx="0"/>
            </p:cNvCxnSpPr>
            <p:nvPr/>
          </p:nvCxnSpPr>
          <p:spPr>
            <a:xfrm flipH="1">
              <a:off x="7000516" y="3759867"/>
              <a:ext cx="78300" cy="380100"/>
            </a:xfrm>
            <a:prstGeom prst="straightConnector1">
              <a:avLst/>
            </a:prstGeom>
            <a:noFill/>
            <a:ln cap="flat" cmpd="sng" w="19050">
              <a:solidFill>
                <a:srgbClr val="4A86E8"/>
              </a:solidFill>
              <a:prstDash val="solid"/>
              <a:round/>
              <a:headEnd len="sm" w="sm" type="none"/>
              <a:tailEnd len="sm" w="sm" type="none"/>
            </a:ln>
          </p:spPr>
        </p:cxnSp>
        <p:cxnSp>
          <p:nvCxnSpPr>
            <p:cNvPr id="543" name="Google Shape;543;p40"/>
            <p:cNvCxnSpPr>
              <a:stCxn id="541" idx="5"/>
              <a:endCxn id="544" idx="1"/>
            </p:cNvCxnSpPr>
            <p:nvPr/>
          </p:nvCxnSpPr>
          <p:spPr>
            <a:xfrm>
              <a:off x="7191015" y="3713392"/>
              <a:ext cx="298500" cy="335700"/>
            </a:xfrm>
            <a:prstGeom prst="straightConnector1">
              <a:avLst/>
            </a:prstGeom>
            <a:noFill/>
            <a:ln cap="flat" cmpd="sng" w="19050">
              <a:solidFill>
                <a:srgbClr val="4A86E8"/>
              </a:solidFill>
              <a:prstDash val="solid"/>
              <a:round/>
              <a:headEnd len="sm" w="sm" type="none"/>
              <a:tailEnd len="sm" w="sm" type="none"/>
            </a:ln>
          </p:spPr>
        </p:cxnSp>
        <p:cxnSp>
          <p:nvCxnSpPr>
            <p:cNvPr id="545" name="Google Shape;545;p40"/>
            <p:cNvCxnSpPr>
              <a:stCxn id="546" idx="4"/>
              <a:endCxn id="547" idx="1"/>
            </p:cNvCxnSpPr>
            <p:nvPr/>
          </p:nvCxnSpPr>
          <p:spPr>
            <a:xfrm>
              <a:off x="7508602" y="3276736"/>
              <a:ext cx="412500" cy="454800"/>
            </a:xfrm>
            <a:prstGeom prst="straightConnector1">
              <a:avLst/>
            </a:prstGeom>
            <a:noFill/>
            <a:ln cap="flat" cmpd="sng" w="19050">
              <a:solidFill>
                <a:srgbClr val="4A86E8"/>
              </a:solidFill>
              <a:prstDash val="solid"/>
              <a:round/>
              <a:headEnd len="sm" w="sm" type="none"/>
              <a:tailEnd len="sm" w="sm" type="none"/>
            </a:ln>
          </p:spPr>
        </p:cxnSp>
        <p:cxnSp>
          <p:nvCxnSpPr>
            <p:cNvPr id="548" name="Google Shape;548;p40"/>
            <p:cNvCxnSpPr>
              <a:stCxn id="546" idx="6"/>
              <a:endCxn id="549" idx="2"/>
            </p:cNvCxnSpPr>
            <p:nvPr/>
          </p:nvCxnSpPr>
          <p:spPr>
            <a:xfrm>
              <a:off x="7667275" y="3118063"/>
              <a:ext cx="437100" cy="225600"/>
            </a:xfrm>
            <a:prstGeom prst="straightConnector1">
              <a:avLst/>
            </a:prstGeom>
            <a:noFill/>
            <a:ln cap="flat" cmpd="sng" w="19050">
              <a:solidFill>
                <a:srgbClr val="4A86E8"/>
              </a:solidFill>
              <a:prstDash val="solid"/>
              <a:round/>
              <a:headEnd len="sm" w="sm" type="none"/>
              <a:tailEnd len="sm" w="sm" type="none"/>
            </a:ln>
          </p:spPr>
        </p:cxnSp>
        <p:cxnSp>
          <p:nvCxnSpPr>
            <p:cNvPr id="550" name="Google Shape;550;p40"/>
            <p:cNvCxnSpPr>
              <a:stCxn id="546" idx="7"/>
              <a:endCxn id="551" idx="2"/>
            </p:cNvCxnSpPr>
            <p:nvPr/>
          </p:nvCxnSpPr>
          <p:spPr>
            <a:xfrm flipH="1" rot="10800000">
              <a:off x="7620801" y="2719964"/>
              <a:ext cx="433200" cy="285900"/>
            </a:xfrm>
            <a:prstGeom prst="straightConnector1">
              <a:avLst/>
            </a:prstGeom>
            <a:noFill/>
            <a:ln cap="flat" cmpd="sng" w="19050">
              <a:solidFill>
                <a:srgbClr val="4A86E8"/>
              </a:solidFill>
              <a:prstDash val="solid"/>
              <a:round/>
              <a:headEnd len="sm" w="sm" type="none"/>
              <a:tailEnd len="sm" w="sm" type="none"/>
            </a:ln>
          </p:spPr>
        </p:cxnSp>
        <p:cxnSp>
          <p:nvCxnSpPr>
            <p:cNvPr id="552" name="Google Shape;552;p40"/>
            <p:cNvCxnSpPr>
              <a:stCxn id="546" idx="0"/>
              <a:endCxn id="553" idx="4"/>
            </p:cNvCxnSpPr>
            <p:nvPr/>
          </p:nvCxnSpPr>
          <p:spPr>
            <a:xfrm flipH="1" rot="10800000">
              <a:off x="7508602" y="2480890"/>
              <a:ext cx="360300" cy="478500"/>
            </a:xfrm>
            <a:prstGeom prst="straightConnector1">
              <a:avLst/>
            </a:prstGeom>
            <a:noFill/>
            <a:ln cap="flat" cmpd="sng" w="19050">
              <a:solidFill>
                <a:srgbClr val="4A86E8"/>
              </a:solidFill>
              <a:prstDash val="solid"/>
              <a:round/>
              <a:headEnd len="sm" w="sm" type="none"/>
              <a:tailEnd len="sm" w="sm" type="none"/>
            </a:ln>
          </p:spPr>
        </p:cxnSp>
        <p:cxnSp>
          <p:nvCxnSpPr>
            <p:cNvPr id="554" name="Google Shape;554;p40"/>
            <p:cNvCxnSpPr>
              <a:stCxn id="555" idx="0"/>
              <a:endCxn id="556" idx="4"/>
            </p:cNvCxnSpPr>
            <p:nvPr/>
          </p:nvCxnSpPr>
          <p:spPr>
            <a:xfrm flipH="1" rot="10800000">
              <a:off x="7371324" y="1884862"/>
              <a:ext cx="180300" cy="345600"/>
            </a:xfrm>
            <a:prstGeom prst="straightConnector1">
              <a:avLst/>
            </a:prstGeom>
            <a:noFill/>
            <a:ln cap="flat" cmpd="sng" w="19050">
              <a:solidFill>
                <a:srgbClr val="4A86E8"/>
              </a:solidFill>
              <a:prstDash val="solid"/>
              <a:round/>
              <a:headEnd len="sm" w="sm" type="none"/>
              <a:tailEnd len="sm" w="sm" type="none"/>
            </a:ln>
          </p:spPr>
        </p:cxnSp>
        <p:cxnSp>
          <p:nvCxnSpPr>
            <p:cNvPr id="557" name="Google Shape;557;p40"/>
            <p:cNvCxnSpPr>
              <a:stCxn id="527" idx="7"/>
              <a:endCxn id="558" idx="3"/>
            </p:cNvCxnSpPr>
            <p:nvPr/>
          </p:nvCxnSpPr>
          <p:spPr>
            <a:xfrm flipH="1" rot="10800000">
              <a:off x="6339265" y="1674570"/>
              <a:ext cx="462900" cy="629100"/>
            </a:xfrm>
            <a:prstGeom prst="straightConnector1">
              <a:avLst/>
            </a:prstGeom>
            <a:noFill/>
            <a:ln cap="flat" cmpd="sng" w="19050">
              <a:solidFill>
                <a:srgbClr val="4A86E8"/>
              </a:solidFill>
              <a:prstDash val="solid"/>
              <a:round/>
              <a:headEnd len="sm" w="sm" type="none"/>
              <a:tailEnd len="sm" w="sm" type="none"/>
            </a:ln>
          </p:spPr>
        </p:cxnSp>
      </p:grpSp>
      <p:grpSp>
        <p:nvGrpSpPr>
          <p:cNvPr id="559" name="Google Shape;559;p40"/>
          <p:cNvGrpSpPr/>
          <p:nvPr/>
        </p:nvGrpSpPr>
        <p:grpSpPr>
          <a:xfrm>
            <a:off x="5445335" y="1589231"/>
            <a:ext cx="2582438" cy="2638707"/>
            <a:chOff x="4911703" y="756592"/>
            <a:chExt cx="3251621" cy="3322472"/>
          </a:xfrm>
        </p:grpSpPr>
        <p:cxnSp>
          <p:nvCxnSpPr>
            <p:cNvPr id="560" name="Google Shape;560;p40"/>
            <p:cNvCxnSpPr>
              <a:stCxn id="528" idx="4"/>
              <a:endCxn id="532" idx="7"/>
            </p:cNvCxnSpPr>
            <p:nvPr/>
          </p:nvCxnSpPr>
          <p:spPr>
            <a:xfrm flipH="1">
              <a:off x="5047806" y="1379405"/>
              <a:ext cx="146700" cy="321900"/>
            </a:xfrm>
            <a:prstGeom prst="straightConnector1">
              <a:avLst/>
            </a:prstGeom>
            <a:noFill/>
            <a:ln cap="flat" cmpd="sng" w="19050">
              <a:solidFill>
                <a:srgbClr val="4A86E8"/>
              </a:solidFill>
              <a:prstDash val="solid"/>
              <a:round/>
              <a:headEnd len="sm" w="sm" type="none"/>
              <a:tailEnd len="sm" w="sm" type="none"/>
            </a:ln>
          </p:spPr>
        </p:cxnSp>
        <p:cxnSp>
          <p:nvCxnSpPr>
            <p:cNvPr id="561" name="Google Shape;561;p40"/>
            <p:cNvCxnSpPr>
              <a:stCxn id="530" idx="6"/>
              <a:endCxn id="558" idx="2"/>
            </p:cNvCxnSpPr>
            <p:nvPr/>
          </p:nvCxnSpPr>
          <p:spPr>
            <a:xfrm flipH="1" rot="10800000">
              <a:off x="6020061" y="756592"/>
              <a:ext cx="449400" cy="44700"/>
            </a:xfrm>
            <a:prstGeom prst="straightConnector1">
              <a:avLst/>
            </a:prstGeom>
            <a:noFill/>
            <a:ln cap="flat" cmpd="sng" w="19050">
              <a:solidFill>
                <a:srgbClr val="4A86E8"/>
              </a:solidFill>
              <a:prstDash val="solid"/>
              <a:round/>
              <a:headEnd len="sm" w="sm" type="none"/>
              <a:tailEnd len="sm" w="sm" type="none"/>
            </a:ln>
          </p:spPr>
        </p:cxnSp>
        <p:cxnSp>
          <p:nvCxnSpPr>
            <p:cNvPr id="562" name="Google Shape;562;p40"/>
            <p:cNvCxnSpPr>
              <a:stCxn id="530" idx="5"/>
              <a:endCxn id="555" idx="1"/>
            </p:cNvCxnSpPr>
            <p:nvPr/>
          </p:nvCxnSpPr>
          <p:spPr>
            <a:xfrm>
              <a:off x="5963633" y="937522"/>
              <a:ext cx="1116900" cy="686700"/>
            </a:xfrm>
            <a:prstGeom prst="straightConnector1">
              <a:avLst/>
            </a:prstGeom>
            <a:noFill/>
            <a:ln cap="flat" cmpd="sng" w="19050">
              <a:solidFill>
                <a:srgbClr val="4A86E8"/>
              </a:solidFill>
              <a:prstDash val="solid"/>
              <a:round/>
              <a:headEnd len="sm" w="sm" type="none"/>
              <a:tailEnd len="sm" w="sm" type="none"/>
            </a:ln>
          </p:spPr>
        </p:cxnSp>
        <p:cxnSp>
          <p:nvCxnSpPr>
            <p:cNvPr id="563" name="Google Shape;563;p40"/>
            <p:cNvCxnSpPr>
              <a:stCxn id="530" idx="3"/>
              <a:endCxn id="534" idx="0"/>
            </p:cNvCxnSpPr>
            <p:nvPr/>
          </p:nvCxnSpPr>
          <p:spPr>
            <a:xfrm flipH="1">
              <a:off x="5245974" y="937522"/>
              <a:ext cx="445200" cy="1358100"/>
            </a:xfrm>
            <a:prstGeom prst="straightConnector1">
              <a:avLst/>
            </a:prstGeom>
            <a:noFill/>
            <a:ln cap="flat" cmpd="sng" w="19050">
              <a:solidFill>
                <a:srgbClr val="4A86E8"/>
              </a:solidFill>
              <a:prstDash val="solid"/>
              <a:round/>
              <a:headEnd len="sm" w="sm" type="none"/>
              <a:tailEnd len="sm" w="sm" type="none"/>
            </a:ln>
          </p:spPr>
        </p:cxnSp>
        <p:cxnSp>
          <p:nvCxnSpPr>
            <p:cNvPr id="564" name="Google Shape;564;p40"/>
            <p:cNvCxnSpPr>
              <a:stCxn id="537" idx="0"/>
              <a:endCxn id="532" idx="4"/>
            </p:cNvCxnSpPr>
            <p:nvPr/>
          </p:nvCxnSpPr>
          <p:spPr>
            <a:xfrm rot="10800000">
              <a:off x="4911703" y="2030095"/>
              <a:ext cx="102000" cy="855300"/>
            </a:xfrm>
            <a:prstGeom prst="straightConnector1">
              <a:avLst/>
            </a:prstGeom>
            <a:noFill/>
            <a:ln cap="flat" cmpd="sng" w="19050">
              <a:solidFill>
                <a:srgbClr val="4A86E8"/>
              </a:solidFill>
              <a:prstDash val="solid"/>
              <a:round/>
              <a:headEnd len="sm" w="sm" type="none"/>
              <a:tailEnd len="sm" w="sm" type="none"/>
            </a:ln>
          </p:spPr>
        </p:cxnSp>
        <p:cxnSp>
          <p:nvCxnSpPr>
            <p:cNvPr id="565" name="Google Shape;565;p40"/>
            <p:cNvCxnSpPr>
              <a:stCxn id="542" idx="1"/>
              <a:endCxn id="536" idx="5"/>
            </p:cNvCxnSpPr>
            <p:nvPr/>
          </p:nvCxnSpPr>
          <p:spPr>
            <a:xfrm rot="10800000">
              <a:off x="6057735" y="3117257"/>
              <a:ext cx="572400" cy="825600"/>
            </a:xfrm>
            <a:prstGeom prst="straightConnector1">
              <a:avLst/>
            </a:prstGeom>
            <a:noFill/>
            <a:ln cap="flat" cmpd="sng" w="19050">
              <a:solidFill>
                <a:srgbClr val="4A86E8"/>
              </a:solidFill>
              <a:prstDash val="solid"/>
              <a:round/>
              <a:headEnd len="sm" w="sm" type="none"/>
              <a:tailEnd len="sm" w="sm" type="none"/>
            </a:ln>
          </p:spPr>
        </p:cxnSp>
        <p:cxnSp>
          <p:nvCxnSpPr>
            <p:cNvPr id="566" name="Google Shape;566;p40"/>
            <p:cNvCxnSpPr>
              <a:stCxn id="542" idx="7"/>
              <a:endCxn id="546" idx="3"/>
            </p:cNvCxnSpPr>
            <p:nvPr/>
          </p:nvCxnSpPr>
          <p:spPr>
            <a:xfrm flipH="1" rot="10800000">
              <a:off x="6902594" y="2781857"/>
              <a:ext cx="344700" cy="1161000"/>
            </a:xfrm>
            <a:prstGeom prst="straightConnector1">
              <a:avLst/>
            </a:prstGeom>
            <a:noFill/>
            <a:ln cap="flat" cmpd="sng" w="19050">
              <a:solidFill>
                <a:srgbClr val="4A86E8"/>
              </a:solidFill>
              <a:prstDash val="solid"/>
              <a:round/>
              <a:headEnd len="sm" w="sm" type="none"/>
              <a:tailEnd len="sm" w="sm" type="none"/>
            </a:ln>
          </p:spPr>
        </p:cxnSp>
        <p:cxnSp>
          <p:nvCxnSpPr>
            <p:cNvPr id="567" name="Google Shape;567;p40"/>
            <p:cNvCxnSpPr>
              <a:stCxn id="541" idx="6"/>
              <a:endCxn id="547" idx="2"/>
            </p:cNvCxnSpPr>
            <p:nvPr/>
          </p:nvCxnSpPr>
          <p:spPr>
            <a:xfrm>
              <a:off x="7054236" y="3232210"/>
              <a:ext cx="773700" cy="294600"/>
            </a:xfrm>
            <a:prstGeom prst="straightConnector1">
              <a:avLst/>
            </a:prstGeom>
            <a:noFill/>
            <a:ln cap="flat" cmpd="sng" w="19050">
              <a:solidFill>
                <a:srgbClr val="4A86E8"/>
              </a:solidFill>
              <a:prstDash val="solid"/>
              <a:round/>
              <a:headEnd len="sm" w="sm" type="none"/>
              <a:tailEnd len="sm" w="sm" type="none"/>
            </a:ln>
          </p:spPr>
        </p:cxnSp>
        <p:cxnSp>
          <p:nvCxnSpPr>
            <p:cNvPr id="568" name="Google Shape;568;p40"/>
            <p:cNvCxnSpPr>
              <a:stCxn id="539" idx="6"/>
              <a:endCxn id="542" idx="2"/>
            </p:cNvCxnSpPr>
            <p:nvPr/>
          </p:nvCxnSpPr>
          <p:spPr>
            <a:xfrm>
              <a:off x="5904675" y="3840264"/>
              <a:ext cx="669000" cy="238800"/>
            </a:xfrm>
            <a:prstGeom prst="straightConnector1">
              <a:avLst/>
            </a:prstGeom>
            <a:noFill/>
            <a:ln cap="flat" cmpd="sng" w="19050">
              <a:solidFill>
                <a:srgbClr val="4A86E8"/>
              </a:solidFill>
              <a:prstDash val="solid"/>
              <a:round/>
              <a:headEnd len="sm" w="sm" type="none"/>
              <a:tailEnd len="sm" w="sm" type="none"/>
            </a:ln>
          </p:spPr>
        </p:cxnSp>
        <p:cxnSp>
          <p:nvCxnSpPr>
            <p:cNvPr id="569" name="Google Shape;569;p40"/>
            <p:cNvCxnSpPr>
              <a:stCxn id="556" idx="5"/>
              <a:endCxn id="553" idx="0"/>
            </p:cNvCxnSpPr>
            <p:nvPr/>
          </p:nvCxnSpPr>
          <p:spPr>
            <a:xfrm>
              <a:off x="7571813" y="1091678"/>
              <a:ext cx="249300" cy="394800"/>
            </a:xfrm>
            <a:prstGeom prst="straightConnector1">
              <a:avLst/>
            </a:prstGeom>
            <a:noFill/>
            <a:ln cap="flat" cmpd="sng" w="19050">
              <a:solidFill>
                <a:srgbClr val="4A86E8"/>
              </a:solidFill>
              <a:prstDash val="solid"/>
              <a:round/>
              <a:headEnd len="sm" w="sm" type="none"/>
              <a:tailEnd len="sm" w="sm" type="none"/>
            </a:ln>
          </p:spPr>
        </p:cxnSp>
        <p:cxnSp>
          <p:nvCxnSpPr>
            <p:cNvPr id="570" name="Google Shape;570;p40"/>
            <p:cNvCxnSpPr>
              <a:stCxn id="556" idx="2"/>
              <a:endCxn id="534" idx="6"/>
            </p:cNvCxnSpPr>
            <p:nvPr/>
          </p:nvCxnSpPr>
          <p:spPr>
            <a:xfrm flipH="1">
              <a:off x="5438726" y="955449"/>
              <a:ext cx="1804200" cy="1532700"/>
            </a:xfrm>
            <a:prstGeom prst="straightConnector1">
              <a:avLst/>
            </a:prstGeom>
            <a:noFill/>
            <a:ln cap="flat" cmpd="sng" w="19050">
              <a:solidFill>
                <a:srgbClr val="4A86E8"/>
              </a:solidFill>
              <a:prstDash val="solid"/>
              <a:round/>
              <a:headEnd len="sm" w="sm" type="none"/>
              <a:tailEnd len="sm" w="sm" type="none"/>
            </a:ln>
          </p:spPr>
        </p:cxnSp>
        <p:cxnSp>
          <p:nvCxnSpPr>
            <p:cNvPr id="571" name="Google Shape;571;p40"/>
            <p:cNvCxnSpPr>
              <a:stCxn id="553" idx="4"/>
              <a:endCxn id="547" idx="0"/>
            </p:cNvCxnSpPr>
            <p:nvPr/>
          </p:nvCxnSpPr>
          <p:spPr>
            <a:xfrm>
              <a:off x="7821036" y="1871822"/>
              <a:ext cx="199500" cy="1462200"/>
            </a:xfrm>
            <a:prstGeom prst="straightConnector1">
              <a:avLst/>
            </a:prstGeom>
            <a:noFill/>
            <a:ln cap="flat" cmpd="sng" w="19050">
              <a:solidFill>
                <a:srgbClr val="4A86E8"/>
              </a:solidFill>
              <a:prstDash val="solid"/>
              <a:round/>
              <a:headEnd len="sm" w="sm" type="none"/>
              <a:tailEnd len="sm" w="sm" type="none"/>
            </a:ln>
          </p:spPr>
        </p:cxnSp>
        <p:cxnSp>
          <p:nvCxnSpPr>
            <p:cNvPr id="572" name="Google Shape;572;p40"/>
            <p:cNvCxnSpPr>
              <a:stCxn id="549" idx="1"/>
              <a:endCxn id="555" idx="5"/>
            </p:cNvCxnSpPr>
            <p:nvPr/>
          </p:nvCxnSpPr>
          <p:spPr>
            <a:xfrm rot="10800000">
              <a:off x="7353024" y="1896691"/>
              <a:ext cx="810300" cy="886500"/>
            </a:xfrm>
            <a:prstGeom prst="straightConnector1">
              <a:avLst/>
            </a:prstGeom>
            <a:noFill/>
            <a:ln cap="flat" cmpd="sng" w="19050">
              <a:solidFill>
                <a:srgbClr val="4A86E8"/>
              </a:solidFill>
              <a:prstDash val="solid"/>
              <a:round/>
              <a:headEnd len="sm" w="sm" type="none"/>
              <a:tailEnd len="sm" w="sm" type="none"/>
            </a:ln>
          </p:spPr>
        </p:cxnSp>
        <p:cxnSp>
          <p:nvCxnSpPr>
            <p:cNvPr id="573" name="Google Shape;573;p40"/>
            <p:cNvCxnSpPr>
              <a:stCxn id="536" idx="0"/>
              <a:endCxn id="527" idx="4"/>
            </p:cNvCxnSpPr>
            <p:nvPr/>
          </p:nvCxnSpPr>
          <p:spPr>
            <a:xfrm rot="10800000">
              <a:off x="5827367" y="1985582"/>
              <a:ext cx="94200" cy="802800"/>
            </a:xfrm>
            <a:prstGeom prst="straightConnector1">
              <a:avLst/>
            </a:prstGeom>
            <a:noFill/>
            <a:ln cap="flat" cmpd="sng" w="19050">
              <a:solidFill>
                <a:srgbClr val="4A86E8"/>
              </a:solidFill>
              <a:prstDash val="solid"/>
              <a:round/>
              <a:headEnd len="sm" w="sm" type="none"/>
              <a:tailEnd len="sm" w="sm" type="none"/>
            </a:ln>
          </p:spPr>
        </p:cxnSp>
      </p:grpSp>
      <p:grpSp>
        <p:nvGrpSpPr>
          <p:cNvPr id="574" name="Google Shape;574;p40"/>
          <p:cNvGrpSpPr/>
          <p:nvPr/>
        </p:nvGrpSpPr>
        <p:grpSpPr>
          <a:xfrm>
            <a:off x="6280642" y="2494743"/>
            <a:ext cx="1019416" cy="907488"/>
            <a:chOff x="6339124" y="2501305"/>
            <a:chExt cx="1057157" cy="941085"/>
          </a:xfrm>
        </p:grpSpPr>
        <p:cxnSp>
          <p:nvCxnSpPr>
            <p:cNvPr id="575" name="Google Shape;575;p40"/>
            <p:cNvCxnSpPr>
              <a:stCxn id="576" idx="1"/>
              <a:endCxn id="527" idx="5"/>
            </p:cNvCxnSpPr>
            <p:nvPr/>
          </p:nvCxnSpPr>
          <p:spPr>
            <a:xfrm rot="10800000">
              <a:off x="6339124" y="2528005"/>
              <a:ext cx="356700" cy="260400"/>
            </a:xfrm>
            <a:prstGeom prst="straightConnector1">
              <a:avLst/>
            </a:prstGeom>
            <a:noFill/>
            <a:ln cap="flat" cmpd="sng" w="19050">
              <a:solidFill>
                <a:srgbClr val="4A86E8"/>
              </a:solidFill>
              <a:prstDash val="solid"/>
              <a:round/>
              <a:headEnd len="sm" w="sm" type="none"/>
              <a:tailEnd len="sm" w="sm" type="none"/>
            </a:ln>
          </p:spPr>
        </p:cxnSp>
        <p:cxnSp>
          <p:nvCxnSpPr>
            <p:cNvPr id="577" name="Google Shape;577;p40"/>
            <p:cNvCxnSpPr>
              <a:stCxn id="576" idx="7"/>
              <a:endCxn id="555" idx="3"/>
            </p:cNvCxnSpPr>
            <p:nvPr/>
          </p:nvCxnSpPr>
          <p:spPr>
            <a:xfrm flipH="1" rot="10800000">
              <a:off x="6920209" y="2501305"/>
              <a:ext cx="339000" cy="287100"/>
            </a:xfrm>
            <a:prstGeom prst="straightConnector1">
              <a:avLst/>
            </a:prstGeom>
            <a:noFill/>
            <a:ln cap="flat" cmpd="sng" w="19050">
              <a:solidFill>
                <a:srgbClr val="4A86E8"/>
              </a:solidFill>
              <a:prstDash val="solid"/>
              <a:round/>
              <a:headEnd len="sm" w="sm" type="none"/>
              <a:tailEnd len="sm" w="sm" type="none"/>
            </a:ln>
          </p:spPr>
        </p:cxnSp>
        <p:cxnSp>
          <p:nvCxnSpPr>
            <p:cNvPr id="578" name="Google Shape;578;p40"/>
            <p:cNvCxnSpPr>
              <a:stCxn id="576" idx="6"/>
              <a:endCxn id="546" idx="1"/>
            </p:cNvCxnSpPr>
            <p:nvPr/>
          </p:nvCxnSpPr>
          <p:spPr>
            <a:xfrm>
              <a:off x="6966681" y="2900598"/>
              <a:ext cx="429600" cy="105300"/>
            </a:xfrm>
            <a:prstGeom prst="straightConnector1">
              <a:avLst/>
            </a:prstGeom>
            <a:noFill/>
            <a:ln cap="flat" cmpd="sng" w="19050">
              <a:solidFill>
                <a:srgbClr val="4A86E8"/>
              </a:solidFill>
              <a:prstDash val="solid"/>
              <a:round/>
              <a:headEnd len="sm" w="sm" type="none"/>
              <a:tailEnd len="sm" w="sm" type="none"/>
            </a:ln>
          </p:spPr>
        </p:cxnSp>
        <p:cxnSp>
          <p:nvCxnSpPr>
            <p:cNvPr id="579" name="Google Shape;579;p40"/>
            <p:cNvCxnSpPr>
              <a:stCxn id="576" idx="5"/>
              <a:endCxn id="541" idx="0"/>
            </p:cNvCxnSpPr>
            <p:nvPr/>
          </p:nvCxnSpPr>
          <p:spPr>
            <a:xfrm>
              <a:off x="6920209" y="3012791"/>
              <a:ext cx="158700" cy="429600"/>
            </a:xfrm>
            <a:prstGeom prst="straightConnector1">
              <a:avLst/>
            </a:prstGeom>
            <a:noFill/>
            <a:ln cap="flat" cmpd="sng" w="19050">
              <a:solidFill>
                <a:srgbClr val="4A86E8"/>
              </a:solidFill>
              <a:prstDash val="solid"/>
              <a:round/>
              <a:headEnd len="sm" w="sm" type="none"/>
              <a:tailEnd len="sm" w="sm" type="none"/>
            </a:ln>
          </p:spPr>
        </p:cxnSp>
        <p:cxnSp>
          <p:nvCxnSpPr>
            <p:cNvPr id="580" name="Google Shape;580;p40"/>
            <p:cNvCxnSpPr>
              <a:stCxn id="576" idx="3"/>
              <a:endCxn id="536" idx="7"/>
            </p:cNvCxnSpPr>
            <p:nvPr/>
          </p:nvCxnSpPr>
          <p:spPr>
            <a:xfrm flipH="1">
              <a:off x="6416824" y="3012791"/>
              <a:ext cx="279000" cy="269400"/>
            </a:xfrm>
            <a:prstGeom prst="straightConnector1">
              <a:avLst/>
            </a:prstGeom>
            <a:noFill/>
            <a:ln cap="flat" cmpd="sng" w="19050">
              <a:solidFill>
                <a:srgbClr val="4A86E8"/>
              </a:solidFill>
              <a:prstDash val="solid"/>
              <a:round/>
              <a:headEnd len="sm" w="sm" type="none"/>
              <a:tailEnd len="sm" w="sm" type="none"/>
            </a:ln>
          </p:spPr>
        </p:cxnSp>
      </p:grpSp>
      <p:grpSp>
        <p:nvGrpSpPr>
          <p:cNvPr id="581" name="Google Shape;581;p40"/>
          <p:cNvGrpSpPr/>
          <p:nvPr/>
        </p:nvGrpSpPr>
        <p:grpSpPr>
          <a:xfrm>
            <a:off x="5292336" y="1436207"/>
            <a:ext cx="2996639" cy="2944757"/>
            <a:chOff x="4320624" y="427228"/>
            <a:chExt cx="4101053" cy="4030050"/>
          </a:xfrm>
        </p:grpSpPr>
        <p:sp>
          <p:nvSpPr>
            <p:cNvPr id="547" name="Google Shape;547;p40"/>
            <p:cNvSpPr/>
            <p:nvPr/>
          </p:nvSpPr>
          <p:spPr>
            <a:xfrm>
              <a:off x="7699641" y="3438197"/>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0"/>
            <p:cNvSpPr/>
            <p:nvPr/>
          </p:nvSpPr>
          <p:spPr>
            <a:xfrm>
              <a:off x="8002877" y="2778034"/>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1" name="Google Shape;551;p40"/>
            <p:cNvSpPr/>
            <p:nvPr/>
          </p:nvSpPr>
          <p:spPr>
            <a:xfrm>
              <a:off x="7936312" y="1955209"/>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3" name="Google Shape;553;p40"/>
            <p:cNvSpPr/>
            <p:nvPr/>
          </p:nvSpPr>
          <p:spPr>
            <a:xfrm>
              <a:off x="7482775" y="1429996"/>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7" name="Google Shape;537;p40"/>
            <p:cNvSpPr/>
            <p:nvPr/>
          </p:nvSpPr>
          <p:spPr>
            <a:xfrm>
              <a:off x="4431475" y="2950452"/>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9" name="Google Shape;539;p40"/>
            <p:cNvSpPr/>
            <p:nvPr/>
          </p:nvSpPr>
          <p:spPr>
            <a:xfrm>
              <a:off x="5190476" y="3778902"/>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2" name="Google Shape;542;p40"/>
            <p:cNvSpPr/>
            <p:nvPr/>
          </p:nvSpPr>
          <p:spPr>
            <a:xfrm>
              <a:off x="6336449" y="4038478"/>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4" name="Google Shape;544;p40"/>
            <p:cNvSpPr/>
            <p:nvPr/>
          </p:nvSpPr>
          <p:spPr>
            <a:xfrm>
              <a:off x="7129846" y="3857150"/>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6" name="Google Shape;556;p40"/>
            <p:cNvSpPr/>
            <p:nvPr/>
          </p:nvSpPr>
          <p:spPr>
            <a:xfrm>
              <a:off x="7063825" y="643387"/>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8" name="Google Shape;558;p40"/>
            <p:cNvSpPr/>
            <p:nvPr/>
          </p:nvSpPr>
          <p:spPr>
            <a:xfrm>
              <a:off x="6223044" y="427228"/>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0" name="Google Shape;530;p40"/>
            <p:cNvSpPr/>
            <p:nvPr/>
          </p:nvSpPr>
          <p:spPr>
            <a:xfrm>
              <a:off x="5315889" y="475834"/>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8" name="Google Shape;528;p40"/>
            <p:cNvSpPr/>
            <p:nvPr/>
          </p:nvSpPr>
          <p:spPr>
            <a:xfrm>
              <a:off x="4627990" y="894786"/>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2" name="Google Shape;532;p40"/>
            <p:cNvSpPr/>
            <p:nvPr/>
          </p:nvSpPr>
          <p:spPr>
            <a:xfrm>
              <a:off x="4320624" y="1602115"/>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4" name="Google Shape;534;p40"/>
            <p:cNvSpPr/>
            <p:nvPr/>
          </p:nvSpPr>
          <p:spPr>
            <a:xfrm>
              <a:off x="4684040" y="2309443"/>
              <a:ext cx="418800" cy="4188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76" name="Google Shape;576;p40"/>
          <p:cNvSpPr/>
          <p:nvPr/>
        </p:nvSpPr>
        <p:spPr>
          <a:xfrm>
            <a:off x="6579795" y="2726781"/>
            <a:ext cx="306000" cy="306000"/>
          </a:xfrm>
          <a:prstGeom prst="smileyFace">
            <a:avLst>
              <a:gd fmla="val 4653" name="adj"/>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582" name="Google Shape;582;p40"/>
          <p:cNvGrpSpPr/>
          <p:nvPr/>
        </p:nvGrpSpPr>
        <p:grpSpPr>
          <a:xfrm>
            <a:off x="6019576" y="2233570"/>
            <a:ext cx="1541802" cy="1474805"/>
            <a:chOff x="5315889" y="1518460"/>
            <a:chExt cx="2110034" cy="2018345"/>
          </a:xfrm>
        </p:grpSpPr>
        <p:sp>
          <p:nvSpPr>
            <p:cNvPr id="546" name="Google Shape;546;p40"/>
            <p:cNvSpPr/>
            <p:nvPr/>
          </p:nvSpPr>
          <p:spPr>
            <a:xfrm>
              <a:off x="7007123" y="2480421"/>
              <a:ext cx="418800" cy="4188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1" name="Google Shape;541;p40"/>
            <p:cNvSpPr/>
            <p:nvPr/>
          </p:nvSpPr>
          <p:spPr>
            <a:xfrm>
              <a:off x="6439937" y="3118005"/>
              <a:ext cx="418800" cy="4188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36" name="Google Shape;536;p40"/>
            <p:cNvSpPr/>
            <p:nvPr/>
          </p:nvSpPr>
          <p:spPr>
            <a:xfrm>
              <a:off x="5418236" y="2845007"/>
              <a:ext cx="418800" cy="4188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5" name="Google Shape;555;p40"/>
            <p:cNvSpPr/>
            <p:nvPr/>
          </p:nvSpPr>
          <p:spPr>
            <a:xfrm>
              <a:off x="6825958" y="1518460"/>
              <a:ext cx="418800" cy="4188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7" name="Google Shape;527;p40"/>
            <p:cNvSpPr/>
            <p:nvPr/>
          </p:nvSpPr>
          <p:spPr>
            <a:xfrm>
              <a:off x="5315889" y="1553740"/>
              <a:ext cx="418800" cy="4188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583" name="Google Shape;583;p40"/>
          <p:cNvSpPr txBox="1"/>
          <p:nvPr>
            <p:ph idx="1" type="body"/>
          </p:nvPr>
        </p:nvSpPr>
        <p:spPr>
          <a:xfrm>
            <a:off x="317171" y="2008612"/>
            <a:ext cx="3999900" cy="242700"/>
          </a:xfrm>
          <a:prstGeom prst="rect">
            <a:avLst/>
          </a:prstGeom>
          <a:noFill/>
          <a:ln>
            <a:noFill/>
          </a:ln>
        </p:spPr>
        <p:txBody>
          <a:bodyPr anchorCtr="0" anchor="ctr" bIns="91425" lIns="91425" spcFirstLastPara="1" rIns="91425" wrap="square" tIns="91425">
            <a:noAutofit/>
          </a:bodyPr>
          <a:lstStyle/>
          <a:p>
            <a:pPr indent="-298450" lvl="1" marL="914400" rtl="0" algn="l">
              <a:lnSpc>
                <a:spcPct val="115000"/>
              </a:lnSpc>
              <a:spcBef>
                <a:spcPts val="0"/>
              </a:spcBef>
              <a:spcAft>
                <a:spcPts val="0"/>
              </a:spcAft>
              <a:buSzPts val="1100"/>
              <a:buChar char="○"/>
            </a:pPr>
            <a:r>
              <a:rPr lang="en"/>
              <a:t>...and </a:t>
            </a:r>
            <a:r>
              <a:rPr b="1" i="1" lang="en">
                <a:solidFill>
                  <a:srgbClr val="FF0000"/>
                </a:solidFill>
              </a:rPr>
              <a:t>your followers</a:t>
            </a:r>
            <a:r>
              <a:rPr lang="en"/>
              <a:t>...</a:t>
            </a:r>
            <a:endParaRPr/>
          </a:p>
        </p:txBody>
      </p:sp>
      <p:sp>
        <p:nvSpPr>
          <p:cNvPr id="584" name="Google Shape;584;p40"/>
          <p:cNvSpPr txBox="1"/>
          <p:nvPr>
            <p:ph idx="1" type="body"/>
          </p:nvPr>
        </p:nvSpPr>
        <p:spPr>
          <a:xfrm>
            <a:off x="317171" y="2206018"/>
            <a:ext cx="3999900" cy="242700"/>
          </a:xfrm>
          <a:prstGeom prst="rect">
            <a:avLst/>
          </a:prstGeom>
          <a:noFill/>
          <a:ln>
            <a:noFill/>
          </a:ln>
        </p:spPr>
        <p:txBody>
          <a:bodyPr anchorCtr="0" anchor="ctr" bIns="91425" lIns="91425" spcFirstLastPara="1" rIns="91425" wrap="square" tIns="91425">
            <a:noAutofit/>
          </a:bodyPr>
          <a:lstStyle/>
          <a:p>
            <a:pPr indent="-298450" lvl="1" marL="914400" rtl="0" algn="l">
              <a:lnSpc>
                <a:spcPct val="115000"/>
              </a:lnSpc>
              <a:spcBef>
                <a:spcPts val="0"/>
              </a:spcBef>
              <a:spcAft>
                <a:spcPts val="0"/>
              </a:spcAft>
              <a:buSzPts val="1100"/>
              <a:buChar char="○"/>
            </a:pPr>
            <a:r>
              <a:rPr lang="en"/>
              <a:t>...and </a:t>
            </a:r>
            <a:r>
              <a:rPr b="1" i="1" lang="en">
                <a:solidFill>
                  <a:srgbClr val="FF0000"/>
                </a:solidFill>
              </a:rPr>
              <a:t>their followers</a:t>
            </a:r>
            <a:r>
              <a:rPr lang="en"/>
              <a:t>.</a:t>
            </a:r>
            <a:endParaRPr/>
          </a:p>
        </p:txBody>
      </p:sp>
      <p:sp>
        <p:nvSpPr>
          <p:cNvPr id="585" name="Google Shape;585;p40"/>
          <p:cNvSpPr txBox="1"/>
          <p:nvPr>
            <p:ph idx="1" type="body"/>
          </p:nvPr>
        </p:nvSpPr>
        <p:spPr>
          <a:xfrm>
            <a:off x="311700" y="2434866"/>
            <a:ext cx="3999900" cy="1253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What kind of data structure would you use to represent this system?</a:t>
            </a:r>
            <a:endParaRPr/>
          </a:p>
          <a:p>
            <a:pPr indent="-298450" lvl="1" marL="914400" rtl="0" algn="l">
              <a:lnSpc>
                <a:spcPct val="115000"/>
              </a:lnSpc>
              <a:spcBef>
                <a:spcPts val="0"/>
              </a:spcBef>
              <a:spcAft>
                <a:spcPts val="0"/>
              </a:spcAft>
              <a:buSzPts val="1100"/>
              <a:buChar char="○"/>
            </a:pPr>
            <a:r>
              <a:rPr lang="en"/>
              <a:t>How about an </a:t>
            </a:r>
            <a:r>
              <a:rPr b="1" i="1" lang="en">
                <a:solidFill>
                  <a:srgbClr val="FF0000"/>
                </a:solidFill>
              </a:rPr>
              <a:t>N-ary Tree</a:t>
            </a:r>
            <a:r>
              <a:rPr lang="en"/>
              <a:t>?</a:t>
            </a:r>
            <a:endParaRPr/>
          </a:p>
          <a:p>
            <a:pPr indent="-311150" lvl="0" marL="457200" rtl="0" algn="l">
              <a:lnSpc>
                <a:spcPct val="115000"/>
              </a:lnSpc>
              <a:spcBef>
                <a:spcPts val="1000"/>
              </a:spcBef>
              <a:spcAft>
                <a:spcPts val="0"/>
              </a:spcAft>
              <a:buSzPts val="1300"/>
              <a:buChar char="●"/>
            </a:pPr>
            <a:r>
              <a:rPr lang="en"/>
              <a:t>Now consider that some of your followers </a:t>
            </a:r>
            <a:r>
              <a:rPr b="1" i="1" lang="en">
                <a:solidFill>
                  <a:srgbClr val="FF0000"/>
                </a:solidFill>
              </a:rPr>
              <a:t>follow each other</a:t>
            </a:r>
            <a:r>
              <a:rPr lang="en"/>
              <a:t>.</a:t>
            </a:r>
            <a:endParaRPr/>
          </a:p>
        </p:txBody>
      </p:sp>
      <p:sp>
        <p:nvSpPr>
          <p:cNvPr id="586" name="Google Shape;586;p40"/>
          <p:cNvSpPr txBox="1"/>
          <p:nvPr>
            <p:ph idx="1" type="body"/>
          </p:nvPr>
        </p:nvSpPr>
        <p:spPr>
          <a:xfrm>
            <a:off x="311700" y="3727609"/>
            <a:ext cx="3999900" cy="1253400"/>
          </a:xfrm>
          <a:prstGeom prst="rect">
            <a:avLst/>
          </a:prstGeom>
          <a:noFill/>
          <a:ln>
            <a:noFill/>
          </a:ln>
        </p:spPr>
        <p:txBody>
          <a:bodyPr anchorCtr="0" anchor="t" bIns="91425" lIns="91425" spcFirstLastPara="1" rIns="91425" wrap="square" tIns="91425">
            <a:noAutofit/>
          </a:bodyPr>
          <a:lstStyle/>
          <a:p>
            <a:pPr indent="-311150" lvl="0" marL="457200" rtl="0" algn="l">
              <a:lnSpc>
                <a:spcPct val="115000"/>
              </a:lnSpc>
              <a:spcBef>
                <a:spcPts val="0"/>
              </a:spcBef>
              <a:spcAft>
                <a:spcPts val="0"/>
              </a:spcAft>
              <a:buSzPts val="1300"/>
              <a:buChar char="●"/>
            </a:pPr>
            <a:r>
              <a:rPr lang="en"/>
              <a:t>Will an N-ary Tree be sufficient?</a:t>
            </a:r>
            <a:endParaRPr/>
          </a:p>
          <a:p>
            <a:pPr indent="-298450" lvl="1" marL="914400" rtl="0" algn="l">
              <a:lnSpc>
                <a:spcPct val="115000"/>
              </a:lnSpc>
              <a:spcBef>
                <a:spcPts val="0"/>
              </a:spcBef>
              <a:spcAft>
                <a:spcPts val="0"/>
              </a:spcAft>
              <a:buSzPts val="1100"/>
              <a:buChar char="○"/>
            </a:pPr>
            <a:r>
              <a:rPr b="1" i="1" lang="en">
                <a:solidFill>
                  <a:srgbClr val="FF0000"/>
                </a:solidFill>
              </a:rPr>
              <a:t>No!</a:t>
            </a:r>
            <a:endParaRPr>
              <a:solidFill>
                <a:srgbClr val="FF0000"/>
              </a:solidFill>
            </a:endParaRPr>
          </a:p>
          <a:p>
            <a:pPr indent="-298450" lvl="1" marL="914400" rtl="0" algn="l">
              <a:lnSpc>
                <a:spcPct val="115000"/>
              </a:lnSpc>
              <a:spcBef>
                <a:spcPts val="0"/>
              </a:spcBef>
              <a:spcAft>
                <a:spcPts val="0"/>
              </a:spcAft>
              <a:buSzPts val="1100"/>
              <a:buChar char="○"/>
            </a:pPr>
            <a:r>
              <a:rPr lang="en"/>
              <a:t>In a tree of any kind, children cannot be connected to </a:t>
            </a:r>
            <a:r>
              <a:rPr b="1" i="1" lang="en">
                <a:solidFill>
                  <a:srgbClr val="FF0000"/>
                </a:solidFill>
              </a:rPr>
              <a:t>each other</a:t>
            </a:r>
            <a:r>
              <a:rPr lang="en"/>
              <a:t>.</a:t>
            </a:r>
            <a:endParaRPr/>
          </a:p>
          <a:p>
            <a:pPr indent="-298450" lvl="1" marL="914400" rtl="0" algn="l">
              <a:lnSpc>
                <a:spcPct val="115000"/>
              </a:lnSpc>
              <a:spcBef>
                <a:spcPts val="0"/>
              </a:spcBef>
              <a:spcAft>
                <a:spcPts val="0"/>
              </a:spcAft>
              <a:buSzPts val="1100"/>
              <a:buChar char="○"/>
            </a:pPr>
            <a:r>
              <a:rPr lang="en"/>
              <a:t>Using an N-ary Tree would mean that no two of your followers could ever follow each other.</a:t>
            </a:r>
            <a:endParaRPr/>
          </a:p>
        </p:txBody>
      </p:sp>
      <p:sp>
        <p:nvSpPr>
          <p:cNvPr id="587" name="Google Shape;587;p40"/>
          <p:cNvSpPr txBox="1"/>
          <p:nvPr>
            <p:ph idx="4294967295" type="body"/>
          </p:nvPr>
        </p:nvSpPr>
        <p:spPr>
          <a:xfrm>
            <a:off x="5340275" y="4507320"/>
            <a:ext cx="2996700" cy="46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We will need a new kind of data structure to represent the social network: a </a:t>
            </a:r>
            <a:r>
              <a:rPr b="1" i="1" lang="en" sz="1200">
                <a:solidFill>
                  <a:srgbClr val="FF0000"/>
                </a:solidFill>
                <a:latin typeface="Arial"/>
                <a:ea typeface="Arial"/>
                <a:cs typeface="Arial"/>
                <a:sym typeface="Arial"/>
              </a:rPr>
              <a:t>graph</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3">
                                            <p:txEl>
                                              <p:pRg end="1" st="1"/>
                                            </p:txEl>
                                          </p:spTgt>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3"/>
                                        </p:tgtEl>
                                        <p:attrNameLst>
                                          <p:attrName>style.visibility</p:attrName>
                                        </p:attrNameLst>
                                      </p:cBhvr>
                                      <p:to>
                                        <p:strVal val="visible"/>
                                      </p:to>
                                    </p:set>
                                    <p:animEffect filter="fade" transition="in">
                                      <p:cBhvr>
                                        <p:cTn dur="1000"/>
                                        <p:tgtEl>
                                          <p:spTgt spid="5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par>
                                <p:cTn fill="hold" nodeType="withEffect" presetClass="entr" presetID="10" presetSubtype="0">
                                  <p:stCondLst>
                                    <p:cond delay="0"/>
                                  </p:stCondLst>
                                  <p:childTnLst>
                                    <p:set>
                                      <p:cBhvr>
                                        <p:cTn dur="1" fill="hold">
                                          <p:stCondLst>
                                            <p:cond delay="0"/>
                                          </p:stCondLst>
                                        </p:cTn>
                                        <p:tgtEl>
                                          <p:spTgt spid="574"/>
                                        </p:tgtEl>
                                        <p:attrNameLst>
                                          <p:attrName>style.visibility</p:attrName>
                                        </p:attrNameLst>
                                      </p:cBhvr>
                                      <p:to>
                                        <p:strVal val="visible"/>
                                      </p:to>
                                    </p:set>
                                    <p:animEffect filter="fade" transition="in">
                                      <p:cBhvr>
                                        <p:cTn dur="1000"/>
                                        <p:tgtEl>
                                          <p:spTgt spid="5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4"/>
                                        </p:tgtEl>
                                        <p:attrNameLst>
                                          <p:attrName>style.visibility</p:attrName>
                                        </p:attrNameLst>
                                      </p:cBhvr>
                                      <p:to>
                                        <p:strVal val="visible"/>
                                      </p:to>
                                    </p:set>
                                    <p:animEffect filter="fade" transition="in">
                                      <p:cBhvr>
                                        <p:cTn dur="1000"/>
                                        <p:tgtEl>
                                          <p:spTgt spid="584"/>
                                        </p:tgtEl>
                                      </p:cBhvr>
                                    </p:animEffect>
                                  </p:childTnLst>
                                </p:cTn>
                              </p:par>
                              <p:par>
                                <p:cTn fill="hold" nodeType="withEffect" presetClass="entr" presetID="10" presetSubtype="0">
                                  <p:stCondLst>
                                    <p:cond delay="0"/>
                                  </p:stCondLst>
                                  <p:childTnLst>
                                    <p:set>
                                      <p:cBhvr>
                                        <p:cTn dur="1" fill="hold">
                                          <p:stCondLst>
                                            <p:cond delay="0"/>
                                          </p:stCondLst>
                                        </p:cTn>
                                        <p:tgtEl>
                                          <p:spTgt spid="581"/>
                                        </p:tgtEl>
                                        <p:attrNameLst>
                                          <p:attrName>style.visibility</p:attrName>
                                        </p:attrNameLst>
                                      </p:cBhvr>
                                      <p:to>
                                        <p:strVal val="visible"/>
                                      </p:to>
                                    </p:set>
                                    <p:animEffect filter="fade" transition="in">
                                      <p:cBhvr>
                                        <p:cTn dur="1000"/>
                                        <p:tgtEl>
                                          <p:spTgt spid="581"/>
                                        </p:tgtEl>
                                      </p:cBhvr>
                                    </p:animEffect>
                                  </p:childTnLst>
                                </p:cTn>
                              </p:par>
                              <p:par>
                                <p:cTn fill="hold" nodeType="withEffect" presetClass="entr" presetID="10" presetSubtype="0">
                                  <p:stCondLst>
                                    <p:cond delay="0"/>
                                  </p:stCondLst>
                                  <p:childTnLst>
                                    <p:set>
                                      <p:cBhvr>
                                        <p:cTn dur="1" fill="hold">
                                          <p:stCondLst>
                                            <p:cond delay="0"/>
                                          </p:stCondLst>
                                        </p:cTn>
                                        <p:tgtEl>
                                          <p:spTgt spid="525"/>
                                        </p:tgtEl>
                                        <p:attrNameLst>
                                          <p:attrName>style.visibility</p:attrName>
                                        </p:attrNameLst>
                                      </p:cBhvr>
                                      <p:to>
                                        <p:strVal val="visible"/>
                                      </p:to>
                                    </p:set>
                                    <p:animEffect filter="fade" transition="in">
                                      <p:cBhvr>
                                        <p:cTn dur="1000"/>
                                        <p:tgtEl>
                                          <p:spTgt spid="5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xEl>
                                              <p:pRg end="0" st="0"/>
                                            </p:txEl>
                                          </p:spTgt>
                                        </p:tgtEl>
                                        <p:attrNameLst>
                                          <p:attrName>style.visibility</p:attrName>
                                        </p:attrNameLst>
                                      </p:cBhvr>
                                      <p:to>
                                        <p:strVal val="visible"/>
                                      </p:to>
                                    </p:set>
                                    <p:animEffect filter="fade" transition="in">
                                      <p:cBhvr>
                                        <p:cTn dur="1000"/>
                                        <p:tgtEl>
                                          <p:spTgt spid="585">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xEl>
                                              <p:pRg end="1" st="1"/>
                                            </p:txEl>
                                          </p:spTgt>
                                        </p:tgtEl>
                                        <p:attrNameLst>
                                          <p:attrName>style.visibility</p:attrName>
                                        </p:attrNameLst>
                                      </p:cBhvr>
                                      <p:to>
                                        <p:strVal val="visible"/>
                                      </p:to>
                                    </p:set>
                                    <p:animEffect filter="fade" transition="in">
                                      <p:cBhvr>
                                        <p:cTn dur="1000"/>
                                        <p:tgtEl>
                                          <p:spTgt spid="585">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xEl>
                                              <p:pRg end="2" st="2"/>
                                            </p:txEl>
                                          </p:spTgt>
                                        </p:tgtEl>
                                        <p:attrNameLst>
                                          <p:attrName>style.visibility</p:attrName>
                                        </p:attrNameLst>
                                      </p:cBhvr>
                                      <p:to>
                                        <p:strVal val="visible"/>
                                      </p:to>
                                    </p:set>
                                    <p:animEffect filter="fade" transition="in">
                                      <p:cBhvr>
                                        <p:cTn dur="1000"/>
                                        <p:tgtEl>
                                          <p:spTgt spid="585">
                                            <p:txEl>
                                              <p:pRg end="2" st="2"/>
                                            </p:txEl>
                                          </p:spTgt>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59"/>
                                        </p:tgtEl>
                                        <p:attrNameLst>
                                          <p:attrName>style.visibility</p:attrName>
                                        </p:attrNameLst>
                                      </p:cBhvr>
                                      <p:to>
                                        <p:strVal val="visible"/>
                                      </p:to>
                                    </p:set>
                                    <p:animEffect filter="fade" transition="in">
                                      <p:cBhvr>
                                        <p:cTn dur="1000"/>
                                        <p:tgtEl>
                                          <p:spTgt spid="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0" st="0"/>
                                            </p:txEl>
                                          </p:spTgt>
                                        </p:tgtEl>
                                        <p:attrNameLst>
                                          <p:attrName>style.visibility</p:attrName>
                                        </p:attrNameLst>
                                      </p:cBhvr>
                                      <p:to>
                                        <p:strVal val="visible"/>
                                      </p:to>
                                    </p:set>
                                    <p:animEffect filter="fade" transition="in">
                                      <p:cBhvr>
                                        <p:cTn dur="1000"/>
                                        <p:tgtEl>
                                          <p:spTgt spid="586">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1" st="1"/>
                                            </p:txEl>
                                          </p:spTgt>
                                        </p:tgtEl>
                                        <p:attrNameLst>
                                          <p:attrName>style.visibility</p:attrName>
                                        </p:attrNameLst>
                                      </p:cBhvr>
                                      <p:to>
                                        <p:strVal val="visible"/>
                                      </p:to>
                                    </p:set>
                                    <p:animEffect filter="fade" transition="in">
                                      <p:cBhvr>
                                        <p:cTn dur="1000"/>
                                        <p:tgtEl>
                                          <p:spTgt spid="586">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2" st="2"/>
                                            </p:txEl>
                                          </p:spTgt>
                                        </p:tgtEl>
                                        <p:attrNameLst>
                                          <p:attrName>style.visibility</p:attrName>
                                        </p:attrNameLst>
                                      </p:cBhvr>
                                      <p:to>
                                        <p:strVal val="visible"/>
                                      </p:to>
                                    </p:set>
                                    <p:animEffect filter="fade" transition="in">
                                      <p:cBhvr>
                                        <p:cTn dur="1000"/>
                                        <p:tgtEl>
                                          <p:spTgt spid="586">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xEl>
                                              <p:pRg end="3" st="3"/>
                                            </p:txEl>
                                          </p:spTgt>
                                        </p:tgtEl>
                                        <p:attrNameLst>
                                          <p:attrName>style.visibility</p:attrName>
                                        </p:attrNameLst>
                                      </p:cBhvr>
                                      <p:to>
                                        <p:strVal val="visible"/>
                                      </p:to>
                                    </p:set>
                                    <p:animEffect filter="fade" transition="in">
                                      <p:cBhvr>
                                        <p:cTn dur="1000"/>
                                        <p:tgtEl>
                                          <p:spTgt spid="586">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41"/>
          <p:cNvSpPr txBox="1"/>
          <p:nvPr>
            <p:ph type="title"/>
          </p:nvPr>
        </p:nvSpPr>
        <p:spPr>
          <a:xfrm>
            <a:off x="311725" y="1199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Graphs</a:t>
            </a:r>
            <a:endParaRPr/>
          </a:p>
        </p:txBody>
      </p:sp>
      <p:sp>
        <p:nvSpPr>
          <p:cNvPr id="593" name="Google Shape;593;p41"/>
          <p:cNvSpPr txBox="1"/>
          <p:nvPr>
            <p:ph idx="1" type="body"/>
          </p:nvPr>
        </p:nvSpPr>
        <p:spPr>
          <a:xfrm>
            <a:off x="4390975" y="43725"/>
            <a:ext cx="4590900" cy="50487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Like lists and trees, a </a:t>
            </a:r>
            <a:r>
              <a:rPr b="1" i="1" lang="en">
                <a:solidFill>
                  <a:srgbClr val="FF0000"/>
                </a:solidFill>
              </a:rPr>
              <a:t>graph</a:t>
            </a:r>
            <a:r>
              <a:rPr i="1" lang="en">
                <a:solidFill>
                  <a:srgbClr val="FF0000"/>
                </a:solidFill>
              </a:rPr>
              <a:t> </a:t>
            </a:r>
            <a:r>
              <a:rPr lang="en"/>
              <a:t>is conceptually a </a:t>
            </a:r>
            <a:r>
              <a:rPr b="1" i="1" lang="en">
                <a:solidFill>
                  <a:srgbClr val="FF0000"/>
                </a:solidFill>
              </a:rPr>
              <a:t>linked-node structure</a:t>
            </a:r>
            <a:r>
              <a:rPr lang="en"/>
              <a:t>.</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empty</a:t>
            </a:r>
            <a:r>
              <a:rPr lang="en">
                <a:solidFill>
                  <a:srgbClr val="FF0000"/>
                </a:solidFill>
              </a:rPr>
              <a:t> </a:t>
            </a:r>
            <a:r>
              <a:rPr lang="en"/>
              <a:t>graph, containing no nodes.</a:t>
            </a:r>
            <a:endParaRPr/>
          </a:p>
          <a:p>
            <a:pPr indent="-298450" lvl="1" marL="914400" rtl="0" algn="l">
              <a:lnSpc>
                <a:spcPct val="100000"/>
              </a:lnSpc>
              <a:spcBef>
                <a:spcPts val="0"/>
              </a:spcBef>
              <a:spcAft>
                <a:spcPts val="0"/>
              </a:spcAft>
              <a:buSzPts val="1100"/>
              <a:buChar char="○"/>
            </a:pPr>
            <a:r>
              <a:rPr lang="en"/>
              <a:t>A graph containing</a:t>
            </a:r>
            <a:r>
              <a:rPr lang="en">
                <a:solidFill>
                  <a:srgbClr val="FF0000"/>
                </a:solidFill>
              </a:rPr>
              <a:t> </a:t>
            </a:r>
            <a:r>
              <a:rPr b="1" i="1" lang="en">
                <a:solidFill>
                  <a:srgbClr val="FF0000"/>
                </a:solidFill>
              </a:rPr>
              <a:t>at least one</a:t>
            </a:r>
            <a:r>
              <a:rPr b="1" i="1" lang="en"/>
              <a:t> </a:t>
            </a:r>
            <a:r>
              <a:rPr lang="en"/>
              <a:t>node with:</a:t>
            </a:r>
            <a:endParaRPr/>
          </a:p>
          <a:p>
            <a:pPr indent="-298450" lvl="2" marL="1371600" rtl="0" algn="l">
              <a:lnSpc>
                <a:spcPct val="100000"/>
              </a:lnSpc>
              <a:spcBef>
                <a:spcPts val="0"/>
              </a:spcBef>
              <a:spcAft>
                <a:spcPts val="0"/>
              </a:spcAft>
              <a:buSzPts val="1100"/>
              <a:buChar char="■"/>
            </a:pPr>
            <a:r>
              <a:rPr lang="en"/>
              <a:t>A </a:t>
            </a:r>
            <a:r>
              <a:rPr b="1" i="1" lang="en">
                <a:solidFill>
                  <a:srgbClr val="FF0000"/>
                </a:solidFill>
              </a:rPr>
              <a:t>value</a:t>
            </a:r>
            <a:r>
              <a:rPr lang="en">
                <a:solidFill>
                  <a:srgbClr val="FF0000"/>
                </a:solidFill>
              </a:rPr>
              <a:t> </a:t>
            </a:r>
            <a:r>
              <a:rPr lang="en"/>
              <a:t>of some type.</a:t>
            </a:r>
            <a:endParaRPr/>
          </a:p>
          <a:p>
            <a:pPr indent="-298450" lvl="2" marL="1371600" rtl="0" algn="l">
              <a:lnSpc>
                <a:spcPct val="100000"/>
              </a:lnSpc>
              <a:spcBef>
                <a:spcPts val="0"/>
              </a:spcBef>
              <a:spcAft>
                <a:spcPts val="0"/>
              </a:spcAft>
              <a:buSzPts val="1100"/>
              <a:buChar char="■"/>
            </a:pPr>
            <a:r>
              <a:rPr lang="en"/>
              <a:t>A </a:t>
            </a:r>
            <a:r>
              <a:rPr b="1" i="1" lang="en">
                <a:solidFill>
                  <a:srgbClr val="FF0000"/>
                </a:solidFill>
              </a:rPr>
              <a:t>list</a:t>
            </a:r>
            <a:r>
              <a:rPr lang="en">
                <a:solidFill>
                  <a:srgbClr val="FF0000"/>
                </a:solidFill>
              </a:rPr>
              <a:t> </a:t>
            </a:r>
            <a:r>
              <a:rPr lang="en"/>
              <a:t>of nodes to which it is </a:t>
            </a:r>
            <a:r>
              <a:rPr b="1" i="1" lang="en">
                <a:solidFill>
                  <a:srgbClr val="FF0000"/>
                </a:solidFill>
              </a:rPr>
              <a:t>connected</a:t>
            </a:r>
            <a:r>
              <a:rPr lang="en"/>
              <a:t>.</a:t>
            </a:r>
            <a:endParaRPr/>
          </a:p>
          <a:p>
            <a:pPr indent="-311150" lvl="0" marL="457200" rtl="0" algn="l">
              <a:lnSpc>
                <a:spcPct val="100000"/>
              </a:lnSpc>
              <a:spcBef>
                <a:spcPts val="1000"/>
              </a:spcBef>
              <a:spcAft>
                <a:spcPts val="0"/>
              </a:spcAft>
              <a:buSzPts val="1300"/>
              <a:buChar char="●"/>
            </a:pPr>
            <a:r>
              <a:rPr lang="en"/>
              <a:t>In this way, a graph may seem very similar to an </a:t>
            </a:r>
            <a:r>
              <a:rPr b="1" i="1" lang="en">
                <a:solidFill>
                  <a:srgbClr val="FF0000"/>
                </a:solidFill>
              </a:rPr>
              <a:t>N-ary Tree</a:t>
            </a:r>
            <a:r>
              <a:rPr lang="en"/>
              <a:t>, but the same rules do not apply.</a:t>
            </a:r>
            <a:endParaRPr/>
          </a:p>
          <a:p>
            <a:pPr indent="-298450" lvl="1" marL="914400" rtl="0" algn="l">
              <a:lnSpc>
                <a:spcPct val="100000"/>
              </a:lnSpc>
              <a:spcBef>
                <a:spcPts val="0"/>
              </a:spcBef>
              <a:spcAft>
                <a:spcPts val="0"/>
              </a:spcAft>
              <a:buSzPts val="1100"/>
              <a:buChar char="○"/>
            </a:pPr>
            <a:r>
              <a:rPr lang="en"/>
              <a:t>There is no "</a:t>
            </a:r>
            <a:r>
              <a:rPr b="1" i="1" lang="en">
                <a:solidFill>
                  <a:srgbClr val="FF0000"/>
                </a:solidFill>
              </a:rPr>
              <a:t>parent/child</a:t>
            </a:r>
            <a:r>
              <a:rPr lang="en"/>
              <a:t>" relationship between nodes in a graph.</a:t>
            </a:r>
            <a:endParaRPr/>
          </a:p>
          <a:p>
            <a:pPr indent="-298450" lvl="1" marL="914400" rtl="0" algn="l">
              <a:lnSpc>
                <a:spcPct val="100000"/>
              </a:lnSpc>
              <a:spcBef>
                <a:spcPts val="0"/>
              </a:spcBef>
              <a:spcAft>
                <a:spcPts val="0"/>
              </a:spcAft>
              <a:buSzPts val="1100"/>
              <a:buChar char="○"/>
            </a:pPr>
            <a:r>
              <a:rPr b="1" i="1" lang="en">
                <a:solidFill>
                  <a:srgbClr val="FF0000"/>
                </a:solidFill>
              </a:rPr>
              <a:t>Any</a:t>
            </a:r>
            <a:r>
              <a:rPr lang="en"/>
              <a:t> node in the graph may be connected to </a:t>
            </a:r>
            <a:r>
              <a:rPr b="1" i="1" lang="en">
                <a:solidFill>
                  <a:srgbClr val="FF0000"/>
                </a:solidFill>
              </a:rPr>
              <a:t>any other</a:t>
            </a:r>
            <a:r>
              <a:rPr lang="en"/>
              <a:t> node.</a:t>
            </a:r>
            <a:endParaRPr/>
          </a:p>
          <a:p>
            <a:pPr indent="-311150" lvl="0" marL="457200" rtl="0" algn="l">
              <a:lnSpc>
                <a:spcPct val="100000"/>
              </a:lnSpc>
              <a:spcBef>
                <a:spcPts val="1000"/>
              </a:spcBef>
              <a:spcAft>
                <a:spcPts val="0"/>
              </a:spcAft>
              <a:buSzPts val="1300"/>
              <a:buChar char="●"/>
            </a:pPr>
            <a:r>
              <a:rPr lang="en"/>
              <a:t>Graphs also use special terminology.</a:t>
            </a:r>
            <a:endParaRPr/>
          </a:p>
          <a:p>
            <a:pPr indent="-298450" lvl="1" marL="914400" rtl="0" algn="l">
              <a:lnSpc>
                <a:spcPct val="100000"/>
              </a:lnSpc>
              <a:spcBef>
                <a:spcPts val="0"/>
              </a:spcBef>
              <a:spcAft>
                <a:spcPts val="0"/>
              </a:spcAft>
              <a:buSzPts val="1100"/>
              <a:buChar char="○"/>
            </a:pPr>
            <a:r>
              <a:rPr lang="en"/>
              <a:t>Each node in the graph is referred to as a </a:t>
            </a:r>
            <a:r>
              <a:rPr b="1" i="1" lang="en">
                <a:solidFill>
                  <a:srgbClr val="FF0000"/>
                </a:solidFill>
              </a:rPr>
              <a:t>vertex</a:t>
            </a:r>
            <a:r>
              <a:rPr lang="en"/>
              <a:t>.</a:t>
            </a:r>
            <a:endParaRPr/>
          </a:p>
          <a:p>
            <a:pPr indent="-298450" lvl="2" marL="1371600" rtl="0" algn="l">
              <a:lnSpc>
                <a:spcPct val="100000"/>
              </a:lnSpc>
              <a:spcBef>
                <a:spcPts val="0"/>
              </a:spcBef>
              <a:spcAft>
                <a:spcPts val="0"/>
              </a:spcAft>
              <a:buSzPts val="1100"/>
              <a:buChar char="■"/>
            </a:pPr>
            <a:r>
              <a:rPr lang="en"/>
              <a:t>The plural of vertex is </a:t>
            </a:r>
            <a:r>
              <a:rPr b="1" i="1" lang="en">
                <a:solidFill>
                  <a:srgbClr val="FF0000"/>
                </a:solidFill>
              </a:rPr>
              <a:t>vertices</a:t>
            </a:r>
            <a:r>
              <a:rPr lang="en"/>
              <a:t>.</a:t>
            </a:r>
            <a:endParaRPr/>
          </a:p>
          <a:p>
            <a:pPr indent="-298450" lvl="1" marL="914400" rtl="0" algn="l">
              <a:lnSpc>
                <a:spcPct val="100000"/>
              </a:lnSpc>
              <a:spcBef>
                <a:spcPts val="0"/>
              </a:spcBef>
              <a:spcAft>
                <a:spcPts val="0"/>
              </a:spcAft>
              <a:buSzPts val="1100"/>
              <a:buChar char="○"/>
            </a:pPr>
            <a:r>
              <a:rPr lang="en"/>
              <a:t>The connections between vertices are called </a:t>
            </a:r>
            <a:r>
              <a:rPr b="1" i="1" lang="en">
                <a:solidFill>
                  <a:srgbClr val="FF0000"/>
                </a:solidFill>
              </a:rPr>
              <a:t>edges</a:t>
            </a:r>
            <a:r>
              <a:rPr lang="en"/>
              <a:t>.</a:t>
            </a:r>
            <a:endParaRPr/>
          </a:p>
          <a:p>
            <a:pPr indent="-298450" lvl="1" marL="914400" rtl="0" algn="l">
              <a:lnSpc>
                <a:spcPct val="100000"/>
              </a:lnSpc>
              <a:spcBef>
                <a:spcPts val="0"/>
              </a:spcBef>
              <a:spcAft>
                <a:spcPts val="0"/>
              </a:spcAft>
              <a:buSzPts val="1100"/>
              <a:buChar char="○"/>
            </a:pPr>
            <a:r>
              <a:rPr lang="en"/>
              <a:t>Two vertices that are connected by an edge are called </a:t>
            </a:r>
            <a:r>
              <a:rPr b="1" i="1" lang="en">
                <a:solidFill>
                  <a:srgbClr val="FF0000"/>
                </a:solidFill>
              </a:rPr>
              <a:t>neighbors</a:t>
            </a:r>
            <a:r>
              <a:rPr lang="en"/>
              <a:t>.</a:t>
            </a:r>
            <a:endParaRPr/>
          </a:p>
          <a:p>
            <a:pPr indent="-311150" lvl="0" marL="457200" rtl="0" algn="l">
              <a:lnSpc>
                <a:spcPct val="100000"/>
              </a:lnSpc>
              <a:spcBef>
                <a:spcPts val="1000"/>
              </a:spcBef>
              <a:spcAft>
                <a:spcPts val="0"/>
              </a:spcAft>
              <a:buSzPts val="1300"/>
              <a:buChar char="●"/>
            </a:pPr>
            <a:r>
              <a:rPr lang="en"/>
              <a:t>Graphs are an ideal data structure for representing real world systems with many-to-many connections between entities, e.g.</a:t>
            </a:r>
            <a:endParaRPr/>
          </a:p>
          <a:p>
            <a:pPr indent="-298450" lvl="1" marL="914400" rtl="0" algn="l">
              <a:lnSpc>
                <a:spcPct val="100000"/>
              </a:lnSpc>
              <a:spcBef>
                <a:spcPts val="0"/>
              </a:spcBef>
              <a:spcAft>
                <a:spcPts val="0"/>
              </a:spcAft>
              <a:buSzPts val="1100"/>
              <a:buChar char="○"/>
            </a:pPr>
            <a:r>
              <a:rPr lang="en"/>
              <a:t>Computer networks</a:t>
            </a:r>
            <a:endParaRPr/>
          </a:p>
          <a:p>
            <a:pPr indent="-298450" lvl="1" marL="914400" rtl="0" algn="l">
              <a:lnSpc>
                <a:spcPct val="100000"/>
              </a:lnSpc>
              <a:spcBef>
                <a:spcPts val="0"/>
              </a:spcBef>
              <a:spcAft>
                <a:spcPts val="0"/>
              </a:spcAft>
              <a:buSzPts val="1100"/>
              <a:buChar char="○"/>
            </a:pPr>
            <a:r>
              <a:rPr lang="en"/>
              <a:t>Cities connected by highways</a:t>
            </a:r>
            <a:endParaRPr/>
          </a:p>
          <a:p>
            <a:pPr indent="-298450" lvl="1" marL="914400" rtl="0" algn="l">
              <a:lnSpc>
                <a:spcPct val="100000"/>
              </a:lnSpc>
              <a:spcBef>
                <a:spcPts val="0"/>
              </a:spcBef>
              <a:spcAft>
                <a:spcPts val="0"/>
              </a:spcAft>
              <a:buSzPts val="1100"/>
              <a:buChar char="○"/>
            </a:pPr>
            <a:r>
              <a:rPr lang="en"/>
              <a:t>Airports connected by airline routes</a:t>
            </a:r>
            <a:endParaRPr/>
          </a:p>
          <a:p>
            <a:pPr indent="-298450" lvl="1" marL="914400" rtl="0" algn="l">
              <a:lnSpc>
                <a:spcPct val="100000"/>
              </a:lnSpc>
              <a:spcBef>
                <a:spcPts val="0"/>
              </a:spcBef>
              <a:spcAft>
                <a:spcPts val="0"/>
              </a:spcAft>
              <a:buSzPts val="1100"/>
              <a:buChar char="○"/>
            </a:pPr>
            <a:r>
              <a:rPr lang="en"/>
              <a:t>etc.</a:t>
            </a:r>
            <a:endParaRPr/>
          </a:p>
        </p:txBody>
      </p:sp>
      <p:sp>
        <p:nvSpPr>
          <p:cNvPr id="594" name="Google Shape;594;p41"/>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95" name="Google Shape;595;p4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 </a:t>
            </a:r>
            <a:r>
              <a:rPr b="1" i="1" lang="en">
                <a:solidFill>
                  <a:srgbClr val="FF0000"/>
                </a:solidFill>
              </a:rPr>
              <a:t>social network</a:t>
            </a:r>
            <a:r>
              <a:rPr lang="en"/>
              <a:t> is a great example of a graph. Each </a:t>
            </a:r>
            <a:r>
              <a:rPr b="1" i="1" lang="en">
                <a:solidFill>
                  <a:srgbClr val="FF0000"/>
                </a:solidFill>
              </a:rPr>
              <a:t>vertex</a:t>
            </a:r>
            <a:r>
              <a:rPr lang="en">
                <a:solidFill>
                  <a:srgbClr val="FF0000"/>
                </a:solidFill>
              </a:rPr>
              <a:t> </a:t>
            </a:r>
            <a:r>
              <a:rPr lang="en"/>
              <a:t>represents a </a:t>
            </a:r>
            <a:r>
              <a:rPr b="1" i="1" lang="en">
                <a:solidFill>
                  <a:srgbClr val="FF0000"/>
                </a:solidFill>
              </a:rPr>
              <a:t>person </a:t>
            </a:r>
            <a:r>
              <a:rPr lang="en"/>
              <a:t>in the network. The </a:t>
            </a:r>
            <a:r>
              <a:rPr b="1" i="1" lang="en">
                <a:solidFill>
                  <a:srgbClr val="FF0000"/>
                </a:solidFill>
              </a:rPr>
              <a:t>edges</a:t>
            </a:r>
            <a:r>
              <a:rPr lang="en">
                <a:solidFill>
                  <a:srgbClr val="FF0000"/>
                </a:solidFill>
              </a:rPr>
              <a:t> </a:t>
            </a:r>
            <a:r>
              <a:rPr lang="en"/>
              <a:t>indicate whether or not the people </a:t>
            </a:r>
            <a:r>
              <a:rPr b="1" i="1" lang="en">
                <a:solidFill>
                  <a:srgbClr val="FF0000"/>
                </a:solidFill>
              </a:rPr>
              <a:t>follow </a:t>
            </a:r>
            <a:r>
              <a:rPr lang="en"/>
              <a:t>each other.</a:t>
            </a:r>
            <a:endParaRPr/>
          </a:p>
        </p:txBody>
      </p:sp>
      <p:grpSp>
        <p:nvGrpSpPr>
          <p:cNvPr id="596" name="Google Shape;596;p41"/>
          <p:cNvGrpSpPr/>
          <p:nvPr/>
        </p:nvGrpSpPr>
        <p:grpSpPr>
          <a:xfrm>
            <a:off x="589729" y="793934"/>
            <a:ext cx="3107624" cy="3053808"/>
            <a:chOff x="589729" y="793934"/>
            <a:chExt cx="3107624" cy="3053808"/>
          </a:xfrm>
        </p:grpSpPr>
        <p:sp>
          <p:nvSpPr>
            <p:cNvPr id="597" name="Google Shape;597;p41"/>
            <p:cNvSpPr/>
            <p:nvPr/>
          </p:nvSpPr>
          <p:spPr>
            <a:xfrm>
              <a:off x="3150176" y="3075482"/>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8" name="Google Shape;598;p41"/>
            <p:cNvSpPr/>
            <p:nvPr/>
          </p:nvSpPr>
          <p:spPr>
            <a:xfrm>
              <a:off x="3379953" y="2575247"/>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p41"/>
            <p:cNvSpPr/>
            <p:nvPr/>
          </p:nvSpPr>
          <p:spPr>
            <a:xfrm>
              <a:off x="3329513" y="1951754"/>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0" name="Google Shape;600;p41"/>
            <p:cNvSpPr/>
            <p:nvPr/>
          </p:nvSpPr>
          <p:spPr>
            <a:xfrm>
              <a:off x="2985846" y="1553777"/>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01" name="Google Shape;601;p41"/>
            <p:cNvCxnSpPr>
              <a:stCxn id="602" idx="1"/>
              <a:endCxn id="603" idx="5"/>
            </p:cNvCxnSpPr>
            <p:nvPr/>
          </p:nvCxnSpPr>
          <p:spPr>
            <a:xfrm rot="10800000">
              <a:off x="1093672" y="1419225"/>
              <a:ext cx="296700" cy="274800"/>
            </a:xfrm>
            <a:prstGeom prst="straightConnector1">
              <a:avLst/>
            </a:prstGeom>
            <a:noFill/>
            <a:ln cap="flat" cmpd="sng" w="19050">
              <a:solidFill>
                <a:srgbClr val="FF9900"/>
              </a:solidFill>
              <a:prstDash val="solid"/>
              <a:round/>
              <a:headEnd len="sm" w="sm" type="none"/>
              <a:tailEnd len="sm" w="sm" type="none"/>
            </a:ln>
          </p:spPr>
        </p:cxnSp>
        <p:cxnSp>
          <p:nvCxnSpPr>
            <p:cNvPr id="604" name="Google Shape;604;p41"/>
            <p:cNvCxnSpPr>
              <a:endCxn id="605" idx="4"/>
            </p:cNvCxnSpPr>
            <p:nvPr/>
          </p:nvCxnSpPr>
          <p:spPr>
            <a:xfrm rot="10800000">
              <a:off x="1502590" y="1148165"/>
              <a:ext cx="0" cy="499500"/>
            </a:xfrm>
            <a:prstGeom prst="straightConnector1">
              <a:avLst/>
            </a:prstGeom>
            <a:noFill/>
            <a:ln cap="flat" cmpd="sng" w="19050">
              <a:solidFill>
                <a:srgbClr val="FF9900"/>
              </a:solidFill>
              <a:prstDash val="solid"/>
              <a:round/>
              <a:headEnd len="sm" w="sm" type="none"/>
              <a:tailEnd len="sm" w="sm" type="none"/>
            </a:ln>
          </p:spPr>
        </p:cxnSp>
        <p:cxnSp>
          <p:nvCxnSpPr>
            <p:cNvPr id="606" name="Google Shape;606;p41"/>
            <p:cNvCxnSpPr>
              <a:stCxn id="602" idx="2"/>
              <a:endCxn id="607" idx="6"/>
            </p:cNvCxnSpPr>
            <p:nvPr/>
          </p:nvCxnSpPr>
          <p:spPr>
            <a:xfrm flipH="1">
              <a:off x="907090" y="1806243"/>
              <a:ext cx="436800" cy="36600"/>
            </a:xfrm>
            <a:prstGeom prst="straightConnector1">
              <a:avLst/>
            </a:prstGeom>
            <a:noFill/>
            <a:ln cap="flat" cmpd="sng" w="19050">
              <a:solidFill>
                <a:srgbClr val="FF9900"/>
              </a:solidFill>
              <a:prstDash val="solid"/>
              <a:round/>
              <a:headEnd len="sm" w="sm" type="none"/>
              <a:tailEnd len="sm" w="sm" type="none"/>
            </a:ln>
          </p:spPr>
        </p:cxnSp>
        <p:cxnSp>
          <p:nvCxnSpPr>
            <p:cNvPr id="608" name="Google Shape;608;p41"/>
            <p:cNvCxnSpPr>
              <a:stCxn id="602" idx="3"/>
              <a:endCxn id="609" idx="7"/>
            </p:cNvCxnSpPr>
            <p:nvPr/>
          </p:nvCxnSpPr>
          <p:spPr>
            <a:xfrm flipH="1">
              <a:off x="1135972" y="1918461"/>
              <a:ext cx="254400" cy="348300"/>
            </a:xfrm>
            <a:prstGeom prst="straightConnector1">
              <a:avLst/>
            </a:prstGeom>
            <a:noFill/>
            <a:ln cap="flat" cmpd="sng" w="19050">
              <a:solidFill>
                <a:srgbClr val="FF9900"/>
              </a:solidFill>
              <a:prstDash val="solid"/>
              <a:round/>
              <a:headEnd len="sm" w="sm" type="none"/>
              <a:tailEnd len="sm" w="sm" type="none"/>
            </a:ln>
          </p:spPr>
        </p:cxnSp>
        <p:cxnSp>
          <p:nvCxnSpPr>
            <p:cNvPr id="610" name="Google Shape;610;p41"/>
            <p:cNvCxnSpPr>
              <a:stCxn id="611" idx="2"/>
              <a:endCxn id="612" idx="6"/>
            </p:cNvCxnSpPr>
            <p:nvPr/>
          </p:nvCxnSpPr>
          <p:spPr>
            <a:xfrm flipH="1">
              <a:off x="991243" y="2784695"/>
              <a:ext cx="430200" cy="79800"/>
            </a:xfrm>
            <a:prstGeom prst="straightConnector1">
              <a:avLst/>
            </a:prstGeom>
            <a:noFill/>
            <a:ln cap="flat" cmpd="sng" w="19050">
              <a:solidFill>
                <a:srgbClr val="FF9900"/>
              </a:solidFill>
              <a:prstDash val="solid"/>
              <a:round/>
              <a:headEnd len="sm" w="sm" type="none"/>
              <a:tailEnd len="sm" w="sm" type="none"/>
            </a:ln>
          </p:spPr>
        </p:cxnSp>
        <p:cxnSp>
          <p:nvCxnSpPr>
            <p:cNvPr id="613" name="Google Shape;613;p41"/>
            <p:cNvCxnSpPr>
              <a:stCxn id="611" idx="4"/>
              <a:endCxn id="614" idx="0"/>
            </p:cNvCxnSpPr>
            <p:nvPr/>
          </p:nvCxnSpPr>
          <p:spPr>
            <a:xfrm flipH="1">
              <a:off x="1407643" y="2943395"/>
              <a:ext cx="172500" cy="390300"/>
            </a:xfrm>
            <a:prstGeom prst="straightConnector1">
              <a:avLst/>
            </a:prstGeom>
            <a:noFill/>
            <a:ln cap="flat" cmpd="sng" w="19050">
              <a:solidFill>
                <a:srgbClr val="FF9900"/>
              </a:solidFill>
              <a:prstDash val="solid"/>
              <a:round/>
              <a:headEnd len="sm" w="sm" type="none"/>
              <a:tailEnd len="sm" w="sm" type="none"/>
            </a:ln>
          </p:spPr>
        </p:cxnSp>
        <p:cxnSp>
          <p:nvCxnSpPr>
            <p:cNvPr id="615" name="Google Shape;615;p41"/>
            <p:cNvCxnSpPr>
              <a:stCxn id="616" idx="4"/>
              <a:endCxn id="617" idx="0"/>
            </p:cNvCxnSpPr>
            <p:nvPr/>
          </p:nvCxnSpPr>
          <p:spPr>
            <a:xfrm flipH="1">
              <a:off x="2276036" y="3150258"/>
              <a:ext cx="78300" cy="380100"/>
            </a:xfrm>
            <a:prstGeom prst="straightConnector1">
              <a:avLst/>
            </a:prstGeom>
            <a:noFill/>
            <a:ln cap="flat" cmpd="sng" w="19050">
              <a:solidFill>
                <a:srgbClr val="FF9900"/>
              </a:solidFill>
              <a:prstDash val="solid"/>
              <a:round/>
              <a:headEnd len="sm" w="sm" type="none"/>
              <a:tailEnd len="sm" w="sm" type="none"/>
            </a:ln>
          </p:spPr>
        </p:cxnSp>
        <p:cxnSp>
          <p:nvCxnSpPr>
            <p:cNvPr id="618" name="Google Shape;618;p41"/>
            <p:cNvCxnSpPr>
              <a:stCxn id="616" idx="5"/>
              <a:endCxn id="619" idx="1"/>
            </p:cNvCxnSpPr>
            <p:nvPr/>
          </p:nvCxnSpPr>
          <p:spPr>
            <a:xfrm>
              <a:off x="2466554" y="3103776"/>
              <a:ext cx="298200" cy="335700"/>
            </a:xfrm>
            <a:prstGeom prst="straightConnector1">
              <a:avLst/>
            </a:prstGeom>
            <a:noFill/>
            <a:ln cap="flat" cmpd="sng" w="19050">
              <a:solidFill>
                <a:srgbClr val="FF9900"/>
              </a:solidFill>
              <a:prstDash val="solid"/>
              <a:round/>
              <a:headEnd len="sm" w="sm" type="none"/>
              <a:tailEnd len="sm" w="sm" type="none"/>
            </a:ln>
          </p:spPr>
        </p:cxnSp>
        <p:cxnSp>
          <p:nvCxnSpPr>
            <p:cNvPr id="620" name="Google Shape;620;p41"/>
            <p:cNvCxnSpPr>
              <a:stCxn id="621" idx="4"/>
              <a:endCxn id="597" idx="1"/>
            </p:cNvCxnSpPr>
            <p:nvPr/>
          </p:nvCxnSpPr>
          <p:spPr>
            <a:xfrm>
              <a:off x="2784121" y="2667131"/>
              <a:ext cx="412500" cy="454800"/>
            </a:xfrm>
            <a:prstGeom prst="straightConnector1">
              <a:avLst/>
            </a:prstGeom>
            <a:noFill/>
            <a:ln cap="flat" cmpd="sng" w="19050">
              <a:solidFill>
                <a:srgbClr val="FF9900"/>
              </a:solidFill>
              <a:prstDash val="solid"/>
              <a:round/>
              <a:headEnd len="sm" w="sm" type="none"/>
              <a:tailEnd len="sm" w="sm" type="none"/>
            </a:ln>
          </p:spPr>
        </p:cxnSp>
        <p:cxnSp>
          <p:nvCxnSpPr>
            <p:cNvPr id="622" name="Google Shape;622;p41"/>
            <p:cNvCxnSpPr>
              <a:stCxn id="621" idx="6"/>
              <a:endCxn id="598" idx="2"/>
            </p:cNvCxnSpPr>
            <p:nvPr/>
          </p:nvCxnSpPr>
          <p:spPr>
            <a:xfrm>
              <a:off x="2942821" y="2508431"/>
              <a:ext cx="437100" cy="225600"/>
            </a:xfrm>
            <a:prstGeom prst="straightConnector1">
              <a:avLst/>
            </a:prstGeom>
            <a:noFill/>
            <a:ln cap="flat" cmpd="sng" w="19050">
              <a:solidFill>
                <a:srgbClr val="FF9900"/>
              </a:solidFill>
              <a:prstDash val="solid"/>
              <a:round/>
              <a:headEnd len="sm" w="sm" type="none"/>
              <a:tailEnd len="sm" w="sm" type="none"/>
            </a:ln>
          </p:spPr>
        </p:cxnSp>
        <p:cxnSp>
          <p:nvCxnSpPr>
            <p:cNvPr id="623" name="Google Shape;623;p41"/>
            <p:cNvCxnSpPr>
              <a:stCxn id="621" idx="7"/>
              <a:endCxn id="599" idx="2"/>
            </p:cNvCxnSpPr>
            <p:nvPr/>
          </p:nvCxnSpPr>
          <p:spPr>
            <a:xfrm flipH="1" rot="10800000">
              <a:off x="2896339" y="2110313"/>
              <a:ext cx="433200" cy="285900"/>
            </a:xfrm>
            <a:prstGeom prst="straightConnector1">
              <a:avLst/>
            </a:prstGeom>
            <a:noFill/>
            <a:ln cap="flat" cmpd="sng" w="19050">
              <a:solidFill>
                <a:srgbClr val="FF9900"/>
              </a:solidFill>
              <a:prstDash val="solid"/>
              <a:round/>
              <a:headEnd len="sm" w="sm" type="none"/>
              <a:tailEnd len="sm" w="sm" type="none"/>
            </a:ln>
          </p:spPr>
        </p:cxnSp>
        <p:cxnSp>
          <p:nvCxnSpPr>
            <p:cNvPr id="624" name="Google Shape;624;p41"/>
            <p:cNvCxnSpPr>
              <a:stCxn id="621" idx="0"/>
              <a:endCxn id="600" idx="4"/>
            </p:cNvCxnSpPr>
            <p:nvPr/>
          </p:nvCxnSpPr>
          <p:spPr>
            <a:xfrm flipH="1" rot="10800000">
              <a:off x="2784121" y="1871231"/>
              <a:ext cx="360300" cy="478500"/>
            </a:xfrm>
            <a:prstGeom prst="straightConnector1">
              <a:avLst/>
            </a:prstGeom>
            <a:noFill/>
            <a:ln cap="flat" cmpd="sng" w="19050">
              <a:solidFill>
                <a:srgbClr val="FF9900"/>
              </a:solidFill>
              <a:prstDash val="solid"/>
              <a:round/>
              <a:headEnd len="sm" w="sm" type="none"/>
              <a:tailEnd len="sm" w="sm" type="none"/>
            </a:ln>
          </p:spPr>
        </p:cxnSp>
        <p:cxnSp>
          <p:nvCxnSpPr>
            <p:cNvPr id="625" name="Google Shape;625;p41"/>
            <p:cNvCxnSpPr>
              <a:stCxn id="626" idx="0"/>
              <a:endCxn id="627" idx="4"/>
            </p:cNvCxnSpPr>
            <p:nvPr/>
          </p:nvCxnSpPr>
          <p:spPr>
            <a:xfrm flipH="1" rot="10800000">
              <a:off x="2646843" y="1275210"/>
              <a:ext cx="180300" cy="345600"/>
            </a:xfrm>
            <a:prstGeom prst="straightConnector1">
              <a:avLst/>
            </a:prstGeom>
            <a:noFill/>
            <a:ln cap="flat" cmpd="sng" w="19050">
              <a:solidFill>
                <a:srgbClr val="FF9900"/>
              </a:solidFill>
              <a:prstDash val="solid"/>
              <a:round/>
              <a:headEnd len="sm" w="sm" type="none"/>
              <a:tailEnd len="sm" w="sm" type="none"/>
            </a:ln>
          </p:spPr>
        </p:cxnSp>
        <p:cxnSp>
          <p:nvCxnSpPr>
            <p:cNvPr id="628" name="Google Shape;628;p41"/>
            <p:cNvCxnSpPr>
              <a:stCxn id="602" idx="7"/>
              <a:endCxn id="629" idx="3"/>
            </p:cNvCxnSpPr>
            <p:nvPr/>
          </p:nvCxnSpPr>
          <p:spPr>
            <a:xfrm flipH="1" rot="10800000">
              <a:off x="1614808" y="1064925"/>
              <a:ext cx="462900" cy="629100"/>
            </a:xfrm>
            <a:prstGeom prst="straightConnector1">
              <a:avLst/>
            </a:prstGeom>
            <a:noFill/>
            <a:ln cap="flat" cmpd="sng" w="19050">
              <a:solidFill>
                <a:srgbClr val="FF9900"/>
              </a:solidFill>
              <a:prstDash val="solid"/>
              <a:round/>
              <a:headEnd len="sm" w="sm" type="none"/>
              <a:tailEnd len="sm" w="sm" type="none"/>
            </a:ln>
          </p:spPr>
        </p:cxnSp>
        <p:cxnSp>
          <p:nvCxnSpPr>
            <p:cNvPr id="630" name="Google Shape;630;p41"/>
            <p:cNvCxnSpPr>
              <a:stCxn id="612" idx="7"/>
              <a:endCxn id="609" idx="4"/>
            </p:cNvCxnSpPr>
            <p:nvPr/>
          </p:nvCxnSpPr>
          <p:spPr>
            <a:xfrm flipH="1" rot="10800000">
              <a:off x="944644" y="2537577"/>
              <a:ext cx="79200" cy="214800"/>
            </a:xfrm>
            <a:prstGeom prst="straightConnector1">
              <a:avLst/>
            </a:prstGeom>
            <a:noFill/>
            <a:ln cap="flat" cmpd="sng" w="19050">
              <a:solidFill>
                <a:srgbClr val="EA9999"/>
              </a:solidFill>
              <a:prstDash val="solid"/>
              <a:round/>
              <a:headEnd len="sm" w="sm" type="none"/>
              <a:tailEnd len="sm" w="sm" type="none"/>
            </a:ln>
          </p:spPr>
        </p:cxnSp>
        <p:cxnSp>
          <p:nvCxnSpPr>
            <p:cNvPr id="631" name="Google Shape;631;p41"/>
            <p:cNvCxnSpPr>
              <a:stCxn id="611" idx="6"/>
              <a:endCxn id="616" idx="2"/>
            </p:cNvCxnSpPr>
            <p:nvPr/>
          </p:nvCxnSpPr>
          <p:spPr>
            <a:xfrm>
              <a:off x="1738843" y="2784695"/>
              <a:ext cx="456900" cy="207000"/>
            </a:xfrm>
            <a:prstGeom prst="straightConnector1">
              <a:avLst/>
            </a:prstGeom>
            <a:noFill/>
            <a:ln cap="flat" cmpd="sng" w="19050">
              <a:solidFill>
                <a:srgbClr val="FF9900"/>
              </a:solidFill>
              <a:prstDash val="solid"/>
              <a:round/>
              <a:headEnd len="sm" w="sm" type="none"/>
              <a:tailEnd len="sm" w="sm" type="none"/>
            </a:ln>
          </p:spPr>
        </p:cxnSp>
        <p:grpSp>
          <p:nvGrpSpPr>
            <p:cNvPr id="632" name="Google Shape;632;p41"/>
            <p:cNvGrpSpPr/>
            <p:nvPr/>
          </p:nvGrpSpPr>
          <p:grpSpPr>
            <a:xfrm>
              <a:off x="748429" y="952655"/>
              <a:ext cx="2678006" cy="2736346"/>
              <a:chOff x="4912314" y="756712"/>
              <a:chExt cx="3251981" cy="3322825"/>
            </a:xfrm>
          </p:grpSpPr>
          <p:cxnSp>
            <p:nvCxnSpPr>
              <p:cNvPr id="633" name="Google Shape;633;p41"/>
              <p:cNvCxnSpPr>
                <a:stCxn id="603" idx="4"/>
                <a:endCxn id="607" idx="7"/>
              </p:cNvCxnSpPr>
              <p:nvPr/>
            </p:nvCxnSpPr>
            <p:spPr>
              <a:xfrm flipH="1">
                <a:off x="5048439" y="1379626"/>
                <a:ext cx="146700" cy="321900"/>
              </a:xfrm>
              <a:prstGeom prst="straightConnector1">
                <a:avLst/>
              </a:prstGeom>
              <a:noFill/>
              <a:ln cap="flat" cmpd="sng" w="19050">
                <a:solidFill>
                  <a:srgbClr val="FFFF00"/>
                </a:solidFill>
                <a:prstDash val="solid"/>
                <a:round/>
                <a:headEnd len="sm" w="sm" type="none"/>
                <a:tailEnd len="sm" w="sm" type="none"/>
              </a:ln>
            </p:spPr>
          </p:cxnSp>
          <p:cxnSp>
            <p:nvCxnSpPr>
              <p:cNvPr id="634" name="Google Shape;634;p41"/>
              <p:cNvCxnSpPr>
                <a:stCxn id="605" idx="6"/>
                <a:endCxn id="629" idx="2"/>
              </p:cNvCxnSpPr>
              <p:nvPr/>
            </p:nvCxnSpPr>
            <p:spPr>
              <a:xfrm flipH="1" rot="10800000">
                <a:off x="6020828" y="756712"/>
                <a:ext cx="449400" cy="44700"/>
              </a:xfrm>
              <a:prstGeom prst="straightConnector1">
                <a:avLst/>
              </a:prstGeom>
              <a:noFill/>
              <a:ln cap="flat" cmpd="sng" w="19050">
                <a:solidFill>
                  <a:srgbClr val="FFFF00"/>
                </a:solidFill>
                <a:prstDash val="solid"/>
                <a:round/>
                <a:headEnd len="sm" w="sm" type="none"/>
                <a:tailEnd len="sm" w="sm" type="none"/>
              </a:ln>
            </p:spPr>
          </p:cxnSp>
          <p:cxnSp>
            <p:nvCxnSpPr>
              <p:cNvPr id="635" name="Google Shape;635;p41"/>
              <p:cNvCxnSpPr>
                <a:stCxn id="605" idx="5"/>
                <a:endCxn id="626" idx="1"/>
              </p:cNvCxnSpPr>
              <p:nvPr/>
            </p:nvCxnSpPr>
            <p:spPr>
              <a:xfrm>
                <a:off x="5964383" y="937682"/>
                <a:ext cx="1116900" cy="686700"/>
              </a:xfrm>
              <a:prstGeom prst="straightConnector1">
                <a:avLst/>
              </a:prstGeom>
              <a:noFill/>
              <a:ln cap="flat" cmpd="sng" w="19050">
                <a:solidFill>
                  <a:srgbClr val="FFFF00"/>
                </a:solidFill>
                <a:prstDash val="solid"/>
                <a:round/>
                <a:headEnd len="sm" w="sm" type="none"/>
                <a:tailEnd len="sm" w="sm" type="none"/>
              </a:ln>
            </p:spPr>
          </p:cxnSp>
          <p:cxnSp>
            <p:nvCxnSpPr>
              <p:cNvPr id="636" name="Google Shape;636;p41"/>
              <p:cNvCxnSpPr>
                <a:stCxn id="605" idx="3"/>
                <a:endCxn id="609" idx="0"/>
              </p:cNvCxnSpPr>
              <p:nvPr/>
            </p:nvCxnSpPr>
            <p:spPr>
              <a:xfrm flipH="1">
                <a:off x="5246644" y="937682"/>
                <a:ext cx="445200" cy="1358100"/>
              </a:xfrm>
              <a:prstGeom prst="straightConnector1">
                <a:avLst/>
              </a:prstGeom>
              <a:noFill/>
              <a:ln cap="flat" cmpd="sng" w="19050">
                <a:solidFill>
                  <a:srgbClr val="FFFF00"/>
                </a:solidFill>
                <a:prstDash val="solid"/>
                <a:round/>
                <a:headEnd len="sm" w="sm" type="none"/>
                <a:tailEnd len="sm" w="sm" type="none"/>
              </a:ln>
            </p:spPr>
          </p:cxnSp>
          <p:cxnSp>
            <p:nvCxnSpPr>
              <p:cNvPr id="637" name="Google Shape;637;p41"/>
              <p:cNvCxnSpPr>
                <a:stCxn id="612" idx="0"/>
                <a:endCxn id="607" idx="4"/>
              </p:cNvCxnSpPr>
              <p:nvPr/>
            </p:nvCxnSpPr>
            <p:spPr>
              <a:xfrm rot="10800000">
                <a:off x="4912314" y="2030424"/>
                <a:ext cx="102000" cy="855300"/>
              </a:xfrm>
              <a:prstGeom prst="straightConnector1">
                <a:avLst/>
              </a:prstGeom>
              <a:noFill/>
              <a:ln cap="flat" cmpd="sng" w="19050">
                <a:solidFill>
                  <a:srgbClr val="FFFF00"/>
                </a:solidFill>
                <a:prstDash val="solid"/>
                <a:round/>
                <a:headEnd len="sm" w="sm" type="none"/>
                <a:tailEnd len="sm" w="sm" type="none"/>
              </a:ln>
            </p:spPr>
          </p:cxnSp>
          <p:cxnSp>
            <p:nvCxnSpPr>
              <p:cNvPr id="638" name="Google Shape;638;p41"/>
              <p:cNvCxnSpPr>
                <a:stCxn id="617" idx="1"/>
                <a:endCxn id="611" idx="5"/>
              </p:cNvCxnSpPr>
              <p:nvPr/>
            </p:nvCxnSpPr>
            <p:spPr>
              <a:xfrm rot="10800000">
                <a:off x="6058519" y="3117718"/>
                <a:ext cx="572400" cy="825600"/>
              </a:xfrm>
              <a:prstGeom prst="straightConnector1">
                <a:avLst/>
              </a:prstGeom>
              <a:noFill/>
              <a:ln cap="flat" cmpd="sng" w="19050">
                <a:solidFill>
                  <a:srgbClr val="FFFF00"/>
                </a:solidFill>
                <a:prstDash val="solid"/>
                <a:round/>
                <a:headEnd len="sm" w="sm" type="none"/>
                <a:tailEnd len="sm" w="sm" type="none"/>
              </a:ln>
            </p:spPr>
          </p:cxnSp>
          <p:cxnSp>
            <p:nvCxnSpPr>
              <p:cNvPr id="639" name="Google Shape;639;p41"/>
              <p:cNvCxnSpPr>
                <a:stCxn id="617" idx="7"/>
                <a:endCxn id="621" idx="3"/>
              </p:cNvCxnSpPr>
              <p:nvPr/>
            </p:nvCxnSpPr>
            <p:spPr>
              <a:xfrm flipH="1" rot="10800000">
                <a:off x="6903458" y="2782318"/>
                <a:ext cx="344700" cy="1161000"/>
              </a:xfrm>
              <a:prstGeom prst="straightConnector1">
                <a:avLst/>
              </a:prstGeom>
              <a:noFill/>
              <a:ln cap="flat" cmpd="sng" w="19050">
                <a:solidFill>
                  <a:srgbClr val="FFFF00"/>
                </a:solidFill>
                <a:prstDash val="solid"/>
                <a:round/>
                <a:headEnd len="sm" w="sm" type="none"/>
                <a:tailEnd len="sm" w="sm" type="none"/>
              </a:ln>
            </p:spPr>
          </p:cxnSp>
          <p:cxnSp>
            <p:nvCxnSpPr>
              <p:cNvPr id="640" name="Google Shape;640;p41"/>
              <p:cNvCxnSpPr>
                <a:stCxn id="616" idx="6"/>
                <a:endCxn id="597" idx="2"/>
              </p:cNvCxnSpPr>
              <p:nvPr/>
            </p:nvCxnSpPr>
            <p:spPr>
              <a:xfrm>
                <a:off x="7055128" y="3232613"/>
                <a:ext cx="773700" cy="294600"/>
              </a:xfrm>
              <a:prstGeom prst="straightConnector1">
                <a:avLst/>
              </a:prstGeom>
              <a:noFill/>
              <a:ln cap="flat" cmpd="sng" w="19050">
                <a:solidFill>
                  <a:srgbClr val="FFFF00"/>
                </a:solidFill>
                <a:prstDash val="solid"/>
                <a:round/>
                <a:headEnd len="sm" w="sm" type="none"/>
                <a:tailEnd len="sm" w="sm" type="none"/>
              </a:ln>
            </p:spPr>
          </p:cxnSp>
          <p:cxnSp>
            <p:nvCxnSpPr>
              <p:cNvPr id="641" name="Google Shape;641;p41"/>
              <p:cNvCxnSpPr>
                <a:stCxn id="614" idx="6"/>
                <a:endCxn id="617" idx="2"/>
              </p:cNvCxnSpPr>
              <p:nvPr/>
            </p:nvCxnSpPr>
            <p:spPr>
              <a:xfrm>
                <a:off x="5905428" y="3840738"/>
                <a:ext cx="669000" cy="238800"/>
              </a:xfrm>
              <a:prstGeom prst="straightConnector1">
                <a:avLst/>
              </a:prstGeom>
              <a:noFill/>
              <a:ln cap="flat" cmpd="sng" w="19050">
                <a:solidFill>
                  <a:srgbClr val="FFFF00"/>
                </a:solidFill>
                <a:prstDash val="solid"/>
                <a:round/>
                <a:headEnd len="sm" w="sm" type="none"/>
                <a:tailEnd len="sm" w="sm" type="none"/>
              </a:ln>
            </p:spPr>
          </p:cxnSp>
          <p:cxnSp>
            <p:nvCxnSpPr>
              <p:cNvPr id="642" name="Google Shape;642;p41"/>
              <p:cNvCxnSpPr>
                <a:stCxn id="627" idx="5"/>
                <a:endCxn id="600" idx="0"/>
              </p:cNvCxnSpPr>
              <p:nvPr/>
            </p:nvCxnSpPr>
            <p:spPr>
              <a:xfrm>
                <a:off x="7572759" y="1091857"/>
                <a:ext cx="249300" cy="394800"/>
              </a:xfrm>
              <a:prstGeom prst="straightConnector1">
                <a:avLst/>
              </a:prstGeom>
              <a:noFill/>
              <a:ln cap="flat" cmpd="sng" w="19050">
                <a:solidFill>
                  <a:srgbClr val="FFFF00"/>
                </a:solidFill>
                <a:prstDash val="solid"/>
                <a:round/>
                <a:headEnd len="sm" w="sm" type="none"/>
                <a:tailEnd len="sm" w="sm" type="none"/>
              </a:ln>
            </p:spPr>
          </p:cxnSp>
          <p:cxnSp>
            <p:nvCxnSpPr>
              <p:cNvPr id="643" name="Google Shape;643;p41"/>
              <p:cNvCxnSpPr>
                <a:stCxn id="627" idx="2"/>
                <a:endCxn id="609" idx="6"/>
              </p:cNvCxnSpPr>
              <p:nvPr/>
            </p:nvCxnSpPr>
            <p:spPr>
              <a:xfrm flipH="1">
                <a:off x="5439575" y="955587"/>
                <a:ext cx="1804200" cy="1533000"/>
              </a:xfrm>
              <a:prstGeom prst="straightConnector1">
                <a:avLst/>
              </a:prstGeom>
              <a:noFill/>
              <a:ln cap="flat" cmpd="sng" w="19050">
                <a:solidFill>
                  <a:srgbClr val="FFFF00"/>
                </a:solidFill>
                <a:prstDash val="solid"/>
                <a:round/>
                <a:headEnd len="sm" w="sm" type="none"/>
                <a:tailEnd len="sm" w="sm" type="none"/>
              </a:ln>
            </p:spPr>
          </p:cxnSp>
          <p:cxnSp>
            <p:nvCxnSpPr>
              <p:cNvPr id="644" name="Google Shape;644;p41"/>
              <p:cNvCxnSpPr>
                <a:stCxn id="600" idx="4"/>
                <a:endCxn id="597" idx="0"/>
              </p:cNvCxnSpPr>
              <p:nvPr/>
            </p:nvCxnSpPr>
            <p:spPr>
              <a:xfrm>
                <a:off x="7821989" y="1872101"/>
                <a:ext cx="199500" cy="1462500"/>
              </a:xfrm>
              <a:prstGeom prst="straightConnector1">
                <a:avLst/>
              </a:prstGeom>
              <a:noFill/>
              <a:ln cap="flat" cmpd="sng" w="19050">
                <a:solidFill>
                  <a:srgbClr val="FFFF00"/>
                </a:solidFill>
                <a:prstDash val="solid"/>
                <a:round/>
                <a:headEnd len="sm" w="sm" type="none"/>
                <a:tailEnd len="sm" w="sm" type="none"/>
              </a:ln>
            </p:spPr>
          </p:cxnSp>
          <p:cxnSp>
            <p:nvCxnSpPr>
              <p:cNvPr id="645" name="Google Shape;645;p41"/>
              <p:cNvCxnSpPr>
                <a:stCxn id="598" idx="1"/>
                <a:endCxn id="626" idx="5"/>
              </p:cNvCxnSpPr>
              <p:nvPr/>
            </p:nvCxnSpPr>
            <p:spPr>
              <a:xfrm rot="10800000">
                <a:off x="7353995" y="1897019"/>
                <a:ext cx="810300" cy="886500"/>
              </a:xfrm>
              <a:prstGeom prst="straightConnector1">
                <a:avLst/>
              </a:prstGeom>
              <a:noFill/>
              <a:ln cap="flat" cmpd="sng" w="19050">
                <a:solidFill>
                  <a:srgbClr val="FFFF00"/>
                </a:solidFill>
                <a:prstDash val="solid"/>
                <a:round/>
                <a:headEnd len="sm" w="sm" type="none"/>
                <a:tailEnd len="sm" w="sm" type="none"/>
              </a:ln>
            </p:spPr>
          </p:cxnSp>
          <p:cxnSp>
            <p:nvCxnSpPr>
              <p:cNvPr id="646" name="Google Shape;646;p41"/>
              <p:cNvCxnSpPr>
                <a:stCxn id="611" idx="0"/>
                <a:endCxn id="602" idx="4"/>
              </p:cNvCxnSpPr>
              <p:nvPr/>
            </p:nvCxnSpPr>
            <p:spPr>
              <a:xfrm rot="10800000">
                <a:off x="5828089" y="1985899"/>
                <a:ext cx="94200" cy="802800"/>
              </a:xfrm>
              <a:prstGeom prst="straightConnector1">
                <a:avLst/>
              </a:prstGeom>
              <a:noFill/>
              <a:ln cap="flat" cmpd="sng" w="19050">
                <a:solidFill>
                  <a:srgbClr val="FFFF00"/>
                </a:solidFill>
                <a:prstDash val="solid"/>
                <a:round/>
                <a:headEnd len="sm" w="sm" type="none"/>
                <a:tailEnd len="sm" w="sm" type="none"/>
              </a:ln>
            </p:spPr>
          </p:cxnSp>
        </p:grpSp>
        <p:sp>
          <p:nvSpPr>
            <p:cNvPr id="612" name="Google Shape;612;p41"/>
            <p:cNvSpPr/>
            <p:nvPr/>
          </p:nvSpPr>
          <p:spPr>
            <a:xfrm>
              <a:off x="673726" y="2705895"/>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4" name="Google Shape;614;p41"/>
            <p:cNvSpPr/>
            <p:nvPr/>
          </p:nvSpPr>
          <p:spPr>
            <a:xfrm>
              <a:off x="1248858" y="3333649"/>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7" name="Google Shape;617;p41"/>
            <p:cNvSpPr/>
            <p:nvPr/>
          </p:nvSpPr>
          <p:spPr>
            <a:xfrm>
              <a:off x="2117218" y="3530342"/>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9" name="Google Shape;619;p41"/>
            <p:cNvSpPr/>
            <p:nvPr/>
          </p:nvSpPr>
          <p:spPr>
            <a:xfrm>
              <a:off x="2718415" y="3392941"/>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1"/>
            <p:cNvSpPr/>
            <p:nvPr/>
          </p:nvSpPr>
          <p:spPr>
            <a:xfrm>
              <a:off x="2668387" y="957728"/>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9" name="Google Shape;629;p41"/>
            <p:cNvSpPr/>
            <p:nvPr/>
          </p:nvSpPr>
          <p:spPr>
            <a:xfrm>
              <a:off x="2031286" y="793934"/>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5" name="Google Shape;605;p41"/>
            <p:cNvSpPr/>
            <p:nvPr/>
          </p:nvSpPr>
          <p:spPr>
            <a:xfrm>
              <a:off x="1343890" y="830765"/>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3" name="Google Shape;603;p41"/>
            <p:cNvSpPr/>
            <p:nvPr/>
          </p:nvSpPr>
          <p:spPr>
            <a:xfrm>
              <a:off x="822635" y="1148224"/>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7" name="Google Shape;607;p41"/>
            <p:cNvSpPr/>
            <p:nvPr/>
          </p:nvSpPr>
          <p:spPr>
            <a:xfrm>
              <a:off x="589729" y="1684199"/>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9" name="Google Shape;609;p41"/>
            <p:cNvSpPr/>
            <p:nvPr/>
          </p:nvSpPr>
          <p:spPr>
            <a:xfrm>
              <a:off x="865107" y="2220174"/>
              <a:ext cx="317400" cy="3174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47" name="Google Shape;647;p41"/>
            <p:cNvCxnSpPr>
              <a:stCxn id="648" idx="1"/>
              <a:endCxn id="602" idx="5"/>
            </p:cNvCxnSpPr>
            <p:nvPr/>
          </p:nvCxnSpPr>
          <p:spPr>
            <a:xfrm rot="10800000">
              <a:off x="1614745" y="1918606"/>
              <a:ext cx="356400" cy="260100"/>
            </a:xfrm>
            <a:prstGeom prst="straightConnector1">
              <a:avLst/>
            </a:prstGeom>
            <a:noFill/>
            <a:ln cap="flat" cmpd="sng" w="19050">
              <a:solidFill>
                <a:srgbClr val="6AA84F"/>
              </a:solidFill>
              <a:prstDash val="solid"/>
              <a:round/>
              <a:headEnd len="sm" w="sm" type="none"/>
              <a:tailEnd len="sm" w="sm" type="none"/>
            </a:ln>
          </p:spPr>
        </p:cxnSp>
        <p:cxnSp>
          <p:nvCxnSpPr>
            <p:cNvPr id="649" name="Google Shape;649;p41"/>
            <p:cNvCxnSpPr>
              <a:stCxn id="648" idx="7"/>
              <a:endCxn id="626" idx="3"/>
            </p:cNvCxnSpPr>
            <p:nvPr/>
          </p:nvCxnSpPr>
          <p:spPr>
            <a:xfrm flipH="1" rot="10800000">
              <a:off x="2195581" y="1891606"/>
              <a:ext cx="339000" cy="287100"/>
            </a:xfrm>
            <a:prstGeom prst="straightConnector1">
              <a:avLst/>
            </a:prstGeom>
            <a:noFill/>
            <a:ln cap="flat" cmpd="sng" w="19050">
              <a:solidFill>
                <a:srgbClr val="6AA84F"/>
              </a:solidFill>
              <a:prstDash val="solid"/>
              <a:round/>
              <a:headEnd len="sm" w="sm" type="none"/>
              <a:tailEnd len="sm" w="sm" type="none"/>
            </a:ln>
          </p:spPr>
        </p:cxnSp>
        <p:cxnSp>
          <p:nvCxnSpPr>
            <p:cNvPr id="650" name="Google Shape;650;p41"/>
            <p:cNvCxnSpPr>
              <a:stCxn id="648" idx="6"/>
              <a:endCxn id="621" idx="1"/>
            </p:cNvCxnSpPr>
            <p:nvPr/>
          </p:nvCxnSpPr>
          <p:spPr>
            <a:xfrm>
              <a:off x="2242063" y="2290924"/>
              <a:ext cx="429900" cy="105300"/>
            </a:xfrm>
            <a:prstGeom prst="straightConnector1">
              <a:avLst/>
            </a:prstGeom>
            <a:noFill/>
            <a:ln cap="flat" cmpd="sng" w="19050">
              <a:solidFill>
                <a:srgbClr val="6AA84F"/>
              </a:solidFill>
              <a:prstDash val="solid"/>
              <a:round/>
              <a:headEnd len="sm" w="sm" type="none"/>
              <a:tailEnd len="sm" w="sm" type="none"/>
            </a:ln>
          </p:spPr>
        </p:cxnSp>
        <p:cxnSp>
          <p:nvCxnSpPr>
            <p:cNvPr id="651" name="Google Shape;651;p41"/>
            <p:cNvCxnSpPr>
              <a:stCxn id="648" idx="5"/>
              <a:endCxn id="616" idx="0"/>
            </p:cNvCxnSpPr>
            <p:nvPr/>
          </p:nvCxnSpPr>
          <p:spPr>
            <a:xfrm>
              <a:off x="2195581" y="2403142"/>
              <a:ext cx="158700" cy="429600"/>
            </a:xfrm>
            <a:prstGeom prst="straightConnector1">
              <a:avLst/>
            </a:prstGeom>
            <a:noFill/>
            <a:ln cap="flat" cmpd="sng" w="19050">
              <a:solidFill>
                <a:srgbClr val="6AA84F"/>
              </a:solidFill>
              <a:prstDash val="solid"/>
              <a:round/>
              <a:headEnd len="sm" w="sm" type="none"/>
              <a:tailEnd len="sm" w="sm" type="none"/>
            </a:ln>
          </p:spPr>
        </p:cxnSp>
        <p:cxnSp>
          <p:nvCxnSpPr>
            <p:cNvPr id="652" name="Google Shape;652;p41"/>
            <p:cNvCxnSpPr>
              <a:stCxn id="648" idx="3"/>
              <a:endCxn id="611" idx="7"/>
            </p:cNvCxnSpPr>
            <p:nvPr/>
          </p:nvCxnSpPr>
          <p:spPr>
            <a:xfrm flipH="1">
              <a:off x="1692445" y="2403142"/>
              <a:ext cx="278700" cy="269400"/>
            </a:xfrm>
            <a:prstGeom prst="straightConnector1">
              <a:avLst/>
            </a:prstGeom>
            <a:noFill/>
            <a:ln cap="flat" cmpd="sng" w="19050">
              <a:solidFill>
                <a:srgbClr val="6AA84F"/>
              </a:solidFill>
              <a:prstDash val="solid"/>
              <a:round/>
              <a:headEnd len="sm" w="sm" type="none"/>
              <a:tailEnd len="sm" w="sm" type="none"/>
            </a:ln>
          </p:spPr>
        </p:cxnSp>
        <p:sp>
          <p:nvSpPr>
            <p:cNvPr id="648" name="Google Shape;648;p41"/>
            <p:cNvSpPr/>
            <p:nvPr/>
          </p:nvSpPr>
          <p:spPr>
            <a:xfrm>
              <a:off x="1924663" y="2132224"/>
              <a:ext cx="317400" cy="317400"/>
            </a:xfrm>
            <a:prstGeom prst="smileyFace">
              <a:avLst>
                <a:gd fmla="val 4653" name="adj"/>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1" name="Google Shape;621;p41"/>
            <p:cNvSpPr/>
            <p:nvPr/>
          </p:nvSpPr>
          <p:spPr>
            <a:xfrm>
              <a:off x="2625421" y="2349731"/>
              <a:ext cx="317400" cy="3174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6" name="Google Shape;616;p41"/>
            <p:cNvSpPr/>
            <p:nvPr/>
          </p:nvSpPr>
          <p:spPr>
            <a:xfrm>
              <a:off x="2195636" y="2832858"/>
              <a:ext cx="317400" cy="3174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1"/>
            <p:cNvSpPr/>
            <p:nvPr/>
          </p:nvSpPr>
          <p:spPr>
            <a:xfrm>
              <a:off x="1421443" y="2625995"/>
              <a:ext cx="317400" cy="3174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6" name="Google Shape;626;p41"/>
            <p:cNvSpPr/>
            <p:nvPr/>
          </p:nvSpPr>
          <p:spPr>
            <a:xfrm>
              <a:off x="2488143" y="1620810"/>
              <a:ext cx="317400" cy="3174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2" name="Google Shape;602;p41"/>
            <p:cNvSpPr/>
            <p:nvPr/>
          </p:nvSpPr>
          <p:spPr>
            <a:xfrm>
              <a:off x="1343890" y="1647543"/>
              <a:ext cx="317400" cy="3174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4" st="1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5" st="1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6" st="1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93">
                                            <p:txEl>
                                              <p:pRg end="17" st="1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95"/>
                                        </p:tgtEl>
                                        <p:attrNameLst>
                                          <p:attrName>style.visibility</p:attrName>
                                        </p:attrNameLst>
                                      </p:cBhvr>
                                      <p:to>
                                        <p:strVal val="visible"/>
                                      </p:to>
                                    </p:set>
                                    <p:animEffect filter="fade" transition="in">
                                      <p:cBhvr>
                                        <p:cTn dur="1000"/>
                                        <p:tgtEl>
                                          <p:spTgt spid="595"/>
                                        </p:tgtEl>
                                      </p:cBhvr>
                                    </p:animEffect>
                                  </p:childTnLst>
                                </p:cTn>
                              </p:par>
                              <p:par>
                                <p:cTn fill="hold" nodeType="withEffect" presetClass="entr" presetID="10" presetSubtype="0">
                                  <p:stCondLst>
                                    <p:cond delay="0"/>
                                  </p:stCondLst>
                                  <p:childTnLst>
                                    <p:set>
                                      <p:cBhvr>
                                        <p:cTn dur="1" fill="hold">
                                          <p:stCondLst>
                                            <p:cond delay="0"/>
                                          </p:stCondLst>
                                        </p:cTn>
                                        <p:tgtEl>
                                          <p:spTgt spid="596"/>
                                        </p:tgtEl>
                                        <p:attrNameLst>
                                          <p:attrName>style.visibility</p:attrName>
                                        </p:attrNameLst>
                                      </p:cBhvr>
                                      <p:to>
                                        <p:strVal val="visible"/>
                                      </p:to>
                                    </p:set>
                                    <p:animEffect filter="fade" transition="in">
                                      <p:cBhvr>
                                        <p:cTn dur="1000"/>
                                        <p:tgtEl>
                                          <p:spTgt spid="5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sp>
        <p:nvSpPr>
          <p:cNvPr id="657" name="Google Shape;657;p42"/>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Graphs may come in any one of many possible configurations. Look at the diagrams below. Vertices are represented as circles, and edges are lines. Which of the diagrams below represents a graph?</a:t>
            </a:r>
            <a:endParaRPr/>
          </a:p>
        </p:txBody>
      </p:sp>
      <p:sp>
        <p:nvSpPr>
          <p:cNvPr id="658" name="Google Shape;658;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59" name="Google Shape;659;p4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Graph Identification</a:t>
            </a:r>
            <a:endParaRPr/>
          </a:p>
        </p:txBody>
      </p:sp>
      <p:sp>
        <p:nvSpPr>
          <p:cNvPr id="660" name="Google Shape;660;p4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2</a:t>
            </a:r>
            <a:endParaRPr/>
          </a:p>
        </p:txBody>
      </p:sp>
      <p:sp>
        <p:nvSpPr>
          <p:cNvPr id="661" name="Google Shape;661;p42"/>
          <p:cNvSpPr/>
          <p:nvPr/>
        </p:nvSpPr>
        <p:spPr>
          <a:xfrm>
            <a:off x="1478200" y="164748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62" name="Google Shape;662;p42"/>
          <p:cNvGrpSpPr/>
          <p:nvPr/>
        </p:nvGrpSpPr>
        <p:grpSpPr>
          <a:xfrm>
            <a:off x="3472625" y="1681608"/>
            <a:ext cx="640205" cy="601260"/>
            <a:chOff x="4258750" y="1571283"/>
            <a:chExt cx="640205" cy="601260"/>
          </a:xfrm>
        </p:grpSpPr>
        <p:sp>
          <p:nvSpPr>
            <p:cNvPr id="663" name="Google Shape;663;p42"/>
            <p:cNvSpPr/>
            <p:nvPr/>
          </p:nvSpPr>
          <p:spPr>
            <a:xfrm>
              <a:off x="4258750" y="1571283"/>
              <a:ext cx="256500" cy="25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4" name="Google Shape;664;p42"/>
            <p:cNvSpPr/>
            <p:nvPr/>
          </p:nvSpPr>
          <p:spPr>
            <a:xfrm>
              <a:off x="4642455" y="1916043"/>
              <a:ext cx="256500" cy="25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5" name="Google Shape;665;p42"/>
            <p:cNvCxnSpPr>
              <a:stCxn id="663" idx="5"/>
              <a:endCxn id="664" idx="1"/>
            </p:cNvCxnSpPr>
            <p:nvPr/>
          </p:nvCxnSpPr>
          <p:spPr>
            <a:xfrm>
              <a:off x="4477686" y="1790219"/>
              <a:ext cx="202200" cy="163500"/>
            </a:xfrm>
            <a:prstGeom prst="straightConnector1">
              <a:avLst/>
            </a:prstGeom>
            <a:noFill/>
            <a:ln cap="flat" cmpd="sng" w="19050">
              <a:solidFill>
                <a:srgbClr val="000000"/>
              </a:solidFill>
              <a:prstDash val="solid"/>
              <a:round/>
              <a:headEnd len="sm" w="sm" type="none"/>
              <a:tailEnd len="sm" w="sm" type="none"/>
            </a:ln>
          </p:spPr>
        </p:cxnSp>
      </p:grpSp>
      <p:grpSp>
        <p:nvGrpSpPr>
          <p:cNvPr id="666" name="Google Shape;666;p42"/>
          <p:cNvGrpSpPr/>
          <p:nvPr/>
        </p:nvGrpSpPr>
        <p:grpSpPr>
          <a:xfrm>
            <a:off x="6506125" y="1442567"/>
            <a:ext cx="896364" cy="1301153"/>
            <a:chOff x="6887125" y="1290167"/>
            <a:chExt cx="896364" cy="1301153"/>
          </a:xfrm>
        </p:grpSpPr>
        <p:sp>
          <p:nvSpPr>
            <p:cNvPr id="667" name="Google Shape;667;p42"/>
            <p:cNvSpPr/>
            <p:nvPr/>
          </p:nvSpPr>
          <p:spPr>
            <a:xfrm>
              <a:off x="6887125" y="1290167"/>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8" name="Google Shape;668;p42"/>
            <p:cNvSpPr/>
            <p:nvPr/>
          </p:nvSpPr>
          <p:spPr>
            <a:xfrm>
              <a:off x="7277168" y="1580554"/>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69" name="Google Shape;669;p42"/>
            <p:cNvCxnSpPr>
              <a:stCxn id="667" idx="5"/>
              <a:endCxn id="668" idx="1"/>
            </p:cNvCxnSpPr>
            <p:nvPr/>
          </p:nvCxnSpPr>
          <p:spPr>
            <a:xfrm>
              <a:off x="7066115" y="1469157"/>
              <a:ext cx="241800" cy="142200"/>
            </a:xfrm>
            <a:prstGeom prst="straightConnector1">
              <a:avLst/>
            </a:prstGeom>
            <a:noFill/>
            <a:ln cap="flat" cmpd="sng" w="19050">
              <a:solidFill>
                <a:srgbClr val="000000"/>
              </a:solidFill>
              <a:prstDash val="solid"/>
              <a:round/>
              <a:headEnd len="sm" w="sm" type="none"/>
              <a:tailEnd len="sm" w="sm" type="none"/>
            </a:ln>
          </p:spPr>
        </p:cxnSp>
        <p:sp>
          <p:nvSpPr>
            <p:cNvPr id="670" name="Google Shape;670;p42"/>
            <p:cNvSpPr/>
            <p:nvPr/>
          </p:nvSpPr>
          <p:spPr>
            <a:xfrm>
              <a:off x="7543104" y="1968700"/>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1" name="Google Shape;671;p42"/>
            <p:cNvSpPr/>
            <p:nvPr/>
          </p:nvSpPr>
          <p:spPr>
            <a:xfrm>
              <a:off x="7573789" y="2381620"/>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672" name="Google Shape;672;p42"/>
            <p:cNvCxnSpPr>
              <a:stCxn id="668" idx="5"/>
              <a:endCxn id="670" idx="1"/>
            </p:cNvCxnSpPr>
            <p:nvPr/>
          </p:nvCxnSpPr>
          <p:spPr>
            <a:xfrm>
              <a:off x="7456158" y="1759544"/>
              <a:ext cx="117600" cy="240000"/>
            </a:xfrm>
            <a:prstGeom prst="straightConnector1">
              <a:avLst/>
            </a:prstGeom>
            <a:noFill/>
            <a:ln cap="flat" cmpd="sng" w="19050">
              <a:solidFill>
                <a:srgbClr val="000000"/>
              </a:solidFill>
              <a:prstDash val="solid"/>
              <a:round/>
              <a:headEnd len="sm" w="sm" type="none"/>
              <a:tailEnd len="sm" w="sm" type="none"/>
            </a:ln>
          </p:spPr>
        </p:cxnSp>
        <p:cxnSp>
          <p:nvCxnSpPr>
            <p:cNvPr id="673" name="Google Shape;673;p42"/>
            <p:cNvCxnSpPr>
              <a:stCxn id="670" idx="4"/>
              <a:endCxn id="671" idx="0"/>
            </p:cNvCxnSpPr>
            <p:nvPr/>
          </p:nvCxnSpPr>
          <p:spPr>
            <a:xfrm>
              <a:off x="7647954" y="2178400"/>
              <a:ext cx="30600" cy="203100"/>
            </a:xfrm>
            <a:prstGeom prst="straightConnector1">
              <a:avLst/>
            </a:prstGeom>
            <a:noFill/>
            <a:ln cap="flat" cmpd="sng" w="19050">
              <a:solidFill>
                <a:srgbClr val="000000"/>
              </a:solidFill>
              <a:prstDash val="solid"/>
              <a:round/>
              <a:headEnd len="sm" w="sm" type="none"/>
              <a:tailEnd len="sm" w="sm" type="none"/>
            </a:ln>
          </p:spPr>
        </p:cxnSp>
      </p:grpSp>
      <p:grpSp>
        <p:nvGrpSpPr>
          <p:cNvPr id="674" name="Google Shape;674;p42"/>
          <p:cNvGrpSpPr/>
          <p:nvPr/>
        </p:nvGrpSpPr>
        <p:grpSpPr>
          <a:xfrm>
            <a:off x="433123" y="3133031"/>
            <a:ext cx="2497068" cy="1265075"/>
            <a:chOff x="3730500" y="789700"/>
            <a:chExt cx="5334475" cy="2702575"/>
          </a:xfrm>
        </p:grpSpPr>
        <p:sp>
          <p:nvSpPr>
            <p:cNvPr id="675" name="Google Shape;675;p42"/>
            <p:cNvSpPr/>
            <p:nvPr/>
          </p:nvSpPr>
          <p:spPr>
            <a:xfrm>
              <a:off x="6203700" y="78970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676" name="Google Shape;676;p42"/>
            <p:cNvGrpSpPr/>
            <p:nvPr/>
          </p:nvGrpSpPr>
          <p:grpSpPr>
            <a:xfrm>
              <a:off x="4834650" y="1591863"/>
              <a:ext cx="3068600" cy="436512"/>
              <a:chOff x="4834650" y="1591863"/>
              <a:chExt cx="3068600" cy="436512"/>
            </a:xfrm>
          </p:grpSpPr>
          <p:sp>
            <p:nvSpPr>
              <p:cNvPr id="677" name="Google Shape;677;p42"/>
              <p:cNvSpPr/>
              <p:nvPr/>
            </p:nvSpPr>
            <p:spPr>
              <a:xfrm>
                <a:off x="7466750" y="15918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8" name="Google Shape;678;p42"/>
              <p:cNvSpPr/>
              <p:nvPr/>
            </p:nvSpPr>
            <p:spPr>
              <a:xfrm>
                <a:off x="4834650" y="159186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79" name="Google Shape;679;p42"/>
            <p:cNvGrpSpPr/>
            <p:nvPr/>
          </p:nvGrpSpPr>
          <p:grpSpPr>
            <a:xfrm>
              <a:off x="4201013" y="2149650"/>
              <a:ext cx="4458887" cy="544400"/>
              <a:chOff x="4201013" y="2149650"/>
              <a:chExt cx="4458887" cy="544400"/>
            </a:xfrm>
          </p:grpSpPr>
          <p:sp>
            <p:nvSpPr>
              <p:cNvPr id="680" name="Google Shape;680;p42"/>
              <p:cNvSpPr/>
              <p:nvPr/>
            </p:nvSpPr>
            <p:spPr>
              <a:xfrm>
                <a:off x="8223400" y="22575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1" name="Google Shape;681;p42"/>
              <p:cNvSpPr/>
              <p:nvPr/>
            </p:nvSpPr>
            <p:spPr>
              <a:xfrm>
                <a:off x="4201013" y="21496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2" name="Google Shape;682;p42"/>
              <p:cNvSpPr/>
              <p:nvPr/>
            </p:nvSpPr>
            <p:spPr>
              <a:xfrm>
                <a:off x="5466625" y="217921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3" name="Google Shape;683;p42"/>
              <p:cNvSpPr/>
              <p:nvPr/>
            </p:nvSpPr>
            <p:spPr>
              <a:xfrm>
                <a:off x="6832789" y="22575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684" name="Google Shape;684;p42"/>
            <p:cNvGrpSpPr/>
            <p:nvPr/>
          </p:nvGrpSpPr>
          <p:grpSpPr>
            <a:xfrm>
              <a:off x="5052924" y="1162276"/>
              <a:ext cx="2477652" cy="493500"/>
              <a:chOff x="5052924" y="1162276"/>
              <a:chExt cx="2477652" cy="493500"/>
            </a:xfrm>
          </p:grpSpPr>
          <p:cxnSp>
            <p:nvCxnSpPr>
              <p:cNvPr id="685" name="Google Shape;685;p42"/>
              <p:cNvCxnSpPr>
                <a:stCxn id="675" idx="5"/>
                <a:endCxn id="677" idx="1"/>
              </p:cNvCxnSpPr>
              <p:nvPr/>
            </p:nvCxnSpPr>
            <p:spPr>
              <a:xfrm>
                <a:off x="6576276" y="1162276"/>
                <a:ext cx="954300" cy="493500"/>
              </a:xfrm>
              <a:prstGeom prst="straightConnector1">
                <a:avLst/>
              </a:prstGeom>
              <a:noFill/>
              <a:ln cap="flat" cmpd="sng" w="19050">
                <a:solidFill>
                  <a:srgbClr val="000000"/>
                </a:solidFill>
                <a:prstDash val="solid"/>
                <a:round/>
                <a:headEnd len="sm" w="sm" type="none"/>
                <a:tailEnd len="sm" w="sm" type="none"/>
              </a:ln>
            </p:spPr>
          </p:cxnSp>
          <p:cxnSp>
            <p:nvCxnSpPr>
              <p:cNvPr id="686" name="Google Shape;686;p42"/>
              <p:cNvCxnSpPr>
                <a:stCxn id="675" idx="3"/>
                <a:endCxn id="678" idx="0"/>
              </p:cNvCxnSpPr>
              <p:nvPr/>
            </p:nvCxnSpPr>
            <p:spPr>
              <a:xfrm flipH="1">
                <a:off x="5052924" y="1162276"/>
                <a:ext cx="1214700" cy="429600"/>
              </a:xfrm>
              <a:prstGeom prst="straightConnector1">
                <a:avLst/>
              </a:prstGeom>
              <a:noFill/>
              <a:ln cap="flat" cmpd="sng" w="19050">
                <a:solidFill>
                  <a:srgbClr val="000000"/>
                </a:solidFill>
                <a:prstDash val="solid"/>
                <a:round/>
                <a:headEnd len="sm" w="sm" type="none"/>
                <a:tailEnd len="sm" w="sm" type="none"/>
              </a:ln>
            </p:spPr>
          </p:cxnSp>
        </p:grpSp>
        <p:grpSp>
          <p:nvGrpSpPr>
            <p:cNvPr id="687" name="Google Shape;687;p42"/>
            <p:cNvGrpSpPr/>
            <p:nvPr/>
          </p:nvGrpSpPr>
          <p:grpSpPr>
            <a:xfrm>
              <a:off x="4419174" y="1964439"/>
              <a:ext cx="3868052" cy="357012"/>
              <a:chOff x="4419174" y="1964439"/>
              <a:chExt cx="3868052" cy="357012"/>
            </a:xfrm>
          </p:grpSpPr>
          <p:cxnSp>
            <p:nvCxnSpPr>
              <p:cNvPr id="688" name="Google Shape;688;p42"/>
              <p:cNvCxnSpPr>
                <a:stCxn id="677" idx="5"/>
                <a:endCxn id="680" idx="1"/>
              </p:cNvCxnSpPr>
              <p:nvPr/>
            </p:nvCxnSpPr>
            <p:spPr>
              <a:xfrm>
                <a:off x="7839326" y="1964451"/>
                <a:ext cx="447900" cy="357000"/>
              </a:xfrm>
              <a:prstGeom prst="straightConnector1">
                <a:avLst/>
              </a:prstGeom>
              <a:noFill/>
              <a:ln cap="flat" cmpd="sng" w="19050">
                <a:solidFill>
                  <a:srgbClr val="000000"/>
                </a:solidFill>
                <a:prstDash val="solid"/>
                <a:round/>
                <a:headEnd len="sm" w="sm" type="none"/>
                <a:tailEnd len="sm" w="sm" type="none"/>
              </a:ln>
            </p:spPr>
          </p:cxnSp>
          <p:cxnSp>
            <p:nvCxnSpPr>
              <p:cNvPr id="689" name="Google Shape;689;p42"/>
              <p:cNvCxnSpPr>
                <a:stCxn id="678" idx="5"/>
                <a:endCxn id="682" idx="0"/>
              </p:cNvCxnSpPr>
              <p:nvPr/>
            </p:nvCxnSpPr>
            <p:spPr>
              <a:xfrm>
                <a:off x="5207226" y="1964439"/>
                <a:ext cx="477600" cy="214800"/>
              </a:xfrm>
              <a:prstGeom prst="straightConnector1">
                <a:avLst/>
              </a:prstGeom>
              <a:noFill/>
              <a:ln cap="flat" cmpd="sng" w="19050">
                <a:solidFill>
                  <a:srgbClr val="000000"/>
                </a:solidFill>
                <a:prstDash val="solid"/>
                <a:round/>
                <a:headEnd len="sm" w="sm" type="none"/>
                <a:tailEnd len="sm" w="sm" type="none"/>
              </a:ln>
            </p:spPr>
          </p:cxnSp>
          <p:cxnSp>
            <p:nvCxnSpPr>
              <p:cNvPr id="690" name="Google Shape;690;p42"/>
              <p:cNvCxnSpPr>
                <a:stCxn id="678" idx="3"/>
                <a:endCxn id="681" idx="0"/>
              </p:cNvCxnSpPr>
              <p:nvPr/>
            </p:nvCxnSpPr>
            <p:spPr>
              <a:xfrm flipH="1">
                <a:off x="4419174" y="1964439"/>
                <a:ext cx="479400" cy="185100"/>
              </a:xfrm>
              <a:prstGeom prst="straightConnector1">
                <a:avLst/>
              </a:prstGeom>
              <a:noFill/>
              <a:ln cap="flat" cmpd="sng" w="19050">
                <a:solidFill>
                  <a:srgbClr val="000000"/>
                </a:solidFill>
                <a:prstDash val="solid"/>
                <a:round/>
                <a:headEnd len="sm" w="sm" type="none"/>
                <a:tailEnd len="sm" w="sm" type="none"/>
              </a:ln>
            </p:spPr>
          </p:cxnSp>
          <p:cxnSp>
            <p:nvCxnSpPr>
              <p:cNvPr id="691" name="Google Shape;691;p42"/>
              <p:cNvCxnSpPr>
                <a:stCxn id="677" idx="3"/>
                <a:endCxn id="683" idx="0"/>
              </p:cNvCxnSpPr>
              <p:nvPr/>
            </p:nvCxnSpPr>
            <p:spPr>
              <a:xfrm flipH="1">
                <a:off x="7050974" y="1964451"/>
                <a:ext cx="479700" cy="293100"/>
              </a:xfrm>
              <a:prstGeom prst="straightConnector1">
                <a:avLst/>
              </a:prstGeom>
              <a:noFill/>
              <a:ln cap="flat" cmpd="sng" w="19050">
                <a:solidFill>
                  <a:srgbClr val="000000"/>
                </a:solidFill>
                <a:prstDash val="solid"/>
                <a:round/>
                <a:headEnd len="sm" w="sm" type="none"/>
                <a:tailEnd len="sm" w="sm" type="none"/>
              </a:ln>
            </p:spPr>
          </p:cxnSp>
        </p:grpSp>
        <p:grpSp>
          <p:nvGrpSpPr>
            <p:cNvPr id="692" name="Google Shape;692;p42"/>
            <p:cNvGrpSpPr/>
            <p:nvPr/>
          </p:nvGrpSpPr>
          <p:grpSpPr>
            <a:xfrm>
              <a:off x="3730500" y="3055775"/>
              <a:ext cx="5334475" cy="436500"/>
              <a:chOff x="3730500" y="3055775"/>
              <a:chExt cx="5334475" cy="436500"/>
            </a:xfrm>
          </p:grpSpPr>
          <p:sp>
            <p:nvSpPr>
              <p:cNvPr id="693" name="Google Shape;693;p42"/>
              <p:cNvSpPr/>
              <p:nvPr/>
            </p:nvSpPr>
            <p:spPr>
              <a:xfrm>
                <a:off x="373050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4" name="Google Shape;694;p42"/>
              <p:cNvSpPr/>
              <p:nvPr/>
            </p:nvSpPr>
            <p:spPr>
              <a:xfrm>
                <a:off x="45039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5" name="Google Shape;695;p42"/>
              <p:cNvSpPr/>
              <p:nvPr/>
            </p:nvSpPr>
            <p:spPr>
              <a:xfrm>
                <a:off x="5098863"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6" name="Google Shape;696;p42"/>
              <p:cNvSpPr/>
              <p:nvPr/>
            </p:nvSpPr>
            <p:spPr>
              <a:xfrm>
                <a:off x="579192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7" name="Google Shape;697;p42"/>
              <p:cNvSpPr/>
              <p:nvPr/>
            </p:nvSpPr>
            <p:spPr>
              <a:xfrm>
                <a:off x="64849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698" name="Google Shape;698;p42"/>
              <p:cNvSpPr/>
              <p:nvPr/>
            </p:nvSpPr>
            <p:spPr>
              <a:xfrm>
                <a:off x="718320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9" name="Google Shape;699;p42"/>
              <p:cNvSpPr/>
              <p:nvPr/>
            </p:nvSpPr>
            <p:spPr>
              <a:xfrm>
                <a:off x="790325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0" name="Google Shape;700;p42"/>
              <p:cNvSpPr/>
              <p:nvPr/>
            </p:nvSpPr>
            <p:spPr>
              <a:xfrm>
                <a:off x="86284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01" name="Google Shape;701;p42"/>
            <p:cNvGrpSpPr/>
            <p:nvPr/>
          </p:nvGrpSpPr>
          <p:grpSpPr>
            <a:xfrm>
              <a:off x="3948737" y="2522226"/>
              <a:ext cx="4898039" cy="533600"/>
              <a:chOff x="3948737" y="2522226"/>
              <a:chExt cx="4898039" cy="533600"/>
            </a:xfrm>
          </p:grpSpPr>
          <p:cxnSp>
            <p:nvCxnSpPr>
              <p:cNvPr id="702" name="Google Shape;702;p42"/>
              <p:cNvCxnSpPr>
                <a:stCxn id="681" idx="3"/>
                <a:endCxn id="693" idx="0"/>
              </p:cNvCxnSpPr>
              <p:nvPr/>
            </p:nvCxnSpPr>
            <p:spPr>
              <a:xfrm flipH="1">
                <a:off x="3948737" y="2522226"/>
                <a:ext cx="316200" cy="533400"/>
              </a:xfrm>
              <a:prstGeom prst="straightConnector1">
                <a:avLst/>
              </a:prstGeom>
              <a:noFill/>
              <a:ln cap="flat" cmpd="sng" w="19050">
                <a:solidFill>
                  <a:srgbClr val="000000"/>
                </a:solidFill>
                <a:prstDash val="solid"/>
                <a:round/>
                <a:headEnd len="sm" w="sm" type="none"/>
                <a:tailEnd len="sm" w="sm" type="none"/>
              </a:ln>
            </p:spPr>
          </p:cxnSp>
          <p:cxnSp>
            <p:nvCxnSpPr>
              <p:cNvPr id="703" name="Google Shape;703;p42"/>
              <p:cNvCxnSpPr>
                <a:stCxn id="681" idx="5"/>
                <a:endCxn id="694" idx="0"/>
              </p:cNvCxnSpPr>
              <p:nvPr/>
            </p:nvCxnSpPr>
            <p:spPr>
              <a:xfrm>
                <a:off x="4573589" y="2522226"/>
                <a:ext cx="148500" cy="533400"/>
              </a:xfrm>
              <a:prstGeom prst="straightConnector1">
                <a:avLst/>
              </a:prstGeom>
              <a:noFill/>
              <a:ln cap="flat" cmpd="sng" w="19050">
                <a:solidFill>
                  <a:srgbClr val="000000"/>
                </a:solidFill>
                <a:prstDash val="solid"/>
                <a:round/>
                <a:headEnd len="sm" w="sm" type="none"/>
                <a:tailEnd len="sm" w="sm" type="none"/>
              </a:ln>
            </p:spPr>
          </p:cxnSp>
          <p:cxnSp>
            <p:nvCxnSpPr>
              <p:cNvPr id="704" name="Google Shape;704;p42"/>
              <p:cNvCxnSpPr>
                <a:stCxn id="682" idx="3"/>
                <a:endCxn id="695" idx="0"/>
              </p:cNvCxnSpPr>
              <p:nvPr/>
            </p:nvCxnSpPr>
            <p:spPr>
              <a:xfrm flipH="1">
                <a:off x="5317249" y="2551789"/>
                <a:ext cx="213300" cy="504000"/>
              </a:xfrm>
              <a:prstGeom prst="straightConnector1">
                <a:avLst/>
              </a:prstGeom>
              <a:noFill/>
              <a:ln cap="flat" cmpd="sng" w="19050">
                <a:solidFill>
                  <a:srgbClr val="000000"/>
                </a:solidFill>
                <a:prstDash val="solid"/>
                <a:round/>
                <a:headEnd len="sm" w="sm" type="none"/>
                <a:tailEnd len="sm" w="sm" type="none"/>
              </a:ln>
            </p:spPr>
          </p:cxnSp>
          <p:cxnSp>
            <p:nvCxnSpPr>
              <p:cNvPr id="705" name="Google Shape;705;p42"/>
              <p:cNvCxnSpPr>
                <a:stCxn id="682" idx="5"/>
                <a:endCxn id="696" idx="0"/>
              </p:cNvCxnSpPr>
              <p:nvPr/>
            </p:nvCxnSpPr>
            <p:spPr>
              <a:xfrm>
                <a:off x="5839201" y="2551789"/>
                <a:ext cx="171000" cy="504000"/>
              </a:xfrm>
              <a:prstGeom prst="straightConnector1">
                <a:avLst/>
              </a:prstGeom>
              <a:noFill/>
              <a:ln cap="flat" cmpd="sng" w="19050">
                <a:solidFill>
                  <a:srgbClr val="000000"/>
                </a:solidFill>
                <a:prstDash val="solid"/>
                <a:round/>
                <a:headEnd len="sm" w="sm" type="none"/>
                <a:tailEnd len="sm" w="sm" type="none"/>
              </a:ln>
            </p:spPr>
          </p:cxnSp>
          <p:cxnSp>
            <p:nvCxnSpPr>
              <p:cNvPr id="706" name="Google Shape;706;p42"/>
              <p:cNvCxnSpPr>
                <a:stCxn id="683" idx="3"/>
                <a:endCxn id="697" idx="0"/>
              </p:cNvCxnSpPr>
              <p:nvPr/>
            </p:nvCxnSpPr>
            <p:spPr>
              <a:xfrm flipH="1">
                <a:off x="6703213" y="2630126"/>
                <a:ext cx="193500" cy="425700"/>
              </a:xfrm>
              <a:prstGeom prst="straightConnector1">
                <a:avLst/>
              </a:prstGeom>
              <a:noFill/>
              <a:ln cap="flat" cmpd="sng" w="19050">
                <a:solidFill>
                  <a:srgbClr val="000000"/>
                </a:solidFill>
                <a:prstDash val="solid"/>
                <a:round/>
                <a:headEnd len="sm" w="sm" type="none"/>
                <a:tailEnd len="sm" w="sm" type="none"/>
              </a:ln>
            </p:spPr>
          </p:cxnSp>
          <p:cxnSp>
            <p:nvCxnSpPr>
              <p:cNvPr id="707" name="Google Shape;707;p42"/>
              <p:cNvCxnSpPr>
                <a:stCxn id="683" idx="5"/>
                <a:endCxn id="698" idx="0"/>
              </p:cNvCxnSpPr>
              <p:nvPr/>
            </p:nvCxnSpPr>
            <p:spPr>
              <a:xfrm>
                <a:off x="7205365" y="2630126"/>
                <a:ext cx="196200" cy="425700"/>
              </a:xfrm>
              <a:prstGeom prst="straightConnector1">
                <a:avLst/>
              </a:prstGeom>
              <a:noFill/>
              <a:ln cap="flat" cmpd="sng" w="19050">
                <a:solidFill>
                  <a:srgbClr val="000000"/>
                </a:solidFill>
                <a:prstDash val="solid"/>
                <a:round/>
                <a:headEnd len="sm" w="sm" type="none"/>
                <a:tailEnd len="sm" w="sm" type="none"/>
              </a:ln>
            </p:spPr>
          </p:cxnSp>
          <p:cxnSp>
            <p:nvCxnSpPr>
              <p:cNvPr id="708" name="Google Shape;708;p42"/>
              <p:cNvCxnSpPr>
                <a:stCxn id="680" idx="3"/>
                <a:endCxn id="699" idx="0"/>
              </p:cNvCxnSpPr>
              <p:nvPr/>
            </p:nvCxnSpPr>
            <p:spPr>
              <a:xfrm flipH="1">
                <a:off x="8121424" y="2630126"/>
                <a:ext cx="165900" cy="425700"/>
              </a:xfrm>
              <a:prstGeom prst="straightConnector1">
                <a:avLst/>
              </a:prstGeom>
              <a:noFill/>
              <a:ln cap="flat" cmpd="sng" w="19050">
                <a:solidFill>
                  <a:srgbClr val="000000"/>
                </a:solidFill>
                <a:prstDash val="solid"/>
                <a:round/>
                <a:headEnd len="sm" w="sm" type="none"/>
                <a:tailEnd len="sm" w="sm" type="none"/>
              </a:ln>
            </p:spPr>
          </p:cxnSp>
          <p:cxnSp>
            <p:nvCxnSpPr>
              <p:cNvPr id="709" name="Google Shape;709;p42"/>
              <p:cNvCxnSpPr>
                <a:stCxn id="680" idx="5"/>
                <a:endCxn id="700" idx="0"/>
              </p:cNvCxnSpPr>
              <p:nvPr/>
            </p:nvCxnSpPr>
            <p:spPr>
              <a:xfrm>
                <a:off x="8595976" y="2630126"/>
                <a:ext cx="250800" cy="425700"/>
              </a:xfrm>
              <a:prstGeom prst="straightConnector1">
                <a:avLst/>
              </a:prstGeom>
              <a:noFill/>
              <a:ln cap="flat" cmpd="sng" w="19050">
                <a:solidFill>
                  <a:srgbClr val="000000"/>
                </a:solidFill>
                <a:prstDash val="solid"/>
                <a:round/>
                <a:headEnd len="sm" w="sm" type="none"/>
                <a:tailEnd len="sm" w="sm" type="none"/>
              </a:ln>
            </p:spPr>
          </p:cxnSp>
        </p:grpSp>
      </p:grpSp>
      <p:grpSp>
        <p:nvGrpSpPr>
          <p:cNvPr id="710" name="Google Shape;710;p42"/>
          <p:cNvGrpSpPr/>
          <p:nvPr/>
        </p:nvGrpSpPr>
        <p:grpSpPr>
          <a:xfrm>
            <a:off x="4002000" y="3138148"/>
            <a:ext cx="867035" cy="1107538"/>
            <a:chOff x="4394375" y="1954070"/>
            <a:chExt cx="1549107" cy="1978807"/>
          </a:xfrm>
        </p:grpSpPr>
        <p:sp>
          <p:nvSpPr>
            <p:cNvPr id="711" name="Google Shape;711;p42"/>
            <p:cNvSpPr/>
            <p:nvPr/>
          </p:nvSpPr>
          <p:spPr>
            <a:xfrm rot="-2158343">
              <a:off x="4480988" y="2944854"/>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2" name="Google Shape;712;p42"/>
            <p:cNvSpPr/>
            <p:nvPr/>
          </p:nvSpPr>
          <p:spPr>
            <a:xfrm rot="-2158343">
              <a:off x="5420195" y="24878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3" name="Google Shape;713;p42"/>
            <p:cNvSpPr/>
            <p:nvPr/>
          </p:nvSpPr>
          <p:spPr>
            <a:xfrm rot="-2158343">
              <a:off x="5249494" y="3409590"/>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4" name="Google Shape;714;p42"/>
            <p:cNvCxnSpPr>
              <a:stCxn id="711" idx="4"/>
              <a:endCxn id="713" idx="1"/>
            </p:cNvCxnSpPr>
            <p:nvPr/>
          </p:nvCxnSpPr>
          <p:spPr>
            <a:xfrm>
              <a:off x="4827575" y="3339891"/>
              <a:ext cx="424500" cy="253800"/>
            </a:xfrm>
            <a:prstGeom prst="straightConnector1">
              <a:avLst/>
            </a:prstGeom>
            <a:noFill/>
            <a:ln cap="flat" cmpd="sng" w="19050">
              <a:solidFill>
                <a:srgbClr val="000000"/>
              </a:solidFill>
              <a:prstDash val="solid"/>
              <a:round/>
              <a:headEnd len="sm" w="sm" type="none"/>
              <a:tailEnd len="sm" w="sm" type="none"/>
            </a:ln>
          </p:spPr>
        </p:cxnSp>
        <p:cxnSp>
          <p:nvCxnSpPr>
            <p:cNvPr id="715" name="Google Shape;715;p42"/>
            <p:cNvCxnSpPr>
              <a:stCxn id="711" idx="7"/>
              <a:endCxn id="716" idx="3"/>
            </p:cNvCxnSpPr>
            <p:nvPr/>
          </p:nvCxnSpPr>
          <p:spPr>
            <a:xfrm flipH="1" rot="10800000">
              <a:off x="4733584" y="2474759"/>
              <a:ext cx="147000" cy="472800"/>
            </a:xfrm>
            <a:prstGeom prst="straightConnector1">
              <a:avLst/>
            </a:prstGeom>
            <a:noFill/>
            <a:ln cap="flat" cmpd="sng" w="19050">
              <a:solidFill>
                <a:srgbClr val="000000"/>
              </a:solidFill>
              <a:prstDash val="solid"/>
              <a:round/>
              <a:headEnd len="sm" w="sm" type="none"/>
              <a:tailEnd len="sm" w="sm" type="none"/>
            </a:ln>
          </p:spPr>
        </p:cxnSp>
        <p:cxnSp>
          <p:nvCxnSpPr>
            <p:cNvPr id="717" name="Google Shape;717;p42"/>
            <p:cNvCxnSpPr>
              <a:stCxn id="712" idx="3"/>
              <a:endCxn id="713" idx="7"/>
            </p:cNvCxnSpPr>
            <p:nvPr/>
          </p:nvCxnSpPr>
          <p:spPr>
            <a:xfrm flipH="1">
              <a:off x="5501972" y="2921852"/>
              <a:ext cx="102300" cy="490500"/>
            </a:xfrm>
            <a:prstGeom prst="straightConnector1">
              <a:avLst/>
            </a:prstGeom>
            <a:noFill/>
            <a:ln cap="flat" cmpd="sng" w="19050">
              <a:solidFill>
                <a:srgbClr val="000000"/>
              </a:solidFill>
              <a:prstDash val="solid"/>
              <a:round/>
              <a:headEnd len="sm" w="sm" type="none"/>
              <a:tailEnd len="sm" w="sm" type="none"/>
            </a:ln>
          </p:spPr>
        </p:cxnSp>
        <p:sp>
          <p:nvSpPr>
            <p:cNvPr id="716" name="Google Shape;716;p42"/>
            <p:cNvSpPr/>
            <p:nvPr/>
          </p:nvSpPr>
          <p:spPr>
            <a:xfrm rot="-2158343">
              <a:off x="4696470" y="20406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18" name="Google Shape;718;p42"/>
            <p:cNvCxnSpPr>
              <a:stCxn id="716" idx="5"/>
              <a:endCxn id="712" idx="0"/>
            </p:cNvCxnSpPr>
            <p:nvPr/>
          </p:nvCxnSpPr>
          <p:spPr>
            <a:xfrm>
              <a:off x="5130439" y="2293279"/>
              <a:ext cx="379800" cy="236100"/>
            </a:xfrm>
            <a:prstGeom prst="straightConnector1">
              <a:avLst/>
            </a:prstGeom>
            <a:noFill/>
            <a:ln cap="flat" cmpd="sng" w="19050">
              <a:solidFill>
                <a:srgbClr val="000000"/>
              </a:solidFill>
              <a:prstDash val="solid"/>
              <a:round/>
              <a:headEnd len="sm" w="sm" type="none"/>
              <a:tailEnd len="sm" w="sm" type="none"/>
            </a:ln>
          </p:spPr>
        </p:cxnSp>
        <p:cxnSp>
          <p:nvCxnSpPr>
            <p:cNvPr id="719" name="Google Shape;719;p42"/>
            <p:cNvCxnSpPr>
              <a:stCxn id="716" idx="4"/>
              <a:endCxn id="713" idx="0"/>
            </p:cNvCxnSpPr>
            <p:nvPr/>
          </p:nvCxnSpPr>
          <p:spPr>
            <a:xfrm>
              <a:off x="5043057" y="2435720"/>
              <a:ext cx="296400" cy="1015500"/>
            </a:xfrm>
            <a:prstGeom prst="straightConnector1">
              <a:avLst/>
            </a:prstGeom>
            <a:noFill/>
            <a:ln cap="flat" cmpd="sng" w="19050">
              <a:solidFill>
                <a:srgbClr val="000000"/>
              </a:solidFill>
              <a:prstDash val="solid"/>
              <a:round/>
              <a:headEnd len="sm" w="sm" type="none"/>
              <a:tailEnd len="sm" w="sm" type="none"/>
            </a:ln>
          </p:spPr>
        </p:cxnSp>
      </p:grpSp>
      <p:grpSp>
        <p:nvGrpSpPr>
          <p:cNvPr id="720" name="Google Shape;720;p42"/>
          <p:cNvGrpSpPr/>
          <p:nvPr/>
        </p:nvGrpSpPr>
        <p:grpSpPr>
          <a:xfrm>
            <a:off x="6552098" y="3074312"/>
            <a:ext cx="1684305" cy="1265049"/>
            <a:chOff x="4394375" y="1672650"/>
            <a:chExt cx="3009300" cy="2260227"/>
          </a:xfrm>
        </p:grpSpPr>
        <p:sp>
          <p:nvSpPr>
            <p:cNvPr id="721" name="Google Shape;721;p42"/>
            <p:cNvSpPr/>
            <p:nvPr/>
          </p:nvSpPr>
          <p:spPr>
            <a:xfrm>
              <a:off x="5938650" y="16726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2" name="Google Shape;722;p42"/>
            <p:cNvSpPr/>
            <p:nvPr/>
          </p:nvSpPr>
          <p:spPr>
            <a:xfrm>
              <a:off x="6967175" y="185450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3" name="Google Shape;723;p42"/>
            <p:cNvSpPr/>
            <p:nvPr/>
          </p:nvSpPr>
          <p:spPr>
            <a:xfrm>
              <a:off x="6287625" y="25001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24" name="Google Shape;724;p42"/>
            <p:cNvCxnSpPr>
              <a:stCxn id="721" idx="4"/>
              <a:endCxn id="723" idx="1"/>
            </p:cNvCxnSpPr>
            <p:nvPr/>
          </p:nvCxnSpPr>
          <p:spPr>
            <a:xfrm>
              <a:off x="6156900" y="2109150"/>
              <a:ext cx="194700" cy="454800"/>
            </a:xfrm>
            <a:prstGeom prst="straightConnector1">
              <a:avLst/>
            </a:prstGeom>
            <a:noFill/>
            <a:ln cap="flat" cmpd="sng" w="19050">
              <a:solidFill>
                <a:srgbClr val="000000"/>
              </a:solidFill>
              <a:prstDash val="solid"/>
              <a:round/>
              <a:headEnd len="sm" w="sm" type="none"/>
              <a:tailEnd len="sm" w="sm" type="none"/>
            </a:ln>
          </p:spPr>
        </p:cxnSp>
        <p:cxnSp>
          <p:nvCxnSpPr>
            <p:cNvPr id="725" name="Google Shape;725;p42"/>
            <p:cNvCxnSpPr>
              <a:stCxn id="721" idx="6"/>
              <a:endCxn id="722" idx="2"/>
            </p:cNvCxnSpPr>
            <p:nvPr/>
          </p:nvCxnSpPr>
          <p:spPr>
            <a:xfrm>
              <a:off x="6375150" y="1890900"/>
              <a:ext cx="591900" cy="181800"/>
            </a:xfrm>
            <a:prstGeom prst="straightConnector1">
              <a:avLst/>
            </a:prstGeom>
            <a:noFill/>
            <a:ln cap="flat" cmpd="sng" w="19050">
              <a:solidFill>
                <a:srgbClr val="000000"/>
              </a:solidFill>
              <a:prstDash val="solid"/>
              <a:round/>
              <a:headEnd len="sm" w="sm" type="none"/>
              <a:tailEnd len="sm" w="sm" type="none"/>
            </a:ln>
          </p:spPr>
        </p:cxnSp>
        <p:cxnSp>
          <p:nvCxnSpPr>
            <p:cNvPr id="726" name="Google Shape;726;p42"/>
            <p:cNvCxnSpPr>
              <a:stCxn id="722" idx="3"/>
              <a:endCxn id="723" idx="7"/>
            </p:cNvCxnSpPr>
            <p:nvPr/>
          </p:nvCxnSpPr>
          <p:spPr>
            <a:xfrm flipH="1">
              <a:off x="6660299" y="2227076"/>
              <a:ext cx="370800" cy="336900"/>
            </a:xfrm>
            <a:prstGeom prst="straightConnector1">
              <a:avLst/>
            </a:prstGeom>
            <a:noFill/>
            <a:ln cap="flat" cmpd="sng" w="19050">
              <a:solidFill>
                <a:srgbClr val="000000"/>
              </a:solidFill>
              <a:prstDash val="solid"/>
              <a:round/>
              <a:headEnd len="sm" w="sm" type="none"/>
              <a:tailEnd len="sm" w="sm" type="none"/>
            </a:ln>
          </p:spPr>
        </p:cxnSp>
        <p:sp>
          <p:nvSpPr>
            <p:cNvPr id="727" name="Google Shape;727;p42"/>
            <p:cNvSpPr/>
            <p:nvPr/>
          </p:nvSpPr>
          <p:spPr>
            <a:xfrm rot="-2158343">
              <a:off x="4480988" y="2944854"/>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8" name="Google Shape;728;p42"/>
            <p:cNvSpPr/>
            <p:nvPr/>
          </p:nvSpPr>
          <p:spPr>
            <a:xfrm rot="-2158343">
              <a:off x="5420195" y="24878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9" name="Google Shape;729;p42"/>
            <p:cNvSpPr/>
            <p:nvPr/>
          </p:nvSpPr>
          <p:spPr>
            <a:xfrm rot="-2158343">
              <a:off x="5249494" y="3409590"/>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0" name="Google Shape;730;p42"/>
            <p:cNvCxnSpPr>
              <a:stCxn id="727" idx="4"/>
              <a:endCxn id="729" idx="1"/>
            </p:cNvCxnSpPr>
            <p:nvPr/>
          </p:nvCxnSpPr>
          <p:spPr>
            <a:xfrm>
              <a:off x="4827575" y="3339891"/>
              <a:ext cx="424500" cy="253800"/>
            </a:xfrm>
            <a:prstGeom prst="straightConnector1">
              <a:avLst/>
            </a:prstGeom>
            <a:noFill/>
            <a:ln cap="flat" cmpd="sng" w="19050">
              <a:solidFill>
                <a:srgbClr val="000000"/>
              </a:solidFill>
              <a:prstDash val="solid"/>
              <a:round/>
              <a:headEnd len="sm" w="sm" type="none"/>
              <a:tailEnd len="sm" w="sm" type="none"/>
            </a:ln>
          </p:spPr>
        </p:cxnSp>
        <p:cxnSp>
          <p:nvCxnSpPr>
            <p:cNvPr id="731" name="Google Shape;731;p42"/>
            <p:cNvCxnSpPr>
              <a:stCxn id="727" idx="7"/>
              <a:endCxn id="732" idx="3"/>
            </p:cNvCxnSpPr>
            <p:nvPr/>
          </p:nvCxnSpPr>
          <p:spPr>
            <a:xfrm flipH="1" rot="10800000">
              <a:off x="4733584" y="2474759"/>
              <a:ext cx="147000" cy="472800"/>
            </a:xfrm>
            <a:prstGeom prst="straightConnector1">
              <a:avLst/>
            </a:prstGeom>
            <a:noFill/>
            <a:ln cap="flat" cmpd="sng" w="19050">
              <a:solidFill>
                <a:srgbClr val="000000"/>
              </a:solidFill>
              <a:prstDash val="solid"/>
              <a:round/>
              <a:headEnd len="sm" w="sm" type="none"/>
              <a:tailEnd len="sm" w="sm" type="none"/>
            </a:ln>
          </p:spPr>
        </p:cxnSp>
        <p:cxnSp>
          <p:nvCxnSpPr>
            <p:cNvPr id="733" name="Google Shape;733;p42"/>
            <p:cNvCxnSpPr>
              <a:stCxn id="728" idx="3"/>
              <a:endCxn id="729" idx="7"/>
            </p:cNvCxnSpPr>
            <p:nvPr/>
          </p:nvCxnSpPr>
          <p:spPr>
            <a:xfrm flipH="1">
              <a:off x="5501972" y="2921852"/>
              <a:ext cx="102300" cy="490500"/>
            </a:xfrm>
            <a:prstGeom prst="straightConnector1">
              <a:avLst/>
            </a:prstGeom>
            <a:noFill/>
            <a:ln cap="flat" cmpd="sng" w="19050">
              <a:solidFill>
                <a:srgbClr val="000000"/>
              </a:solidFill>
              <a:prstDash val="solid"/>
              <a:round/>
              <a:headEnd len="sm" w="sm" type="none"/>
              <a:tailEnd len="sm" w="sm" type="none"/>
            </a:ln>
          </p:spPr>
        </p:cxnSp>
        <p:sp>
          <p:nvSpPr>
            <p:cNvPr id="732" name="Google Shape;732;p42"/>
            <p:cNvSpPr/>
            <p:nvPr/>
          </p:nvSpPr>
          <p:spPr>
            <a:xfrm rot="-2158343">
              <a:off x="4696470" y="20406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34" name="Google Shape;734;p42"/>
            <p:cNvCxnSpPr>
              <a:stCxn id="732" idx="5"/>
              <a:endCxn id="728" idx="0"/>
            </p:cNvCxnSpPr>
            <p:nvPr/>
          </p:nvCxnSpPr>
          <p:spPr>
            <a:xfrm>
              <a:off x="5130439" y="2293279"/>
              <a:ext cx="379800" cy="236100"/>
            </a:xfrm>
            <a:prstGeom prst="straightConnector1">
              <a:avLst/>
            </a:prstGeom>
            <a:noFill/>
            <a:ln cap="flat" cmpd="sng" w="19050">
              <a:solidFill>
                <a:srgbClr val="000000"/>
              </a:solidFill>
              <a:prstDash val="solid"/>
              <a:round/>
              <a:headEnd len="sm" w="sm" type="none"/>
              <a:tailEnd len="sm" w="sm" type="none"/>
            </a:ln>
          </p:spPr>
        </p:cxnSp>
        <p:cxnSp>
          <p:nvCxnSpPr>
            <p:cNvPr id="735" name="Google Shape;735;p42"/>
            <p:cNvCxnSpPr>
              <a:stCxn id="732" idx="4"/>
              <a:endCxn id="729" idx="0"/>
            </p:cNvCxnSpPr>
            <p:nvPr/>
          </p:nvCxnSpPr>
          <p:spPr>
            <a:xfrm>
              <a:off x="5043057" y="2435720"/>
              <a:ext cx="296400" cy="1015500"/>
            </a:xfrm>
            <a:prstGeom prst="straightConnector1">
              <a:avLst/>
            </a:prstGeom>
            <a:noFill/>
            <a:ln cap="flat" cmpd="sng" w="19050">
              <a:solidFill>
                <a:srgbClr val="000000"/>
              </a:solidFill>
              <a:prstDash val="solid"/>
              <a:round/>
              <a:headEnd len="sm" w="sm" type="none"/>
              <a:tailEnd len="sm" w="sm" type="none"/>
            </a:ln>
          </p:spPr>
        </p:cxn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43"/>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Graphs may come in any one of many possible configurations. Look at the diagrams below. Vertices are represented as circles, and edges are lines. Which of the diagrams below represents a graph?</a:t>
            </a:r>
            <a:endParaRPr/>
          </a:p>
        </p:txBody>
      </p:sp>
      <p:sp>
        <p:nvSpPr>
          <p:cNvPr id="741" name="Google Shape;741;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42" name="Google Shape;742;p4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Graph Identification</a:t>
            </a:r>
            <a:endParaRPr/>
          </a:p>
        </p:txBody>
      </p:sp>
      <p:sp>
        <p:nvSpPr>
          <p:cNvPr id="743" name="Google Shape;743;p4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2</a:t>
            </a:r>
            <a:endParaRPr/>
          </a:p>
        </p:txBody>
      </p:sp>
      <p:sp>
        <p:nvSpPr>
          <p:cNvPr id="744" name="Google Shape;744;p43"/>
          <p:cNvSpPr/>
          <p:nvPr/>
        </p:nvSpPr>
        <p:spPr>
          <a:xfrm>
            <a:off x="1478200" y="164748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45" name="Google Shape;745;p43"/>
          <p:cNvGrpSpPr/>
          <p:nvPr/>
        </p:nvGrpSpPr>
        <p:grpSpPr>
          <a:xfrm>
            <a:off x="3472625" y="1681608"/>
            <a:ext cx="640205" cy="601260"/>
            <a:chOff x="4258750" y="1571283"/>
            <a:chExt cx="640205" cy="601260"/>
          </a:xfrm>
        </p:grpSpPr>
        <p:sp>
          <p:nvSpPr>
            <p:cNvPr id="746" name="Google Shape;746;p43"/>
            <p:cNvSpPr/>
            <p:nvPr/>
          </p:nvSpPr>
          <p:spPr>
            <a:xfrm>
              <a:off x="4258750" y="1571283"/>
              <a:ext cx="256500" cy="25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7" name="Google Shape;747;p43"/>
            <p:cNvSpPr/>
            <p:nvPr/>
          </p:nvSpPr>
          <p:spPr>
            <a:xfrm>
              <a:off x="4642455" y="1916043"/>
              <a:ext cx="256500" cy="25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48" name="Google Shape;748;p43"/>
            <p:cNvCxnSpPr>
              <a:stCxn id="746" idx="5"/>
              <a:endCxn id="747" idx="1"/>
            </p:cNvCxnSpPr>
            <p:nvPr/>
          </p:nvCxnSpPr>
          <p:spPr>
            <a:xfrm>
              <a:off x="4477686" y="1790219"/>
              <a:ext cx="202200" cy="163500"/>
            </a:xfrm>
            <a:prstGeom prst="straightConnector1">
              <a:avLst/>
            </a:prstGeom>
            <a:noFill/>
            <a:ln cap="flat" cmpd="sng" w="19050">
              <a:solidFill>
                <a:srgbClr val="000000"/>
              </a:solidFill>
              <a:prstDash val="solid"/>
              <a:round/>
              <a:headEnd len="sm" w="sm" type="none"/>
              <a:tailEnd len="sm" w="sm" type="none"/>
            </a:ln>
          </p:spPr>
        </p:cxnSp>
      </p:grpSp>
      <p:grpSp>
        <p:nvGrpSpPr>
          <p:cNvPr id="749" name="Google Shape;749;p43"/>
          <p:cNvGrpSpPr/>
          <p:nvPr/>
        </p:nvGrpSpPr>
        <p:grpSpPr>
          <a:xfrm>
            <a:off x="6506125" y="1442567"/>
            <a:ext cx="896364" cy="1301153"/>
            <a:chOff x="6887125" y="1290167"/>
            <a:chExt cx="896364" cy="1301153"/>
          </a:xfrm>
        </p:grpSpPr>
        <p:sp>
          <p:nvSpPr>
            <p:cNvPr id="750" name="Google Shape;750;p43"/>
            <p:cNvSpPr/>
            <p:nvPr/>
          </p:nvSpPr>
          <p:spPr>
            <a:xfrm>
              <a:off x="6887125" y="1290167"/>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1" name="Google Shape;751;p43"/>
            <p:cNvSpPr/>
            <p:nvPr/>
          </p:nvSpPr>
          <p:spPr>
            <a:xfrm>
              <a:off x="7277168" y="1580554"/>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52" name="Google Shape;752;p43"/>
            <p:cNvCxnSpPr>
              <a:stCxn id="750" idx="5"/>
              <a:endCxn id="751" idx="1"/>
            </p:cNvCxnSpPr>
            <p:nvPr/>
          </p:nvCxnSpPr>
          <p:spPr>
            <a:xfrm>
              <a:off x="7066115" y="1469157"/>
              <a:ext cx="241800" cy="142200"/>
            </a:xfrm>
            <a:prstGeom prst="straightConnector1">
              <a:avLst/>
            </a:prstGeom>
            <a:noFill/>
            <a:ln cap="flat" cmpd="sng" w="19050">
              <a:solidFill>
                <a:srgbClr val="000000"/>
              </a:solidFill>
              <a:prstDash val="solid"/>
              <a:round/>
              <a:headEnd len="sm" w="sm" type="none"/>
              <a:tailEnd len="sm" w="sm" type="none"/>
            </a:ln>
          </p:spPr>
        </p:cxnSp>
        <p:sp>
          <p:nvSpPr>
            <p:cNvPr id="753" name="Google Shape;753;p43"/>
            <p:cNvSpPr/>
            <p:nvPr/>
          </p:nvSpPr>
          <p:spPr>
            <a:xfrm>
              <a:off x="7543104" y="1968700"/>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4" name="Google Shape;754;p43"/>
            <p:cNvSpPr/>
            <p:nvPr/>
          </p:nvSpPr>
          <p:spPr>
            <a:xfrm>
              <a:off x="7573789" y="2381620"/>
              <a:ext cx="209700" cy="2097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55" name="Google Shape;755;p43"/>
            <p:cNvCxnSpPr>
              <a:stCxn id="751" idx="5"/>
              <a:endCxn id="753" idx="1"/>
            </p:cNvCxnSpPr>
            <p:nvPr/>
          </p:nvCxnSpPr>
          <p:spPr>
            <a:xfrm>
              <a:off x="7456158" y="1759544"/>
              <a:ext cx="117600" cy="240000"/>
            </a:xfrm>
            <a:prstGeom prst="straightConnector1">
              <a:avLst/>
            </a:prstGeom>
            <a:noFill/>
            <a:ln cap="flat" cmpd="sng" w="19050">
              <a:solidFill>
                <a:srgbClr val="000000"/>
              </a:solidFill>
              <a:prstDash val="solid"/>
              <a:round/>
              <a:headEnd len="sm" w="sm" type="none"/>
              <a:tailEnd len="sm" w="sm" type="none"/>
            </a:ln>
          </p:spPr>
        </p:cxnSp>
        <p:cxnSp>
          <p:nvCxnSpPr>
            <p:cNvPr id="756" name="Google Shape;756;p43"/>
            <p:cNvCxnSpPr>
              <a:stCxn id="753" idx="4"/>
              <a:endCxn id="754" idx="0"/>
            </p:cNvCxnSpPr>
            <p:nvPr/>
          </p:nvCxnSpPr>
          <p:spPr>
            <a:xfrm>
              <a:off x="7647954" y="2178400"/>
              <a:ext cx="30600" cy="203100"/>
            </a:xfrm>
            <a:prstGeom prst="straightConnector1">
              <a:avLst/>
            </a:prstGeom>
            <a:noFill/>
            <a:ln cap="flat" cmpd="sng" w="19050">
              <a:solidFill>
                <a:srgbClr val="000000"/>
              </a:solidFill>
              <a:prstDash val="solid"/>
              <a:round/>
              <a:headEnd len="sm" w="sm" type="none"/>
              <a:tailEnd len="sm" w="sm" type="none"/>
            </a:ln>
          </p:spPr>
        </p:cxnSp>
      </p:grpSp>
      <p:grpSp>
        <p:nvGrpSpPr>
          <p:cNvPr id="757" name="Google Shape;757;p43"/>
          <p:cNvGrpSpPr/>
          <p:nvPr/>
        </p:nvGrpSpPr>
        <p:grpSpPr>
          <a:xfrm>
            <a:off x="433123" y="3133031"/>
            <a:ext cx="2497068" cy="1265075"/>
            <a:chOff x="3730500" y="789700"/>
            <a:chExt cx="5334475" cy="2702575"/>
          </a:xfrm>
        </p:grpSpPr>
        <p:sp>
          <p:nvSpPr>
            <p:cNvPr id="758" name="Google Shape;758;p43"/>
            <p:cNvSpPr/>
            <p:nvPr/>
          </p:nvSpPr>
          <p:spPr>
            <a:xfrm>
              <a:off x="6203700" y="78970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nvGrpSpPr>
            <p:cNvPr id="759" name="Google Shape;759;p43"/>
            <p:cNvGrpSpPr/>
            <p:nvPr/>
          </p:nvGrpSpPr>
          <p:grpSpPr>
            <a:xfrm>
              <a:off x="4834650" y="1591863"/>
              <a:ext cx="3068600" cy="436512"/>
              <a:chOff x="4834650" y="1591863"/>
              <a:chExt cx="3068600" cy="436512"/>
            </a:xfrm>
          </p:grpSpPr>
          <p:sp>
            <p:nvSpPr>
              <p:cNvPr id="760" name="Google Shape;760;p43"/>
              <p:cNvSpPr/>
              <p:nvPr/>
            </p:nvSpPr>
            <p:spPr>
              <a:xfrm>
                <a:off x="7466750" y="15918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1" name="Google Shape;761;p43"/>
              <p:cNvSpPr/>
              <p:nvPr/>
            </p:nvSpPr>
            <p:spPr>
              <a:xfrm>
                <a:off x="4834650" y="159186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2" name="Google Shape;762;p43"/>
            <p:cNvGrpSpPr/>
            <p:nvPr/>
          </p:nvGrpSpPr>
          <p:grpSpPr>
            <a:xfrm>
              <a:off x="4201013" y="2149650"/>
              <a:ext cx="4458887" cy="544400"/>
              <a:chOff x="4201013" y="2149650"/>
              <a:chExt cx="4458887" cy="544400"/>
            </a:xfrm>
          </p:grpSpPr>
          <p:sp>
            <p:nvSpPr>
              <p:cNvPr id="763" name="Google Shape;763;p43"/>
              <p:cNvSpPr/>
              <p:nvPr/>
            </p:nvSpPr>
            <p:spPr>
              <a:xfrm>
                <a:off x="8223400" y="22575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4" name="Google Shape;764;p43"/>
              <p:cNvSpPr/>
              <p:nvPr/>
            </p:nvSpPr>
            <p:spPr>
              <a:xfrm>
                <a:off x="4201013" y="21496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5" name="Google Shape;765;p43"/>
              <p:cNvSpPr/>
              <p:nvPr/>
            </p:nvSpPr>
            <p:spPr>
              <a:xfrm>
                <a:off x="5466625" y="2179213"/>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6" name="Google Shape;766;p43"/>
              <p:cNvSpPr/>
              <p:nvPr/>
            </p:nvSpPr>
            <p:spPr>
              <a:xfrm>
                <a:off x="6832789" y="22575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67" name="Google Shape;767;p43"/>
            <p:cNvGrpSpPr/>
            <p:nvPr/>
          </p:nvGrpSpPr>
          <p:grpSpPr>
            <a:xfrm>
              <a:off x="5052924" y="1162276"/>
              <a:ext cx="2477652" cy="493500"/>
              <a:chOff x="5052924" y="1162276"/>
              <a:chExt cx="2477652" cy="493500"/>
            </a:xfrm>
          </p:grpSpPr>
          <p:cxnSp>
            <p:nvCxnSpPr>
              <p:cNvPr id="768" name="Google Shape;768;p43"/>
              <p:cNvCxnSpPr>
                <a:stCxn id="758" idx="5"/>
                <a:endCxn id="760" idx="1"/>
              </p:cNvCxnSpPr>
              <p:nvPr/>
            </p:nvCxnSpPr>
            <p:spPr>
              <a:xfrm>
                <a:off x="6576276" y="1162276"/>
                <a:ext cx="954300" cy="493500"/>
              </a:xfrm>
              <a:prstGeom prst="straightConnector1">
                <a:avLst/>
              </a:prstGeom>
              <a:noFill/>
              <a:ln cap="flat" cmpd="sng" w="19050">
                <a:solidFill>
                  <a:srgbClr val="000000"/>
                </a:solidFill>
                <a:prstDash val="solid"/>
                <a:round/>
                <a:headEnd len="sm" w="sm" type="none"/>
                <a:tailEnd len="sm" w="sm" type="none"/>
              </a:ln>
            </p:spPr>
          </p:cxnSp>
          <p:cxnSp>
            <p:nvCxnSpPr>
              <p:cNvPr id="769" name="Google Shape;769;p43"/>
              <p:cNvCxnSpPr>
                <a:stCxn id="758" idx="3"/>
                <a:endCxn id="761" idx="0"/>
              </p:cNvCxnSpPr>
              <p:nvPr/>
            </p:nvCxnSpPr>
            <p:spPr>
              <a:xfrm flipH="1">
                <a:off x="5052924" y="1162276"/>
                <a:ext cx="1214700" cy="429600"/>
              </a:xfrm>
              <a:prstGeom prst="straightConnector1">
                <a:avLst/>
              </a:prstGeom>
              <a:noFill/>
              <a:ln cap="flat" cmpd="sng" w="19050">
                <a:solidFill>
                  <a:srgbClr val="000000"/>
                </a:solidFill>
                <a:prstDash val="solid"/>
                <a:round/>
                <a:headEnd len="sm" w="sm" type="none"/>
                <a:tailEnd len="sm" w="sm" type="none"/>
              </a:ln>
            </p:spPr>
          </p:cxnSp>
        </p:grpSp>
        <p:grpSp>
          <p:nvGrpSpPr>
            <p:cNvPr id="770" name="Google Shape;770;p43"/>
            <p:cNvGrpSpPr/>
            <p:nvPr/>
          </p:nvGrpSpPr>
          <p:grpSpPr>
            <a:xfrm>
              <a:off x="4419174" y="1964439"/>
              <a:ext cx="3868052" cy="357012"/>
              <a:chOff x="4419174" y="1964439"/>
              <a:chExt cx="3868052" cy="357012"/>
            </a:xfrm>
          </p:grpSpPr>
          <p:cxnSp>
            <p:nvCxnSpPr>
              <p:cNvPr id="771" name="Google Shape;771;p43"/>
              <p:cNvCxnSpPr>
                <a:stCxn id="760" idx="5"/>
                <a:endCxn id="763" idx="1"/>
              </p:cNvCxnSpPr>
              <p:nvPr/>
            </p:nvCxnSpPr>
            <p:spPr>
              <a:xfrm>
                <a:off x="7839326" y="1964451"/>
                <a:ext cx="447900" cy="357000"/>
              </a:xfrm>
              <a:prstGeom prst="straightConnector1">
                <a:avLst/>
              </a:prstGeom>
              <a:noFill/>
              <a:ln cap="flat" cmpd="sng" w="19050">
                <a:solidFill>
                  <a:srgbClr val="000000"/>
                </a:solidFill>
                <a:prstDash val="solid"/>
                <a:round/>
                <a:headEnd len="sm" w="sm" type="none"/>
                <a:tailEnd len="sm" w="sm" type="none"/>
              </a:ln>
            </p:spPr>
          </p:cxnSp>
          <p:cxnSp>
            <p:nvCxnSpPr>
              <p:cNvPr id="772" name="Google Shape;772;p43"/>
              <p:cNvCxnSpPr>
                <a:stCxn id="761" idx="5"/>
                <a:endCxn id="765" idx="0"/>
              </p:cNvCxnSpPr>
              <p:nvPr/>
            </p:nvCxnSpPr>
            <p:spPr>
              <a:xfrm>
                <a:off x="5207226" y="1964439"/>
                <a:ext cx="477600" cy="214800"/>
              </a:xfrm>
              <a:prstGeom prst="straightConnector1">
                <a:avLst/>
              </a:prstGeom>
              <a:noFill/>
              <a:ln cap="flat" cmpd="sng" w="19050">
                <a:solidFill>
                  <a:srgbClr val="000000"/>
                </a:solidFill>
                <a:prstDash val="solid"/>
                <a:round/>
                <a:headEnd len="sm" w="sm" type="none"/>
                <a:tailEnd len="sm" w="sm" type="none"/>
              </a:ln>
            </p:spPr>
          </p:cxnSp>
          <p:cxnSp>
            <p:nvCxnSpPr>
              <p:cNvPr id="773" name="Google Shape;773;p43"/>
              <p:cNvCxnSpPr>
                <a:stCxn id="761" idx="3"/>
                <a:endCxn id="764" idx="0"/>
              </p:cNvCxnSpPr>
              <p:nvPr/>
            </p:nvCxnSpPr>
            <p:spPr>
              <a:xfrm flipH="1">
                <a:off x="4419174" y="1964439"/>
                <a:ext cx="479400" cy="185100"/>
              </a:xfrm>
              <a:prstGeom prst="straightConnector1">
                <a:avLst/>
              </a:prstGeom>
              <a:noFill/>
              <a:ln cap="flat" cmpd="sng" w="19050">
                <a:solidFill>
                  <a:srgbClr val="000000"/>
                </a:solidFill>
                <a:prstDash val="solid"/>
                <a:round/>
                <a:headEnd len="sm" w="sm" type="none"/>
                <a:tailEnd len="sm" w="sm" type="none"/>
              </a:ln>
            </p:spPr>
          </p:cxnSp>
          <p:cxnSp>
            <p:nvCxnSpPr>
              <p:cNvPr id="774" name="Google Shape;774;p43"/>
              <p:cNvCxnSpPr>
                <a:stCxn id="760" idx="3"/>
                <a:endCxn id="766" idx="0"/>
              </p:cNvCxnSpPr>
              <p:nvPr/>
            </p:nvCxnSpPr>
            <p:spPr>
              <a:xfrm flipH="1">
                <a:off x="7050974" y="1964451"/>
                <a:ext cx="479700" cy="293100"/>
              </a:xfrm>
              <a:prstGeom prst="straightConnector1">
                <a:avLst/>
              </a:prstGeom>
              <a:noFill/>
              <a:ln cap="flat" cmpd="sng" w="19050">
                <a:solidFill>
                  <a:srgbClr val="000000"/>
                </a:solidFill>
                <a:prstDash val="solid"/>
                <a:round/>
                <a:headEnd len="sm" w="sm" type="none"/>
                <a:tailEnd len="sm" w="sm" type="none"/>
              </a:ln>
            </p:spPr>
          </p:cxnSp>
        </p:grpSp>
        <p:grpSp>
          <p:nvGrpSpPr>
            <p:cNvPr id="775" name="Google Shape;775;p43"/>
            <p:cNvGrpSpPr/>
            <p:nvPr/>
          </p:nvGrpSpPr>
          <p:grpSpPr>
            <a:xfrm>
              <a:off x="3730500" y="3055775"/>
              <a:ext cx="5334475" cy="436500"/>
              <a:chOff x="3730500" y="3055775"/>
              <a:chExt cx="5334475" cy="436500"/>
            </a:xfrm>
          </p:grpSpPr>
          <p:sp>
            <p:nvSpPr>
              <p:cNvPr id="776" name="Google Shape;776;p43"/>
              <p:cNvSpPr/>
              <p:nvPr/>
            </p:nvSpPr>
            <p:spPr>
              <a:xfrm>
                <a:off x="373050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7" name="Google Shape;777;p43"/>
              <p:cNvSpPr/>
              <p:nvPr/>
            </p:nvSpPr>
            <p:spPr>
              <a:xfrm>
                <a:off x="45039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8" name="Google Shape;778;p43"/>
              <p:cNvSpPr/>
              <p:nvPr/>
            </p:nvSpPr>
            <p:spPr>
              <a:xfrm>
                <a:off x="5098863"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9" name="Google Shape;779;p43"/>
              <p:cNvSpPr/>
              <p:nvPr/>
            </p:nvSpPr>
            <p:spPr>
              <a:xfrm>
                <a:off x="579192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0" name="Google Shape;780;p43"/>
              <p:cNvSpPr/>
              <p:nvPr/>
            </p:nvSpPr>
            <p:spPr>
              <a:xfrm>
                <a:off x="64849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781" name="Google Shape;781;p43"/>
              <p:cNvSpPr/>
              <p:nvPr/>
            </p:nvSpPr>
            <p:spPr>
              <a:xfrm>
                <a:off x="718320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2" name="Google Shape;782;p43"/>
              <p:cNvSpPr/>
              <p:nvPr/>
            </p:nvSpPr>
            <p:spPr>
              <a:xfrm>
                <a:off x="7903250"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3" name="Google Shape;783;p43"/>
              <p:cNvSpPr/>
              <p:nvPr/>
            </p:nvSpPr>
            <p:spPr>
              <a:xfrm>
                <a:off x="8628475" y="30557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784" name="Google Shape;784;p43"/>
            <p:cNvGrpSpPr/>
            <p:nvPr/>
          </p:nvGrpSpPr>
          <p:grpSpPr>
            <a:xfrm>
              <a:off x="3948737" y="2522226"/>
              <a:ext cx="4898039" cy="533600"/>
              <a:chOff x="3948737" y="2522226"/>
              <a:chExt cx="4898039" cy="533600"/>
            </a:xfrm>
          </p:grpSpPr>
          <p:cxnSp>
            <p:nvCxnSpPr>
              <p:cNvPr id="785" name="Google Shape;785;p43"/>
              <p:cNvCxnSpPr>
                <a:stCxn id="764" idx="3"/>
                <a:endCxn id="776" idx="0"/>
              </p:cNvCxnSpPr>
              <p:nvPr/>
            </p:nvCxnSpPr>
            <p:spPr>
              <a:xfrm flipH="1">
                <a:off x="3948737" y="2522226"/>
                <a:ext cx="316200" cy="533400"/>
              </a:xfrm>
              <a:prstGeom prst="straightConnector1">
                <a:avLst/>
              </a:prstGeom>
              <a:noFill/>
              <a:ln cap="flat" cmpd="sng" w="19050">
                <a:solidFill>
                  <a:srgbClr val="000000"/>
                </a:solidFill>
                <a:prstDash val="solid"/>
                <a:round/>
                <a:headEnd len="sm" w="sm" type="none"/>
                <a:tailEnd len="sm" w="sm" type="none"/>
              </a:ln>
            </p:spPr>
          </p:cxnSp>
          <p:cxnSp>
            <p:nvCxnSpPr>
              <p:cNvPr id="786" name="Google Shape;786;p43"/>
              <p:cNvCxnSpPr>
                <a:stCxn id="764" idx="5"/>
                <a:endCxn id="777" idx="0"/>
              </p:cNvCxnSpPr>
              <p:nvPr/>
            </p:nvCxnSpPr>
            <p:spPr>
              <a:xfrm>
                <a:off x="4573589" y="2522226"/>
                <a:ext cx="148500" cy="533400"/>
              </a:xfrm>
              <a:prstGeom prst="straightConnector1">
                <a:avLst/>
              </a:prstGeom>
              <a:noFill/>
              <a:ln cap="flat" cmpd="sng" w="19050">
                <a:solidFill>
                  <a:srgbClr val="000000"/>
                </a:solidFill>
                <a:prstDash val="solid"/>
                <a:round/>
                <a:headEnd len="sm" w="sm" type="none"/>
                <a:tailEnd len="sm" w="sm" type="none"/>
              </a:ln>
            </p:spPr>
          </p:cxnSp>
          <p:cxnSp>
            <p:nvCxnSpPr>
              <p:cNvPr id="787" name="Google Shape;787;p43"/>
              <p:cNvCxnSpPr>
                <a:stCxn id="765" idx="3"/>
                <a:endCxn id="778" idx="0"/>
              </p:cNvCxnSpPr>
              <p:nvPr/>
            </p:nvCxnSpPr>
            <p:spPr>
              <a:xfrm flipH="1">
                <a:off x="5317249" y="2551789"/>
                <a:ext cx="213300" cy="504000"/>
              </a:xfrm>
              <a:prstGeom prst="straightConnector1">
                <a:avLst/>
              </a:prstGeom>
              <a:noFill/>
              <a:ln cap="flat" cmpd="sng" w="19050">
                <a:solidFill>
                  <a:srgbClr val="000000"/>
                </a:solidFill>
                <a:prstDash val="solid"/>
                <a:round/>
                <a:headEnd len="sm" w="sm" type="none"/>
                <a:tailEnd len="sm" w="sm" type="none"/>
              </a:ln>
            </p:spPr>
          </p:cxnSp>
          <p:cxnSp>
            <p:nvCxnSpPr>
              <p:cNvPr id="788" name="Google Shape;788;p43"/>
              <p:cNvCxnSpPr>
                <a:stCxn id="765" idx="5"/>
                <a:endCxn id="779" idx="0"/>
              </p:cNvCxnSpPr>
              <p:nvPr/>
            </p:nvCxnSpPr>
            <p:spPr>
              <a:xfrm>
                <a:off x="5839201" y="2551789"/>
                <a:ext cx="171000" cy="504000"/>
              </a:xfrm>
              <a:prstGeom prst="straightConnector1">
                <a:avLst/>
              </a:prstGeom>
              <a:noFill/>
              <a:ln cap="flat" cmpd="sng" w="19050">
                <a:solidFill>
                  <a:srgbClr val="000000"/>
                </a:solidFill>
                <a:prstDash val="solid"/>
                <a:round/>
                <a:headEnd len="sm" w="sm" type="none"/>
                <a:tailEnd len="sm" w="sm" type="none"/>
              </a:ln>
            </p:spPr>
          </p:cxnSp>
          <p:cxnSp>
            <p:nvCxnSpPr>
              <p:cNvPr id="789" name="Google Shape;789;p43"/>
              <p:cNvCxnSpPr>
                <a:stCxn id="766" idx="3"/>
                <a:endCxn id="780" idx="0"/>
              </p:cNvCxnSpPr>
              <p:nvPr/>
            </p:nvCxnSpPr>
            <p:spPr>
              <a:xfrm flipH="1">
                <a:off x="6703213" y="2630126"/>
                <a:ext cx="193500" cy="425700"/>
              </a:xfrm>
              <a:prstGeom prst="straightConnector1">
                <a:avLst/>
              </a:prstGeom>
              <a:noFill/>
              <a:ln cap="flat" cmpd="sng" w="19050">
                <a:solidFill>
                  <a:srgbClr val="000000"/>
                </a:solidFill>
                <a:prstDash val="solid"/>
                <a:round/>
                <a:headEnd len="sm" w="sm" type="none"/>
                <a:tailEnd len="sm" w="sm" type="none"/>
              </a:ln>
            </p:spPr>
          </p:cxnSp>
          <p:cxnSp>
            <p:nvCxnSpPr>
              <p:cNvPr id="790" name="Google Shape;790;p43"/>
              <p:cNvCxnSpPr>
                <a:stCxn id="766" idx="5"/>
                <a:endCxn id="781" idx="0"/>
              </p:cNvCxnSpPr>
              <p:nvPr/>
            </p:nvCxnSpPr>
            <p:spPr>
              <a:xfrm>
                <a:off x="7205365" y="2630126"/>
                <a:ext cx="196200" cy="425700"/>
              </a:xfrm>
              <a:prstGeom prst="straightConnector1">
                <a:avLst/>
              </a:prstGeom>
              <a:noFill/>
              <a:ln cap="flat" cmpd="sng" w="19050">
                <a:solidFill>
                  <a:srgbClr val="000000"/>
                </a:solidFill>
                <a:prstDash val="solid"/>
                <a:round/>
                <a:headEnd len="sm" w="sm" type="none"/>
                <a:tailEnd len="sm" w="sm" type="none"/>
              </a:ln>
            </p:spPr>
          </p:cxnSp>
          <p:cxnSp>
            <p:nvCxnSpPr>
              <p:cNvPr id="791" name="Google Shape;791;p43"/>
              <p:cNvCxnSpPr>
                <a:stCxn id="763" idx="3"/>
                <a:endCxn id="782" idx="0"/>
              </p:cNvCxnSpPr>
              <p:nvPr/>
            </p:nvCxnSpPr>
            <p:spPr>
              <a:xfrm flipH="1">
                <a:off x="8121424" y="2630126"/>
                <a:ext cx="165900" cy="425700"/>
              </a:xfrm>
              <a:prstGeom prst="straightConnector1">
                <a:avLst/>
              </a:prstGeom>
              <a:noFill/>
              <a:ln cap="flat" cmpd="sng" w="19050">
                <a:solidFill>
                  <a:srgbClr val="000000"/>
                </a:solidFill>
                <a:prstDash val="solid"/>
                <a:round/>
                <a:headEnd len="sm" w="sm" type="none"/>
                <a:tailEnd len="sm" w="sm" type="none"/>
              </a:ln>
            </p:spPr>
          </p:cxnSp>
          <p:cxnSp>
            <p:nvCxnSpPr>
              <p:cNvPr id="792" name="Google Shape;792;p43"/>
              <p:cNvCxnSpPr>
                <a:stCxn id="763" idx="5"/>
                <a:endCxn id="783" idx="0"/>
              </p:cNvCxnSpPr>
              <p:nvPr/>
            </p:nvCxnSpPr>
            <p:spPr>
              <a:xfrm>
                <a:off x="8595976" y="2630126"/>
                <a:ext cx="250800" cy="425700"/>
              </a:xfrm>
              <a:prstGeom prst="straightConnector1">
                <a:avLst/>
              </a:prstGeom>
              <a:noFill/>
              <a:ln cap="flat" cmpd="sng" w="19050">
                <a:solidFill>
                  <a:srgbClr val="000000"/>
                </a:solidFill>
                <a:prstDash val="solid"/>
                <a:round/>
                <a:headEnd len="sm" w="sm" type="none"/>
                <a:tailEnd len="sm" w="sm" type="none"/>
              </a:ln>
            </p:spPr>
          </p:cxnSp>
        </p:grpSp>
      </p:grpSp>
      <p:grpSp>
        <p:nvGrpSpPr>
          <p:cNvPr id="793" name="Google Shape;793;p43"/>
          <p:cNvGrpSpPr/>
          <p:nvPr/>
        </p:nvGrpSpPr>
        <p:grpSpPr>
          <a:xfrm>
            <a:off x="4002000" y="3138148"/>
            <a:ext cx="867035" cy="1107538"/>
            <a:chOff x="4394375" y="1954070"/>
            <a:chExt cx="1549107" cy="1978807"/>
          </a:xfrm>
        </p:grpSpPr>
        <p:sp>
          <p:nvSpPr>
            <p:cNvPr id="794" name="Google Shape;794;p43"/>
            <p:cNvSpPr/>
            <p:nvPr/>
          </p:nvSpPr>
          <p:spPr>
            <a:xfrm rot="-2158343">
              <a:off x="4480988" y="2944854"/>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5" name="Google Shape;795;p43"/>
            <p:cNvSpPr/>
            <p:nvPr/>
          </p:nvSpPr>
          <p:spPr>
            <a:xfrm rot="-2158343">
              <a:off x="5420195" y="24878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6" name="Google Shape;796;p43"/>
            <p:cNvSpPr/>
            <p:nvPr/>
          </p:nvSpPr>
          <p:spPr>
            <a:xfrm rot="-2158343">
              <a:off x="5249494" y="3409590"/>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797" name="Google Shape;797;p43"/>
            <p:cNvCxnSpPr>
              <a:stCxn id="794" idx="4"/>
              <a:endCxn id="796" idx="1"/>
            </p:cNvCxnSpPr>
            <p:nvPr/>
          </p:nvCxnSpPr>
          <p:spPr>
            <a:xfrm>
              <a:off x="4827575" y="3339891"/>
              <a:ext cx="424500" cy="253800"/>
            </a:xfrm>
            <a:prstGeom prst="straightConnector1">
              <a:avLst/>
            </a:prstGeom>
            <a:noFill/>
            <a:ln cap="flat" cmpd="sng" w="19050">
              <a:solidFill>
                <a:srgbClr val="000000"/>
              </a:solidFill>
              <a:prstDash val="solid"/>
              <a:round/>
              <a:headEnd len="sm" w="sm" type="none"/>
              <a:tailEnd len="sm" w="sm" type="none"/>
            </a:ln>
          </p:spPr>
        </p:cxnSp>
        <p:cxnSp>
          <p:nvCxnSpPr>
            <p:cNvPr id="798" name="Google Shape;798;p43"/>
            <p:cNvCxnSpPr>
              <a:stCxn id="794" idx="7"/>
              <a:endCxn id="799" idx="3"/>
            </p:cNvCxnSpPr>
            <p:nvPr/>
          </p:nvCxnSpPr>
          <p:spPr>
            <a:xfrm flipH="1" rot="10800000">
              <a:off x="4733584" y="2474759"/>
              <a:ext cx="147000" cy="472800"/>
            </a:xfrm>
            <a:prstGeom prst="straightConnector1">
              <a:avLst/>
            </a:prstGeom>
            <a:noFill/>
            <a:ln cap="flat" cmpd="sng" w="19050">
              <a:solidFill>
                <a:srgbClr val="000000"/>
              </a:solidFill>
              <a:prstDash val="solid"/>
              <a:round/>
              <a:headEnd len="sm" w="sm" type="none"/>
              <a:tailEnd len="sm" w="sm" type="none"/>
            </a:ln>
          </p:spPr>
        </p:cxnSp>
        <p:cxnSp>
          <p:nvCxnSpPr>
            <p:cNvPr id="800" name="Google Shape;800;p43"/>
            <p:cNvCxnSpPr>
              <a:stCxn id="795" idx="3"/>
              <a:endCxn id="796" idx="7"/>
            </p:cNvCxnSpPr>
            <p:nvPr/>
          </p:nvCxnSpPr>
          <p:spPr>
            <a:xfrm flipH="1">
              <a:off x="5501972" y="2921852"/>
              <a:ext cx="102300" cy="490500"/>
            </a:xfrm>
            <a:prstGeom prst="straightConnector1">
              <a:avLst/>
            </a:prstGeom>
            <a:noFill/>
            <a:ln cap="flat" cmpd="sng" w="19050">
              <a:solidFill>
                <a:srgbClr val="000000"/>
              </a:solidFill>
              <a:prstDash val="solid"/>
              <a:round/>
              <a:headEnd len="sm" w="sm" type="none"/>
              <a:tailEnd len="sm" w="sm" type="none"/>
            </a:ln>
          </p:spPr>
        </p:cxnSp>
        <p:sp>
          <p:nvSpPr>
            <p:cNvPr id="799" name="Google Shape;799;p43"/>
            <p:cNvSpPr/>
            <p:nvPr/>
          </p:nvSpPr>
          <p:spPr>
            <a:xfrm rot="-2158343">
              <a:off x="4696470" y="20406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01" name="Google Shape;801;p43"/>
            <p:cNvCxnSpPr>
              <a:stCxn id="799" idx="5"/>
              <a:endCxn id="795" idx="0"/>
            </p:cNvCxnSpPr>
            <p:nvPr/>
          </p:nvCxnSpPr>
          <p:spPr>
            <a:xfrm>
              <a:off x="5130439" y="2293279"/>
              <a:ext cx="379800" cy="236100"/>
            </a:xfrm>
            <a:prstGeom prst="straightConnector1">
              <a:avLst/>
            </a:prstGeom>
            <a:noFill/>
            <a:ln cap="flat" cmpd="sng" w="19050">
              <a:solidFill>
                <a:srgbClr val="000000"/>
              </a:solidFill>
              <a:prstDash val="solid"/>
              <a:round/>
              <a:headEnd len="sm" w="sm" type="none"/>
              <a:tailEnd len="sm" w="sm" type="none"/>
            </a:ln>
          </p:spPr>
        </p:cxnSp>
        <p:cxnSp>
          <p:nvCxnSpPr>
            <p:cNvPr id="802" name="Google Shape;802;p43"/>
            <p:cNvCxnSpPr>
              <a:stCxn id="799" idx="4"/>
              <a:endCxn id="796" idx="0"/>
            </p:cNvCxnSpPr>
            <p:nvPr/>
          </p:nvCxnSpPr>
          <p:spPr>
            <a:xfrm>
              <a:off x="5043057" y="2435720"/>
              <a:ext cx="296400" cy="1015500"/>
            </a:xfrm>
            <a:prstGeom prst="straightConnector1">
              <a:avLst/>
            </a:prstGeom>
            <a:noFill/>
            <a:ln cap="flat" cmpd="sng" w="19050">
              <a:solidFill>
                <a:srgbClr val="000000"/>
              </a:solidFill>
              <a:prstDash val="solid"/>
              <a:round/>
              <a:headEnd len="sm" w="sm" type="none"/>
              <a:tailEnd len="sm" w="sm" type="none"/>
            </a:ln>
          </p:spPr>
        </p:cxnSp>
      </p:grpSp>
      <p:grpSp>
        <p:nvGrpSpPr>
          <p:cNvPr id="803" name="Google Shape;803;p43"/>
          <p:cNvGrpSpPr/>
          <p:nvPr/>
        </p:nvGrpSpPr>
        <p:grpSpPr>
          <a:xfrm>
            <a:off x="6552098" y="3074312"/>
            <a:ext cx="1684305" cy="1265049"/>
            <a:chOff x="4394375" y="1672650"/>
            <a:chExt cx="3009300" cy="2260227"/>
          </a:xfrm>
        </p:grpSpPr>
        <p:sp>
          <p:nvSpPr>
            <p:cNvPr id="804" name="Google Shape;804;p43"/>
            <p:cNvSpPr/>
            <p:nvPr/>
          </p:nvSpPr>
          <p:spPr>
            <a:xfrm>
              <a:off x="5938650" y="167265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5" name="Google Shape;805;p43"/>
            <p:cNvSpPr/>
            <p:nvPr/>
          </p:nvSpPr>
          <p:spPr>
            <a:xfrm>
              <a:off x="6967175" y="1854500"/>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6" name="Google Shape;806;p43"/>
            <p:cNvSpPr/>
            <p:nvPr/>
          </p:nvSpPr>
          <p:spPr>
            <a:xfrm>
              <a:off x="6287625" y="2500175"/>
              <a:ext cx="436500" cy="436500"/>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07" name="Google Shape;807;p43"/>
            <p:cNvCxnSpPr>
              <a:stCxn id="804" idx="4"/>
              <a:endCxn id="806" idx="1"/>
            </p:cNvCxnSpPr>
            <p:nvPr/>
          </p:nvCxnSpPr>
          <p:spPr>
            <a:xfrm>
              <a:off x="6156900" y="2109150"/>
              <a:ext cx="194700" cy="454800"/>
            </a:xfrm>
            <a:prstGeom prst="straightConnector1">
              <a:avLst/>
            </a:prstGeom>
            <a:noFill/>
            <a:ln cap="flat" cmpd="sng" w="19050">
              <a:solidFill>
                <a:srgbClr val="000000"/>
              </a:solidFill>
              <a:prstDash val="solid"/>
              <a:round/>
              <a:headEnd len="sm" w="sm" type="none"/>
              <a:tailEnd len="sm" w="sm" type="none"/>
            </a:ln>
          </p:spPr>
        </p:cxnSp>
        <p:cxnSp>
          <p:nvCxnSpPr>
            <p:cNvPr id="808" name="Google Shape;808;p43"/>
            <p:cNvCxnSpPr>
              <a:stCxn id="804" idx="6"/>
              <a:endCxn id="805" idx="2"/>
            </p:cNvCxnSpPr>
            <p:nvPr/>
          </p:nvCxnSpPr>
          <p:spPr>
            <a:xfrm>
              <a:off x="6375150" y="1890900"/>
              <a:ext cx="591900" cy="181800"/>
            </a:xfrm>
            <a:prstGeom prst="straightConnector1">
              <a:avLst/>
            </a:prstGeom>
            <a:noFill/>
            <a:ln cap="flat" cmpd="sng" w="19050">
              <a:solidFill>
                <a:srgbClr val="000000"/>
              </a:solidFill>
              <a:prstDash val="solid"/>
              <a:round/>
              <a:headEnd len="sm" w="sm" type="none"/>
              <a:tailEnd len="sm" w="sm" type="none"/>
            </a:ln>
          </p:spPr>
        </p:cxnSp>
        <p:cxnSp>
          <p:nvCxnSpPr>
            <p:cNvPr id="809" name="Google Shape;809;p43"/>
            <p:cNvCxnSpPr>
              <a:stCxn id="805" idx="3"/>
              <a:endCxn id="806" idx="7"/>
            </p:cNvCxnSpPr>
            <p:nvPr/>
          </p:nvCxnSpPr>
          <p:spPr>
            <a:xfrm flipH="1">
              <a:off x="6660299" y="2227076"/>
              <a:ext cx="370800" cy="336900"/>
            </a:xfrm>
            <a:prstGeom prst="straightConnector1">
              <a:avLst/>
            </a:prstGeom>
            <a:noFill/>
            <a:ln cap="flat" cmpd="sng" w="19050">
              <a:solidFill>
                <a:srgbClr val="000000"/>
              </a:solidFill>
              <a:prstDash val="solid"/>
              <a:round/>
              <a:headEnd len="sm" w="sm" type="none"/>
              <a:tailEnd len="sm" w="sm" type="none"/>
            </a:ln>
          </p:spPr>
        </p:cxnSp>
        <p:sp>
          <p:nvSpPr>
            <p:cNvPr id="810" name="Google Shape;810;p43"/>
            <p:cNvSpPr/>
            <p:nvPr/>
          </p:nvSpPr>
          <p:spPr>
            <a:xfrm rot="-2158343">
              <a:off x="4480988" y="2944854"/>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1" name="Google Shape;811;p43"/>
            <p:cNvSpPr/>
            <p:nvPr/>
          </p:nvSpPr>
          <p:spPr>
            <a:xfrm rot="-2158343">
              <a:off x="5420195" y="24878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12" name="Google Shape;812;p43"/>
            <p:cNvSpPr/>
            <p:nvPr/>
          </p:nvSpPr>
          <p:spPr>
            <a:xfrm rot="-2158343">
              <a:off x="5249494" y="3409590"/>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13" name="Google Shape;813;p43"/>
            <p:cNvCxnSpPr>
              <a:stCxn id="810" idx="4"/>
              <a:endCxn id="812" idx="1"/>
            </p:cNvCxnSpPr>
            <p:nvPr/>
          </p:nvCxnSpPr>
          <p:spPr>
            <a:xfrm>
              <a:off x="4827575" y="3339891"/>
              <a:ext cx="424500" cy="253800"/>
            </a:xfrm>
            <a:prstGeom prst="straightConnector1">
              <a:avLst/>
            </a:prstGeom>
            <a:noFill/>
            <a:ln cap="flat" cmpd="sng" w="19050">
              <a:solidFill>
                <a:srgbClr val="000000"/>
              </a:solidFill>
              <a:prstDash val="solid"/>
              <a:round/>
              <a:headEnd len="sm" w="sm" type="none"/>
              <a:tailEnd len="sm" w="sm" type="none"/>
            </a:ln>
          </p:spPr>
        </p:cxnSp>
        <p:cxnSp>
          <p:nvCxnSpPr>
            <p:cNvPr id="814" name="Google Shape;814;p43"/>
            <p:cNvCxnSpPr>
              <a:stCxn id="810" idx="7"/>
              <a:endCxn id="815" idx="3"/>
            </p:cNvCxnSpPr>
            <p:nvPr/>
          </p:nvCxnSpPr>
          <p:spPr>
            <a:xfrm flipH="1" rot="10800000">
              <a:off x="4733584" y="2474759"/>
              <a:ext cx="147000" cy="472800"/>
            </a:xfrm>
            <a:prstGeom prst="straightConnector1">
              <a:avLst/>
            </a:prstGeom>
            <a:noFill/>
            <a:ln cap="flat" cmpd="sng" w="19050">
              <a:solidFill>
                <a:srgbClr val="000000"/>
              </a:solidFill>
              <a:prstDash val="solid"/>
              <a:round/>
              <a:headEnd len="sm" w="sm" type="none"/>
              <a:tailEnd len="sm" w="sm" type="none"/>
            </a:ln>
          </p:spPr>
        </p:cxnSp>
        <p:cxnSp>
          <p:nvCxnSpPr>
            <p:cNvPr id="816" name="Google Shape;816;p43"/>
            <p:cNvCxnSpPr>
              <a:stCxn id="811" idx="3"/>
              <a:endCxn id="812" idx="7"/>
            </p:cNvCxnSpPr>
            <p:nvPr/>
          </p:nvCxnSpPr>
          <p:spPr>
            <a:xfrm flipH="1">
              <a:off x="5501972" y="2921852"/>
              <a:ext cx="102300" cy="490500"/>
            </a:xfrm>
            <a:prstGeom prst="straightConnector1">
              <a:avLst/>
            </a:prstGeom>
            <a:noFill/>
            <a:ln cap="flat" cmpd="sng" w="19050">
              <a:solidFill>
                <a:srgbClr val="000000"/>
              </a:solidFill>
              <a:prstDash val="solid"/>
              <a:round/>
              <a:headEnd len="sm" w="sm" type="none"/>
              <a:tailEnd len="sm" w="sm" type="none"/>
            </a:ln>
          </p:spPr>
        </p:cxnSp>
        <p:sp>
          <p:nvSpPr>
            <p:cNvPr id="815" name="Google Shape;815;p43"/>
            <p:cNvSpPr/>
            <p:nvPr/>
          </p:nvSpPr>
          <p:spPr>
            <a:xfrm rot="-2158343">
              <a:off x="4696470" y="2040683"/>
              <a:ext cx="436674" cy="436674"/>
            </a:xfrm>
            <a:prstGeom prst="ellipse">
              <a:avLst/>
            </a:prstGeom>
            <a:solidFill>
              <a:srgbClr val="E06666"/>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817" name="Google Shape;817;p43"/>
            <p:cNvCxnSpPr>
              <a:stCxn id="815" idx="5"/>
              <a:endCxn id="811" idx="0"/>
            </p:cNvCxnSpPr>
            <p:nvPr/>
          </p:nvCxnSpPr>
          <p:spPr>
            <a:xfrm>
              <a:off x="5130439" y="2293279"/>
              <a:ext cx="379800" cy="236100"/>
            </a:xfrm>
            <a:prstGeom prst="straightConnector1">
              <a:avLst/>
            </a:prstGeom>
            <a:noFill/>
            <a:ln cap="flat" cmpd="sng" w="19050">
              <a:solidFill>
                <a:srgbClr val="000000"/>
              </a:solidFill>
              <a:prstDash val="solid"/>
              <a:round/>
              <a:headEnd len="sm" w="sm" type="none"/>
              <a:tailEnd len="sm" w="sm" type="none"/>
            </a:ln>
          </p:spPr>
        </p:cxnSp>
        <p:cxnSp>
          <p:nvCxnSpPr>
            <p:cNvPr id="818" name="Google Shape;818;p43"/>
            <p:cNvCxnSpPr>
              <a:stCxn id="815" idx="4"/>
              <a:endCxn id="812" idx="0"/>
            </p:cNvCxnSpPr>
            <p:nvPr/>
          </p:nvCxnSpPr>
          <p:spPr>
            <a:xfrm>
              <a:off x="5043057" y="2435720"/>
              <a:ext cx="296400" cy="1015500"/>
            </a:xfrm>
            <a:prstGeom prst="straightConnector1">
              <a:avLst/>
            </a:prstGeom>
            <a:noFill/>
            <a:ln cap="flat" cmpd="sng" w="19050">
              <a:solidFill>
                <a:srgbClr val="000000"/>
              </a:solidFill>
              <a:prstDash val="solid"/>
              <a:round/>
              <a:headEnd len="sm" w="sm" type="none"/>
              <a:tailEnd len="sm" w="sm" type="none"/>
            </a:ln>
          </p:spPr>
        </p:cxnSp>
      </p:grpSp>
      <p:sp>
        <p:nvSpPr>
          <p:cNvPr id="819" name="Google Shape;819;p43"/>
          <p:cNvSpPr txBox="1"/>
          <p:nvPr/>
        </p:nvSpPr>
        <p:spPr>
          <a:xfrm>
            <a:off x="885825" y="2235346"/>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A graph may only include a single vertex.</a:t>
            </a:r>
            <a:endParaRPr b="0" i="0" sz="1400" u="none" cap="none" strike="noStrike">
              <a:solidFill>
                <a:srgbClr val="E06666"/>
              </a:solidFill>
              <a:latin typeface="Shadows Into Light"/>
              <a:ea typeface="Shadows Into Light"/>
              <a:cs typeface="Shadows Into Light"/>
              <a:sym typeface="Shadows Into Light"/>
            </a:endParaRPr>
          </a:p>
        </p:txBody>
      </p:sp>
      <p:sp>
        <p:nvSpPr>
          <p:cNvPr id="820" name="Google Shape;820;p43"/>
          <p:cNvSpPr txBox="1"/>
          <p:nvPr/>
        </p:nvSpPr>
        <p:spPr>
          <a:xfrm>
            <a:off x="4208175" y="1725421"/>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A graph may include only a single edge.</a:t>
            </a:r>
            <a:endParaRPr b="0" i="0" sz="1400" u="none" cap="none" strike="noStrike">
              <a:solidFill>
                <a:srgbClr val="E06666"/>
              </a:solidFill>
              <a:latin typeface="Shadows Into Light"/>
              <a:ea typeface="Shadows Into Light"/>
              <a:cs typeface="Shadows Into Light"/>
              <a:sym typeface="Shadows Into Light"/>
            </a:endParaRPr>
          </a:p>
        </p:txBody>
      </p:sp>
      <p:sp>
        <p:nvSpPr>
          <p:cNvPr id="821" name="Google Shape;821;p43"/>
          <p:cNvSpPr txBox="1"/>
          <p:nvPr/>
        </p:nvSpPr>
        <p:spPr>
          <a:xfrm>
            <a:off x="7243000" y="1576721"/>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A linked list is a kind of graph.</a:t>
            </a:r>
            <a:endParaRPr b="0" i="0" sz="1400" u="none" cap="none" strike="noStrike">
              <a:solidFill>
                <a:srgbClr val="E06666"/>
              </a:solidFill>
              <a:latin typeface="Shadows Into Light"/>
              <a:ea typeface="Shadows Into Light"/>
              <a:cs typeface="Shadows Into Light"/>
              <a:sym typeface="Shadows Into Light"/>
            </a:endParaRPr>
          </a:p>
        </p:txBody>
      </p:sp>
      <p:sp>
        <p:nvSpPr>
          <p:cNvPr id="822" name="Google Shape;822;p43"/>
          <p:cNvSpPr txBox="1"/>
          <p:nvPr/>
        </p:nvSpPr>
        <p:spPr>
          <a:xfrm>
            <a:off x="809625" y="4375465"/>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A binary tree is a kind of graph.</a:t>
            </a:r>
            <a:endParaRPr b="0" i="0" sz="1400" u="none" cap="none" strike="noStrike">
              <a:solidFill>
                <a:srgbClr val="E06666"/>
              </a:solidFill>
              <a:latin typeface="Shadows Into Light"/>
              <a:ea typeface="Shadows Into Light"/>
              <a:cs typeface="Shadows Into Light"/>
              <a:sym typeface="Shadows Into Light"/>
            </a:endParaRPr>
          </a:p>
        </p:txBody>
      </p:sp>
      <p:sp>
        <p:nvSpPr>
          <p:cNvPr id="823" name="Google Shape;823;p43"/>
          <p:cNvSpPr txBox="1"/>
          <p:nvPr/>
        </p:nvSpPr>
        <p:spPr>
          <a:xfrm>
            <a:off x="3705225" y="4223065"/>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This graph includes 4 vertices and 5 edges.</a:t>
            </a:r>
            <a:endParaRPr b="0" i="0" sz="1400" u="none" cap="none" strike="noStrike">
              <a:solidFill>
                <a:srgbClr val="E06666"/>
              </a:solidFill>
              <a:latin typeface="Shadows Into Light"/>
              <a:ea typeface="Shadows Into Light"/>
              <a:cs typeface="Shadows Into Light"/>
              <a:sym typeface="Shadows Into Light"/>
            </a:endParaRPr>
          </a:p>
        </p:txBody>
      </p:sp>
      <p:sp>
        <p:nvSpPr>
          <p:cNvPr id="824" name="Google Shape;824;p43"/>
          <p:cNvSpPr txBox="1"/>
          <p:nvPr/>
        </p:nvSpPr>
        <p:spPr>
          <a:xfrm>
            <a:off x="6524625" y="4318822"/>
            <a:ext cx="1684200" cy="638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E06666"/>
                </a:solidFill>
                <a:latin typeface="Shadows Into Light"/>
                <a:ea typeface="Shadows Into Light"/>
                <a:cs typeface="Shadows Into Light"/>
                <a:sym typeface="Shadows Into Light"/>
              </a:rPr>
              <a:t>Yes. There does not have to be a path from any two vertices.</a:t>
            </a:r>
            <a:endParaRPr b="0" i="0" sz="1400" u="none" cap="none" strike="noStrike">
              <a:solidFill>
                <a:srgbClr val="E06666"/>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819"/>
                                        </p:tgtEl>
                                        <p:attrNameLst>
                                          <p:attrName>style.visibility</p:attrName>
                                        </p:attrNameLst>
                                      </p:cBhvr>
                                      <p:to>
                                        <p:strVal val="visible"/>
                                      </p:to>
                                    </p:set>
                                    <p:animEffect filter="fade" transition="in">
                                      <p:cBhvr>
                                        <p:cTn dur="1000"/>
                                        <p:tgtEl>
                                          <p:spTgt spid="8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1"/>
                                        </p:tgtEl>
                                        <p:attrNameLst>
                                          <p:attrName>style.visibility</p:attrName>
                                        </p:attrNameLst>
                                      </p:cBhvr>
                                      <p:to>
                                        <p:strVal val="visible"/>
                                      </p:to>
                                    </p:set>
                                    <p:animEffect filter="fade" transition="in">
                                      <p:cBhvr>
                                        <p:cTn dur="1000"/>
                                        <p:tgtEl>
                                          <p:spTgt spid="8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2"/>
                                        </p:tgtEl>
                                        <p:attrNameLst>
                                          <p:attrName>style.visibility</p:attrName>
                                        </p:attrNameLst>
                                      </p:cBhvr>
                                      <p:to>
                                        <p:strVal val="visible"/>
                                      </p:to>
                                    </p:set>
                                    <p:animEffect filter="fade" transition="in">
                                      <p:cBhvr>
                                        <p:cTn dur="1000"/>
                                        <p:tgtEl>
                                          <p:spTgt spid="8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3"/>
                                        </p:tgtEl>
                                        <p:attrNameLst>
                                          <p:attrName>style.visibility</p:attrName>
                                        </p:attrNameLst>
                                      </p:cBhvr>
                                      <p:to>
                                        <p:strVal val="visible"/>
                                      </p:to>
                                    </p:set>
                                    <p:animEffect filter="fade" transition="in">
                                      <p:cBhvr>
                                        <p:cTn dur="1000"/>
                                        <p:tgtEl>
                                          <p:spTgt spid="8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24"/>
                                        </p:tgtEl>
                                        <p:attrNameLst>
                                          <p:attrName>style.visibility</p:attrName>
                                        </p:attrNameLst>
                                      </p:cBhvr>
                                      <p:to>
                                        <p:strVal val="visible"/>
                                      </p:to>
                                    </p:set>
                                    <p:animEffect filter="fade" transition="in">
                                      <p:cBhvr>
                                        <p:cTn dur="1000"/>
                                        <p:tgtEl>
                                          <p:spTgt spid="8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8" name="Shape 828"/>
        <p:cNvGrpSpPr/>
        <p:nvPr/>
      </p:nvGrpSpPr>
      <p:grpSpPr>
        <a:xfrm>
          <a:off x="0" y="0"/>
          <a:ext cx="0" cy="0"/>
          <a:chOff x="0" y="0"/>
          <a:chExt cx="0" cy="0"/>
        </a:xfrm>
      </p:grpSpPr>
      <p:sp>
        <p:nvSpPr>
          <p:cNvPr id="829" name="Google Shape;829;p44"/>
          <p:cNvSpPr txBox="1"/>
          <p:nvPr>
            <p:ph type="title"/>
          </p:nvPr>
        </p:nvSpPr>
        <p:spPr>
          <a:xfrm>
            <a:off x="4964512" y="215413"/>
            <a:ext cx="40839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Connected Components</a:t>
            </a:r>
            <a:endParaRPr sz="2600"/>
          </a:p>
        </p:txBody>
      </p:sp>
      <p:sp>
        <p:nvSpPr>
          <p:cNvPr id="830" name="Google Shape;830;p44"/>
          <p:cNvSpPr txBox="1"/>
          <p:nvPr>
            <p:ph idx="1" type="body"/>
          </p:nvPr>
        </p:nvSpPr>
        <p:spPr>
          <a:xfrm>
            <a:off x="293925" y="78625"/>
            <a:ext cx="4358400" cy="49518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An </a:t>
            </a:r>
            <a:r>
              <a:rPr b="1" i="1" lang="en">
                <a:solidFill>
                  <a:srgbClr val="FF0000"/>
                </a:solidFill>
              </a:rPr>
              <a:t>edge</a:t>
            </a:r>
            <a:r>
              <a:rPr lang="en">
                <a:solidFill>
                  <a:srgbClr val="FF0000"/>
                </a:solidFill>
              </a:rPr>
              <a:t> </a:t>
            </a:r>
            <a:r>
              <a:rPr lang="en"/>
              <a:t>may be uniquely identified by the two vertices that it connects.</a:t>
            </a:r>
            <a:endParaRPr/>
          </a:p>
          <a:p>
            <a:pPr indent="-298450" lvl="1" marL="914400" rtl="0" algn="l">
              <a:lnSpc>
                <a:spcPct val="115000"/>
              </a:lnSpc>
              <a:spcBef>
                <a:spcPts val="0"/>
              </a:spcBef>
              <a:spcAft>
                <a:spcPts val="0"/>
              </a:spcAft>
              <a:buSzPts val="1100"/>
              <a:buChar char="○"/>
            </a:pPr>
            <a:r>
              <a:rPr lang="en"/>
              <a:t>For example, the edge connecting </a:t>
            </a:r>
            <a:r>
              <a:rPr b="1" i="1" lang="en">
                <a:solidFill>
                  <a:srgbClr val="FF0000"/>
                </a:solidFill>
              </a:rPr>
              <a:t>vertex A</a:t>
            </a:r>
            <a:r>
              <a:rPr lang="en"/>
              <a:t> to </a:t>
            </a:r>
            <a:r>
              <a:rPr b="1" i="1" lang="en">
                <a:solidFill>
                  <a:srgbClr val="FF0000"/>
                </a:solidFill>
              </a:rPr>
              <a:t>vertex B</a:t>
            </a:r>
            <a:r>
              <a:rPr lang="en"/>
              <a:t> may be identified as </a:t>
            </a:r>
            <a:r>
              <a:rPr b="1" i="1" lang="en">
                <a:solidFill>
                  <a:srgbClr val="FF0000"/>
                </a:solidFill>
              </a:rPr>
              <a:t>E</a:t>
            </a:r>
            <a:r>
              <a:rPr b="1" baseline="-25000" i="1" lang="en">
                <a:solidFill>
                  <a:srgbClr val="FF0000"/>
                </a:solidFill>
              </a:rPr>
              <a:t>AB</a:t>
            </a:r>
            <a:r>
              <a:rPr lang="en"/>
              <a:t>.</a:t>
            </a:r>
            <a:endParaRPr/>
          </a:p>
          <a:p>
            <a:pPr indent="-311150" lvl="0" marL="457200" rtl="0" algn="l">
              <a:lnSpc>
                <a:spcPct val="115000"/>
              </a:lnSpc>
              <a:spcBef>
                <a:spcPts val="1000"/>
              </a:spcBef>
              <a:spcAft>
                <a:spcPts val="0"/>
              </a:spcAft>
              <a:buSzPts val="1300"/>
              <a:buChar char="●"/>
            </a:pPr>
            <a:r>
              <a:rPr lang="en"/>
              <a:t>A </a:t>
            </a:r>
            <a:r>
              <a:rPr b="1" i="1" lang="en">
                <a:solidFill>
                  <a:srgbClr val="FF0000"/>
                </a:solidFill>
              </a:rPr>
              <a:t>path</a:t>
            </a:r>
            <a:r>
              <a:rPr lang="en">
                <a:solidFill>
                  <a:srgbClr val="FF0000"/>
                </a:solidFill>
              </a:rPr>
              <a:t> </a:t>
            </a:r>
            <a:r>
              <a:rPr lang="en"/>
              <a:t>is a </a:t>
            </a:r>
            <a:r>
              <a:rPr b="1" i="1" lang="en">
                <a:solidFill>
                  <a:srgbClr val="FF0000"/>
                </a:solidFill>
              </a:rPr>
              <a:t>series of edges</a:t>
            </a:r>
            <a:r>
              <a:rPr lang="en"/>
              <a:t> that connects two vertices together.</a:t>
            </a:r>
            <a:endParaRPr/>
          </a:p>
          <a:p>
            <a:pPr indent="-298450" lvl="1" marL="914400" rtl="0" algn="l">
              <a:lnSpc>
                <a:spcPct val="115000"/>
              </a:lnSpc>
              <a:spcBef>
                <a:spcPts val="0"/>
              </a:spcBef>
              <a:spcAft>
                <a:spcPts val="0"/>
              </a:spcAft>
              <a:buSzPts val="1100"/>
              <a:buChar char="○"/>
            </a:pPr>
            <a:r>
              <a:rPr lang="en"/>
              <a:t>For example, one possible path from </a:t>
            </a:r>
            <a:r>
              <a:rPr b="1" i="1" lang="en">
                <a:solidFill>
                  <a:srgbClr val="FF0000"/>
                </a:solidFill>
              </a:rPr>
              <a:t>vertex A</a:t>
            </a:r>
            <a:r>
              <a:rPr lang="en"/>
              <a:t> to </a:t>
            </a:r>
            <a:r>
              <a:rPr b="1" i="1" lang="en">
                <a:solidFill>
                  <a:srgbClr val="FF0000"/>
                </a:solidFill>
              </a:rPr>
              <a:t>vertex C</a:t>
            </a:r>
            <a:r>
              <a:rPr lang="en"/>
              <a:t> in the graph depicted to the right comprises the edges </a:t>
            </a:r>
            <a:r>
              <a:rPr b="1" i="1" lang="en">
                <a:solidFill>
                  <a:srgbClr val="FF0000"/>
                </a:solidFill>
              </a:rPr>
              <a:t>E</a:t>
            </a:r>
            <a:r>
              <a:rPr b="1" baseline="-25000" i="1" lang="en">
                <a:solidFill>
                  <a:srgbClr val="FF0000"/>
                </a:solidFill>
              </a:rPr>
              <a:t>AB</a:t>
            </a:r>
            <a:r>
              <a:rPr lang="en"/>
              <a:t> and </a:t>
            </a:r>
            <a:r>
              <a:rPr b="1" i="1" lang="en">
                <a:solidFill>
                  <a:srgbClr val="FF0000"/>
                </a:solidFill>
              </a:rPr>
              <a:t>E</a:t>
            </a:r>
            <a:r>
              <a:rPr b="1" baseline="-25000" i="1" lang="en">
                <a:solidFill>
                  <a:srgbClr val="FF0000"/>
                </a:solidFill>
              </a:rPr>
              <a:t>BC</a:t>
            </a:r>
            <a:r>
              <a:rPr lang="en"/>
              <a:t>.</a:t>
            </a:r>
            <a:endParaRPr/>
          </a:p>
          <a:p>
            <a:pPr indent="-311150" lvl="0" marL="457200" rtl="0" algn="l">
              <a:lnSpc>
                <a:spcPct val="115000"/>
              </a:lnSpc>
              <a:spcBef>
                <a:spcPts val="1000"/>
              </a:spcBef>
              <a:spcAft>
                <a:spcPts val="0"/>
              </a:spcAft>
              <a:buSzPts val="1300"/>
              <a:buChar char="●"/>
            </a:pPr>
            <a:r>
              <a:rPr lang="en"/>
              <a:t>If a path </a:t>
            </a:r>
            <a:r>
              <a:rPr b="1" i="1" lang="en">
                <a:solidFill>
                  <a:srgbClr val="FF0000"/>
                </a:solidFill>
              </a:rPr>
              <a:t>exists</a:t>
            </a:r>
            <a:r>
              <a:rPr lang="en">
                <a:solidFill>
                  <a:srgbClr val="FF0000"/>
                </a:solidFill>
              </a:rPr>
              <a:t> </a:t>
            </a:r>
            <a:r>
              <a:rPr lang="en"/>
              <a:t>between two vertices, they are said to be part of the same </a:t>
            </a:r>
            <a:r>
              <a:rPr b="1" i="1" lang="en">
                <a:solidFill>
                  <a:srgbClr val="FF0000"/>
                </a:solidFill>
              </a:rPr>
              <a:t>connected component</a:t>
            </a:r>
            <a:r>
              <a:rPr lang="en"/>
              <a:t> within a graph.</a:t>
            </a:r>
            <a:endParaRPr/>
          </a:p>
          <a:p>
            <a:pPr indent="-311150" lvl="0" marL="457200" rtl="0" algn="l">
              <a:lnSpc>
                <a:spcPct val="115000"/>
              </a:lnSpc>
              <a:spcBef>
                <a:spcPts val="1000"/>
              </a:spcBef>
              <a:spcAft>
                <a:spcPts val="0"/>
              </a:spcAft>
              <a:buSzPts val="1300"/>
              <a:buChar char="●"/>
            </a:pPr>
            <a:r>
              <a:rPr lang="en"/>
              <a:t>A graph may include </a:t>
            </a:r>
            <a:r>
              <a:rPr b="1" i="1" lang="en">
                <a:solidFill>
                  <a:srgbClr val="FF0000"/>
                </a:solidFill>
              </a:rPr>
              <a:t>any number</a:t>
            </a:r>
            <a:r>
              <a:rPr lang="en">
                <a:solidFill>
                  <a:srgbClr val="FF0000"/>
                </a:solidFill>
              </a:rPr>
              <a:t> </a:t>
            </a:r>
            <a:r>
              <a:rPr lang="en"/>
              <a:t>of connected components.</a:t>
            </a:r>
            <a:endParaRPr/>
          </a:p>
          <a:p>
            <a:pPr indent="-298450" lvl="1" marL="914400" rtl="0" algn="l">
              <a:lnSpc>
                <a:spcPct val="115000"/>
              </a:lnSpc>
              <a:spcBef>
                <a:spcPts val="0"/>
              </a:spcBef>
              <a:spcAft>
                <a:spcPts val="0"/>
              </a:spcAft>
              <a:buSzPts val="1100"/>
              <a:buChar char="○"/>
            </a:pPr>
            <a:r>
              <a:rPr lang="en"/>
              <a:t>In the graph depicted to the right, </a:t>
            </a:r>
            <a:r>
              <a:rPr b="1" i="1" lang="en">
                <a:solidFill>
                  <a:srgbClr val="FF0000"/>
                </a:solidFill>
              </a:rPr>
              <a:t>vertex D</a:t>
            </a:r>
            <a:r>
              <a:rPr lang="en"/>
              <a:t> and </a:t>
            </a:r>
            <a:r>
              <a:rPr b="1" i="1" lang="en">
                <a:solidFill>
                  <a:srgbClr val="FF0000"/>
                </a:solidFill>
              </a:rPr>
              <a:t>vertex B</a:t>
            </a:r>
            <a:r>
              <a:rPr lang="en"/>
              <a:t> are clearly part of the same connected component, because there is </a:t>
            </a:r>
            <a:r>
              <a:rPr b="1" i="1" lang="en">
                <a:solidFill>
                  <a:srgbClr val="FF0000"/>
                </a:solidFill>
              </a:rPr>
              <a:t>at least one path</a:t>
            </a:r>
            <a:r>
              <a:rPr lang="en"/>
              <a:t> that connects the two.</a:t>
            </a:r>
            <a:endParaRPr/>
          </a:p>
          <a:p>
            <a:pPr indent="-298450" lvl="1" marL="914400" rtl="0" algn="l">
              <a:lnSpc>
                <a:spcPct val="115000"/>
              </a:lnSpc>
              <a:spcBef>
                <a:spcPts val="0"/>
              </a:spcBef>
              <a:spcAft>
                <a:spcPts val="0"/>
              </a:spcAft>
              <a:buSzPts val="1100"/>
              <a:buChar char="○"/>
            </a:pPr>
            <a:r>
              <a:rPr lang="en"/>
              <a:t>On the other hand, </a:t>
            </a:r>
            <a:r>
              <a:rPr b="1" i="1" lang="en">
                <a:solidFill>
                  <a:srgbClr val="FF0000"/>
                </a:solidFill>
              </a:rPr>
              <a:t>vertex A</a:t>
            </a:r>
            <a:r>
              <a:rPr lang="en"/>
              <a:t> and </a:t>
            </a:r>
            <a:r>
              <a:rPr b="1" i="1" lang="en">
                <a:solidFill>
                  <a:srgbClr val="FF0000"/>
                </a:solidFill>
              </a:rPr>
              <a:t>vertex F</a:t>
            </a:r>
            <a:r>
              <a:rPr lang="en"/>
              <a:t> are clearly </a:t>
            </a:r>
            <a:r>
              <a:rPr b="1" i="1" lang="en">
                <a:solidFill>
                  <a:srgbClr val="FF0000"/>
                </a:solidFill>
              </a:rPr>
              <a:t>not</a:t>
            </a:r>
            <a:r>
              <a:rPr lang="en">
                <a:solidFill>
                  <a:srgbClr val="FF0000"/>
                </a:solidFill>
              </a:rPr>
              <a:t> </a:t>
            </a:r>
            <a:r>
              <a:rPr lang="en"/>
              <a:t>part of the same connected component because there is </a:t>
            </a:r>
            <a:r>
              <a:rPr b="1" i="1" lang="en">
                <a:solidFill>
                  <a:srgbClr val="FF0000"/>
                </a:solidFill>
              </a:rPr>
              <a:t>no</a:t>
            </a:r>
            <a:r>
              <a:rPr lang="en">
                <a:solidFill>
                  <a:srgbClr val="FF0000"/>
                </a:solidFill>
              </a:rPr>
              <a:t> </a:t>
            </a:r>
            <a:r>
              <a:rPr lang="en"/>
              <a:t>path connecting the two.</a:t>
            </a:r>
            <a:endParaRPr/>
          </a:p>
        </p:txBody>
      </p:sp>
      <p:sp>
        <p:nvSpPr>
          <p:cNvPr id="831" name="Google Shape;831;p44"/>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832" name="Google Shape;832;p44"/>
          <p:cNvSpPr txBox="1"/>
          <p:nvPr>
            <p:ph idx="3" type="body"/>
          </p:nvPr>
        </p:nvSpPr>
        <p:spPr>
          <a:xfrm>
            <a:off x="5192225" y="3480050"/>
            <a:ext cx="3706500" cy="674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An algorithm that determines whether or not a path exists between two vertices in a graph is called a </a:t>
            </a:r>
            <a:r>
              <a:rPr b="1" i="1" lang="en">
                <a:solidFill>
                  <a:srgbClr val="FF0000"/>
                </a:solidFill>
              </a:rPr>
              <a:t>search</a:t>
            </a:r>
            <a:r>
              <a:rPr lang="en"/>
              <a:t>.</a:t>
            </a:r>
            <a:endParaRPr/>
          </a:p>
        </p:txBody>
      </p:sp>
      <p:sp>
        <p:nvSpPr>
          <p:cNvPr id="833" name="Google Shape;833;p44"/>
          <p:cNvSpPr/>
          <p:nvPr/>
        </p:nvSpPr>
        <p:spPr>
          <a:xfrm>
            <a:off x="5543150" y="1164950"/>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834" name="Google Shape;834;p44"/>
          <p:cNvSpPr/>
          <p:nvPr/>
        </p:nvSpPr>
        <p:spPr>
          <a:xfrm>
            <a:off x="6533750" y="1545950"/>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835" name="Google Shape;835;p44"/>
          <p:cNvSpPr/>
          <p:nvPr/>
        </p:nvSpPr>
        <p:spPr>
          <a:xfrm>
            <a:off x="5162150" y="2079350"/>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D</a:t>
            </a:r>
            <a:endParaRPr b="0" i="0" sz="1400" u="none" cap="none" strike="noStrike">
              <a:solidFill>
                <a:srgbClr val="FFFFFF"/>
              </a:solidFill>
              <a:latin typeface="Arial"/>
              <a:ea typeface="Arial"/>
              <a:cs typeface="Arial"/>
              <a:sym typeface="Arial"/>
            </a:endParaRPr>
          </a:p>
        </p:txBody>
      </p:sp>
      <p:sp>
        <p:nvSpPr>
          <p:cNvPr id="836" name="Google Shape;836;p44"/>
          <p:cNvSpPr/>
          <p:nvPr/>
        </p:nvSpPr>
        <p:spPr>
          <a:xfrm>
            <a:off x="6152750" y="2612750"/>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cxnSp>
        <p:nvCxnSpPr>
          <p:cNvPr id="837" name="Google Shape;837;p44"/>
          <p:cNvCxnSpPr>
            <a:stCxn id="833" idx="3"/>
            <a:endCxn id="835" idx="0"/>
          </p:cNvCxnSpPr>
          <p:nvPr/>
        </p:nvCxnSpPr>
        <p:spPr>
          <a:xfrm flipH="1">
            <a:off x="5436605" y="1633295"/>
            <a:ext cx="186900" cy="446100"/>
          </a:xfrm>
          <a:prstGeom prst="straightConnector1">
            <a:avLst/>
          </a:prstGeom>
          <a:noFill/>
          <a:ln cap="flat" cmpd="sng" w="19050">
            <a:solidFill>
              <a:srgbClr val="C9DAF8"/>
            </a:solidFill>
            <a:prstDash val="solid"/>
            <a:round/>
            <a:headEnd len="sm" w="sm" type="none"/>
            <a:tailEnd len="sm" w="sm" type="none"/>
          </a:ln>
        </p:spPr>
      </p:cxnSp>
      <p:cxnSp>
        <p:nvCxnSpPr>
          <p:cNvPr id="838" name="Google Shape;838;p44"/>
          <p:cNvCxnSpPr>
            <a:endCxn id="834" idx="1"/>
          </p:cNvCxnSpPr>
          <p:nvPr/>
        </p:nvCxnSpPr>
        <p:spPr>
          <a:xfrm>
            <a:off x="6091805" y="1439405"/>
            <a:ext cx="522300" cy="186900"/>
          </a:xfrm>
          <a:prstGeom prst="straightConnector1">
            <a:avLst/>
          </a:prstGeom>
          <a:noFill/>
          <a:ln cap="flat" cmpd="sng" w="19050">
            <a:solidFill>
              <a:srgbClr val="C9DAF8"/>
            </a:solidFill>
            <a:prstDash val="solid"/>
            <a:round/>
            <a:headEnd len="sm" w="sm" type="none"/>
            <a:tailEnd len="sm" w="sm" type="none"/>
          </a:ln>
        </p:spPr>
      </p:cxnSp>
      <p:cxnSp>
        <p:nvCxnSpPr>
          <p:cNvPr id="839" name="Google Shape;839;p44"/>
          <p:cNvCxnSpPr>
            <a:stCxn id="835" idx="5"/>
            <a:endCxn id="836" idx="2"/>
          </p:cNvCxnSpPr>
          <p:nvPr/>
        </p:nvCxnSpPr>
        <p:spPr>
          <a:xfrm>
            <a:off x="5630495" y="2547695"/>
            <a:ext cx="522300" cy="339300"/>
          </a:xfrm>
          <a:prstGeom prst="straightConnector1">
            <a:avLst/>
          </a:prstGeom>
          <a:noFill/>
          <a:ln cap="flat" cmpd="sng" w="19050">
            <a:solidFill>
              <a:srgbClr val="C9DAF8"/>
            </a:solidFill>
            <a:prstDash val="solid"/>
            <a:round/>
            <a:headEnd len="sm" w="sm" type="none"/>
            <a:tailEnd len="sm" w="sm" type="none"/>
          </a:ln>
        </p:spPr>
      </p:cxnSp>
      <p:cxnSp>
        <p:nvCxnSpPr>
          <p:cNvPr id="840" name="Google Shape;840;p44"/>
          <p:cNvCxnSpPr>
            <a:stCxn id="836" idx="7"/>
            <a:endCxn id="834" idx="4"/>
          </p:cNvCxnSpPr>
          <p:nvPr/>
        </p:nvCxnSpPr>
        <p:spPr>
          <a:xfrm flipH="1" rot="10800000">
            <a:off x="6621095" y="2094605"/>
            <a:ext cx="186900" cy="598500"/>
          </a:xfrm>
          <a:prstGeom prst="straightConnector1">
            <a:avLst/>
          </a:prstGeom>
          <a:noFill/>
          <a:ln cap="flat" cmpd="sng" w="19050">
            <a:solidFill>
              <a:srgbClr val="C9DAF8"/>
            </a:solidFill>
            <a:prstDash val="solid"/>
            <a:round/>
            <a:headEnd len="sm" w="sm" type="none"/>
            <a:tailEnd len="sm" w="sm" type="none"/>
          </a:ln>
        </p:spPr>
      </p:cxnSp>
      <p:sp>
        <p:nvSpPr>
          <p:cNvPr id="841" name="Google Shape;841;p44"/>
          <p:cNvSpPr/>
          <p:nvPr/>
        </p:nvSpPr>
        <p:spPr>
          <a:xfrm>
            <a:off x="7628175" y="963725"/>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842" name="Google Shape;842;p44"/>
          <p:cNvSpPr/>
          <p:nvPr/>
        </p:nvSpPr>
        <p:spPr>
          <a:xfrm>
            <a:off x="7170975" y="2106725"/>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843" name="Google Shape;843;p44"/>
          <p:cNvSpPr/>
          <p:nvPr/>
        </p:nvSpPr>
        <p:spPr>
          <a:xfrm>
            <a:off x="8237775" y="2030525"/>
            <a:ext cx="548700" cy="5487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cxnSp>
        <p:nvCxnSpPr>
          <p:cNvPr id="844" name="Google Shape;844;p44"/>
          <p:cNvCxnSpPr>
            <a:stCxn id="841" idx="3"/>
            <a:endCxn id="842" idx="0"/>
          </p:cNvCxnSpPr>
          <p:nvPr/>
        </p:nvCxnSpPr>
        <p:spPr>
          <a:xfrm flipH="1">
            <a:off x="7445430" y="1432070"/>
            <a:ext cx="263100" cy="674700"/>
          </a:xfrm>
          <a:prstGeom prst="straightConnector1">
            <a:avLst/>
          </a:prstGeom>
          <a:noFill/>
          <a:ln cap="flat" cmpd="sng" w="19050">
            <a:solidFill>
              <a:srgbClr val="C9DAF8"/>
            </a:solidFill>
            <a:prstDash val="solid"/>
            <a:round/>
            <a:headEnd len="sm" w="sm" type="none"/>
            <a:tailEnd len="sm" w="sm" type="none"/>
          </a:ln>
        </p:spPr>
      </p:cxnSp>
      <p:cxnSp>
        <p:nvCxnSpPr>
          <p:cNvPr id="845" name="Google Shape;845;p44"/>
          <p:cNvCxnSpPr>
            <a:stCxn id="841" idx="5"/>
            <a:endCxn id="843" idx="0"/>
          </p:cNvCxnSpPr>
          <p:nvPr/>
        </p:nvCxnSpPr>
        <p:spPr>
          <a:xfrm>
            <a:off x="8096520" y="1432070"/>
            <a:ext cx="415500" cy="598500"/>
          </a:xfrm>
          <a:prstGeom prst="straightConnector1">
            <a:avLst/>
          </a:prstGeom>
          <a:noFill/>
          <a:ln cap="flat" cmpd="sng" w="19050">
            <a:solidFill>
              <a:srgbClr val="C9DAF8"/>
            </a:solidFill>
            <a:prstDash val="solid"/>
            <a:round/>
            <a:headEnd len="sm" w="sm" type="none"/>
            <a:tailEnd len="sm" w="sm" type="none"/>
          </a:ln>
        </p:spPr>
      </p:cxnSp>
      <p:cxnSp>
        <p:nvCxnSpPr>
          <p:cNvPr id="846" name="Google Shape;846;p44"/>
          <p:cNvCxnSpPr>
            <a:stCxn id="842" idx="6"/>
            <a:endCxn id="843" idx="2"/>
          </p:cNvCxnSpPr>
          <p:nvPr/>
        </p:nvCxnSpPr>
        <p:spPr>
          <a:xfrm flipH="1" rot="10800000">
            <a:off x="7719675" y="2304875"/>
            <a:ext cx="518100" cy="76200"/>
          </a:xfrm>
          <a:prstGeom prst="straightConnector1">
            <a:avLst/>
          </a:prstGeom>
          <a:noFill/>
          <a:ln cap="flat" cmpd="sng" w="19050">
            <a:solidFill>
              <a:srgbClr val="C9DAF8"/>
            </a:solidFill>
            <a:prstDash val="solid"/>
            <a:round/>
            <a:headEnd len="sm" w="sm" type="none"/>
            <a:tailEnd len="sm" w="sm" type="none"/>
          </a:ln>
        </p:spPr>
      </p:cxnSp>
      <p:sp>
        <p:nvSpPr>
          <p:cNvPr id="847" name="Google Shape;847;p44"/>
          <p:cNvSpPr txBox="1"/>
          <p:nvPr>
            <p:ph idx="3" type="body"/>
          </p:nvPr>
        </p:nvSpPr>
        <p:spPr>
          <a:xfrm>
            <a:off x="5192225" y="4298962"/>
            <a:ext cx="3706500" cy="522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We will explore </a:t>
            </a:r>
            <a:r>
              <a:rPr b="1" i="1" lang="en">
                <a:solidFill>
                  <a:srgbClr val="FF0000"/>
                </a:solidFill>
              </a:rPr>
              <a:t>three</a:t>
            </a:r>
            <a:r>
              <a:rPr lang="en">
                <a:solidFill>
                  <a:srgbClr val="FF0000"/>
                </a:solidFill>
              </a:rPr>
              <a:t> </a:t>
            </a:r>
            <a:r>
              <a:rPr lang="en"/>
              <a:t>such algorithms throughout this course.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10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1" name="Shape 851"/>
        <p:cNvGrpSpPr/>
        <p:nvPr/>
      </p:nvGrpSpPr>
      <p:grpSpPr>
        <a:xfrm>
          <a:off x="0" y="0"/>
          <a:ext cx="0" cy="0"/>
          <a:chOff x="0" y="0"/>
          <a:chExt cx="0" cy="0"/>
        </a:xfrm>
      </p:grpSpPr>
      <p:cxnSp>
        <p:nvCxnSpPr>
          <p:cNvPr id="852" name="Google Shape;852;p45"/>
          <p:cNvCxnSpPr>
            <a:stCxn id="853" idx="3"/>
            <a:endCxn id="854" idx="1"/>
          </p:cNvCxnSpPr>
          <p:nvPr/>
        </p:nvCxnSpPr>
        <p:spPr>
          <a:xfrm>
            <a:off x="1124299" y="2324650"/>
            <a:ext cx="889800" cy="0"/>
          </a:xfrm>
          <a:prstGeom prst="straightConnector1">
            <a:avLst/>
          </a:prstGeom>
          <a:noFill/>
          <a:ln cap="flat" cmpd="sng" w="38100">
            <a:solidFill>
              <a:srgbClr val="FF0000"/>
            </a:solidFill>
            <a:prstDash val="solid"/>
            <a:round/>
            <a:headEnd len="sm" w="sm" type="none"/>
            <a:tailEnd len="sm" w="sm" type="none"/>
          </a:ln>
        </p:spPr>
      </p:cxnSp>
      <p:grpSp>
        <p:nvGrpSpPr>
          <p:cNvPr id="855" name="Google Shape;855;p45"/>
          <p:cNvGrpSpPr/>
          <p:nvPr/>
        </p:nvGrpSpPr>
        <p:grpSpPr>
          <a:xfrm>
            <a:off x="135800" y="1854288"/>
            <a:ext cx="2866801" cy="940742"/>
            <a:chOff x="135800" y="1854288"/>
            <a:chExt cx="2866801" cy="940742"/>
          </a:xfrm>
        </p:grpSpPr>
        <p:pic>
          <p:nvPicPr>
            <p:cNvPr id="853" name="Google Shape;853;p45"/>
            <p:cNvPicPr preferRelativeResize="0"/>
            <p:nvPr/>
          </p:nvPicPr>
          <p:blipFill rotWithShape="1">
            <a:blip r:embed="rId3">
              <a:alphaModFix/>
            </a:blip>
            <a:srcRect b="0" l="0" r="-21080" t="0"/>
            <a:stretch/>
          </p:blipFill>
          <p:spPr>
            <a:xfrm>
              <a:off x="135800" y="1854288"/>
              <a:ext cx="988499" cy="940725"/>
            </a:xfrm>
            <a:prstGeom prst="rect">
              <a:avLst/>
            </a:prstGeom>
            <a:noFill/>
            <a:ln cap="flat" cmpd="sng" w="19050">
              <a:solidFill>
                <a:srgbClr val="000000"/>
              </a:solidFill>
              <a:prstDash val="solid"/>
              <a:round/>
              <a:headEnd len="sm" w="sm" type="none"/>
              <a:tailEnd len="sm" w="sm" type="none"/>
            </a:ln>
          </p:spPr>
        </p:pic>
        <p:pic>
          <p:nvPicPr>
            <p:cNvPr id="854" name="Google Shape;854;p45"/>
            <p:cNvPicPr preferRelativeResize="0"/>
            <p:nvPr/>
          </p:nvPicPr>
          <p:blipFill>
            <a:blip r:embed="rId4">
              <a:alphaModFix/>
            </a:blip>
            <a:stretch>
              <a:fillRect/>
            </a:stretch>
          </p:blipFill>
          <p:spPr>
            <a:xfrm>
              <a:off x="2014101" y="1854301"/>
              <a:ext cx="988500" cy="940728"/>
            </a:xfrm>
            <a:prstGeom prst="rect">
              <a:avLst/>
            </a:prstGeom>
            <a:noFill/>
            <a:ln cap="flat" cmpd="sng" w="19050">
              <a:solidFill>
                <a:srgbClr val="000000"/>
              </a:solidFill>
              <a:prstDash val="solid"/>
              <a:round/>
              <a:headEnd len="sm" w="sm" type="none"/>
              <a:tailEnd len="sm" w="sm" type="none"/>
            </a:ln>
          </p:spPr>
        </p:pic>
      </p:grpSp>
      <p:cxnSp>
        <p:nvCxnSpPr>
          <p:cNvPr id="856" name="Google Shape;856;p45"/>
          <p:cNvCxnSpPr>
            <a:stCxn id="857" idx="3"/>
            <a:endCxn id="858" idx="1"/>
          </p:cNvCxnSpPr>
          <p:nvPr/>
        </p:nvCxnSpPr>
        <p:spPr>
          <a:xfrm flipH="1" rot="10800000">
            <a:off x="4107715" y="2320163"/>
            <a:ext cx="955200" cy="4500"/>
          </a:xfrm>
          <a:prstGeom prst="straightConnector1">
            <a:avLst/>
          </a:prstGeom>
          <a:noFill/>
          <a:ln cap="flat" cmpd="sng" w="38100">
            <a:solidFill>
              <a:srgbClr val="FF0000"/>
            </a:solidFill>
            <a:prstDash val="solid"/>
            <a:round/>
            <a:headEnd len="sm" w="sm" type="none"/>
            <a:tailEnd len="med" w="med" type="triangle"/>
          </a:ln>
        </p:spPr>
      </p:cxnSp>
      <p:sp>
        <p:nvSpPr>
          <p:cNvPr id="859" name="Google Shape;859;p45"/>
          <p:cNvSpPr txBox="1"/>
          <p:nvPr>
            <p:ph idx="12" type="sldNum"/>
          </p:nvPr>
        </p:nvSpPr>
        <p:spPr>
          <a:xfrm>
            <a:off x="8592700" y="4863622"/>
            <a:ext cx="548700" cy="2694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60" name="Google Shape;860;p45"/>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Directed vs Undirected Edges</a:t>
            </a:r>
            <a:endParaRPr/>
          </a:p>
        </p:txBody>
      </p:sp>
      <p:sp>
        <p:nvSpPr>
          <p:cNvPr id="861" name="Google Shape;861;p45"/>
          <p:cNvSpPr txBox="1"/>
          <p:nvPr/>
        </p:nvSpPr>
        <p:spPr>
          <a:xfrm>
            <a:off x="135788" y="1354775"/>
            <a:ext cx="2866800" cy="358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Consider two friends on Facebook.</a:t>
            </a:r>
            <a:endParaRPr b="0" i="0" sz="1200" u="none" cap="none" strike="noStrike">
              <a:solidFill>
                <a:srgbClr val="000000"/>
              </a:solidFill>
              <a:latin typeface="Arial"/>
              <a:ea typeface="Arial"/>
              <a:cs typeface="Arial"/>
              <a:sym typeface="Arial"/>
            </a:endParaRPr>
          </a:p>
        </p:txBody>
      </p:sp>
      <p:sp>
        <p:nvSpPr>
          <p:cNvPr id="862" name="Google Shape;862;p45"/>
          <p:cNvSpPr txBox="1"/>
          <p:nvPr/>
        </p:nvSpPr>
        <p:spPr>
          <a:xfrm>
            <a:off x="125901" y="2937092"/>
            <a:ext cx="2866800" cy="72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One friend sends the other a friend request. Once accepted, they can </a:t>
            </a:r>
            <a:r>
              <a:rPr b="1" i="1" lang="en" sz="1200" u="none" cap="none" strike="noStrike">
                <a:solidFill>
                  <a:srgbClr val="FF0000"/>
                </a:solidFill>
                <a:latin typeface="Arial"/>
                <a:ea typeface="Arial"/>
                <a:cs typeface="Arial"/>
                <a:sym typeface="Arial"/>
              </a:rPr>
              <a:t>both</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see each other’s timelines. </a:t>
            </a:r>
            <a:endParaRPr b="0" i="0" sz="1200" u="none" cap="none" strike="noStrike">
              <a:solidFill>
                <a:srgbClr val="000000"/>
              </a:solidFill>
              <a:latin typeface="Arial"/>
              <a:ea typeface="Arial"/>
              <a:cs typeface="Arial"/>
              <a:sym typeface="Arial"/>
            </a:endParaRPr>
          </a:p>
        </p:txBody>
      </p:sp>
      <p:sp>
        <p:nvSpPr>
          <p:cNvPr id="863" name="Google Shape;863;p45"/>
          <p:cNvSpPr txBox="1"/>
          <p:nvPr/>
        </p:nvSpPr>
        <p:spPr>
          <a:xfrm>
            <a:off x="125913" y="3798888"/>
            <a:ext cx="2866800" cy="929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we think of the friends as vertices in a graph, the edge between them is </a:t>
            </a:r>
            <a:r>
              <a:rPr b="1" i="1" lang="en" sz="1200" u="none" cap="none" strike="noStrike">
                <a:solidFill>
                  <a:srgbClr val="FF0000"/>
                </a:solidFill>
                <a:latin typeface="Arial"/>
                <a:ea typeface="Arial"/>
                <a:cs typeface="Arial"/>
                <a:sym typeface="Arial"/>
              </a:rPr>
              <a:t>undirected</a:t>
            </a:r>
            <a:r>
              <a:rPr b="0" i="0" lang="en" sz="1200" u="none" cap="none" strike="noStrike">
                <a:solidFill>
                  <a:srgbClr val="000000"/>
                </a:solidFill>
                <a:latin typeface="Arial"/>
                <a:ea typeface="Arial"/>
                <a:cs typeface="Arial"/>
                <a:sym typeface="Arial"/>
              </a:rPr>
              <a:t>; it works in </a:t>
            </a:r>
            <a:r>
              <a:rPr b="1" i="1" lang="en" sz="1200" u="none" cap="none" strike="noStrike">
                <a:solidFill>
                  <a:srgbClr val="FF0000"/>
                </a:solidFill>
                <a:latin typeface="Arial"/>
                <a:ea typeface="Arial"/>
                <a:cs typeface="Arial"/>
                <a:sym typeface="Arial"/>
              </a:rPr>
              <a:t>both </a:t>
            </a:r>
            <a:r>
              <a:rPr b="0" i="0" lang="en" sz="1200" u="none" cap="none" strike="noStrike">
                <a:solidFill>
                  <a:srgbClr val="000000"/>
                </a:solidFill>
                <a:latin typeface="Arial"/>
                <a:ea typeface="Arial"/>
                <a:cs typeface="Arial"/>
                <a:sym typeface="Arial"/>
              </a:rPr>
              <a:t>directions.</a:t>
            </a:r>
            <a:endParaRPr b="0" i="0" sz="1200" u="none" cap="none" strike="noStrike">
              <a:solidFill>
                <a:srgbClr val="000000"/>
              </a:solidFill>
              <a:latin typeface="Arial"/>
              <a:ea typeface="Arial"/>
              <a:cs typeface="Arial"/>
              <a:sym typeface="Arial"/>
            </a:endParaRPr>
          </a:p>
        </p:txBody>
      </p:sp>
      <p:sp>
        <p:nvSpPr>
          <p:cNvPr id="864" name="Google Shape;864;p45"/>
          <p:cNvSpPr txBox="1"/>
          <p:nvPr/>
        </p:nvSpPr>
        <p:spPr>
          <a:xfrm>
            <a:off x="3161126" y="1354775"/>
            <a:ext cx="2866800" cy="358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Now consider </a:t>
            </a:r>
            <a:r>
              <a:rPr lang="en" sz="1200"/>
              <a:t>X (</a:t>
            </a:r>
            <a:r>
              <a:rPr i="1" lang="en" sz="1200"/>
              <a:t>sigh</a:t>
            </a:r>
            <a:r>
              <a:rPr lang="en" sz="1200"/>
              <a:t>)</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865" name="Google Shape;865;p45"/>
          <p:cNvSpPr txBox="1"/>
          <p:nvPr/>
        </p:nvSpPr>
        <p:spPr>
          <a:xfrm>
            <a:off x="3151238" y="2930663"/>
            <a:ext cx="2866800" cy="72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One user may choose to follow another so that they can see that person’s tweets.</a:t>
            </a:r>
            <a:endParaRPr b="0" i="0" sz="1200" u="none" cap="none" strike="noStrike">
              <a:solidFill>
                <a:srgbClr val="000000"/>
              </a:solidFill>
              <a:latin typeface="Arial"/>
              <a:ea typeface="Arial"/>
              <a:cs typeface="Arial"/>
              <a:sym typeface="Arial"/>
            </a:endParaRPr>
          </a:p>
        </p:txBody>
      </p:sp>
      <p:sp>
        <p:nvSpPr>
          <p:cNvPr id="866" name="Google Shape;866;p45"/>
          <p:cNvSpPr txBox="1"/>
          <p:nvPr/>
        </p:nvSpPr>
        <p:spPr>
          <a:xfrm>
            <a:off x="3151238" y="3798888"/>
            <a:ext cx="2866800" cy="929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However, the second user does not see the first user’s tweets. The edge between the two users is </a:t>
            </a:r>
            <a:r>
              <a:rPr b="1" i="1" lang="en" sz="1200" u="none" cap="none" strike="noStrike">
                <a:solidFill>
                  <a:srgbClr val="FF0000"/>
                </a:solidFill>
                <a:latin typeface="Arial"/>
                <a:ea typeface="Arial"/>
                <a:cs typeface="Arial"/>
                <a:sym typeface="Arial"/>
              </a:rPr>
              <a:t>directed</a:t>
            </a:r>
            <a:r>
              <a:rPr b="0" i="0" lang="en" sz="1200" u="none" cap="none" strike="noStrike">
                <a:solidFill>
                  <a:srgbClr val="000000"/>
                </a:solidFill>
                <a:latin typeface="Arial"/>
                <a:ea typeface="Arial"/>
                <a:cs typeface="Arial"/>
                <a:sym typeface="Arial"/>
              </a:rPr>
              <a:t>; it only works in </a:t>
            </a:r>
            <a:r>
              <a:rPr b="1" i="1" lang="en" sz="1200" u="none" cap="none" strike="noStrike">
                <a:solidFill>
                  <a:srgbClr val="FF0000"/>
                </a:solidFill>
                <a:latin typeface="Arial"/>
                <a:ea typeface="Arial"/>
                <a:cs typeface="Arial"/>
                <a:sym typeface="Arial"/>
              </a:rPr>
              <a:t>one </a:t>
            </a:r>
            <a:r>
              <a:rPr b="0" i="0" lang="en" sz="1200" u="none" cap="none" strike="noStrike">
                <a:solidFill>
                  <a:srgbClr val="000000"/>
                </a:solidFill>
                <a:latin typeface="Arial"/>
                <a:ea typeface="Arial"/>
                <a:cs typeface="Arial"/>
                <a:sym typeface="Arial"/>
              </a:rPr>
              <a:t>direction.</a:t>
            </a:r>
            <a:endParaRPr b="0" i="0" sz="1200" u="none" cap="none" strike="noStrike">
              <a:solidFill>
                <a:srgbClr val="000000"/>
              </a:solidFill>
              <a:latin typeface="Arial"/>
              <a:ea typeface="Arial"/>
              <a:cs typeface="Arial"/>
              <a:sym typeface="Arial"/>
            </a:endParaRPr>
          </a:p>
        </p:txBody>
      </p:sp>
      <p:sp>
        <p:nvSpPr>
          <p:cNvPr id="867" name="Google Shape;867;p45"/>
          <p:cNvSpPr txBox="1"/>
          <p:nvPr/>
        </p:nvSpPr>
        <p:spPr>
          <a:xfrm>
            <a:off x="6151338" y="2930663"/>
            <a:ext cx="2866800" cy="72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Directed edges are represented in a graph by an </a:t>
            </a:r>
            <a:r>
              <a:rPr b="1" i="1" lang="en" sz="1200" u="none" cap="none" strike="noStrike">
                <a:solidFill>
                  <a:srgbClr val="FF0000"/>
                </a:solidFill>
                <a:latin typeface="Arial"/>
                <a:ea typeface="Arial"/>
                <a:cs typeface="Arial"/>
                <a:sym typeface="Arial"/>
              </a:rPr>
              <a:t>arrow</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on one end or the other of the edge.</a:t>
            </a:r>
            <a:endParaRPr b="0" i="0" sz="1200" u="none" cap="none" strike="noStrike">
              <a:solidFill>
                <a:srgbClr val="000000"/>
              </a:solidFill>
              <a:latin typeface="Arial"/>
              <a:ea typeface="Arial"/>
              <a:cs typeface="Arial"/>
              <a:sym typeface="Arial"/>
            </a:endParaRPr>
          </a:p>
        </p:txBody>
      </p:sp>
      <p:sp>
        <p:nvSpPr>
          <p:cNvPr id="868" name="Google Shape;868;p45"/>
          <p:cNvSpPr txBox="1"/>
          <p:nvPr/>
        </p:nvSpPr>
        <p:spPr>
          <a:xfrm>
            <a:off x="6151338" y="3791963"/>
            <a:ext cx="2866800" cy="929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In the example above, </a:t>
            </a:r>
            <a:r>
              <a:rPr b="1" i="1" lang="en" sz="1200" u="none" cap="none" strike="noStrike">
                <a:solidFill>
                  <a:srgbClr val="FF0000"/>
                </a:solidFill>
                <a:latin typeface="Arial"/>
                <a:ea typeface="Arial"/>
                <a:cs typeface="Arial"/>
                <a:sym typeface="Arial"/>
              </a:rPr>
              <a:t>E</a:t>
            </a:r>
            <a:r>
              <a:rPr b="1" baseline="-25000" i="1" lang="en" sz="1200" u="none" cap="none" strike="noStrike">
                <a:solidFill>
                  <a:srgbClr val="FF0000"/>
                </a:solidFill>
                <a:latin typeface="Arial"/>
                <a:ea typeface="Arial"/>
                <a:cs typeface="Arial"/>
                <a:sym typeface="Arial"/>
              </a:rPr>
              <a:t>EC</a:t>
            </a:r>
            <a:r>
              <a:rPr b="0" i="0" lang="en" sz="1200" u="none" cap="none" strike="noStrike">
                <a:solidFill>
                  <a:srgbClr val="000000"/>
                </a:solidFill>
                <a:latin typeface="Arial"/>
                <a:ea typeface="Arial"/>
                <a:cs typeface="Arial"/>
                <a:sym typeface="Arial"/>
              </a:rPr>
              <a:t>, is directed; the edge can be traversed from </a:t>
            </a:r>
            <a:r>
              <a:rPr b="1" i="1" lang="en" sz="1200" u="none" cap="none" strike="noStrike">
                <a:solidFill>
                  <a:srgbClr val="FF0000"/>
                </a:solidFill>
                <a:latin typeface="Arial"/>
                <a:ea typeface="Arial"/>
                <a:cs typeface="Arial"/>
                <a:sym typeface="Arial"/>
              </a:rPr>
              <a:t>E to C</a:t>
            </a:r>
            <a:r>
              <a:rPr b="0" i="0" lang="en" sz="1200" u="none" cap="none" strike="noStrike">
                <a:solidFill>
                  <a:srgbClr val="000000"/>
                </a:solidFill>
                <a:latin typeface="Arial"/>
                <a:ea typeface="Arial"/>
                <a:cs typeface="Arial"/>
                <a:sym typeface="Arial"/>
              </a:rPr>
              <a:t> but </a:t>
            </a:r>
            <a:r>
              <a:rPr b="1" i="1" lang="en" sz="1200" u="none" cap="none" strike="noStrike">
                <a:solidFill>
                  <a:srgbClr val="FF0000"/>
                </a:solidFill>
                <a:latin typeface="Arial"/>
                <a:ea typeface="Arial"/>
                <a:cs typeface="Arial"/>
                <a:sym typeface="Arial"/>
              </a:rPr>
              <a:t>not</a:t>
            </a:r>
            <a:r>
              <a:rPr b="0" i="0" lang="en" sz="1200" u="none" cap="none" strike="noStrike">
                <a:solidFill>
                  <a:srgbClr val="000000"/>
                </a:solidFill>
                <a:latin typeface="Arial"/>
                <a:ea typeface="Arial"/>
                <a:cs typeface="Arial"/>
                <a:sym typeface="Arial"/>
              </a:rPr>
              <a:t> from </a:t>
            </a:r>
            <a:r>
              <a:rPr b="1" i="1" lang="en" sz="1200" u="none" cap="none" strike="noStrike">
                <a:solidFill>
                  <a:srgbClr val="FF0000"/>
                </a:solidFill>
                <a:latin typeface="Arial"/>
                <a:ea typeface="Arial"/>
                <a:cs typeface="Arial"/>
                <a:sym typeface="Arial"/>
              </a:rPr>
              <a:t>C to E</a:t>
            </a:r>
            <a:r>
              <a:rPr b="0" i="0" lang="en" sz="1200" u="none" cap="none" strike="noStrike">
                <a:solidFill>
                  <a:srgbClr val="000000"/>
                </a:solidFill>
                <a:latin typeface="Arial"/>
                <a:ea typeface="Arial"/>
                <a:cs typeface="Arial"/>
                <a:sym typeface="Arial"/>
              </a:rPr>
              <a:t>. The other edges in the graph are undirected.</a:t>
            </a:r>
            <a:endParaRPr b="0" i="0" sz="1200" u="none" cap="none" strike="noStrike">
              <a:solidFill>
                <a:srgbClr val="000000"/>
              </a:solidFill>
              <a:latin typeface="Arial"/>
              <a:ea typeface="Arial"/>
              <a:cs typeface="Arial"/>
              <a:sym typeface="Arial"/>
            </a:endParaRPr>
          </a:p>
        </p:txBody>
      </p:sp>
      <p:grpSp>
        <p:nvGrpSpPr>
          <p:cNvPr id="869" name="Google Shape;869;p45"/>
          <p:cNvGrpSpPr/>
          <p:nvPr/>
        </p:nvGrpSpPr>
        <p:grpSpPr>
          <a:xfrm>
            <a:off x="6586339" y="1353409"/>
            <a:ext cx="1862622" cy="1390346"/>
            <a:chOff x="6586339" y="1353409"/>
            <a:chExt cx="1862622" cy="1390346"/>
          </a:xfrm>
        </p:grpSpPr>
        <p:grpSp>
          <p:nvGrpSpPr>
            <p:cNvPr id="870" name="Google Shape;870;p45"/>
            <p:cNvGrpSpPr/>
            <p:nvPr/>
          </p:nvGrpSpPr>
          <p:grpSpPr>
            <a:xfrm>
              <a:off x="6586339" y="1353409"/>
              <a:ext cx="1862622" cy="1390346"/>
              <a:chOff x="5900277" y="1413176"/>
              <a:chExt cx="2727118" cy="2035647"/>
            </a:xfrm>
          </p:grpSpPr>
          <p:sp>
            <p:nvSpPr>
              <p:cNvPr id="871" name="Google Shape;871;p45"/>
              <p:cNvSpPr/>
              <p:nvPr/>
            </p:nvSpPr>
            <p:spPr>
              <a:xfrm>
                <a:off x="6072743" y="1413176"/>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F</a:t>
                </a:r>
                <a:endParaRPr b="0" i="0" sz="1000" u="none" cap="none" strike="noStrike">
                  <a:solidFill>
                    <a:srgbClr val="000000"/>
                  </a:solidFill>
                  <a:latin typeface="Arial"/>
                  <a:ea typeface="Arial"/>
                  <a:cs typeface="Arial"/>
                  <a:sym typeface="Arial"/>
                </a:endParaRPr>
              </a:p>
            </p:txBody>
          </p:sp>
          <p:sp>
            <p:nvSpPr>
              <p:cNvPr id="872" name="Google Shape;872;p45"/>
              <p:cNvSpPr/>
              <p:nvPr/>
            </p:nvSpPr>
            <p:spPr>
              <a:xfrm>
                <a:off x="7213995" y="1512949"/>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G</a:t>
                </a:r>
                <a:endParaRPr b="0" i="0" sz="1000" u="none" cap="none" strike="noStrike">
                  <a:solidFill>
                    <a:srgbClr val="000000"/>
                  </a:solidFill>
                  <a:latin typeface="Arial"/>
                  <a:ea typeface="Arial"/>
                  <a:cs typeface="Arial"/>
                  <a:sym typeface="Arial"/>
                </a:endParaRPr>
              </a:p>
            </p:txBody>
          </p:sp>
          <p:sp>
            <p:nvSpPr>
              <p:cNvPr id="873" name="Google Shape;873;p45"/>
              <p:cNvSpPr/>
              <p:nvPr/>
            </p:nvSpPr>
            <p:spPr>
              <a:xfrm>
                <a:off x="5900277" y="2387190"/>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E</a:t>
                </a:r>
                <a:endParaRPr b="0" i="0" sz="1000" u="none" cap="none" strike="noStrike">
                  <a:solidFill>
                    <a:srgbClr val="000000"/>
                  </a:solidFill>
                  <a:latin typeface="Arial"/>
                  <a:ea typeface="Arial"/>
                  <a:cs typeface="Arial"/>
                  <a:sym typeface="Arial"/>
                </a:endParaRPr>
              </a:p>
            </p:txBody>
          </p:sp>
          <p:sp>
            <p:nvSpPr>
              <p:cNvPr id="874" name="Google Shape;874;p45"/>
              <p:cNvSpPr/>
              <p:nvPr/>
            </p:nvSpPr>
            <p:spPr>
              <a:xfrm>
                <a:off x="6996715" y="2516242"/>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C</a:t>
                </a:r>
                <a:endParaRPr b="0" i="0" sz="1000" u="none" cap="none" strike="noStrike">
                  <a:solidFill>
                    <a:srgbClr val="000000"/>
                  </a:solidFill>
                  <a:latin typeface="Arial"/>
                  <a:ea typeface="Arial"/>
                  <a:cs typeface="Arial"/>
                  <a:sym typeface="Arial"/>
                </a:endParaRPr>
              </a:p>
            </p:txBody>
          </p:sp>
          <p:sp>
            <p:nvSpPr>
              <p:cNvPr id="875" name="Google Shape;875;p45"/>
              <p:cNvSpPr/>
              <p:nvPr/>
            </p:nvSpPr>
            <p:spPr>
              <a:xfrm>
                <a:off x="7936395" y="2926823"/>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t>
                </a:r>
                <a:endParaRPr b="0" i="0" sz="1000" u="none" cap="none" strike="noStrike">
                  <a:solidFill>
                    <a:srgbClr val="000000"/>
                  </a:solidFill>
                  <a:latin typeface="Arial"/>
                  <a:ea typeface="Arial"/>
                  <a:cs typeface="Arial"/>
                  <a:sym typeface="Arial"/>
                </a:endParaRPr>
              </a:p>
            </p:txBody>
          </p:sp>
          <p:cxnSp>
            <p:nvCxnSpPr>
              <p:cNvPr id="876" name="Google Shape;876;p45"/>
              <p:cNvCxnSpPr>
                <a:stCxn id="871" idx="6"/>
                <a:endCxn id="872" idx="1"/>
              </p:cNvCxnSpPr>
              <p:nvPr/>
            </p:nvCxnSpPr>
            <p:spPr>
              <a:xfrm flipH="1" rot="10800000">
                <a:off x="6594743" y="1589276"/>
                <a:ext cx="695700" cy="84900"/>
              </a:xfrm>
              <a:prstGeom prst="straightConnector1">
                <a:avLst/>
              </a:prstGeom>
              <a:noFill/>
              <a:ln cap="flat" cmpd="sng" w="19050">
                <a:solidFill>
                  <a:srgbClr val="000000"/>
                </a:solidFill>
                <a:prstDash val="solid"/>
                <a:round/>
                <a:headEnd len="sm" w="sm" type="none"/>
                <a:tailEnd len="sm" w="sm" type="none"/>
              </a:ln>
            </p:spPr>
          </p:cxnSp>
          <p:cxnSp>
            <p:nvCxnSpPr>
              <p:cNvPr id="877" name="Google Shape;877;p45"/>
              <p:cNvCxnSpPr>
                <a:stCxn id="871" idx="4"/>
                <a:endCxn id="873" idx="0"/>
              </p:cNvCxnSpPr>
              <p:nvPr/>
            </p:nvCxnSpPr>
            <p:spPr>
              <a:xfrm flipH="1">
                <a:off x="6161243" y="1935176"/>
                <a:ext cx="172500" cy="452100"/>
              </a:xfrm>
              <a:prstGeom prst="straightConnector1">
                <a:avLst/>
              </a:prstGeom>
              <a:noFill/>
              <a:ln cap="flat" cmpd="sng" w="19050">
                <a:solidFill>
                  <a:srgbClr val="000000"/>
                </a:solidFill>
                <a:prstDash val="solid"/>
                <a:round/>
                <a:headEnd len="sm" w="sm" type="none"/>
                <a:tailEnd len="sm" w="sm" type="none"/>
              </a:ln>
            </p:spPr>
          </p:cxnSp>
          <p:cxnSp>
            <p:nvCxnSpPr>
              <p:cNvPr id="878" name="Google Shape;878;p45"/>
              <p:cNvCxnSpPr>
                <a:stCxn id="873" idx="5"/>
                <a:endCxn id="874" idx="2"/>
              </p:cNvCxnSpPr>
              <p:nvPr/>
            </p:nvCxnSpPr>
            <p:spPr>
              <a:xfrm flipH="1" rot="10800000">
                <a:off x="6345832" y="2777245"/>
                <a:ext cx="651000" cy="55500"/>
              </a:xfrm>
              <a:prstGeom prst="straightConnector1">
                <a:avLst/>
              </a:prstGeom>
              <a:noFill/>
              <a:ln cap="flat" cmpd="sng" w="19050">
                <a:solidFill>
                  <a:srgbClr val="000000"/>
                </a:solidFill>
                <a:prstDash val="solid"/>
                <a:round/>
                <a:headEnd len="sm" w="sm" type="none"/>
                <a:tailEnd len="sm" w="sm" type="none"/>
              </a:ln>
            </p:spPr>
          </p:cxnSp>
          <p:cxnSp>
            <p:nvCxnSpPr>
              <p:cNvPr id="879" name="Google Shape;879;p45"/>
              <p:cNvCxnSpPr>
                <a:stCxn id="874" idx="5"/>
                <a:endCxn id="875" idx="1"/>
              </p:cNvCxnSpPr>
              <p:nvPr/>
            </p:nvCxnSpPr>
            <p:spPr>
              <a:xfrm>
                <a:off x="7442270" y="2961797"/>
                <a:ext cx="570600" cy="41400"/>
              </a:xfrm>
              <a:prstGeom prst="straightConnector1">
                <a:avLst/>
              </a:prstGeom>
              <a:noFill/>
              <a:ln cap="flat" cmpd="sng" w="19050">
                <a:solidFill>
                  <a:srgbClr val="000000"/>
                </a:solidFill>
                <a:prstDash val="solid"/>
                <a:round/>
                <a:headEnd len="sm" w="sm" type="none"/>
                <a:tailEnd len="sm" w="sm" type="none"/>
              </a:ln>
            </p:spPr>
          </p:cxnSp>
          <p:sp>
            <p:nvSpPr>
              <p:cNvPr id="880" name="Google Shape;880;p45"/>
              <p:cNvSpPr/>
              <p:nvPr/>
            </p:nvSpPr>
            <p:spPr>
              <a:xfrm>
                <a:off x="8105395" y="1673623"/>
                <a:ext cx="522000" cy="522000"/>
              </a:xfrm>
              <a:prstGeom prst="ellipse">
                <a:avLst/>
              </a:prstGeom>
              <a:solidFill>
                <a:srgbClr val="F3F3F3"/>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H</a:t>
                </a:r>
                <a:endParaRPr b="0" i="0" sz="1000" u="none" cap="none" strike="noStrike">
                  <a:solidFill>
                    <a:srgbClr val="000000"/>
                  </a:solidFill>
                  <a:latin typeface="Arial"/>
                  <a:ea typeface="Arial"/>
                  <a:cs typeface="Arial"/>
                  <a:sym typeface="Arial"/>
                </a:endParaRPr>
              </a:p>
            </p:txBody>
          </p:sp>
          <p:cxnSp>
            <p:nvCxnSpPr>
              <p:cNvPr id="881" name="Google Shape;881;p45"/>
              <p:cNvCxnSpPr>
                <a:stCxn id="874" idx="6"/>
                <a:endCxn id="880" idx="3"/>
              </p:cNvCxnSpPr>
              <p:nvPr/>
            </p:nvCxnSpPr>
            <p:spPr>
              <a:xfrm flipH="1" rot="10800000">
                <a:off x="7518715" y="2119042"/>
                <a:ext cx="663000" cy="658200"/>
              </a:xfrm>
              <a:prstGeom prst="straightConnector1">
                <a:avLst/>
              </a:prstGeom>
              <a:noFill/>
              <a:ln cap="flat" cmpd="sng" w="19050">
                <a:solidFill>
                  <a:srgbClr val="000000"/>
                </a:solidFill>
                <a:prstDash val="solid"/>
                <a:round/>
                <a:headEnd len="sm" w="sm" type="none"/>
                <a:tailEnd len="sm" w="sm" type="none"/>
              </a:ln>
            </p:spPr>
          </p:cxnSp>
        </p:grpSp>
        <p:cxnSp>
          <p:nvCxnSpPr>
            <p:cNvPr id="882" name="Google Shape;882;p45"/>
            <p:cNvCxnSpPr>
              <a:stCxn id="873" idx="5"/>
              <a:endCxn id="874" idx="2"/>
            </p:cNvCxnSpPr>
            <p:nvPr/>
          </p:nvCxnSpPr>
          <p:spPr>
            <a:xfrm flipH="1" rot="10800000">
              <a:off x="6890653" y="2285174"/>
              <a:ext cx="444600" cy="37800"/>
            </a:xfrm>
            <a:prstGeom prst="straightConnector1">
              <a:avLst/>
            </a:prstGeom>
            <a:noFill/>
            <a:ln cap="flat" cmpd="sng" w="19050">
              <a:solidFill>
                <a:srgbClr val="FF0000"/>
              </a:solidFill>
              <a:prstDash val="solid"/>
              <a:round/>
              <a:headEnd len="sm" w="sm" type="none"/>
              <a:tailEnd len="med" w="med" type="triangle"/>
            </a:ln>
          </p:spPr>
        </p:cxnSp>
      </p:grpSp>
      <p:grpSp>
        <p:nvGrpSpPr>
          <p:cNvPr id="883" name="Google Shape;883;p45"/>
          <p:cNvGrpSpPr/>
          <p:nvPr/>
        </p:nvGrpSpPr>
        <p:grpSpPr>
          <a:xfrm>
            <a:off x="3176101" y="1854300"/>
            <a:ext cx="2818424" cy="940725"/>
            <a:chOff x="3176101" y="1854300"/>
            <a:chExt cx="2818424" cy="940725"/>
          </a:xfrm>
        </p:grpSpPr>
        <p:pic>
          <p:nvPicPr>
            <p:cNvPr id="857" name="Google Shape;857;p45"/>
            <p:cNvPicPr preferRelativeResize="0"/>
            <p:nvPr/>
          </p:nvPicPr>
          <p:blipFill>
            <a:blip r:embed="rId5">
              <a:alphaModFix/>
            </a:blip>
            <a:stretch>
              <a:fillRect/>
            </a:stretch>
          </p:blipFill>
          <p:spPr>
            <a:xfrm>
              <a:off x="3176101" y="1854300"/>
              <a:ext cx="931614" cy="940725"/>
            </a:xfrm>
            <a:prstGeom prst="rect">
              <a:avLst/>
            </a:prstGeom>
            <a:noFill/>
            <a:ln cap="flat" cmpd="sng" w="19050">
              <a:solidFill>
                <a:srgbClr val="000000"/>
              </a:solidFill>
              <a:prstDash val="solid"/>
              <a:round/>
              <a:headEnd len="sm" w="sm" type="none"/>
              <a:tailEnd len="sm" w="sm" type="none"/>
            </a:ln>
          </p:spPr>
        </p:pic>
        <p:pic>
          <p:nvPicPr>
            <p:cNvPr id="858" name="Google Shape;858;p45"/>
            <p:cNvPicPr preferRelativeResize="0"/>
            <p:nvPr/>
          </p:nvPicPr>
          <p:blipFill rotWithShape="1">
            <a:blip r:embed="rId6">
              <a:alphaModFix/>
            </a:blip>
            <a:srcRect b="0" l="0" r="0" t="0"/>
            <a:stretch/>
          </p:blipFill>
          <p:spPr>
            <a:xfrm>
              <a:off x="5062900" y="1854300"/>
              <a:ext cx="931625" cy="931625"/>
            </a:xfrm>
            <a:prstGeom prst="rect">
              <a:avLst/>
            </a:prstGeom>
            <a:noFill/>
            <a:ln cap="flat" cmpd="sng" w="19050">
              <a:solidFill>
                <a:srgbClr val="000000"/>
              </a:solidFill>
              <a:prstDash val="solid"/>
              <a:round/>
              <a:headEnd len="sm" w="sm" type="none"/>
              <a:tailEnd len="sm" w="sm" type="none"/>
            </a:ln>
          </p:spPr>
        </p:pic>
      </p:grpSp>
      <p:sp>
        <p:nvSpPr>
          <p:cNvPr id="884" name="Google Shape;884;p45"/>
          <p:cNvSpPr/>
          <p:nvPr/>
        </p:nvSpPr>
        <p:spPr>
          <a:xfrm>
            <a:off x="5324800" y="1395258"/>
            <a:ext cx="988500" cy="478500"/>
          </a:xfrm>
          <a:prstGeom prst="wedgeRoundRectCallout">
            <a:avLst>
              <a:gd fmla="val -20833" name="adj1"/>
              <a:gd fmla="val 6250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Thank goodness.</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5"/>
                                        </p:tgtEl>
                                        <p:attrNameLst>
                                          <p:attrName>style.visibility</p:attrName>
                                        </p:attrNameLst>
                                      </p:cBhvr>
                                      <p:to>
                                        <p:strVal val="visible"/>
                                      </p:to>
                                    </p:set>
                                    <p:animEffect filter="fade" transition="in">
                                      <p:cBhvr>
                                        <p:cTn dur="1000"/>
                                        <p:tgtEl>
                                          <p:spTgt spid="8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2"/>
                                        </p:tgtEl>
                                        <p:attrNameLst>
                                          <p:attrName>style.visibility</p:attrName>
                                        </p:attrNameLst>
                                      </p:cBhvr>
                                      <p:to>
                                        <p:strVal val="visible"/>
                                      </p:to>
                                    </p:set>
                                    <p:animEffect filter="fade" transition="in">
                                      <p:cBhvr>
                                        <p:cTn dur="1000"/>
                                        <p:tgtEl>
                                          <p:spTgt spid="862"/>
                                        </p:tgtEl>
                                      </p:cBhvr>
                                    </p:animEffect>
                                  </p:childTnLst>
                                </p:cTn>
                              </p:par>
                              <p:par>
                                <p:cTn fill="hold" nodeType="withEffect" presetClass="entr" presetID="10" presetSubtype="0">
                                  <p:stCondLst>
                                    <p:cond delay="0"/>
                                  </p:stCondLst>
                                  <p:childTnLst>
                                    <p:set>
                                      <p:cBhvr>
                                        <p:cTn dur="1" fill="hold">
                                          <p:stCondLst>
                                            <p:cond delay="0"/>
                                          </p:stCondLst>
                                        </p:cTn>
                                        <p:tgtEl>
                                          <p:spTgt spid="852"/>
                                        </p:tgtEl>
                                        <p:attrNameLst>
                                          <p:attrName>style.visibility</p:attrName>
                                        </p:attrNameLst>
                                      </p:cBhvr>
                                      <p:to>
                                        <p:strVal val="visible"/>
                                      </p:to>
                                    </p:set>
                                    <p:animEffect filter="fade" transition="in">
                                      <p:cBhvr>
                                        <p:cTn dur="1000"/>
                                        <p:tgtEl>
                                          <p:spTgt spid="8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3"/>
                                        </p:tgtEl>
                                        <p:attrNameLst>
                                          <p:attrName>style.visibility</p:attrName>
                                        </p:attrNameLst>
                                      </p:cBhvr>
                                      <p:to>
                                        <p:strVal val="visible"/>
                                      </p:to>
                                    </p:set>
                                    <p:animEffect filter="fade" transition="in">
                                      <p:cBhvr>
                                        <p:cTn dur="1000"/>
                                        <p:tgtEl>
                                          <p:spTgt spid="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000"/>
                                        <p:tgtEl>
                                          <p:spTgt spid="8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5"/>
                                        </p:tgtEl>
                                        <p:attrNameLst>
                                          <p:attrName>style.visibility</p:attrName>
                                        </p:attrNameLst>
                                      </p:cBhvr>
                                      <p:to>
                                        <p:strVal val="visible"/>
                                      </p:to>
                                    </p:set>
                                    <p:animEffect filter="fade" transition="in">
                                      <p:cBhvr>
                                        <p:cTn dur="1000"/>
                                        <p:tgtEl>
                                          <p:spTgt spid="8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6"/>
                                        </p:tgtEl>
                                        <p:attrNameLst>
                                          <p:attrName>style.visibility</p:attrName>
                                        </p:attrNameLst>
                                      </p:cBhvr>
                                      <p:to>
                                        <p:strVal val="visible"/>
                                      </p:to>
                                    </p:set>
                                    <p:animEffect filter="fade" transition="in">
                                      <p:cBhvr>
                                        <p:cTn dur="1000"/>
                                        <p:tgtEl>
                                          <p:spTgt spid="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6"/>
                                        </p:tgtEl>
                                        <p:attrNameLst>
                                          <p:attrName>style.visibility</p:attrName>
                                        </p:attrNameLst>
                                      </p:cBhvr>
                                      <p:to>
                                        <p:strVal val="visible"/>
                                      </p:to>
                                    </p:set>
                                    <p:animEffect filter="fade" transition="in">
                                      <p:cBhvr>
                                        <p:cTn dur="1000"/>
                                        <p:tgtEl>
                                          <p:spTgt spid="8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7"/>
                                        </p:tgtEl>
                                        <p:attrNameLst>
                                          <p:attrName>style.visibility</p:attrName>
                                        </p:attrNameLst>
                                      </p:cBhvr>
                                      <p:to>
                                        <p:strVal val="visible"/>
                                      </p:to>
                                    </p:set>
                                    <p:animEffect filter="fade" transition="in">
                                      <p:cBhvr>
                                        <p:cTn dur="1000"/>
                                        <p:tgtEl>
                                          <p:spTgt spid="867"/>
                                        </p:tgtEl>
                                      </p:cBhvr>
                                    </p:animEffect>
                                  </p:childTnLst>
                                </p:cTn>
                              </p:par>
                              <p:par>
                                <p:cTn fill="hold" nodeType="withEffect" presetClass="entr" presetID="10" presetSubtype="0">
                                  <p:stCondLst>
                                    <p:cond delay="0"/>
                                  </p:stCondLst>
                                  <p:childTnLst>
                                    <p:set>
                                      <p:cBhvr>
                                        <p:cTn dur="1" fill="hold">
                                          <p:stCondLst>
                                            <p:cond delay="0"/>
                                          </p:stCondLst>
                                        </p:cTn>
                                        <p:tgtEl>
                                          <p:spTgt spid="869"/>
                                        </p:tgtEl>
                                        <p:attrNameLst>
                                          <p:attrName>style.visibility</p:attrName>
                                        </p:attrNameLst>
                                      </p:cBhvr>
                                      <p:to>
                                        <p:strVal val="visible"/>
                                      </p:to>
                                    </p:set>
                                    <p:animEffect filter="fade" transition="in">
                                      <p:cBhvr>
                                        <p:cTn dur="1000"/>
                                        <p:tgtEl>
                                          <p:spTgt spid="8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68"/>
                                        </p:tgtEl>
                                        <p:attrNameLst>
                                          <p:attrName>style.visibility</p:attrName>
                                        </p:attrNameLst>
                                      </p:cBhvr>
                                      <p:to>
                                        <p:strVal val="visible"/>
                                      </p:to>
                                    </p:set>
                                    <p:animEffect filter="fade" transition="in">
                                      <p:cBhvr>
                                        <p:cTn dur="1000"/>
                                        <p:tgtEl>
                                          <p:spTgt spid="8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8" name="Shape 888"/>
        <p:cNvGrpSpPr/>
        <p:nvPr/>
      </p:nvGrpSpPr>
      <p:grpSpPr>
        <a:xfrm>
          <a:off x="0" y="0"/>
          <a:ext cx="0" cy="0"/>
          <a:chOff x="0" y="0"/>
          <a:chExt cx="0" cy="0"/>
        </a:xfrm>
      </p:grpSpPr>
      <p:sp>
        <p:nvSpPr>
          <p:cNvPr id="889" name="Google Shape;889;p46"/>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890" name="Google Shape;890;p46"/>
          <p:cNvSpPr txBox="1"/>
          <p:nvPr>
            <p:ph type="title"/>
          </p:nvPr>
        </p:nvSpPr>
        <p:spPr>
          <a:xfrm>
            <a:off x="311725" y="437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The Graph ADT</a:t>
            </a:r>
            <a:endParaRPr/>
          </a:p>
        </p:txBody>
      </p:sp>
      <p:sp>
        <p:nvSpPr>
          <p:cNvPr id="891" name="Google Shape;891;p46"/>
          <p:cNvSpPr txBox="1"/>
          <p:nvPr>
            <p:ph idx="1" type="body"/>
          </p:nvPr>
        </p:nvSpPr>
        <p:spPr>
          <a:xfrm>
            <a:off x="4373950" y="30875"/>
            <a:ext cx="4547700" cy="49827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The graph abstract data type defines the behavior that a graph must include, without specifying any implementation details.</a:t>
            </a:r>
            <a:endParaRPr/>
          </a:p>
          <a:p>
            <a:pPr indent="-311150" lvl="0" marL="457200" rtl="0" algn="l">
              <a:lnSpc>
                <a:spcPct val="115000"/>
              </a:lnSpc>
              <a:spcBef>
                <a:spcPts val="1000"/>
              </a:spcBef>
              <a:spcAft>
                <a:spcPts val="0"/>
              </a:spcAft>
              <a:buSzPts val="1300"/>
              <a:buChar char="●"/>
            </a:pPr>
            <a:r>
              <a:rPr lang="en"/>
              <a:t>A graph should provide at least the following behavior:</a:t>
            </a:r>
            <a:endParaRPr/>
          </a:p>
          <a:p>
            <a:pPr indent="-298450" lvl="1" marL="914400" rtl="0" algn="l">
              <a:lnSpc>
                <a:spcPct val="115000"/>
              </a:lnSpc>
              <a:spcBef>
                <a:spcPts val="0"/>
              </a:spcBef>
              <a:spcAft>
                <a:spcPts val="0"/>
              </a:spcAft>
              <a:buSzPts val="1100"/>
              <a:buChar char="○"/>
            </a:pPr>
            <a:r>
              <a:rPr b="1" i="1" lang="en">
                <a:solidFill>
                  <a:srgbClr val="FF0000"/>
                </a:solidFill>
              </a:rPr>
              <a:t>add(E value)</a:t>
            </a:r>
            <a:r>
              <a:rPr b="1" i="1" lang="en"/>
              <a:t> </a:t>
            </a:r>
            <a:r>
              <a:rPr lang="en"/>
              <a:t>- adds a value to the graph.</a:t>
            </a:r>
            <a:endParaRPr/>
          </a:p>
          <a:p>
            <a:pPr indent="-298450" lvl="1" marL="914400" rtl="0" algn="l">
              <a:lnSpc>
                <a:spcPct val="115000"/>
              </a:lnSpc>
              <a:spcBef>
                <a:spcPts val="0"/>
              </a:spcBef>
              <a:spcAft>
                <a:spcPts val="0"/>
              </a:spcAft>
              <a:buSzPts val="1100"/>
              <a:buChar char="○"/>
            </a:pPr>
            <a:r>
              <a:rPr b="1" i="1" lang="en">
                <a:solidFill>
                  <a:srgbClr val="FF0000"/>
                </a:solidFill>
              </a:rPr>
              <a:t>contains(E value)</a:t>
            </a:r>
            <a:r>
              <a:rPr lang="en"/>
              <a:t> - returns </a:t>
            </a:r>
            <a:r>
              <a:rPr lang="en">
                <a:latin typeface="Courier New"/>
                <a:ea typeface="Courier New"/>
                <a:cs typeface="Courier New"/>
                <a:sym typeface="Courier New"/>
              </a:rPr>
              <a:t>true</a:t>
            </a:r>
            <a:r>
              <a:rPr lang="en"/>
              <a:t> if the value is present in the graph, and </a:t>
            </a:r>
            <a:r>
              <a:rPr lang="en">
                <a:latin typeface="Courier New"/>
                <a:ea typeface="Courier New"/>
                <a:cs typeface="Courier New"/>
                <a:sym typeface="Courier New"/>
              </a:rPr>
              <a:t>false</a:t>
            </a:r>
            <a:r>
              <a:rPr lang="en"/>
              <a:t> otherwise.</a:t>
            </a:r>
            <a:endParaRPr/>
          </a:p>
          <a:p>
            <a:pPr indent="-298450" lvl="1" marL="914400" rtl="0" algn="l">
              <a:lnSpc>
                <a:spcPct val="115000"/>
              </a:lnSpc>
              <a:spcBef>
                <a:spcPts val="0"/>
              </a:spcBef>
              <a:spcAft>
                <a:spcPts val="0"/>
              </a:spcAft>
              <a:buSzPts val="1100"/>
              <a:buChar char="○"/>
            </a:pPr>
            <a:r>
              <a:rPr b="1" i="1" lang="en">
                <a:solidFill>
                  <a:srgbClr val="FF0000"/>
                </a:solidFill>
              </a:rPr>
              <a:t>size</a:t>
            </a:r>
            <a:r>
              <a:rPr lang="en">
                <a:solidFill>
                  <a:srgbClr val="FF0000"/>
                </a:solidFill>
              </a:rPr>
              <a:t> </a:t>
            </a:r>
            <a:r>
              <a:rPr lang="en"/>
              <a:t>- returns the number of values</a:t>
            </a:r>
            <a:r>
              <a:rPr lang="en"/>
              <a:t> </a:t>
            </a:r>
            <a:r>
              <a:rPr lang="en"/>
              <a:t>in the graph.</a:t>
            </a:r>
            <a:endParaRPr/>
          </a:p>
          <a:p>
            <a:pPr indent="-298450" lvl="1" marL="914400" rtl="0" algn="l">
              <a:lnSpc>
                <a:spcPct val="115000"/>
              </a:lnSpc>
              <a:spcBef>
                <a:spcPts val="0"/>
              </a:spcBef>
              <a:spcAft>
                <a:spcPts val="0"/>
              </a:spcAft>
              <a:buSzPts val="1100"/>
              <a:buChar char="○"/>
            </a:pPr>
            <a:r>
              <a:rPr b="1" i="1" lang="en">
                <a:solidFill>
                  <a:srgbClr val="FF0000"/>
                </a:solidFill>
              </a:rPr>
              <a:t>connectDirected(E a, E b)</a:t>
            </a:r>
            <a:r>
              <a:rPr lang="en"/>
              <a:t> - creates a </a:t>
            </a:r>
            <a:r>
              <a:rPr b="1" i="1" lang="en">
                <a:solidFill>
                  <a:srgbClr val="FF0000"/>
                </a:solidFill>
              </a:rPr>
              <a:t>directed</a:t>
            </a:r>
            <a:r>
              <a:rPr b="1" i="1" lang="en"/>
              <a:t> </a:t>
            </a:r>
            <a:r>
              <a:rPr lang="en"/>
              <a:t>connection between the specified two values in the graph.</a:t>
            </a:r>
            <a:endParaRPr/>
          </a:p>
          <a:p>
            <a:pPr indent="-298450" lvl="1" marL="914400" rtl="0" algn="l">
              <a:lnSpc>
                <a:spcPct val="115000"/>
              </a:lnSpc>
              <a:spcBef>
                <a:spcPts val="0"/>
              </a:spcBef>
              <a:spcAft>
                <a:spcPts val="0"/>
              </a:spcAft>
              <a:buSzPts val="1100"/>
              <a:buChar char="○"/>
            </a:pPr>
            <a:r>
              <a:rPr b="1" i="1" lang="en">
                <a:solidFill>
                  <a:srgbClr val="FF0000"/>
                </a:solidFill>
              </a:rPr>
              <a:t>connectUndirected(E a, E b)</a:t>
            </a:r>
            <a:r>
              <a:rPr lang="en"/>
              <a:t> - creates an </a:t>
            </a:r>
            <a:r>
              <a:rPr b="1" i="1" lang="en">
                <a:solidFill>
                  <a:srgbClr val="FF0000"/>
                </a:solidFill>
              </a:rPr>
              <a:t>undirected</a:t>
            </a:r>
            <a:r>
              <a:rPr lang="en"/>
              <a:t> connection between the specified two values in the graph.</a:t>
            </a:r>
            <a:endParaRPr/>
          </a:p>
          <a:p>
            <a:pPr indent="-298450" lvl="1" marL="914400" rtl="0" algn="l">
              <a:lnSpc>
                <a:spcPct val="115000"/>
              </a:lnSpc>
              <a:spcBef>
                <a:spcPts val="0"/>
              </a:spcBef>
              <a:spcAft>
                <a:spcPts val="0"/>
              </a:spcAft>
              <a:buSzPts val="1100"/>
              <a:buChar char="○"/>
            </a:pPr>
            <a:r>
              <a:rPr b="1" i="1" lang="en">
                <a:solidFill>
                  <a:srgbClr val="FF0000"/>
                </a:solidFill>
              </a:rPr>
              <a:t>connected(E a, E b)</a:t>
            </a:r>
            <a:r>
              <a:rPr lang="en"/>
              <a:t> - returns </a:t>
            </a:r>
            <a:r>
              <a:rPr lang="en">
                <a:latin typeface="Courier New"/>
                <a:ea typeface="Courier New"/>
                <a:cs typeface="Courier New"/>
                <a:sym typeface="Courier New"/>
              </a:rPr>
              <a:t>true</a:t>
            </a:r>
            <a:r>
              <a:rPr lang="en"/>
              <a:t> if the two values are connected in the graph, and </a:t>
            </a:r>
            <a:r>
              <a:rPr lang="en">
                <a:latin typeface="Courier New"/>
                <a:ea typeface="Courier New"/>
                <a:cs typeface="Courier New"/>
                <a:sym typeface="Courier New"/>
              </a:rPr>
              <a:t>false</a:t>
            </a:r>
            <a:r>
              <a:rPr lang="en"/>
              <a:t> otherwise.</a:t>
            </a:r>
            <a:endParaRPr/>
          </a:p>
          <a:p>
            <a:pPr indent="-311150" lvl="0" marL="457200" rtl="0" algn="l">
              <a:lnSpc>
                <a:spcPct val="115000"/>
              </a:lnSpc>
              <a:spcBef>
                <a:spcPts val="1000"/>
              </a:spcBef>
              <a:spcAft>
                <a:spcPts val="0"/>
              </a:spcAft>
              <a:buSzPts val="1300"/>
              <a:buChar char="●"/>
            </a:pPr>
            <a:r>
              <a:rPr lang="en"/>
              <a:t>Note that the described behavior does not include any references to </a:t>
            </a:r>
            <a:r>
              <a:rPr b="1" i="1" lang="en">
                <a:solidFill>
                  <a:srgbClr val="FF0000"/>
                </a:solidFill>
              </a:rPr>
              <a:t>vertices</a:t>
            </a:r>
            <a:r>
              <a:rPr lang="en"/>
              <a:t> - that is because there is more than one way to implement a graph!</a:t>
            </a:r>
            <a:endParaRPr/>
          </a:p>
          <a:p>
            <a:pPr indent="-298450" lvl="1" marL="914400" rtl="0" algn="l">
              <a:lnSpc>
                <a:spcPct val="115000"/>
              </a:lnSpc>
              <a:spcBef>
                <a:spcPts val="0"/>
              </a:spcBef>
              <a:spcAft>
                <a:spcPts val="0"/>
              </a:spcAft>
              <a:buSzPts val="1100"/>
              <a:buChar char="○"/>
            </a:pPr>
            <a:r>
              <a:rPr lang="en"/>
              <a:t>And the user of the graph </a:t>
            </a:r>
            <a:r>
              <a:rPr b="1" i="1" lang="en">
                <a:solidFill>
                  <a:srgbClr val="FF0000"/>
                </a:solidFill>
              </a:rPr>
              <a:t>does not need to know</a:t>
            </a:r>
            <a:r>
              <a:rPr lang="en"/>
              <a:t> (or </a:t>
            </a:r>
            <a:r>
              <a:rPr b="1" i="1" lang="en">
                <a:solidFill>
                  <a:srgbClr val="FF0000"/>
                </a:solidFill>
              </a:rPr>
              <a:t>care</a:t>
            </a:r>
            <a:r>
              <a:rPr lang="en"/>
              <a:t>) about implementation details!</a:t>
            </a:r>
            <a:endParaRPr/>
          </a:p>
        </p:txBody>
      </p:sp>
      <p:sp>
        <p:nvSpPr>
          <p:cNvPr id="892" name="Google Shape;892;p46"/>
          <p:cNvSpPr txBox="1"/>
          <p:nvPr>
            <p:ph idx="3" type="body"/>
          </p:nvPr>
        </p:nvSpPr>
        <p:spPr>
          <a:xfrm>
            <a:off x="315425" y="758025"/>
            <a:ext cx="3706500" cy="71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We've seen many data structures that are easier to visualize </a:t>
            </a:r>
            <a:r>
              <a:rPr b="1" i="1" lang="en">
                <a:solidFill>
                  <a:srgbClr val="FF0000"/>
                </a:solidFill>
              </a:rPr>
              <a:t>conceptually</a:t>
            </a:r>
            <a:r>
              <a:rPr lang="en">
                <a:solidFill>
                  <a:srgbClr val="FF0000"/>
                </a:solidFill>
              </a:rPr>
              <a:t> </a:t>
            </a:r>
            <a:r>
              <a:rPr lang="en"/>
              <a:t>using diagrams comprising </a:t>
            </a:r>
            <a:r>
              <a:rPr b="1" i="1" lang="en">
                <a:solidFill>
                  <a:srgbClr val="FF0000"/>
                </a:solidFill>
              </a:rPr>
              <a:t>nodes</a:t>
            </a:r>
            <a:r>
              <a:rPr lang="en"/>
              <a:t>...</a:t>
            </a:r>
            <a:endParaRPr/>
          </a:p>
        </p:txBody>
      </p:sp>
      <p:pic>
        <p:nvPicPr>
          <p:cNvPr id="893" name="Google Shape;893;p46"/>
          <p:cNvPicPr preferRelativeResize="0"/>
          <p:nvPr/>
        </p:nvPicPr>
        <p:blipFill rotWithShape="1">
          <a:blip r:embed="rId3">
            <a:alphaModFix/>
          </a:blip>
          <a:srcRect b="0" l="0" r="0" t="0"/>
          <a:stretch/>
        </p:blipFill>
        <p:spPr>
          <a:xfrm>
            <a:off x="686245" y="1547625"/>
            <a:ext cx="2779275" cy="1845551"/>
          </a:xfrm>
          <a:prstGeom prst="rect">
            <a:avLst/>
          </a:prstGeom>
          <a:noFill/>
          <a:ln>
            <a:noFill/>
          </a:ln>
        </p:spPr>
      </p:pic>
      <p:sp>
        <p:nvSpPr>
          <p:cNvPr id="894" name="Google Shape;894;p46"/>
          <p:cNvSpPr txBox="1"/>
          <p:nvPr>
            <p:ph idx="3" type="body"/>
          </p:nvPr>
        </p:nvSpPr>
        <p:spPr>
          <a:xfrm>
            <a:off x="360450" y="3532437"/>
            <a:ext cx="3706500" cy="71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...but by now we also understand that those same data structures may be implemented without using node </a:t>
            </a:r>
            <a:r>
              <a:rPr b="1" i="1" lang="en">
                <a:solidFill>
                  <a:srgbClr val="FF0000"/>
                </a:solidFill>
              </a:rPr>
              <a:t>objects</a:t>
            </a:r>
            <a:r>
              <a:rPr lang="en"/>
              <a:t>. Graphs are no exception!</a:t>
            </a:r>
            <a:endParaRPr/>
          </a:p>
        </p:txBody>
      </p:sp>
      <p:graphicFrame>
        <p:nvGraphicFramePr>
          <p:cNvPr id="895" name="Google Shape;895;p46"/>
          <p:cNvGraphicFramePr/>
          <p:nvPr/>
        </p:nvGraphicFramePr>
        <p:xfrm>
          <a:off x="360438" y="4425775"/>
          <a:ext cx="3000000" cy="3000000"/>
        </p:xfrm>
        <a:graphic>
          <a:graphicData uri="http://schemas.openxmlformats.org/drawingml/2006/table">
            <a:tbl>
              <a:tblPr>
                <a:noFill/>
                <a:tableStyleId>{F61E8307-4E6B-4154-8BF4-D3231BAD3CED}</a:tableStyleId>
              </a:tblPr>
              <a:tblGrid>
                <a:gridCol w="411825"/>
                <a:gridCol w="411825"/>
                <a:gridCol w="411825"/>
                <a:gridCol w="411825"/>
                <a:gridCol w="411825"/>
                <a:gridCol w="411825"/>
                <a:gridCol w="411825"/>
                <a:gridCol w="411825"/>
                <a:gridCol w="411825"/>
              </a:tblGrid>
              <a:tr h="3810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7</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B6D7A8"/>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10</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C9DAF8"/>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21</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C9DAF8"/>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50</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E5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60</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E5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43</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24</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EA9999"/>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68</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6B26B"/>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t>66</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6B26B"/>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0" st="0"/>
                                            </p:txEl>
                                          </p:spTgt>
                                        </p:tgtEl>
                                        <p:attrNameLst>
                                          <p:attrName>style.visibility</p:attrName>
                                        </p:attrNameLst>
                                      </p:cBhvr>
                                      <p:to>
                                        <p:strVal val="visible"/>
                                      </p:to>
                                    </p:set>
                                    <p:animEffect filter="fade" transition="in">
                                      <p:cBhvr>
                                        <p:cTn dur="1000"/>
                                        <p:tgtEl>
                                          <p:spTgt spid="891">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1" st="1"/>
                                            </p:txEl>
                                          </p:spTgt>
                                        </p:tgtEl>
                                        <p:attrNameLst>
                                          <p:attrName>style.visibility</p:attrName>
                                        </p:attrNameLst>
                                      </p:cBhvr>
                                      <p:to>
                                        <p:strVal val="visible"/>
                                      </p:to>
                                    </p:set>
                                    <p:animEffect filter="fade" transition="in">
                                      <p:cBhvr>
                                        <p:cTn dur="1000"/>
                                        <p:tgtEl>
                                          <p:spTgt spid="891">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2" st="2"/>
                                            </p:txEl>
                                          </p:spTgt>
                                        </p:tgtEl>
                                        <p:attrNameLst>
                                          <p:attrName>style.visibility</p:attrName>
                                        </p:attrNameLst>
                                      </p:cBhvr>
                                      <p:to>
                                        <p:strVal val="visible"/>
                                      </p:to>
                                    </p:set>
                                    <p:animEffect filter="fade" transition="in">
                                      <p:cBhvr>
                                        <p:cTn dur="1000"/>
                                        <p:tgtEl>
                                          <p:spTgt spid="891">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3" st="3"/>
                                            </p:txEl>
                                          </p:spTgt>
                                        </p:tgtEl>
                                        <p:attrNameLst>
                                          <p:attrName>style.visibility</p:attrName>
                                        </p:attrNameLst>
                                      </p:cBhvr>
                                      <p:to>
                                        <p:strVal val="visible"/>
                                      </p:to>
                                    </p:set>
                                    <p:animEffect filter="fade" transition="in">
                                      <p:cBhvr>
                                        <p:cTn dur="1000"/>
                                        <p:tgtEl>
                                          <p:spTgt spid="891">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4" st="4"/>
                                            </p:txEl>
                                          </p:spTgt>
                                        </p:tgtEl>
                                        <p:attrNameLst>
                                          <p:attrName>style.visibility</p:attrName>
                                        </p:attrNameLst>
                                      </p:cBhvr>
                                      <p:to>
                                        <p:strVal val="visible"/>
                                      </p:to>
                                    </p:set>
                                    <p:animEffect filter="fade" transition="in">
                                      <p:cBhvr>
                                        <p:cTn dur="1000"/>
                                        <p:tgtEl>
                                          <p:spTgt spid="891">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5" st="5"/>
                                            </p:txEl>
                                          </p:spTgt>
                                        </p:tgtEl>
                                        <p:attrNameLst>
                                          <p:attrName>style.visibility</p:attrName>
                                        </p:attrNameLst>
                                      </p:cBhvr>
                                      <p:to>
                                        <p:strVal val="visible"/>
                                      </p:to>
                                    </p:set>
                                    <p:animEffect filter="fade" transition="in">
                                      <p:cBhvr>
                                        <p:cTn dur="1000"/>
                                        <p:tgtEl>
                                          <p:spTgt spid="891">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6" st="6"/>
                                            </p:txEl>
                                          </p:spTgt>
                                        </p:tgtEl>
                                        <p:attrNameLst>
                                          <p:attrName>style.visibility</p:attrName>
                                        </p:attrNameLst>
                                      </p:cBhvr>
                                      <p:to>
                                        <p:strVal val="visible"/>
                                      </p:to>
                                    </p:set>
                                    <p:animEffect filter="fade" transition="in">
                                      <p:cBhvr>
                                        <p:cTn dur="1000"/>
                                        <p:tgtEl>
                                          <p:spTgt spid="891">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7" st="7"/>
                                            </p:txEl>
                                          </p:spTgt>
                                        </p:tgtEl>
                                        <p:attrNameLst>
                                          <p:attrName>style.visibility</p:attrName>
                                        </p:attrNameLst>
                                      </p:cBhvr>
                                      <p:to>
                                        <p:strVal val="visible"/>
                                      </p:to>
                                    </p:set>
                                    <p:animEffect filter="fade" transition="in">
                                      <p:cBhvr>
                                        <p:cTn dur="1000"/>
                                        <p:tgtEl>
                                          <p:spTgt spid="891">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8" st="8"/>
                                            </p:txEl>
                                          </p:spTgt>
                                        </p:tgtEl>
                                        <p:attrNameLst>
                                          <p:attrName>style.visibility</p:attrName>
                                        </p:attrNameLst>
                                      </p:cBhvr>
                                      <p:to>
                                        <p:strVal val="visible"/>
                                      </p:to>
                                    </p:set>
                                    <p:animEffect filter="fade" transition="in">
                                      <p:cBhvr>
                                        <p:cTn dur="1000"/>
                                        <p:tgtEl>
                                          <p:spTgt spid="891">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1">
                                            <p:txEl>
                                              <p:pRg end="9" st="9"/>
                                            </p:txEl>
                                          </p:spTgt>
                                        </p:tgtEl>
                                        <p:attrNameLst>
                                          <p:attrName>style.visibility</p:attrName>
                                        </p:attrNameLst>
                                      </p:cBhvr>
                                      <p:to>
                                        <p:strVal val="visible"/>
                                      </p:to>
                                    </p:set>
                                    <p:animEffect filter="fade" transition="in">
                                      <p:cBhvr>
                                        <p:cTn dur="1000"/>
                                        <p:tgtEl>
                                          <p:spTgt spid="891">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2"/>
                                        </p:tgtEl>
                                        <p:attrNameLst>
                                          <p:attrName>style.visibility</p:attrName>
                                        </p:attrNameLst>
                                      </p:cBhvr>
                                      <p:to>
                                        <p:strVal val="visible"/>
                                      </p:to>
                                    </p:set>
                                    <p:animEffect filter="fade" transition="in">
                                      <p:cBhvr>
                                        <p:cTn dur="1000"/>
                                        <p:tgtEl>
                                          <p:spTgt spid="892"/>
                                        </p:tgtEl>
                                      </p:cBhvr>
                                    </p:animEffect>
                                  </p:childTnLst>
                                </p:cTn>
                              </p:par>
                              <p:par>
                                <p:cTn fill="hold" nodeType="withEffect" presetClass="entr" presetID="10" presetSubtype="0">
                                  <p:stCondLst>
                                    <p:cond delay="0"/>
                                  </p:stCondLst>
                                  <p:childTnLst>
                                    <p:set>
                                      <p:cBhvr>
                                        <p:cTn dur="1" fill="hold">
                                          <p:stCondLst>
                                            <p:cond delay="0"/>
                                          </p:stCondLst>
                                        </p:cTn>
                                        <p:tgtEl>
                                          <p:spTgt spid="893"/>
                                        </p:tgtEl>
                                        <p:attrNameLst>
                                          <p:attrName>style.visibility</p:attrName>
                                        </p:attrNameLst>
                                      </p:cBhvr>
                                      <p:to>
                                        <p:strVal val="visible"/>
                                      </p:to>
                                    </p:set>
                                    <p:animEffect filter="fade" transition="in">
                                      <p:cBhvr>
                                        <p:cTn dur="1000"/>
                                        <p:tgtEl>
                                          <p:spTgt spid="8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4"/>
                                        </p:tgtEl>
                                        <p:attrNameLst>
                                          <p:attrName>style.visibility</p:attrName>
                                        </p:attrNameLst>
                                      </p:cBhvr>
                                      <p:to>
                                        <p:strVal val="visible"/>
                                      </p:to>
                                    </p:set>
                                    <p:animEffect filter="fade" transition="in">
                                      <p:cBhvr>
                                        <p:cTn dur="1000"/>
                                        <p:tgtEl>
                                          <p:spTgt spid="894"/>
                                        </p:tgtEl>
                                      </p:cBhvr>
                                    </p:animEffect>
                                  </p:childTnLst>
                                </p:cTn>
                              </p:par>
                              <p:par>
                                <p:cTn fill="hold" nodeType="withEffect" presetClass="entr" presetID="10" presetSubtype="0">
                                  <p:stCondLst>
                                    <p:cond delay="0"/>
                                  </p:stCondLst>
                                  <p:childTnLst>
                                    <p:set>
                                      <p:cBhvr>
                                        <p:cTn dur="1" fill="hold">
                                          <p:stCondLst>
                                            <p:cond delay="0"/>
                                          </p:stCondLst>
                                        </p:cTn>
                                        <p:tgtEl>
                                          <p:spTgt spid="895"/>
                                        </p:tgtEl>
                                        <p:attrNameLst>
                                          <p:attrName>style.visibility</p:attrName>
                                        </p:attrNameLst>
                                      </p:cBhvr>
                                      <p:to>
                                        <p:strVal val="visible"/>
                                      </p:to>
                                    </p:set>
                                    <p:animEffect filter="fade" transition="in">
                                      <p:cBhvr>
                                        <p:cTn dur="1000"/>
                                        <p:tgtEl>
                                          <p:spTgt spid="89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9" name="Shape 899"/>
        <p:cNvGrpSpPr/>
        <p:nvPr/>
      </p:nvGrpSpPr>
      <p:grpSpPr>
        <a:xfrm>
          <a:off x="0" y="0"/>
          <a:ext cx="0" cy="0"/>
          <a:chOff x="0" y="0"/>
          <a:chExt cx="0" cy="0"/>
        </a:xfrm>
      </p:grpSpPr>
      <p:sp>
        <p:nvSpPr>
          <p:cNvPr id="900" name="Google Shape;900;p4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Like all of the other abstract data types we have implemented this semester, we will represent the </a:t>
            </a:r>
            <a:r>
              <a:rPr i="1" lang="en"/>
              <a:t>Graph</a:t>
            </a:r>
            <a:r>
              <a:rPr lang="en"/>
              <a:t> ADT using a Java interface to define (but not implement) it's behavior. The Graph interface should be </a:t>
            </a:r>
            <a:r>
              <a:rPr i="1" lang="en"/>
              <a:t>generic</a:t>
            </a:r>
            <a:r>
              <a:rPr lang="en"/>
              <a:t> so that the vertices can store any kind of value.</a:t>
            </a:r>
            <a:endParaRPr/>
          </a:p>
        </p:txBody>
      </p:sp>
      <p:sp>
        <p:nvSpPr>
          <p:cNvPr id="901" name="Google Shape;901;p4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02" name="Google Shape;902;p47"/>
          <p:cNvSpPr txBox="1"/>
          <p:nvPr>
            <p:ph idx="2" type="body"/>
          </p:nvPr>
        </p:nvSpPr>
        <p:spPr>
          <a:xfrm>
            <a:off x="3346625" y="1789050"/>
            <a:ext cx="5429700" cy="28428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Unless otherwise instructed, use the provided package named "</a:t>
            </a:r>
            <a:r>
              <a:rPr lang="en" sz="1600">
                <a:solidFill>
                  <a:srgbClr val="FF0000"/>
                </a:solidFill>
                <a:latin typeface="Courier New"/>
                <a:ea typeface="Courier New"/>
                <a:cs typeface="Courier New"/>
                <a:sym typeface="Courier New"/>
              </a:rPr>
              <a:t>graphs</a:t>
            </a:r>
            <a:r>
              <a:rPr lang="en" sz="1600"/>
              <a:t>" for all of the code that you write in this unit.</a:t>
            </a:r>
            <a:endParaRPr sz="1600"/>
          </a:p>
          <a:p>
            <a:pPr indent="-330200" lvl="0" marL="457200" rtl="0" algn="l">
              <a:spcBef>
                <a:spcPts val="0"/>
              </a:spcBef>
              <a:spcAft>
                <a:spcPts val="0"/>
              </a:spcAft>
              <a:buSzPts val="1600"/>
              <a:buChar char="●"/>
            </a:pPr>
            <a:r>
              <a:rPr lang="en" sz="1600"/>
              <a:t>Create a new Java interface named "</a:t>
            </a:r>
            <a:r>
              <a:rPr lang="en" sz="1600">
                <a:solidFill>
                  <a:srgbClr val="FF0000"/>
                </a:solidFill>
                <a:latin typeface="Courier New"/>
                <a:ea typeface="Courier New"/>
                <a:cs typeface="Courier New"/>
                <a:sym typeface="Courier New"/>
              </a:rPr>
              <a:t>Graph</a:t>
            </a:r>
            <a:r>
              <a:rPr lang="en" sz="1600"/>
              <a:t>".</a:t>
            </a:r>
            <a:endParaRPr sz="1600"/>
          </a:p>
          <a:p>
            <a:pPr indent="-317500" lvl="1" marL="914400" rtl="0" algn="l">
              <a:spcBef>
                <a:spcPts val="0"/>
              </a:spcBef>
              <a:spcAft>
                <a:spcPts val="0"/>
              </a:spcAft>
              <a:buSzPts val="1400"/>
              <a:buChar char="○"/>
            </a:pPr>
            <a:r>
              <a:rPr lang="en" sz="1400"/>
              <a:t>Use the UML diagram to the left as a guide when implementing your </a:t>
            </a:r>
            <a:r>
              <a:rPr lang="en" sz="1400">
                <a:latin typeface="Courier New"/>
                <a:ea typeface="Courier New"/>
                <a:cs typeface="Courier New"/>
                <a:sym typeface="Courier New"/>
              </a:rPr>
              <a:t>Graph</a:t>
            </a:r>
            <a:r>
              <a:rPr lang="en" sz="1400"/>
              <a:t> interface.</a:t>
            </a:r>
            <a:endParaRPr sz="1400"/>
          </a:p>
          <a:p>
            <a:pPr indent="-330200" lvl="0" marL="457200" rtl="0" algn="l">
              <a:spcBef>
                <a:spcPts val="0"/>
              </a:spcBef>
              <a:spcAft>
                <a:spcPts val="0"/>
              </a:spcAft>
              <a:buSzPts val="1600"/>
              <a:buChar char="●"/>
            </a:pPr>
            <a:r>
              <a:rPr lang="en" sz="1600"/>
              <a:t>Verify that your interface doesn't contain any syntax errors!</a:t>
            </a:r>
            <a:endParaRPr sz="1600"/>
          </a:p>
          <a:p>
            <a:pPr indent="-317500" lvl="1" marL="914400" rtl="0" algn="l">
              <a:spcBef>
                <a:spcPts val="0"/>
              </a:spcBef>
              <a:spcAft>
                <a:spcPts val="0"/>
              </a:spcAft>
              <a:buSzPts val="1400"/>
              <a:buChar char="○"/>
            </a:pPr>
            <a:r>
              <a:rPr lang="en" sz="1400"/>
              <a:t>If you're not sure how to fix a problem in your code, raise your hand!</a:t>
            </a:r>
            <a:endParaRPr sz="1400"/>
          </a:p>
        </p:txBody>
      </p:sp>
      <p:sp>
        <p:nvSpPr>
          <p:cNvPr id="903" name="Google Shape;903;p4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Graph Abstract Data Type</a:t>
            </a:r>
            <a:endParaRPr/>
          </a:p>
        </p:txBody>
      </p:sp>
      <p:sp>
        <p:nvSpPr>
          <p:cNvPr id="904" name="Google Shape;904;p4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3</a:t>
            </a:r>
            <a:endParaRPr/>
          </a:p>
        </p:txBody>
      </p:sp>
      <p:graphicFrame>
        <p:nvGraphicFramePr>
          <p:cNvPr id="905" name="Google Shape;905;p47"/>
          <p:cNvGraphicFramePr/>
          <p:nvPr/>
        </p:nvGraphicFramePr>
        <p:xfrm>
          <a:off x="142575" y="1865244"/>
          <a:ext cx="3000000" cy="3000000"/>
        </p:xfrm>
        <a:graphic>
          <a:graphicData uri="http://schemas.openxmlformats.org/drawingml/2006/table">
            <a:tbl>
              <a:tblPr>
                <a:noFill/>
                <a:tableStyleId>{F61E8307-4E6B-4154-8BF4-D3231BAD3CED}</a:tableStyleId>
              </a:tblPr>
              <a:tblGrid>
                <a:gridCol w="2911850"/>
              </a:tblGrid>
              <a:tr h="381000">
                <a:tc>
                  <a:txBody>
                    <a:bodyPr/>
                    <a:lstStyle/>
                    <a:p>
                      <a:pPr indent="0" lvl="0" marL="0" marR="0" rtl="0" algn="ctr">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&lt;&lt;interface&gt;&gt;</a:t>
                      </a:r>
                      <a:endParaRPr i="1" sz="12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Graph&lt;E&gt;</a:t>
                      </a:r>
                      <a:endParaRPr i="1"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t/>
                      </a:r>
                      <a:endParaRPr i="1"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add(value: E)</a:t>
                      </a:r>
                      <a:endParaRPr i="1"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contains(value: E): boolean</a:t>
                      </a:r>
                      <a:endParaRPr i="1"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size(): int</a:t>
                      </a:r>
                      <a:endParaRPr i="1"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connectDirected(a: E, b: E)</a:t>
                      </a:r>
                      <a:endParaRPr i="1"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connectUndirected(a: E, b: E)</a:t>
                      </a:r>
                      <a:endParaRPr i="1"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200"/>
                        <a:buFont typeface="Arial"/>
                        <a:buNone/>
                      </a:pPr>
                      <a:r>
                        <a:rPr i="1" lang="en" sz="1200" u="none" cap="none" strike="noStrike">
                          <a:latin typeface="Consolas"/>
                          <a:ea typeface="Consolas"/>
                          <a:cs typeface="Consolas"/>
                          <a:sym typeface="Consolas"/>
                        </a:rPr>
                        <a:t>+ connected(a: E, b: E): boolean</a:t>
                      </a:r>
                      <a:endParaRPr i="1"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9" name="Shape 909"/>
        <p:cNvGrpSpPr/>
        <p:nvPr/>
      </p:nvGrpSpPr>
      <p:grpSpPr>
        <a:xfrm>
          <a:off x="0" y="0"/>
          <a:ext cx="0" cy="0"/>
          <a:chOff x="0" y="0"/>
          <a:chExt cx="0" cy="0"/>
        </a:xfrm>
      </p:grpSpPr>
      <p:sp>
        <p:nvSpPr>
          <p:cNvPr id="910" name="Google Shape;910;p48"/>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911" name="Google Shape;911;p48"/>
          <p:cNvSpPr txBox="1"/>
          <p:nvPr>
            <p:ph type="title"/>
          </p:nvPr>
        </p:nvSpPr>
        <p:spPr>
          <a:xfrm>
            <a:off x="5188525" y="437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Adjacency Lists</a:t>
            </a:r>
            <a:endParaRPr/>
          </a:p>
        </p:txBody>
      </p:sp>
      <p:sp>
        <p:nvSpPr>
          <p:cNvPr id="912" name="Google Shape;912;p48"/>
          <p:cNvSpPr txBox="1"/>
          <p:nvPr>
            <p:ph idx="1" type="body"/>
          </p:nvPr>
        </p:nvSpPr>
        <p:spPr>
          <a:xfrm>
            <a:off x="242850" y="119925"/>
            <a:ext cx="4557900" cy="48762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There are a number of different ways to represent a graph. One is referred to as an </a:t>
            </a:r>
            <a:r>
              <a:rPr b="1" i="1" lang="en">
                <a:solidFill>
                  <a:srgbClr val="FF0000"/>
                </a:solidFill>
              </a:rPr>
              <a:t>adjacency list</a:t>
            </a:r>
            <a:r>
              <a:rPr lang="en"/>
              <a:t>.</a:t>
            </a:r>
            <a:endParaRPr/>
          </a:p>
          <a:p>
            <a:pPr indent="-298450" lvl="1" marL="914400" rtl="0" algn="l">
              <a:lnSpc>
                <a:spcPct val="115000"/>
              </a:lnSpc>
              <a:spcBef>
                <a:spcPts val="0"/>
              </a:spcBef>
              <a:spcAft>
                <a:spcPts val="0"/>
              </a:spcAft>
              <a:buSzPts val="1100"/>
              <a:buChar char="○"/>
            </a:pPr>
            <a:r>
              <a:rPr lang="en"/>
              <a:t>Each vertex keeps track of the other vertices to which it is connected in some </a:t>
            </a:r>
            <a:r>
              <a:rPr b="1" i="1" lang="en">
                <a:solidFill>
                  <a:srgbClr val="FF0000"/>
                </a:solidFill>
              </a:rPr>
              <a:t>data structure</a:t>
            </a:r>
            <a:r>
              <a:rPr lang="en"/>
              <a:t>.</a:t>
            </a:r>
            <a:endParaRPr/>
          </a:p>
          <a:p>
            <a:pPr indent="-298450" lvl="1" marL="914400" rtl="0" algn="l">
              <a:lnSpc>
                <a:spcPct val="115000"/>
              </a:lnSpc>
              <a:spcBef>
                <a:spcPts val="0"/>
              </a:spcBef>
              <a:spcAft>
                <a:spcPts val="0"/>
              </a:spcAft>
              <a:buSzPts val="1100"/>
              <a:buChar char="○"/>
            </a:pPr>
            <a:r>
              <a:rPr lang="en"/>
              <a:t>In our graph implementation, no two vertices can be connected with more than one edge. What is the best data structure to efficiently keep track of </a:t>
            </a:r>
            <a:r>
              <a:rPr b="1" i="1" lang="en">
                <a:solidFill>
                  <a:srgbClr val="FF0000"/>
                </a:solidFill>
              </a:rPr>
              <a:t>unique</a:t>
            </a:r>
            <a:r>
              <a:rPr lang="en">
                <a:solidFill>
                  <a:srgbClr val="FF0000"/>
                </a:solidFill>
              </a:rPr>
              <a:t> </a:t>
            </a:r>
            <a:r>
              <a:rPr lang="en"/>
              <a:t>neighbors?</a:t>
            </a:r>
            <a:endParaRPr/>
          </a:p>
          <a:p>
            <a:pPr indent="-311150" lvl="0" marL="457200" rtl="0" algn="l">
              <a:lnSpc>
                <a:spcPct val="115000"/>
              </a:lnSpc>
              <a:spcBef>
                <a:spcPts val="1000"/>
              </a:spcBef>
              <a:spcAft>
                <a:spcPts val="0"/>
              </a:spcAft>
              <a:buSzPts val="1300"/>
              <a:buChar char="●"/>
            </a:pPr>
            <a:r>
              <a:rPr lang="en"/>
              <a:t>An adjacency list can be diagrammed using a simple table.</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first column</a:t>
            </a:r>
            <a:r>
              <a:rPr lang="en"/>
              <a:t> lists </a:t>
            </a:r>
            <a:r>
              <a:rPr b="1" i="1" lang="en">
                <a:solidFill>
                  <a:srgbClr val="FF0000"/>
                </a:solidFill>
              </a:rPr>
              <a:t>each vertex</a:t>
            </a:r>
            <a:r>
              <a:rPr lang="en"/>
              <a:t> in the graph on its own row.</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second column</a:t>
            </a:r>
            <a:r>
              <a:rPr lang="en"/>
              <a:t> lists the vertices to which that vertex is connected (its </a:t>
            </a:r>
            <a:r>
              <a:rPr b="1" i="1" lang="en">
                <a:solidFill>
                  <a:srgbClr val="FF0000"/>
                </a:solidFill>
              </a:rPr>
              <a:t>neighbors</a:t>
            </a:r>
            <a:r>
              <a:rPr lang="en"/>
              <a:t>).</a:t>
            </a:r>
            <a:endParaRPr/>
          </a:p>
          <a:p>
            <a:pPr indent="-311150" lvl="0" marL="457200" rtl="0" algn="l">
              <a:lnSpc>
                <a:spcPct val="115000"/>
              </a:lnSpc>
              <a:spcBef>
                <a:spcPts val="1000"/>
              </a:spcBef>
              <a:spcAft>
                <a:spcPts val="0"/>
              </a:spcAft>
              <a:buSzPts val="1300"/>
              <a:buChar char="●"/>
            </a:pPr>
            <a:r>
              <a:rPr lang="en"/>
              <a:t>Assuming that vertex A is connected to vertex B:</a:t>
            </a:r>
            <a:endParaRPr/>
          </a:p>
          <a:p>
            <a:pPr indent="-298450" lvl="1" marL="914400" rtl="0" algn="l">
              <a:lnSpc>
                <a:spcPct val="115000"/>
              </a:lnSpc>
              <a:spcBef>
                <a:spcPts val="0"/>
              </a:spcBef>
              <a:spcAft>
                <a:spcPts val="0"/>
              </a:spcAft>
              <a:buSzPts val="1100"/>
              <a:buChar char="○"/>
            </a:pPr>
            <a:r>
              <a:rPr lang="en"/>
              <a:t>If the edge is </a:t>
            </a:r>
            <a:r>
              <a:rPr b="1" i="1" lang="en">
                <a:solidFill>
                  <a:srgbClr val="FF0000"/>
                </a:solidFill>
              </a:rPr>
              <a:t>directed</a:t>
            </a:r>
            <a:r>
              <a:rPr lang="en"/>
              <a:t>, then B will appear in A's adjacency list, but not the other way around.</a:t>
            </a:r>
            <a:endParaRPr/>
          </a:p>
          <a:p>
            <a:pPr indent="-298450" lvl="1" marL="914400" rtl="0" algn="l">
              <a:lnSpc>
                <a:spcPct val="115000"/>
              </a:lnSpc>
              <a:spcBef>
                <a:spcPts val="0"/>
              </a:spcBef>
              <a:spcAft>
                <a:spcPts val="0"/>
              </a:spcAft>
              <a:buSzPts val="1100"/>
              <a:buChar char="○"/>
            </a:pPr>
            <a:r>
              <a:rPr lang="en"/>
              <a:t>If the edge is </a:t>
            </a:r>
            <a:r>
              <a:rPr b="1" i="1" lang="en">
                <a:solidFill>
                  <a:srgbClr val="FF0000"/>
                </a:solidFill>
              </a:rPr>
              <a:t>undirected</a:t>
            </a:r>
            <a:r>
              <a:rPr lang="en"/>
              <a:t>, then each vertex will appear in the other's adjacency list.</a:t>
            </a:r>
            <a:endParaRPr/>
          </a:p>
          <a:p>
            <a:pPr indent="-311150" lvl="0" marL="457200" rtl="0" algn="l">
              <a:lnSpc>
                <a:spcPct val="115000"/>
              </a:lnSpc>
              <a:spcBef>
                <a:spcPts val="1000"/>
              </a:spcBef>
              <a:spcAft>
                <a:spcPts val="0"/>
              </a:spcAft>
              <a:buSzPts val="1300"/>
              <a:buChar char="●"/>
            </a:pPr>
            <a:r>
              <a:rPr lang="en"/>
              <a:t>Let's take a look at an example using the graph depicted to the right.</a:t>
            </a:r>
            <a:endParaRPr/>
          </a:p>
        </p:txBody>
      </p:sp>
      <p:sp>
        <p:nvSpPr>
          <p:cNvPr id="913" name="Google Shape;913;p48"/>
          <p:cNvSpPr/>
          <p:nvPr/>
        </p:nvSpPr>
        <p:spPr>
          <a:xfrm>
            <a:off x="5879637" y="720196"/>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A</a:t>
            </a:r>
            <a:endParaRPr b="0" i="0" sz="1200" u="none" cap="none" strike="noStrike">
              <a:solidFill>
                <a:srgbClr val="FFFFFF"/>
              </a:solidFill>
              <a:latin typeface="Arial"/>
              <a:ea typeface="Arial"/>
              <a:cs typeface="Arial"/>
              <a:sym typeface="Arial"/>
            </a:endParaRPr>
          </a:p>
        </p:txBody>
      </p:sp>
      <p:sp>
        <p:nvSpPr>
          <p:cNvPr id="914" name="Google Shape;914;p48"/>
          <p:cNvSpPr/>
          <p:nvPr/>
        </p:nvSpPr>
        <p:spPr>
          <a:xfrm>
            <a:off x="6556384" y="980485"/>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B</a:t>
            </a:r>
            <a:endParaRPr b="0" i="0" sz="1200" u="none" cap="none" strike="noStrike">
              <a:solidFill>
                <a:srgbClr val="FFFFFF"/>
              </a:solidFill>
              <a:latin typeface="Arial"/>
              <a:ea typeface="Arial"/>
              <a:cs typeface="Arial"/>
              <a:sym typeface="Arial"/>
            </a:endParaRPr>
          </a:p>
        </p:txBody>
      </p:sp>
      <p:sp>
        <p:nvSpPr>
          <p:cNvPr id="915" name="Google Shape;915;p48"/>
          <p:cNvSpPr/>
          <p:nvPr/>
        </p:nvSpPr>
        <p:spPr>
          <a:xfrm>
            <a:off x="5619350" y="1344889"/>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D</a:t>
            </a:r>
            <a:endParaRPr b="0" i="0" sz="1200" u="none" cap="none" strike="noStrike">
              <a:solidFill>
                <a:srgbClr val="FFFFFF"/>
              </a:solidFill>
              <a:latin typeface="Arial"/>
              <a:ea typeface="Arial"/>
              <a:cs typeface="Arial"/>
              <a:sym typeface="Arial"/>
            </a:endParaRPr>
          </a:p>
        </p:txBody>
      </p:sp>
      <p:sp>
        <p:nvSpPr>
          <p:cNvPr id="916" name="Google Shape;916;p48"/>
          <p:cNvSpPr/>
          <p:nvPr/>
        </p:nvSpPr>
        <p:spPr>
          <a:xfrm>
            <a:off x="6296097" y="1709293"/>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C</a:t>
            </a:r>
            <a:endParaRPr b="0" i="0" sz="1200" u="none" cap="none" strike="noStrike">
              <a:solidFill>
                <a:srgbClr val="FFFFFF"/>
              </a:solidFill>
              <a:latin typeface="Arial"/>
              <a:ea typeface="Arial"/>
              <a:cs typeface="Arial"/>
              <a:sym typeface="Arial"/>
            </a:endParaRPr>
          </a:p>
        </p:txBody>
      </p:sp>
      <p:cxnSp>
        <p:nvCxnSpPr>
          <p:cNvPr id="917" name="Google Shape;917;p48"/>
          <p:cNvCxnSpPr>
            <a:stCxn id="913" idx="3"/>
            <a:endCxn id="915" idx="0"/>
          </p:cNvCxnSpPr>
          <p:nvPr/>
        </p:nvCxnSpPr>
        <p:spPr>
          <a:xfrm flipH="1">
            <a:off x="5806754" y="1040279"/>
            <a:ext cx="127800" cy="304500"/>
          </a:xfrm>
          <a:prstGeom prst="straightConnector1">
            <a:avLst/>
          </a:prstGeom>
          <a:noFill/>
          <a:ln cap="flat" cmpd="sng" w="19050">
            <a:solidFill>
              <a:srgbClr val="C9DAF8"/>
            </a:solidFill>
            <a:prstDash val="solid"/>
            <a:round/>
            <a:headEnd len="sm" w="sm" type="none"/>
            <a:tailEnd len="sm" w="sm" type="none"/>
          </a:ln>
        </p:spPr>
      </p:cxnSp>
      <p:cxnSp>
        <p:nvCxnSpPr>
          <p:cNvPr id="918" name="Google Shape;918;p48"/>
          <p:cNvCxnSpPr>
            <a:endCxn id="914" idx="1"/>
          </p:cNvCxnSpPr>
          <p:nvPr/>
        </p:nvCxnSpPr>
        <p:spPr>
          <a:xfrm>
            <a:off x="6254601" y="907602"/>
            <a:ext cx="356700" cy="127800"/>
          </a:xfrm>
          <a:prstGeom prst="straightConnector1">
            <a:avLst/>
          </a:prstGeom>
          <a:noFill/>
          <a:ln cap="flat" cmpd="sng" w="19050">
            <a:solidFill>
              <a:srgbClr val="C9DAF8"/>
            </a:solidFill>
            <a:prstDash val="solid"/>
            <a:round/>
            <a:headEnd len="sm" w="sm" type="none"/>
            <a:tailEnd len="sm" w="sm" type="none"/>
          </a:ln>
        </p:spPr>
      </p:cxnSp>
      <p:cxnSp>
        <p:nvCxnSpPr>
          <p:cNvPr id="919" name="Google Shape;919;p48"/>
          <p:cNvCxnSpPr>
            <a:stCxn id="915" idx="5"/>
            <a:endCxn id="916" idx="2"/>
          </p:cNvCxnSpPr>
          <p:nvPr/>
        </p:nvCxnSpPr>
        <p:spPr>
          <a:xfrm>
            <a:off x="5939433" y="1664972"/>
            <a:ext cx="356700" cy="231900"/>
          </a:xfrm>
          <a:prstGeom prst="straightConnector1">
            <a:avLst/>
          </a:prstGeom>
          <a:noFill/>
          <a:ln cap="flat" cmpd="sng" w="19050">
            <a:solidFill>
              <a:srgbClr val="C9DAF8"/>
            </a:solidFill>
            <a:prstDash val="solid"/>
            <a:round/>
            <a:headEnd len="sm" w="sm" type="none"/>
            <a:tailEnd len="sm" w="sm" type="none"/>
          </a:ln>
        </p:spPr>
      </p:cxnSp>
      <p:cxnSp>
        <p:nvCxnSpPr>
          <p:cNvPr id="920" name="Google Shape;920;p48"/>
          <p:cNvCxnSpPr>
            <a:stCxn id="916" idx="7"/>
            <a:endCxn id="914" idx="4"/>
          </p:cNvCxnSpPr>
          <p:nvPr/>
        </p:nvCxnSpPr>
        <p:spPr>
          <a:xfrm flipH="1" rot="10800000">
            <a:off x="6616180" y="1355610"/>
            <a:ext cx="127800" cy="408600"/>
          </a:xfrm>
          <a:prstGeom prst="straightConnector1">
            <a:avLst/>
          </a:prstGeom>
          <a:noFill/>
          <a:ln cap="flat" cmpd="sng" w="19050">
            <a:solidFill>
              <a:srgbClr val="C9DAF8"/>
            </a:solidFill>
            <a:prstDash val="solid"/>
            <a:round/>
            <a:headEnd len="sm" w="sm" type="none"/>
            <a:tailEnd len="med" w="med" type="triangle"/>
          </a:ln>
        </p:spPr>
      </p:cxnSp>
      <p:sp>
        <p:nvSpPr>
          <p:cNvPr id="921" name="Google Shape;921;p48"/>
          <p:cNvSpPr/>
          <p:nvPr/>
        </p:nvSpPr>
        <p:spPr>
          <a:xfrm>
            <a:off x="7380261" y="735125"/>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E</a:t>
            </a:r>
            <a:endParaRPr b="0" i="0" sz="1200" u="none" cap="none" strike="noStrike">
              <a:solidFill>
                <a:srgbClr val="FFFFFF"/>
              </a:solidFill>
              <a:latin typeface="Arial"/>
              <a:ea typeface="Arial"/>
              <a:cs typeface="Arial"/>
              <a:sym typeface="Arial"/>
            </a:endParaRPr>
          </a:p>
        </p:txBody>
      </p:sp>
      <p:sp>
        <p:nvSpPr>
          <p:cNvPr id="922" name="Google Shape;922;p48"/>
          <p:cNvSpPr/>
          <p:nvPr/>
        </p:nvSpPr>
        <p:spPr>
          <a:xfrm>
            <a:off x="6991716" y="1515991"/>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F</a:t>
            </a:r>
            <a:endParaRPr b="0" i="0" sz="1200" u="none" cap="none" strike="noStrike">
              <a:solidFill>
                <a:srgbClr val="FFFFFF"/>
              </a:solidFill>
              <a:latin typeface="Arial"/>
              <a:ea typeface="Arial"/>
              <a:cs typeface="Arial"/>
              <a:sym typeface="Arial"/>
            </a:endParaRPr>
          </a:p>
        </p:txBody>
      </p:sp>
      <p:sp>
        <p:nvSpPr>
          <p:cNvPr id="923" name="Google Shape;923;p48"/>
          <p:cNvSpPr/>
          <p:nvPr/>
        </p:nvSpPr>
        <p:spPr>
          <a:xfrm>
            <a:off x="7720520" y="1463933"/>
            <a:ext cx="375000" cy="375000"/>
          </a:xfrm>
          <a:prstGeom prst="ellipse">
            <a:avLst/>
          </a:prstGeom>
          <a:solidFill>
            <a:srgbClr val="4A86E8"/>
          </a:solidFill>
          <a:ln cap="flat" cmpd="sng" w="19050">
            <a:solidFill>
              <a:srgbClr val="C9DAF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FFFF"/>
                </a:solidFill>
                <a:latin typeface="Arial"/>
                <a:ea typeface="Arial"/>
                <a:cs typeface="Arial"/>
                <a:sym typeface="Arial"/>
              </a:rPr>
              <a:t>G</a:t>
            </a:r>
            <a:endParaRPr b="0" i="0" sz="1200" u="none" cap="none" strike="noStrike">
              <a:solidFill>
                <a:srgbClr val="FFFFFF"/>
              </a:solidFill>
              <a:latin typeface="Arial"/>
              <a:ea typeface="Arial"/>
              <a:cs typeface="Arial"/>
              <a:sym typeface="Arial"/>
            </a:endParaRPr>
          </a:p>
        </p:txBody>
      </p:sp>
      <p:cxnSp>
        <p:nvCxnSpPr>
          <p:cNvPr id="924" name="Google Shape;924;p48"/>
          <p:cNvCxnSpPr>
            <a:stCxn id="921" idx="3"/>
            <a:endCxn id="922" idx="0"/>
          </p:cNvCxnSpPr>
          <p:nvPr/>
        </p:nvCxnSpPr>
        <p:spPr>
          <a:xfrm flipH="1">
            <a:off x="7179278" y="1055208"/>
            <a:ext cx="255900" cy="460800"/>
          </a:xfrm>
          <a:prstGeom prst="straightConnector1">
            <a:avLst/>
          </a:prstGeom>
          <a:noFill/>
          <a:ln cap="flat" cmpd="sng" w="19050">
            <a:solidFill>
              <a:srgbClr val="C9DAF8"/>
            </a:solidFill>
            <a:prstDash val="solid"/>
            <a:round/>
            <a:headEnd len="sm" w="sm" type="none"/>
            <a:tailEnd len="sm" w="sm" type="none"/>
          </a:ln>
        </p:spPr>
      </p:cxnSp>
      <p:cxnSp>
        <p:nvCxnSpPr>
          <p:cNvPr id="925" name="Google Shape;925;p48"/>
          <p:cNvCxnSpPr>
            <a:stCxn id="921" idx="5"/>
            <a:endCxn id="923" idx="0"/>
          </p:cNvCxnSpPr>
          <p:nvPr/>
        </p:nvCxnSpPr>
        <p:spPr>
          <a:xfrm>
            <a:off x="7700344" y="1055208"/>
            <a:ext cx="207600" cy="408600"/>
          </a:xfrm>
          <a:prstGeom prst="straightConnector1">
            <a:avLst/>
          </a:prstGeom>
          <a:noFill/>
          <a:ln cap="flat" cmpd="sng" w="19050">
            <a:solidFill>
              <a:srgbClr val="C9DAF8"/>
            </a:solidFill>
            <a:prstDash val="solid"/>
            <a:round/>
            <a:headEnd len="sm" w="sm" type="none"/>
            <a:tailEnd len="sm" w="sm" type="none"/>
          </a:ln>
        </p:spPr>
      </p:cxnSp>
      <p:cxnSp>
        <p:nvCxnSpPr>
          <p:cNvPr id="926" name="Google Shape;926;p48"/>
          <p:cNvCxnSpPr>
            <a:stCxn id="922" idx="6"/>
            <a:endCxn id="923" idx="2"/>
          </p:cNvCxnSpPr>
          <p:nvPr/>
        </p:nvCxnSpPr>
        <p:spPr>
          <a:xfrm flipH="1" rot="10800000">
            <a:off x="7366716" y="1651291"/>
            <a:ext cx="353700" cy="52200"/>
          </a:xfrm>
          <a:prstGeom prst="straightConnector1">
            <a:avLst/>
          </a:prstGeom>
          <a:noFill/>
          <a:ln cap="flat" cmpd="sng" w="19050">
            <a:solidFill>
              <a:srgbClr val="C9DAF8"/>
            </a:solidFill>
            <a:prstDash val="solid"/>
            <a:round/>
            <a:headEnd len="sm" w="sm" type="none"/>
            <a:tailEnd len="med" w="med" type="triangle"/>
          </a:ln>
        </p:spPr>
      </p:cxnSp>
      <p:graphicFrame>
        <p:nvGraphicFramePr>
          <p:cNvPr id="927" name="Google Shape;927;p48"/>
          <p:cNvGraphicFramePr/>
          <p:nvPr/>
        </p:nvGraphicFramePr>
        <p:xfrm>
          <a:off x="5342325" y="2231234"/>
          <a:ext cx="3000000" cy="3000000"/>
        </p:xfrm>
        <a:graphic>
          <a:graphicData uri="http://schemas.openxmlformats.org/drawingml/2006/table">
            <a:tbl>
              <a:tblPr>
                <a:noFill/>
                <a:tableStyleId>{F61E8307-4E6B-4154-8BF4-D3231BAD3CED}</a:tableStyleId>
              </a:tblPr>
              <a:tblGrid>
                <a:gridCol w="848900"/>
                <a:gridCol w="2417100"/>
              </a:tblGrid>
              <a:tr h="2892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Vertex</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Adjacency List</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928" name="Google Shape;928;p48"/>
          <p:cNvSpPr txBox="1"/>
          <p:nvPr/>
        </p:nvSpPr>
        <p:spPr>
          <a:xfrm>
            <a:off x="5465675" y="2605226"/>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A</a:t>
            </a:r>
            <a:endParaRPr b="0" i="0" sz="1600" u="none" cap="none" strike="noStrike">
              <a:solidFill>
                <a:srgbClr val="FF0000"/>
              </a:solidFill>
              <a:latin typeface="Shadows Into Light"/>
              <a:ea typeface="Shadows Into Light"/>
              <a:cs typeface="Shadows Into Light"/>
              <a:sym typeface="Shadows Into Light"/>
            </a:endParaRPr>
          </a:p>
        </p:txBody>
      </p:sp>
      <p:sp>
        <p:nvSpPr>
          <p:cNvPr id="929" name="Google Shape;929;p48"/>
          <p:cNvSpPr txBox="1"/>
          <p:nvPr/>
        </p:nvSpPr>
        <p:spPr>
          <a:xfrm>
            <a:off x="6532475" y="2605226"/>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B, D</a:t>
            </a:r>
            <a:endParaRPr b="0" i="0" sz="1600" u="none" cap="none" strike="noStrike">
              <a:solidFill>
                <a:srgbClr val="FF0000"/>
              </a:solidFill>
              <a:latin typeface="Shadows Into Light"/>
              <a:ea typeface="Shadows Into Light"/>
              <a:cs typeface="Shadows Into Light"/>
              <a:sym typeface="Shadows Into Light"/>
            </a:endParaRPr>
          </a:p>
        </p:txBody>
      </p:sp>
      <p:sp>
        <p:nvSpPr>
          <p:cNvPr id="930" name="Google Shape;930;p48"/>
          <p:cNvSpPr txBox="1"/>
          <p:nvPr/>
        </p:nvSpPr>
        <p:spPr>
          <a:xfrm>
            <a:off x="5465675" y="2941221"/>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B</a:t>
            </a:r>
            <a:endParaRPr b="0" i="0" sz="1600" u="none" cap="none" strike="noStrike">
              <a:solidFill>
                <a:srgbClr val="FF0000"/>
              </a:solidFill>
              <a:latin typeface="Shadows Into Light"/>
              <a:ea typeface="Shadows Into Light"/>
              <a:cs typeface="Shadows Into Light"/>
              <a:sym typeface="Shadows Into Light"/>
            </a:endParaRPr>
          </a:p>
        </p:txBody>
      </p:sp>
      <p:sp>
        <p:nvSpPr>
          <p:cNvPr id="931" name="Google Shape;931;p48"/>
          <p:cNvSpPr txBox="1"/>
          <p:nvPr/>
        </p:nvSpPr>
        <p:spPr>
          <a:xfrm>
            <a:off x="5465675" y="3278240"/>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C</a:t>
            </a:r>
            <a:endParaRPr b="0" i="0" sz="1600" u="none" cap="none" strike="noStrike">
              <a:solidFill>
                <a:srgbClr val="FF0000"/>
              </a:solidFill>
              <a:latin typeface="Shadows Into Light"/>
              <a:ea typeface="Shadows Into Light"/>
              <a:cs typeface="Shadows Into Light"/>
              <a:sym typeface="Shadows Into Light"/>
            </a:endParaRPr>
          </a:p>
        </p:txBody>
      </p:sp>
      <p:grpSp>
        <p:nvGrpSpPr>
          <p:cNvPr id="932" name="Google Shape;932;p48"/>
          <p:cNvGrpSpPr/>
          <p:nvPr/>
        </p:nvGrpSpPr>
        <p:grpSpPr>
          <a:xfrm>
            <a:off x="5465675" y="3614306"/>
            <a:ext cx="646800" cy="1277599"/>
            <a:chOff x="5770475" y="3442618"/>
            <a:chExt cx="646800" cy="1277599"/>
          </a:xfrm>
        </p:grpSpPr>
        <p:sp>
          <p:nvSpPr>
            <p:cNvPr id="933" name="Google Shape;933;p48"/>
            <p:cNvSpPr txBox="1"/>
            <p:nvPr/>
          </p:nvSpPr>
          <p:spPr>
            <a:xfrm>
              <a:off x="5770475" y="3442618"/>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D</a:t>
              </a:r>
              <a:endParaRPr b="0" i="0" sz="1600" u="none" cap="none" strike="noStrike">
                <a:solidFill>
                  <a:srgbClr val="FF0000"/>
                </a:solidFill>
                <a:latin typeface="Shadows Into Light"/>
                <a:ea typeface="Shadows Into Light"/>
                <a:cs typeface="Shadows Into Light"/>
                <a:sym typeface="Shadows Into Light"/>
              </a:endParaRPr>
            </a:p>
          </p:txBody>
        </p:sp>
        <p:sp>
          <p:nvSpPr>
            <p:cNvPr id="934" name="Google Shape;934;p48"/>
            <p:cNvSpPr txBox="1"/>
            <p:nvPr/>
          </p:nvSpPr>
          <p:spPr>
            <a:xfrm>
              <a:off x="5770475" y="3772255"/>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E</a:t>
              </a:r>
              <a:endParaRPr b="0" i="0" sz="1600" u="none" cap="none" strike="noStrike">
                <a:solidFill>
                  <a:srgbClr val="FF0000"/>
                </a:solidFill>
                <a:latin typeface="Shadows Into Light"/>
                <a:ea typeface="Shadows Into Light"/>
                <a:cs typeface="Shadows Into Light"/>
                <a:sym typeface="Shadows Into Light"/>
              </a:endParaRPr>
            </a:p>
          </p:txBody>
        </p:sp>
        <p:sp>
          <p:nvSpPr>
            <p:cNvPr id="935" name="Google Shape;935;p48"/>
            <p:cNvSpPr txBox="1"/>
            <p:nvPr/>
          </p:nvSpPr>
          <p:spPr>
            <a:xfrm>
              <a:off x="5770475" y="4108321"/>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F</a:t>
              </a:r>
              <a:endParaRPr b="0" i="0" sz="1600" u="none" cap="none" strike="noStrike">
                <a:solidFill>
                  <a:srgbClr val="FF0000"/>
                </a:solidFill>
                <a:latin typeface="Shadows Into Light"/>
                <a:ea typeface="Shadows Into Light"/>
                <a:cs typeface="Shadows Into Light"/>
                <a:sym typeface="Shadows Into Light"/>
              </a:endParaRPr>
            </a:p>
          </p:txBody>
        </p:sp>
        <p:sp>
          <p:nvSpPr>
            <p:cNvPr id="936" name="Google Shape;936;p48"/>
            <p:cNvSpPr txBox="1"/>
            <p:nvPr/>
          </p:nvSpPr>
          <p:spPr>
            <a:xfrm>
              <a:off x="5770475" y="4450817"/>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G</a:t>
              </a:r>
              <a:endParaRPr b="0" i="0" sz="1600" u="none" cap="none" strike="noStrike">
                <a:solidFill>
                  <a:srgbClr val="FF0000"/>
                </a:solidFill>
                <a:latin typeface="Shadows Into Light"/>
                <a:ea typeface="Shadows Into Light"/>
                <a:cs typeface="Shadows Into Light"/>
                <a:sym typeface="Shadows Into Light"/>
              </a:endParaRPr>
            </a:p>
          </p:txBody>
        </p:sp>
      </p:grpSp>
      <p:sp>
        <p:nvSpPr>
          <p:cNvPr id="937" name="Google Shape;937;p48"/>
          <p:cNvSpPr txBox="1"/>
          <p:nvPr/>
        </p:nvSpPr>
        <p:spPr>
          <a:xfrm>
            <a:off x="6532475" y="2934815"/>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A</a:t>
            </a:r>
            <a:endParaRPr b="0" i="0" sz="1600" u="none" cap="none" strike="noStrike">
              <a:solidFill>
                <a:srgbClr val="FF0000"/>
              </a:solidFill>
              <a:latin typeface="Shadows Into Light"/>
              <a:ea typeface="Shadows Into Light"/>
              <a:cs typeface="Shadows Into Light"/>
              <a:sym typeface="Shadows Into Light"/>
            </a:endParaRPr>
          </a:p>
        </p:txBody>
      </p:sp>
      <p:sp>
        <p:nvSpPr>
          <p:cNvPr id="938" name="Google Shape;938;p48"/>
          <p:cNvSpPr txBox="1"/>
          <p:nvPr/>
        </p:nvSpPr>
        <p:spPr>
          <a:xfrm>
            <a:off x="6532475" y="3265429"/>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B, D</a:t>
            </a:r>
            <a:endParaRPr b="0" i="0" sz="1600" u="none" cap="none" strike="noStrike">
              <a:solidFill>
                <a:srgbClr val="FF0000"/>
              </a:solidFill>
              <a:latin typeface="Shadows Into Light"/>
              <a:ea typeface="Shadows Into Light"/>
              <a:cs typeface="Shadows Into Light"/>
              <a:sym typeface="Shadows Into Light"/>
            </a:endParaRPr>
          </a:p>
        </p:txBody>
      </p:sp>
      <p:grpSp>
        <p:nvGrpSpPr>
          <p:cNvPr id="939" name="Google Shape;939;p48"/>
          <p:cNvGrpSpPr/>
          <p:nvPr/>
        </p:nvGrpSpPr>
        <p:grpSpPr>
          <a:xfrm>
            <a:off x="6532475" y="3614306"/>
            <a:ext cx="646800" cy="1271858"/>
            <a:chOff x="6837275" y="3442618"/>
            <a:chExt cx="646800" cy="1271858"/>
          </a:xfrm>
        </p:grpSpPr>
        <p:sp>
          <p:nvSpPr>
            <p:cNvPr id="940" name="Google Shape;940;p48"/>
            <p:cNvSpPr txBox="1"/>
            <p:nvPr/>
          </p:nvSpPr>
          <p:spPr>
            <a:xfrm>
              <a:off x="6837275" y="3442618"/>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A, C</a:t>
              </a:r>
              <a:endParaRPr b="0" i="0" sz="1600" u="none" cap="none" strike="noStrike">
                <a:solidFill>
                  <a:srgbClr val="FF0000"/>
                </a:solidFill>
                <a:latin typeface="Shadows Into Light"/>
                <a:ea typeface="Shadows Into Light"/>
                <a:cs typeface="Shadows Into Light"/>
                <a:sym typeface="Shadows Into Light"/>
              </a:endParaRPr>
            </a:p>
          </p:txBody>
        </p:sp>
        <p:sp>
          <p:nvSpPr>
            <p:cNvPr id="941" name="Google Shape;941;p48"/>
            <p:cNvSpPr txBox="1"/>
            <p:nvPr/>
          </p:nvSpPr>
          <p:spPr>
            <a:xfrm>
              <a:off x="6837275" y="3761061"/>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F, G</a:t>
              </a:r>
              <a:endParaRPr b="0" i="0" sz="1600" u="none" cap="none" strike="noStrike">
                <a:solidFill>
                  <a:srgbClr val="FF0000"/>
                </a:solidFill>
                <a:latin typeface="Shadows Into Light"/>
                <a:ea typeface="Shadows Into Light"/>
                <a:cs typeface="Shadows Into Light"/>
                <a:sym typeface="Shadows Into Light"/>
              </a:endParaRPr>
            </a:p>
          </p:txBody>
        </p:sp>
        <p:sp>
          <p:nvSpPr>
            <p:cNvPr id="942" name="Google Shape;942;p48"/>
            <p:cNvSpPr txBox="1"/>
            <p:nvPr/>
          </p:nvSpPr>
          <p:spPr>
            <a:xfrm>
              <a:off x="6837275" y="4115487"/>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E, G</a:t>
              </a:r>
              <a:endParaRPr b="0" i="0" sz="1600" u="none" cap="none" strike="noStrike">
                <a:solidFill>
                  <a:srgbClr val="FF0000"/>
                </a:solidFill>
                <a:latin typeface="Shadows Into Light"/>
                <a:ea typeface="Shadows Into Light"/>
                <a:cs typeface="Shadows Into Light"/>
                <a:sym typeface="Shadows Into Light"/>
              </a:endParaRPr>
            </a:p>
          </p:txBody>
        </p:sp>
        <p:sp>
          <p:nvSpPr>
            <p:cNvPr id="943" name="Google Shape;943;p48"/>
            <p:cNvSpPr txBox="1"/>
            <p:nvPr/>
          </p:nvSpPr>
          <p:spPr>
            <a:xfrm>
              <a:off x="6837275" y="4445076"/>
              <a:ext cx="646800" cy="2694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0" i="0" lang="en" sz="1600" u="none" cap="none" strike="noStrike">
                  <a:solidFill>
                    <a:srgbClr val="FF0000"/>
                  </a:solidFill>
                  <a:latin typeface="Shadows Into Light"/>
                  <a:ea typeface="Shadows Into Light"/>
                  <a:cs typeface="Shadows Into Light"/>
                  <a:sym typeface="Shadows Into Light"/>
                </a:rPr>
                <a:t>E</a:t>
              </a:r>
              <a:endParaRPr b="0" i="0" sz="1600" u="none" cap="none" strike="noStrike">
                <a:solidFill>
                  <a:srgbClr val="FF0000"/>
                </a:solidFill>
                <a:latin typeface="Shadows Into Light"/>
                <a:ea typeface="Shadows Into Light"/>
                <a:cs typeface="Shadows Into Light"/>
                <a:sym typeface="Shadows In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28"/>
                                        </p:tgtEl>
                                        <p:attrNameLst>
                                          <p:attrName>style.visibility</p:attrName>
                                        </p:attrNameLst>
                                      </p:cBhvr>
                                      <p:to>
                                        <p:strVal val="visible"/>
                                      </p:to>
                                    </p:set>
                                    <p:animEffect filter="fade" transition="in">
                                      <p:cBhvr>
                                        <p:cTn dur="1000"/>
                                        <p:tgtEl>
                                          <p:spTgt spid="9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29"/>
                                        </p:tgtEl>
                                        <p:attrNameLst>
                                          <p:attrName>style.visibility</p:attrName>
                                        </p:attrNameLst>
                                      </p:cBhvr>
                                      <p:to>
                                        <p:strVal val="visible"/>
                                      </p:to>
                                    </p:set>
                                    <p:animEffect filter="fade" transition="in">
                                      <p:cBhvr>
                                        <p:cTn dur="1000"/>
                                        <p:tgtEl>
                                          <p:spTgt spid="9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0"/>
                                        </p:tgtEl>
                                        <p:attrNameLst>
                                          <p:attrName>style.visibility</p:attrName>
                                        </p:attrNameLst>
                                      </p:cBhvr>
                                      <p:to>
                                        <p:strVal val="visible"/>
                                      </p:to>
                                    </p:set>
                                    <p:animEffect filter="fade" transition="in">
                                      <p:cBhvr>
                                        <p:cTn dur="1000"/>
                                        <p:tgtEl>
                                          <p:spTgt spid="9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1"/>
                                        </p:tgtEl>
                                        <p:attrNameLst>
                                          <p:attrName>style.visibility</p:attrName>
                                        </p:attrNameLst>
                                      </p:cBhvr>
                                      <p:to>
                                        <p:strVal val="visible"/>
                                      </p:to>
                                    </p:set>
                                    <p:animEffect filter="fade" transition="in">
                                      <p:cBhvr>
                                        <p:cTn dur="1000"/>
                                        <p:tgtEl>
                                          <p:spTgt spid="9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1000"/>
                                        <p:tgtEl>
                                          <p:spTgt spid="9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2"/>
                                        </p:tgtEl>
                                        <p:attrNameLst>
                                          <p:attrName>style.visibility</p:attrName>
                                        </p:attrNameLst>
                                      </p:cBhvr>
                                      <p:to>
                                        <p:strVal val="visible"/>
                                      </p:to>
                                    </p:set>
                                    <p:animEffect filter="fade" transition="in">
                                      <p:cBhvr>
                                        <p:cTn dur="1000"/>
                                        <p:tgtEl>
                                          <p:spTgt spid="9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7" name="Shape 947"/>
        <p:cNvGrpSpPr/>
        <p:nvPr/>
      </p:nvGrpSpPr>
      <p:grpSpPr>
        <a:xfrm>
          <a:off x="0" y="0"/>
          <a:ext cx="0" cy="0"/>
          <a:chOff x="0" y="0"/>
          <a:chExt cx="0" cy="0"/>
        </a:xfrm>
      </p:grpSpPr>
      <p:sp>
        <p:nvSpPr>
          <p:cNvPr id="948" name="Google Shape;948;p4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possible implementation of a graph involves each vertex keeping track of its neighbors in an </a:t>
            </a:r>
            <a:r>
              <a:rPr i="1" lang="en"/>
              <a:t>adjacency list</a:t>
            </a:r>
            <a:r>
              <a:rPr lang="en"/>
              <a:t>. An adjacency list can be represented using a table. Given the graphs depicted below, fill in the adjacency list for each vertex.</a:t>
            </a:r>
            <a:endParaRPr/>
          </a:p>
        </p:txBody>
      </p:sp>
      <p:sp>
        <p:nvSpPr>
          <p:cNvPr id="949" name="Google Shape;949;p4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50" name="Google Shape;950;p4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Adjacency Lists</a:t>
            </a:r>
            <a:endParaRPr/>
          </a:p>
        </p:txBody>
      </p:sp>
      <p:sp>
        <p:nvSpPr>
          <p:cNvPr id="951" name="Google Shape;951;p4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4</a:t>
            </a:r>
            <a:endParaRPr/>
          </a:p>
        </p:txBody>
      </p:sp>
      <p:graphicFrame>
        <p:nvGraphicFramePr>
          <p:cNvPr id="952" name="Google Shape;952;p49"/>
          <p:cNvGraphicFramePr/>
          <p:nvPr/>
        </p:nvGraphicFramePr>
        <p:xfrm>
          <a:off x="260275" y="1821275"/>
          <a:ext cx="3000000" cy="3000000"/>
        </p:xfrm>
        <a:graphic>
          <a:graphicData uri="http://schemas.openxmlformats.org/drawingml/2006/table">
            <a:tbl>
              <a:tblPr>
                <a:noFill/>
                <a:tableStyleId>{F61E8307-4E6B-4154-8BF4-D3231BAD3CED}</a:tableStyleId>
              </a:tblPr>
              <a:tblGrid>
                <a:gridCol w="632375"/>
                <a:gridCol w="1156850"/>
              </a:tblGrid>
              <a:tr h="2892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Vertex</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Adjacency List</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53" name="Google Shape;953;p49"/>
          <p:cNvGraphicFramePr/>
          <p:nvPr/>
        </p:nvGraphicFramePr>
        <p:xfrm>
          <a:off x="4549275" y="1821275"/>
          <a:ext cx="3000000" cy="3000000"/>
        </p:xfrm>
        <a:graphic>
          <a:graphicData uri="http://schemas.openxmlformats.org/drawingml/2006/table">
            <a:tbl>
              <a:tblPr>
                <a:noFill/>
                <a:tableStyleId>{F61E8307-4E6B-4154-8BF4-D3231BAD3CED}</a:tableStyleId>
              </a:tblPr>
              <a:tblGrid>
                <a:gridCol w="584725"/>
                <a:gridCol w="1217075"/>
              </a:tblGrid>
              <a:tr h="2892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Vertex</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Adjacency List</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954" name="Google Shape;954;p49"/>
          <p:cNvGrpSpPr/>
          <p:nvPr/>
        </p:nvGrpSpPr>
        <p:grpSpPr>
          <a:xfrm>
            <a:off x="2320825" y="1907850"/>
            <a:ext cx="1555025" cy="2528150"/>
            <a:chOff x="2320825" y="1526850"/>
            <a:chExt cx="1555025" cy="2528150"/>
          </a:xfrm>
        </p:grpSpPr>
        <p:sp>
          <p:nvSpPr>
            <p:cNvPr id="955" name="Google Shape;955;p49"/>
            <p:cNvSpPr/>
            <p:nvPr/>
          </p:nvSpPr>
          <p:spPr>
            <a:xfrm>
              <a:off x="2594725" y="15268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Z</a:t>
              </a:r>
              <a:endParaRPr b="0" i="0" sz="1400" u="none" cap="none" strike="noStrike">
                <a:solidFill>
                  <a:srgbClr val="000000"/>
                </a:solidFill>
                <a:latin typeface="Courier New"/>
                <a:ea typeface="Courier New"/>
                <a:cs typeface="Courier New"/>
                <a:sym typeface="Courier New"/>
              </a:endParaRPr>
            </a:p>
          </p:txBody>
        </p:sp>
        <p:sp>
          <p:nvSpPr>
            <p:cNvPr id="956" name="Google Shape;956;p49"/>
            <p:cNvSpPr/>
            <p:nvPr/>
          </p:nvSpPr>
          <p:spPr>
            <a:xfrm>
              <a:off x="2320825" y="21894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Y</a:t>
              </a:r>
              <a:endParaRPr b="0" i="0" sz="1400" u="none" cap="none" strike="noStrike">
                <a:solidFill>
                  <a:srgbClr val="000000"/>
                </a:solidFill>
                <a:latin typeface="Courier New"/>
                <a:ea typeface="Courier New"/>
                <a:cs typeface="Courier New"/>
                <a:sym typeface="Courier New"/>
              </a:endParaRPr>
            </a:p>
          </p:txBody>
        </p:sp>
        <p:sp>
          <p:nvSpPr>
            <p:cNvPr id="957" name="Google Shape;957;p49"/>
            <p:cNvSpPr/>
            <p:nvPr/>
          </p:nvSpPr>
          <p:spPr>
            <a:xfrm>
              <a:off x="3320750" y="19939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X</a:t>
              </a:r>
              <a:endParaRPr b="0" i="0" sz="1400" u="none" cap="none" strike="noStrike">
                <a:solidFill>
                  <a:srgbClr val="000000"/>
                </a:solidFill>
                <a:latin typeface="Courier New"/>
                <a:ea typeface="Courier New"/>
                <a:cs typeface="Courier New"/>
                <a:sym typeface="Courier New"/>
              </a:endParaRPr>
            </a:p>
          </p:txBody>
        </p:sp>
        <p:sp>
          <p:nvSpPr>
            <p:cNvPr id="958" name="Google Shape;958;p49"/>
            <p:cNvSpPr/>
            <p:nvPr/>
          </p:nvSpPr>
          <p:spPr>
            <a:xfrm>
              <a:off x="2927150" y="26844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V</a:t>
              </a:r>
              <a:endParaRPr b="0" i="0" sz="1400" u="none" cap="none" strike="noStrike">
                <a:solidFill>
                  <a:srgbClr val="000000"/>
                </a:solidFill>
                <a:latin typeface="Courier New"/>
                <a:ea typeface="Courier New"/>
                <a:cs typeface="Courier New"/>
                <a:sym typeface="Courier New"/>
              </a:endParaRPr>
            </a:p>
          </p:txBody>
        </p:sp>
        <p:sp>
          <p:nvSpPr>
            <p:cNvPr id="959" name="Google Shape;959;p49"/>
            <p:cNvSpPr/>
            <p:nvPr/>
          </p:nvSpPr>
          <p:spPr>
            <a:xfrm>
              <a:off x="2442325" y="316482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W</a:t>
              </a:r>
              <a:endParaRPr b="0" i="0" sz="1400" u="none" cap="none" strike="noStrike">
                <a:solidFill>
                  <a:srgbClr val="000000"/>
                </a:solidFill>
                <a:latin typeface="Courier New"/>
                <a:ea typeface="Courier New"/>
                <a:cs typeface="Courier New"/>
                <a:sym typeface="Courier New"/>
              </a:endParaRPr>
            </a:p>
          </p:txBody>
        </p:sp>
        <p:sp>
          <p:nvSpPr>
            <p:cNvPr id="960" name="Google Shape;960;p49"/>
            <p:cNvSpPr/>
            <p:nvPr/>
          </p:nvSpPr>
          <p:spPr>
            <a:xfrm>
              <a:off x="3482250" y="30097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U</a:t>
              </a:r>
              <a:endParaRPr b="0" i="0" sz="1400" u="none" cap="none" strike="noStrike">
                <a:solidFill>
                  <a:srgbClr val="000000"/>
                </a:solidFill>
                <a:latin typeface="Courier New"/>
                <a:ea typeface="Courier New"/>
                <a:cs typeface="Courier New"/>
                <a:sym typeface="Courier New"/>
              </a:endParaRPr>
            </a:p>
          </p:txBody>
        </p:sp>
        <p:cxnSp>
          <p:nvCxnSpPr>
            <p:cNvPr id="961" name="Google Shape;961;p49"/>
            <p:cNvCxnSpPr>
              <a:stCxn id="955" idx="6"/>
              <a:endCxn id="957" idx="1"/>
            </p:cNvCxnSpPr>
            <p:nvPr/>
          </p:nvCxnSpPr>
          <p:spPr>
            <a:xfrm>
              <a:off x="2988325" y="1723650"/>
              <a:ext cx="390000" cy="327900"/>
            </a:xfrm>
            <a:prstGeom prst="straightConnector1">
              <a:avLst/>
            </a:prstGeom>
            <a:noFill/>
            <a:ln cap="flat" cmpd="sng" w="19050">
              <a:solidFill>
                <a:srgbClr val="000000"/>
              </a:solidFill>
              <a:prstDash val="solid"/>
              <a:round/>
              <a:headEnd len="sm" w="sm" type="none"/>
              <a:tailEnd len="sm" w="sm" type="none"/>
            </a:ln>
          </p:spPr>
        </p:cxnSp>
        <p:cxnSp>
          <p:nvCxnSpPr>
            <p:cNvPr id="962" name="Google Shape;962;p49"/>
            <p:cNvCxnSpPr>
              <a:stCxn id="955" idx="3"/>
              <a:endCxn id="956" idx="0"/>
            </p:cNvCxnSpPr>
            <p:nvPr/>
          </p:nvCxnSpPr>
          <p:spPr>
            <a:xfrm flipH="1">
              <a:off x="2517666" y="1862809"/>
              <a:ext cx="134700" cy="326700"/>
            </a:xfrm>
            <a:prstGeom prst="straightConnector1">
              <a:avLst/>
            </a:prstGeom>
            <a:noFill/>
            <a:ln cap="flat" cmpd="sng" w="19050">
              <a:solidFill>
                <a:srgbClr val="000000"/>
              </a:solidFill>
              <a:prstDash val="solid"/>
              <a:round/>
              <a:headEnd len="sm" w="sm" type="none"/>
              <a:tailEnd len="sm" w="sm" type="none"/>
            </a:ln>
          </p:spPr>
        </p:cxnSp>
        <p:cxnSp>
          <p:nvCxnSpPr>
            <p:cNvPr id="963" name="Google Shape;963;p49"/>
            <p:cNvCxnSpPr>
              <a:stCxn id="956" idx="6"/>
              <a:endCxn id="957" idx="2"/>
            </p:cNvCxnSpPr>
            <p:nvPr/>
          </p:nvCxnSpPr>
          <p:spPr>
            <a:xfrm flipH="1" rot="10800000">
              <a:off x="2714425" y="2190900"/>
              <a:ext cx="606300" cy="195300"/>
            </a:xfrm>
            <a:prstGeom prst="straightConnector1">
              <a:avLst/>
            </a:prstGeom>
            <a:noFill/>
            <a:ln cap="flat" cmpd="sng" w="19050">
              <a:solidFill>
                <a:srgbClr val="000000"/>
              </a:solidFill>
              <a:prstDash val="solid"/>
              <a:round/>
              <a:headEnd len="sm" w="sm" type="none"/>
              <a:tailEnd len="sm" w="sm" type="none"/>
            </a:ln>
          </p:spPr>
        </p:cxnSp>
        <p:cxnSp>
          <p:nvCxnSpPr>
            <p:cNvPr id="964" name="Google Shape;964;p49"/>
            <p:cNvCxnSpPr>
              <a:stCxn id="960" idx="2"/>
              <a:endCxn id="959" idx="6"/>
            </p:cNvCxnSpPr>
            <p:nvPr/>
          </p:nvCxnSpPr>
          <p:spPr>
            <a:xfrm flipH="1">
              <a:off x="2836050" y="3206550"/>
              <a:ext cx="646200" cy="155100"/>
            </a:xfrm>
            <a:prstGeom prst="straightConnector1">
              <a:avLst/>
            </a:prstGeom>
            <a:noFill/>
            <a:ln cap="flat" cmpd="sng" w="19050">
              <a:solidFill>
                <a:srgbClr val="000000"/>
              </a:solidFill>
              <a:prstDash val="solid"/>
              <a:round/>
              <a:headEnd len="sm" w="sm" type="none"/>
              <a:tailEnd len="sm" w="sm" type="none"/>
            </a:ln>
          </p:spPr>
        </p:cxnSp>
        <p:sp>
          <p:nvSpPr>
            <p:cNvPr id="965" name="Google Shape;965;p49"/>
            <p:cNvSpPr/>
            <p:nvPr/>
          </p:nvSpPr>
          <p:spPr>
            <a:xfrm>
              <a:off x="3046750" y="36614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T</a:t>
              </a:r>
              <a:endParaRPr b="0" i="0" sz="1400" u="none" cap="none" strike="noStrike">
                <a:solidFill>
                  <a:srgbClr val="000000"/>
                </a:solidFill>
                <a:latin typeface="Courier New"/>
                <a:ea typeface="Courier New"/>
                <a:cs typeface="Courier New"/>
                <a:sym typeface="Courier New"/>
              </a:endParaRPr>
            </a:p>
          </p:txBody>
        </p:sp>
        <p:cxnSp>
          <p:nvCxnSpPr>
            <p:cNvPr id="966" name="Google Shape;966;p49"/>
            <p:cNvCxnSpPr>
              <a:stCxn id="956" idx="5"/>
              <a:endCxn id="958" idx="1"/>
            </p:cNvCxnSpPr>
            <p:nvPr/>
          </p:nvCxnSpPr>
          <p:spPr>
            <a:xfrm>
              <a:off x="2656784" y="2525359"/>
              <a:ext cx="327900" cy="216600"/>
            </a:xfrm>
            <a:prstGeom prst="straightConnector1">
              <a:avLst/>
            </a:prstGeom>
            <a:noFill/>
            <a:ln cap="flat" cmpd="sng" w="19050">
              <a:solidFill>
                <a:srgbClr val="000000"/>
              </a:solidFill>
              <a:prstDash val="solid"/>
              <a:round/>
              <a:headEnd len="sm" w="sm" type="none"/>
              <a:tailEnd len="sm" w="sm" type="none"/>
            </a:ln>
          </p:spPr>
        </p:cxnSp>
        <p:cxnSp>
          <p:nvCxnSpPr>
            <p:cNvPr id="967" name="Google Shape;967;p49"/>
            <p:cNvCxnSpPr>
              <a:stCxn id="965" idx="1"/>
              <a:endCxn id="959" idx="5"/>
            </p:cNvCxnSpPr>
            <p:nvPr/>
          </p:nvCxnSpPr>
          <p:spPr>
            <a:xfrm rot="10800000">
              <a:off x="2778291" y="3500641"/>
              <a:ext cx="326100" cy="218400"/>
            </a:xfrm>
            <a:prstGeom prst="straightConnector1">
              <a:avLst/>
            </a:prstGeom>
            <a:noFill/>
            <a:ln cap="flat" cmpd="sng" w="19050">
              <a:solidFill>
                <a:srgbClr val="000000"/>
              </a:solidFill>
              <a:prstDash val="solid"/>
              <a:round/>
              <a:headEnd len="sm" w="sm" type="none"/>
              <a:tailEnd len="sm" w="sm" type="none"/>
            </a:ln>
          </p:spPr>
        </p:cxnSp>
      </p:grpSp>
      <p:grpSp>
        <p:nvGrpSpPr>
          <p:cNvPr id="968" name="Google Shape;968;p49"/>
          <p:cNvGrpSpPr/>
          <p:nvPr/>
        </p:nvGrpSpPr>
        <p:grpSpPr>
          <a:xfrm>
            <a:off x="6680850" y="1864800"/>
            <a:ext cx="2175900" cy="2351138"/>
            <a:chOff x="6833250" y="2017200"/>
            <a:chExt cx="2175900" cy="2351138"/>
          </a:xfrm>
        </p:grpSpPr>
        <p:sp>
          <p:nvSpPr>
            <p:cNvPr id="969" name="Google Shape;969;p49"/>
            <p:cNvSpPr/>
            <p:nvPr/>
          </p:nvSpPr>
          <p:spPr>
            <a:xfrm>
              <a:off x="7191000" y="2017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A</a:t>
              </a:r>
              <a:endParaRPr b="0" i="0" sz="1400" u="none" cap="none" strike="noStrike">
                <a:solidFill>
                  <a:srgbClr val="000000"/>
                </a:solidFill>
                <a:latin typeface="Courier New"/>
                <a:ea typeface="Courier New"/>
                <a:cs typeface="Courier New"/>
                <a:sym typeface="Courier New"/>
              </a:endParaRPr>
            </a:p>
          </p:txBody>
        </p:sp>
        <p:sp>
          <p:nvSpPr>
            <p:cNvPr id="970" name="Google Shape;970;p49"/>
            <p:cNvSpPr/>
            <p:nvPr/>
          </p:nvSpPr>
          <p:spPr>
            <a:xfrm>
              <a:off x="6833250" y="27686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B</a:t>
              </a:r>
              <a:endParaRPr b="0" i="0" sz="1400" u="none" cap="none" strike="noStrike">
                <a:solidFill>
                  <a:srgbClr val="000000"/>
                </a:solidFill>
                <a:latin typeface="Courier New"/>
                <a:ea typeface="Courier New"/>
                <a:cs typeface="Courier New"/>
                <a:sym typeface="Courier New"/>
              </a:endParaRPr>
            </a:p>
          </p:txBody>
        </p:sp>
        <p:sp>
          <p:nvSpPr>
            <p:cNvPr id="971" name="Google Shape;971;p49"/>
            <p:cNvSpPr/>
            <p:nvPr/>
          </p:nvSpPr>
          <p:spPr>
            <a:xfrm>
              <a:off x="7547538" y="31622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C</a:t>
              </a:r>
              <a:endParaRPr b="0" i="0" sz="1400" u="none" cap="none" strike="noStrike">
                <a:solidFill>
                  <a:srgbClr val="000000"/>
                </a:solidFill>
                <a:latin typeface="Courier New"/>
                <a:ea typeface="Courier New"/>
                <a:cs typeface="Courier New"/>
                <a:sym typeface="Courier New"/>
              </a:endParaRPr>
            </a:p>
          </p:txBody>
        </p:sp>
        <p:sp>
          <p:nvSpPr>
            <p:cNvPr id="972" name="Google Shape;972;p49"/>
            <p:cNvSpPr/>
            <p:nvPr/>
          </p:nvSpPr>
          <p:spPr>
            <a:xfrm>
              <a:off x="8158350" y="24986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D</a:t>
              </a:r>
              <a:endParaRPr b="0" i="0" sz="1400" u="none" cap="none" strike="noStrike">
                <a:solidFill>
                  <a:srgbClr val="000000"/>
                </a:solidFill>
                <a:latin typeface="Courier New"/>
                <a:ea typeface="Courier New"/>
                <a:cs typeface="Courier New"/>
                <a:sym typeface="Courier New"/>
              </a:endParaRPr>
            </a:p>
          </p:txBody>
        </p:sp>
        <p:sp>
          <p:nvSpPr>
            <p:cNvPr id="973" name="Google Shape;973;p49"/>
            <p:cNvSpPr/>
            <p:nvPr/>
          </p:nvSpPr>
          <p:spPr>
            <a:xfrm>
              <a:off x="8216100" y="35809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E</a:t>
              </a:r>
              <a:endParaRPr b="0" i="0" sz="1400" u="none" cap="none" strike="noStrike">
                <a:solidFill>
                  <a:srgbClr val="000000"/>
                </a:solidFill>
                <a:latin typeface="Courier New"/>
                <a:ea typeface="Courier New"/>
                <a:cs typeface="Courier New"/>
                <a:sym typeface="Courier New"/>
              </a:endParaRPr>
            </a:p>
          </p:txBody>
        </p:sp>
        <p:sp>
          <p:nvSpPr>
            <p:cNvPr id="974" name="Google Shape;974;p49"/>
            <p:cNvSpPr/>
            <p:nvPr/>
          </p:nvSpPr>
          <p:spPr>
            <a:xfrm>
              <a:off x="7024500" y="3974738"/>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F</a:t>
              </a:r>
              <a:endParaRPr b="0" i="0" sz="1400" u="none" cap="none" strike="noStrike">
                <a:solidFill>
                  <a:srgbClr val="000000"/>
                </a:solidFill>
                <a:latin typeface="Courier New"/>
                <a:ea typeface="Courier New"/>
                <a:cs typeface="Courier New"/>
                <a:sym typeface="Courier New"/>
              </a:endParaRPr>
            </a:p>
          </p:txBody>
        </p:sp>
        <p:sp>
          <p:nvSpPr>
            <p:cNvPr id="975" name="Google Shape;975;p49"/>
            <p:cNvSpPr/>
            <p:nvPr/>
          </p:nvSpPr>
          <p:spPr>
            <a:xfrm>
              <a:off x="8615550" y="29558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G</a:t>
              </a:r>
              <a:endParaRPr b="0" i="0" sz="1400" u="none" cap="none" strike="noStrike">
                <a:solidFill>
                  <a:srgbClr val="000000"/>
                </a:solidFill>
                <a:latin typeface="Courier New"/>
                <a:ea typeface="Courier New"/>
                <a:cs typeface="Courier New"/>
                <a:sym typeface="Courier New"/>
              </a:endParaRPr>
            </a:p>
          </p:txBody>
        </p:sp>
        <p:cxnSp>
          <p:nvCxnSpPr>
            <p:cNvPr id="976" name="Google Shape;976;p49"/>
            <p:cNvCxnSpPr>
              <a:stCxn id="971" idx="3"/>
              <a:endCxn id="974" idx="7"/>
            </p:cNvCxnSpPr>
            <p:nvPr/>
          </p:nvCxnSpPr>
          <p:spPr>
            <a:xfrm flipH="1">
              <a:off x="7360379" y="3498234"/>
              <a:ext cx="244800" cy="534000"/>
            </a:xfrm>
            <a:prstGeom prst="straightConnector1">
              <a:avLst/>
            </a:prstGeom>
            <a:noFill/>
            <a:ln cap="flat" cmpd="sng" w="19050">
              <a:solidFill>
                <a:srgbClr val="000000"/>
              </a:solidFill>
              <a:prstDash val="solid"/>
              <a:round/>
              <a:headEnd len="sm" w="sm" type="none"/>
              <a:tailEnd len="sm" w="sm" type="none"/>
            </a:ln>
          </p:spPr>
        </p:cxnSp>
        <p:cxnSp>
          <p:nvCxnSpPr>
            <p:cNvPr id="977" name="Google Shape;977;p49"/>
            <p:cNvCxnSpPr>
              <a:stCxn id="971" idx="1"/>
              <a:endCxn id="970" idx="5"/>
            </p:cNvCxnSpPr>
            <p:nvPr/>
          </p:nvCxnSpPr>
          <p:spPr>
            <a:xfrm rot="10800000">
              <a:off x="7169279" y="3104716"/>
              <a:ext cx="435900" cy="115200"/>
            </a:xfrm>
            <a:prstGeom prst="straightConnector1">
              <a:avLst/>
            </a:prstGeom>
            <a:noFill/>
            <a:ln cap="flat" cmpd="sng" w="19050">
              <a:solidFill>
                <a:srgbClr val="000000"/>
              </a:solidFill>
              <a:prstDash val="solid"/>
              <a:round/>
              <a:headEnd len="med" w="med" type="triangle"/>
              <a:tailEnd len="sm" w="sm" type="none"/>
            </a:ln>
          </p:spPr>
        </p:cxnSp>
        <p:cxnSp>
          <p:nvCxnSpPr>
            <p:cNvPr id="978" name="Google Shape;978;p49"/>
            <p:cNvCxnSpPr>
              <a:stCxn id="974" idx="6"/>
              <a:endCxn id="973" idx="3"/>
            </p:cNvCxnSpPr>
            <p:nvPr/>
          </p:nvCxnSpPr>
          <p:spPr>
            <a:xfrm flipH="1" rot="10800000">
              <a:off x="7418100" y="3916838"/>
              <a:ext cx="855600" cy="254700"/>
            </a:xfrm>
            <a:prstGeom prst="straightConnector1">
              <a:avLst/>
            </a:prstGeom>
            <a:noFill/>
            <a:ln cap="flat" cmpd="sng" w="19050">
              <a:solidFill>
                <a:srgbClr val="000000"/>
              </a:solidFill>
              <a:prstDash val="solid"/>
              <a:round/>
              <a:headEnd len="sm" w="sm" type="none"/>
              <a:tailEnd len="sm" w="sm" type="none"/>
            </a:ln>
          </p:spPr>
        </p:cxnSp>
        <p:cxnSp>
          <p:nvCxnSpPr>
            <p:cNvPr id="979" name="Google Shape;979;p49"/>
            <p:cNvCxnSpPr>
              <a:stCxn id="971" idx="5"/>
              <a:endCxn id="973" idx="1"/>
            </p:cNvCxnSpPr>
            <p:nvPr/>
          </p:nvCxnSpPr>
          <p:spPr>
            <a:xfrm>
              <a:off x="7883497" y="3498234"/>
              <a:ext cx="390300" cy="140400"/>
            </a:xfrm>
            <a:prstGeom prst="straightConnector1">
              <a:avLst/>
            </a:prstGeom>
            <a:noFill/>
            <a:ln cap="flat" cmpd="sng" w="19050">
              <a:solidFill>
                <a:srgbClr val="000000"/>
              </a:solidFill>
              <a:prstDash val="solid"/>
              <a:round/>
              <a:headEnd len="sm" w="sm" type="none"/>
              <a:tailEnd len="sm" w="sm" type="none"/>
            </a:ln>
          </p:spPr>
        </p:cxnSp>
        <p:cxnSp>
          <p:nvCxnSpPr>
            <p:cNvPr id="980" name="Google Shape;980;p49"/>
            <p:cNvCxnSpPr>
              <a:stCxn id="975" idx="1"/>
              <a:endCxn id="972" idx="5"/>
            </p:cNvCxnSpPr>
            <p:nvPr/>
          </p:nvCxnSpPr>
          <p:spPr>
            <a:xfrm rot="10800000">
              <a:off x="8494391" y="2834654"/>
              <a:ext cx="178800" cy="178800"/>
            </a:xfrm>
            <a:prstGeom prst="straightConnector1">
              <a:avLst/>
            </a:prstGeom>
            <a:noFill/>
            <a:ln cap="flat" cmpd="sng" w="19050">
              <a:solidFill>
                <a:srgbClr val="000000"/>
              </a:solidFill>
              <a:prstDash val="solid"/>
              <a:round/>
              <a:headEnd len="sm" w="sm" type="none"/>
              <a:tailEnd len="sm" w="sm" type="none"/>
            </a:ln>
          </p:spPr>
        </p:cxnSp>
        <p:cxnSp>
          <p:nvCxnSpPr>
            <p:cNvPr id="981" name="Google Shape;981;p49"/>
            <p:cNvCxnSpPr>
              <a:stCxn id="972" idx="3"/>
              <a:endCxn id="971" idx="7"/>
            </p:cNvCxnSpPr>
            <p:nvPr/>
          </p:nvCxnSpPr>
          <p:spPr>
            <a:xfrm flipH="1">
              <a:off x="7883591" y="2834572"/>
              <a:ext cx="332400" cy="385200"/>
            </a:xfrm>
            <a:prstGeom prst="straightConnector1">
              <a:avLst/>
            </a:prstGeom>
            <a:noFill/>
            <a:ln cap="flat" cmpd="sng" w="19050">
              <a:solidFill>
                <a:srgbClr val="000000"/>
              </a:solidFill>
              <a:prstDash val="solid"/>
              <a:round/>
              <a:headEnd len="sm" w="sm" type="none"/>
              <a:tailEnd len="med" w="med" type="triangle"/>
            </a:ln>
          </p:spPr>
        </p:cxnSp>
        <p:cxnSp>
          <p:nvCxnSpPr>
            <p:cNvPr id="982" name="Google Shape;982;p49"/>
            <p:cNvCxnSpPr>
              <a:stCxn id="969" idx="6"/>
              <a:endCxn id="972" idx="1"/>
            </p:cNvCxnSpPr>
            <p:nvPr/>
          </p:nvCxnSpPr>
          <p:spPr>
            <a:xfrm>
              <a:off x="7584600" y="2214000"/>
              <a:ext cx="631500" cy="342300"/>
            </a:xfrm>
            <a:prstGeom prst="straightConnector1">
              <a:avLst/>
            </a:prstGeom>
            <a:noFill/>
            <a:ln cap="flat" cmpd="sng" w="19050">
              <a:solidFill>
                <a:srgbClr val="000000"/>
              </a:solidFill>
              <a:prstDash val="solid"/>
              <a:round/>
              <a:headEnd len="med" w="med" type="triangle"/>
              <a:tailEnd len="sm" w="sm" type="none"/>
            </a:ln>
          </p:spPr>
        </p:cxnSp>
        <p:cxnSp>
          <p:nvCxnSpPr>
            <p:cNvPr id="983" name="Google Shape;983;p49"/>
            <p:cNvCxnSpPr>
              <a:stCxn id="971" idx="6"/>
              <a:endCxn id="975" idx="2"/>
            </p:cNvCxnSpPr>
            <p:nvPr/>
          </p:nvCxnSpPr>
          <p:spPr>
            <a:xfrm flipH="1" rot="10800000">
              <a:off x="7941138" y="3152675"/>
              <a:ext cx="674400" cy="206400"/>
            </a:xfrm>
            <a:prstGeom prst="straightConnector1">
              <a:avLst/>
            </a:prstGeom>
            <a:noFill/>
            <a:ln cap="flat" cmpd="sng" w="19050">
              <a:solidFill>
                <a:srgbClr val="000000"/>
              </a:solidFill>
              <a:prstDash val="solid"/>
              <a:round/>
              <a:headEnd len="med" w="med" type="triangle"/>
              <a:tailEnd len="sm" w="sm" type="none"/>
            </a:ln>
          </p:spPr>
        </p:cxnSp>
        <p:cxnSp>
          <p:nvCxnSpPr>
            <p:cNvPr id="984" name="Google Shape;984;p49"/>
            <p:cNvCxnSpPr>
              <a:stCxn id="969" idx="3"/>
              <a:endCxn id="970" idx="0"/>
            </p:cNvCxnSpPr>
            <p:nvPr/>
          </p:nvCxnSpPr>
          <p:spPr>
            <a:xfrm flipH="1">
              <a:off x="7029941" y="2353159"/>
              <a:ext cx="218700" cy="415500"/>
            </a:xfrm>
            <a:prstGeom prst="straightConnector1">
              <a:avLst/>
            </a:prstGeom>
            <a:noFill/>
            <a:ln cap="flat" cmpd="sng" w="19050">
              <a:solidFill>
                <a:srgbClr val="000000"/>
              </a:solidFill>
              <a:prstDash val="solid"/>
              <a:round/>
              <a:headEnd len="sm" w="sm" type="none"/>
              <a:tailEnd len="sm" w="sm" type="none"/>
            </a:ln>
          </p:spPr>
        </p:cxnSp>
      </p:gr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8" name="Shape 988"/>
        <p:cNvGrpSpPr/>
        <p:nvPr/>
      </p:nvGrpSpPr>
      <p:grpSpPr>
        <a:xfrm>
          <a:off x="0" y="0"/>
          <a:ext cx="0" cy="0"/>
          <a:chOff x="0" y="0"/>
          <a:chExt cx="0" cy="0"/>
        </a:xfrm>
      </p:grpSpPr>
      <p:sp>
        <p:nvSpPr>
          <p:cNvPr id="989" name="Google Shape;989;p50"/>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possible implementation of a graph involves each vertex keeping track of its neighbors in an </a:t>
            </a:r>
            <a:r>
              <a:rPr i="1" lang="en"/>
              <a:t>adjacency list</a:t>
            </a:r>
            <a:r>
              <a:rPr lang="en"/>
              <a:t>. An adjacency list can be represented using a table. Given the graphs depicted below, fill in the adjacency list for each vertex.</a:t>
            </a:r>
            <a:endParaRPr/>
          </a:p>
        </p:txBody>
      </p:sp>
      <p:sp>
        <p:nvSpPr>
          <p:cNvPr id="990" name="Google Shape;990;p5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91" name="Google Shape;991;p5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Adjacency Lists</a:t>
            </a:r>
            <a:endParaRPr/>
          </a:p>
        </p:txBody>
      </p:sp>
      <p:sp>
        <p:nvSpPr>
          <p:cNvPr id="992" name="Google Shape;992;p5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4</a:t>
            </a:r>
            <a:endParaRPr/>
          </a:p>
        </p:txBody>
      </p:sp>
      <p:graphicFrame>
        <p:nvGraphicFramePr>
          <p:cNvPr id="993" name="Google Shape;993;p50"/>
          <p:cNvGraphicFramePr/>
          <p:nvPr/>
        </p:nvGraphicFramePr>
        <p:xfrm>
          <a:off x="260275" y="1821275"/>
          <a:ext cx="3000000" cy="3000000"/>
        </p:xfrm>
        <a:graphic>
          <a:graphicData uri="http://schemas.openxmlformats.org/drawingml/2006/table">
            <a:tbl>
              <a:tblPr>
                <a:noFill/>
                <a:tableStyleId>{F61E8307-4E6B-4154-8BF4-D3231BAD3CED}</a:tableStyleId>
              </a:tblPr>
              <a:tblGrid>
                <a:gridCol w="632375"/>
                <a:gridCol w="1156850"/>
              </a:tblGrid>
              <a:tr h="2892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Vertex</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Adjacency List</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994" name="Google Shape;994;p50"/>
          <p:cNvGraphicFramePr/>
          <p:nvPr/>
        </p:nvGraphicFramePr>
        <p:xfrm>
          <a:off x="4549275" y="1821275"/>
          <a:ext cx="3000000" cy="3000000"/>
        </p:xfrm>
        <a:graphic>
          <a:graphicData uri="http://schemas.openxmlformats.org/drawingml/2006/table">
            <a:tbl>
              <a:tblPr>
                <a:noFill/>
                <a:tableStyleId>{F61E8307-4E6B-4154-8BF4-D3231BAD3CED}</a:tableStyleId>
              </a:tblPr>
              <a:tblGrid>
                <a:gridCol w="584725"/>
                <a:gridCol w="1217075"/>
              </a:tblGrid>
              <a:tr h="289275">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Vertex</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000"/>
                        <a:buFont typeface="Arial"/>
                        <a:buNone/>
                      </a:pPr>
                      <a:r>
                        <a:rPr b="1" lang="en" sz="1000" u="none" cap="none" strike="noStrike">
                          <a:solidFill>
                            <a:srgbClr val="FFFFFF"/>
                          </a:solidFill>
                        </a:rPr>
                        <a:t>Adjacency List</a:t>
                      </a:r>
                      <a:endParaRPr b="1"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89275">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995" name="Google Shape;995;p50"/>
          <p:cNvGrpSpPr/>
          <p:nvPr/>
        </p:nvGrpSpPr>
        <p:grpSpPr>
          <a:xfrm>
            <a:off x="2320825" y="1907850"/>
            <a:ext cx="1555025" cy="2528150"/>
            <a:chOff x="2320825" y="1526850"/>
            <a:chExt cx="1555025" cy="2528150"/>
          </a:xfrm>
        </p:grpSpPr>
        <p:sp>
          <p:nvSpPr>
            <p:cNvPr id="996" name="Google Shape;996;p50"/>
            <p:cNvSpPr/>
            <p:nvPr/>
          </p:nvSpPr>
          <p:spPr>
            <a:xfrm>
              <a:off x="2594725" y="15268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Z</a:t>
              </a:r>
              <a:endParaRPr b="0" i="0" sz="1400" u="none" cap="none" strike="noStrike">
                <a:solidFill>
                  <a:srgbClr val="000000"/>
                </a:solidFill>
                <a:latin typeface="Courier New"/>
                <a:ea typeface="Courier New"/>
                <a:cs typeface="Courier New"/>
                <a:sym typeface="Courier New"/>
              </a:endParaRPr>
            </a:p>
          </p:txBody>
        </p:sp>
        <p:sp>
          <p:nvSpPr>
            <p:cNvPr id="997" name="Google Shape;997;p50"/>
            <p:cNvSpPr/>
            <p:nvPr/>
          </p:nvSpPr>
          <p:spPr>
            <a:xfrm>
              <a:off x="2320825" y="21894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Y</a:t>
              </a:r>
              <a:endParaRPr b="0" i="0" sz="1400" u="none" cap="none" strike="noStrike">
                <a:solidFill>
                  <a:srgbClr val="000000"/>
                </a:solidFill>
                <a:latin typeface="Courier New"/>
                <a:ea typeface="Courier New"/>
                <a:cs typeface="Courier New"/>
                <a:sym typeface="Courier New"/>
              </a:endParaRPr>
            </a:p>
          </p:txBody>
        </p:sp>
        <p:sp>
          <p:nvSpPr>
            <p:cNvPr id="998" name="Google Shape;998;p50"/>
            <p:cNvSpPr/>
            <p:nvPr/>
          </p:nvSpPr>
          <p:spPr>
            <a:xfrm>
              <a:off x="3320750" y="19939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X</a:t>
              </a:r>
              <a:endParaRPr b="0" i="0" sz="1400" u="none" cap="none" strike="noStrike">
                <a:solidFill>
                  <a:srgbClr val="000000"/>
                </a:solidFill>
                <a:latin typeface="Courier New"/>
                <a:ea typeface="Courier New"/>
                <a:cs typeface="Courier New"/>
                <a:sym typeface="Courier New"/>
              </a:endParaRPr>
            </a:p>
          </p:txBody>
        </p:sp>
        <p:sp>
          <p:nvSpPr>
            <p:cNvPr id="999" name="Google Shape;999;p50"/>
            <p:cNvSpPr/>
            <p:nvPr/>
          </p:nvSpPr>
          <p:spPr>
            <a:xfrm>
              <a:off x="2927150" y="26844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V</a:t>
              </a:r>
              <a:endParaRPr b="0" i="0" sz="1400" u="none" cap="none" strike="noStrike">
                <a:solidFill>
                  <a:srgbClr val="000000"/>
                </a:solidFill>
                <a:latin typeface="Courier New"/>
                <a:ea typeface="Courier New"/>
                <a:cs typeface="Courier New"/>
                <a:sym typeface="Courier New"/>
              </a:endParaRPr>
            </a:p>
          </p:txBody>
        </p:sp>
        <p:sp>
          <p:nvSpPr>
            <p:cNvPr id="1000" name="Google Shape;1000;p50"/>
            <p:cNvSpPr/>
            <p:nvPr/>
          </p:nvSpPr>
          <p:spPr>
            <a:xfrm>
              <a:off x="2442325" y="316482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W</a:t>
              </a:r>
              <a:endParaRPr b="0" i="0" sz="1400" u="none" cap="none" strike="noStrike">
                <a:solidFill>
                  <a:srgbClr val="000000"/>
                </a:solidFill>
                <a:latin typeface="Courier New"/>
                <a:ea typeface="Courier New"/>
                <a:cs typeface="Courier New"/>
                <a:sym typeface="Courier New"/>
              </a:endParaRPr>
            </a:p>
          </p:txBody>
        </p:sp>
        <p:sp>
          <p:nvSpPr>
            <p:cNvPr id="1001" name="Google Shape;1001;p50"/>
            <p:cNvSpPr/>
            <p:nvPr/>
          </p:nvSpPr>
          <p:spPr>
            <a:xfrm>
              <a:off x="3482250" y="300975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U</a:t>
              </a:r>
              <a:endParaRPr b="0" i="0" sz="1400" u="none" cap="none" strike="noStrike">
                <a:solidFill>
                  <a:srgbClr val="000000"/>
                </a:solidFill>
                <a:latin typeface="Courier New"/>
                <a:ea typeface="Courier New"/>
                <a:cs typeface="Courier New"/>
                <a:sym typeface="Courier New"/>
              </a:endParaRPr>
            </a:p>
          </p:txBody>
        </p:sp>
        <p:cxnSp>
          <p:nvCxnSpPr>
            <p:cNvPr id="1002" name="Google Shape;1002;p50"/>
            <p:cNvCxnSpPr>
              <a:stCxn id="996" idx="6"/>
              <a:endCxn id="998" idx="1"/>
            </p:cNvCxnSpPr>
            <p:nvPr/>
          </p:nvCxnSpPr>
          <p:spPr>
            <a:xfrm>
              <a:off x="2988325" y="1723650"/>
              <a:ext cx="390000" cy="327900"/>
            </a:xfrm>
            <a:prstGeom prst="straightConnector1">
              <a:avLst/>
            </a:prstGeom>
            <a:noFill/>
            <a:ln cap="flat" cmpd="sng" w="19050">
              <a:solidFill>
                <a:srgbClr val="000000"/>
              </a:solidFill>
              <a:prstDash val="solid"/>
              <a:round/>
              <a:headEnd len="sm" w="sm" type="none"/>
              <a:tailEnd len="sm" w="sm" type="none"/>
            </a:ln>
          </p:spPr>
        </p:cxnSp>
        <p:cxnSp>
          <p:nvCxnSpPr>
            <p:cNvPr id="1003" name="Google Shape;1003;p50"/>
            <p:cNvCxnSpPr>
              <a:stCxn id="996" idx="3"/>
              <a:endCxn id="997" idx="0"/>
            </p:cNvCxnSpPr>
            <p:nvPr/>
          </p:nvCxnSpPr>
          <p:spPr>
            <a:xfrm flipH="1">
              <a:off x="2517666" y="1862809"/>
              <a:ext cx="134700" cy="326700"/>
            </a:xfrm>
            <a:prstGeom prst="straightConnector1">
              <a:avLst/>
            </a:prstGeom>
            <a:noFill/>
            <a:ln cap="flat" cmpd="sng" w="19050">
              <a:solidFill>
                <a:srgbClr val="000000"/>
              </a:solidFill>
              <a:prstDash val="solid"/>
              <a:round/>
              <a:headEnd len="sm" w="sm" type="none"/>
              <a:tailEnd len="sm" w="sm" type="none"/>
            </a:ln>
          </p:spPr>
        </p:cxnSp>
        <p:cxnSp>
          <p:nvCxnSpPr>
            <p:cNvPr id="1004" name="Google Shape;1004;p50"/>
            <p:cNvCxnSpPr>
              <a:stCxn id="997" idx="6"/>
              <a:endCxn id="998" idx="2"/>
            </p:cNvCxnSpPr>
            <p:nvPr/>
          </p:nvCxnSpPr>
          <p:spPr>
            <a:xfrm flipH="1" rot="10800000">
              <a:off x="2714425" y="2190900"/>
              <a:ext cx="606300" cy="195300"/>
            </a:xfrm>
            <a:prstGeom prst="straightConnector1">
              <a:avLst/>
            </a:prstGeom>
            <a:noFill/>
            <a:ln cap="flat" cmpd="sng" w="19050">
              <a:solidFill>
                <a:srgbClr val="000000"/>
              </a:solidFill>
              <a:prstDash val="solid"/>
              <a:round/>
              <a:headEnd len="sm" w="sm" type="none"/>
              <a:tailEnd len="sm" w="sm" type="none"/>
            </a:ln>
          </p:spPr>
        </p:cxnSp>
        <p:cxnSp>
          <p:nvCxnSpPr>
            <p:cNvPr id="1005" name="Google Shape;1005;p50"/>
            <p:cNvCxnSpPr>
              <a:stCxn id="1001" idx="2"/>
              <a:endCxn id="1000" idx="6"/>
            </p:cNvCxnSpPr>
            <p:nvPr/>
          </p:nvCxnSpPr>
          <p:spPr>
            <a:xfrm flipH="1">
              <a:off x="2836050" y="3206550"/>
              <a:ext cx="646200" cy="155100"/>
            </a:xfrm>
            <a:prstGeom prst="straightConnector1">
              <a:avLst/>
            </a:prstGeom>
            <a:noFill/>
            <a:ln cap="flat" cmpd="sng" w="19050">
              <a:solidFill>
                <a:srgbClr val="000000"/>
              </a:solidFill>
              <a:prstDash val="solid"/>
              <a:round/>
              <a:headEnd len="sm" w="sm" type="none"/>
              <a:tailEnd len="sm" w="sm" type="none"/>
            </a:ln>
          </p:spPr>
        </p:cxnSp>
        <p:sp>
          <p:nvSpPr>
            <p:cNvPr id="1006" name="Google Shape;1006;p50"/>
            <p:cNvSpPr/>
            <p:nvPr/>
          </p:nvSpPr>
          <p:spPr>
            <a:xfrm>
              <a:off x="3046750" y="36614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T</a:t>
              </a:r>
              <a:endParaRPr b="0" i="0" sz="1400" u="none" cap="none" strike="noStrike">
                <a:solidFill>
                  <a:srgbClr val="000000"/>
                </a:solidFill>
                <a:latin typeface="Courier New"/>
                <a:ea typeface="Courier New"/>
                <a:cs typeface="Courier New"/>
                <a:sym typeface="Courier New"/>
              </a:endParaRPr>
            </a:p>
          </p:txBody>
        </p:sp>
        <p:cxnSp>
          <p:nvCxnSpPr>
            <p:cNvPr id="1007" name="Google Shape;1007;p50"/>
            <p:cNvCxnSpPr>
              <a:stCxn id="997" idx="5"/>
              <a:endCxn id="999" idx="1"/>
            </p:cNvCxnSpPr>
            <p:nvPr/>
          </p:nvCxnSpPr>
          <p:spPr>
            <a:xfrm>
              <a:off x="2656784" y="2525359"/>
              <a:ext cx="327900" cy="216600"/>
            </a:xfrm>
            <a:prstGeom prst="straightConnector1">
              <a:avLst/>
            </a:prstGeom>
            <a:noFill/>
            <a:ln cap="flat" cmpd="sng" w="19050">
              <a:solidFill>
                <a:srgbClr val="000000"/>
              </a:solidFill>
              <a:prstDash val="solid"/>
              <a:round/>
              <a:headEnd len="sm" w="sm" type="none"/>
              <a:tailEnd len="sm" w="sm" type="none"/>
            </a:ln>
          </p:spPr>
        </p:cxnSp>
        <p:cxnSp>
          <p:nvCxnSpPr>
            <p:cNvPr id="1008" name="Google Shape;1008;p50"/>
            <p:cNvCxnSpPr>
              <a:stCxn id="1006" idx="1"/>
              <a:endCxn id="1000" idx="5"/>
            </p:cNvCxnSpPr>
            <p:nvPr/>
          </p:nvCxnSpPr>
          <p:spPr>
            <a:xfrm rot="10800000">
              <a:off x="2778291" y="3500641"/>
              <a:ext cx="326100" cy="218400"/>
            </a:xfrm>
            <a:prstGeom prst="straightConnector1">
              <a:avLst/>
            </a:prstGeom>
            <a:noFill/>
            <a:ln cap="flat" cmpd="sng" w="19050">
              <a:solidFill>
                <a:srgbClr val="000000"/>
              </a:solidFill>
              <a:prstDash val="solid"/>
              <a:round/>
              <a:headEnd len="sm" w="sm" type="none"/>
              <a:tailEnd len="sm" w="sm" type="none"/>
            </a:ln>
          </p:spPr>
        </p:cxnSp>
      </p:grpSp>
      <p:grpSp>
        <p:nvGrpSpPr>
          <p:cNvPr id="1009" name="Google Shape;1009;p50"/>
          <p:cNvGrpSpPr/>
          <p:nvPr/>
        </p:nvGrpSpPr>
        <p:grpSpPr>
          <a:xfrm>
            <a:off x="6680850" y="1864800"/>
            <a:ext cx="2175900" cy="2351138"/>
            <a:chOff x="6833250" y="2017200"/>
            <a:chExt cx="2175900" cy="2351138"/>
          </a:xfrm>
        </p:grpSpPr>
        <p:sp>
          <p:nvSpPr>
            <p:cNvPr id="1010" name="Google Shape;1010;p50"/>
            <p:cNvSpPr/>
            <p:nvPr/>
          </p:nvSpPr>
          <p:spPr>
            <a:xfrm>
              <a:off x="7191000" y="2017200"/>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A</a:t>
              </a:r>
              <a:endParaRPr b="0" i="0" sz="1400" u="none" cap="none" strike="noStrike">
                <a:solidFill>
                  <a:srgbClr val="000000"/>
                </a:solidFill>
                <a:latin typeface="Courier New"/>
                <a:ea typeface="Courier New"/>
                <a:cs typeface="Courier New"/>
                <a:sym typeface="Courier New"/>
              </a:endParaRPr>
            </a:p>
          </p:txBody>
        </p:sp>
        <p:sp>
          <p:nvSpPr>
            <p:cNvPr id="1011" name="Google Shape;1011;p50"/>
            <p:cNvSpPr/>
            <p:nvPr/>
          </p:nvSpPr>
          <p:spPr>
            <a:xfrm>
              <a:off x="6833250" y="27686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B</a:t>
              </a:r>
              <a:endParaRPr b="0" i="0" sz="1400" u="none" cap="none" strike="noStrike">
                <a:solidFill>
                  <a:srgbClr val="000000"/>
                </a:solidFill>
                <a:latin typeface="Courier New"/>
                <a:ea typeface="Courier New"/>
                <a:cs typeface="Courier New"/>
                <a:sym typeface="Courier New"/>
              </a:endParaRPr>
            </a:p>
          </p:txBody>
        </p:sp>
        <p:sp>
          <p:nvSpPr>
            <p:cNvPr id="1012" name="Google Shape;1012;p50"/>
            <p:cNvSpPr/>
            <p:nvPr/>
          </p:nvSpPr>
          <p:spPr>
            <a:xfrm>
              <a:off x="7547538" y="3162275"/>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C</a:t>
              </a:r>
              <a:endParaRPr b="0" i="0" sz="1400" u="none" cap="none" strike="noStrike">
                <a:solidFill>
                  <a:srgbClr val="000000"/>
                </a:solidFill>
                <a:latin typeface="Courier New"/>
                <a:ea typeface="Courier New"/>
                <a:cs typeface="Courier New"/>
                <a:sym typeface="Courier New"/>
              </a:endParaRPr>
            </a:p>
          </p:txBody>
        </p:sp>
        <p:sp>
          <p:nvSpPr>
            <p:cNvPr id="1013" name="Google Shape;1013;p50"/>
            <p:cNvSpPr/>
            <p:nvPr/>
          </p:nvSpPr>
          <p:spPr>
            <a:xfrm>
              <a:off x="8158350" y="24986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D</a:t>
              </a:r>
              <a:endParaRPr b="0" i="0" sz="1400" u="none" cap="none" strike="noStrike">
                <a:solidFill>
                  <a:srgbClr val="000000"/>
                </a:solidFill>
                <a:latin typeface="Courier New"/>
                <a:ea typeface="Courier New"/>
                <a:cs typeface="Courier New"/>
                <a:sym typeface="Courier New"/>
              </a:endParaRPr>
            </a:p>
          </p:txBody>
        </p:sp>
        <p:sp>
          <p:nvSpPr>
            <p:cNvPr id="1014" name="Google Shape;1014;p50"/>
            <p:cNvSpPr/>
            <p:nvPr/>
          </p:nvSpPr>
          <p:spPr>
            <a:xfrm>
              <a:off x="8216100" y="35809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E</a:t>
              </a:r>
              <a:endParaRPr b="0" i="0" sz="1400" u="none" cap="none" strike="noStrike">
                <a:solidFill>
                  <a:srgbClr val="000000"/>
                </a:solidFill>
                <a:latin typeface="Courier New"/>
                <a:ea typeface="Courier New"/>
                <a:cs typeface="Courier New"/>
                <a:sym typeface="Courier New"/>
              </a:endParaRPr>
            </a:p>
          </p:txBody>
        </p:sp>
        <p:sp>
          <p:nvSpPr>
            <p:cNvPr id="1015" name="Google Shape;1015;p50"/>
            <p:cNvSpPr/>
            <p:nvPr/>
          </p:nvSpPr>
          <p:spPr>
            <a:xfrm>
              <a:off x="7024500" y="3974738"/>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F</a:t>
              </a:r>
              <a:endParaRPr b="0" i="0" sz="1400" u="none" cap="none" strike="noStrike">
                <a:solidFill>
                  <a:srgbClr val="000000"/>
                </a:solidFill>
                <a:latin typeface="Courier New"/>
                <a:ea typeface="Courier New"/>
                <a:cs typeface="Courier New"/>
                <a:sym typeface="Courier New"/>
              </a:endParaRPr>
            </a:p>
          </p:txBody>
        </p:sp>
        <p:sp>
          <p:nvSpPr>
            <p:cNvPr id="1016" name="Google Shape;1016;p50"/>
            <p:cNvSpPr/>
            <p:nvPr/>
          </p:nvSpPr>
          <p:spPr>
            <a:xfrm>
              <a:off x="8615550" y="2955813"/>
              <a:ext cx="393600" cy="393600"/>
            </a:xfrm>
            <a:prstGeom prst="ellipse">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Courier New"/>
                  <a:ea typeface="Courier New"/>
                  <a:cs typeface="Courier New"/>
                  <a:sym typeface="Courier New"/>
                </a:rPr>
                <a:t>G</a:t>
              </a:r>
              <a:endParaRPr b="0" i="0" sz="1400" u="none" cap="none" strike="noStrike">
                <a:solidFill>
                  <a:srgbClr val="000000"/>
                </a:solidFill>
                <a:latin typeface="Courier New"/>
                <a:ea typeface="Courier New"/>
                <a:cs typeface="Courier New"/>
                <a:sym typeface="Courier New"/>
              </a:endParaRPr>
            </a:p>
          </p:txBody>
        </p:sp>
        <p:cxnSp>
          <p:nvCxnSpPr>
            <p:cNvPr id="1017" name="Google Shape;1017;p50"/>
            <p:cNvCxnSpPr>
              <a:stCxn id="1012" idx="3"/>
              <a:endCxn id="1015" idx="7"/>
            </p:cNvCxnSpPr>
            <p:nvPr/>
          </p:nvCxnSpPr>
          <p:spPr>
            <a:xfrm flipH="1">
              <a:off x="7360379" y="3498234"/>
              <a:ext cx="244800" cy="534000"/>
            </a:xfrm>
            <a:prstGeom prst="straightConnector1">
              <a:avLst/>
            </a:prstGeom>
            <a:noFill/>
            <a:ln cap="flat" cmpd="sng" w="19050">
              <a:solidFill>
                <a:srgbClr val="000000"/>
              </a:solidFill>
              <a:prstDash val="solid"/>
              <a:round/>
              <a:headEnd len="sm" w="sm" type="none"/>
              <a:tailEnd len="sm" w="sm" type="none"/>
            </a:ln>
          </p:spPr>
        </p:cxnSp>
        <p:cxnSp>
          <p:nvCxnSpPr>
            <p:cNvPr id="1018" name="Google Shape;1018;p50"/>
            <p:cNvCxnSpPr>
              <a:stCxn id="1012" idx="1"/>
              <a:endCxn id="1011" idx="5"/>
            </p:cNvCxnSpPr>
            <p:nvPr/>
          </p:nvCxnSpPr>
          <p:spPr>
            <a:xfrm rot="10800000">
              <a:off x="7169279" y="3104716"/>
              <a:ext cx="435900" cy="115200"/>
            </a:xfrm>
            <a:prstGeom prst="straightConnector1">
              <a:avLst/>
            </a:prstGeom>
            <a:noFill/>
            <a:ln cap="flat" cmpd="sng" w="19050">
              <a:solidFill>
                <a:srgbClr val="000000"/>
              </a:solidFill>
              <a:prstDash val="solid"/>
              <a:round/>
              <a:headEnd len="med" w="med" type="triangle"/>
              <a:tailEnd len="sm" w="sm" type="none"/>
            </a:ln>
          </p:spPr>
        </p:cxnSp>
        <p:cxnSp>
          <p:nvCxnSpPr>
            <p:cNvPr id="1019" name="Google Shape;1019;p50"/>
            <p:cNvCxnSpPr>
              <a:stCxn id="1015" idx="6"/>
              <a:endCxn id="1014" idx="3"/>
            </p:cNvCxnSpPr>
            <p:nvPr/>
          </p:nvCxnSpPr>
          <p:spPr>
            <a:xfrm flipH="1" rot="10800000">
              <a:off x="7418100" y="3916838"/>
              <a:ext cx="855600" cy="254700"/>
            </a:xfrm>
            <a:prstGeom prst="straightConnector1">
              <a:avLst/>
            </a:prstGeom>
            <a:noFill/>
            <a:ln cap="flat" cmpd="sng" w="19050">
              <a:solidFill>
                <a:srgbClr val="000000"/>
              </a:solidFill>
              <a:prstDash val="solid"/>
              <a:round/>
              <a:headEnd len="sm" w="sm" type="none"/>
              <a:tailEnd len="sm" w="sm" type="none"/>
            </a:ln>
          </p:spPr>
        </p:cxnSp>
        <p:cxnSp>
          <p:nvCxnSpPr>
            <p:cNvPr id="1020" name="Google Shape;1020;p50"/>
            <p:cNvCxnSpPr>
              <a:stCxn id="1012" idx="5"/>
              <a:endCxn id="1014" idx="1"/>
            </p:cNvCxnSpPr>
            <p:nvPr/>
          </p:nvCxnSpPr>
          <p:spPr>
            <a:xfrm>
              <a:off x="7883497" y="3498234"/>
              <a:ext cx="390300" cy="140400"/>
            </a:xfrm>
            <a:prstGeom prst="straightConnector1">
              <a:avLst/>
            </a:prstGeom>
            <a:noFill/>
            <a:ln cap="flat" cmpd="sng" w="19050">
              <a:solidFill>
                <a:srgbClr val="000000"/>
              </a:solidFill>
              <a:prstDash val="solid"/>
              <a:round/>
              <a:headEnd len="sm" w="sm" type="none"/>
              <a:tailEnd len="sm" w="sm" type="none"/>
            </a:ln>
          </p:spPr>
        </p:cxnSp>
        <p:cxnSp>
          <p:nvCxnSpPr>
            <p:cNvPr id="1021" name="Google Shape;1021;p50"/>
            <p:cNvCxnSpPr>
              <a:stCxn id="1016" idx="1"/>
              <a:endCxn id="1013" idx="5"/>
            </p:cNvCxnSpPr>
            <p:nvPr/>
          </p:nvCxnSpPr>
          <p:spPr>
            <a:xfrm rot="10800000">
              <a:off x="8494391" y="2834654"/>
              <a:ext cx="178800" cy="178800"/>
            </a:xfrm>
            <a:prstGeom prst="straightConnector1">
              <a:avLst/>
            </a:prstGeom>
            <a:noFill/>
            <a:ln cap="flat" cmpd="sng" w="19050">
              <a:solidFill>
                <a:srgbClr val="000000"/>
              </a:solidFill>
              <a:prstDash val="solid"/>
              <a:round/>
              <a:headEnd len="sm" w="sm" type="none"/>
              <a:tailEnd len="sm" w="sm" type="none"/>
            </a:ln>
          </p:spPr>
        </p:cxnSp>
        <p:cxnSp>
          <p:nvCxnSpPr>
            <p:cNvPr id="1022" name="Google Shape;1022;p50"/>
            <p:cNvCxnSpPr>
              <a:stCxn id="1013" idx="3"/>
              <a:endCxn id="1012" idx="7"/>
            </p:cNvCxnSpPr>
            <p:nvPr/>
          </p:nvCxnSpPr>
          <p:spPr>
            <a:xfrm flipH="1">
              <a:off x="7883591" y="2834572"/>
              <a:ext cx="332400" cy="385200"/>
            </a:xfrm>
            <a:prstGeom prst="straightConnector1">
              <a:avLst/>
            </a:prstGeom>
            <a:noFill/>
            <a:ln cap="flat" cmpd="sng" w="19050">
              <a:solidFill>
                <a:srgbClr val="000000"/>
              </a:solidFill>
              <a:prstDash val="solid"/>
              <a:round/>
              <a:headEnd len="sm" w="sm" type="none"/>
              <a:tailEnd len="med" w="med" type="triangle"/>
            </a:ln>
          </p:spPr>
        </p:cxnSp>
        <p:cxnSp>
          <p:nvCxnSpPr>
            <p:cNvPr id="1023" name="Google Shape;1023;p50"/>
            <p:cNvCxnSpPr>
              <a:stCxn id="1010" idx="6"/>
              <a:endCxn id="1013" idx="1"/>
            </p:cNvCxnSpPr>
            <p:nvPr/>
          </p:nvCxnSpPr>
          <p:spPr>
            <a:xfrm>
              <a:off x="7584600" y="2214000"/>
              <a:ext cx="631500" cy="342300"/>
            </a:xfrm>
            <a:prstGeom prst="straightConnector1">
              <a:avLst/>
            </a:prstGeom>
            <a:noFill/>
            <a:ln cap="flat" cmpd="sng" w="19050">
              <a:solidFill>
                <a:srgbClr val="000000"/>
              </a:solidFill>
              <a:prstDash val="solid"/>
              <a:round/>
              <a:headEnd len="med" w="med" type="triangle"/>
              <a:tailEnd len="sm" w="sm" type="none"/>
            </a:ln>
          </p:spPr>
        </p:cxnSp>
        <p:cxnSp>
          <p:nvCxnSpPr>
            <p:cNvPr id="1024" name="Google Shape;1024;p50"/>
            <p:cNvCxnSpPr>
              <a:stCxn id="1012" idx="6"/>
              <a:endCxn id="1016" idx="2"/>
            </p:cNvCxnSpPr>
            <p:nvPr/>
          </p:nvCxnSpPr>
          <p:spPr>
            <a:xfrm flipH="1" rot="10800000">
              <a:off x="7941138" y="3152675"/>
              <a:ext cx="674400" cy="206400"/>
            </a:xfrm>
            <a:prstGeom prst="straightConnector1">
              <a:avLst/>
            </a:prstGeom>
            <a:noFill/>
            <a:ln cap="flat" cmpd="sng" w="19050">
              <a:solidFill>
                <a:srgbClr val="000000"/>
              </a:solidFill>
              <a:prstDash val="solid"/>
              <a:round/>
              <a:headEnd len="med" w="med" type="triangle"/>
              <a:tailEnd len="sm" w="sm" type="none"/>
            </a:ln>
          </p:spPr>
        </p:cxnSp>
        <p:cxnSp>
          <p:nvCxnSpPr>
            <p:cNvPr id="1025" name="Google Shape;1025;p50"/>
            <p:cNvCxnSpPr>
              <a:stCxn id="1010" idx="3"/>
              <a:endCxn id="1011" idx="0"/>
            </p:cNvCxnSpPr>
            <p:nvPr/>
          </p:nvCxnSpPr>
          <p:spPr>
            <a:xfrm flipH="1">
              <a:off x="7029941" y="2353159"/>
              <a:ext cx="218700" cy="415500"/>
            </a:xfrm>
            <a:prstGeom prst="straightConnector1">
              <a:avLst/>
            </a:prstGeom>
            <a:noFill/>
            <a:ln cap="flat" cmpd="sng" w="19050">
              <a:solidFill>
                <a:srgbClr val="000000"/>
              </a:solidFill>
              <a:prstDash val="solid"/>
              <a:round/>
              <a:headEnd len="sm" w="sm" type="none"/>
              <a:tailEnd len="sm" w="sm" type="none"/>
            </a:ln>
          </p:spPr>
        </p:cxnSp>
      </p:grpSp>
      <p:sp>
        <p:nvSpPr>
          <p:cNvPr id="1026" name="Google Shape;1026;p50"/>
          <p:cNvSpPr txBox="1"/>
          <p:nvPr/>
        </p:nvSpPr>
        <p:spPr>
          <a:xfrm>
            <a:off x="307824" y="2500786"/>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U</a:t>
            </a:r>
            <a:endParaRPr b="0" i="0" sz="1800" u="none" cap="none" strike="noStrike">
              <a:solidFill>
                <a:srgbClr val="FF0000"/>
              </a:solidFill>
              <a:latin typeface="Shadows Into Light"/>
              <a:ea typeface="Shadows Into Light"/>
              <a:cs typeface="Shadows Into Light"/>
              <a:sym typeface="Shadows Into Light"/>
            </a:endParaRPr>
          </a:p>
        </p:txBody>
      </p:sp>
      <p:sp>
        <p:nvSpPr>
          <p:cNvPr id="1027" name="Google Shape;1027;p50"/>
          <p:cNvSpPr txBox="1"/>
          <p:nvPr/>
        </p:nvSpPr>
        <p:spPr>
          <a:xfrm>
            <a:off x="307824" y="2857293"/>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V</a:t>
            </a:r>
            <a:endParaRPr b="0" i="0" sz="1800" u="none" cap="none" strike="noStrike">
              <a:solidFill>
                <a:srgbClr val="FF0000"/>
              </a:solidFill>
              <a:latin typeface="Shadows Into Light"/>
              <a:ea typeface="Shadows Into Light"/>
              <a:cs typeface="Shadows Into Light"/>
              <a:sym typeface="Shadows Into Light"/>
            </a:endParaRPr>
          </a:p>
        </p:txBody>
      </p:sp>
      <p:sp>
        <p:nvSpPr>
          <p:cNvPr id="1028" name="Google Shape;1028;p50"/>
          <p:cNvSpPr txBox="1"/>
          <p:nvPr/>
        </p:nvSpPr>
        <p:spPr>
          <a:xfrm>
            <a:off x="307824" y="3162093"/>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W</a:t>
            </a:r>
            <a:endParaRPr b="0" i="0" sz="1800" u="none" cap="none" strike="noStrike">
              <a:solidFill>
                <a:srgbClr val="FF0000"/>
              </a:solidFill>
              <a:latin typeface="Shadows Into Light"/>
              <a:ea typeface="Shadows Into Light"/>
              <a:cs typeface="Shadows Into Light"/>
              <a:sym typeface="Shadows Into Light"/>
            </a:endParaRPr>
          </a:p>
        </p:txBody>
      </p:sp>
      <p:sp>
        <p:nvSpPr>
          <p:cNvPr id="1029" name="Google Shape;1029;p50"/>
          <p:cNvSpPr txBox="1"/>
          <p:nvPr/>
        </p:nvSpPr>
        <p:spPr>
          <a:xfrm>
            <a:off x="307824" y="3503632"/>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X</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0" name="Google Shape;1030;p50"/>
          <p:cNvSpPr txBox="1"/>
          <p:nvPr/>
        </p:nvSpPr>
        <p:spPr>
          <a:xfrm>
            <a:off x="307824" y="3839048"/>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Y</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1" name="Google Shape;1031;p50"/>
          <p:cNvSpPr txBox="1"/>
          <p:nvPr/>
        </p:nvSpPr>
        <p:spPr>
          <a:xfrm>
            <a:off x="307824" y="4168341"/>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Z</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2" name="Google Shape;1032;p50"/>
          <p:cNvSpPr txBox="1"/>
          <p:nvPr/>
        </p:nvSpPr>
        <p:spPr>
          <a:xfrm>
            <a:off x="307824" y="2144279"/>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T</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3" name="Google Shape;1033;p50"/>
          <p:cNvSpPr txBox="1"/>
          <p:nvPr/>
        </p:nvSpPr>
        <p:spPr>
          <a:xfrm>
            <a:off x="917426" y="2144275"/>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W</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4" name="Google Shape;1034;p50"/>
          <p:cNvSpPr txBox="1"/>
          <p:nvPr/>
        </p:nvSpPr>
        <p:spPr>
          <a:xfrm>
            <a:off x="917426" y="2506905"/>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W</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5" name="Google Shape;1035;p50"/>
          <p:cNvSpPr txBox="1"/>
          <p:nvPr/>
        </p:nvSpPr>
        <p:spPr>
          <a:xfrm>
            <a:off x="917426" y="284504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Y</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6" name="Google Shape;1036;p50"/>
          <p:cNvSpPr txBox="1"/>
          <p:nvPr/>
        </p:nvSpPr>
        <p:spPr>
          <a:xfrm>
            <a:off x="917426" y="314984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T, U</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7" name="Google Shape;1037;p50"/>
          <p:cNvSpPr txBox="1"/>
          <p:nvPr/>
        </p:nvSpPr>
        <p:spPr>
          <a:xfrm>
            <a:off x="917426" y="351247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Y, Z</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8" name="Google Shape;1038;p50"/>
          <p:cNvSpPr txBox="1"/>
          <p:nvPr/>
        </p:nvSpPr>
        <p:spPr>
          <a:xfrm>
            <a:off x="917426" y="3844487"/>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V, X, Z</a:t>
            </a:r>
            <a:endParaRPr b="0" i="0" sz="1800" u="none" cap="none" strike="noStrike">
              <a:solidFill>
                <a:srgbClr val="FF0000"/>
              </a:solidFill>
              <a:latin typeface="Shadows Into Light"/>
              <a:ea typeface="Shadows Into Light"/>
              <a:cs typeface="Shadows Into Light"/>
              <a:sym typeface="Shadows Into Light"/>
            </a:endParaRPr>
          </a:p>
        </p:txBody>
      </p:sp>
      <p:sp>
        <p:nvSpPr>
          <p:cNvPr id="1039" name="Google Shape;1039;p50"/>
          <p:cNvSpPr txBox="1"/>
          <p:nvPr/>
        </p:nvSpPr>
        <p:spPr>
          <a:xfrm>
            <a:off x="917426" y="4155411"/>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X, Y</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0" name="Google Shape;1040;p50"/>
          <p:cNvSpPr txBox="1"/>
          <p:nvPr/>
        </p:nvSpPr>
        <p:spPr>
          <a:xfrm>
            <a:off x="4587271" y="2500786"/>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B</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1" name="Google Shape;1041;p50"/>
          <p:cNvSpPr txBox="1"/>
          <p:nvPr/>
        </p:nvSpPr>
        <p:spPr>
          <a:xfrm>
            <a:off x="4587271" y="2857293"/>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2" name="Google Shape;1042;p50"/>
          <p:cNvSpPr txBox="1"/>
          <p:nvPr/>
        </p:nvSpPr>
        <p:spPr>
          <a:xfrm>
            <a:off x="4587271" y="3162093"/>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D</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3" name="Google Shape;1043;p50"/>
          <p:cNvSpPr txBox="1"/>
          <p:nvPr/>
        </p:nvSpPr>
        <p:spPr>
          <a:xfrm>
            <a:off x="4587271" y="3503632"/>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E</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4" name="Google Shape;1044;p50"/>
          <p:cNvSpPr txBox="1"/>
          <p:nvPr/>
        </p:nvSpPr>
        <p:spPr>
          <a:xfrm>
            <a:off x="4587271" y="3839048"/>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F</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5" name="Google Shape;1045;p50"/>
          <p:cNvSpPr txBox="1"/>
          <p:nvPr/>
        </p:nvSpPr>
        <p:spPr>
          <a:xfrm>
            <a:off x="4587271" y="4168341"/>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G</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6" name="Google Shape;1046;p50"/>
          <p:cNvSpPr txBox="1"/>
          <p:nvPr/>
        </p:nvSpPr>
        <p:spPr>
          <a:xfrm>
            <a:off x="4587271" y="2144279"/>
            <a:ext cx="4629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7" name="Google Shape;1047;p50"/>
          <p:cNvSpPr txBox="1"/>
          <p:nvPr/>
        </p:nvSpPr>
        <p:spPr>
          <a:xfrm>
            <a:off x="5196872" y="2144275"/>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B</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8" name="Google Shape;1048;p50"/>
          <p:cNvSpPr txBox="1"/>
          <p:nvPr/>
        </p:nvSpPr>
        <p:spPr>
          <a:xfrm>
            <a:off x="5196872" y="2506905"/>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 C</a:t>
            </a:r>
            <a:endParaRPr b="0" i="0" sz="1800" u="none" cap="none" strike="noStrike">
              <a:solidFill>
                <a:srgbClr val="FF0000"/>
              </a:solidFill>
              <a:latin typeface="Shadows Into Light"/>
              <a:ea typeface="Shadows Into Light"/>
              <a:cs typeface="Shadows Into Light"/>
              <a:sym typeface="Shadows Into Light"/>
            </a:endParaRPr>
          </a:p>
        </p:txBody>
      </p:sp>
      <p:sp>
        <p:nvSpPr>
          <p:cNvPr id="1049" name="Google Shape;1049;p50"/>
          <p:cNvSpPr txBox="1"/>
          <p:nvPr/>
        </p:nvSpPr>
        <p:spPr>
          <a:xfrm>
            <a:off x="5196872" y="284504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E, F</a:t>
            </a:r>
            <a:endParaRPr b="0" i="0" sz="1800" u="none" cap="none" strike="noStrike">
              <a:solidFill>
                <a:srgbClr val="FF0000"/>
              </a:solidFill>
              <a:latin typeface="Shadows Into Light"/>
              <a:ea typeface="Shadows Into Light"/>
              <a:cs typeface="Shadows Into Light"/>
              <a:sym typeface="Shadows Into Light"/>
            </a:endParaRPr>
          </a:p>
        </p:txBody>
      </p:sp>
      <p:sp>
        <p:nvSpPr>
          <p:cNvPr id="1050" name="Google Shape;1050;p50"/>
          <p:cNvSpPr txBox="1"/>
          <p:nvPr/>
        </p:nvSpPr>
        <p:spPr>
          <a:xfrm>
            <a:off x="5196872" y="314984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A, C, G</a:t>
            </a:r>
            <a:endParaRPr b="0" i="0" sz="1800" u="none" cap="none" strike="noStrike">
              <a:solidFill>
                <a:srgbClr val="FF0000"/>
              </a:solidFill>
              <a:latin typeface="Shadows Into Light"/>
              <a:ea typeface="Shadows Into Light"/>
              <a:cs typeface="Shadows Into Light"/>
              <a:sym typeface="Shadows Into Light"/>
            </a:endParaRPr>
          </a:p>
        </p:txBody>
      </p:sp>
      <p:sp>
        <p:nvSpPr>
          <p:cNvPr id="1051" name="Google Shape;1051;p50"/>
          <p:cNvSpPr txBox="1"/>
          <p:nvPr/>
        </p:nvSpPr>
        <p:spPr>
          <a:xfrm>
            <a:off x="5196872" y="3512473"/>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 F</a:t>
            </a:r>
            <a:endParaRPr b="0" i="0" sz="1800" u="none" cap="none" strike="noStrike">
              <a:solidFill>
                <a:srgbClr val="FF0000"/>
              </a:solidFill>
              <a:latin typeface="Shadows Into Light"/>
              <a:ea typeface="Shadows Into Light"/>
              <a:cs typeface="Shadows Into Light"/>
              <a:sym typeface="Shadows Into Light"/>
            </a:endParaRPr>
          </a:p>
        </p:txBody>
      </p:sp>
      <p:sp>
        <p:nvSpPr>
          <p:cNvPr id="1052" name="Google Shape;1052;p50"/>
          <p:cNvSpPr txBox="1"/>
          <p:nvPr/>
        </p:nvSpPr>
        <p:spPr>
          <a:xfrm>
            <a:off x="5196872" y="3844487"/>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 E</a:t>
            </a:r>
            <a:endParaRPr b="0" i="0" sz="1800" u="none" cap="none" strike="noStrike">
              <a:solidFill>
                <a:srgbClr val="FF0000"/>
              </a:solidFill>
              <a:latin typeface="Shadows Into Light"/>
              <a:ea typeface="Shadows Into Light"/>
              <a:cs typeface="Shadows Into Light"/>
              <a:sym typeface="Shadows Into Light"/>
            </a:endParaRPr>
          </a:p>
        </p:txBody>
      </p:sp>
      <p:sp>
        <p:nvSpPr>
          <p:cNvPr id="1053" name="Google Shape;1053;p50"/>
          <p:cNvSpPr txBox="1"/>
          <p:nvPr/>
        </p:nvSpPr>
        <p:spPr>
          <a:xfrm>
            <a:off x="5196872" y="4155411"/>
            <a:ext cx="1084200" cy="336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C, D</a:t>
            </a:r>
            <a:endParaRPr b="0" i="0" sz="18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1032"/>
                                        </p:tgtEl>
                                        <p:attrNameLst>
                                          <p:attrName>style.visibility</p:attrName>
                                        </p:attrNameLst>
                                      </p:cBhvr>
                                      <p:to>
                                        <p:strVal val="visible"/>
                                      </p:to>
                                    </p:set>
                                    <p:animEffect filter="fade" transition="in">
                                      <p:cBhvr>
                                        <p:cTn dur="1000"/>
                                        <p:tgtEl>
                                          <p:spTgt spid="103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3"/>
                                        </p:tgtEl>
                                        <p:attrNameLst>
                                          <p:attrName>style.visibility</p:attrName>
                                        </p:attrNameLst>
                                      </p:cBhvr>
                                      <p:to>
                                        <p:strVal val="visible"/>
                                      </p:to>
                                    </p:set>
                                    <p:animEffect filter="fade" transition="in">
                                      <p:cBhvr>
                                        <p:cTn dur="1000"/>
                                        <p:tgtEl>
                                          <p:spTgt spid="10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1000"/>
                                        <p:tgtEl>
                                          <p:spTgt spid="102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1000"/>
                                        <p:tgtEl>
                                          <p:spTgt spid="103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1000"/>
                                        <p:tgtEl>
                                          <p:spTgt spid="10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1000"/>
                                        <p:tgtEl>
                                          <p:spTgt spid="10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1000"/>
                                        <p:tgtEl>
                                          <p:spTgt spid="103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1000"/>
                                        <p:tgtEl>
                                          <p:spTgt spid="10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1000"/>
                                        <p:tgtEl>
                                          <p:spTgt spid="10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1000"/>
                                        <p:tgtEl>
                                          <p:spTgt spid="10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1000"/>
                                        <p:tgtEl>
                                          <p:spTgt spid="10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1000"/>
                                        <p:tgtEl>
                                          <p:spTgt spid="10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6"/>
                                        </p:tgtEl>
                                        <p:attrNameLst>
                                          <p:attrName>style.visibility</p:attrName>
                                        </p:attrNameLst>
                                      </p:cBhvr>
                                      <p:to>
                                        <p:strVal val="visible"/>
                                      </p:to>
                                    </p:set>
                                    <p:animEffect filter="fade" transition="in">
                                      <p:cBhvr>
                                        <p:cTn dur="1000"/>
                                        <p:tgtEl>
                                          <p:spTgt spid="10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1000"/>
                                        <p:tgtEl>
                                          <p:spTgt spid="10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8"/>
                                        </p:tgtEl>
                                        <p:attrNameLst>
                                          <p:attrName>style.visibility</p:attrName>
                                        </p:attrNameLst>
                                      </p:cBhvr>
                                      <p:to>
                                        <p:strVal val="visible"/>
                                      </p:to>
                                    </p:set>
                                    <p:animEffect filter="fade" transition="in">
                                      <p:cBhvr>
                                        <p:cTn dur="1000"/>
                                        <p:tgtEl>
                                          <p:spTgt spid="10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49"/>
                                        </p:tgtEl>
                                        <p:attrNameLst>
                                          <p:attrName>style.visibility</p:attrName>
                                        </p:attrNameLst>
                                      </p:cBhvr>
                                      <p:to>
                                        <p:strVal val="visible"/>
                                      </p:to>
                                    </p:set>
                                    <p:animEffect filter="fade" transition="in">
                                      <p:cBhvr>
                                        <p:cTn dur="1100"/>
                                        <p:tgtEl>
                                          <p:spTgt spid="10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1000"/>
                                        <p:tgtEl>
                                          <p:spTgt spid="10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0"/>
                                        </p:tgtEl>
                                        <p:attrNameLst>
                                          <p:attrName>style.visibility</p:attrName>
                                        </p:attrNameLst>
                                      </p:cBhvr>
                                      <p:to>
                                        <p:strVal val="visible"/>
                                      </p:to>
                                    </p:set>
                                    <p:animEffect filter="fade" transition="in">
                                      <p:cBhvr>
                                        <p:cTn dur="1000"/>
                                        <p:tgtEl>
                                          <p:spTgt spid="10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1"/>
                                        </p:tgtEl>
                                        <p:attrNameLst>
                                          <p:attrName>style.visibility</p:attrName>
                                        </p:attrNameLst>
                                      </p:cBhvr>
                                      <p:to>
                                        <p:strVal val="visible"/>
                                      </p:to>
                                    </p:set>
                                    <p:animEffect filter="fade" transition="in">
                                      <p:cBhvr>
                                        <p:cTn dur="1000"/>
                                        <p:tgtEl>
                                          <p:spTgt spid="10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1000"/>
                                        <p:tgtEl>
                                          <p:spTgt spid="104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2"/>
                                        </p:tgtEl>
                                        <p:attrNameLst>
                                          <p:attrName>style.visibility</p:attrName>
                                        </p:attrNameLst>
                                      </p:cBhvr>
                                      <p:to>
                                        <p:strVal val="visible"/>
                                      </p:to>
                                    </p:set>
                                    <p:animEffect filter="fade" transition="in">
                                      <p:cBhvr>
                                        <p:cTn dur="1000"/>
                                        <p:tgtEl>
                                          <p:spTgt spid="10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5"/>
                                        </p:tgtEl>
                                        <p:attrNameLst>
                                          <p:attrName>style.visibility</p:attrName>
                                        </p:attrNameLst>
                                      </p:cBhvr>
                                      <p:to>
                                        <p:strVal val="visible"/>
                                      </p:to>
                                    </p:set>
                                    <p:animEffect filter="fade" transition="in">
                                      <p:cBhvr>
                                        <p:cTn dur="1000"/>
                                        <p:tgtEl>
                                          <p:spTgt spid="10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53"/>
                                        </p:tgtEl>
                                        <p:attrNameLst>
                                          <p:attrName>style.visibility</p:attrName>
                                        </p:attrNameLst>
                                      </p:cBhvr>
                                      <p:to>
                                        <p:strVal val="visible"/>
                                      </p:to>
                                    </p:set>
                                    <p:animEffect filter="fade" transition="in">
                                      <p:cBhvr>
                                        <p:cTn dur="1000"/>
                                        <p:tgtEl>
                                          <p:spTgt spid="10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7" name="Shape 1057"/>
        <p:cNvGrpSpPr/>
        <p:nvPr/>
      </p:nvGrpSpPr>
      <p:grpSpPr>
        <a:xfrm>
          <a:off x="0" y="0"/>
          <a:ext cx="0" cy="0"/>
          <a:chOff x="0" y="0"/>
          <a:chExt cx="0" cy="0"/>
        </a:xfrm>
      </p:grpSpPr>
      <p:pic>
        <p:nvPicPr>
          <p:cNvPr id="1058" name="Google Shape;1058;p51"/>
          <p:cNvPicPr preferRelativeResize="0"/>
          <p:nvPr/>
        </p:nvPicPr>
        <p:blipFill rotWithShape="1">
          <a:blip r:embed="rId3">
            <a:alphaModFix/>
          </a:blip>
          <a:srcRect b="0" l="0" r="0" t="0"/>
          <a:stretch/>
        </p:blipFill>
        <p:spPr>
          <a:xfrm>
            <a:off x="717900" y="1299725"/>
            <a:ext cx="5399555" cy="3567699"/>
          </a:xfrm>
          <a:prstGeom prst="rect">
            <a:avLst/>
          </a:prstGeom>
          <a:noFill/>
          <a:ln>
            <a:noFill/>
          </a:ln>
        </p:spPr>
      </p:pic>
      <p:sp>
        <p:nvSpPr>
          <p:cNvPr id="1059" name="Google Shape;1059;p51"/>
          <p:cNvSpPr txBox="1"/>
          <p:nvPr>
            <p:ph idx="12" type="sldNum"/>
          </p:nvPr>
        </p:nvSpPr>
        <p:spPr>
          <a:xfrm>
            <a:off x="8579908" y="4726574"/>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0" name="Google Shape;1060;p51"/>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 Adjacency List Implementation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4" name="Shape 1064"/>
        <p:cNvGrpSpPr/>
        <p:nvPr/>
      </p:nvGrpSpPr>
      <p:grpSpPr>
        <a:xfrm>
          <a:off x="0" y="0"/>
          <a:ext cx="0" cy="0"/>
          <a:chOff x="0" y="0"/>
          <a:chExt cx="0" cy="0"/>
        </a:xfrm>
      </p:grpSpPr>
      <p:pic>
        <p:nvPicPr>
          <p:cNvPr id="1065" name="Google Shape;1065;p52"/>
          <p:cNvPicPr preferRelativeResize="0"/>
          <p:nvPr/>
        </p:nvPicPr>
        <p:blipFill rotWithShape="1">
          <a:blip r:embed="rId3">
            <a:alphaModFix/>
          </a:blip>
          <a:srcRect b="0" l="0" r="0" t="0"/>
          <a:stretch/>
        </p:blipFill>
        <p:spPr>
          <a:xfrm>
            <a:off x="717900" y="1299725"/>
            <a:ext cx="5399555" cy="3567699"/>
          </a:xfrm>
          <a:prstGeom prst="rect">
            <a:avLst/>
          </a:prstGeom>
          <a:noFill/>
          <a:ln>
            <a:noFill/>
          </a:ln>
        </p:spPr>
      </p:pic>
      <p:sp>
        <p:nvSpPr>
          <p:cNvPr id="1066" name="Google Shape;1066;p52"/>
          <p:cNvSpPr txBox="1"/>
          <p:nvPr>
            <p:ph idx="12" type="sldNum"/>
          </p:nvPr>
        </p:nvSpPr>
        <p:spPr>
          <a:xfrm>
            <a:off x="8579908" y="4726574"/>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067" name="Google Shape;1067;p5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 Adjacency List Implementation</a:t>
            </a:r>
            <a:endParaRPr/>
          </a:p>
        </p:txBody>
      </p:sp>
      <p:sp>
        <p:nvSpPr>
          <p:cNvPr id="1068" name="Google Shape;1068;p52"/>
          <p:cNvSpPr/>
          <p:nvPr/>
        </p:nvSpPr>
        <p:spPr>
          <a:xfrm>
            <a:off x="2430750" y="1753300"/>
            <a:ext cx="992275" cy="1701660"/>
          </a:xfrm>
          <a:custGeom>
            <a:rect b="b" l="l" r="r" t="t"/>
            <a:pathLst>
              <a:path extrusionOk="0" h="67553" w="39691">
                <a:moveTo>
                  <a:pt x="11559" y="0"/>
                </a:moveTo>
                <a:cubicBezTo>
                  <a:pt x="16225" y="2740"/>
                  <a:pt x="41483" y="5180"/>
                  <a:pt x="39556" y="16439"/>
                </a:cubicBezTo>
                <a:cubicBezTo>
                  <a:pt x="37630" y="27698"/>
                  <a:pt x="6593" y="59034"/>
                  <a:pt x="0" y="67553"/>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69" name="Google Shape;1069;p52"/>
          <p:cNvSpPr txBox="1"/>
          <p:nvPr/>
        </p:nvSpPr>
        <p:spPr>
          <a:xfrm>
            <a:off x="235525" y="1476800"/>
            <a:ext cx="2809200" cy="514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core component of an </a:t>
            </a:r>
            <a:r>
              <a:rPr b="1" i="1" lang="en" sz="1200" u="none" cap="none" strike="noStrike">
                <a:solidFill>
                  <a:srgbClr val="FF0000"/>
                </a:solidFill>
                <a:latin typeface="Arial"/>
                <a:ea typeface="Arial"/>
                <a:cs typeface="Arial"/>
                <a:sym typeface="Arial"/>
              </a:rPr>
              <a:t>adjacency graph</a:t>
            </a:r>
            <a:r>
              <a:rPr b="0" i="0" lang="en" sz="1200" u="none" cap="none" strike="noStrike">
                <a:solidFill>
                  <a:srgbClr val="000000"/>
                </a:solidFill>
                <a:latin typeface="Arial"/>
                <a:ea typeface="Arial"/>
                <a:cs typeface="Arial"/>
                <a:sym typeface="Arial"/>
              </a:rPr>
              <a:t> is the </a:t>
            </a:r>
            <a:r>
              <a:rPr b="1" i="1" lang="en" sz="1200" u="none" cap="none" strike="noStrike">
                <a:solidFill>
                  <a:srgbClr val="FF0000"/>
                </a:solidFill>
                <a:latin typeface="Arial"/>
                <a:ea typeface="Arial"/>
                <a:cs typeface="Arial"/>
                <a:sym typeface="Arial"/>
              </a:rPr>
              <a:t>vertex</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1070" name="Google Shape;1070;p52"/>
          <p:cNvSpPr/>
          <p:nvPr/>
        </p:nvSpPr>
        <p:spPr>
          <a:xfrm>
            <a:off x="312875" y="2523875"/>
            <a:ext cx="650358" cy="1406275"/>
          </a:xfrm>
          <a:custGeom>
            <a:rect b="b" l="l" r="r" t="t"/>
            <a:pathLst>
              <a:path extrusionOk="0" h="56251" w="37010">
                <a:moveTo>
                  <a:pt x="20314" y="0"/>
                </a:moveTo>
                <a:cubicBezTo>
                  <a:pt x="16975" y="7320"/>
                  <a:pt x="-2503" y="34547"/>
                  <a:pt x="280" y="43922"/>
                </a:cubicBezTo>
                <a:cubicBezTo>
                  <a:pt x="3063" y="53297"/>
                  <a:pt x="30888" y="54196"/>
                  <a:pt x="37010" y="56251"/>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1" name="Google Shape;1071;p52"/>
          <p:cNvSpPr txBox="1"/>
          <p:nvPr/>
        </p:nvSpPr>
        <p:spPr>
          <a:xfrm>
            <a:off x="235525" y="2086400"/>
            <a:ext cx="2809200" cy="514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Each vertex maintains a </a:t>
            </a:r>
            <a:r>
              <a:rPr b="1" i="1" lang="en" sz="1200" u="none" cap="none" strike="noStrike">
                <a:solidFill>
                  <a:srgbClr val="FF0000"/>
                </a:solidFill>
                <a:latin typeface="Arial"/>
                <a:ea typeface="Arial"/>
                <a:cs typeface="Arial"/>
                <a:sym typeface="Arial"/>
              </a:rPr>
              <a:t>set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of the </a:t>
            </a:r>
            <a:r>
              <a:rPr b="1" i="1" lang="en" sz="1200" u="none" cap="none" strike="noStrike">
                <a:solidFill>
                  <a:srgbClr val="FF0000"/>
                </a:solidFill>
                <a:latin typeface="Arial"/>
                <a:ea typeface="Arial"/>
                <a:cs typeface="Arial"/>
                <a:sym typeface="Arial"/>
              </a:rPr>
              <a:t>neighbors</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to which it is connected.</a:t>
            </a:r>
            <a:endParaRPr b="0" i="0" sz="1200" u="none" cap="none" strike="noStrike">
              <a:solidFill>
                <a:srgbClr val="000000"/>
              </a:solidFill>
              <a:latin typeface="Arial"/>
              <a:ea typeface="Arial"/>
              <a:cs typeface="Arial"/>
              <a:sym typeface="Arial"/>
            </a:endParaRPr>
          </a:p>
        </p:txBody>
      </p:sp>
      <p:sp>
        <p:nvSpPr>
          <p:cNvPr id="1072" name="Google Shape;1072;p52"/>
          <p:cNvSpPr txBox="1"/>
          <p:nvPr/>
        </p:nvSpPr>
        <p:spPr>
          <a:xfrm>
            <a:off x="6102925" y="2982390"/>
            <a:ext cx="2809200" cy="657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Using a </a:t>
            </a:r>
            <a:r>
              <a:rPr b="1" i="1" lang="en" sz="1200" u="none" cap="none" strike="noStrike">
                <a:solidFill>
                  <a:srgbClr val="FF0000"/>
                </a:solidFill>
                <a:latin typeface="Arial"/>
                <a:ea typeface="Arial"/>
                <a:cs typeface="Arial"/>
                <a:sym typeface="Arial"/>
              </a:rPr>
              <a:t>hash map</a:t>
            </a:r>
            <a:r>
              <a:rPr b="0" i="0" lang="en" sz="1200" u="none" cap="none" strike="noStrike">
                <a:solidFill>
                  <a:srgbClr val="000000"/>
                </a:solidFill>
                <a:latin typeface="Arial"/>
                <a:ea typeface="Arial"/>
                <a:cs typeface="Arial"/>
                <a:sym typeface="Arial"/>
              </a:rPr>
              <a:t> provides </a:t>
            </a:r>
            <a:r>
              <a:rPr b="1" i="1" lang="en" sz="1200" u="none" cap="none" strike="noStrike">
                <a:solidFill>
                  <a:srgbClr val="FF0000"/>
                </a:solidFill>
                <a:latin typeface="Arial"/>
                <a:ea typeface="Arial"/>
                <a:cs typeface="Arial"/>
                <a:sym typeface="Arial"/>
              </a:rPr>
              <a:t>constant time put</a:t>
            </a:r>
            <a:r>
              <a:rPr b="0" i="0" lang="en" sz="1200" u="none" cap="none" strike="noStrike">
                <a:solidFill>
                  <a:srgbClr val="000000"/>
                </a:solidFill>
                <a:latin typeface="Arial"/>
                <a:ea typeface="Arial"/>
                <a:cs typeface="Arial"/>
                <a:sym typeface="Arial"/>
              </a:rPr>
              <a:t> and </a:t>
            </a:r>
            <a:r>
              <a:rPr b="1" i="1" lang="en" sz="1200" u="none" cap="none" strike="noStrike">
                <a:solidFill>
                  <a:srgbClr val="FF0000"/>
                </a:solidFill>
                <a:latin typeface="Arial"/>
                <a:ea typeface="Arial"/>
                <a:cs typeface="Arial"/>
                <a:sym typeface="Arial"/>
              </a:rPr>
              <a:t>get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when adding or retrieving vertices by value.</a:t>
            </a:r>
            <a:endParaRPr b="0" i="0" sz="1200" u="none" cap="none" strike="noStrike">
              <a:solidFill>
                <a:srgbClr val="000000"/>
              </a:solidFill>
              <a:latin typeface="Arial"/>
              <a:ea typeface="Arial"/>
              <a:cs typeface="Arial"/>
              <a:sym typeface="Arial"/>
            </a:endParaRPr>
          </a:p>
        </p:txBody>
      </p:sp>
      <p:sp>
        <p:nvSpPr>
          <p:cNvPr id="1073" name="Google Shape;1073;p52"/>
          <p:cNvSpPr/>
          <p:nvPr/>
        </p:nvSpPr>
        <p:spPr>
          <a:xfrm>
            <a:off x="4031125" y="1868900"/>
            <a:ext cx="2115025" cy="1817299"/>
          </a:xfrm>
          <a:custGeom>
            <a:rect b="b" l="l" r="r" t="t"/>
            <a:pathLst>
              <a:path extrusionOk="0" h="76285" w="84601">
                <a:moveTo>
                  <a:pt x="84601" y="0"/>
                </a:moveTo>
                <a:cubicBezTo>
                  <a:pt x="71416" y="8177"/>
                  <a:pt x="18418" y="36345"/>
                  <a:pt x="5490" y="49059"/>
                </a:cubicBezTo>
                <a:cubicBezTo>
                  <a:pt x="-7438" y="61773"/>
                  <a:pt x="6774" y="71747"/>
                  <a:pt x="7031" y="76285"/>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4" name="Google Shape;1074;p52"/>
          <p:cNvSpPr txBox="1"/>
          <p:nvPr/>
        </p:nvSpPr>
        <p:spPr>
          <a:xfrm>
            <a:off x="6102925" y="1476800"/>
            <a:ext cx="2809200" cy="657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a:t>
            </a:r>
            <a:r>
              <a:rPr b="1" i="1" lang="en" sz="1200" u="none" cap="none" strike="noStrike">
                <a:solidFill>
                  <a:srgbClr val="FF0000"/>
                </a:solidFill>
                <a:latin typeface="Arial"/>
                <a:ea typeface="Arial"/>
                <a:cs typeface="Arial"/>
                <a:sym typeface="Arial"/>
              </a:rPr>
              <a:t>graph</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itself, maintains a </a:t>
            </a:r>
            <a:r>
              <a:rPr b="1" i="1" lang="en" sz="1200" u="none" cap="none" strike="noStrike">
                <a:solidFill>
                  <a:srgbClr val="FF0000"/>
                </a:solidFill>
                <a:latin typeface="Arial"/>
                <a:ea typeface="Arial"/>
                <a:cs typeface="Arial"/>
                <a:sym typeface="Arial"/>
              </a:rPr>
              <a:t>map</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wherein the </a:t>
            </a:r>
            <a:r>
              <a:rPr b="1" i="1" lang="en" sz="1200" u="none" cap="none" strike="noStrike">
                <a:solidFill>
                  <a:srgbClr val="FF0000"/>
                </a:solidFill>
                <a:latin typeface="Arial"/>
                <a:ea typeface="Arial"/>
                <a:cs typeface="Arial"/>
                <a:sym typeface="Arial"/>
              </a:rPr>
              <a:t>entries</a:t>
            </a:r>
            <a:r>
              <a:rPr b="0" i="0" lang="en" sz="1200" u="none" cap="none" strike="noStrike">
                <a:solidFill>
                  <a:srgbClr val="000000"/>
                </a:solidFill>
                <a:latin typeface="Arial"/>
                <a:ea typeface="Arial"/>
                <a:cs typeface="Arial"/>
                <a:sym typeface="Arial"/>
              </a:rPr>
              <a:t> are </a:t>
            </a:r>
            <a:r>
              <a:rPr b="1" i="1" lang="en" sz="1200" u="none" cap="none" strike="noStrike">
                <a:solidFill>
                  <a:srgbClr val="FF0000"/>
                </a:solidFill>
                <a:latin typeface="Arial"/>
                <a:ea typeface="Arial"/>
                <a:cs typeface="Arial"/>
                <a:sym typeface="Arial"/>
              </a:rPr>
              <a:t>value/vertex</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pairs.</a:t>
            </a:r>
            <a:endParaRPr b="0" i="0" sz="1200" u="none" cap="none" strike="noStrike">
              <a:solidFill>
                <a:srgbClr val="000000"/>
              </a:solidFill>
              <a:latin typeface="Arial"/>
              <a:ea typeface="Arial"/>
              <a:cs typeface="Arial"/>
              <a:sym typeface="Arial"/>
            </a:endParaRPr>
          </a:p>
        </p:txBody>
      </p:sp>
      <p:sp>
        <p:nvSpPr>
          <p:cNvPr id="1075" name="Google Shape;1075;p52"/>
          <p:cNvSpPr txBox="1"/>
          <p:nvPr/>
        </p:nvSpPr>
        <p:spPr>
          <a:xfrm>
            <a:off x="6102925" y="3743044"/>
            <a:ext cx="2809200" cy="737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lang="en" sz="1200"/>
              <a:t>T</a:t>
            </a:r>
            <a:r>
              <a:rPr b="0" i="0" lang="en" sz="1200" u="none" cap="none" strike="noStrike">
                <a:solidFill>
                  <a:srgbClr val="000000"/>
                </a:solidFill>
                <a:latin typeface="Arial"/>
                <a:ea typeface="Arial"/>
                <a:cs typeface="Arial"/>
                <a:sym typeface="Arial"/>
              </a:rPr>
              <a:t>he fact</a:t>
            </a:r>
            <a:r>
              <a:rPr b="0" i="0" lang="en" sz="1200" u="none" cap="none" strike="noStrike">
                <a:solidFill>
                  <a:srgbClr val="000000"/>
                </a:solidFill>
                <a:latin typeface="Arial"/>
                <a:ea typeface="Arial"/>
                <a:cs typeface="Arial"/>
                <a:sym typeface="Arial"/>
              </a:rPr>
              <a:t> that vertices are used at all is </a:t>
            </a:r>
            <a:r>
              <a:rPr b="1" i="1" lang="en" sz="1200" u="none" cap="none" strike="noStrike">
                <a:solidFill>
                  <a:srgbClr val="FF0000"/>
                </a:solidFill>
                <a:latin typeface="Arial"/>
                <a:ea typeface="Arial"/>
                <a:cs typeface="Arial"/>
                <a:sym typeface="Arial"/>
              </a:rPr>
              <a:t>completely hidden</a:t>
            </a:r>
            <a:r>
              <a:rPr b="0" i="0" lang="en" sz="1200" u="none" cap="none" strike="noStrike">
                <a:solidFill>
                  <a:srgbClr val="000000"/>
                </a:solidFill>
                <a:latin typeface="Arial"/>
                <a:ea typeface="Arial"/>
                <a:cs typeface="Arial"/>
                <a:sym typeface="Arial"/>
              </a:rPr>
              <a:t> from the user behind the </a:t>
            </a:r>
            <a:r>
              <a:rPr b="0" i="0" lang="en" sz="1200" u="none" cap="none" strike="noStrike">
                <a:solidFill>
                  <a:srgbClr val="000000"/>
                </a:solidFill>
                <a:latin typeface="Courier New"/>
                <a:ea typeface="Courier New"/>
                <a:cs typeface="Courier New"/>
                <a:sym typeface="Courier New"/>
              </a:rPr>
              <a:t>Graph</a:t>
            </a:r>
            <a:r>
              <a:rPr b="0" i="0" lang="en" sz="1200" u="none" cap="none" strike="noStrike">
                <a:solidFill>
                  <a:srgbClr val="000000"/>
                </a:solidFill>
                <a:latin typeface="Arial"/>
                <a:ea typeface="Arial"/>
                <a:cs typeface="Arial"/>
                <a:sym typeface="Arial"/>
              </a:rPr>
              <a:t> abstraction.</a:t>
            </a:r>
            <a:endParaRPr b="0" i="0" sz="1200" u="none" cap="none" strike="noStrike">
              <a:solidFill>
                <a:srgbClr val="000000"/>
              </a:solidFill>
              <a:latin typeface="Arial"/>
              <a:ea typeface="Arial"/>
              <a:cs typeface="Arial"/>
              <a:sym typeface="Arial"/>
            </a:endParaRPr>
          </a:p>
        </p:txBody>
      </p:sp>
      <p:sp>
        <p:nvSpPr>
          <p:cNvPr id="1076" name="Google Shape;1076;p52"/>
          <p:cNvSpPr txBox="1"/>
          <p:nvPr/>
        </p:nvSpPr>
        <p:spPr>
          <a:xfrm>
            <a:off x="6102925" y="2221738"/>
            <a:ext cx="2809200" cy="657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When a value is added to the graph, a new vertex is created and the two are added to the map as the </a:t>
            </a:r>
            <a:r>
              <a:rPr b="1" i="1" lang="en" sz="1200" u="none" cap="none" strike="noStrike">
                <a:solidFill>
                  <a:srgbClr val="FF0000"/>
                </a:solidFill>
                <a:latin typeface="Arial"/>
                <a:ea typeface="Arial"/>
                <a:cs typeface="Arial"/>
                <a:sym typeface="Arial"/>
              </a:rPr>
              <a:t>key/value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69"/>
                                        </p:tgtEl>
                                        <p:attrNameLst>
                                          <p:attrName>style.visibility</p:attrName>
                                        </p:attrNameLst>
                                      </p:cBhvr>
                                      <p:to>
                                        <p:strVal val="visible"/>
                                      </p:to>
                                    </p:set>
                                    <p:animEffect filter="fade" transition="in">
                                      <p:cBhvr>
                                        <p:cTn dur="1000"/>
                                        <p:tgtEl>
                                          <p:spTgt spid="10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68"/>
                                        </p:tgtEl>
                                        <p:attrNameLst>
                                          <p:attrName>style.visibility</p:attrName>
                                        </p:attrNameLst>
                                      </p:cBhvr>
                                      <p:to>
                                        <p:strVal val="visible"/>
                                      </p:to>
                                    </p:set>
                                    <p:animEffect filter="fade" transition="in">
                                      <p:cBhvr>
                                        <p:cTn dur="1000"/>
                                        <p:tgtEl>
                                          <p:spTgt spid="10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1"/>
                                        </p:tgtEl>
                                        <p:attrNameLst>
                                          <p:attrName>style.visibility</p:attrName>
                                        </p:attrNameLst>
                                      </p:cBhvr>
                                      <p:to>
                                        <p:strVal val="visible"/>
                                      </p:to>
                                    </p:set>
                                    <p:animEffect filter="fade" transition="in">
                                      <p:cBhvr>
                                        <p:cTn dur="1000"/>
                                        <p:tgtEl>
                                          <p:spTgt spid="10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0"/>
                                        </p:tgtEl>
                                        <p:attrNameLst>
                                          <p:attrName>style.visibility</p:attrName>
                                        </p:attrNameLst>
                                      </p:cBhvr>
                                      <p:to>
                                        <p:strVal val="visible"/>
                                      </p:to>
                                    </p:set>
                                    <p:animEffect filter="fade" transition="in">
                                      <p:cBhvr>
                                        <p:cTn dur="1000"/>
                                        <p:tgtEl>
                                          <p:spTgt spid="10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1000"/>
                                        <p:tgtEl>
                                          <p:spTgt spid="10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1000"/>
                                        <p:tgtEl>
                                          <p:spTgt spid="10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1000"/>
                                        <p:tgtEl>
                                          <p:spTgt spid="10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2"/>
                                        </p:tgtEl>
                                        <p:attrNameLst>
                                          <p:attrName>style.visibility</p:attrName>
                                        </p:attrNameLst>
                                      </p:cBhvr>
                                      <p:to>
                                        <p:strVal val="visible"/>
                                      </p:to>
                                    </p:set>
                                    <p:animEffect filter="fade" transition="in">
                                      <p:cBhvr>
                                        <p:cTn dur="1000"/>
                                        <p:tgtEl>
                                          <p:spTgt spid="10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1000"/>
                                        <p:tgtEl>
                                          <p:spTgt spid="10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0" name="Shape 1080"/>
        <p:cNvGrpSpPr/>
        <p:nvPr/>
      </p:nvGrpSpPr>
      <p:grpSpPr>
        <a:xfrm>
          <a:off x="0" y="0"/>
          <a:ext cx="0" cy="0"/>
          <a:chOff x="0" y="0"/>
          <a:chExt cx="0" cy="0"/>
        </a:xfrm>
      </p:grpSpPr>
      <p:sp>
        <p:nvSpPr>
          <p:cNvPr id="1081" name="Google Shape;1081;p53"/>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fundamental building block of an </a:t>
            </a:r>
            <a:r>
              <a:rPr i="1" lang="en"/>
              <a:t>adjacency list</a:t>
            </a:r>
            <a:r>
              <a:rPr lang="en"/>
              <a:t> implementation of a Graph is the </a:t>
            </a:r>
            <a:r>
              <a:rPr i="1" lang="en"/>
              <a:t>Vertex</a:t>
            </a:r>
            <a:r>
              <a:rPr lang="en"/>
              <a:t>. Like the nodes used in other node-based structures that we have implemented, a vertex holds a value and keeps track of the other vertices to which it is connected. Let's create a generic Vertex class now.</a:t>
            </a:r>
            <a:endParaRPr/>
          </a:p>
        </p:txBody>
      </p:sp>
      <p:sp>
        <p:nvSpPr>
          <p:cNvPr id="1082" name="Google Shape;1082;p5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83" name="Google Shape;1083;p5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Vertex Class</a:t>
            </a:r>
            <a:endParaRPr/>
          </a:p>
        </p:txBody>
      </p:sp>
      <p:sp>
        <p:nvSpPr>
          <p:cNvPr id="1084" name="Google Shape;1084;p5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5</a:t>
            </a:r>
            <a:endParaRPr/>
          </a:p>
        </p:txBody>
      </p:sp>
      <p:sp>
        <p:nvSpPr>
          <p:cNvPr id="1085" name="Google Shape;1085;p53"/>
          <p:cNvSpPr txBox="1"/>
          <p:nvPr>
            <p:ph idx="2" type="body"/>
          </p:nvPr>
        </p:nvSpPr>
        <p:spPr>
          <a:xfrm>
            <a:off x="3273875" y="2012325"/>
            <a:ext cx="5659500" cy="27921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C</a:t>
            </a:r>
            <a:r>
              <a:rPr lang="en" sz="1500"/>
              <a:t>reate a new Java class named "</a:t>
            </a:r>
            <a:r>
              <a:rPr lang="en" sz="1500">
                <a:solidFill>
                  <a:srgbClr val="FF0000"/>
                </a:solidFill>
                <a:latin typeface="Courier New"/>
                <a:ea typeface="Courier New"/>
                <a:cs typeface="Courier New"/>
                <a:sym typeface="Courier New"/>
              </a:rPr>
              <a:t>Vertex</a:t>
            </a:r>
            <a:r>
              <a:rPr lang="en" sz="1500"/>
              <a:t>".</a:t>
            </a:r>
            <a:endParaRPr sz="1500"/>
          </a:p>
          <a:p>
            <a:pPr indent="-311150" lvl="1" marL="914400" rtl="0" algn="l">
              <a:lnSpc>
                <a:spcPct val="115000"/>
              </a:lnSpc>
              <a:spcBef>
                <a:spcPts val="0"/>
              </a:spcBef>
              <a:spcAft>
                <a:spcPts val="0"/>
              </a:spcAft>
              <a:buSzPts val="1300"/>
              <a:buChar char="○"/>
            </a:pPr>
            <a:r>
              <a:rPr lang="en" sz="1300"/>
              <a:t>Use the UML to the left to guide your implementation of your </a:t>
            </a:r>
            <a:r>
              <a:rPr lang="en" sz="1300">
                <a:latin typeface="Courier New"/>
                <a:ea typeface="Courier New"/>
                <a:cs typeface="Courier New"/>
                <a:sym typeface="Courier New"/>
              </a:rPr>
              <a:t>Vertex</a:t>
            </a:r>
            <a:r>
              <a:rPr lang="en" sz="1300"/>
              <a:t> class.</a:t>
            </a:r>
            <a:endParaRPr sz="1300"/>
          </a:p>
          <a:p>
            <a:pPr indent="-311150" lvl="1" marL="914400" rtl="0" algn="l">
              <a:lnSpc>
                <a:spcPct val="115000"/>
              </a:lnSpc>
              <a:spcBef>
                <a:spcPts val="0"/>
              </a:spcBef>
              <a:spcAft>
                <a:spcPts val="0"/>
              </a:spcAft>
              <a:buSzPts val="1300"/>
              <a:buChar char="○"/>
            </a:pPr>
            <a:r>
              <a:rPr lang="en" sz="1300"/>
              <a:t>Remember, </a:t>
            </a:r>
            <a:r>
              <a:rPr lang="en" sz="1300">
                <a:solidFill>
                  <a:srgbClr val="FF0000"/>
                </a:solidFill>
                <a:latin typeface="Courier New"/>
                <a:ea typeface="Courier New"/>
                <a:cs typeface="Courier New"/>
                <a:sym typeface="Courier New"/>
              </a:rPr>
              <a:t>Set</a:t>
            </a:r>
            <a:r>
              <a:rPr lang="en" sz="1300">
                <a:solidFill>
                  <a:srgbClr val="FF0000"/>
                </a:solidFill>
              </a:rPr>
              <a:t> </a:t>
            </a:r>
            <a:r>
              <a:rPr lang="en" sz="1300"/>
              <a:t>is a generic data structure, and so a </a:t>
            </a:r>
            <a:r>
              <a:rPr b="1" i="1" lang="en" sz="1300">
                <a:solidFill>
                  <a:srgbClr val="FF0000"/>
                </a:solidFill>
              </a:rPr>
              <a:t>type </a:t>
            </a:r>
            <a:r>
              <a:rPr lang="en" sz="1300"/>
              <a:t>must be specified for its</a:t>
            </a:r>
            <a:r>
              <a:rPr lang="en" sz="1300">
                <a:solidFill>
                  <a:srgbClr val="FF0000"/>
                </a:solidFill>
              </a:rPr>
              <a:t> </a:t>
            </a:r>
            <a:r>
              <a:rPr b="1" i="1" lang="en" sz="1300">
                <a:solidFill>
                  <a:srgbClr val="FF0000"/>
                </a:solidFill>
              </a:rPr>
              <a:t>type parameter</a:t>
            </a:r>
            <a:r>
              <a:rPr lang="en" sz="1300"/>
              <a:t>. In this case, </a:t>
            </a:r>
            <a:r>
              <a:rPr lang="en" sz="1300">
                <a:solidFill>
                  <a:srgbClr val="FF0000"/>
                </a:solidFill>
                <a:latin typeface="Courier New"/>
                <a:ea typeface="Courier New"/>
                <a:cs typeface="Courier New"/>
                <a:sym typeface="Courier New"/>
              </a:rPr>
              <a:t>neighbors</a:t>
            </a:r>
            <a:r>
              <a:rPr lang="en" sz="1300">
                <a:solidFill>
                  <a:srgbClr val="FF0000"/>
                </a:solidFill>
              </a:rPr>
              <a:t> </a:t>
            </a:r>
            <a:r>
              <a:rPr lang="en" sz="1300"/>
              <a:t>is a set of </a:t>
            </a:r>
            <a:r>
              <a:rPr b="1" i="1" lang="en" sz="1300">
                <a:solidFill>
                  <a:srgbClr val="FF0000"/>
                </a:solidFill>
              </a:rPr>
              <a:t>vertices </a:t>
            </a:r>
            <a:r>
              <a:rPr lang="en" sz="1300"/>
              <a:t>of the </a:t>
            </a:r>
            <a:r>
              <a:rPr b="1" i="1" lang="en" sz="1300">
                <a:solidFill>
                  <a:srgbClr val="FF0000"/>
                </a:solidFill>
              </a:rPr>
              <a:t>same type</a:t>
            </a:r>
            <a:r>
              <a:rPr lang="en" sz="1300"/>
              <a:t>, i.e. </a:t>
            </a:r>
            <a:r>
              <a:rPr lang="en" sz="1300">
                <a:solidFill>
                  <a:srgbClr val="FF0000"/>
                </a:solidFill>
                <a:latin typeface="Courier New"/>
                <a:ea typeface="Courier New"/>
                <a:cs typeface="Courier New"/>
                <a:sym typeface="Courier New"/>
              </a:rPr>
              <a:t>Vertex&lt;E&gt;</a:t>
            </a:r>
            <a:r>
              <a:rPr lang="en" sz="1300"/>
              <a:t>.</a:t>
            </a:r>
            <a:endParaRPr sz="1300"/>
          </a:p>
          <a:p>
            <a:pPr indent="-323850" lvl="0" marL="457200" rtl="0" algn="l">
              <a:lnSpc>
                <a:spcPct val="115000"/>
              </a:lnSpc>
              <a:spcBef>
                <a:spcPts val="0"/>
              </a:spcBef>
              <a:spcAft>
                <a:spcPts val="0"/>
              </a:spcAft>
              <a:buSzPts val="1500"/>
              <a:buChar char="●"/>
            </a:pPr>
            <a:r>
              <a:rPr b="1" i="1" lang="en" sz="1500">
                <a:solidFill>
                  <a:srgbClr val="FF0000"/>
                </a:solidFill>
              </a:rPr>
              <a:t>Rename </a:t>
            </a:r>
            <a:r>
              <a:rPr lang="en" sz="1500"/>
              <a:t>the provided </a:t>
            </a:r>
            <a:r>
              <a:rPr lang="en" sz="1500">
                <a:solidFill>
                  <a:srgbClr val="FF0000"/>
                </a:solidFill>
                <a:latin typeface="Courier New"/>
                <a:ea typeface="Courier New"/>
                <a:cs typeface="Courier New"/>
                <a:sym typeface="Courier New"/>
              </a:rPr>
              <a:t>VertexTest</a:t>
            </a:r>
            <a:r>
              <a:rPr lang="en" sz="1500"/>
              <a:t> and use it to </a:t>
            </a:r>
            <a:r>
              <a:rPr b="1" i="1" lang="en" sz="1500"/>
              <a:t>test</a:t>
            </a:r>
            <a:r>
              <a:rPr lang="en" sz="1500"/>
              <a:t> your </a:t>
            </a:r>
            <a:r>
              <a:rPr lang="en" sz="1500">
                <a:latin typeface="Courier New"/>
                <a:ea typeface="Courier New"/>
                <a:cs typeface="Courier New"/>
                <a:sym typeface="Courier New"/>
              </a:rPr>
              <a:t>Vertex</a:t>
            </a:r>
            <a:r>
              <a:rPr lang="en" sz="1500"/>
              <a:t> class.</a:t>
            </a:r>
            <a:endParaRPr sz="1500"/>
          </a:p>
          <a:p>
            <a:pPr indent="-311150" lvl="1" marL="914400" rtl="0" algn="l">
              <a:lnSpc>
                <a:spcPct val="115000"/>
              </a:lnSpc>
              <a:spcBef>
                <a:spcPts val="0"/>
              </a:spcBef>
              <a:spcAft>
                <a:spcPts val="0"/>
              </a:spcAft>
              <a:buSzPts val="1300"/>
              <a:buChar char="○"/>
            </a:pPr>
            <a:r>
              <a:rPr lang="en" sz="1300"/>
              <a:t>Be careful to run the individual test in order to avoid lots of failures.</a:t>
            </a:r>
            <a:endParaRPr sz="1300"/>
          </a:p>
        </p:txBody>
      </p:sp>
      <p:pic>
        <p:nvPicPr>
          <p:cNvPr id="1086" name="Google Shape;1086;p53"/>
          <p:cNvPicPr preferRelativeResize="0"/>
          <p:nvPr/>
        </p:nvPicPr>
        <p:blipFill>
          <a:blip r:embed="rId3">
            <a:alphaModFix/>
          </a:blip>
          <a:stretch>
            <a:fillRect/>
          </a:stretch>
        </p:blipFill>
        <p:spPr>
          <a:xfrm>
            <a:off x="152400" y="2164725"/>
            <a:ext cx="2969076" cy="194916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pic>
        <p:nvPicPr>
          <p:cNvPr id="1091" name="Google Shape;1091;p54"/>
          <p:cNvPicPr preferRelativeResize="0"/>
          <p:nvPr/>
        </p:nvPicPr>
        <p:blipFill rotWithShape="1">
          <a:blip r:embed="rId3">
            <a:alphaModFix/>
          </a:blip>
          <a:srcRect b="0" l="0" r="0" t="0"/>
          <a:stretch/>
        </p:blipFill>
        <p:spPr>
          <a:xfrm>
            <a:off x="65250" y="1970625"/>
            <a:ext cx="3346898" cy="2211450"/>
          </a:xfrm>
          <a:prstGeom prst="rect">
            <a:avLst/>
          </a:prstGeom>
          <a:noFill/>
          <a:ln>
            <a:noFill/>
          </a:ln>
        </p:spPr>
      </p:pic>
      <p:sp>
        <p:nvSpPr>
          <p:cNvPr id="1092" name="Google Shape;1092;p54"/>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have a working Vertex that keeps track of its neighbors, we can implement the Adjacency-List Graph. It will store vertices in a </a:t>
            </a:r>
            <a:r>
              <a:rPr lang="en">
                <a:latin typeface="Courier New"/>
                <a:ea typeface="Courier New"/>
                <a:cs typeface="Courier New"/>
                <a:sym typeface="Courier New"/>
              </a:rPr>
              <a:t>HashMap</a:t>
            </a:r>
            <a:r>
              <a:rPr lang="en"/>
              <a:t>, using each vertex's value as the key. Most of the essential functions will be implemented by storing and retrieving vertices from the map. </a:t>
            </a:r>
            <a:endParaRPr/>
          </a:p>
        </p:txBody>
      </p:sp>
      <p:sp>
        <p:nvSpPr>
          <p:cNvPr id="1093" name="Google Shape;1093;p5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94" name="Google Shape;1094;p54"/>
          <p:cNvSpPr txBox="1"/>
          <p:nvPr>
            <p:ph idx="2" type="body"/>
          </p:nvPr>
        </p:nvSpPr>
        <p:spPr>
          <a:xfrm>
            <a:off x="3518850" y="2013125"/>
            <a:ext cx="5422500" cy="28323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Create a new Java class named "</a:t>
            </a:r>
            <a:r>
              <a:rPr lang="en">
                <a:solidFill>
                  <a:srgbClr val="FF0000"/>
                </a:solidFill>
                <a:latin typeface="Courier New"/>
                <a:ea typeface="Courier New"/>
                <a:cs typeface="Courier New"/>
                <a:sym typeface="Courier New"/>
              </a:rPr>
              <a:t>AdjacencyGraph</a:t>
            </a:r>
            <a:r>
              <a:rPr lang="en"/>
              <a:t>" that implements the </a:t>
            </a:r>
            <a:r>
              <a:rPr lang="en">
                <a:latin typeface="Courier New"/>
                <a:ea typeface="Courier New"/>
                <a:cs typeface="Courier New"/>
                <a:sym typeface="Courier New"/>
              </a:rPr>
              <a:t>Graph</a:t>
            </a:r>
            <a:r>
              <a:rPr lang="en"/>
              <a:t> interface.</a:t>
            </a:r>
            <a:endParaRPr/>
          </a:p>
          <a:p>
            <a:pPr indent="-298450" lvl="1" marL="914400" rtl="0" algn="l">
              <a:spcBef>
                <a:spcPts val="0"/>
              </a:spcBef>
              <a:spcAft>
                <a:spcPts val="0"/>
              </a:spcAft>
              <a:buSzPts val="1100"/>
              <a:buChar char="○"/>
            </a:pPr>
            <a:r>
              <a:rPr lang="en"/>
              <a:t>Use the UML to the left as a guide in implementing your adjacency graph.</a:t>
            </a:r>
            <a:endParaRPr/>
          </a:p>
          <a:p>
            <a:pPr indent="-298450" lvl="1" marL="914400" rtl="0" algn="l">
              <a:spcBef>
                <a:spcPts val="0"/>
              </a:spcBef>
              <a:spcAft>
                <a:spcPts val="0"/>
              </a:spcAft>
              <a:buSzPts val="1100"/>
              <a:buChar char="○"/>
            </a:pPr>
            <a:r>
              <a:rPr lang="en"/>
              <a:t>For now focus on:</a:t>
            </a:r>
            <a:endParaRPr/>
          </a:p>
          <a:p>
            <a:pPr indent="-298450" lvl="2" marL="1371600" rtl="0" algn="l">
              <a:spcBef>
                <a:spcPts val="0"/>
              </a:spcBef>
              <a:spcAft>
                <a:spcPts val="0"/>
              </a:spcAft>
              <a:buSzPts val="1100"/>
              <a:buChar char="■"/>
            </a:pPr>
            <a:r>
              <a:rPr b="1" i="1" lang="en">
                <a:solidFill>
                  <a:srgbClr val="FF0000"/>
                </a:solidFill>
              </a:rPr>
              <a:t>Fields</a:t>
            </a:r>
            <a:endParaRPr b="1" i="1">
              <a:solidFill>
                <a:srgbClr val="FF0000"/>
              </a:solidFill>
            </a:endParaRPr>
          </a:p>
          <a:p>
            <a:pPr indent="-298450" lvl="2" marL="1371600" rtl="0" algn="l">
              <a:spcBef>
                <a:spcPts val="0"/>
              </a:spcBef>
              <a:spcAft>
                <a:spcPts val="0"/>
              </a:spcAft>
              <a:buSzPts val="1100"/>
              <a:buChar char="■"/>
            </a:pPr>
            <a:r>
              <a:rPr b="1" i="1" lang="en">
                <a:solidFill>
                  <a:srgbClr val="FF0000"/>
                </a:solidFill>
              </a:rPr>
              <a:t>Constructors</a:t>
            </a:r>
            <a:endParaRPr b="1" i="1">
              <a:solidFill>
                <a:srgbClr val="FF0000"/>
              </a:solidFill>
            </a:endParaRPr>
          </a:p>
          <a:p>
            <a:pPr indent="-298450" lvl="2" marL="1371600" rtl="0" algn="l">
              <a:spcBef>
                <a:spcPts val="0"/>
              </a:spcBef>
              <a:spcAft>
                <a:spcPts val="0"/>
              </a:spcAft>
              <a:buSzPts val="1100"/>
              <a:buChar char="■"/>
            </a:pPr>
            <a:r>
              <a:rPr lang="en"/>
              <a:t>The </a:t>
            </a:r>
            <a:r>
              <a:rPr lang="en">
                <a:solidFill>
                  <a:srgbClr val="FF0000"/>
                </a:solidFill>
                <a:latin typeface="Courier New"/>
                <a:ea typeface="Courier New"/>
                <a:cs typeface="Courier New"/>
                <a:sym typeface="Courier New"/>
              </a:rPr>
              <a:t>add</a:t>
            </a:r>
            <a:r>
              <a:rPr lang="en"/>
              <a:t>, </a:t>
            </a:r>
            <a:r>
              <a:rPr lang="en">
                <a:solidFill>
                  <a:srgbClr val="FF0000"/>
                </a:solidFill>
                <a:latin typeface="Courier New"/>
                <a:ea typeface="Courier New"/>
                <a:cs typeface="Courier New"/>
                <a:sym typeface="Courier New"/>
              </a:rPr>
              <a:t>contains</a:t>
            </a:r>
            <a:r>
              <a:rPr lang="en"/>
              <a:t>, and </a:t>
            </a:r>
            <a:r>
              <a:rPr lang="en">
                <a:solidFill>
                  <a:srgbClr val="FF0000"/>
                </a:solidFill>
                <a:latin typeface="Courier New"/>
                <a:ea typeface="Courier New"/>
                <a:cs typeface="Courier New"/>
                <a:sym typeface="Courier New"/>
              </a:rPr>
              <a:t>size</a:t>
            </a:r>
            <a:r>
              <a:rPr lang="en">
                <a:solidFill>
                  <a:srgbClr val="FF0000"/>
                </a:solidFill>
              </a:rPr>
              <a:t> </a:t>
            </a:r>
            <a:r>
              <a:rPr lang="en"/>
              <a:t>methods.</a:t>
            </a:r>
            <a:endParaRPr/>
          </a:p>
          <a:p>
            <a:pPr indent="-298450" lvl="1" marL="914400" rtl="0" algn="l">
              <a:spcBef>
                <a:spcPts val="0"/>
              </a:spcBef>
              <a:spcAft>
                <a:spcPts val="0"/>
              </a:spcAft>
              <a:buSzPts val="1100"/>
              <a:buChar char="○"/>
            </a:pPr>
            <a:r>
              <a:rPr lang="en"/>
              <a:t>Stub out any remaining methods.</a:t>
            </a:r>
            <a:endParaRPr/>
          </a:p>
          <a:p>
            <a:pPr indent="-311150" lvl="0" marL="457200" rtl="0" algn="l">
              <a:spcBef>
                <a:spcPts val="0"/>
              </a:spcBef>
              <a:spcAft>
                <a:spcPts val="0"/>
              </a:spcAft>
              <a:buSzPts val="1300"/>
              <a:buChar char="●"/>
            </a:pPr>
            <a:r>
              <a:rPr b="1" i="1" lang="en">
                <a:solidFill>
                  <a:srgbClr val="FF0000"/>
                </a:solidFill>
              </a:rPr>
              <a:t>Rename </a:t>
            </a:r>
            <a:r>
              <a:rPr lang="en"/>
              <a:t>the provided </a:t>
            </a:r>
            <a:r>
              <a:rPr lang="en">
                <a:solidFill>
                  <a:srgbClr val="FF0000"/>
                </a:solidFill>
                <a:latin typeface="Courier New"/>
                <a:ea typeface="Courier New"/>
                <a:cs typeface="Courier New"/>
                <a:sym typeface="Courier New"/>
              </a:rPr>
              <a:t>AdjacencyGraphTest</a:t>
            </a:r>
            <a:r>
              <a:rPr lang="en"/>
              <a:t> and use it to </a:t>
            </a:r>
            <a:r>
              <a:rPr b="1" i="1" lang="en"/>
              <a:t>test</a:t>
            </a:r>
            <a:r>
              <a:rPr b="1" lang="en"/>
              <a:t> </a:t>
            </a:r>
            <a:r>
              <a:rPr lang="en"/>
              <a:t>your implementation.</a:t>
            </a:r>
            <a:endParaRPr/>
          </a:p>
          <a:p>
            <a:pPr indent="-298450" lvl="1" marL="914400" rtl="0" algn="l">
              <a:spcBef>
                <a:spcPts val="0"/>
              </a:spcBef>
              <a:spcAft>
                <a:spcPts val="0"/>
              </a:spcAft>
              <a:buSzPts val="1100"/>
              <a:buChar char="○"/>
            </a:pPr>
            <a:r>
              <a:rPr lang="en"/>
              <a:t>Some tests will </a:t>
            </a:r>
            <a:r>
              <a:rPr b="1" i="1" lang="en">
                <a:solidFill>
                  <a:srgbClr val="FF0000"/>
                </a:solidFill>
              </a:rPr>
              <a:t>fail</a:t>
            </a:r>
            <a:r>
              <a:rPr lang="en">
                <a:solidFill>
                  <a:srgbClr val="FF0000"/>
                </a:solidFill>
              </a:rPr>
              <a:t> </a:t>
            </a:r>
            <a:r>
              <a:rPr lang="en"/>
              <a:t>because you have only implemented some of the methods in the </a:t>
            </a:r>
            <a:r>
              <a:rPr lang="en">
                <a:latin typeface="Courier New"/>
                <a:ea typeface="Courier New"/>
                <a:cs typeface="Courier New"/>
                <a:sym typeface="Courier New"/>
              </a:rPr>
              <a:t>Graph</a:t>
            </a:r>
            <a:r>
              <a:rPr lang="en"/>
              <a:t> interface.</a:t>
            </a:r>
            <a:endParaRPr/>
          </a:p>
        </p:txBody>
      </p:sp>
      <p:sp>
        <p:nvSpPr>
          <p:cNvPr id="1095" name="Google Shape;1095;p5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Implementing An Adjacency Graph</a:t>
            </a:r>
            <a:endParaRPr/>
          </a:p>
        </p:txBody>
      </p:sp>
      <p:sp>
        <p:nvSpPr>
          <p:cNvPr id="1096" name="Google Shape;1096;p5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6</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0" name="Shape 1100"/>
        <p:cNvGrpSpPr/>
        <p:nvPr/>
      </p:nvGrpSpPr>
      <p:grpSpPr>
        <a:xfrm>
          <a:off x="0" y="0"/>
          <a:ext cx="0" cy="0"/>
          <a:chOff x="0" y="0"/>
          <a:chExt cx="0" cy="0"/>
        </a:xfrm>
      </p:grpSpPr>
      <p:sp>
        <p:nvSpPr>
          <p:cNvPr id="1101" name="Google Shape;1101;p5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have only partially implemented the Adjacency-List Graph. Let's complete it by implementing the remaining methods inherited from the Graph interface. When it is completed, all of the tests in the </a:t>
            </a:r>
            <a:r>
              <a:rPr lang="en">
                <a:latin typeface="Courier New"/>
                <a:ea typeface="Courier New"/>
                <a:cs typeface="Courier New"/>
                <a:sym typeface="Courier New"/>
              </a:rPr>
              <a:t>AdjacencyGraphTest</a:t>
            </a:r>
            <a:r>
              <a:rPr lang="en"/>
              <a:t> JUnit test </a:t>
            </a:r>
            <a:r>
              <a:rPr lang="en"/>
              <a:t>should pass.</a:t>
            </a:r>
            <a:endParaRPr/>
          </a:p>
        </p:txBody>
      </p:sp>
      <p:sp>
        <p:nvSpPr>
          <p:cNvPr id="1102" name="Google Shape;1102;p5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03" name="Google Shape;1103;p55"/>
          <p:cNvSpPr txBox="1"/>
          <p:nvPr>
            <p:ph idx="2" type="body"/>
          </p:nvPr>
        </p:nvSpPr>
        <p:spPr>
          <a:xfrm>
            <a:off x="3550125" y="1784525"/>
            <a:ext cx="5467200" cy="28275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solidFill>
                  <a:srgbClr val="FF0000"/>
                </a:solidFill>
                <a:latin typeface="Courier New"/>
                <a:ea typeface="Courier New"/>
                <a:cs typeface="Courier New"/>
                <a:sym typeface="Courier New"/>
              </a:rPr>
              <a:t>AdjacencyGraph</a:t>
            </a:r>
            <a:r>
              <a:rPr lang="en" sz="1500"/>
              <a:t> class and complete the implementation of your adjacency graph.</a:t>
            </a:r>
            <a:endParaRPr sz="1500"/>
          </a:p>
          <a:p>
            <a:pPr indent="-311150" lvl="1" marL="914400" rtl="0" algn="l">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connectDirected</a:t>
            </a:r>
            <a:r>
              <a:rPr lang="en" sz="1300">
                <a:solidFill>
                  <a:srgbClr val="FF0000"/>
                </a:solidFill>
              </a:rPr>
              <a:t> </a:t>
            </a:r>
            <a:r>
              <a:rPr lang="en" sz="1300"/>
              <a:t>method.</a:t>
            </a:r>
            <a:endParaRPr sz="1300"/>
          </a:p>
          <a:p>
            <a:pPr indent="-311150" lvl="1" marL="914400" rtl="0" algn="l">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connectUndirected</a:t>
            </a:r>
            <a:r>
              <a:rPr lang="en" sz="1300">
                <a:solidFill>
                  <a:srgbClr val="FF0000"/>
                </a:solidFill>
              </a:rPr>
              <a:t> </a:t>
            </a:r>
            <a:r>
              <a:rPr lang="en" sz="1300"/>
              <a:t>method.</a:t>
            </a:r>
            <a:endParaRPr sz="1300"/>
          </a:p>
          <a:p>
            <a:pPr indent="-311150" lvl="1" marL="914400" rtl="0" algn="l">
              <a:spcBef>
                <a:spcPts val="0"/>
              </a:spcBef>
              <a:spcAft>
                <a:spcPts val="0"/>
              </a:spcAft>
              <a:buSzPts val="1300"/>
              <a:buChar char="○"/>
            </a:pPr>
            <a:r>
              <a:rPr lang="en" sz="1300"/>
              <a:t>Implement the </a:t>
            </a:r>
            <a:r>
              <a:rPr lang="en" sz="1300">
                <a:solidFill>
                  <a:srgbClr val="FF0000"/>
                </a:solidFill>
                <a:latin typeface="Courier New"/>
                <a:ea typeface="Courier New"/>
                <a:cs typeface="Courier New"/>
                <a:sym typeface="Courier New"/>
              </a:rPr>
              <a:t>connected</a:t>
            </a:r>
            <a:r>
              <a:rPr lang="en" sz="1300"/>
              <a:t> method, i.e. return </a:t>
            </a:r>
            <a:r>
              <a:rPr lang="en" sz="1300">
                <a:latin typeface="Courier New"/>
                <a:ea typeface="Courier New"/>
                <a:cs typeface="Courier New"/>
                <a:sym typeface="Courier New"/>
              </a:rPr>
              <a:t>true</a:t>
            </a:r>
            <a:r>
              <a:rPr lang="en" sz="1300"/>
              <a:t> if </a:t>
            </a:r>
            <a:r>
              <a:rPr lang="en" sz="1300">
                <a:latin typeface="Courier New"/>
                <a:ea typeface="Courier New"/>
                <a:cs typeface="Courier New"/>
                <a:sym typeface="Courier New"/>
              </a:rPr>
              <a:t>a</a:t>
            </a:r>
            <a:r>
              <a:rPr lang="en" sz="1300"/>
              <a:t> is connected to </a:t>
            </a:r>
            <a:r>
              <a:rPr lang="en" sz="1300">
                <a:latin typeface="Courier New"/>
                <a:ea typeface="Courier New"/>
                <a:cs typeface="Courier New"/>
                <a:sym typeface="Courier New"/>
              </a:rPr>
              <a:t>b</a:t>
            </a:r>
            <a:r>
              <a:rPr lang="en" sz="1300"/>
              <a:t>. </a:t>
            </a:r>
            <a:r>
              <a:rPr b="1" i="1" lang="en" sz="1300">
                <a:solidFill>
                  <a:srgbClr val="FF0000"/>
                </a:solidFill>
              </a:rPr>
              <a:t>Do not</a:t>
            </a:r>
            <a:r>
              <a:rPr lang="en" sz="1300"/>
              <a:t> check to see if </a:t>
            </a:r>
            <a:r>
              <a:rPr lang="en" sz="1300">
                <a:latin typeface="Courier New"/>
                <a:ea typeface="Courier New"/>
                <a:cs typeface="Courier New"/>
                <a:sym typeface="Courier New"/>
              </a:rPr>
              <a:t>b</a:t>
            </a:r>
            <a:r>
              <a:rPr lang="en" sz="1300"/>
              <a:t> is connected to </a:t>
            </a:r>
            <a:r>
              <a:rPr lang="en" sz="1300">
                <a:latin typeface="Courier New"/>
                <a:ea typeface="Courier New"/>
                <a:cs typeface="Courier New"/>
                <a:sym typeface="Courier New"/>
              </a:rPr>
              <a:t>a</a:t>
            </a:r>
            <a:r>
              <a:rPr lang="en" sz="1300"/>
              <a:t>.</a:t>
            </a:r>
            <a:endParaRPr sz="1300"/>
          </a:p>
          <a:p>
            <a:pPr indent="-311150" lvl="2" marL="1371600" rtl="0" algn="l">
              <a:spcBef>
                <a:spcPts val="0"/>
              </a:spcBef>
              <a:spcAft>
                <a:spcPts val="0"/>
              </a:spcAft>
              <a:buSzPts val="1300"/>
              <a:buChar char="■"/>
            </a:pPr>
            <a:r>
              <a:rPr b="1" i="1" lang="en" sz="1300">
                <a:solidFill>
                  <a:srgbClr val="FF0000"/>
                </a:solidFill>
              </a:rPr>
              <a:t>Hint</a:t>
            </a:r>
            <a:r>
              <a:rPr lang="en" sz="1300"/>
              <a:t>: Use the </a:t>
            </a:r>
            <a:r>
              <a:rPr lang="en" sz="1300">
                <a:solidFill>
                  <a:srgbClr val="FF0000"/>
                </a:solidFill>
                <a:latin typeface="Courier New"/>
                <a:ea typeface="Courier New"/>
                <a:cs typeface="Courier New"/>
                <a:sym typeface="Courier New"/>
              </a:rPr>
              <a:t>connected</a:t>
            </a:r>
            <a:r>
              <a:rPr lang="en" sz="1300">
                <a:solidFill>
                  <a:srgbClr val="FF0000"/>
                </a:solidFill>
              </a:rPr>
              <a:t> </a:t>
            </a:r>
            <a:r>
              <a:rPr lang="en" sz="1300"/>
              <a:t>method in the </a:t>
            </a:r>
            <a:r>
              <a:rPr lang="en" sz="1300">
                <a:latin typeface="Courier New"/>
                <a:ea typeface="Courier New"/>
                <a:cs typeface="Courier New"/>
                <a:sym typeface="Courier New"/>
              </a:rPr>
              <a:t>Vertex</a:t>
            </a:r>
            <a:r>
              <a:rPr lang="en" sz="1300"/>
              <a:t> class.</a:t>
            </a:r>
            <a:endParaRPr sz="1300"/>
          </a:p>
          <a:p>
            <a:pPr indent="-323850" lvl="0" marL="457200" rtl="0" algn="l">
              <a:spcBef>
                <a:spcPts val="0"/>
              </a:spcBef>
              <a:spcAft>
                <a:spcPts val="0"/>
              </a:spcAft>
              <a:buSzPts val="1500"/>
              <a:buChar char="●"/>
            </a:pPr>
            <a:r>
              <a:rPr b="1" i="1" lang="en" sz="1500">
                <a:solidFill>
                  <a:srgbClr val="FF0000"/>
                </a:solidFill>
              </a:rPr>
              <a:t>Test </a:t>
            </a:r>
            <a:r>
              <a:rPr lang="en" sz="1500"/>
              <a:t>your class using the provided </a:t>
            </a:r>
            <a:r>
              <a:rPr lang="en" sz="1500">
                <a:solidFill>
                  <a:srgbClr val="FF0000"/>
                </a:solidFill>
                <a:latin typeface="Courier New"/>
                <a:ea typeface="Courier New"/>
                <a:cs typeface="Courier New"/>
                <a:sym typeface="Courier New"/>
              </a:rPr>
              <a:t>AdjacencyGraphTest</a:t>
            </a:r>
            <a:r>
              <a:rPr lang="en" sz="1500"/>
              <a:t>.</a:t>
            </a:r>
            <a:endParaRPr sz="1500"/>
          </a:p>
          <a:p>
            <a:pPr indent="-311150" lvl="1" marL="914400" rtl="0" algn="l">
              <a:spcBef>
                <a:spcPts val="0"/>
              </a:spcBef>
              <a:spcAft>
                <a:spcPts val="0"/>
              </a:spcAft>
              <a:buSzPts val="1300"/>
              <a:buChar char="○"/>
            </a:pPr>
            <a:r>
              <a:rPr lang="en" sz="1300"/>
              <a:t>All tests should now </a:t>
            </a:r>
            <a:r>
              <a:rPr b="1" i="1" lang="en" sz="1300">
                <a:solidFill>
                  <a:srgbClr val="FF0000"/>
                </a:solidFill>
              </a:rPr>
              <a:t>pass</a:t>
            </a:r>
            <a:r>
              <a:rPr lang="en" sz="1300"/>
              <a:t>.</a:t>
            </a:r>
            <a:endParaRPr sz="1300"/>
          </a:p>
        </p:txBody>
      </p:sp>
      <p:sp>
        <p:nvSpPr>
          <p:cNvPr id="1104" name="Google Shape;1104;p5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Finish the Adjacency Graph</a:t>
            </a:r>
            <a:endParaRPr/>
          </a:p>
        </p:txBody>
      </p:sp>
      <p:sp>
        <p:nvSpPr>
          <p:cNvPr id="1105" name="Google Shape;1105;p5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7</a:t>
            </a:r>
            <a:endParaRPr/>
          </a:p>
        </p:txBody>
      </p:sp>
      <p:pic>
        <p:nvPicPr>
          <p:cNvPr id="1106" name="Google Shape;1106;p55"/>
          <p:cNvPicPr preferRelativeResize="0"/>
          <p:nvPr/>
        </p:nvPicPr>
        <p:blipFill rotWithShape="1">
          <a:blip r:embed="rId3">
            <a:alphaModFix/>
          </a:blip>
          <a:srcRect b="0" l="0" r="0" t="0"/>
          <a:stretch/>
        </p:blipFill>
        <p:spPr>
          <a:xfrm>
            <a:off x="215300" y="1886636"/>
            <a:ext cx="3346898" cy="221145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0" name="Shape 1110"/>
        <p:cNvGrpSpPr/>
        <p:nvPr/>
      </p:nvGrpSpPr>
      <p:grpSpPr>
        <a:xfrm>
          <a:off x="0" y="0"/>
          <a:ext cx="0" cy="0"/>
          <a:chOff x="0" y="0"/>
          <a:chExt cx="0" cy="0"/>
        </a:xfrm>
      </p:grpSpPr>
      <p:sp>
        <p:nvSpPr>
          <p:cNvPr id="1111" name="Google Shape;1111;p5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will spend the remainder of this unit implementing several algorithms that work with the data stored inside of a graph. We'll need to build a graph so that we can test the algorithms to see if they are working as expected. </a:t>
            </a:r>
            <a:endParaRPr/>
          </a:p>
        </p:txBody>
      </p:sp>
      <p:sp>
        <p:nvSpPr>
          <p:cNvPr id="1112" name="Google Shape;1112;p5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13" name="Google Shape;1113;p56"/>
          <p:cNvSpPr txBox="1"/>
          <p:nvPr>
            <p:ph idx="2" type="body"/>
          </p:nvPr>
        </p:nvSpPr>
        <p:spPr>
          <a:xfrm>
            <a:off x="2941025" y="1936925"/>
            <a:ext cx="5923800" cy="21102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Create a new Java class named "</a:t>
            </a:r>
            <a:r>
              <a:rPr lang="en" sz="1700">
                <a:latin typeface="Courier New"/>
                <a:ea typeface="Courier New"/>
                <a:cs typeface="Courier New"/>
                <a:sym typeface="Courier New"/>
              </a:rPr>
              <a:t>Graphs</a:t>
            </a:r>
            <a:r>
              <a:rPr lang="en" sz="1700"/>
              <a:t>" and define a </a:t>
            </a:r>
            <a:r>
              <a:rPr b="1" i="1" lang="en" sz="1700">
                <a:solidFill>
                  <a:srgbClr val="FF0000"/>
                </a:solidFill>
              </a:rPr>
              <a:t>static </a:t>
            </a:r>
            <a:r>
              <a:rPr lang="en" sz="1700"/>
              <a:t>method called </a:t>
            </a:r>
            <a:r>
              <a:rPr lang="en" sz="1700">
                <a:solidFill>
                  <a:srgbClr val="FF0000"/>
                </a:solidFill>
                <a:latin typeface="Courier New"/>
                <a:ea typeface="Courier New"/>
                <a:cs typeface="Courier New"/>
                <a:sym typeface="Courier New"/>
              </a:rPr>
              <a:t>makeGraph</a:t>
            </a:r>
            <a:r>
              <a:rPr lang="en" sz="1700"/>
              <a:t>. </a:t>
            </a:r>
            <a:endParaRPr sz="1700"/>
          </a:p>
          <a:p>
            <a:pPr indent="-323850" lvl="1" marL="914400" rtl="0" algn="l">
              <a:spcBef>
                <a:spcPts val="0"/>
              </a:spcBef>
              <a:spcAft>
                <a:spcPts val="0"/>
              </a:spcAft>
              <a:buSzPts val="1500"/>
              <a:buChar char="○"/>
            </a:pPr>
            <a:r>
              <a:rPr lang="en" sz="1500"/>
              <a:t>Create an </a:t>
            </a:r>
            <a:r>
              <a:rPr b="1" i="1" lang="en" sz="1500">
                <a:solidFill>
                  <a:srgbClr val="FF0000"/>
                </a:solidFill>
              </a:rPr>
              <a:t>empty </a:t>
            </a:r>
            <a:r>
              <a:rPr lang="en" sz="1500">
                <a:solidFill>
                  <a:srgbClr val="FF0000"/>
                </a:solidFill>
                <a:latin typeface="Courier New"/>
                <a:ea typeface="Courier New"/>
                <a:cs typeface="Courier New"/>
                <a:sym typeface="Courier New"/>
              </a:rPr>
              <a:t>AdjacencyGraph</a:t>
            </a:r>
            <a:r>
              <a:rPr lang="en" sz="1500">
                <a:solidFill>
                  <a:srgbClr val="FF0000"/>
                </a:solidFill>
              </a:rPr>
              <a:t> </a:t>
            </a:r>
            <a:r>
              <a:rPr b="1" i="1" lang="en" sz="1500">
                <a:solidFill>
                  <a:srgbClr val="FF0000"/>
                </a:solidFill>
              </a:rPr>
              <a:t>of</a:t>
            </a:r>
            <a:r>
              <a:rPr lang="en" sz="1500">
                <a:solidFill>
                  <a:srgbClr val="FF0000"/>
                </a:solidFill>
              </a:rPr>
              <a:t> </a:t>
            </a:r>
            <a:r>
              <a:rPr lang="en" sz="1500">
                <a:solidFill>
                  <a:srgbClr val="FF0000"/>
                </a:solidFill>
                <a:latin typeface="Courier New"/>
                <a:ea typeface="Courier New"/>
                <a:cs typeface="Courier New"/>
                <a:sym typeface="Courier New"/>
              </a:rPr>
              <a:t>String</a:t>
            </a:r>
            <a:r>
              <a:rPr b="1" i="1" lang="en" sz="1500">
                <a:solidFill>
                  <a:srgbClr val="FF0000"/>
                </a:solidFill>
              </a:rPr>
              <a:t> values</a:t>
            </a:r>
            <a:r>
              <a:rPr lang="en" sz="1500"/>
              <a:t>.</a:t>
            </a:r>
            <a:endParaRPr sz="1500"/>
          </a:p>
          <a:p>
            <a:pPr indent="-323850" lvl="1" marL="914400" rtl="0" algn="l">
              <a:spcBef>
                <a:spcPts val="0"/>
              </a:spcBef>
              <a:spcAft>
                <a:spcPts val="0"/>
              </a:spcAft>
              <a:buSzPts val="1500"/>
              <a:buChar char="○"/>
            </a:pPr>
            <a:r>
              <a:rPr lang="en" sz="1500"/>
              <a:t>Write the necessary code to </a:t>
            </a:r>
            <a:r>
              <a:rPr b="1" i="1" lang="en" sz="1500">
                <a:solidFill>
                  <a:srgbClr val="FF0000"/>
                </a:solidFill>
              </a:rPr>
              <a:t>build </a:t>
            </a:r>
            <a:r>
              <a:rPr lang="en" sz="1500"/>
              <a:t>the graph depicted to the left.</a:t>
            </a:r>
            <a:endParaRPr sz="1500"/>
          </a:p>
          <a:p>
            <a:pPr indent="-323850" lvl="1" marL="914400" rtl="0" algn="l">
              <a:spcBef>
                <a:spcPts val="0"/>
              </a:spcBef>
              <a:spcAft>
                <a:spcPts val="0"/>
              </a:spcAft>
              <a:buSzPts val="1500"/>
              <a:buChar char="○"/>
            </a:pPr>
            <a:r>
              <a:rPr b="1" i="1" lang="en" sz="1500">
                <a:solidFill>
                  <a:srgbClr val="FF0000"/>
                </a:solidFill>
              </a:rPr>
              <a:t>Return</a:t>
            </a:r>
            <a:r>
              <a:rPr lang="en" sz="1500"/>
              <a:t> the graph.</a:t>
            </a:r>
            <a:endParaRPr sz="1500"/>
          </a:p>
          <a:p>
            <a:pPr indent="-336550" lvl="0" marL="457200" rtl="0" algn="l">
              <a:spcBef>
                <a:spcPts val="0"/>
              </a:spcBef>
              <a:spcAft>
                <a:spcPts val="0"/>
              </a:spcAft>
              <a:buSzPts val="1700"/>
              <a:buChar char="●"/>
            </a:pPr>
            <a:r>
              <a:rPr b="1" i="1" lang="en" sz="1700">
                <a:solidFill>
                  <a:srgbClr val="FF0000"/>
                </a:solidFill>
              </a:rPr>
              <a:t>Test</a:t>
            </a:r>
            <a:r>
              <a:rPr lang="en" sz="1700">
                <a:solidFill>
                  <a:srgbClr val="FF0000"/>
                </a:solidFill>
              </a:rPr>
              <a:t> </a:t>
            </a:r>
            <a:r>
              <a:rPr lang="en" sz="1700"/>
              <a:t>your code with the provided </a:t>
            </a:r>
            <a:r>
              <a:rPr lang="en" sz="1700">
                <a:solidFill>
                  <a:srgbClr val="FF0000"/>
                </a:solidFill>
                <a:latin typeface="Courier New"/>
                <a:ea typeface="Courier New"/>
                <a:cs typeface="Courier New"/>
                <a:sym typeface="Courier New"/>
              </a:rPr>
              <a:t>GraphsTest</a:t>
            </a:r>
            <a:r>
              <a:rPr lang="en" sz="1700"/>
              <a:t>.</a:t>
            </a:r>
            <a:endParaRPr sz="1700"/>
          </a:p>
        </p:txBody>
      </p:sp>
      <p:sp>
        <p:nvSpPr>
          <p:cNvPr id="1114" name="Google Shape;1114;p5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Building a Graph</a:t>
            </a:r>
            <a:endParaRPr/>
          </a:p>
        </p:txBody>
      </p:sp>
      <p:sp>
        <p:nvSpPr>
          <p:cNvPr id="1115" name="Google Shape;1115;p5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8</a:t>
            </a:r>
            <a:endParaRPr/>
          </a:p>
        </p:txBody>
      </p:sp>
      <p:pic>
        <p:nvPicPr>
          <p:cNvPr id="1116" name="Google Shape;1116;p56"/>
          <p:cNvPicPr preferRelativeResize="0"/>
          <p:nvPr/>
        </p:nvPicPr>
        <p:blipFill rotWithShape="1">
          <a:blip r:embed="rId3">
            <a:alphaModFix/>
          </a:blip>
          <a:srcRect b="0" l="0" r="0" t="0"/>
          <a:stretch/>
        </p:blipFill>
        <p:spPr>
          <a:xfrm>
            <a:off x="152400" y="1773175"/>
            <a:ext cx="2483725" cy="288425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0" name="Shape 1120"/>
        <p:cNvGrpSpPr/>
        <p:nvPr/>
      </p:nvGrpSpPr>
      <p:grpSpPr>
        <a:xfrm>
          <a:off x="0" y="0"/>
          <a:ext cx="0" cy="0"/>
          <a:chOff x="0" y="0"/>
          <a:chExt cx="0" cy="0"/>
        </a:xfrm>
      </p:grpSpPr>
      <p:sp>
        <p:nvSpPr>
          <p:cNvPr id="1121" name="Google Shape;1121;p57"/>
          <p:cNvSpPr txBox="1"/>
          <p:nvPr>
            <p:ph idx="1" type="body"/>
          </p:nvPr>
        </p:nvSpPr>
        <p:spPr>
          <a:xfrm>
            <a:off x="90450" y="-32475"/>
            <a:ext cx="4699500" cy="5175000"/>
          </a:xfrm>
          <a:prstGeom prst="rect">
            <a:avLst/>
          </a:prstGeom>
          <a:noFill/>
          <a:ln>
            <a:noFill/>
          </a:ln>
        </p:spPr>
        <p:txBody>
          <a:bodyPr anchorCtr="0" anchor="ctr" bIns="91425" lIns="91425" spcFirstLastPara="1" rIns="91425" wrap="square" tIns="91425">
            <a:spAutoFit/>
          </a:bodyPr>
          <a:lstStyle/>
          <a:p>
            <a:pPr indent="-304800" lvl="0" marL="457200" rtl="0" algn="l">
              <a:lnSpc>
                <a:spcPct val="115000"/>
              </a:lnSpc>
              <a:spcBef>
                <a:spcPts val="0"/>
              </a:spcBef>
              <a:spcAft>
                <a:spcPts val="0"/>
              </a:spcAft>
              <a:buSzPts val="1200"/>
              <a:buChar char="●"/>
            </a:pPr>
            <a:r>
              <a:rPr lang="en" sz="1200"/>
              <a:t>A </a:t>
            </a:r>
            <a:r>
              <a:rPr b="1" i="1" lang="en" sz="1200">
                <a:solidFill>
                  <a:srgbClr val="FF0000"/>
                </a:solidFill>
              </a:rPr>
              <a:t>path</a:t>
            </a:r>
            <a:r>
              <a:rPr lang="en" sz="1200">
                <a:solidFill>
                  <a:srgbClr val="FF0000"/>
                </a:solidFill>
              </a:rPr>
              <a:t> </a:t>
            </a:r>
            <a:r>
              <a:rPr lang="en" sz="1200"/>
              <a:t>is any series of edges that connects two vertices within a graph.</a:t>
            </a:r>
            <a:endParaRPr sz="1200"/>
          </a:p>
          <a:p>
            <a:pPr indent="-292100" lvl="1" marL="914400" rtl="0" algn="l">
              <a:lnSpc>
                <a:spcPct val="115000"/>
              </a:lnSpc>
              <a:spcBef>
                <a:spcPts val="0"/>
              </a:spcBef>
              <a:spcAft>
                <a:spcPts val="0"/>
              </a:spcAft>
              <a:buSzPts val="1000"/>
              <a:buChar char="○"/>
            </a:pPr>
            <a:r>
              <a:rPr lang="en" sz="1000"/>
              <a:t>If a path </a:t>
            </a:r>
            <a:r>
              <a:rPr b="1" i="1" lang="en" sz="1000">
                <a:solidFill>
                  <a:srgbClr val="FF0000"/>
                </a:solidFill>
              </a:rPr>
              <a:t>exists</a:t>
            </a:r>
            <a:r>
              <a:rPr lang="en" sz="1000">
                <a:solidFill>
                  <a:srgbClr val="FF0000"/>
                </a:solidFill>
              </a:rPr>
              <a:t> </a:t>
            </a:r>
            <a:r>
              <a:rPr lang="en" sz="1000"/>
              <a:t>between two vertices, then they are in the same </a:t>
            </a:r>
            <a:r>
              <a:rPr b="1" i="1" lang="en" sz="1000">
                <a:solidFill>
                  <a:srgbClr val="FF0000"/>
                </a:solidFill>
              </a:rPr>
              <a:t>connected component</a:t>
            </a:r>
            <a:r>
              <a:rPr lang="en" sz="1000"/>
              <a:t>.</a:t>
            </a:r>
            <a:endParaRPr sz="1000"/>
          </a:p>
          <a:p>
            <a:pPr indent="-292100" lvl="1" marL="914400" rtl="0" algn="l">
              <a:lnSpc>
                <a:spcPct val="115000"/>
              </a:lnSpc>
              <a:spcBef>
                <a:spcPts val="0"/>
              </a:spcBef>
              <a:spcAft>
                <a:spcPts val="0"/>
              </a:spcAft>
              <a:buSzPts val="1000"/>
              <a:buChar char="○"/>
            </a:pPr>
            <a:r>
              <a:rPr lang="en" sz="1000"/>
              <a:t>If no path exists, then they are in </a:t>
            </a:r>
            <a:r>
              <a:rPr b="1" i="1" lang="en" sz="1000">
                <a:solidFill>
                  <a:srgbClr val="FF0000"/>
                </a:solidFill>
              </a:rPr>
              <a:t>different</a:t>
            </a:r>
            <a:r>
              <a:rPr lang="en" sz="1000">
                <a:solidFill>
                  <a:srgbClr val="FF0000"/>
                </a:solidFill>
              </a:rPr>
              <a:t> </a:t>
            </a:r>
            <a:r>
              <a:rPr lang="en" sz="1000"/>
              <a:t>connected components.</a:t>
            </a:r>
            <a:endParaRPr sz="1000"/>
          </a:p>
          <a:p>
            <a:pPr indent="-304800" lvl="0" marL="457200" rtl="0" algn="l">
              <a:lnSpc>
                <a:spcPct val="115000"/>
              </a:lnSpc>
              <a:spcBef>
                <a:spcPts val="1000"/>
              </a:spcBef>
              <a:spcAft>
                <a:spcPts val="0"/>
              </a:spcAft>
              <a:buSzPts val="1200"/>
              <a:buChar char="●"/>
            </a:pPr>
            <a:r>
              <a:rPr lang="en" sz="1200"/>
              <a:t>A path is represented by listing the vertices along the path, e.g. the path from </a:t>
            </a:r>
            <a:r>
              <a:rPr b="1" i="1" lang="en" sz="1200">
                <a:solidFill>
                  <a:srgbClr val="FF0000"/>
                </a:solidFill>
              </a:rPr>
              <a:t>A to D</a:t>
            </a:r>
            <a:r>
              <a:rPr lang="en" sz="1200"/>
              <a:t> in the example graph to the right might be </a:t>
            </a:r>
            <a:r>
              <a:rPr b="1" i="1" lang="en" sz="1200">
                <a:solidFill>
                  <a:srgbClr val="FF0000"/>
                </a:solidFill>
              </a:rPr>
              <a:t>A C D</a:t>
            </a:r>
            <a:r>
              <a:rPr lang="en" sz="1200"/>
              <a:t> or </a:t>
            </a:r>
            <a:r>
              <a:rPr b="1" i="1" lang="en" sz="1200">
                <a:solidFill>
                  <a:srgbClr val="FF0000"/>
                </a:solidFill>
              </a:rPr>
              <a:t>A B D</a:t>
            </a:r>
            <a:r>
              <a:rPr b="1" i="1" lang="en" sz="1200"/>
              <a:t>.</a:t>
            </a:r>
            <a:endParaRPr b="1" i="1" sz="1200"/>
          </a:p>
          <a:p>
            <a:pPr indent="-304800" lvl="0" marL="457200" rtl="0" algn="l">
              <a:lnSpc>
                <a:spcPct val="115000"/>
              </a:lnSpc>
              <a:spcBef>
                <a:spcPts val="1000"/>
              </a:spcBef>
              <a:spcAft>
                <a:spcPts val="0"/>
              </a:spcAft>
              <a:buSzPts val="1200"/>
              <a:buChar char="●"/>
            </a:pPr>
            <a:r>
              <a:rPr lang="en" sz="1200"/>
              <a:t>Is there a path from </a:t>
            </a:r>
            <a:r>
              <a:rPr b="1" i="1" lang="en" sz="1200">
                <a:solidFill>
                  <a:srgbClr val="FF0000"/>
                </a:solidFill>
              </a:rPr>
              <a:t>A to G</a:t>
            </a:r>
            <a:r>
              <a:rPr lang="en" sz="1200"/>
              <a:t> in the example graph to the right?</a:t>
            </a:r>
            <a:endParaRPr sz="1200"/>
          </a:p>
          <a:p>
            <a:pPr indent="-304800" lvl="0" marL="457200" rtl="0" algn="l">
              <a:lnSpc>
                <a:spcPct val="115000"/>
              </a:lnSpc>
              <a:spcBef>
                <a:spcPts val="1000"/>
              </a:spcBef>
              <a:spcAft>
                <a:spcPts val="0"/>
              </a:spcAft>
              <a:buSzPts val="1200"/>
              <a:buChar char="●"/>
            </a:pPr>
            <a:r>
              <a:rPr lang="en" sz="1200"/>
              <a:t>Of course there is! You can see that there are actually multiple possible paths, e.g.</a:t>
            </a:r>
            <a:endParaRPr sz="1200"/>
          </a:p>
          <a:p>
            <a:pPr indent="-292100" lvl="1" marL="914400" rtl="0" algn="l">
              <a:lnSpc>
                <a:spcPct val="115000"/>
              </a:lnSpc>
              <a:spcBef>
                <a:spcPts val="0"/>
              </a:spcBef>
              <a:spcAft>
                <a:spcPts val="0"/>
              </a:spcAft>
              <a:buSzPts val="1000"/>
              <a:buChar char="○"/>
            </a:pPr>
            <a:r>
              <a:rPr b="1" i="1" lang="en" sz="1000">
                <a:solidFill>
                  <a:srgbClr val="FF0000"/>
                </a:solidFill>
              </a:rPr>
              <a:t>A C D F G</a:t>
            </a:r>
            <a:endParaRPr b="1" i="1" sz="1000">
              <a:solidFill>
                <a:srgbClr val="FF0000"/>
              </a:solidFill>
            </a:endParaRPr>
          </a:p>
          <a:p>
            <a:pPr indent="-292100" lvl="1" marL="914400" rtl="0" algn="l">
              <a:lnSpc>
                <a:spcPct val="115000"/>
              </a:lnSpc>
              <a:spcBef>
                <a:spcPts val="0"/>
              </a:spcBef>
              <a:spcAft>
                <a:spcPts val="0"/>
              </a:spcAft>
              <a:buSzPts val="1000"/>
              <a:buChar char="○"/>
            </a:pPr>
            <a:r>
              <a:rPr b="1" i="1" lang="en" sz="1000">
                <a:solidFill>
                  <a:srgbClr val="FF0000"/>
                </a:solidFill>
              </a:rPr>
              <a:t>A B E C D F G</a:t>
            </a:r>
            <a:endParaRPr b="1" i="1" sz="1000">
              <a:solidFill>
                <a:srgbClr val="FF0000"/>
              </a:solidFill>
            </a:endParaRPr>
          </a:p>
          <a:p>
            <a:pPr indent="-304800" lvl="0" marL="457200" rtl="0" algn="l">
              <a:lnSpc>
                <a:spcPct val="115000"/>
              </a:lnSpc>
              <a:spcBef>
                <a:spcPts val="1000"/>
              </a:spcBef>
              <a:spcAft>
                <a:spcPts val="0"/>
              </a:spcAft>
              <a:buSzPts val="1200"/>
              <a:buChar char="●"/>
            </a:pPr>
            <a:r>
              <a:rPr lang="en" sz="1200"/>
              <a:t>You can also state with certainty that there is </a:t>
            </a:r>
            <a:r>
              <a:rPr b="1" i="1" lang="en" sz="1200">
                <a:solidFill>
                  <a:srgbClr val="FF0000"/>
                </a:solidFill>
              </a:rPr>
              <a:t>no path</a:t>
            </a:r>
            <a:r>
              <a:rPr lang="en" sz="1200"/>
              <a:t> from </a:t>
            </a:r>
            <a:r>
              <a:rPr b="1" i="1" lang="en" sz="1200">
                <a:solidFill>
                  <a:srgbClr val="FF0000"/>
                </a:solidFill>
              </a:rPr>
              <a:t>A to K</a:t>
            </a:r>
            <a:r>
              <a:rPr lang="en" sz="1200"/>
              <a:t>.</a:t>
            </a:r>
            <a:endParaRPr sz="1200"/>
          </a:p>
          <a:p>
            <a:pPr indent="-304800" lvl="0" marL="457200" rtl="0" algn="l">
              <a:lnSpc>
                <a:spcPct val="115000"/>
              </a:lnSpc>
              <a:spcBef>
                <a:spcPts val="1000"/>
              </a:spcBef>
              <a:spcAft>
                <a:spcPts val="0"/>
              </a:spcAft>
              <a:buSzPts val="1200"/>
              <a:buChar char="●"/>
            </a:pPr>
            <a:r>
              <a:rPr lang="en" sz="1200"/>
              <a:t>This is easy when the graph is </a:t>
            </a:r>
            <a:r>
              <a:rPr b="1" i="1" lang="en" sz="1200">
                <a:solidFill>
                  <a:srgbClr val="FF0000"/>
                </a:solidFill>
              </a:rPr>
              <a:t>small</a:t>
            </a:r>
            <a:r>
              <a:rPr lang="en" sz="1200">
                <a:solidFill>
                  <a:srgbClr val="FF0000"/>
                </a:solidFill>
              </a:rPr>
              <a:t> </a:t>
            </a:r>
            <a:r>
              <a:rPr lang="en" sz="1200"/>
              <a:t>and you have the ability to look at the</a:t>
            </a:r>
            <a:r>
              <a:rPr lang="en" sz="1200">
                <a:solidFill>
                  <a:srgbClr val="FF0000"/>
                </a:solidFill>
              </a:rPr>
              <a:t> </a:t>
            </a:r>
            <a:r>
              <a:rPr b="1" i="1" lang="en" sz="1200">
                <a:solidFill>
                  <a:srgbClr val="FF0000"/>
                </a:solidFill>
              </a:rPr>
              <a:t>entire graph</a:t>
            </a:r>
            <a:r>
              <a:rPr lang="en" sz="1200">
                <a:solidFill>
                  <a:srgbClr val="FF0000"/>
                </a:solidFill>
              </a:rPr>
              <a:t> </a:t>
            </a:r>
            <a:r>
              <a:rPr lang="en" sz="1200"/>
              <a:t>all at once.</a:t>
            </a:r>
            <a:endParaRPr sz="1200"/>
          </a:p>
          <a:p>
            <a:pPr indent="-304800" lvl="0" marL="457200" rtl="0" algn="l">
              <a:lnSpc>
                <a:spcPct val="115000"/>
              </a:lnSpc>
              <a:spcBef>
                <a:spcPts val="1000"/>
              </a:spcBef>
              <a:spcAft>
                <a:spcPts val="0"/>
              </a:spcAft>
              <a:buSzPts val="1200"/>
              <a:buChar char="●"/>
            </a:pPr>
            <a:r>
              <a:rPr lang="en" sz="1200"/>
              <a:t>But how would a </a:t>
            </a:r>
            <a:r>
              <a:rPr b="1" i="1" lang="en" sz="1200">
                <a:solidFill>
                  <a:srgbClr val="FF0000"/>
                </a:solidFill>
              </a:rPr>
              <a:t>computer </a:t>
            </a:r>
            <a:r>
              <a:rPr lang="en" sz="1200"/>
              <a:t>determine whether or not a path exists?</a:t>
            </a:r>
            <a:endParaRPr sz="1200"/>
          </a:p>
        </p:txBody>
      </p:sp>
      <p:sp>
        <p:nvSpPr>
          <p:cNvPr id="1122" name="Google Shape;1122;p57"/>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1123" name="Google Shape;1123;p57"/>
          <p:cNvSpPr txBox="1"/>
          <p:nvPr>
            <p:ph type="title"/>
          </p:nvPr>
        </p:nvSpPr>
        <p:spPr>
          <a:xfrm>
            <a:off x="52647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Simple Example</a:t>
            </a:r>
            <a:endParaRPr/>
          </a:p>
        </p:txBody>
      </p:sp>
      <p:sp>
        <p:nvSpPr>
          <p:cNvPr id="1124" name="Google Shape;1124;p57"/>
          <p:cNvSpPr txBox="1"/>
          <p:nvPr>
            <p:ph idx="3" type="body"/>
          </p:nvPr>
        </p:nvSpPr>
        <p:spPr>
          <a:xfrm>
            <a:off x="5192225" y="4350350"/>
            <a:ext cx="3706500" cy="54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Throughout this course we will examine </a:t>
            </a:r>
            <a:r>
              <a:rPr b="1" i="1" lang="en">
                <a:solidFill>
                  <a:srgbClr val="FF0000"/>
                </a:solidFill>
              </a:rPr>
              <a:t>three</a:t>
            </a:r>
            <a:r>
              <a:rPr lang="en">
                <a:solidFill>
                  <a:srgbClr val="FF0000"/>
                </a:solidFill>
              </a:rPr>
              <a:t> </a:t>
            </a:r>
            <a:r>
              <a:rPr lang="en"/>
              <a:t>different path finding </a:t>
            </a:r>
            <a:r>
              <a:rPr b="1" i="1" lang="en">
                <a:solidFill>
                  <a:srgbClr val="FF0000"/>
                </a:solidFill>
              </a:rPr>
              <a:t>algorithms</a:t>
            </a:r>
            <a:r>
              <a:rPr lang="en"/>
              <a:t>.</a:t>
            </a:r>
            <a:endParaRPr/>
          </a:p>
        </p:txBody>
      </p:sp>
      <p:cxnSp>
        <p:nvCxnSpPr>
          <p:cNvPr id="1125" name="Google Shape;1125;p57"/>
          <p:cNvCxnSpPr>
            <a:stCxn id="1126" idx="6"/>
            <a:endCxn id="1127" idx="1"/>
          </p:cNvCxnSpPr>
          <p:nvPr/>
        </p:nvCxnSpPr>
        <p:spPr>
          <a:xfrm>
            <a:off x="6137138" y="962170"/>
            <a:ext cx="582000" cy="115800"/>
          </a:xfrm>
          <a:prstGeom prst="straightConnector1">
            <a:avLst/>
          </a:prstGeom>
          <a:noFill/>
          <a:ln cap="flat" cmpd="sng" w="19050">
            <a:solidFill>
              <a:srgbClr val="FFFFFF"/>
            </a:solidFill>
            <a:prstDash val="solid"/>
            <a:round/>
            <a:headEnd len="sm" w="sm" type="none"/>
            <a:tailEnd len="sm" w="sm" type="none"/>
          </a:ln>
        </p:spPr>
      </p:cxnSp>
      <p:cxnSp>
        <p:nvCxnSpPr>
          <p:cNvPr id="1128" name="Google Shape;1128;p57"/>
          <p:cNvCxnSpPr>
            <a:stCxn id="1126" idx="4"/>
            <a:endCxn id="1129" idx="0"/>
          </p:cNvCxnSpPr>
          <p:nvPr/>
        </p:nvCxnSpPr>
        <p:spPr>
          <a:xfrm flipH="1">
            <a:off x="5774438" y="1180570"/>
            <a:ext cx="144300" cy="589500"/>
          </a:xfrm>
          <a:prstGeom prst="straightConnector1">
            <a:avLst/>
          </a:prstGeom>
          <a:noFill/>
          <a:ln cap="flat" cmpd="sng" w="19050">
            <a:solidFill>
              <a:srgbClr val="FFFFFF"/>
            </a:solidFill>
            <a:prstDash val="solid"/>
            <a:round/>
            <a:headEnd len="sm" w="sm" type="none"/>
            <a:tailEnd len="sm" w="sm" type="none"/>
          </a:ln>
        </p:spPr>
      </p:cxnSp>
      <p:cxnSp>
        <p:nvCxnSpPr>
          <p:cNvPr id="1130" name="Google Shape;1130;p57"/>
          <p:cNvCxnSpPr>
            <a:stCxn id="1127" idx="5"/>
            <a:endCxn id="1131" idx="1"/>
          </p:cNvCxnSpPr>
          <p:nvPr/>
        </p:nvCxnSpPr>
        <p:spPr>
          <a:xfrm>
            <a:off x="7028045" y="1386777"/>
            <a:ext cx="405900" cy="567900"/>
          </a:xfrm>
          <a:prstGeom prst="straightConnector1">
            <a:avLst/>
          </a:prstGeom>
          <a:noFill/>
          <a:ln cap="flat" cmpd="sng" w="19050">
            <a:solidFill>
              <a:srgbClr val="FFFFFF"/>
            </a:solidFill>
            <a:prstDash val="solid"/>
            <a:round/>
            <a:headEnd len="sm" w="sm" type="none"/>
            <a:tailEnd len="sm" w="sm" type="none"/>
          </a:ln>
        </p:spPr>
      </p:cxnSp>
      <p:cxnSp>
        <p:nvCxnSpPr>
          <p:cNvPr id="1132" name="Google Shape;1132;p57"/>
          <p:cNvCxnSpPr>
            <a:stCxn id="1129" idx="6"/>
            <a:endCxn id="1131" idx="2"/>
          </p:cNvCxnSpPr>
          <p:nvPr/>
        </p:nvCxnSpPr>
        <p:spPr>
          <a:xfrm>
            <a:off x="5992813" y="1988445"/>
            <a:ext cx="1377300" cy="120600"/>
          </a:xfrm>
          <a:prstGeom prst="straightConnector1">
            <a:avLst/>
          </a:prstGeom>
          <a:noFill/>
          <a:ln cap="flat" cmpd="sng" w="19050">
            <a:solidFill>
              <a:srgbClr val="FFFFFF"/>
            </a:solidFill>
            <a:prstDash val="solid"/>
            <a:round/>
            <a:headEnd len="sm" w="sm" type="none"/>
            <a:tailEnd len="sm" w="sm" type="none"/>
          </a:ln>
        </p:spPr>
      </p:cxnSp>
      <p:cxnSp>
        <p:nvCxnSpPr>
          <p:cNvPr id="1133" name="Google Shape;1133;p57"/>
          <p:cNvCxnSpPr>
            <a:stCxn id="1127" idx="3"/>
            <a:endCxn id="1134" idx="0"/>
          </p:cNvCxnSpPr>
          <p:nvPr/>
        </p:nvCxnSpPr>
        <p:spPr>
          <a:xfrm flipH="1">
            <a:off x="6604281" y="1386777"/>
            <a:ext cx="114900" cy="1154100"/>
          </a:xfrm>
          <a:prstGeom prst="straightConnector1">
            <a:avLst/>
          </a:prstGeom>
          <a:noFill/>
          <a:ln cap="flat" cmpd="sng" w="19050">
            <a:solidFill>
              <a:srgbClr val="FFFFFF"/>
            </a:solidFill>
            <a:prstDash val="solid"/>
            <a:round/>
            <a:headEnd len="sm" w="sm" type="none"/>
            <a:tailEnd len="sm" w="sm" type="none"/>
          </a:ln>
        </p:spPr>
      </p:cxnSp>
      <p:cxnSp>
        <p:nvCxnSpPr>
          <p:cNvPr id="1135" name="Google Shape;1135;p57"/>
          <p:cNvCxnSpPr>
            <a:stCxn id="1129" idx="5"/>
            <a:endCxn id="1134" idx="1"/>
          </p:cNvCxnSpPr>
          <p:nvPr/>
        </p:nvCxnSpPr>
        <p:spPr>
          <a:xfrm>
            <a:off x="5928845" y="2142877"/>
            <a:ext cx="520800" cy="462000"/>
          </a:xfrm>
          <a:prstGeom prst="straightConnector1">
            <a:avLst/>
          </a:prstGeom>
          <a:noFill/>
          <a:ln cap="flat" cmpd="sng" w="19050">
            <a:solidFill>
              <a:srgbClr val="FFFFFF"/>
            </a:solidFill>
            <a:prstDash val="solid"/>
            <a:round/>
            <a:headEnd len="sm" w="sm" type="none"/>
            <a:tailEnd len="sm" w="sm" type="none"/>
          </a:ln>
        </p:spPr>
      </p:cxnSp>
      <p:cxnSp>
        <p:nvCxnSpPr>
          <p:cNvPr id="1136" name="Google Shape;1136;p57"/>
          <p:cNvCxnSpPr>
            <a:stCxn id="1134" idx="5"/>
            <a:endCxn id="1137" idx="2"/>
          </p:cNvCxnSpPr>
          <p:nvPr/>
        </p:nvCxnSpPr>
        <p:spPr>
          <a:xfrm>
            <a:off x="6758570" y="2913702"/>
            <a:ext cx="653400" cy="179700"/>
          </a:xfrm>
          <a:prstGeom prst="straightConnector1">
            <a:avLst/>
          </a:prstGeom>
          <a:noFill/>
          <a:ln cap="flat" cmpd="sng" w="19050">
            <a:solidFill>
              <a:srgbClr val="FFFFFF"/>
            </a:solidFill>
            <a:prstDash val="solid"/>
            <a:round/>
            <a:headEnd len="sm" w="sm" type="none"/>
            <a:tailEnd len="sm" w="sm" type="none"/>
          </a:ln>
        </p:spPr>
      </p:cxnSp>
      <p:cxnSp>
        <p:nvCxnSpPr>
          <p:cNvPr id="1138" name="Google Shape;1138;p57"/>
          <p:cNvCxnSpPr>
            <a:stCxn id="1131" idx="4"/>
            <a:endCxn id="1137" idx="0"/>
          </p:cNvCxnSpPr>
          <p:nvPr/>
        </p:nvCxnSpPr>
        <p:spPr>
          <a:xfrm>
            <a:off x="7588488" y="2327570"/>
            <a:ext cx="42000" cy="547500"/>
          </a:xfrm>
          <a:prstGeom prst="straightConnector1">
            <a:avLst/>
          </a:prstGeom>
          <a:noFill/>
          <a:ln cap="flat" cmpd="sng" w="19050">
            <a:solidFill>
              <a:srgbClr val="FFFFFF"/>
            </a:solidFill>
            <a:prstDash val="solid"/>
            <a:round/>
            <a:headEnd len="sm" w="sm" type="none"/>
            <a:tailEnd len="sm" w="sm" type="none"/>
          </a:ln>
        </p:spPr>
      </p:cxnSp>
      <p:cxnSp>
        <p:nvCxnSpPr>
          <p:cNvPr id="1139" name="Google Shape;1139;p57"/>
          <p:cNvCxnSpPr>
            <a:stCxn id="1137" idx="5"/>
            <a:endCxn id="1140" idx="1"/>
          </p:cNvCxnSpPr>
          <p:nvPr/>
        </p:nvCxnSpPr>
        <p:spPr>
          <a:xfrm>
            <a:off x="7784870" y="3247952"/>
            <a:ext cx="263100" cy="305100"/>
          </a:xfrm>
          <a:prstGeom prst="straightConnector1">
            <a:avLst/>
          </a:prstGeom>
          <a:noFill/>
          <a:ln cap="flat" cmpd="sng" w="19050">
            <a:solidFill>
              <a:srgbClr val="FFFFFF"/>
            </a:solidFill>
            <a:prstDash val="solid"/>
            <a:round/>
            <a:headEnd len="sm" w="sm" type="none"/>
            <a:tailEnd len="sm" w="sm" type="none"/>
          </a:ln>
        </p:spPr>
      </p:cxnSp>
      <p:cxnSp>
        <p:nvCxnSpPr>
          <p:cNvPr id="1141" name="Google Shape;1141;p57"/>
          <p:cNvCxnSpPr>
            <a:stCxn id="1127" idx="6"/>
            <a:endCxn id="1142" idx="2"/>
          </p:cNvCxnSpPr>
          <p:nvPr/>
        </p:nvCxnSpPr>
        <p:spPr>
          <a:xfrm>
            <a:off x="7092013" y="1232345"/>
            <a:ext cx="530700" cy="0"/>
          </a:xfrm>
          <a:prstGeom prst="straightConnector1">
            <a:avLst/>
          </a:prstGeom>
          <a:noFill/>
          <a:ln cap="flat" cmpd="sng" w="19050">
            <a:solidFill>
              <a:srgbClr val="FFFFFF"/>
            </a:solidFill>
            <a:prstDash val="solid"/>
            <a:round/>
            <a:headEnd len="sm" w="sm" type="none"/>
            <a:tailEnd len="sm" w="sm" type="none"/>
          </a:ln>
        </p:spPr>
      </p:cxnSp>
      <p:cxnSp>
        <p:nvCxnSpPr>
          <p:cNvPr id="1143" name="Google Shape;1143;p57"/>
          <p:cNvCxnSpPr>
            <a:stCxn id="1144" idx="4"/>
            <a:endCxn id="1145" idx="0"/>
          </p:cNvCxnSpPr>
          <p:nvPr/>
        </p:nvCxnSpPr>
        <p:spPr>
          <a:xfrm flipH="1">
            <a:off x="5846738" y="3456320"/>
            <a:ext cx="146100" cy="258600"/>
          </a:xfrm>
          <a:prstGeom prst="straightConnector1">
            <a:avLst/>
          </a:prstGeom>
          <a:noFill/>
          <a:ln cap="flat" cmpd="sng" w="19050">
            <a:solidFill>
              <a:srgbClr val="FFFFFF"/>
            </a:solidFill>
            <a:prstDash val="solid"/>
            <a:round/>
            <a:headEnd len="sm" w="sm" type="none"/>
            <a:tailEnd len="sm" w="sm" type="none"/>
          </a:ln>
        </p:spPr>
      </p:cxnSp>
      <p:cxnSp>
        <p:nvCxnSpPr>
          <p:cNvPr id="1146" name="Google Shape;1146;p57"/>
          <p:cNvCxnSpPr>
            <a:stCxn id="1145" idx="6"/>
            <a:endCxn id="1147" idx="3"/>
          </p:cNvCxnSpPr>
          <p:nvPr/>
        </p:nvCxnSpPr>
        <p:spPr>
          <a:xfrm flipH="1" rot="10800000">
            <a:off x="6064988" y="3861870"/>
            <a:ext cx="384600" cy="71400"/>
          </a:xfrm>
          <a:prstGeom prst="straightConnector1">
            <a:avLst/>
          </a:prstGeom>
          <a:noFill/>
          <a:ln cap="flat" cmpd="sng" w="19050">
            <a:solidFill>
              <a:srgbClr val="FFFFFF"/>
            </a:solidFill>
            <a:prstDash val="solid"/>
            <a:round/>
            <a:headEnd len="sm" w="sm" type="none"/>
            <a:tailEnd len="sm" w="sm" type="none"/>
          </a:ln>
        </p:spPr>
      </p:cxnSp>
      <p:cxnSp>
        <p:nvCxnSpPr>
          <p:cNvPr id="1148" name="Google Shape;1148;p57"/>
          <p:cNvCxnSpPr>
            <a:stCxn id="1144" idx="5"/>
            <a:endCxn id="1147" idx="1"/>
          </p:cNvCxnSpPr>
          <p:nvPr/>
        </p:nvCxnSpPr>
        <p:spPr>
          <a:xfrm>
            <a:off x="6147270" y="3392352"/>
            <a:ext cx="302400" cy="160800"/>
          </a:xfrm>
          <a:prstGeom prst="straightConnector1">
            <a:avLst/>
          </a:prstGeom>
          <a:noFill/>
          <a:ln cap="flat" cmpd="sng" w="19050">
            <a:solidFill>
              <a:srgbClr val="FFFFFF"/>
            </a:solidFill>
            <a:prstDash val="solid"/>
            <a:round/>
            <a:headEnd len="sm" w="sm" type="none"/>
            <a:tailEnd len="sm" w="sm" type="none"/>
          </a:ln>
        </p:spPr>
      </p:cxnSp>
      <p:sp>
        <p:nvSpPr>
          <p:cNvPr id="1126" name="Google Shape;1126;p57"/>
          <p:cNvSpPr/>
          <p:nvPr/>
        </p:nvSpPr>
        <p:spPr>
          <a:xfrm>
            <a:off x="5700338" y="7437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1127" name="Google Shape;1127;p57"/>
          <p:cNvSpPr/>
          <p:nvPr/>
        </p:nvSpPr>
        <p:spPr>
          <a:xfrm>
            <a:off x="6655213" y="10139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129" name="Google Shape;1129;p57"/>
          <p:cNvSpPr/>
          <p:nvPr/>
        </p:nvSpPr>
        <p:spPr>
          <a:xfrm>
            <a:off x="5556013" y="17700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1134" name="Google Shape;1134;p57"/>
          <p:cNvSpPr/>
          <p:nvPr/>
        </p:nvSpPr>
        <p:spPr>
          <a:xfrm>
            <a:off x="6385738" y="25408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131" name="Google Shape;1131;p57"/>
          <p:cNvSpPr/>
          <p:nvPr/>
        </p:nvSpPr>
        <p:spPr>
          <a:xfrm>
            <a:off x="7370088" y="18907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D</a:t>
            </a:r>
            <a:endParaRPr b="0" i="0" sz="1400" u="none" cap="none" strike="noStrike">
              <a:solidFill>
                <a:srgbClr val="FFFFFF"/>
              </a:solidFill>
              <a:latin typeface="Arial"/>
              <a:ea typeface="Arial"/>
              <a:cs typeface="Arial"/>
              <a:sym typeface="Arial"/>
            </a:endParaRPr>
          </a:p>
        </p:txBody>
      </p:sp>
      <p:sp>
        <p:nvSpPr>
          <p:cNvPr id="1137" name="Google Shape;1137;p57"/>
          <p:cNvSpPr/>
          <p:nvPr/>
        </p:nvSpPr>
        <p:spPr>
          <a:xfrm>
            <a:off x="7412038" y="287512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140" name="Google Shape;1140;p57"/>
          <p:cNvSpPr/>
          <p:nvPr/>
        </p:nvSpPr>
        <p:spPr>
          <a:xfrm>
            <a:off x="7984113" y="34891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142" name="Google Shape;1142;p57"/>
          <p:cNvSpPr/>
          <p:nvPr/>
        </p:nvSpPr>
        <p:spPr>
          <a:xfrm>
            <a:off x="7622851" y="10139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sp>
        <p:nvSpPr>
          <p:cNvPr id="1147" name="Google Shape;1147;p57"/>
          <p:cNvSpPr/>
          <p:nvPr/>
        </p:nvSpPr>
        <p:spPr>
          <a:xfrm>
            <a:off x="6385738" y="34891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a:t>
            </a:r>
            <a:endParaRPr b="0" i="0" sz="1400" u="none" cap="none" strike="noStrike">
              <a:solidFill>
                <a:srgbClr val="FFFFFF"/>
              </a:solidFill>
              <a:latin typeface="Arial"/>
              <a:ea typeface="Arial"/>
              <a:cs typeface="Arial"/>
              <a:sym typeface="Arial"/>
            </a:endParaRPr>
          </a:p>
        </p:txBody>
      </p:sp>
      <p:sp>
        <p:nvSpPr>
          <p:cNvPr id="1144" name="Google Shape;1144;p57"/>
          <p:cNvSpPr/>
          <p:nvPr/>
        </p:nvSpPr>
        <p:spPr>
          <a:xfrm>
            <a:off x="5774438" y="301952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J</a:t>
            </a:r>
            <a:endParaRPr b="0" i="0" sz="1400" u="none" cap="none" strike="noStrike">
              <a:solidFill>
                <a:srgbClr val="FFFFFF"/>
              </a:solidFill>
              <a:latin typeface="Arial"/>
              <a:ea typeface="Arial"/>
              <a:cs typeface="Arial"/>
              <a:sym typeface="Arial"/>
            </a:endParaRPr>
          </a:p>
        </p:txBody>
      </p:sp>
      <p:sp>
        <p:nvSpPr>
          <p:cNvPr id="1145" name="Google Shape;1145;p57"/>
          <p:cNvSpPr/>
          <p:nvPr/>
        </p:nvSpPr>
        <p:spPr>
          <a:xfrm>
            <a:off x="5628188" y="37148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K</a:t>
            </a:r>
            <a:endParaRPr b="0" i="0" sz="14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1">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24"/>
                                        </p:tgtEl>
                                        <p:attrNameLst>
                                          <p:attrName>style.visibility</p:attrName>
                                        </p:attrNameLst>
                                      </p:cBhvr>
                                      <p:to>
                                        <p:strVal val="visible"/>
                                      </p:to>
                                    </p:set>
                                    <p:animEffect filter="fade" transition="in">
                                      <p:cBhvr>
                                        <p:cTn dur="1000"/>
                                        <p:tgtEl>
                                          <p:spTgt spid="112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2" name="Shape 1152"/>
        <p:cNvGrpSpPr/>
        <p:nvPr/>
      </p:nvGrpSpPr>
      <p:grpSpPr>
        <a:xfrm>
          <a:off x="0" y="0"/>
          <a:ext cx="0" cy="0"/>
          <a:chOff x="0" y="0"/>
          <a:chExt cx="0" cy="0"/>
        </a:xfrm>
      </p:grpSpPr>
      <p:sp>
        <p:nvSpPr>
          <p:cNvPr id="1153" name="Google Shape;1153;p58"/>
          <p:cNvSpPr txBox="1"/>
          <p:nvPr>
            <p:ph type="title"/>
          </p:nvPr>
        </p:nvSpPr>
        <p:spPr>
          <a:xfrm>
            <a:off x="311725" y="1961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Breadth-First Search</a:t>
            </a:r>
            <a:endParaRPr sz="2500"/>
          </a:p>
          <a:p>
            <a:pPr indent="0" lvl="0" marL="0" rtl="0" algn="l">
              <a:lnSpc>
                <a:spcPct val="100000"/>
              </a:lnSpc>
              <a:spcBef>
                <a:spcPts val="0"/>
              </a:spcBef>
              <a:spcAft>
                <a:spcPts val="0"/>
              </a:spcAft>
              <a:buSzPts val="2800"/>
              <a:buNone/>
            </a:pPr>
            <a:r>
              <a:rPr lang="en" sz="2300"/>
              <a:t>(BFS)</a:t>
            </a:r>
            <a:endParaRPr sz="2300"/>
          </a:p>
        </p:txBody>
      </p:sp>
      <p:sp>
        <p:nvSpPr>
          <p:cNvPr id="1154" name="Google Shape;1154;p58"/>
          <p:cNvSpPr txBox="1"/>
          <p:nvPr>
            <p:ph idx="1" type="body"/>
          </p:nvPr>
        </p:nvSpPr>
        <p:spPr>
          <a:xfrm>
            <a:off x="4492275" y="119925"/>
            <a:ext cx="4303200" cy="47526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Given some </a:t>
            </a:r>
            <a:r>
              <a:rPr b="1" i="1" lang="en">
                <a:solidFill>
                  <a:srgbClr val="FF0000"/>
                </a:solidFill>
              </a:rPr>
              <a:t>starting</a:t>
            </a:r>
            <a:r>
              <a:rPr lang="en">
                <a:solidFill>
                  <a:srgbClr val="FF0000"/>
                </a:solidFill>
              </a:rPr>
              <a:t> </a:t>
            </a:r>
            <a:r>
              <a:rPr lang="en"/>
              <a:t>vertex </a:t>
            </a:r>
            <a:r>
              <a:rPr b="1" i="1" lang="en">
                <a:solidFill>
                  <a:srgbClr val="FF0000"/>
                </a:solidFill>
              </a:rPr>
              <a:t>S</a:t>
            </a:r>
            <a:r>
              <a:rPr lang="en"/>
              <a:t> and an </a:t>
            </a:r>
            <a:r>
              <a:rPr b="1" i="1" lang="en">
                <a:solidFill>
                  <a:srgbClr val="FF0000"/>
                </a:solidFill>
              </a:rPr>
              <a:t>ending</a:t>
            </a:r>
            <a:r>
              <a:rPr lang="en">
                <a:solidFill>
                  <a:srgbClr val="FF0000"/>
                </a:solidFill>
              </a:rPr>
              <a:t> </a:t>
            </a:r>
            <a:r>
              <a:rPr lang="en"/>
              <a:t>vertex</a:t>
            </a:r>
            <a:r>
              <a:rPr lang="en">
                <a:solidFill>
                  <a:srgbClr val="FF0000"/>
                </a:solidFill>
              </a:rPr>
              <a:t> </a:t>
            </a:r>
            <a:r>
              <a:rPr b="1" i="1" lang="en">
                <a:solidFill>
                  <a:srgbClr val="FF0000"/>
                </a:solidFill>
              </a:rPr>
              <a:t>E</a:t>
            </a:r>
            <a:r>
              <a:rPr lang="en"/>
              <a:t>, we'd like to determine if a </a:t>
            </a:r>
            <a:r>
              <a:rPr b="1" i="1" lang="en">
                <a:solidFill>
                  <a:srgbClr val="FF0000"/>
                </a:solidFill>
              </a:rPr>
              <a:t>path exists</a:t>
            </a:r>
            <a:r>
              <a:rPr lang="en">
                <a:solidFill>
                  <a:srgbClr val="FF0000"/>
                </a:solidFill>
              </a:rPr>
              <a:t> </a:t>
            </a:r>
            <a:r>
              <a:rPr lang="en"/>
              <a:t>between </a:t>
            </a:r>
            <a:r>
              <a:rPr b="1" i="1" lang="en">
                <a:solidFill>
                  <a:srgbClr val="FF0000"/>
                </a:solidFill>
              </a:rPr>
              <a:t>S and E</a:t>
            </a:r>
            <a:r>
              <a:rPr lang="en"/>
              <a:t>.</a:t>
            </a:r>
            <a:endParaRPr/>
          </a:p>
          <a:p>
            <a:pPr indent="-311150" lvl="0" marL="457200" rtl="0" algn="l">
              <a:lnSpc>
                <a:spcPct val="115000"/>
              </a:lnSpc>
              <a:spcBef>
                <a:spcPts val="1000"/>
              </a:spcBef>
              <a:spcAft>
                <a:spcPts val="0"/>
              </a:spcAft>
              <a:buSzPts val="1300"/>
              <a:buChar char="●"/>
            </a:pPr>
            <a:r>
              <a:rPr lang="en"/>
              <a:t>One algorithm for doing this is called a </a:t>
            </a:r>
            <a:r>
              <a:rPr b="1" i="1" lang="en">
                <a:solidFill>
                  <a:srgbClr val="FF0000"/>
                </a:solidFill>
              </a:rPr>
              <a:t>breadth-first search</a:t>
            </a:r>
            <a:r>
              <a:rPr lang="en"/>
              <a:t> (</a:t>
            </a:r>
            <a:r>
              <a:rPr b="1" i="1" lang="en">
                <a:solidFill>
                  <a:srgbClr val="FF0000"/>
                </a:solidFill>
              </a:rPr>
              <a:t>BFS</a:t>
            </a:r>
            <a:r>
              <a:rPr lang="en"/>
              <a:t>) and it works like this:</a:t>
            </a:r>
            <a:endParaRPr/>
          </a:p>
          <a:p>
            <a:pPr indent="-298450" lvl="1" marL="914400" rtl="0" algn="l">
              <a:lnSpc>
                <a:spcPct val="115000"/>
              </a:lnSpc>
              <a:spcBef>
                <a:spcPts val="0"/>
              </a:spcBef>
              <a:spcAft>
                <a:spcPts val="0"/>
              </a:spcAft>
              <a:buSzPts val="1100"/>
              <a:buChar char="○"/>
            </a:pPr>
            <a:r>
              <a:rPr lang="en"/>
              <a:t>Create a </a:t>
            </a:r>
            <a:r>
              <a:rPr b="1" i="1" lang="en">
                <a:solidFill>
                  <a:srgbClr val="FF0000"/>
                </a:solidFill>
              </a:rPr>
              <a:t>queue</a:t>
            </a:r>
            <a:r>
              <a:rPr lang="en">
                <a:solidFill>
                  <a:srgbClr val="FF0000"/>
                </a:solidFill>
              </a:rPr>
              <a:t> </a:t>
            </a:r>
            <a:r>
              <a:rPr lang="en"/>
              <a:t>and add </a:t>
            </a:r>
            <a:r>
              <a:rPr b="1" i="1" lang="en">
                <a:solidFill>
                  <a:srgbClr val="FF0000"/>
                </a:solidFill>
              </a:rPr>
              <a:t>S</a:t>
            </a:r>
            <a:r>
              <a:rPr lang="en"/>
              <a:t> to the queue.</a:t>
            </a:r>
            <a:endParaRPr/>
          </a:p>
          <a:p>
            <a:pPr indent="-298450" lvl="1" marL="914400" rtl="0" algn="l">
              <a:lnSpc>
                <a:spcPct val="115000"/>
              </a:lnSpc>
              <a:spcBef>
                <a:spcPts val="0"/>
              </a:spcBef>
              <a:spcAft>
                <a:spcPts val="0"/>
              </a:spcAft>
              <a:buSzPts val="1100"/>
              <a:buChar char="○"/>
            </a:pPr>
            <a:r>
              <a:rPr lang="en"/>
              <a:t>As long as the queue is </a:t>
            </a:r>
            <a:r>
              <a:rPr b="1" i="1" lang="en">
                <a:solidFill>
                  <a:srgbClr val="FF0000"/>
                </a:solidFill>
              </a:rPr>
              <a:t>not empty</a:t>
            </a:r>
            <a:r>
              <a:rPr lang="en"/>
              <a:t>:</a:t>
            </a:r>
            <a:endParaRPr/>
          </a:p>
          <a:p>
            <a:pPr indent="-298450" lvl="2" marL="1371600" rtl="0" algn="l">
              <a:lnSpc>
                <a:spcPct val="115000"/>
              </a:lnSpc>
              <a:spcBef>
                <a:spcPts val="0"/>
              </a:spcBef>
              <a:spcAft>
                <a:spcPts val="0"/>
              </a:spcAft>
              <a:buSzPts val="1100"/>
              <a:buChar char="■"/>
            </a:pPr>
            <a:r>
              <a:rPr b="1" i="1" lang="en">
                <a:solidFill>
                  <a:srgbClr val="FF0000"/>
                </a:solidFill>
              </a:rPr>
              <a:t>Dequeue</a:t>
            </a:r>
            <a:r>
              <a:rPr lang="en">
                <a:solidFill>
                  <a:srgbClr val="FF0000"/>
                </a:solidFill>
              </a:rPr>
              <a:t> </a:t>
            </a:r>
            <a:r>
              <a:rPr lang="en"/>
              <a:t>the next vertex. Let's call it </a:t>
            </a:r>
            <a:r>
              <a:rPr b="1" i="1" lang="en">
                <a:solidFill>
                  <a:srgbClr val="FF0000"/>
                </a:solidFill>
              </a:rPr>
              <a:t>V</a:t>
            </a:r>
            <a:r>
              <a:rPr lang="en"/>
              <a:t>.</a:t>
            </a:r>
            <a:endParaRPr/>
          </a:p>
          <a:p>
            <a:pPr indent="-298450" lvl="2" marL="1371600" rtl="0" algn="l">
              <a:lnSpc>
                <a:spcPct val="115000"/>
              </a:lnSpc>
              <a:spcBef>
                <a:spcPts val="0"/>
              </a:spcBef>
              <a:spcAft>
                <a:spcPts val="0"/>
              </a:spcAft>
              <a:buSzPts val="1100"/>
              <a:buChar char="■"/>
            </a:pPr>
            <a:r>
              <a:rPr lang="en"/>
              <a:t>If </a:t>
            </a:r>
            <a:r>
              <a:rPr b="1" i="1" lang="en">
                <a:solidFill>
                  <a:srgbClr val="FF0000"/>
                </a:solidFill>
              </a:rPr>
              <a:t>V</a:t>
            </a:r>
            <a:r>
              <a:rPr lang="en"/>
              <a:t> is </a:t>
            </a:r>
            <a:r>
              <a:rPr b="1" i="1" lang="en">
                <a:solidFill>
                  <a:srgbClr val="FF0000"/>
                </a:solidFill>
              </a:rPr>
              <a:t>E</a:t>
            </a:r>
            <a:r>
              <a:rPr lang="en"/>
              <a:t>, you found a path to </a:t>
            </a:r>
            <a:r>
              <a:rPr b="1" i="1" lang="en">
                <a:solidFill>
                  <a:srgbClr val="FF0000"/>
                </a:solidFill>
              </a:rPr>
              <a:t>E</a:t>
            </a:r>
            <a:r>
              <a:rPr lang="en"/>
              <a:t>! </a:t>
            </a:r>
            <a:r>
              <a:rPr b="1" i="1" lang="en">
                <a:solidFill>
                  <a:srgbClr val="FF0000"/>
                </a:solidFill>
              </a:rPr>
              <a:t>Return </a:t>
            </a:r>
            <a:r>
              <a:rPr lang="en">
                <a:solidFill>
                  <a:srgbClr val="FF0000"/>
                </a:solidFill>
                <a:latin typeface="Courier New"/>
                <a:ea typeface="Courier New"/>
                <a:cs typeface="Courier New"/>
                <a:sym typeface="Courier New"/>
              </a:rPr>
              <a:t>true</a:t>
            </a:r>
            <a:r>
              <a:rPr lang="en"/>
              <a:t>!</a:t>
            </a:r>
            <a:endParaRPr/>
          </a:p>
          <a:p>
            <a:pPr indent="-298450" lvl="2" marL="1371600" rtl="0" algn="l">
              <a:lnSpc>
                <a:spcPct val="115000"/>
              </a:lnSpc>
              <a:spcBef>
                <a:spcPts val="0"/>
              </a:spcBef>
              <a:spcAft>
                <a:spcPts val="0"/>
              </a:spcAft>
              <a:buSzPts val="1100"/>
              <a:buChar char="■"/>
            </a:pPr>
            <a:r>
              <a:rPr lang="en"/>
              <a:t>If </a:t>
            </a:r>
            <a:r>
              <a:rPr b="1" i="1" lang="en">
                <a:solidFill>
                  <a:srgbClr val="FF0000"/>
                </a:solidFill>
              </a:rPr>
              <a:t>V is</a:t>
            </a:r>
            <a:r>
              <a:rPr lang="en"/>
              <a:t> </a:t>
            </a:r>
            <a:r>
              <a:rPr b="1" i="1" lang="en">
                <a:solidFill>
                  <a:srgbClr val="FF0000"/>
                </a:solidFill>
              </a:rPr>
              <a:t>not</a:t>
            </a:r>
            <a:r>
              <a:rPr lang="en">
                <a:solidFill>
                  <a:srgbClr val="FF0000"/>
                </a:solidFill>
              </a:rPr>
              <a:t> </a:t>
            </a:r>
            <a:r>
              <a:rPr b="1" i="1" lang="en">
                <a:solidFill>
                  <a:srgbClr val="FF0000"/>
                </a:solidFill>
              </a:rPr>
              <a:t>E</a:t>
            </a:r>
            <a:r>
              <a:rPr lang="en"/>
              <a:t>, then add each of </a:t>
            </a:r>
            <a:r>
              <a:rPr b="1" i="1" lang="en">
                <a:solidFill>
                  <a:srgbClr val="FF0000"/>
                </a:solidFill>
              </a:rPr>
              <a:t>V's neighbors</a:t>
            </a:r>
            <a:r>
              <a:rPr lang="en"/>
              <a:t> to the queue. </a:t>
            </a:r>
            <a:endParaRPr/>
          </a:p>
          <a:p>
            <a:pPr indent="-298450" lvl="1" marL="914400" rtl="0" algn="l">
              <a:lnSpc>
                <a:spcPct val="115000"/>
              </a:lnSpc>
              <a:spcBef>
                <a:spcPts val="0"/>
              </a:spcBef>
              <a:spcAft>
                <a:spcPts val="0"/>
              </a:spcAft>
              <a:buSzPts val="1100"/>
              <a:buChar char="○"/>
            </a:pPr>
            <a:r>
              <a:rPr lang="en"/>
              <a:t>If the queue is </a:t>
            </a:r>
            <a:r>
              <a:rPr b="1" i="1" lang="en">
                <a:solidFill>
                  <a:srgbClr val="FF0000"/>
                </a:solidFill>
              </a:rPr>
              <a:t>empty</a:t>
            </a:r>
            <a:r>
              <a:rPr lang="en"/>
              <a:t>, then there is no path from </a:t>
            </a:r>
            <a:r>
              <a:rPr b="1" i="1" lang="en">
                <a:solidFill>
                  <a:srgbClr val="FF0000"/>
                </a:solidFill>
              </a:rPr>
              <a:t>S to E</a:t>
            </a:r>
            <a:r>
              <a:rPr lang="en"/>
              <a:t>. If there were, one of </a:t>
            </a:r>
            <a:r>
              <a:rPr b="1" i="1" lang="en">
                <a:solidFill>
                  <a:srgbClr val="FF0000"/>
                </a:solidFill>
              </a:rPr>
              <a:t>E</a:t>
            </a:r>
            <a:r>
              <a:rPr lang="en"/>
              <a:t>'s neighbors would have added </a:t>
            </a:r>
            <a:r>
              <a:rPr b="1" i="1" lang="en">
                <a:solidFill>
                  <a:srgbClr val="FF0000"/>
                </a:solidFill>
              </a:rPr>
              <a:t>E</a:t>
            </a:r>
            <a:r>
              <a:rPr lang="en"/>
              <a:t> to the queue. </a:t>
            </a:r>
            <a:r>
              <a:rPr b="1" i="1" lang="en">
                <a:solidFill>
                  <a:srgbClr val="FF0000"/>
                </a:solidFill>
              </a:rPr>
              <a:t>Return</a:t>
            </a:r>
            <a:r>
              <a:rPr lang="en">
                <a:solidFill>
                  <a:srgbClr val="FF0000"/>
                </a:solidFill>
              </a:rPr>
              <a:t> </a:t>
            </a:r>
            <a:r>
              <a:rPr lang="en">
                <a:solidFill>
                  <a:srgbClr val="FF0000"/>
                </a:solidFill>
                <a:latin typeface="Courier New"/>
                <a:ea typeface="Courier New"/>
                <a:cs typeface="Courier New"/>
                <a:sym typeface="Courier New"/>
              </a:rPr>
              <a:t>false</a:t>
            </a:r>
            <a:r>
              <a:rPr lang="en"/>
              <a:t>.</a:t>
            </a:r>
            <a:endParaRPr/>
          </a:p>
          <a:p>
            <a:pPr indent="-311150" lvl="0" marL="457200" rtl="0" algn="l">
              <a:lnSpc>
                <a:spcPct val="115000"/>
              </a:lnSpc>
              <a:spcBef>
                <a:spcPts val="1000"/>
              </a:spcBef>
              <a:spcAft>
                <a:spcPts val="0"/>
              </a:spcAft>
              <a:buSzPts val="1300"/>
              <a:buChar char="●"/>
            </a:pPr>
            <a:r>
              <a:rPr lang="en"/>
              <a:t>Let's try finding a path from </a:t>
            </a:r>
            <a:r>
              <a:rPr b="1" i="1" lang="en">
                <a:solidFill>
                  <a:srgbClr val="FF0000"/>
                </a:solidFill>
              </a:rPr>
              <a:t>F to B</a:t>
            </a:r>
            <a:r>
              <a:rPr lang="en"/>
              <a:t> in the example graph to the right using </a:t>
            </a:r>
            <a:r>
              <a:rPr b="1" i="1" lang="en">
                <a:solidFill>
                  <a:srgbClr val="FF0000"/>
                </a:solidFill>
              </a:rPr>
              <a:t>BFS</a:t>
            </a:r>
            <a:r>
              <a:rPr lang="en"/>
              <a:t>.</a:t>
            </a:r>
            <a:endParaRPr/>
          </a:p>
          <a:p>
            <a:pPr indent="-298450" lvl="1" marL="914400" rtl="0" algn="l">
              <a:lnSpc>
                <a:spcPct val="115000"/>
              </a:lnSpc>
              <a:spcBef>
                <a:spcPts val="0"/>
              </a:spcBef>
              <a:spcAft>
                <a:spcPts val="0"/>
              </a:spcAft>
              <a:buSzPts val="1100"/>
              <a:buChar char="○"/>
            </a:pPr>
            <a:r>
              <a:rPr lang="en"/>
              <a:t>Begin by adding </a:t>
            </a:r>
            <a:r>
              <a:rPr b="1" i="1" lang="en">
                <a:solidFill>
                  <a:srgbClr val="FF0000"/>
                </a:solidFill>
              </a:rPr>
              <a:t>F</a:t>
            </a:r>
            <a:r>
              <a:rPr lang="en"/>
              <a:t> to a </a:t>
            </a:r>
            <a:r>
              <a:rPr b="1" i="1" lang="en">
                <a:solidFill>
                  <a:srgbClr val="FF0000"/>
                </a:solidFill>
              </a:rPr>
              <a:t>queue</a:t>
            </a:r>
            <a:r>
              <a:rPr lang="en"/>
              <a:t>.</a:t>
            </a:r>
            <a:endParaRPr/>
          </a:p>
          <a:p>
            <a:pPr indent="-298450" lvl="1" marL="914400" rtl="0" algn="l">
              <a:lnSpc>
                <a:spcPct val="115000"/>
              </a:lnSpc>
              <a:spcBef>
                <a:spcPts val="0"/>
              </a:spcBef>
              <a:spcAft>
                <a:spcPts val="0"/>
              </a:spcAft>
              <a:buSzPts val="1100"/>
              <a:buChar char="○"/>
            </a:pPr>
            <a:r>
              <a:rPr lang="en"/>
              <a:t>We'll </a:t>
            </a:r>
            <a:r>
              <a:rPr b="1" i="1" lang="en">
                <a:solidFill>
                  <a:srgbClr val="FF0000"/>
                </a:solidFill>
              </a:rPr>
              <a:t>cross out</a:t>
            </a:r>
            <a:r>
              <a:rPr lang="en"/>
              <a:t> each vertex as it is removed from the queue and </a:t>
            </a:r>
            <a:r>
              <a:rPr b="1" i="1" lang="en">
                <a:solidFill>
                  <a:srgbClr val="FF0000"/>
                </a:solidFill>
              </a:rPr>
              <a:t>add its neighbors</a:t>
            </a:r>
            <a:r>
              <a:rPr lang="en"/>
              <a:t> to the queue.</a:t>
            </a:r>
            <a:endParaRPr/>
          </a:p>
          <a:p>
            <a:pPr indent="-298450" lvl="1" marL="914400" rtl="0" algn="l">
              <a:lnSpc>
                <a:spcPct val="115000"/>
              </a:lnSpc>
              <a:spcBef>
                <a:spcPts val="0"/>
              </a:spcBef>
              <a:spcAft>
                <a:spcPts val="0"/>
              </a:spcAft>
              <a:buSzPts val="1100"/>
              <a:buChar char="○"/>
            </a:pPr>
            <a:r>
              <a:rPr lang="en"/>
              <a:t>The search ends when </a:t>
            </a:r>
            <a:r>
              <a:rPr b="1" i="1" lang="en">
                <a:solidFill>
                  <a:srgbClr val="FF0000"/>
                </a:solidFill>
              </a:rPr>
              <a:t>B</a:t>
            </a:r>
            <a:r>
              <a:rPr lang="en"/>
              <a:t> is found, or the queue is empty.</a:t>
            </a:r>
            <a:endParaRPr/>
          </a:p>
        </p:txBody>
      </p:sp>
      <p:sp>
        <p:nvSpPr>
          <p:cNvPr id="1155" name="Google Shape;1155;p5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pSp>
        <p:nvGrpSpPr>
          <p:cNvPr id="1156" name="Google Shape;1156;p58"/>
          <p:cNvGrpSpPr/>
          <p:nvPr/>
        </p:nvGrpSpPr>
        <p:grpSpPr>
          <a:xfrm>
            <a:off x="642477" y="972376"/>
            <a:ext cx="2727118" cy="2705047"/>
            <a:chOff x="5900277" y="743776"/>
            <a:chExt cx="2727118" cy="2705047"/>
          </a:xfrm>
        </p:grpSpPr>
        <p:sp>
          <p:nvSpPr>
            <p:cNvPr id="1157" name="Google Shape;1157;p58"/>
            <p:cNvSpPr/>
            <p:nvPr/>
          </p:nvSpPr>
          <p:spPr>
            <a:xfrm>
              <a:off x="6072743" y="743776"/>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158" name="Google Shape;1158;p58"/>
            <p:cNvSpPr/>
            <p:nvPr/>
          </p:nvSpPr>
          <p:spPr>
            <a:xfrm>
              <a:off x="7213995" y="106668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159" name="Google Shape;1159;p58"/>
            <p:cNvSpPr/>
            <p:nvPr/>
          </p:nvSpPr>
          <p:spPr>
            <a:xfrm>
              <a:off x="5900277" y="19409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160" name="Google Shape;1160;p58"/>
            <p:cNvSpPr/>
            <p:nvPr/>
          </p:nvSpPr>
          <p:spPr>
            <a:xfrm>
              <a:off x="7108281" y="2181542"/>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161" name="Google Shape;1161;p58"/>
            <p:cNvSpPr/>
            <p:nvPr/>
          </p:nvSpPr>
          <p:spPr>
            <a:xfrm>
              <a:off x="7936395" y="29268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162" name="Google Shape;1162;p58"/>
            <p:cNvCxnSpPr>
              <a:stCxn id="1157" idx="6"/>
              <a:endCxn id="1158" idx="1"/>
            </p:cNvCxnSpPr>
            <p:nvPr/>
          </p:nvCxnSpPr>
          <p:spPr>
            <a:xfrm>
              <a:off x="6594743" y="1004776"/>
              <a:ext cx="695700" cy="138300"/>
            </a:xfrm>
            <a:prstGeom prst="straightConnector1">
              <a:avLst/>
            </a:prstGeom>
            <a:noFill/>
            <a:ln cap="flat" cmpd="sng" w="19050">
              <a:solidFill>
                <a:srgbClr val="FFFFFF"/>
              </a:solidFill>
              <a:prstDash val="solid"/>
              <a:round/>
              <a:headEnd len="sm" w="sm" type="none"/>
              <a:tailEnd len="med" w="med" type="triangle"/>
            </a:ln>
          </p:spPr>
        </p:cxnSp>
        <p:cxnSp>
          <p:nvCxnSpPr>
            <p:cNvPr id="1163" name="Google Shape;1163;p58"/>
            <p:cNvCxnSpPr>
              <a:stCxn id="1157" idx="4"/>
              <a:endCxn id="1159" idx="0"/>
            </p:cNvCxnSpPr>
            <p:nvPr/>
          </p:nvCxnSpPr>
          <p:spPr>
            <a:xfrm flipH="1">
              <a:off x="6161243" y="1265776"/>
              <a:ext cx="172500" cy="675000"/>
            </a:xfrm>
            <a:prstGeom prst="straightConnector1">
              <a:avLst/>
            </a:prstGeom>
            <a:noFill/>
            <a:ln cap="flat" cmpd="sng" w="19050">
              <a:solidFill>
                <a:srgbClr val="FFFFFF"/>
              </a:solidFill>
              <a:prstDash val="solid"/>
              <a:round/>
              <a:headEnd len="sm" w="sm" type="none"/>
              <a:tailEnd len="med" w="med" type="triangle"/>
            </a:ln>
          </p:spPr>
        </p:cxnSp>
        <p:cxnSp>
          <p:nvCxnSpPr>
            <p:cNvPr id="1164" name="Google Shape;1164;p58"/>
            <p:cNvCxnSpPr>
              <a:stCxn id="1159" idx="5"/>
              <a:endCxn id="1160" idx="2"/>
            </p:cNvCxnSpPr>
            <p:nvPr/>
          </p:nvCxnSpPr>
          <p:spPr>
            <a:xfrm>
              <a:off x="6345832" y="2386478"/>
              <a:ext cx="762300" cy="56100"/>
            </a:xfrm>
            <a:prstGeom prst="straightConnector1">
              <a:avLst/>
            </a:prstGeom>
            <a:noFill/>
            <a:ln cap="flat" cmpd="sng" w="19050">
              <a:solidFill>
                <a:srgbClr val="FFFFFF"/>
              </a:solidFill>
              <a:prstDash val="solid"/>
              <a:round/>
              <a:headEnd len="sm" w="sm" type="none"/>
              <a:tailEnd len="med" w="med" type="triangle"/>
            </a:ln>
          </p:spPr>
        </p:cxnSp>
        <p:cxnSp>
          <p:nvCxnSpPr>
            <p:cNvPr id="1165" name="Google Shape;1165;p58"/>
            <p:cNvCxnSpPr>
              <a:stCxn id="1160" idx="5"/>
              <a:endCxn id="1161" idx="1"/>
            </p:cNvCxnSpPr>
            <p:nvPr/>
          </p:nvCxnSpPr>
          <p:spPr>
            <a:xfrm>
              <a:off x="7553836" y="2627097"/>
              <a:ext cx="459000" cy="376200"/>
            </a:xfrm>
            <a:prstGeom prst="straightConnector1">
              <a:avLst/>
            </a:prstGeom>
            <a:noFill/>
            <a:ln cap="flat" cmpd="sng" w="19050">
              <a:solidFill>
                <a:srgbClr val="FFFFFF"/>
              </a:solidFill>
              <a:prstDash val="solid"/>
              <a:round/>
              <a:headEnd len="sm" w="sm" type="none"/>
              <a:tailEnd len="med" w="med" type="triangle"/>
            </a:ln>
          </p:spPr>
        </p:cxnSp>
        <p:sp>
          <p:nvSpPr>
            <p:cNvPr id="1166" name="Google Shape;1166;p58"/>
            <p:cNvSpPr/>
            <p:nvPr/>
          </p:nvSpPr>
          <p:spPr>
            <a:xfrm>
              <a:off x="8105395" y="16736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167" name="Google Shape;1167;p58"/>
            <p:cNvCxnSpPr>
              <a:stCxn id="1160" idx="6"/>
              <a:endCxn id="1166" idx="3"/>
            </p:cNvCxnSpPr>
            <p:nvPr/>
          </p:nvCxnSpPr>
          <p:spPr>
            <a:xfrm flipH="1" rot="10800000">
              <a:off x="7630281" y="2119142"/>
              <a:ext cx="551700" cy="323400"/>
            </a:xfrm>
            <a:prstGeom prst="straightConnector1">
              <a:avLst/>
            </a:prstGeom>
            <a:noFill/>
            <a:ln cap="flat" cmpd="sng" w="19050">
              <a:solidFill>
                <a:srgbClr val="FFFFFF"/>
              </a:solidFill>
              <a:prstDash val="solid"/>
              <a:round/>
              <a:headEnd len="sm" w="sm" type="none"/>
              <a:tailEnd len="med" w="med" type="triangle"/>
            </a:ln>
          </p:spPr>
        </p:cxnSp>
      </p:grpSp>
      <p:graphicFrame>
        <p:nvGraphicFramePr>
          <p:cNvPr id="1168" name="Google Shape;1168;p58"/>
          <p:cNvGraphicFramePr/>
          <p:nvPr/>
        </p:nvGraphicFramePr>
        <p:xfrm>
          <a:off x="174075" y="3841675"/>
          <a:ext cx="3000000" cy="3000000"/>
        </p:xfrm>
        <a:graphic>
          <a:graphicData uri="http://schemas.openxmlformats.org/drawingml/2006/table">
            <a:tbl>
              <a:tblPr>
                <a:noFill/>
                <a:tableStyleId>{F61E8307-4E6B-4154-8BF4-D3231BAD3CED}</a:tableStyleId>
              </a:tblPr>
              <a:tblGrid>
                <a:gridCol w="807750"/>
                <a:gridCol w="415550"/>
                <a:gridCol w="415550"/>
                <a:gridCol w="415550"/>
                <a:gridCol w="415550"/>
                <a:gridCol w="415550"/>
                <a:gridCol w="415550"/>
              </a:tblGrid>
              <a:tr h="381000">
                <a:tc>
                  <a:txBody>
                    <a:bodyPr/>
                    <a:lstStyle/>
                    <a:p>
                      <a:pPr indent="0" lvl="0" marL="0" marR="0" rtl="0" algn="r">
                        <a:lnSpc>
                          <a:spcPct val="100000"/>
                        </a:lnSpc>
                        <a:spcBef>
                          <a:spcPts val="0"/>
                        </a:spcBef>
                        <a:spcAft>
                          <a:spcPts val="0"/>
                        </a:spcAft>
                        <a:buClr>
                          <a:srgbClr val="000000"/>
                        </a:buClr>
                        <a:buSzPts val="1400"/>
                        <a:buFont typeface="Arial"/>
                        <a:buNone/>
                      </a:pPr>
                      <a:r>
                        <a:rPr lang="en" sz="1400" u="none" cap="none" strike="noStrike">
                          <a:solidFill>
                            <a:srgbClr val="FFFFFF"/>
                          </a:solidFill>
                        </a:rPr>
                        <a:t>Queue</a:t>
                      </a:r>
                      <a:endParaRPr sz="1400" u="none" cap="none" strike="noStrike">
                        <a:solidFill>
                          <a:srgbClr val="FFFFFF"/>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169" name="Google Shape;1169;p58"/>
          <p:cNvSpPr txBox="1"/>
          <p:nvPr/>
        </p:nvSpPr>
        <p:spPr>
          <a:xfrm>
            <a:off x="972571"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0" name="Google Shape;1170;p58"/>
          <p:cNvSpPr txBox="1"/>
          <p:nvPr/>
        </p:nvSpPr>
        <p:spPr>
          <a:xfrm>
            <a:off x="1411435"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1" name="Google Shape;1171;p58"/>
          <p:cNvSpPr txBox="1"/>
          <p:nvPr/>
        </p:nvSpPr>
        <p:spPr>
          <a:xfrm>
            <a:off x="1824582"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2" name="Google Shape;1172;p58"/>
          <p:cNvSpPr txBox="1"/>
          <p:nvPr/>
        </p:nvSpPr>
        <p:spPr>
          <a:xfrm>
            <a:off x="2212011"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3" name="Google Shape;1173;p58"/>
          <p:cNvSpPr txBox="1"/>
          <p:nvPr/>
        </p:nvSpPr>
        <p:spPr>
          <a:xfrm>
            <a:off x="2643494"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4" name="Google Shape;1174;p58"/>
          <p:cNvSpPr txBox="1"/>
          <p:nvPr/>
        </p:nvSpPr>
        <p:spPr>
          <a:xfrm>
            <a:off x="3037353"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sp>
        <p:nvSpPr>
          <p:cNvPr id="1175" name="Google Shape;1175;p58"/>
          <p:cNvSpPr txBox="1"/>
          <p:nvPr/>
        </p:nvSpPr>
        <p:spPr>
          <a:xfrm>
            <a:off x="991859"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176" name="Google Shape;1176;p58"/>
          <p:cNvSpPr txBox="1"/>
          <p:nvPr/>
        </p:nvSpPr>
        <p:spPr>
          <a:xfrm>
            <a:off x="1385718"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177" name="Google Shape;1177;p58"/>
          <p:cNvSpPr txBox="1"/>
          <p:nvPr/>
        </p:nvSpPr>
        <p:spPr>
          <a:xfrm>
            <a:off x="1830059"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178" name="Google Shape;1178;p58"/>
          <p:cNvSpPr txBox="1"/>
          <p:nvPr/>
        </p:nvSpPr>
        <p:spPr>
          <a:xfrm>
            <a:off x="2230347"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179" name="Google Shape;1179;p58"/>
          <p:cNvSpPr/>
          <p:nvPr/>
        </p:nvSpPr>
        <p:spPr>
          <a:xfrm>
            <a:off x="2667287" y="3838625"/>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0" name="Google Shape;1180;p58"/>
          <p:cNvSpPr txBox="1"/>
          <p:nvPr>
            <p:ph idx="3" type="body"/>
          </p:nvPr>
        </p:nvSpPr>
        <p:spPr>
          <a:xfrm>
            <a:off x="222325" y="4402125"/>
            <a:ext cx="3706500" cy="54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In this example, vertex </a:t>
            </a:r>
            <a:r>
              <a:rPr b="1" i="1" lang="en">
                <a:solidFill>
                  <a:srgbClr val="FF0000"/>
                </a:solidFill>
              </a:rPr>
              <a:t>B</a:t>
            </a:r>
            <a:r>
              <a:rPr lang="en"/>
              <a:t> is found </a:t>
            </a:r>
            <a:r>
              <a:rPr b="1" i="1" lang="en">
                <a:solidFill>
                  <a:srgbClr val="FF0000"/>
                </a:solidFill>
              </a:rPr>
              <a:t>before</a:t>
            </a:r>
            <a:r>
              <a:rPr lang="en">
                <a:solidFill>
                  <a:srgbClr val="FF0000"/>
                </a:solidFill>
              </a:rPr>
              <a:t> </a:t>
            </a:r>
            <a:r>
              <a:rPr lang="en"/>
              <a:t>the queue is empty, and so we know that a path exists!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8"/>
                                        </p:tgtEl>
                                        <p:attrNameLst>
                                          <p:attrName>style.visibility</p:attrName>
                                        </p:attrNameLst>
                                      </p:cBhvr>
                                      <p:to>
                                        <p:strVal val="visible"/>
                                      </p:to>
                                    </p:set>
                                    <p:animEffect filter="fade" transition="in">
                                      <p:cBhvr>
                                        <p:cTn dur="1000"/>
                                        <p:tgtEl>
                                          <p:spTgt spid="11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5"/>
                                        </p:tgtEl>
                                        <p:attrNameLst>
                                          <p:attrName>style.visibility</p:attrName>
                                        </p:attrNameLst>
                                      </p:cBhvr>
                                      <p:to>
                                        <p:strVal val="visible"/>
                                      </p:to>
                                    </p:set>
                                    <p:animEffect filter="fade" transition="in">
                                      <p:cBhvr>
                                        <p:cTn dur="1000"/>
                                        <p:tgtEl>
                                          <p:spTgt spid="11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0"/>
                                        </p:tgtEl>
                                        <p:attrNameLst>
                                          <p:attrName>style.visibility</p:attrName>
                                        </p:attrNameLst>
                                      </p:cBhvr>
                                      <p:to>
                                        <p:strVal val="visible"/>
                                      </p:to>
                                    </p:set>
                                    <p:animEffect filter="fade" transition="in">
                                      <p:cBhvr>
                                        <p:cTn dur="1000"/>
                                        <p:tgtEl>
                                          <p:spTgt spid="117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71"/>
                                        </p:tgtEl>
                                        <p:attrNameLst>
                                          <p:attrName>style.visibility</p:attrName>
                                        </p:attrNameLst>
                                      </p:cBhvr>
                                      <p:to>
                                        <p:strVal val="visible"/>
                                      </p:to>
                                    </p:set>
                                    <p:animEffect filter="fade" transition="in">
                                      <p:cBhvr>
                                        <p:cTn dur="1000"/>
                                        <p:tgtEl>
                                          <p:spTgt spid="11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6"/>
                                        </p:tgtEl>
                                        <p:attrNameLst>
                                          <p:attrName>style.visibility</p:attrName>
                                        </p:attrNameLst>
                                      </p:cBhvr>
                                      <p:to>
                                        <p:strVal val="visible"/>
                                      </p:to>
                                    </p:set>
                                    <p:animEffect filter="fade" transition="in">
                                      <p:cBhvr>
                                        <p:cTn dur="1000"/>
                                        <p:tgtEl>
                                          <p:spTgt spid="11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2"/>
                                        </p:tgtEl>
                                        <p:attrNameLst>
                                          <p:attrName>style.visibility</p:attrName>
                                        </p:attrNameLst>
                                      </p:cBhvr>
                                      <p:to>
                                        <p:strVal val="visible"/>
                                      </p:to>
                                    </p:set>
                                    <p:animEffect filter="fade" transition="in">
                                      <p:cBhvr>
                                        <p:cTn dur="1000"/>
                                        <p:tgtEl>
                                          <p:spTgt spid="11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7"/>
                                        </p:tgtEl>
                                        <p:attrNameLst>
                                          <p:attrName>style.visibility</p:attrName>
                                        </p:attrNameLst>
                                      </p:cBhvr>
                                      <p:to>
                                        <p:strVal val="visible"/>
                                      </p:to>
                                    </p:set>
                                    <p:animEffect filter="fade" transition="in">
                                      <p:cBhvr>
                                        <p:cTn dur="1000"/>
                                        <p:tgtEl>
                                          <p:spTgt spid="11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73"/>
                                        </p:tgtEl>
                                        <p:attrNameLst>
                                          <p:attrName>style.visibility</p:attrName>
                                        </p:attrNameLst>
                                      </p:cBhvr>
                                      <p:to>
                                        <p:strVal val="visible"/>
                                      </p:to>
                                    </p:set>
                                    <p:animEffect filter="fade" transition="in">
                                      <p:cBhvr>
                                        <p:cTn dur="1000"/>
                                        <p:tgtEl>
                                          <p:spTgt spid="1173"/>
                                        </p:tgtEl>
                                      </p:cBhvr>
                                    </p:animEffect>
                                  </p:childTnLst>
                                </p:cTn>
                              </p:par>
                              <p:par>
                                <p:cTn fill="hold" nodeType="withEffect" presetClass="entr" presetID="10" presetSubtype="0">
                                  <p:stCondLst>
                                    <p:cond delay="0"/>
                                  </p:stCondLst>
                                  <p:childTnLst>
                                    <p:set>
                                      <p:cBhvr>
                                        <p:cTn dur="1" fill="hold">
                                          <p:stCondLst>
                                            <p:cond delay="0"/>
                                          </p:stCondLst>
                                        </p:cTn>
                                        <p:tgtEl>
                                          <p:spTgt spid="1174"/>
                                        </p:tgtEl>
                                        <p:attrNameLst>
                                          <p:attrName>style.visibility</p:attrName>
                                        </p:attrNameLst>
                                      </p:cBhvr>
                                      <p:to>
                                        <p:strVal val="visible"/>
                                      </p:to>
                                    </p:set>
                                    <p:animEffect filter="fade" transition="in">
                                      <p:cBhvr>
                                        <p:cTn dur="1000"/>
                                        <p:tgtEl>
                                          <p:spTgt spid="11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79"/>
                                        </p:tgtEl>
                                        <p:attrNameLst>
                                          <p:attrName>style.visibility</p:attrName>
                                        </p:attrNameLst>
                                      </p:cBhvr>
                                      <p:to>
                                        <p:strVal val="visible"/>
                                      </p:to>
                                    </p:set>
                                    <p:animEffect filter="fade" transition="in">
                                      <p:cBhvr>
                                        <p:cTn dur="1000"/>
                                        <p:tgtEl>
                                          <p:spTgt spid="11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1000"/>
                                        <p:tgtEl>
                                          <p:spTgt spid="11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4" name="Shape 1184"/>
        <p:cNvGrpSpPr/>
        <p:nvPr/>
      </p:nvGrpSpPr>
      <p:grpSpPr>
        <a:xfrm>
          <a:off x="0" y="0"/>
          <a:ext cx="0" cy="0"/>
          <a:chOff x="0" y="0"/>
          <a:chExt cx="0" cy="0"/>
        </a:xfrm>
      </p:grpSpPr>
      <p:sp>
        <p:nvSpPr>
          <p:cNvPr id="1185" name="Google Shape;1185;p59"/>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Search "On Paper"</a:t>
            </a:r>
            <a:endParaRPr/>
          </a:p>
        </p:txBody>
      </p:sp>
      <p:sp>
        <p:nvSpPr>
          <p:cNvPr id="1186" name="Google Shape;1186;p59"/>
          <p:cNvSpPr txBox="1"/>
          <p:nvPr>
            <p:ph idx="1" type="body"/>
          </p:nvPr>
        </p:nvSpPr>
        <p:spPr>
          <a:xfrm>
            <a:off x="65250" y="731625"/>
            <a:ext cx="8955900" cy="11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a:t>Before trying to implement an algorithm in code it can be useful to run through the steps "on paper" so that you can see how it works. Use the graph depicted below to run each Breadth-First Search (BFS). Your solution should always visit neighbors in </a:t>
            </a:r>
            <a:r>
              <a:rPr b="1" i="1" lang="en" u="sng">
                <a:solidFill>
                  <a:srgbClr val="FF0000"/>
                </a:solidFill>
              </a:rPr>
              <a:t>alphabetical order</a:t>
            </a:r>
            <a:r>
              <a:rPr lang="en"/>
              <a:t>.</a:t>
            </a:r>
            <a:endParaRPr/>
          </a:p>
        </p:txBody>
      </p:sp>
      <p:sp>
        <p:nvSpPr>
          <p:cNvPr id="1187" name="Google Shape;1187;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88" name="Google Shape;1188;p59"/>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9</a:t>
            </a:r>
            <a:endParaRPr/>
          </a:p>
        </p:txBody>
      </p:sp>
      <p:graphicFrame>
        <p:nvGraphicFramePr>
          <p:cNvPr id="1189" name="Google Shape;1189;p59"/>
          <p:cNvGraphicFramePr/>
          <p:nvPr/>
        </p:nvGraphicFramePr>
        <p:xfrm>
          <a:off x="3147225" y="2152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190" name="Google Shape;1190;p59"/>
          <p:cNvGraphicFramePr/>
          <p:nvPr/>
        </p:nvGraphicFramePr>
        <p:xfrm>
          <a:off x="3147225" y="30670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191" name="Google Shape;1191;p59"/>
          <p:cNvGrpSpPr/>
          <p:nvPr/>
        </p:nvGrpSpPr>
        <p:grpSpPr>
          <a:xfrm>
            <a:off x="337677" y="1886776"/>
            <a:ext cx="2727118" cy="2705047"/>
            <a:chOff x="5900277" y="743776"/>
            <a:chExt cx="2727118" cy="2705047"/>
          </a:xfrm>
        </p:grpSpPr>
        <p:sp>
          <p:nvSpPr>
            <p:cNvPr id="1192" name="Google Shape;1192;p59"/>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193" name="Google Shape;1193;p59"/>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194" name="Google Shape;1194;p59"/>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195" name="Google Shape;1195;p59"/>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196" name="Google Shape;1196;p59"/>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197" name="Google Shape;1197;p59"/>
            <p:cNvCxnSpPr>
              <a:stCxn id="1192" idx="6"/>
              <a:endCxn id="1193"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198" name="Google Shape;1198;p59"/>
            <p:cNvCxnSpPr>
              <a:stCxn id="1192" idx="4"/>
              <a:endCxn id="1194"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199" name="Google Shape;1199;p59"/>
            <p:cNvCxnSpPr>
              <a:stCxn id="1194" idx="5"/>
              <a:endCxn id="1195"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200" name="Google Shape;1200;p59"/>
            <p:cNvCxnSpPr>
              <a:stCxn id="1195" idx="5"/>
              <a:endCxn id="1196"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201" name="Google Shape;1201;p59"/>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202" name="Google Shape;1202;p59"/>
            <p:cNvCxnSpPr>
              <a:stCxn id="1195" idx="6"/>
              <a:endCxn id="1201"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cxnSp>
        <p:nvCxnSpPr>
          <p:cNvPr id="1203" name="Google Shape;1203;p59"/>
          <p:cNvCxnSpPr>
            <a:stCxn id="1195" idx="0"/>
            <a:endCxn id="1193" idx="4"/>
          </p:cNvCxnSpPr>
          <p:nvPr/>
        </p:nvCxnSpPr>
        <p:spPr>
          <a:xfrm flipH="1" rot="10800000">
            <a:off x="1806681" y="2731742"/>
            <a:ext cx="105600" cy="592800"/>
          </a:xfrm>
          <a:prstGeom prst="straightConnector1">
            <a:avLst/>
          </a:prstGeom>
          <a:noFill/>
          <a:ln cap="flat" cmpd="sng" w="19050">
            <a:solidFill>
              <a:srgbClr val="000000"/>
            </a:solidFill>
            <a:prstDash val="solid"/>
            <a:round/>
            <a:headEnd len="sm" w="sm" type="none"/>
            <a:tailEnd len="sm" w="sm" type="none"/>
          </a:ln>
        </p:spPr>
      </p:cxnSp>
      <p:cxnSp>
        <p:nvCxnSpPr>
          <p:cNvPr id="1204" name="Google Shape;1204;p59"/>
          <p:cNvCxnSpPr>
            <a:stCxn id="1196" idx="0"/>
            <a:endCxn id="1201" idx="4"/>
          </p:cNvCxnSpPr>
          <p:nvPr/>
        </p:nvCxnSpPr>
        <p:spPr>
          <a:xfrm flipH="1" rot="10800000">
            <a:off x="2634795" y="3338723"/>
            <a:ext cx="168900" cy="731100"/>
          </a:xfrm>
          <a:prstGeom prst="straightConnector1">
            <a:avLst/>
          </a:prstGeom>
          <a:noFill/>
          <a:ln cap="flat" cmpd="sng" w="19050">
            <a:solidFill>
              <a:srgbClr val="000000"/>
            </a:solidFill>
            <a:prstDash val="solid"/>
            <a:round/>
            <a:headEnd len="sm" w="sm" type="none"/>
            <a:tailEnd len="med" w="med" type="triangle"/>
          </a:ln>
        </p:spPr>
      </p:cxnSp>
      <p:graphicFrame>
        <p:nvGraphicFramePr>
          <p:cNvPr id="1205" name="Google Shape;1205;p59"/>
          <p:cNvGraphicFramePr/>
          <p:nvPr/>
        </p:nvGraphicFramePr>
        <p:xfrm>
          <a:off x="3147225" y="4057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B to G</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9" name="Shape 1209"/>
        <p:cNvGrpSpPr/>
        <p:nvPr/>
      </p:nvGrpSpPr>
      <p:grpSpPr>
        <a:xfrm>
          <a:off x="0" y="0"/>
          <a:ext cx="0" cy="0"/>
          <a:chOff x="0" y="0"/>
          <a:chExt cx="0" cy="0"/>
        </a:xfrm>
      </p:grpSpPr>
      <p:sp>
        <p:nvSpPr>
          <p:cNvPr id="1210" name="Google Shape;1210;p60"/>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Search "On Paper"</a:t>
            </a:r>
            <a:endParaRPr/>
          </a:p>
        </p:txBody>
      </p:sp>
      <p:sp>
        <p:nvSpPr>
          <p:cNvPr id="1211" name="Google Shape;1211;p60"/>
          <p:cNvSpPr txBox="1"/>
          <p:nvPr>
            <p:ph idx="1" type="body"/>
          </p:nvPr>
        </p:nvSpPr>
        <p:spPr>
          <a:xfrm>
            <a:off x="65250" y="731625"/>
            <a:ext cx="8955900" cy="1146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1600"/>
              </a:spcAft>
              <a:buNone/>
            </a:pPr>
            <a:r>
              <a:rPr lang="en"/>
              <a:t>Before trying to implement an algorithm in code it can be useful to run through the steps "on paper" so that you can see how it works. Use the graph depicted below to run each Breadth-First Search (BFS). Your solution should always visit neighbors in </a:t>
            </a:r>
            <a:r>
              <a:rPr b="1" i="1" lang="en" u="sng">
                <a:solidFill>
                  <a:srgbClr val="FF0000"/>
                </a:solidFill>
              </a:rPr>
              <a:t>alphabetical order</a:t>
            </a:r>
            <a:r>
              <a:rPr lang="en"/>
              <a:t>.</a:t>
            </a:r>
            <a:endParaRPr/>
          </a:p>
        </p:txBody>
      </p:sp>
      <p:sp>
        <p:nvSpPr>
          <p:cNvPr id="1212" name="Google Shape;1212;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13" name="Google Shape;1213;p60"/>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9</a:t>
            </a:r>
            <a:endParaRPr/>
          </a:p>
        </p:txBody>
      </p:sp>
      <p:graphicFrame>
        <p:nvGraphicFramePr>
          <p:cNvPr id="1214" name="Google Shape;1214;p60"/>
          <p:cNvGraphicFramePr/>
          <p:nvPr/>
        </p:nvGraphicFramePr>
        <p:xfrm>
          <a:off x="3147225" y="2152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215" name="Google Shape;1215;p60"/>
          <p:cNvGraphicFramePr/>
          <p:nvPr/>
        </p:nvGraphicFramePr>
        <p:xfrm>
          <a:off x="3147225" y="30670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216" name="Google Shape;1216;p60"/>
          <p:cNvSpPr txBox="1"/>
          <p:nvPr/>
        </p:nvSpPr>
        <p:spPr>
          <a:xfrm>
            <a:off x="3812700"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217" name="Google Shape;1217;p60"/>
          <p:cNvSpPr txBox="1"/>
          <p:nvPr/>
        </p:nvSpPr>
        <p:spPr>
          <a:xfrm>
            <a:off x="4193700"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218" name="Google Shape;1218;p60"/>
          <p:cNvSpPr txBox="1"/>
          <p:nvPr/>
        </p:nvSpPr>
        <p:spPr>
          <a:xfrm>
            <a:off x="4600418"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219" name="Google Shape;1219;p60"/>
          <p:cNvSpPr txBox="1"/>
          <p:nvPr/>
        </p:nvSpPr>
        <p:spPr>
          <a:xfrm>
            <a:off x="4994276"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20" name="Google Shape;1220;p60"/>
          <p:cNvSpPr txBox="1"/>
          <p:nvPr/>
        </p:nvSpPr>
        <p:spPr>
          <a:xfrm>
            <a:off x="5388135"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221" name="Google Shape;1221;p60"/>
          <p:cNvSpPr txBox="1"/>
          <p:nvPr/>
        </p:nvSpPr>
        <p:spPr>
          <a:xfrm>
            <a:off x="3799841" y="3051841"/>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22" name="Google Shape;1222;p60"/>
          <p:cNvSpPr txBox="1"/>
          <p:nvPr/>
        </p:nvSpPr>
        <p:spPr>
          <a:xfrm>
            <a:off x="4193700" y="3051841"/>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23" name="Google Shape;1223;p60"/>
          <p:cNvSpPr txBox="1"/>
          <p:nvPr/>
        </p:nvSpPr>
        <p:spPr>
          <a:xfrm>
            <a:off x="4587559" y="3051841"/>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24" name="Google Shape;1224;p60"/>
          <p:cNvSpPr txBox="1"/>
          <p:nvPr/>
        </p:nvSpPr>
        <p:spPr>
          <a:xfrm>
            <a:off x="5788423"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25" name="Google Shape;1225;p60"/>
          <p:cNvSpPr txBox="1"/>
          <p:nvPr/>
        </p:nvSpPr>
        <p:spPr>
          <a:xfrm>
            <a:off x="6195141"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grpSp>
        <p:nvGrpSpPr>
          <p:cNvPr id="1226" name="Google Shape;1226;p60"/>
          <p:cNvGrpSpPr/>
          <p:nvPr/>
        </p:nvGrpSpPr>
        <p:grpSpPr>
          <a:xfrm>
            <a:off x="337677" y="1886776"/>
            <a:ext cx="2727118" cy="2705047"/>
            <a:chOff x="5900277" y="743776"/>
            <a:chExt cx="2727118" cy="2705047"/>
          </a:xfrm>
        </p:grpSpPr>
        <p:sp>
          <p:nvSpPr>
            <p:cNvPr id="1227" name="Google Shape;1227;p60"/>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228" name="Google Shape;1228;p60"/>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229" name="Google Shape;1229;p60"/>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230" name="Google Shape;1230;p60"/>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231" name="Google Shape;1231;p60"/>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232" name="Google Shape;1232;p60"/>
            <p:cNvCxnSpPr>
              <a:stCxn id="1227" idx="6"/>
              <a:endCxn id="1228"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233" name="Google Shape;1233;p60"/>
            <p:cNvCxnSpPr>
              <a:stCxn id="1227" idx="4"/>
              <a:endCxn id="1229"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234" name="Google Shape;1234;p60"/>
            <p:cNvCxnSpPr>
              <a:stCxn id="1229" idx="5"/>
              <a:endCxn id="1230"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235" name="Google Shape;1235;p60"/>
            <p:cNvCxnSpPr>
              <a:stCxn id="1230" idx="5"/>
              <a:endCxn id="1231"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236" name="Google Shape;1236;p60"/>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237" name="Google Shape;1237;p60"/>
            <p:cNvCxnSpPr>
              <a:stCxn id="1230" idx="6"/>
              <a:endCxn id="1236"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cxnSp>
        <p:nvCxnSpPr>
          <p:cNvPr id="1238" name="Google Shape;1238;p60"/>
          <p:cNvCxnSpPr>
            <a:stCxn id="1230" idx="0"/>
            <a:endCxn id="1228" idx="4"/>
          </p:cNvCxnSpPr>
          <p:nvPr/>
        </p:nvCxnSpPr>
        <p:spPr>
          <a:xfrm flipH="1" rot="10800000">
            <a:off x="1806681" y="2731742"/>
            <a:ext cx="105600" cy="592800"/>
          </a:xfrm>
          <a:prstGeom prst="straightConnector1">
            <a:avLst/>
          </a:prstGeom>
          <a:noFill/>
          <a:ln cap="flat" cmpd="sng" w="19050">
            <a:solidFill>
              <a:srgbClr val="000000"/>
            </a:solidFill>
            <a:prstDash val="solid"/>
            <a:round/>
            <a:headEnd len="sm" w="sm" type="none"/>
            <a:tailEnd len="sm" w="sm" type="none"/>
          </a:ln>
        </p:spPr>
      </p:cxnSp>
      <p:cxnSp>
        <p:nvCxnSpPr>
          <p:cNvPr id="1239" name="Google Shape;1239;p60"/>
          <p:cNvCxnSpPr>
            <a:stCxn id="1231" idx="0"/>
            <a:endCxn id="1236" idx="4"/>
          </p:cNvCxnSpPr>
          <p:nvPr/>
        </p:nvCxnSpPr>
        <p:spPr>
          <a:xfrm flipH="1" rot="10800000">
            <a:off x="2634795" y="3338723"/>
            <a:ext cx="168900" cy="731100"/>
          </a:xfrm>
          <a:prstGeom prst="straightConnector1">
            <a:avLst/>
          </a:prstGeom>
          <a:noFill/>
          <a:ln cap="flat" cmpd="sng" w="19050">
            <a:solidFill>
              <a:srgbClr val="000000"/>
            </a:solidFill>
            <a:prstDash val="solid"/>
            <a:round/>
            <a:headEnd len="sm" w="sm" type="none"/>
            <a:tailEnd len="med" w="med" type="triangle"/>
          </a:ln>
        </p:spPr>
      </p:cxnSp>
      <p:sp>
        <p:nvSpPr>
          <p:cNvPr id="1240" name="Google Shape;1240;p60"/>
          <p:cNvSpPr txBox="1"/>
          <p:nvPr/>
        </p:nvSpPr>
        <p:spPr>
          <a:xfrm>
            <a:off x="5800329"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1" name="Google Shape;1241;p60"/>
          <p:cNvSpPr txBox="1"/>
          <p:nvPr/>
        </p:nvSpPr>
        <p:spPr>
          <a:xfrm>
            <a:off x="6194188" y="3064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2" name="Google Shape;1242;p60"/>
          <p:cNvSpPr/>
          <p:nvPr/>
        </p:nvSpPr>
        <p:spPr>
          <a:xfrm>
            <a:off x="5029487" y="3063766"/>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3" name="Google Shape;1243;p60"/>
          <p:cNvSpPr txBox="1"/>
          <p:nvPr/>
        </p:nvSpPr>
        <p:spPr>
          <a:xfrm>
            <a:off x="3806271"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4" name="Google Shape;1244;p60"/>
          <p:cNvSpPr txBox="1"/>
          <p:nvPr/>
        </p:nvSpPr>
        <p:spPr>
          <a:xfrm>
            <a:off x="4187271"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5" name="Google Shape;1245;p60"/>
          <p:cNvSpPr txBox="1"/>
          <p:nvPr/>
        </p:nvSpPr>
        <p:spPr>
          <a:xfrm>
            <a:off x="4593988"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6" name="Google Shape;1246;p60"/>
          <p:cNvSpPr txBox="1"/>
          <p:nvPr/>
        </p:nvSpPr>
        <p:spPr>
          <a:xfrm>
            <a:off x="3793412" y="2156729"/>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47" name="Google Shape;1247;p60"/>
          <p:cNvSpPr txBox="1"/>
          <p:nvPr/>
        </p:nvSpPr>
        <p:spPr>
          <a:xfrm>
            <a:off x="5781994"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8" name="Google Shape;1248;p60"/>
          <p:cNvSpPr txBox="1"/>
          <p:nvPr/>
        </p:nvSpPr>
        <p:spPr>
          <a:xfrm>
            <a:off x="6188711"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49" name="Google Shape;1249;p60"/>
          <p:cNvSpPr txBox="1"/>
          <p:nvPr/>
        </p:nvSpPr>
        <p:spPr>
          <a:xfrm>
            <a:off x="6582570"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0" name="Google Shape;1250;p60"/>
          <p:cNvSpPr txBox="1"/>
          <p:nvPr/>
        </p:nvSpPr>
        <p:spPr>
          <a:xfrm>
            <a:off x="6989288"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1" name="Google Shape;1251;p60"/>
          <p:cNvSpPr txBox="1"/>
          <p:nvPr/>
        </p:nvSpPr>
        <p:spPr>
          <a:xfrm>
            <a:off x="7383146"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2" name="Google Shape;1252;p60"/>
          <p:cNvSpPr txBox="1"/>
          <p:nvPr/>
        </p:nvSpPr>
        <p:spPr>
          <a:xfrm>
            <a:off x="7783434"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3" name="Google Shape;1253;p60"/>
          <p:cNvSpPr txBox="1"/>
          <p:nvPr/>
        </p:nvSpPr>
        <p:spPr>
          <a:xfrm>
            <a:off x="8183723"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4" name="Google Shape;1254;p60"/>
          <p:cNvSpPr/>
          <p:nvPr/>
        </p:nvSpPr>
        <p:spPr>
          <a:xfrm>
            <a:off x="4248199" y="2162225"/>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255" name="Google Shape;1255;p60"/>
          <p:cNvGraphicFramePr/>
          <p:nvPr/>
        </p:nvGraphicFramePr>
        <p:xfrm>
          <a:off x="3147225" y="4057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B to G</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256" name="Google Shape;1256;p60"/>
          <p:cNvSpPr txBox="1"/>
          <p:nvPr/>
        </p:nvSpPr>
        <p:spPr>
          <a:xfrm>
            <a:off x="3812700"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B</a:t>
            </a:r>
            <a:endParaRPr b="0" i="0" sz="2400" u="none" cap="none" strike="noStrike">
              <a:solidFill>
                <a:srgbClr val="4A86E8"/>
              </a:solidFill>
              <a:latin typeface="Shadows Into Light"/>
              <a:ea typeface="Shadows Into Light"/>
              <a:cs typeface="Shadows Into Light"/>
              <a:sym typeface="Shadows Into Light"/>
            </a:endParaRPr>
          </a:p>
        </p:txBody>
      </p:sp>
      <p:grpSp>
        <p:nvGrpSpPr>
          <p:cNvPr id="1257" name="Google Shape;1257;p60"/>
          <p:cNvGrpSpPr/>
          <p:nvPr/>
        </p:nvGrpSpPr>
        <p:grpSpPr>
          <a:xfrm>
            <a:off x="4193700" y="4055300"/>
            <a:ext cx="791318" cy="393600"/>
            <a:chOff x="4193700" y="4055300"/>
            <a:chExt cx="791318" cy="393600"/>
          </a:xfrm>
        </p:grpSpPr>
        <p:sp>
          <p:nvSpPr>
            <p:cNvPr id="1258" name="Google Shape;1258;p60"/>
            <p:cNvSpPr txBox="1"/>
            <p:nvPr/>
          </p:nvSpPr>
          <p:spPr>
            <a:xfrm>
              <a:off x="4193700"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59" name="Google Shape;1259;p60"/>
            <p:cNvSpPr txBox="1"/>
            <p:nvPr/>
          </p:nvSpPr>
          <p:spPr>
            <a:xfrm>
              <a:off x="4600418"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H</a:t>
              </a:r>
              <a:endParaRPr b="0" i="0" sz="2400" u="none" cap="none" strike="noStrike">
                <a:solidFill>
                  <a:srgbClr val="4A86E8"/>
                </a:solidFill>
                <a:latin typeface="Shadows Into Light"/>
                <a:ea typeface="Shadows Into Light"/>
                <a:cs typeface="Shadows Into Light"/>
                <a:sym typeface="Shadows Into Light"/>
              </a:endParaRPr>
            </a:p>
          </p:txBody>
        </p:sp>
      </p:grpSp>
      <p:sp>
        <p:nvSpPr>
          <p:cNvPr id="1260" name="Google Shape;1260;p60"/>
          <p:cNvSpPr txBox="1"/>
          <p:nvPr/>
        </p:nvSpPr>
        <p:spPr>
          <a:xfrm>
            <a:off x="5788423"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261" name="Google Shape;1261;p60"/>
          <p:cNvSpPr txBox="1"/>
          <p:nvPr/>
        </p:nvSpPr>
        <p:spPr>
          <a:xfrm>
            <a:off x="6195141"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grpSp>
        <p:nvGrpSpPr>
          <p:cNvPr id="1262" name="Google Shape;1262;p60"/>
          <p:cNvGrpSpPr/>
          <p:nvPr/>
        </p:nvGrpSpPr>
        <p:grpSpPr>
          <a:xfrm>
            <a:off x="4994276" y="4055300"/>
            <a:ext cx="1584512" cy="393600"/>
            <a:chOff x="4994276" y="4055300"/>
            <a:chExt cx="1584512" cy="393600"/>
          </a:xfrm>
        </p:grpSpPr>
        <p:sp>
          <p:nvSpPr>
            <p:cNvPr id="1263" name="Google Shape;1263;p60"/>
            <p:cNvSpPr txBox="1"/>
            <p:nvPr/>
          </p:nvSpPr>
          <p:spPr>
            <a:xfrm>
              <a:off x="4994276"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B</a:t>
              </a:r>
              <a:endParaRPr b="0" i="0" sz="2400" u="none" cap="none" strike="noStrike">
                <a:solidFill>
                  <a:srgbClr val="4A86E8"/>
                </a:solidFill>
                <a:latin typeface="Shadows Into Light"/>
                <a:ea typeface="Shadows Into Light"/>
                <a:cs typeface="Shadows Into Light"/>
                <a:sym typeface="Shadows Into Light"/>
              </a:endParaRPr>
            </a:p>
          </p:txBody>
        </p:sp>
        <p:sp>
          <p:nvSpPr>
            <p:cNvPr id="1264" name="Google Shape;1264;p60"/>
            <p:cNvSpPr txBox="1"/>
            <p:nvPr/>
          </p:nvSpPr>
          <p:spPr>
            <a:xfrm>
              <a:off x="5388135"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265" name="Google Shape;1265;p60"/>
            <p:cNvSpPr txBox="1"/>
            <p:nvPr/>
          </p:nvSpPr>
          <p:spPr>
            <a:xfrm>
              <a:off x="5800329"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266" name="Google Shape;1266;p60"/>
            <p:cNvSpPr txBox="1"/>
            <p:nvPr/>
          </p:nvSpPr>
          <p:spPr>
            <a:xfrm>
              <a:off x="6194188"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H</a:t>
              </a:r>
              <a:endParaRPr b="0" i="0" sz="2400" u="none" cap="none" strike="noStrike">
                <a:solidFill>
                  <a:srgbClr val="4A86E8"/>
                </a:solidFill>
                <a:latin typeface="Shadows Into Light"/>
                <a:ea typeface="Shadows Into Light"/>
                <a:cs typeface="Shadows Into Light"/>
                <a:sym typeface="Shadows Into Light"/>
              </a:endParaRPr>
            </a:p>
          </p:txBody>
        </p:sp>
      </p:grpSp>
      <p:sp>
        <p:nvSpPr>
          <p:cNvPr id="1267" name="Google Shape;1267;p60"/>
          <p:cNvSpPr/>
          <p:nvPr/>
        </p:nvSpPr>
        <p:spPr>
          <a:xfrm>
            <a:off x="5825050" y="4061737"/>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8" name="Google Shape;1268;p60"/>
          <p:cNvSpPr txBox="1"/>
          <p:nvPr/>
        </p:nvSpPr>
        <p:spPr>
          <a:xfrm>
            <a:off x="6606383"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69" name="Google Shape;1269;p60"/>
          <p:cNvSpPr txBox="1"/>
          <p:nvPr/>
        </p:nvSpPr>
        <p:spPr>
          <a:xfrm>
            <a:off x="3799841" y="4067206"/>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70" name="Google Shape;1270;p60"/>
          <p:cNvSpPr txBox="1"/>
          <p:nvPr/>
        </p:nvSpPr>
        <p:spPr>
          <a:xfrm>
            <a:off x="4193700"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71" name="Google Shape;1271;p60"/>
          <p:cNvSpPr txBox="1"/>
          <p:nvPr/>
        </p:nvSpPr>
        <p:spPr>
          <a:xfrm>
            <a:off x="4587559" y="4061729"/>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grpSp>
        <p:nvGrpSpPr>
          <p:cNvPr id="1272" name="Google Shape;1272;p60"/>
          <p:cNvGrpSpPr/>
          <p:nvPr/>
        </p:nvGrpSpPr>
        <p:grpSpPr>
          <a:xfrm>
            <a:off x="7000241" y="4055300"/>
            <a:ext cx="765600" cy="393600"/>
            <a:chOff x="7000241" y="4055300"/>
            <a:chExt cx="765600" cy="393600"/>
          </a:xfrm>
        </p:grpSpPr>
        <p:sp>
          <p:nvSpPr>
            <p:cNvPr id="1273" name="Google Shape;1273;p60"/>
            <p:cNvSpPr txBox="1"/>
            <p:nvPr/>
          </p:nvSpPr>
          <p:spPr>
            <a:xfrm>
              <a:off x="7000241"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74" name="Google Shape;1274;p60"/>
            <p:cNvSpPr txBox="1"/>
            <p:nvPr/>
          </p:nvSpPr>
          <p:spPr>
            <a:xfrm>
              <a:off x="7381241"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H</a:t>
              </a:r>
              <a:endParaRPr b="0" i="0" sz="2400" u="none" cap="none" strike="noStrike">
                <a:solidFill>
                  <a:srgbClr val="4A86E8"/>
                </a:solidFill>
                <a:latin typeface="Shadows Into Light"/>
                <a:ea typeface="Shadows Into Light"/>
                <a:cs typeface="Shadows Into Light"/>
                <a:sym typeface="Shadows Into Light"/>
              </a:endParaRPr>
            </a:p>
          </p:txBody>
        </p:sp>
      </p:grpSp>
      <p:sp>
        <p:nvSpPr>
          <p:cNvPr id="1275" name="Google Shape;1275;p60"/>
          <p:cNvSpPr txBox="1"/>
          <p:nvPr/>
        </p:nvSpPr>
        <p:spPr>
          <a:xfrm>
            <a:off x="4994276"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276" name="Google Shape;1276;p60"/>
          <p:cNvSpPr txBox="1"/>
          <p:nvPr/>
        </p:nvSpPr>
        <p:spPr>
          <a:xfrm>
            <a:off x="5400041"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grpSp>
        <p:nvGrpSpPr>
          <p:cNvPr id="1277" name="Google Shape;1277;p60"/>
          <p:cNvGrpSpPr/>
          <p:nvPr/>
        </p:nvGrpSpPr>
        <p:grpSpPr>
          <a:xfrm>
            <a:off x="7819153" y="4055300"/>
            <a:ext cx="765600" cy="393600"/>
            <a:chOff x="7819153" y="4055300"/>
            <a:chExt cx="765600" cy="393600"/>
          </a:xfrm>
        </p:grpSpPr>
        <p:sp>
          <p:nvSpPr>
            <p:cNvPr id="1278" name="Google Shape;1278;p60"/>
            <p:cNvSpPr txBox="1"/>
            <p:nvPr/>
          </p:nvSpPr>
          <p:spPr>
            <a:xfrm>
              <a:off x="7819153"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279" name="Google Shape;1279;p60"/>
            <p:cNvSpPr txBox="1"/>
            <p:nvPr/>
          </p:nvSpPr>
          <p:spPr>
            <a:xfrm>
              <a:off x="8200153"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43"/>
                                        </p:tgtEl>
                                        <p:attrNameLst>
                                          <p:attrName>style.visibility</p:attrName>
                                        </p:attrNameLst>
                                      </p:cBhvr>
                                      <p:to>
                                        <p:strVal val="visible"/>
                                      </p:to>
                                    </p:set>
                                    <p:animEffect filter="fade" transition="in">
                                      <p:cBhvr>
                                        <p:cTn dur="1000"/>
                                        <p:tgtEl>
                                          <p:spTgt spid="12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6"/>
                                        </p:tgtEl>
                                        <p:attrNameLst>
                                          <p:attrName>style.visibility</p:attrName>
                                        </p:attrNameLst>
                                      </p:cBhvr>
                                      <p:to>
                                        <p:strVal val="visible"/>
                                      </p:to>
                                    </p:set>
                                    <p:animEffect filter="fade" transition="in">
                                      <p:cBhvr>
                                        <p:cTn dur="1000"/>
                                        <p:tgtEl>
                                          <p:spTgt spid="12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4"/>
                                        </p:tgtEl>
                                        <p:attrNameLst>
                                          <p:attrName>style.visibility</p:attrName>
                                        </p:attrNameLst>
                                      </p:cBhvr>
                                      <p:to>
                                        <p:strVal val="visible"/>
                                      </p:to>
                                    </p:set>
                                    <p:animEffect filter="fade" transition="in">
                                      <p:cBhvr>
                                        <p:cTn dur="1000"/>
                                        <p:tgtEl>
                                          <p:spTgt spid="1244"/>
                                        </p:tgtEl>
                                      </p:cBhvr>
                                    </p:animEffect>
                                  </p:childTnLst>
                                </p:cTn>
                              </p:par>
                              <p:par>
                                <p:cTn fill="hold" nodeType="withEffect" presetClass="entr" presetID="10" presetSubtype="0">
                                  <p:stCondLst>
                                    <p:cond delay="0"/>
                                  </p:stCondLst>
                                  <p:childTnLst>
                                    <p:set>
                                      <p:cBhvr>
                                        <p:cTn dur="1" fill="hold">
                                          <p:stCondLst>
                                            <p:cond delay="0"/>
                                          </p:stCondLst>
                                        </p:cTn>
                                        <p:tgtEl>
                                          <p:spTgt spid="1245"/>
                                        </p:tgtEl>
                                        <p:attrNameLst>
                                          <p:attrName>style.visibility</p:attrName>
                                        </p:attrNameLst>
                                      </p:cBhvr>
                                      <p:to>
                                        <p:strVal val="visible"/>
                                      </p:to>
                                    </p:set>
                                    <p:animEffect filter="fade" transition="in">
                                      <p:cBhvr>
                                        <p:cTn dur="1000"/>
                                        <p:tgtEl>
                                          <p:spTgt spid="124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4"/>
                                        </p:tgtEl>
                                        <p:attrNameLst>
                                          <p:attrName>style.visibility</p:attrName>
                                        </p:attrNameLst>
                                      </p:cBhvr>
                                      <p:to>
                                        <p:strVal val="visible"/>
                                      </p:to>
                                    </p:set>
                                    <p:animEffect filter="fade" transition="in">
                                      <p:cBhvr>
                                        <p:cTn dur="1000"/>
                                        <p:tgtEl>
                                          <p:spTgt spid="1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16"/>
                                        </p:tgtEl>
                                        <p:attrNameLst>
                                          <p:attrName>style.visibility</p:attrName>
                                        </p:attrNameLst>
                                      </p:cBhvr>
                                      <p:to>
                                        <p:strVal val="visible"/>
                                      </p:to>
                                    </p:set>
                                    <p:animEffect filter="fade" transition="in">
                                      <p:cBhvr>
                                        <p:cTn dur="1000"/>
                                        <p:tgtEl>
                                          <p:spTgt spid="12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1"/>
                                        </p:tgtEl>
                                        <p:attrNameLst>
                                          <p:attrName>style.visibility</p:attrName>
                                        </p:attrNameLst>
                                      </p:cBhvr>
                                      <p:to>
                                        <p:strVal val="visible"/>
                                      </p:to>
                                    </p:set>
                                    <p:animEffect filter="fade" transition="in">
                                      <p:cBhvr>
                                        <p:cTn dur="1000"/>
                                        <p:tgtEl>
                                          <p:spTgt spid="12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17"/>
                                        </p:tgtEl>
                                        <p:attrNameLst>
                                          <p:attrName>style.visibility</p:attrName>
                                        </p:attrNameLst>
                                      </p:cBhvr>
                                      <p:to>
                                        <p:strVal val="visible"/>
                                      </p:to>
                                    </p:set>
                                    <p:animEffect filter="fade" transition="in">
                                      <p:cBhvr>
                                        <p:cTn dur="1000"/>
                                        <p:tgtEl>
                                          <p:spTgt spid="1217"/>
                                        </p:tgtEl>
                                      </p:cBhvr>
                                    </p:animEffect>
                                  </p:childTnLst>
                                </p:cTn>
                              </p:par>
                              <p:par>
                                <p:cTn fill="hold" nodeType="withEffect" presetClass="entr" presetID="10" presetSubtype="0">
                                  <p:stCondLst>
                                    <p:cond delay="0"/>
                                  </p:stCondLst>
                                  <p:childTnLst>
                                    <p:set>
                                      <p:cBhvr>
                                        <p:cTn dur="1" fill="hold">
                                          <p:stCondLst>
                                            <p:cond delay="0"/>
                                          </p:stCondLst>
                                        </p:cTn>
                                        <p:tgtEl>
                                          <p:spTgt spid="1218"/>
                                        </p:tgtEl>
                                        <p:attrNameLst>
                                          <p:attrName>style.visibility</p:attrName>
                                        </p:attrNameLst>
                                      </p:cBhvr>
                                      <p:to>
                                        <p:strVal val="visible"/>
                                      </p:to>
                                    </p:set>
                                    <p:animEffect filter="fade" transition="in">
                                      <p:cBhvr>
                                        <p:cTn dur="1000"/>
                                        <p:tgtEl>
                                          <p:spTgt spid="1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2"/>
                                        </p:tgtEl>
                                        <p:attrNameLst>
                                          <p:attrName>style.visibility</p:attrName>
                                        </p:attrNameLst>
                                      </p:cBhvr>
                                      <p:to>
                                        <p:strVal val="visible"/>
                                      </p:to>
                                    </p:set>
                                    <p:animEffect filter="fade" transition="in">
                                      <p:cBhvr>
                                        <p:cTn dur="1000"/>
                                        <p:tgtEl>
                                          <p:spTgt spid="12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19"/>
                                        </p:tgtEl>
                                        <p:attrNameLst>
                                          <p:attrName>style.visibility</p:attrName>
                                        </p:attrNameLst>
                                      </p:cBhvr>
                                      <p:to>
                                        <p:strVal val="visible"/>
                                      </p:to>
                                    </p:set>
                                    <p:animEffect filter="fade" transition="in">
                                      <p:cBhvr>
                                        <p:cTn dur="1000"/>
                                        <p:tgtEl>
                                          <p:spTgt spid="1219"/>
                                        </p:tgtEl>
                                      </p:cBhvr>
                                    </p:animEffect>
                                  </p:childTnLst>
                                </p:cTn>
                              </p:par>
                              <p:par>
                                <p:cTn fill="hold" nodeType="withEffect" presetClass="entr" presetID="10" presetSubtype="0">
                                  <p:stCondLst>
                                    <p:cond delay="0"/>
                                  </p:stCondLst>
                                  <p:childTnLst>
                                    <p:set>
                                      <p:cBhvr>
                                        <p:cTn dur="1" fill="hold">
                                          <p:stCondLst>
                                            <p:cond delay="0"/>
                                          </p:stCondLst>
                                        </p:cTn>
                                        <p:tgtEl>
                                          <p:spTgt spid="1220"/>
                                        </p:tgtEl>
                                        <p:attrNameLst>
                                          <p:attrName>style.visibility</p:attrName>
                                        </p:attrNameLst>
                                      </p:cBhvr>
                                      <p:to>
                                        <p:strVal val="visible"/>
                                      </p:to>
                                    </p:set>
                                    <p:animEffect filter="fade" transition="in">
                                      <p:cBhvr>
                                        <p:cTn dur="1000"/>
                                        <p:tgtEl>
                                          <p:spTgt spid="12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23"/>
                                        </p:tgtEl>
                                        <p:attrNameLst>
                                          <p:attrName>style.visibility</p:attrName>
                                        </p:attrNameLst>
                                      </p:cBhvr>
                                      <p:to>
                                        <p:strVal val="visible"/>
                                      </p:to>
                                    </p:set>
                                    <p:animEffect filter="fade" transition="in">
                                      <p:cBhvr>
                                        <p:cTn dur="1000"/>
                                        <p:tgtEl>
                                          <p:spTgt spid="12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40"/>
                                        </p:tgtEl>
                                        <p:attrNameLst>
                                          <p:attrName>style.visibility</p:attrName>
                                        </p:attrNameLst>
                                      </p:cBhvr>
                                      <p:to>
                                        <p:strVal val="visible"/>
                                      </p:to>
                                    </p:set>
                                    <p:animEffect filter="fade" transition="in">
                                      <p:cBhvr>
                                        <p:cTn dur="1000"/>
                                        <p:tgtEl>
                                          <p:spTgt spid="1240"/>
                                        </p:tgtEl>
                                      </p:cBhvr>
                                    </p:animEffect>
                                  </p:childTnLst>
                                </p:cTn>
                              </p:par>
                              <p:par>
                                <p:cTn fill="hold" nodeType="withEffect" presetClass="entr" presetID="10" presetSubtype="0">
                                  <p:stCondLst>
                                    <p:cond delay="0"/>
                                  </p:stCondLst>
                                  <p:childTnLst>
                                    <p:set>
                                      <p:cBhvr>
                                        <p:cTn dur="1" fill="hold">
                                          <p:stCondLst>
                                            <p:cond delay="0"/>
                                          </p:stCondLst>
                                        </p:cTn>
                                        <p:tgtEl>
                                          <p:spTgt spid="1241"/>
                                        </p:tgtEl>
                                        <p:attrNameLst>
                                          <p:attrName>style.visibility</p:attrName>
                                        </p:attrNameLst>
                                      </p:cBhvr>
                                      <p:to>
                                        <p:strVal val="visible"/>
                                      </p:to>
                                    </p:set>
                                    <p:animEffect filter="fade" transition="in">
                                      <p:cBhvr>
                                        <p:cTn dur="1000"/>
                                        <p:tgtEl>
                                          <p:spTgt spid="12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42"/>
                                        </p:tgtEl>
                                        <p:attrNameLst>
                                          <p:attrName>style.visibility</p:attrName>
                                        </p:attrNameLst>
                                      </p:cBhvr>
                                      <p:to>
                                        <p:strVal val="visible"/>
                                      </p:to>
                                    </p:set>
                                    <p:animEffect filter="fade" transition="in">
                                      <p:cBhvr>
                                        <p:cTn dur="1000"/>
                                        <p:tgtEl>
                                          <p:spTgt spid="12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56"/>
                                        </p:tgtEl>
                                        <p:attrNameLst>
                                          <p:attrName>style.visibility</p:attrName>
                                        </p:attrNameLst>
                                      </p:cBhvr>
                                      <p:to>
                                        <p:strVal val="visible"/>
                                      </p:to>
                                    </p:set>
                                    <p:animEffect filter="fade" transition="in">
                                      <p:cBhvr>
                                        <p:cTn dur="1000"/>
                                        <p:tgtEl>
                                          <p:spTgt spid="1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9"/>
                                        </p:tgtEl>
                                        <p:attrNameLst>
                                          <p:attrName>style.visibility</p:attrName>
                                        </p:attrNameLst>
                                      </p:cBhvr>
                                      <p:to>
                                        <p:strVal val="visible"/>
                                      </p:to>
                                    </p:set>
                                    <p:animEffect filter="fade" transition="in">
                                      <p:cBhvr>
                                        <p:cTn dur="1000"/>
                                        <p:tgtEl>
                                          <p:spTgt spid="12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57"/>
                                        </p:tgtEl>
                                        <p:attrNameLst>
                                          <p:attrName>style.visibility</p:attrName>
                                        </p:attrNameLst>
                                      </p:cBhvr>
                                      <p:to>
                                        <p:strVal val="visible"/>
                                      </p:to>
                                    </p:set>
                                    <p:animEffect filter="fade" transition="in">
                                      <p:cBhvr>
                                        <p:cTn dur="1000"/>
                                        <p:tgtEl>
                                          <p:spTgt spid="1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0"/>
                                        </p:tgtEl>
                                        <p:attrNameLst>
                                          <p:attrName>style.visibility</p:attrName>
                                        </p:attrNameLst>
                                      </p:cBhvr>
                                      <p:to>
                                        <p:strVal val="visible"/>
                                      </p:to>
                                    </p:set>
                                    <p:animEffect filter="fade" transition="in">
                                      <p:cBhvr>
                                        <p:cTn dur="1000"/>
                                        <p:tgtEl>
                                          <p:spTgt spid="127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62"/>
                                        </p:tgtEl>
                                        <p:attrNameLst>
                                          <p:attrName>style.visibility</p:attrName>
                                        </p:attrNameLst>
                                      </p:cBhvr>
                                      <p:to>
                                        <p:strVal val="visible"/>
                                      </p:to>
                                    </p:set>
                                    <p:animEffect filter="fade" transition="in">
                                      <p:cBhvr>
                                        <p:cTn dur="1000"/>
                                        <p:tgtEl>
                                          <p:spTgt spid="12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1"/>
                                        </p:tgtEl>
                                        <p:attrNameLst>
                                          <p:attrName>style.visibility</p:attrName>
                                        </p:attrNameLst>
                                      </p:cBhvr>
                                      <p:to>
                                        <p:strVal val="visible"/>
                                      </p:to>
                                    </p:set>
                                    <p:animEffect filter="fade" transition="in">
                                      <p:cBhvr>
                                        <p:cTn dur="1000"/>
                                        <p:tgtEl>
                                          <p:spTgt spid="127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68"/>
                                        </p:tgtEl>
                                        <p:attrNameLst>
                                          <p:attrName>style.visibility</p:attrName>
                                        </p:attrNameLst>
                                      </p:cBhvr>
                                      <p:to>
                                        <p:strVal val="visible"/>
                                      </p:to>
                                    </p:set>
                                    <p:animEffect filter="fade" transition="in">
                                      <p:cBhvr>
                                        <p:cTn dur="1000"/>
                                        <p:tgtEl>
                                          <p:spTgt spid="12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5"/>
                                        </p:tgtEl>
                                        <p:attrNameLst>
                                          <p:attrName>style.visibility</p:attrName>
                                        </p:attrNameLst>
                                      </p:cBhvr>
                                      <p:to>
                                        <p:strVal val="visible"/>
                                      </p:to>
                                    </p:set>
                                    <p:animEffect filter="fade" transition="in">
                                      <p:cBhvr>
                                        <p:cTn dur="1000"/>
                                        <p:tgtEl>
                                          <p:spTgt spid="12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2"/>
                                        </p:tgtEl>
                                        <p:attrNameLst>
                                          <p:attrName>style.visibility</p:attrName>
                                        </p:attrNameLst>
                                      </p:cBhvr>
                                      <p:to>
                                        <p:strVal val="visible"/>
                                      </p:to>
                                    </p:set>
                                    <p:animEffect filter="fade" transition="in">
                                      <p:cBhvr>
                                        <p:cTn dur="1000"/>
                                        <p:tgtEl>
                                          <p:spTgt spid="12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76"/>
                                        </p:tgtEl>
                                        <p:attrNameLst>
                                          <p:attrName>style.visibility</p:attrName>
                                        </p:attrNameLst>
                                      </p:cBhvr>
                                      <p:to>
                                        <p:strVal val="visible"/>
                                      </p:to>
                                    </p:set>
                                    <p:animEffect filter="fade" transition="in">
                                      <p:cBhvr>
                                        <p:cTn dur="1000"/>
                                        <p:tgtEl>
                                          <p:spTgt spid="127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77"/>
                                        </p:tgtEl>
                                        <p:attrNameLst>
                                          <p:attrName>style.visibility</p:attrName>
                                        </p:attrNameLst>
                                      </p:cBhvr>
                                      <p:to>
                                        <p:strVal val="visible"/>
                                      </p:to>
                                    </p:set>
                                    <p:animEffect filter="fade" transition="in">
                                      <p:cBhvr>
                                        <p:cTn dur="1000"/>
                                        <p:tgtEl>
                                          <p:spTgt spid="12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67"/>
                                        </p:tgtEl>
                                        <p:attrNameLst>
                                          <p:attrName>style.visibility</p:attrName>
                                        </p:attrNameLst>
                                      </p:cBhvr>
                                      <p:to>
                                        <p:strVal val="visible"/>
                                      </p:to>
                                    </p:set>
                                    <p:animEffect filter="fade" transition="in">
                                      <p:cBhvr>
                                        <p:cTn dur="1000"/>
                                        <p:tgtEl>
                                          <p:spTgt spid="1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3" name="Shape 1283"/>
        <p:cNvGrpSpPr/>
        <p:nvPr/>
      </p:nvGrpSpPr>
      <p:grpSpPr>
        <a:xfrm>
          <a:off x="0" y="0"/>
          <a:ext cx="0" cy="0"/>
          <a:chOff x="0" y="0"/>
          <a:chExt cx="0" cy="0"/>
        </a:xfrm>
      </p:grpSpPr>
      <p:sp>
        <p:nvSpPr>
          <p:cNvPr id="1284" name="Google Shape;1284;p61"/>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1285" name="Google Shape;1285;p61"/>
          <p:cNvSpPr txBox="1"/>
          <p:nvPr>
            <p:ph type="title"/>
          </p:nvPr>
        </p:nvSpPr>
        <p:spPr>
          <a:xfrm>
            <a:off x="51885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Cycles</a:t>
            </a:r>
            <a:endParaRPr/>
          </a:p>
        </p:txBody>
      </p:sp>
      <p:sp>
        <p:nvSpPr>
          <p:cNvPr id="1286" name="Google Shape;1286;p61"/>
          <p:cNvSpPr txBox="1"/>
          <p:nvPr>
            <p:ph idx="1" type="body"/>
          </p:nvPr>
        </p:nvSpPr>
        <p:spPr>
          <a:xfrm>
            <a:off x="395725" y="111200"/>
            <a:ext cx="4166400" cy="48675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You may notice something </a:t>
            </a:r>
            <a:r>
              <a:rPr b="1" i="1" lang="en">
                <a:solidFill>
                  <a:srgbClr val="FF0000"/>
                </a:solidFill>
              </a:rPr>
              <a:t>a little odd</a:t>
            </a:r>
            <a:r>
              <a:rPr lang="en"/>
              <a:t> when running your BFS searches on certain graphs, especially if they do not have any directed edges.</a:t>
            </a:r>
            <a:endParaRPr/>
          </a:p>
          <a:p>
            <a:pPr indent="-298450" lvl="1" marL="914400" rtl="0" algn="l">
              <a:lnSpc>
                <a:spcPct val="115000"/>
              </a:lnSpc>
              <a:spcBef>
                <a:spcPts val="0"/>
              </a:spcBef>
              <a:spcAft>
                <a:spcPts val="0"/>
              </a:spcAft>
              <a:buSzPts val="1100"/>
              <a:buChar char="○"/>
            </a:pPr>
            <a:r>
              <a:rPr lang="en"/>
              <a:t>Namely, you may keep seeing the </a:t>
            </a:r>
            <a:r>
              <a:rPr b="1" i="1" lang="en">
                <a:solidFill>
                  <a:srgbClr val="FF0000"/>
                </a:solidFill>
              </a:rPr>
              <a:t>same </a:t>
            </a:r>
            <a:r>
              <a:rPr lang="en"/>
              <a:t>nodes </a:t>
            </a:r>
            <a:r>
              <a:rPr b="1" i="1" lang="en">
                <a:solidFill>
                  <a:srgbClr val="FF0000"/>
                </a:solidFill>
              </a:rPr>
              <a:t>again and again</a:t>
            </a:r>
            <a:r>
              <a:rPr lang="en"/>
              <a:t>.</a:t>
            </a:r>
            <a:endParaRPr/>
          </a:p>
          <a:p>
            <a:pPr indent="-311150" lvl="0" marL="457200" rtl="0" algn="l">
              <a:lnSpc>
                <a:spcPct val="115000"/>
              </a:lnSpc>
              <a:spcBef>
                <a:spcPts val="1000"/>
              </a:spcBef>
              <a:spcAft>
                <a:spcPts val="0"/>
              </a:spcAft>
              <a:buSzPts val="1300"/>
              <a:buChar char="●"/>
            </a:pPr>
            <a:r>
              <a:rPr lang="en"/>
              <a:t>Imagine that you are traversing a graph, following edges from one vertex to the next.</a:t>
            </a:r>
            <a:endParaRPr/>
          </a:p>
          <a:p>
            <a:pPr indent="-311150" lvl="0" marL="457200" rtl="0" algn="l">
              <a:lnSpc>
                <a:spcPct val="115000"/>
              </a:lnSpc>
              <a:spcBef>
                <a:spcPts val="1000"/>
              </a:spcBef>
              <a:spcAft>
                <a:spcPts val="0"/>
              </a:spcAft>
              <a:buSzPts val="1300"/>
              <a:buChar char="●"/>
            </a:pPr>
            <a:r>
              <a:rPr lang="en"/>
              <a:t>As you continue along your path, you eventually end up </a:t>
            </a:r>
            <a:r>
              <a:rPr b="1" i="1" lang="en">
                <a:solidFill>
                  <a:srgbClr val="FF0000"/>
                </a:solidFill>
              </a:rPr>
              <a:t>back</a:t>
            </a:r>
            <a:r>
              <a:rPr lang="en">
                <a:solidFill>
                  <a:srgbClr val="FF0000"/>
                </a:solidFill>
              </a:rPr>
              <a:t> </a:t>
            </a:r>
            <a:r>
              <a:rPr lang="en"/>
              <a:t>at the node from which you </a:t>
            </a:r>
            <a:r>
              <a:rPr b="1" i="1" lang="en">
                <a:solidFill>
                  <a:srgbClr val="FF0000"/>
                </a:solidFill>
              </a:rPr>
              <a:t>started</a:t>
            </a:r>
            <a:r>
              <a:rPr lang="en"/>
              <a:t>.</a:t>
            </a:r>
            <a:endParaRPr/>
          </a:p>
          <a:p>
            <a:pPr indent="-311150" lvl="0" marL="457200" rtl="0" algn="l">
              <a:lnSpc>
                <a:spcPct val="115000"/>
              </a:lnSpc>
              <a:spcBef>
                <a:spcPts val="1000"/>
              </a:spcBef>
              <a:spcAft>
                <a:spcPts val="0"/>
              </a:spcAft>
              <a:buSzPts val="1300"/>
              <a:buChar char="●"/>
            </a:pPr>
            <a:r>
              <a:rPr lang="en"/>
              <a:t>Such a path is called a </a:t>
            </a:r>
            <a:r>
              <a:rPr b="1" i="1" lang="en">
                <a:solidFill>
                  <a:srgbClr val="FF0000"/>
                </a:solidFill>
              </a:rPr>
              <a:t>cycle</a:t>
            </a:r>
            <a:r>
              <a:rPr lang="en"/>
              <a:t>, and will cause a search algorithm like </a:t>
            </a:r>
            <a:r>
              <a:rPr b="1" i="1" lang="en">
                <a:solidFill>
                  <a:srgbClr val="FF0000"/>
                </a:solidFill>
              </a:rPr>
              <a:t>BFS</a:t>
            </a:r>
            <a:r>
              <a:rPr lang="en">
                <a:solidFill>
                  <a:srgbClr val="FF0000"/>
                </a:solidFill>
              </a:rPr>
              <a:t> </a:t>
            </a:r>
            <a:r>
              <a:rPr lang="en"/>
              <a:t>to visit the same nodes </a:t>
            </a:r>
            <a:r>
              <a:rPr b="1" i="1" lang="en">
                <a:solidFill>
                  <a:srgbClr val="FF0000"/>
                </a:solidFill>
              </a:rPr>
              <a:t>many times over</a:t>
            </a:r>
            <a:r>
              <a:rPr lang="en"/>
              <a:t>.</a:t>
            </a:r>
            <a:endParaRPr/>
          </a:p>
          <a:p>
            <a:pPr indent="-298450" lvl="1" marL="914400" rtl="0" algn="l">
              <a:lnSpc>
                <a:spcPct val="115000"/>
              </a:lnSpc>
              <a:spcBef>
                <a:spcPts val="0"/>
              </a:spcBef>
              <a:spcAft>
                <a:spcPts val="0"/>
              </a:spcAft>
              <a:buSzPts val="1100"/>
              <a:buChar char="○"/>
            </a:pPr>
            <a:r>
              <a:rPr lang="en"/>
              <a:t>In some cases a search might even get stuck in the same cycle </a:t>
            </a:r>
            <a:r>
              <a:rPr b="1" i="1" lang="en">
                <a:solidFill>
                  <a:srgbClr val="FF0000"/>
                </a:solidFill>
              </a:rPr>
              <a:t>forever</a:t>
            </a:r>
            <a:r>
              <a:rPr lang="en"/>
              <a:t>.</a:t>
            </a:r>
            <a:endParaRPr/>
          </a:p>
          <a:p>
            <a:pPr indent="-311150" lvl="0" marL="457200" rtl="0" algn="l">
              <a:lnSpc>
                <a:spcPct val="115000"/>
              </a:lnSpc>
              <a:spcBef>
                <a:spcPts val="1000"/>
              </a:spcBef>
              <a:spcAft>
                <a:spcPts val="0"/>
              </a:spcAft>
              <a:buSzPts val="1300"/>
              <a:buChar char="●"/>
            </a:pPr>
            <a:r>
              <a:rPr lang="en"/>
              <a:t>We will need to modify our BFS algorithm so that it keeps track of the vertices that were seen </a:t>
            </a:r>
            <a:r>
              <a:rPr b="1" i="1" lang="en">
                <a:solidFill>
                  <a:srgbClr val="FF0000"/>
                </a:solidFill>
              </a:rPr>
              <a:t>previously</a:t>
            </a:r>
            <a:r>
              <a:rPr lang="en"/>
              <a:t>.</a:t>
            </a:r>
            <a:endParaRPr/>
          </a:p>
          <a:p>
            <a:pPr indent="-298450" lvl="1" marL="914400" rtl="0" algn="l">
              <a:lnSpc>
                <a:spcPct val="115000"/>
              </a:lnSpc>
              <a:spcBef>
                <a:spcPts val="0"/>
              </a:spcBef>
              <a:spcAft>
                <a:spcPts val="0"/>
              </a:spcAft>
              <a:buSzPts val="1100"/>
              <a:buChar char="○"/>
            </a:pPr>
            <a:r>
              <a:rPr lang="en"/>
              <a:t>Only </a:t>
            </a:r>
            <a:r>
              <a:rPr b="1" i="1" lang="en">
                <a:solidFill>
                  <a:srgbClr val="FF0000"/>
                </a:solidFill>
              </a:rPr>
              <a:t>new</a:t>
            </a:r>
            <a:r>
              <a:rPr lang="en">
                <a:solidFill>
                  <a:srgbClr val="FF0000"/>
                </a:solidFill>
              </a:rPr>
              <a:t> </a:t>
            </a:r>
            <a:r>
              <a:rPr lang="en"/>
              <a:t>vertices are added to the queue. </a:t>
            </a:r>
            <a:endParaRPr/>
          </a:p>
        </p:txBody>
      </p:sp>
      <p:sp>
        <p:nvSpPr>
          <p:cNvPr id="1287" name="Google Shape;1287;p61"/>
          <p:cNvSpPr txBox="1"/>
          <p:nvPr>
            <p:ph idx="3" type="body"/>
          </p:nvPr>
        </p:nvSpPr>
        <p:spPr>
          <a:xfrm>
            <a:off x="5192225" y="4394450"/>
            <a:ext cx="3706500" cy="57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Not all graphs contain cycles. Those that do are </a:t>
            </a:r>
            <a:r>
              <a:rPr b="1" i="1" lang="en">
                <a:solidFill>
                  <a:srgbClr val="FF0000"/>
                </a:solidFill>
              </a:rPr>
              <a:t>cyclic</a:t>
            </a:r>
            <a:r>
              <a:rPr lang="en"/>
              <a:t>. Those that do not are </a:t>
            </a:r>
            <a:r>
              <a:rPr b="1" i="1" lang="en">
                <a:solidFill>
                  <a:srgbClr val="FF0000"/>
                </a:solidFill>
              </a:rPr>
              <a:t>acyclic</a:t>
            </a:r>
            <a:r>
              <a:rPr lang="en"/>
              <a:t>.</a:t>
            </a:r>
            <a:endParaRPr/>
          </a:p>
        </p:txBody>
      </p:sp>
      <p:sp>
        <p:nvSpPr>
          <p:cNvPr id="1288" name="Google Shape;1288;p61"/>
          <p:cNvSpPr/>
          <p:nvPr/>
        </p:nvSpPr>
        <p:spPr>
          <a:xfrm>
            <a:off x="8533156" y="2810799"/>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9" name="Google Shape;1289;p61"/>
          <p:cNvSpPr/>
          <p:nvPr/>
        </p:nvSpPr>
        <p:spPr>
          <a:xfrm>
            <a:off x="8478204" y="2131527"/>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290" name="Google Shape;1290;p61"/>
          <p:cNvCxnSpPr>
            <a:stCxn id="1291" idx="1"/>
            <a:endCxn id="1292" idx="5"/>
          </p:cNvCxnSpPr>
          <p:nvPr/>
        </p:nvCxnSpPr>
        <p:spPr>
          <a:xfrm rot="10800000">
            <a:off x="6042208" y="1551356"/>
            <a:ext cx="323400" cy="299400"/>
          </a:xfrm>
          <a:prstGeom prst="straightConnector1">
            <a:avLst/>
          </a:prstGeom>
          <a:noFill/>
          <a:ln cap="flat" cmpd="sng" w="19050">
            <a:solidFill>
              <a:srgbClr val="FF9900"/>
            </a:solidFill>
            <a:prstDash val="solid"/>
            <a:round/>
            <a:headEnd len="sm" w="sm" type="none"/>
            <a:tailEnd len="sm" w="sm" type="none"/>
          </a:ln>
        </p:spPr>
      </p:cxnSp>
      <p:cxnSp>
        <p:nvCxnSpPr>
          <p:cNvPr id="1293" name="Google Shape;1293;p61"/>
          <p:cNvCxnSpPr>
            <a:endCxn id="1294" idx="4"/>
          </p:cNvCxnSpPr>
          <p:nvPr/>
        </p:nvCxnSpPr>
        <p:spPr>
          <a:xfrm rot="10800000">
            <a:off x="6487902" y="1256150"/>
            <a:ext cx="0" cy="544200"/>
          </a:xfrm>
          <a:prstGeom prst="straightConnector1">
            <a:avLst/>
          </a:prstGeom>
          <a:noFill/>
          <a:ln cap="flat" cmpd="sng" w="19050">
            <a:solidFill>
              <a:srgbClr val="FF9900"/>
            </a:solidFill>
            <a:prstDash val="solid"/>
            <a:round/>
            <a:headEnd len="sm" w="sm" type="none"/>
            <a:tailEnd len="sm" w="sm" type="none"/>
          </a:ln>
        </p:spPr>
      </p:cxnSp>
      <p:cxnSp>
        <p:nvCxnSpPr>
          <p:cNvPr id="1295" name="Google Shape;1295;p61"/>
          <p:cNvCxnSpPr>
            <a:stCxn id="1291" idx="2"/>
            <a:endCxn id="1296" idx="6"/>
          </p:cNvCxnSpPr>
          <p:nvPr/>
        </p:nvCxnSpPr>
        <p:spPr>
          <a:xfrm flipH="1">
            <a:off x="5839152" y="1973050"/>
            <a:ext cx="475800" cy="39900"/>
          </a:xfrm>
          <a:prstGeom prst="straightConnector1">
            <a:avLst/>
          </a:prstGeom>
          <a:noFill/>
          <a:ln cap="flat" cmpd="sng" w="19050">
            <a:solidFill>
              <a:srgbClr val="FF9900"/>
            </a:solidFill>
            <a:prstDash val="solid"/>
            <a:round/>
            <a:headEnd len="sm" w="sm" type="none"/>
            <a:tailEnd len="sm" w="sm" type="none"/>
          </a:ln>
        </p:spPr>
      </p:cxnSp>
      <p:cxnSp>
        <p:nvCxnSpPr>
          <p:cNvPr id="1297" name="Google Shape;1297;p61"/>
          <p:cNvCxnSpPr>
            <a:stCxn id="1291" idx="3"/>
            <a:endCxn id="1298" idx="7"/>
          </p:cNvCxnSpPr>
          <p:nvPr/>
        </p:nvCxnSpPr>
        <p:spPr>
          <a:xfrm flipH="1">
            <a:off x="6088708" y="2095344"/>
            <a:ext cx="276900" cy="379200"/>
          </a:xfrm>
          <a:prstGeom prst="straightConnector1">
            <a:avLst/>
          </a:prstGeom>
          <a:noFill/>
          <a:ln cap="flat" cmpd="sng" w="19050">
            <a:solidFill>
              <a:srgbClr val="FF9900"/>
            </a:solidFill>
            <a:prstDash val="solid"/>
            <a:round/>
            <a:headEnd len="sm" w="sm" type="none"/>
            <a:tailEnd len="sm" w="sm" type="none"/>
          </a:ln>
        </p:spPr>
      </p:cxnSp>
      <p:cxnSp>
        <p:nvCxnSpPr>
          <p:cNvPr id="1299" name="Google Shape;1299;p61"/>
          <p:cNvCxnSpPr>
            <a:stCxn id="1300" idx="2"/>
            <a:endCxn id="1301" idx="6"/>
          </p:cNvCxnSpPr>
          <p:nvPr/>
        </p:nvCxnSpPr>
        <p:spPr>
          <a:xfrm flipH="1">
            <a:off x="5930842" y="3039038"/>
            <a:ext cx="468600" cy="87000"/>
          </a:xfrm>
          <a:prstGeom prst="straightConnector1">
            <a:avLst/>
          </a:prstGeom>
          <a:noFill/>
          <a:ln cap="flat" cmpd="sng" w="19050">
            <a:solidFill>
              <a:srgbClr val="FF9900"/>
            </a:solidFill>
            <a:prstDash val="solid"/>
            <a:round/>
            <a:headEnd len="sm" w="sm" type="none"/>
            <a:tailEnd len="sm" w="sm" type="none"/>
          </a:ln>
        </p:spPr>
      </p:cxnSp>
      <p:cxnSp>
        <p:nvCxnSpPr>
          <p:cNvPr id="1302" name="Google Shape;1302;p61"/>
          <p:cNvCxnSpPr>
            <a:stCxn id="1300" idx="4"/>
            <a:endCxn id="1303" idx="0"/>
          </p:cNvCxnSpPr>
          <p:nvPr/>
        </p:nvCxnSpPr>
        <p:spPr>
          <a:xfrm flipH="1">
            <a:off x="6384292" y="3211988"/>
            <a:ext cx="188100" cy="425100"/>
          </a:xfrm>
          <a:prstGeom prst="straightConnector1">
            <a:avLst/>
          </a:prstGeom>
          <a:noFill/>
          <a:ln cap="flat" cmpd="sng" w="19050">
            <a:solidFill>
              <a:srgbClr val="FF9900"/>
            </a:solidFill>
            <a:prstDash val="solid"/>
            <a:round/>
            <a:headEnd len="sm" w="sm" type="none"/>
            <a:tailEnd len="sm" w="sm" type="none"/>
          </a:ln>
        </p:spPr>
      </p:cxnSp>
      <p:cxnSp>
        <p:nvCxnSpPr>
          <p:cNvPr id="1304" name="Google Shape;1304;p61"/>
          <p:cNvCxnSpPr>
            <a:stCxn id="1305" idx="4"/>
            <a:endCxn id="1306" idx="0"/>
          </p:cNvCxnSpPr>
          <p:nvPr/>
        </p:nvCxnSpPr>
        <p:spPr>
          <a:xfrm flipH="1">
            <a:off x="7330343" y="3437357"/>
            <a:ext cx="85500" cy="414000"/>
          </a:xfrm>
          <a:prstGeom prst="straightConnector1">
            <a:avLst/>
          </a:prstGeom>
          <a:noFill/>
          <a:ln cap="flat" cmpd="sng" w="19050">
            <a:solidFill>
              <a:srgbClr val="FF9900"/>
            </a:solidFill>
            <a:prstDash val="solid"/>
            <a:round/>
            <a:headEnd len="sm" w="sm" type="none"/>
            <a:tailEnd len="sm" w="sm" type="none"/>
          </a:ln>
        </p:spPr>
      </p:cxnSp>
      <p:cxnSp>
        <p:nvCxnSpPr>
          <p:cNvPr id="1307" name="Google Shape;1307;p61"/>
          <p:cNvCxnSpPr>
            <a:stCxn id="1305" idx="5"/>
            <a:endCxn id="1308" idx="1"/>
          </p:cNvCxnSpPr>
          <p:nvPr/>
        </p:nvCxnSpPr>
        <p:spPr>
          <a:xfrm>
            <a:off x="7538137" y="3386701"/>
            <a:ext cx="324900" cy="365700"/>
          </a:xfrm>
          <a:prstGeom prst="straightConnector1">
            <a:avLst/>
          </a:prstGeom>
          <a:noFill/>
          <a:ln cap="flat" cmpd="sng" w="19050">
            <a:solidFill>
              <a:srgbClr val="FF9900"/>
            </a:solidFill>
            <a:prstDash val="solid"/>
            <a:round/>
            <a:headEnd len="sm" w="sm" type="none"/>
            <a:tailEnd len="sm" w="sm" type="none"/>
          </a:ln>
        </p:spPr>
      </p:cxnSp>
      <p:cxnSp>
        <p:nvCxnSpPr>
          <p:cNvPr id="1309" name="Google Shape;1309;p61"/>
          <p:cNvCxnSpPr>
            <a:stCxn id="1310" idx="4"/>
            <a:endCxn id="1311" idx="1"/>
          </p:cNvCxnSpPr>
          <p:nvPr/>
        </p:nvCxnSpPr>
        <p:spPr>
          <a:xfrm>
            <a:off x="7884075" y="2911008"/>
            <a:ext cx="449400" cy="495300"/>
          </a:xfrm>
          <a:prstGeom prst="straightConnector1">
            <a:avLst/>
          </a:prstGeom>
          <a:noFill/>
          <a:ln cap="flat" cmpd="sng" w="19050">
            <a:solidFill>
              <a:srgbClr val="FF9900"/>
            </a:solidFill>
            <a:prstDash val="solid"/>
            <a:round/>
            <a:headEnd len="sm" w="sm" type="none"/>
            <a:tailEnd len="sm" w="sm" type="none"/>
          </a:ln>
        </p:spPr>
      </p:cxnSp>
      <p:cxnSp>
        <p:nvCxnSpPr>
          <p:cNvPr id="1312" name="Google Shape;1312;p61"/>
          <p:cNvCxnSpPr>
            <a:stCxn id="1310" idx="6"/>
            <a:endCxn id="1288" idx="2"/>
          </p:cNvCxnSpPr>
          <p:nvPr/>
        </p:nvCxnSpPr>
        <p:spPr>
          <a:xfrm>
            <a:off x="8057025" y="2738058"/>
            <a:ext cx="476100" cy="245700"/>
          </a:xfrm>
          <a:prstGeom prst="straightConnector1">
            <a:avLst/>
          </a:prstGeom>
          <a:noFill/>
          <a:ln cap="flat" cmpd="sng" w="19050">
            <a:solidFill>
              <a:srgbClr val="FF9900"/>
            </a:solidFill>
            <a:prstDash val="solid"/>
            <a:round/>
            <a:headEnd len="sm" w="sm" type="none"/>
            <a:tailEnd len="sm" w="sm" type="none"/>
          </a:ln>
        </p:spPr>
      </p:cxnSp>
      <p:cxnSp>
        <p:nvCxnSpPr>
          <p:cNvPr id="1313" name="Google Shape;1313;p61"/>
          <p:cNvCxnSpPr>
            <a:stCxn id="1310" idx="7"/>
            <a:endCxn id="1289" idx="2"/>
          </p:cNvCxnSpPr>
          <p:nvPr/>
        </p:nvCxnSpPr>
        <p:spPr>
          <a:xfrm flipH="1" rot="10800000">
            <a:off x="8006369" y="2304364"/>
            <a:ext cx="471900" cy="311400"/>
          </a:xfrm>
          <a:prstGeom prst="straightConnector1">
            <a:avLst/>
          </a:prstGeom>
          <a:noFill/>
          <a:ln cap="flat" cmpd="sng" w="19050">
            <a:solidFill>
              <a:srgbClr val="FF9900"/>
            </a:solidFill>
            <a:prstDash val="solid"/>
            <a:round/>
            <a:headEnd len="sm" w="sm" type="none"/>
            <a:tailEnd len="sm" w="sm" type="none"/>
          </a:ln>
        </p:spPr>
      </p:cxnSp>
      <p:cxnSp>
        <p:nvCxnSpPr>
          <p:cNvPr id="1314" name="Google Shape;1314;p61"/>
          <p:cNvCxnSpPr>
            <a:stCxn id="1310" idx="0"/>
            <a:endCxn id="1315" idx="4"/>
          </p:cNvCxnSpPr>
          <p:nvPr/>
        </p:nvCxnSpPr>
        <p:spPr>
          <a:xfrm flipH="1" rot="10800000">
            <a:off x="7884075" y="2043708"/>
            <a:ext cx="392700" cy="521400"/>
          </a:xfrm>
          <a:prstGeom prst="straightConnector1">
            <a:avLst/>
          </a:prstGeom>
          <a:noFill/>
          <a:ln cap="flat" cmpd="sng" w="19050">
            <a:solidFill>
              <a:srgbClr val="FF9900"/>
            </a:solidFill>
            <a:prstDash val="solid"/>
            <a:round/>
            <a:headEnd len="sm" w="sm" type="none"/>
            <a:tailEnd len="sm" w="sm" type="none"/>
          </a:ln>
        </p:spPr>
      </p:cxnSp>
      <p:cxnSp>
        <p:nvCxnSpPr>
          <p:cNvPr id="1316" name="Google Shape;1316;p61"/>
          <p:cNvCxnSpPr>
            <a:stCxn id="1317" idx="0"/>
            <a:endCxn id="1318" idx="4"/>
          </p:cNvCxnSpPr>
          <p:nvPr/>
        </p:nvCxnSpPr>
        <p:spPr>
          <a:xfrm flipH="1" rot="10800000">
            <a:off x="7734517" y="1394476"/>
            <a:ext cx="196500" cy="376500"/>
          </a:xfrm>
          <a:prstGeom prst="straightConnector1">
            <a:avLst/>
          </a:prstGeom>
          <a:noFill/>
          <a:ln cap="flat" cmpd="sng" w="19050">
            <a:solidFill>
              <a:srgbClr val="FF9900"/>
            </a:solidFill>
            <a:prstDash val="solid"/>
            <a:round/>
            <a:headEnd len="sm" w="sm" type="none"/>
            <a:tailEnd len="sm" w="sm" type="none"/>
          </a:ln>
        </p:spPr>
      </p:cxnSp>
      <p:cxnSp>
        <p:nvCxnSpPr>
          <p:cNvPr id="1319" name="Google Shape;1319;p61"/>
          <p:cNvCxnSpPr>
            <a:stCxn id="1291" idx="7"/>
            <a:endCxn id="1320" idx="3"/>
          </p:cNvCxnSpPr>
          <p:nvPr/>
        </p:nvCxnSpPr>
        <p:spPr>
          <a:xfrm flipH="1" rot="10800000">
            <a:off x="6610196" y="1165256"/>
            <a:ext cx="504300" cy="685500"/>
          </a:xfrm>
          <a:prstGeom prst="straightConnector1">
            <a:avLst/>
          </a:prstGeom>
          <a:noFill/>
          <a:ln cap="flat" cmpd="sng" w="19050">
            <a:solidFill>
              <a:srgbClr val="FF9900"/>
            </a:solidFill>
            <a:prstDash val="solid"/>
            <a:round/>
            <a:headEnd len="sm" w="sm" type="none"/>
            <a:tailEnd len="sm" w="sm" type="none"/>
          </a:ln>
        </p:spPr>
      </p:cxnSp>
      <p:cxnSp>
        <p:nvCxnSpPr>
          <p:cNvPr id="1321" name="Google Shape;1321;p61"/>
          <p:cNvCxnSpPr>
            <a:stCxn id="1301" idx="7"/>
            <a:endCxn id="1298" idx="4"/>
          </p:cNvCxnSpPr>
          <p:nvPr/>
        </p:nvCxnSpPr>
        <p:spPr>
          <a:xfrm flipH="1" rot="10800000">
            <a:off x="5880080" y="2769792"/>
            <a:ext cx="86100" cy="234000"/>
          </a:xfrm>
          <a:prstGeom prst="straightConnector1">
            <a:avLst/>
          </a:prstGeom>
          <a:noFill/>
          <a:ln cap="flat" cmpd="sng" w="19050">
            <a:solidFill>
              <a:srgbClr val="EA9999"/>
            </a:solidFill>
            <a:prstDash val="solid"/>
            <a:round/>
            <a:headEnd len="sm" w="sm" type="none"/>
            <a:tailEnd len="sm" w="sm" type="none"/>
          </a:ln>
        </p:spPr>
      </p:cxnSp>
      <p:cxnSp>
        <p:nvCxnSpPr>
          <p:cNvPr id="1322" name="Google Shape;1322;p61"/>
          <p:cNvCxnSpPr>
            <a:stCxn id="1300" idx="6"/>
            <a:endCxn id="1305" idx="2"/>
          </p:cNvCxnSpPr>
          <p:nvPr/>
        </p:nvCxnSpPr>
        <p:spPr>
          <a:xfrm>
            <a:off x="6745342" y="3039038"/>
            <a:ext cx="497700" cy="225300"/>
          </a:xfrm>
          <a:prstGeom prst="straightConnector1">
            <a:avLst/>
          </a:prstGeom>
          <a:noFill/>
          <a:ln cap="flat" cmpd="sng" w="19050">
            <a:solidFill>
              <a:srgbClr val="FF9900"/>
            </a:solidFill>
            <a:prstDash val="solid"/>
            <a:round/>
            <a:headEnd len="sm" w="sm" type="none"/>
            <a:tailEnd len="sm" w="sm" type="none"/>
          </a:ln>
        </p:spPr>
      </p:cxnSp>
      <p:cxnSp>
        <p:nvCxnSpPr>
          <p:cNvPr id="1323" name="Google Shape;1323;p61"/>
          <p:cNvCxnSpPr>
            <a:stCxn id="1292" idx="4"/>
            <a:endCxn id="1296" idx="7"/>
          </p:cNvCxnSpPr>
          <p:nvPr/>
        </p:nvCxnSpPr>
        <p:spPr>
          <a:xfrm flipH="1">
            <a:off x="5788616" y="1602010"/>
            <a:ext cx="131400" cy="288600"/>
          </a:xfrm>
          <a:prstGeom prst="straightConnector1">
            <a:avLst/>
          </a:prstGeom>
          <a:noFill/>
          <a:ln cap="flat" cmpd="sng" w="19050">
            <a:solidFill>
              <a:srgbClr val="FFFF00"/>
            </a:solidFill>
            <a:prstDash val="solid"/>
            <a:round/>
            <a:headEnd len="sm" w="sm" type="none"/>
            <a:tailEnd len="sm" w="sm" type="none"/>
          </a:ln>
        </p:spPr>
      </p:cxnSp>
      <p:cxnSp>
        <p:nvCxnSpPr>
          <p:cNvPr id="1324" name="Google Shape;1324;p61"/>
          <p:cNvCxnSpPr>
            <a:stCxn id="1294" idx="6"/>
            <a:endCxn id="1320" idx="2"/>
          </p:cNvCxnSpPr>
          <p:nvPr/>
        </p:nvCxnSpPr>
        <p:spPr>
          <a:xfrm flipH="1" rot="10800000">
            <a:off x="6660852" y="1043000"/>
            <a:ext cx="402900" cy="40200"/>
          </a:xfrm>
          <a:prstGeom prst="straightConnector1">
            <a:avLst/>
          </a:prstGeom>
          <a:noFill/>
          <a:ln cap="flat" cmpd="sng" w="19050">
            <a:solidFill>
              <a:srgbClr val="FFFF00"/>
            </a:solidFill>
            <a:prstDash val="solid"/>
            <a:round/>
            <a:headEnd len="sm" w="sm" type="none"/>
            <a:tailEnd len="sm" w="sm" type="none"/>
          </a:ln>
        </p:spPr>
      </p:cxnSp>
      <p:cxnSp>
        <p:nvCxnSpPr>
          <p:cNvPr id="1325" name="Google Shape;1325;p61"/>
          <p:cNvCxnSpPr>
            <a:stCxn id="1294" idx="5"/>
            <a:endCxn id="1317" idx="1"/>
          </p:cNvCxnSpPr>
          <p:nvPr/>
        </p:nvCxnSpPr>
        <p:spPr>
          <a:xfrm>
            <a:off x="6610196" y="1205494"/>
            <a:ext cx="1002000" cy="616200"/>
          </a:xfrm>
          <a:prstGeom prst="straightConnector1">
            <a:avLst/>
          </a:prstGeom>
          <a:noFill/>
          <a:ln cap="flat" cmpd="sng" w="19050">
            <a:solidFill>
              <a:srgbClr val="FFFF00"/>
            </a:solidFill>
            <a:prstDash val="solid"/>
            <a:round/>
            <a:headEnd len="sm" w="sm" type="none"/>
            <a:tailEnd len="sm" w="sm" type="none"/>
          </a:ln>
        </p:spPr>
      </p:cxnSp>
      <p:cxnSp>
        <p:nvCxnSpPr>
          <p:cNvPr id="1326" name="Google Shape;1326;p61"/>
          <p:cNvCxnSpPr>
            <a:stCxn id="1294" idx="3"/>
            <a:endCxn id="1298" idx="0"/>
          </p:cNvCxnSpPr>
          <p:nvPr/>
        </p:nvCxnSpPr>
        <p:spPr>
          <a:xfrm flipH="1">
            <a:off x="5966308" y="1205494"/>
            <a:ext cx="399300" cy="1218600"/>
          </a:xfrm>
          <a:prstGeom prst="straightConnector1">
            <a:avLst/>
          </a:prstGeom>
          <a:noFill/>
          <a:ln cap="flat" cmpd="sng" w="19050">
            <a:solidFill>
              <a:srgbClr val="FFFF00"/>
            </a:solidFill>
            <a:prstDash val="solid"/>
            <a:round/>
            <a:headEnd len="sm" w="sm" type="none"/>
            <a:tailEnd len="sm" w="sm" type="none"/>
          </a:ln>
        </p:spPr>
      </p:cxnSp>
      <p:cxnSp>
        <p:nvCxnSpPr>
          <p:cNvPr id="1327" name="Google Shape;1327;p61"/>
          <p:cNvCxnSpPr>
            <a:stCxn id="1301" idx="0"/>
            <a:endCxn id="1296" idx="4"/>
          </p:cNvCxnSpPr>
          <p:nvPr/>
        </p:nvCxnSpPr>
        <p:spPr>
          <a:xfrm rot="10800000">
            <a:off x="5666286" y="2186036"/>
            <a:ext cx="91500" cy="767100"/>
          </a:xfrm>
          <a:prstGeom prst="straightConnector1">
            <a:avLst/>
          </a:prstGeom>
          <a:noFill/>
          <a:ln cap="flat" cmpd="sng" w="19050">
            <a:solidFill>
              <a:srgbClr val="FFFF00"/>
            </a:solidFill>
            <a:prstDash val="solid"/>
            <a:round/>
            <a:headEnd len="sm" w="sm" type="none"/>
            <a:tailEnd len="sm" w="sm" type="none"/>
          </a:ln>
        </p:spPr>
      </p:cxnSp>
      <p:cxnSp>
        <p:nvCxnSpPr>
          <p:cNvPr id="1328" name="Google Shape;1328;p61"/>
          <p:cNvCxnSpPr>
            <a:stCxn id="1306" idx="1"/>
            <a:endCxn id="1300" idx="5"/>
          </p:cNvCxnSpPr>
          <p:nvPr/>
        </p:nvCxnSpPr>
        <p:spPr>
          <a:xfrm rot="10800000">
            <a:off x="6694816" y="3161297"/>
            <a:ext cx="513300" cy="740700"/>
          </a:xfrm>
          <a:prstGeom prst="straightConnector1">
            <a:avLst/>
          </a:prstGeom>
          <a:noFill/>
          <a:ln cap="flat" cmpd="sng" w="19050">
            <a:solidFill>
              <a:srgbClr val="FFFF00"/>
            </a:solidFill>
            <a:prstDash val="solid"/>
            <a:round/>
            <a:headEnd len="sm" w="sm" type="none"/>
            <a:tailEnd len="sm" w="sm" type="none"/>
          </a:ln>
        </p:spPr>
      </p:cxnSp>
      <p:cxnSp>
        <p:nvCxnSpPr>
          <p:cNvPr id="1329" name="Google Shape;1329;p61"/>
          <p:cNvCxnSpPr>
            <a:stCxn id="1306" idx="7"/>
            <a:endCxn id="1310" idx="3"/>
          </p:cNvCxnSpPr>
          <p:nvPr/>
        </p:nvCxnSpPr>
        <p:spPr>
          <a:xfrm flipH="1" rot="10800000">
            <a:off x="7452704" y="2860397"/>
            <a:ext cx="309000" cy="1041600"/>
          </a:xfrm>
          <a:prstGeom prst="straightConnector1">
            <a:avLst/>
          </a:prstGeom>
          <a:noFill/>
          <a:ln cap="flat" cmpd="sng" w="19050">
            <a:solidFill>
              <a:srgbClr val="FFFF00"/>
            </a:solidFill>
            <a:prstDash val="solid"/>
            <a:round/>
            <a:headEnd len="sm" w="sm" type="none"/>
            <a:tailEnd len="sm" w="sm" type="none"/>
          </a:ln>
        </p:spPr>
      </p:cxnSp>
      <p:cxnSp>
        <p:nvCxnSpPr>
          <p:cNvPr id="1330" name="Google Shape;1330;p61"/>
          <p:cNvCxnSpPr>
            <a:stCxn id="1305" idx="6"/>
            <a:endCxn id="1311" idx="2"/>
          </p:cNvCxnSpPr>
          <p:nvPr/>
        </p:nvCxnSpPr>
        <p:spPr>
          <a:xfrm>
            <a:off x="7588793" y="3264407"/>
            <a:ext cx="693900" cy="264300"/>
          </a:xfrm>
          <a:prstGeom prst="straightConnector1">
            <a:avLst/>
          </a:prstGeom>
          <a:noFill/>
          <a:ln cap="flat" cmpd="sng" w="19050">
            <a:solidFill>
              <a:srgbClr val="FFFF00"/>
            </a:solidFill>
            <a:prstDash val="solid"/>
            <a:round/>
            <a:headEnd len="sm" w="sm" type="none"/>
            <a:tailEnd len="sm" w="sm" type="none"/>
          </a:ln>
        </p:spPr>
      </p:cxnSp>
      <p:cxnSp>
        <p:nvCxnSpPr>
          <p:cNvPr id="1331" name="Google Shape;1331;p61"/>
          <p:cNvCxnSpPr>
            <a:stCxn id="1303" idx="6"/>
            <a:endCxn id="1306" idx="2"/>
          </p:cNvCxnSpPr>
          <p:nvPr/>
        </p:nvCxnSpPr>
        <p:spPr>
          <a:xfrm>
            <a:off x="6557318" y="3810001"/>
            <a:ext cx="600000" cy="214200"/>
          </a:xfrm>
          <a:prstGeom prst="straightConnector1">
            <a:avLst/>
          </a:prstGeom>
          <a:noFill/>
          <a:ln cap="flat" cmpd="sng" w="19050">
            <a:solidFill>
              <a:srgbClr val="FFFF00"/>
            </a:solidFill>
            <a:prstDash val="solid"/>
            <a:round/>
            <a:headEnd len="sm" w="sm" type="none"/>
            <a:tailEnd len="sm" w="sm" type="none"/>
          </a:ln>
        </p:spPr>
      </p:cxnSp>
      <p:cxnSp>
        <p:nvCxnSpPr>
          <p:cNvPr id="1332" name="Google Shape;1332;p61"/>
          <p:cNvCxnSpPr>
            <a:stCxn id="1318" idx="5"/>
            <a:endCxn id="1315" idx="0"/>
          </p:cNvCxnSpPr>
          <p:nvPr/>
        </p:nvCxnSpPr>
        <p:spPr>
          <a:xfrm>
            <a:off x="8053179" y="1343816"/>
            <a:ext cx="223500" cy="354000"/>
          </a:xfrm>
          <a:prstGeom prst="straightConnector1">
            <a:avLst/>
          </a:prstGeom>
          <a:noFill/>
          <a:ln cap="flat" cmpd="sng" w="19050">
            <a:solidFill>
              <a:srgbClr val="FFFF00"/>
            </a:solidFill>
            <a:prstDash val="solid"/>
            <a:round/>
            <a:headEnd len="sm" w="sm" type="none"/>
            <a:tailEnd len="sm" w="sm" type="none"/>
          </a:ln>
        </p:spPr>
      </p:cxnSp>
      <p:cxnSp>
        <p:nvCxnSpPr>
          <p:cNvPr id="1333" name="Google Shape;1333;p61"/>
          <p:cNvCxnSpPr>
            <a:stCxn id="1318" idx="2"/>
            <a:endCxn id="1298" idx="6"/>
          </p:cNvCxnSpPr>
          <p:nvPr/>
        </p:nvCxnSpPr>
        <p:spPr>
          <a:xfrm flipH="1">
            <a:off x="6139135" y="1221522"/>
            <a:ext cx="1618800" cy="1375500"/>
          </a:xfrm>
          <a:prstGeom prst="straightConnector1">
            <a:avLst/>
          </a:prstGeom>
          <a:noFill/>
          <a:ln cap="flat" cmpd="sng" w="19050">
            <a:solidFill>
              <a:srgbClr val="FFFF00"/>
            </a:solidFill>
            <a:prstDash val="solid"/>
            <a:round/>
            <a:headEnd len="sm" w="sm" type="none"/>
            <a:tailEnd len="sm" w="sm" type="none"/>
          </a:ln>
        </p:spPr>
      </p:cxnSp>
      <p:cxnSp>
        <p:nvCxnSpPr>
          <p:cNvPr id="1334" name="Google Shape;1334;p61"/>
          <p:cNvCxnSpPr>
            <a:stCxn id="1315" idx="4"/>
            <a:endCxn id="1311" idx="0"/>
          </p:cNvCxnSpPr>
          <p:nvPr/>
        </p:nvCxnSpPr>
        <p:spPr>
          <a:xfrm>
            <a:off x="8276743" y="2043846"/>
            <a:ext cx="179100" cy="1311900"/>
          </a:xfrm>
          <a:prstGeom prst="straightConnector1">
            <a:avLst/>
          </a:prstGeom>
          <a:noFill/>
          <a:ln cap="flat" cmpd="sng" w="19050">
            <a:solidFill>
              <a:srgbClr val="FFFF00"/>
            </a:solidFill>
            <a:prstDash val="solid"/>
            <a:round/>
            <a:headEnd len="sm" w="sm" type="none"/>
            <a:tailEnd len="sm" w="sm" type="none"/>
          </a:ln>
        </p:spPr>
      </p:cxnSp>
      <p:cxnSp>
        <p:nvCxnSpPr>
          <p:cNvPr id="1335" name="Google Shape;1335;p61"/>
          <p:cNvCxnSpPr>
            <a:stCxn id="1288" idx="1"/>
            <a:endCxn id="1317" idx="5"/>
          </p:cNvCxnSpPr>
          <p:nvPr/>
        </p:nvCxnSpPr>
        <p:spPr>
          <a:xfrm rot="10800000">
            <a:off x="7856912" y="2066155"/>
            <a:ext cx="726900" cy="795300"/>
          </a:xfrm>
          <a:prstGeom prst="straightConnector1">
            <a:avLst/>
          </a:prstGeom>
          <a:noFill/>
          <a:ln cap="flat" cmpd="sng" w="19050">
            <a:solidFill>
              <a:srgbClr val="FFFF00"/>
            </a:solidFill>
            <a:prstDash val="solid"/>
            <a:round/>
            <a:headEnd len="sm" w="sm" type="none"/>
            <a:tailEnd len="sm" w="sm" type="none"/>
          </a:ln>
        </p:spPr>
      </p:cxnSp>
      <p:cxnSp>
        <p:nvCxnSpPr>
          <p:cNvPr id="1336" name="Google Shape;1336;p61"/>
          <p:cNvCxnSpPr>
            <a:stCxn id="1300" idx="0"/>
            <a:endCxn id="1291" idx="4"/>
          </p:cNvCxnSpPr>
          <p:nvPr/>
        </p:nvCxnSpPr>
        <p:spPr>
          <a:xfrm rot="10800000">
            <a:off x="6487792" y="2146088"/>
            <a:ext cx="84600" cy="720000"/>
          </a:xfrm>
          <a:prstGeom prst="straightConnector1">
            <a:avLst/>
          </a:prstGeom>
          <a:noFill/>
          <a:ln cap="flat" cmpd="sng" w="19050">
            <a:solidFill>
              <a:srgbClr val="FFFF00"/>
            </a:solidFill>
            <a:prstDash val="solid"/>
            <a:round/>
            <a:headEnd len="sm" w="sm" type="none"/>
            <a:tailEnd len="sm" w="sm" type="none"/>
          </a:ln>
        </p:spPr>
      </p:cxnSp>
      <p:sp>
        <p:nvSpPr>
          <p:cNvPr id="1301" name="Google Shape;1301;p61"/>
          <p:cNvSpPr/>
          <p:nvPr/>
        </p:nvSpPr>
        <p:spPr>
          <a:xfrm>
            <a:off x="5584836" y="2953136"/>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3" name="Google Shape;1303;p61"/>
          <p:cNvSpPr/>
          <p:nvPr/>
        </p:nvSpPr>
        <p:spPr>
          <a:xfrm>
            <a:off x="6211418" y="3637051"/>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6" name="Google Shape;1306;p61"/>
          <p:cNvSpPr/>
          <p:nvPr/>
        </p:nvSpPr>
        <p:spPr>
          <a:xfrm>
            <a:off x="7157460" y="3851341"/>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8" name="Google Shape;1308;p61"/>
          <p:cNvSpPr/>
          <p:nvPr/>
        </p:nvSpPr>
        <p:spPr>
          <a:xfrm>
            <a:off x="7812438" y="3701647"/>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8" name="Google Shape;1318;p61"/>
          <p:cNvSpPr/>
          <p:nvPr/>
        </p:nvSpPr>
        <p:spPr>
          <a:xfrm>
            <a:off x="7757935" y="1048572"/>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20" name="Google Shape;1320;p61"/>
          <p:cNvSpPr/>
          <p:nvPr/>
        </p:nvSpPr>
        <p:spPr>
          <a:xfrm>
            <a:off x="7063841" y="870124"/>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4" name="Google Shape;1294;p61"/>
          <p:cNvSpPr/>
          <p:nvPr/>
        </p:nvSpPr>
        <p:spPr>
          <a:xfrm>
            <a:off x="6314952" y="910250"/>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2" name="Google Shape;1292;p61"/>
          <p:cNvSpPr/>
          <p:nvPr/>
        </p:nvSpPr>
        <p:spPr>
          <a:xfrm>
            <a:off x="5747066" y="1256110"/>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6" name="Google Shape;1296;p61"/>
          <p:cNvSpPr/>
          <p:nvPr/>
        </p:nvSpPr>
        <p:spPr>
          <a:xfrm>
            <a:off x="5493325" y="1840036"/>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8" name="Google Shape;1298;p61"/>
          <p:cNvSpPr/>
          <p:nvPr/>
        </p:nvSpPr>
        <p:spPr>
          <a:xfrm>
            <a:off x="5793338" y="2423961"/>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37" name="Google Shape;1337;p61"/>
          <p:cNvCxnSpPr>
            <a:stCxn id="1338" idx="1"/>
            <a:endCxn id="1291" idx="5"/>
          </p:cNvCxnSpPr>
          <p:nvPr/>
        </p:nvCxnSpPr>
        <p:spPr>
          <a:xfrm rot="10800000">
            <a:off x="6610136" y="2095299"/>
            <a:ext cx="388200" cy="283500"/>
          </a:xfrm>
          <a:prstGeom prst="straightConnector1">
            <a:avLst/>
          </a:prstGeom>
          <a:noFill/>
          <a:ln cap="flat" cmpd="sng" w="19050">
            <a:solidFill>
              <a:srgbClr val="6AA84F"/>
            </a:solidFill>
            <a:prstDash val="solid"/>
            <a:round/>
            <a:headEnd len="sm" w="sm" type="none"/>
            <a:tailEnd len="sm" w="sm" type="none"/>
          </a:ln>
        </p:spPr>
      </p:cxnSp>
      <p:cxnSp>
        <p:nvCxnSpPr>
          <p:cNvPr id="1339" name="Google Shape;1339;p61"/>
          <p:cNvCxnSpPr>
            <a:stCxn id="1338" idx="7"/>
            <a:endCxn id="1317" idx="3"/>
          </p:cNvCxnSpPr>
          <p:nvPr/>
        </p:nvCxnSpPr>
        <p:spPr>
          <a:xfrm flipH="1" rot="10800000">
            <a:off x="7242924" y="2066199"/>
            <a:ext cx="369300" cy="312600"/>
          </a:xfrm>
          <a:prstGeom prst="straightConnector1">
            <a:avLst/>
          </a:prstGeom>
          <a:noFill/>
          <a:ln cap="flat" cmpd="sng" w="19050">
            <a:solidFill>
              <a:srgbClr val="6AA84F"/>
            </a:solidFill>
            <a:prstDash val="solid"/>
            <a:round/>
            <a:headEnd len="sm" w="sm" type="none"/>
            <a:tailEnd len="sm" w="sm" type="none"/>
          </a:ln>
        </p:spPr>
      </p:cxnSp>
      <p:cxnSp>
        <p:nvCxnSpPr>
          <p:cNvPr id="1340" name="Google Shape;1340;p61"/>
          <p:cNvCxnSpPr>
            <a:stCxn id="1338" idx="6"/>
            <a:endCxn id="1310" idx="1"/>
          </p:cNvCxnSpPr>
          <p:nvPr/>
        </p:nvCxnSpPr>
        <p:spPr>
          <a:xfrm>
            <a:off x="7293580" y="2501093"/>
            <a:ext cx="468300" cy="114600"/>
          </a:xfrm>
          <a:prstGeom prst="straightConnector1">
            <a:avLst/>
          </a:prstGeom>
          <a:noFill/>
          <a:ln cap="flat" cmpd="sng" w="19050">
            <a:solidFill>
              <a:srgbClr val="6AA84F"/>
            </a:solidFill>
            <a:prstDash val="solid"/>
            <a:round/>
            <a:headEnd len="sm" w="sm" type="none"/>
            <a:tailEnd len="sm" w="sm" type="none"/>
          </a:ln>
        </p:spPr>
      </p:cxnSp>
      <p:cxnSp>
        <p:nvCxnSpPr>
          <p:cNvPr id="1341" name="Google Shape;1341;p61"/>
          <p:cNvCxnSpPr>
            <a:stCxn id="1338" idx="5"/>
            <a:endCxn id="1305" idx="0"/>
          </p:cNvCxnSpPr>
          <p:nvPr/>
        </p:nvCxnSpPr>
        <p:spPr>
          <a:xfrm>
            <a:off x="7242924" y="2623387"/>
            <a:ext cx="172800" cy="468000"/>
          </a:xfrm>
          <a:prstGeom prst="straightConnector1">
            <a:avLst/>
          </a:prstGeom>
          <a:noFill/>
          <a:ln cap="flat" cmpd="sng" w="19050">
            <a:solidFill>
              <a:srgbClr val="6AA84F"/>
            </a:solidFill>
            <a:prstDash val="solid"/>
            <a:round/>
            <a:headEnd len="sm" w="sm" type="none"/>
            <a:tailEnd len="sm" w="sm" type="none"/>
          </a:ln>
        </p:spPr>
      </p:cxnSp>
      <p:cxnSp>
        <p:nvCxnSpPr>
          <p:cNvPr id="1342" name="Google Shape;1342;p61"/>
          <p:cNvCxnSpPr>
            <a:stCxn id="1338" idx="3"/>
            <a:endCxn id="1300" idx="7"/>
          </p:cNvCxnSpPr>
          <p:nvPr/>
        </p:nvCxnSpPr>
        <p:spPr>
          <a:xfrm flipH="1">
            <a:off x="6694736" y="2623387"/>
            <a:ext cx="303600" cy="293400"/>
          </a:xfrm>
          <a:prstGeom prst="straightConnector1">
            <a:avLst/>
          </a:prstGeom>
          <a:noFill/>
          <a:ln cap="flat" cmpd="sng" w="19050">
            <a:solidFill>
              <a:srgbClr val="6AA84F"/>
            </a:solidFill>
            <a:prstDash val="solid"/>
            <a:round/>
            <a:headEnd len="sm" w="sm" type="none"/>
            <a:tailEnd len="sm" w="sm" type="none"/>
          </a:ln>
        </p:spPr>
      </p:cxnSp>
      <p:sp>
        <p:nvSpPr>
          <p:cNvPr id="1338" name="Google Shape;1338;p61"/>
          <p:cNvSpPr/>
          <p:nvPr/>
        </p:nvSpPr>
        <p:spPr>
          <a:xfrm>
            <a:off x="6947680" y="2328143"/>
            <a:ext cx="345900" cy="345900"/>
          </a:xfrm>
          <a:prstGeom prst="smileyFace">
            <a:avLst>
              <a:gd fmla="val 4653" name="adj"/>
            </a:avLst>
          </a:prstGeom>
          <a:solidFill>
            <a:srgbClr val="FFFF00"/>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0" name="Google Shape;1310;p61"/>
          <p:cNvSpPr/>
          <p:nvPr/>
        </p:nvSpPr>
        <p:spPr>
          <a:xfrm>
            <a:off x="7711125" y="2565108"/>
            <a:ext cx="345900" cy="3459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5" name="Google Shape;1305;p61"/>
          <p:cNvSpPr/>
          <p:nvPr/>
        </p:nvSpPr>
        <p:spPr>
          <a:xfrm>
            <a:off x="7242893" y="3091457"/>
            <a:ext cx="345900" cy="3459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0" name="Google Shape;1300;p61"/>
          <p:cNvSpPr/>
          <p:nvPr/>
        </p:nvSpPr>
        <p:spPr>
          <a:xfrm>
            <a:off x="6399442" y="2866088"/>
            <a:ext cx="345900" cy="3459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7" name="Google Shape;1317;p61"/>
          <p:cNvSpPr/>
          <p:nvPr/>
        </p:nvSpPr>
        <p:spPr>
          <a:xfrm>
            <a:off x="7561567" y="1770976"/>
            <a:ext cx="345900" cy="3459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1" name="Google Shape;1291;p61"/>
          <p:cNvSpPr/>
          <p:nvPr/>
        </p:nvSpPr>
        <p:spPr>
          <a:xfrm>
            <a:off x="6314952" y="1800100"/>
            <a:ext cx="345900" cy="345900"/>
          </a:xfrm>
          <a:prstGeom prst="smileyFace">
            <a:avLst>
              <a:gd fmla="val 4653" name="adj"/>
            </a:avLst>
          </a:prstGeom>
          <a:solidFill>
            <a:srgbClr val="00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1" name="Google Shape;1311;p61"/>
          <p:cNvSpPr/>
          <p:nvPr/>
        </p:nvSpPr>
        <p:spPr>
          <a:xfrm>
            <a:off x="8282823" y="3355787"/>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15" name="Google Shape;1315;p61"/>
          <p:cNvSpPr/>
          <p:nvPr/>
        </p:nvSpPr>
        <p:spPr>
          <a:xfrm>
            <a:off x="8103793" y="1697946"/>
            <a:ext cx="345900" cy="345900"/>
          </a:xfrm>
          <a:prstGeom prst="smileyFace">
            <a:avLst>
              <a:gd fmla="val 4653" name="adj"/>
            </a:avLst>
          </a:prstGeom>
          <a:solidFill>
            <a:srgbClr val="D9D2E9"/>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43" name="Google Shape;1343;p61"/>
          <p:cNvCxnSpPr/>
          <p:nvPr/>
        </p:nvCxnSpPr>
        <p:spPr>
          <a:xfrm>
            <a:off x="7242924" y="2623387"/>
            <a:ext cx="172800" cy="468000"/>
          </a:xfrm>
          <a:prstGeom prst="straightConnector1">
            <a:avLst/>
          </a:prstGeom>
          <a:noFill/>
          <a:ln cap="flat" cmpd="sng" w="38100">
            <a:solidFill>
              <a:srgbClr val="FF0000"/>
            </a:solidFill>
            <a:prstDash val="solid"/>
            <a:round/>
            <a:headEnd len="sm" w="sm" type="none"/>
            <a:tailEnd len="sm" w="sm" type="none"/>
          </a:ln>
        </p:spPr>
      </p:cxnSp>
      <p:cxnSp>
        <p:nvCxnSpPr>
          <p:cNvPr id="1344" name="Google Shape;1344;p61"/>
          <p:cNvCxnSpPr/>
          <p:nvPr/>
        </p:nvCxnSpPr>
        <p:spPr>
          <a:xfrm>
            <a:off x="7588793" y="3264407"/>
            <a:ext cx="694200" cy="264300"/>
          </a:xfrm>
          <a:prstGeom prst="straightConnector1">
            <a:avLst/>
          </a:prstGeom>
          <a:noFill/>
          <a:ln cap="flat" cmpd="sng" w="38100">
            <a:solidFill>
              <a:srgbClr val="FF0000"/>
            </a:solidFill>
            <a:prstDash val="solid"/>
            <a:round/>
            <a:headEnd len="sm" w="sm" type="none"/>
            <a:tailEnd len="sm" w="sm" type="none"/>
          </a:ln>
        </p:spPr>
      </p:cxnSp>
      <p:cxnSp>
        <p:nvCxnSpPr>
          <p:cNvPr id="1345" name="Google Shape;1345;p61"/>
          <p:cNvCxnSpPr/>
          <p:nvPr/>
        </p:nvCxnSpPr>
        <p:spPr>
          <a:xfrm>
            <a:off x="8276743" y="2043846"/>
            <a:ext cx="179100" cy="1311900"/>
          </a:xfrm>
          <a:prstGeom prst="straightConnector1">
            <a:avLst/>
          </a:prstGeom>
          <a:noFill/>
          <a:ln cap="flat" cmpd="sng" w="38100">
            <a:solidFill>
              <a:srgbClr val="FF0000"/>
            </a:solidFill>
            <a:prstDash val="solid"/>
            <a:round/>
            <a:headEnd len="sm" w="sm" type="none"/>
            <a:tailEnd len="sm" w="sm" type="none"/>
          </a:ln>
        </p:spPr>
      </p:cxnSp>
      <p:cxnSp>
        <p:nvCxnSpPr>
          <p:cNvPr id="1346" name="Google Shape;1346;p61"/>
          <p:cNvCxnSpPr/>
          <p:nvPr/>
        </p:nvCxnSpPr>
        <p:spPr>
          <a:xfrm>
            <a:off x="8053179" y="1343816"/>
            <a:ext cx="223800" cy="354300"/>
          </a:xfrm>
          <a:prstGeom prst="straightConnector1">
            <a:avLst/>
          </a:prstGeom>
          <a:noFill/>
          <a:ln cap="flat" cmpd="sng" w="38100">
            <a:solidFill>
              <a:srgbClr val="FF0000"/>
            </a:solidFill>
            <a:prstDash val="solid"/>
            <a:round/>
            <a:headEnd len="sm" w="sm" type="none"/>
            <a:tailEnd len="sm" w="sm" type="none"/>
          </a:ln>
        </p:spPr>
      </p:cxnSp>
      <p:cxnSp>
        <p:nvCxnSpPr>
          <p:cNvPr id="1347" name="Google Shape;1347;p61"/>
          <p:cNvCxnSpPr/>
          <p:nvPr/>
        </p:nvCxnSpPr>
        <p:spPr>
          <a:xfrm flipH="1">
            <a:off x="6139135" y="1221522"/>
            <a:ext cx="1618800" cy="1375500"/>
          </a:xfrm>
          <a:prstGeom prst="straightConnector1">
            <a:avLst/>
          </a:prstGeom>
          <a:noFill/>
          <a:ln cap="flat" cmpd="sng" w="38100">
            <a:solidFill>
              <a:srgbClr val="FF0000"/>
            </a:solidFill>
            <a:prstDash val="solid"/>
            <a:round/>
            <a:headEnd len="sm" w="sm" type="none"/>
            <a:tailEnd len="sm" w="sm" type="none"/>
          </a:ln>
        </p:spPr>
      </p:cxnSp>
      <p:cxnSp>
        <p:nvCxnSpPr>
          <p:cNvPr id="1348" name="Google Shape;1348;p61"/>
          <p:cNvCxnSpPr/>
          <p:nvPr/>
        </p:nvCxnSpPr>
        <p:spPr>
          <a:xfrm flipH="1">
            <a:off x="6088708" y="2095344"/>
            <a:ext cx="276900" cy="379200"/>
          </a:xfrm>
          <a:prstGeom prst="straightConnector1">
            <a:avLst/>
          </a:prstGeom>
          <a:noFill/>
          <a:ln cap="flat" cmpd="sng" w="38100">
            <a:solidFill>
              <a:srgbClr val="FF0000"/>
            </a:solidFill>
            <a:prstDash val="solid"/>
            <a:round/>
            <a:headEnd len="sm" w="sm" type="none"/>
            <a:tailEnd len="sm" w="sm" type="none"/>
          </a:ln>
        </p:spPr>
      </p:cxnSp>
      <p:cxnSp>
        <p:nvCxnSpPr>
          <p:cNvPr id="1349" name="Google Shape;1349;p61"/>
          <p:cNvCxnSpPr/>
          <p:nvPr/>
        </p:nvCxnSpPr>
        <p:spPr>
          <a:xfrm flipH="1">
            <a:off x="5839152" y="1973050"/>
            <a:ext cx="475800" cy="39900"/>
          </a:xfrm>
          <a:prstGeom prst="straightConnector1">
            <a:avLst/>
          </a:prstGeom>
          <a:noFill/>
          <a:ln cap="flat" cmpd="sng" w="38100">
            <a:solidFill>
              <a:srgbClr val="FF0000"/>
            </a:solidFill>
            <a:prstDash val="solid"/>
            <a:round/>
            <a:headEnd len="sm" w="sm" type="none"/>
            <a:tailEnd len="sm" w="sm" type="none"/>
          </a:ln>
        </p:spPr>
      </p:cxnSp>
      <p:cxnSp>
        <p:nvCxnSpPr>
          <p:cNvPr id="1350" name="Google Shape;1350;p61"/>
          <p:cNvCxnSpPr/>
          <p:nvPr/>
        </p:nvCxnSpPr>
        <p:spPr>
          <a:xfrm rot="10800000">
            <a:off x="5666286" y="2186036"/>
            <a:ext cx="91500" cy="767100"/>
          </a:xfrm>
          <a:prstGeom prst="straightConnector1">
            <a:avLst/>
          </a:prstGeom>
          <a:noFill/>
          <a:ln cap="flat" cmpd="sng" w="38100">
            <a:solidFill>
              <a:srgbClr val="FF0000"/>
            </a:solidFill>
            <a:prstDash val="solid"/>
            <a:round/>
            <a:headEnd len="sm" w="sm" type="none"/>
            <a:tailEnd len="sm" w="sm" type="none"/>
          </a:ln>
        </p:spPr>
      </p:cxnSp>
      <p:cxnSp>
        <p:nvCxnSpPr>
          <p:cNvPr id="1351" name="Google Shape;1351;p61"/>
          <p:cNvCxnSpPr/>
          <p:nvPr/>
        </p:nvCxnSpPr>
        <p:spPr>
          <a:xfrm flipH="1">
            <a:off x="5930842" y="3039038"/>
            <a:ext cx="468600" cy="87000"/>
          </a:xfrm>
          <a:prstGeom prst="straightConnector1">
            <a:avLst/>
          </a:prstGeom>
          <a:noFill/>
          <a:ln cap="flat" cmpd="sng" w="38100">
            <a:solidFill>
              <a:srgbClr val="FF0000"/>
            </a:solidFill>
            <a:prstDash val="solid"/>
            <a:round/>
            <a:headEnd len="sm" w="sm" type="none"/>
            <a:tailEnd len="sm" w="sm" type="none"/>
          </a:ln>
        </p:spPr>
      </p:cxnSp>
      <p:cxnSp>
        <p:nvCxnSpPr>
          <p:cNvPr id="1352" name="Google Shape;1352;p61"/>
          <p:cNvCxnSpPr/>
          <p:nvPr/>
        </p:nvCxnSpPr>
        <p:spPr>
          <a:xfrm flipH="1">
            <a:off x="6694736" y="2623387"/>
            <a:ext cx="303600" cy="293400"/>
          </a:xfrm>
          <a:prstGeom prst="straightConnector1">
            <a:avLst/>
          </a:prstGeom>
          <a:noFill/>
          <a:ln cap="flat" cmpd="sng" w="38100">
            <a:solidFill>
              <a:srgbClr val="FF0000"/>
            </a:solidFill>
            <a:prstDash val="solid"/>
            <a:round/>
            <a:headEnd len="sm" w="sm" type="none"/>
            <a:tailEnd len="sm" w="sm" type="non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43"/>
                                        </p:tgtEl>
                                        <p:attrNameLst>
                                          <p:attrName>style.visibility</p:attrName>
                                        </p:attrNameLst>
                                      </p:cBhvr>
                                      <p:to>
                                        <p:strVal val="visible"/>
                                      </p:to>
                                    </p:set>
                                    <p:animEffect filter="fade" transition="in">
                                      <p:cBhvr>
                                        <p:cTn dur="1000"/>
                                        <p:tgtEl>
                                          <p:spTgt spid="134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44"/>
                                        </p:tgtEl>
                                        <p:attrNameLst>
                                          <p:attrName>style.visibility</p:attrName>
                                        </p:attrNameLst>
                                      </p:cBhvr>
                                      <p:to>
                                        <p:strVal val="visible"/>
                                      </p:to>
                                    </p:set>
                                    <p:animEffect filter="fade" transition="in">
                                      <p:cBhvr>
                                        <p:cTn dur="1000"/>
                                        <p:tgtEl>
                                          <p:spTgt spid="134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345"/>
                                        </p:tgtEl>
                                        <p:attrNameLst>
                                          <p:attrName>style.visibility</p:attrName>
                                        </p:attrNameLst>
                                      </p:cBhvr>
                                      <p:to>
                                        <p:strVal val="visible"/>
                                      </p:to>
                                    </p:set>
                                    <p:animEffect filter="fade" transition="in">
                                      <p:cBhvr>
                                        <p:cTn dur="1000"/>
                                        <p:tgtEl>
                                          <p:spTgt spid="134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346"/>
                                        </p:tgtEl>
                                        <p:attrNameLst>
                                          <p:attrName>style.visibility</p:attrName>
                                        </p:attrNameLst>
                                      </p:cBhvr>
                                      <p:to>
                                        <p:strVal val="visible"/>
                                      </p:to>
                                    </p:set>
                                    <p:animEffect filter="fade" transition="in">
                                      <p:cBhvr>
                                        <p:cTn dur="1000"/>
                                        <p:tgtEl>
                                          <p:spTgt spid="134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347"/>
                                        </p:tgtEl>
                                        <p:attrNameLst>
                                          <p:attrName>style.visibility</p:attrName>
                                        </p:attrNameLst>
                                      </p:cBhvr>
                                      <p:to>
                                        <p:strVal val="visible"/>
                                      </p:to>
                                    </p:set>
                                    <p:animEffect filter="fade" transition="in">
                                      <p:cBhvr>
                                        <p:cTn dur="1000"/>
                                        <p:tgtEl>
                                          <p:spTgt spid="134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348"/>
                                        </p:tgtEl>
                                        <p:attrNameLst>
                                          <p:attrName>style.visibility</p:attrName>
                                        </p:attrNameLst>
                                      </p:cBhvr>
                                      <p:to>
                                        <p:strVal val="visible"/>
                                      </p:to>
                                    </p:set>
                                    <p:animEffect filter="fade" transition="in">
                                      <p:cBhvr>
                                        <p:cTn dur="1000"/>
                                        <p:tgtEl>
                                          <p:spTgt spid="1348"/>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349"/>
                                        </p:tgtEl>
                                        <p:attrNameLst>
                                          <p:attrName>style.visibility</p:attrName>
                                        </p:attrNameLst>
                                      </p:cBhvr>
                                      <p:to>
                                        <p:strVal val="visible"/>
                                      </p:to>
                                    </p:set>
                                    <p:animEffect filter="fade" transition="in">
                                      <p:cBhvr>
                                        <p:cTn dur="1000"/>
                                        <p:tgtEl>
                                          <p:spTgt spid="1349"/>
                                        </p:tgtEl>
                                      </p:cBhvr>
                                    </p:animEffect>
                                  </p:childTnLst>
                                </p:cTn>
                              </p:par>
                            </p:childTnLst>
                          </p:cTn>
                        </p:par>
                        <p:par>
                          <p:cTn fill="hold">
                            <p:stCondLst>
                              <p:cond delay="7000"/>
                            </p:stCondLst>
                            <p:childTnLst>
                              <p:par>
                                <p:cTn fill="hold" nodeType="afterEffect" presetClass="entr" presetID="10" presetSubtype="0">
                                  <p:stCondLst>
                                    <p:cond delay="0"/>
                                  </p:stCondLst>
                                  <p:childTnLst>
                                    <p:set>
                                      <p:cBhvr>
                                        <p:cTn dur="1" fill="hold">
                                          <p:stCondLst>
                                            <p:cond delay="0"/>
                                          </p:stCondLst>
                                        </p:cTn>
                                        <p:tgtEl>
                                          <p:spTgt spid="1350"/>
                                        </p:tgtEl>
                                        <p:attrNameLst>
                                          <p:attrName>style.visibility</p:attrName>
                                        </p:attrNameLst>
                                      </p:cBhvr>
                                      <p:to>
                                        <p:strVal val="visible"/>
                                      </p:to>
                                    </p:set>
                                    <p:animEffect filter="fade" transition="in">
                                      <p:cBhvr>
                                        <p:cTn dur="1000"/>
                                        <p:tgtEl>
                                          <p:spTgt spid="1350"/>
                                        </p:tgtEl>
                                      </p:cBhvr>
                                    </p:animEffect>
                                  </p:childTnLst>
                                </p:cTn>
                              </p:par>
                            </p:childTnLst>
                          </p:cTn>
                        </p:par>
                        <p:par>
                          <p:cTn fill="hold">
                            <p:stCondLst>
                              <p:cond delay="8000"/>
                            </p:stCondLst>
                            <p:childTnLst>
                              <p:par>
                                <p:cTn fill="hold" nodeType="afterEffect" presetClass="entr" presetID="10" presetSubtype="0">
                                  <p:stCondLst>
                                    <p:cond delay="0"/>
                                  </p:stCondLst>
                                  <p:childTnLst>
                                    <p:set>
                                      <p:cBhvr>
                                        <p:cTn dur="1" fill="hold">
                                          <p:stCondLst>
                                            <p:cond delay="0"/>
                                          </p:stCondLst>
                                        </p:cTn>
                                        <p:tgtEl>
                                          <p:spTgt spid="1351"/>
                                        </p:tgtEl>
                                        <p:attrNameLst>
                                          <p:attrName>style.visibility</p:attrName>
                                        </p:attrNameLst>
                                      </p:cBhvr>
                                      <p:to>
                                        <p:strVal val="visible"/>
                                      </p:to>
                                    </p:set>
                                    <p:animEffect filter="fade" transition="in">
                                      <p:cBhvr>
                                        <p:cTn dur="1000"/>
                                        <p:tgtEl>
                                          <p:spTgt spid="1351"/>
                                        </p:tgtEl>
                                      </p:cBhvr>
                                    </p:animEffect>
                                  </p:childTnLst>
                                </p:cTn>
                              </p:par>
                            </p:childTnLst>
                          </p:cTn>
                        </p:par>
                        <p:par>
                          <p:cTn fill="hold">
                            <p:stCondLst>
                              <p:cond delay="9000"/>
                            </p:stCondLst>
                            <p:childTnLst>
                              <p:par>
                                <p:cTn fill="hold" nodeType="afterEffect" presetClass="entr" presetID="10" presetSubtype="0">
                                  <p:stCondLst>
                                    <p:cond delay="0"/>
                                  </p:stCondLst>
                                  <p:childTnLst>
                                    <p:set>
                                      <p:cBhvr>
                                        <p:cTn dur="1" fill="hold">
                                          <p:stCondLst>
                                            <p:cond delay="0"/>
                                          </p:stCondLst>
                                        </p:cTn>
                                        <p:tgtEl>
                                          <p:spTgt spid="1352"/>
                                        </p:tgtEl>
                                        <p:attrNameLst>
                                          <p:attrName>style.visibility</p:attrName>
                                        </p:attrNameLst>
                                      </p:cBhvr>
                                      <p:to>
                                        <p:strVal val="visible"/>
                                      </p:to>
                                    </p:set>
                                    <p:animEffect filter="fade" transition="in">
                                      <p:cBhvr>
                                        <p:cTn dur="1000"/>
                                        <p:tgtEl>
                                          <p:spTgt spid="13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6" name="Shape 1356"/>
        <p:cNvGrpSpPr/>
        <p:nvPr/>
      </p:nvGrpSpPr>
      <p:grpSpPr>
        <a:xfrm>
          <a:off x="0" y="0"/>
          <a:ext cx="0" cy="0"/>
          <a:chOff x="0" y="0"/>
          <a:chExt cx="0" cy="0"/>
        </a:xfrm>
      </p:grpSpPr>
      <p:sp>
        <p:nvSpPr>
          <p:cNvPr id="1357" name="Google Shape;1357;p62"/>
          <p:cNvSpPr txBox="1"/>
          <p:nvPr>
            <p:ph idx="1" type="body"/>
          </p:nvPr>
        </p:nvSpPr>
        <p:spPr>
          <a:xfrm>
            <a:off x="4322550" y="43725"/>
            <a:ext cx="4622400" cy="50898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Given some starting vertex </a:t>
            </a:r>
            <a:r>
              <a:rPr b="1" i="1" lang="en">
                <a:solidFill>
                  <a:srgbClr val="FF0000"/>
                </a:solidFill>
              </a:rPr>
              <a:t>S</a:t>
            </a:r>
            <a:r>
              <a:rPr lang="en"/>
              <a:t> and ending vertex </a:t>
            </a:r>
            <a:r>
              <a:rPr b="1" i="1" lang="en">
                <a:solidFill>
                  <a:srgbClr val="FF0000"/>
                </a:solidFill>
              </a:rPr>
              <a:t>E</a:t>
            </a:r>
            <a:r>
              <a:rPr lang="en"/>
              <a:t>, we'd like to determine if a path </a:t>
            </a:r>
            <a:r>
              <a:rPr b="1" i="1" lang="en">
                <a:solidFill>
                  <a:srgbClr val="FF0000"/>
                </a:solidFill>
              </a:rPr>
              <a:t>exists</a:t>
            </a:r>
            <a:r>
              <a:rPr lang="en">
                <a:solidFill>
                  <a:srgbClr val="FF0000"/>
                </a:solidFill>
              </a:rPr>
              <a:t> </a:t>
            </a:r>
            <a:r>
              <a:rPr lang="en"/>
              <a:t>between the two.</a:t>
            </a:r>
            <a:endParaRPr/>
          </a:p>
          <a:p>
            <a:pPr indent="-311150" lvl="0" marL="457200" rtl="0" algn="l">
              <a:lnSpc>
                <a:spcPct val="100000"/>
              </a:lnSpc>
              <a:spcBef>
                <a:spcPts val="1000"/>
              </a:spcBef>
              <a:spcAft>
                <a:spcPts val="0"/>
              </a:spcAft>
              <a:buSzPts val="1300"/>
              <a:buChar char="●"/>
            </a:pPr>
            <a:r>
              <a:rPr lang="en"/>
              <a:t>But we </a:t>
            </a:r>
            <a:r>
              <a:rPr b="1" i="1" lang="en">
                <a:solidFill>
                  <a:srgbClr val="FF0000"/>
                </a:solidFill>
              </a:rPr>
              <a:t>don't</a:t>
            </a:r>
            <a:r>
              <a:rPr lang="en"/>
              <a:t> want to get </a:t>
            </a:r>
            <a:r>
              <a:rPr b="1" i="1" lang="en">
                <a:solidFill>
                  <a:srgbClr val="FF0000"/>
                </a:solidFill>
              </a:rPr>
              <a:t>stuck in a cycle</a:t>
            </a:r>
            <a:r>
              <a:rPr lang="en"/>
              <a:t> and waste a lot of time visiting the same vertices over and over again.</a:t>
            </a:r>
            <a:endParaRPr/>
          </a:p>
          <a:p>
            <a:pPr indent="-311150" lvl="0" marL="457200" rtl="0" algn="l">
              <a:lnSpc>
                <a:spcPct val="100000"/>
              </a:lnSpc>
              <a:spcBef>
                <a:spcPts val="1000"/>
              </a:spcBef>
              <a:spcAft>
                <a:spcPts val="0"/>
              </a:spcAft>
              <a:buSzPts val="1300"/>
              <a:buChar char="●"/>
            </a:pPr>
            <a:r>
              <a:rPr lang="en"/>
              <a:t>We need a data structure to keep track of </a:t>
            </a:r>
            <a:r>
              <a:rPr b="1" i="1" lang="en">
                <a:solidFill>
                  <a:srgbClr val="FF0000"/>
                </a:solidFill>
              </a:rPr>
              <a:t>previously visited</a:t>
            </a:r>
            <a:r>
              <a:rPr lang="en"/>
              <a:t> vertices.</a:t>
            </a:r>
            <a:endParaRPr/>
          </a:p>
          <a:p>
            <a:pPr indent="-298450" lvl="1" marL="914400" rtl="0" algn="l">
              <a:lnSpc>
                <a:spcPct val="100000"/>
              </a:lnSpc>
              <a:spcBef>
                <a:spcPts val="0"/>
              </a:spcBef>
              <a:spcAft>
                <a:spcPts val="0"/>
              </a:spcAft>
              <a:buSzPts val="1100"/>
              <a:buChar char="○"/>
            </a:pPr>
            <a:r>
              <a:rPr lang="en"/>
              <a:t>We need to </a:t>
            </a:r>
            <a:r>
              <a:rPr b="1" i="1" lang="en">
                <a:solidFill>
                  <a:srgbClr val="FF0000"/>
                </a:solidFill>
              </a:rPr>
              <a:t>efficiently</a:t>
            </a:r>
            <a:r>
              <a:rPr lang="en">
                <a:solidFill>
                  <a:srgbClr val="FF0000"/>
                </a:solidFill>
              </a:rPr>
              <a:t> </a:t>
            </a:r>
            <a:r>
              <a:rPr lang="en"/>
              <a:t>determine if the data structure already </a:t>
            </a:r>
            <a:r>
              <a:rPr b="1" i="1" lang="en">
                <a:solidFill>
                  <a:srgbClr val="FF0000"/>
                </a:solidFill>
              </a:rPr>
              <a:t>contains</a:t>
            </a:r>
            <a:r>
              <a:rPr lang="en">
                <a:solidFill>
                  <a:srgbClr val="FF0000"/>
                </a:solidFill>
              </a:rPr>
              <a:t> </a:t>
            </a:r>
            <a:r>
              <a:rPr lang="en"/>
              <a:t>a vertex.</a:t>
            </a:r>
            <a:endParaRPr/>
          </a:p>
          <a:p>
            <a:pPr indent="-298450" lvl="1" marL="914400" rtl="0" algn="l">
              <a:lnSpc>
                <a:spcPct val="100000"/>
              </a:lnSpc>
              <a:spcBef>
                <a:spcPts val="0"/>
              </a:spcBef>
              <a:spcAft>
                <a:spcPts val="0"/>
              </a:spcAft>
              <a:buSzPts val="1100"/>
              <a:buChar char="○"/>
            </a:pPr>
            <a:r>
              <a:rPr lang="en"/>
              <a:t>If so, we can skip it.</a:t>
            </a:r>
            <a:endParaRPr/>
          </a:p>
          <a:p>
            <a:pPr indent="-298450" lvl="1" marL="914400" rtl="0" algn="l">
              <a:lnSpc>
                <a:spcPct val="100000"/>
              </a:lnSpc>
              <a:spcBef>
                <a:spcPts val="0"/>
              </a:spcBef>
              <a:spcAft>
                <a:spcPts val="0"/>
              </a:spcAft>
              <a:buSzPts val="1100"/>
              <a:buChar char="○"/>
            </a:pPr>
            <a:r>
              <a:rPr lang="en"/>
              <a:t>If not, we need to </a:t>
            </a:r>
            <a:r>
              <a:rPr b="1" i="1" lang="en">
                <a:solidFill>
                  <a:srgbClr val="FF0000"/>
                </a:solidFill>
              </a:rPr>
              <a:t>efficiently</a:t>
            </a:r>
            <a:r>
              <a:rPr lang="en">
                <a:solidFill>
                  <a:srgbClr val="FF0000"/>
                </a:solidFill>
              </a:rPr>
              <a:t> </a:t>
            </a:r>
            <a:r>
              <a:rPr lang="en"/>
              <a:t>add the vertex to the data structure so that we don't visit it again.</a:t>
            </a:r>
            <a:endParaRPr/>
          </a:p>
          <a:p>
            <a:pPr indent="-311150" lvl="0" marL="457200" rtl="0" algn="l">
              <a:lnSpc>
                <a:spcPct val="100000"/>
              </a:lnSpc>
              <a:spcBef>
                <a:spcPts val="1000"/>
              </a:spcBef>
              <a:spcAft>
                <a:spcPts val="0"/>
              </a:spcAft>
              <a:buSzPts val="1300"/>
              <a:buChar char="●"/>
            </a:pPr>
            <a:r>
              <a:rPr lang="en"/>
              <a:t>What data structure provides efficient </a:t>
            </a:r>
            <a:r>
              <a:rPr b="1" i="1" lang="en">
                <a:solidFill>
                  <a:srgbClr val="FF0000"/>
                </a:solidFill>
              </a:rPr>
              <a:t>add</a:t>
            </a:r>
            <a:r>
              <a:rPr lang="en">
                <a:solidFill>
                  <a:srgbClr val="FF0000"/>
                </a:solidFill>
              </a:rPr>
              <a:t> </a:t>
            </a:r>
            <a:r>
              <a:rPr lang="en"/>
              <a:t>and </a:t>
            </a:r>
            <a:r>
              <a:rPr b="1" i="1" lang="en">
                <a:solidFill>
                  <a:srgbClr val="FF0000"/>
                </a:solidFill>
              </a:rPr>
              <a:t>get</a:t>
            </a:r>
            <a:r>
              <a:rPr lang="en">
                <a:solidFill>
                  <a:srgbClr val="FF0000"/>
                </a:solidFill>
              </a:rPr>
              <a:t> </a:t>
            </a:r>
            <a:r>
              <a:rPr lang="en"/>
              <a:t>functionality for </a:t>
            </a:r>
            <a:r>
              <a:rPr b="1" i="1" lang="en">
                <a:solidFill>
                  <a:srgbClr val="FF0000"/>
                </a:solidFill>
              </a:rPr>
              <a:t>unique</a:t>
            </a:r>
            <a:r>
              <a:rPr lang="en">
                <a:solidFill>
                  <a:srgbClr val="FF0000"/>
                </a:solidFill>
              </a:rPr>
              <a:t> </a:t>
            </a:r>
            <a:r>
              <a:rPr lang="en"/>
              <a:t>elements?</a:t>
            </a:r>
            <a:endParaRPr/>
          </a:p>
          <a:p>
            <a:pPr indent="-298450" lvl="1" marL="914400" rtl="0" algn="l">
              <a:lnSpc>
                <a:spcPct val="100000"/>
              </a:lnSpc>
              <a:spcBef>
                <a:spcPts val="0"/>
              </a:spcBef>
              <a:spcAft>
                <a:spcPts val="0"/>
              </a:spcAft>
              <a:buSzPts val="1100"/>
              <a:buChar char="○"/>
            </a:pPr>
            <a:r>
              <a:rPr lang="en"/>
              <a:t>How about a </a:t>
            </a:r>
            <a:r>
              <a:rPr lang="en">
                <a:solidFill>
                  <a:srgbClr val="FF0000"/>
                </a:solidFill>
                <a:latin typeface="Courier New"/>
                <a:ea typeface="Courier New"/>
                <a:cs typeface="Courier New"/>
                <a:sym typeface="Courier New"/>
              </a:rPr>
              <a:t>HashSet</a:t>
            </a:r>
            <a:r>
              <a:rPr lang="en"/>
              <a:t>?</a:t>
            </a:r>
            <a:endParaRPr/>
          </a:p>
          <a:p>
            <a:pPr indent="-311150" lvl="0" marL="457200" rtl="0" algn="l">
              <a:lnSpc>
                <a:spcPct val="100000"/>
              </a:lnSpc>
              <a:spcBef>
                <a:spcPts val="1000"/>
              </a:spcBef>
              <a:spcAft>
                <a:spcPts val="0"/>
              </a:spcAft>
              <a:buSzPts val="1300"/>
              <a:buChar char="●"/>
            </a:pPr>
            <a:r>
              <a:rPr lang="en"/>
              <a:t>We'll modify the BFS algorithm to:</a:t>
            </a:r>
            <a:endParaRPr/>
          </a:p>
          <a:p>
            <a:pPr indent="-298450" lvl="1" marL="914400" rtl="0" algn="l">
              <a:lnSpc>
                <a:spcPct val="100000"/>
              </a:lnSpc>
              <a:spcBef>
                <a:spcPts val="0"/>
              </a:spcBef>
              <a:spcAft>
                <a:spcPts val="0"/>
              </a:spcAft>
              <a:buSzPts val="1100"/>
              <a:buChar char="○"/>
            </a:pPr>
            <a:r>
              <a:rPr lang="en"/>
              <a:t>Create an empty </a:t>
            </a:r>
            <a:r>
              <a:rPr b="1" i="1" lang="en">
                <a:solidFill>
                  <a:srgbClr val="FF0000"/>
                </a:solidFill>
              </a:rPr>
              <a:t>set</a:t>
            </a:r>
            <a:r>
              <a:rPr lang="en">
                <a:solidFill>
                  <a:srgbClr val="FF0000"/>
                </a:solidFill>
              </a:rPr>
              <a:t> </a:t>
            </a:r>
            <a:r>
              <a:rPr lang="en"/>
              <a:t>as well as a queue.</a:t>
            </a:r>
            <a:endParaRPr/>
          </a:p>
          <a:p>
            <a:pPr indent="-298450" lvl="1" marL="914400" rtl="0" algn="l">
              <a:lnSpc>
                <a:spcPct val="100000"/>
              </a:lnSpc>
              <a:spcBef>
                <a:spcPts val="0"/>
              </a:spcBef>
              <a:spcAft>
                <a:spcPts val="0"/>
              </a:spcAft>
              <a:buSzPts val="1100"/>
              <a:buChar char="○"/>
            </a:pPr>
            <a:r>
              <a:rPr lang="en"/>
              <a:t>Add </a:t>
            </a:r>
            <a:r>
              <a:rPr b="1" i="1" lang="en">
                <a:solidFill>
                  <a:srgbClr val="FF0000"/>
                </a:solidFill>
              </a:rPr>
              <a:t>S</a:t>
            </a:r>
            <a:r>
              <a:rPr lang="en"/>
              <a:t> to </a:t>
            </a:r>
            <a:r>
              <a:rPr b="1" i="1" lang="en">
                <a:solidFill>
                  <a:srgbClr val="FF0000"/>
                </a:solidFill>
              </a:rPr>
              <a:t>both</a:t>
            </a:r>
            <a:r>
              <a:rPr lang="en">
                <a:solidFill>
                  <a:srgbClr val="FF0000"/>
                </a:solidFill>
              </a:rPr>
              <a:t> </a:t>
            </a:r>
            <a:r>
              <a:rPr lang="en"/>
              <a:t>the set and the queue.</a:t>
            </a:r>
            <a:endParaRPr/>
          </a:p>
          <a:p>
            <a:pPr indent="-298450" lvl="1" marL="914400" rtl="0" algn="l">
              <a:lnSpc>
                <a:spcPct val="100000"/>
              </a:lnSpc>
              <a:spcBef>
                <a:spcPts val="0"/>
              </a:spcBef>
              <a:spcAft>
                <a:spcPts val="0"/>
              </a:spcAft>
              <a:buSzPts val="1100"/>
              <a:buChar char="○"/>
            </a:pPr>
            <a:r>
              <a:rPr lang="en"/>
              <a:t>Each time we dequeue a vertex </a:t>
            </a:r>
            <a:r>
              <a:rPr b="1" i="1" lang="en">
                <a:solidFill>
                  <a:srgbClr val="FF0000"/>
                </a:solidFill>
              </a:rPr>
              <a:t>V</a:t>
            </a:r>
            <a:r>
              <a:rPr lang="en"/>
              <a:t> from the queue, we will make sure that each of its neighbors is </a:t>
            </a:r>
            <a:r>
              <a:rPr b="1" i="1" lang="en">
                <a:solidFill>
                  <a:srgbClr val="FF0000"/>
                </a:solidFill>
              </a:rPr>
              <a:t>not already in the set</a:t>
            </a:r>
            <a:r>
              <a:rPr lang="en"/>
              <a:t> before adding it to </a:t>
            </a:r>
            <a:r>
              <a:rPr b="1" i="1" lang="en">
                <a:solidFill>
                  <a:srgbClr val="FF0000"/>
                </a:solidFill>
              </a:rPr>
              <a:t>both</a:t>
            </a:r>
            <a:r>
              <a:rPr lang="en"/>
              <a:t>.</a:t>
            </a:r>
            <a:endParaRPr/>
          </a:p>
          <a:p>
            <a:pPr indent="-311150" lvl="0" marL="457200" rtl="0" algn="l">
              <a:lnSpc>
                <a:spcPct val="100000"/>
              </a:lnSpc>
              <a:spcBef>
                <a:spcPts val="1000"/>
              </a:spcBef>
              <a:spcAft>
                <a:spcPts val="0"/>
              </a:spcAft>
              <a:buSzPts val="1300"/>
              <a:buChar char="●"/>
            </a:pPr>
            <a:r>
              <a:rPr lang="en"/>
              <a:t>These changes should avoid visiting the same vertex more than once!</a:t>
            </a:r>
            <a:endParaRPr/>
          </a:p>
        </p:txBody>
      </p:sp>
      <p:sp>
        <p:nvSpPr>
          <p:cNvPr id="1358" name="Google Shape;1358;p62"/>
          <p:cNvSpPr txBox="1"/>
          <p:nvPr>
            <p:ph idx="12" type="sldNum"/>
          </p:nvPr>
        </p:nvSpPr>
        <p:spPr>
          <a:xfrm>
            <a:off x="8571932"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359" name="Google Shape;1359;p62"/>
          <p:cNvSpPr txBox="1"/>
          <p:nvPr>
            <p:ph type="title"/>
          </p:nvPr>
        </p:nvSpPr>
        <p:spPr>
          <a:xfrm>
            <a:off x="501575" y="500925"/>
            <a:ext cx="35166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500"/>
              <a:t>Breadth-First Search</a:t>
            </a:r>
            <a:endParaRPr sz="2500"/>
          </a:p>
          <a:p>
            <a:pPr indent="0" lvl="0" marL="0" rtl="0" algn="l">
              <a:lnSpc>
                <a:spcPct val="100000"/>
              </a:lnSpc>
              <a:spcBef>
                <a:spcPts val="0"/>
              </a:spcBef>
              <a:spcAft>
                <a:spcPts val="0"/>
              </a:spcAft>
              <a:buSzPts val="2800"/>
              <a:buNone/>
            </a:pPr>
            <a:r>
              <a:rPr lang="en" sz="2300"/>
              <a:t>(BFS)</a:t>
            </a:r>
            <a:endParaRPr sz="2300"/>
          </a:p>
        </p:txBody>
      </p:sp>
      <p:grpSp>
        <p:nvGrpSpPr>
          <p:cNvPr id="1360" name="Google Shape;1360;p62"/>
          <p:cNvGrpSpPr/>
          <p:nvPr/>
        </p:nvGrpSpPr>
        <p:grpSpPr>
          <a:xfrm>
            <a:off x="870985" y="1277166"/>
            <a:ext cx="2180058" cy="2162415"/>
            <a:chOff x="5900277" y="743776"/>
            <a:chExt cx="2727118" cy="2705047"/>
          </a:xfrm>
        </p:grpSpPr>
        <p:sp>
          <p:nvSpPr>
            <p:cNvPr id="1361" name="Google Shape;1361;p62"/>
            <p:cNvSpPr/>
            <p:nvPr/>
          </p:nvSpPr>
          <p:spPr>
            <a:xfrm>
              <a:off x="6072743" y="743776"/>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362" name="Google Shape;1362;p62"/>
            <p:cNvSpPr/>
            <p:nvPr/>
          </p:nvSpPr>
          <p:spPr>
            <a:xfrm>
              <a:off x="7213995" y="106668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363" name="Google Shape;1363;p62"/>
            <p:cNvSpPr/>
            <p:nvPr/>
          </p:nvSpPr>
          <p:spPr>
            <a:xfrm>
              <a:off x="5900277" y="19409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364" name="Google Shape;1364;p62"/>
            <p:cNvSpPr/>
            <p:nvPr/>
          </p:nvSpPr>
          <p:spPr>
            <a:xfrm>
              <a:off x="7108281" y="2181542"/>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365" name="Google Shape;1365;p62"/>
            <p:cNvSpPr/>
            <p:nvPr/>
          </p:nvSpPr>
          <p:spPr>
            <a:xfrm>
              <a:off x="7936395" y="29268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366" name="Google Shape;1366;p62"/>
            <p:cNvCxnSpPr>
              <a:stCxn id="1361" idx="6"/>
              <a:endCxn id="1362" idx="1"/>
            </p:cNvCxnSpPr>
            <p:nvPr/>
          </p:nvCxnSpPr>
          <p:spPr>
            <a:xfrm>
              <a:off x="6594743" y="1004776"/>
              <a:ext cx="695700" cy="138300"/>
            </a:xfrm>
            <a:prstGeom prst="straightConnector1">
              <a:avLst/>
            </a:prstGeom>
            <a:noFill/>
            <a:ln cap="flat" cmpd="sng" w="19050">
              <a:solidFill>
                <a:srgbClr val="FFFFFF"/>
              </a:solidFill>
              <a:prstDash val="solid"/>
              <a:round/>
              <a:headEnd len="sm" w="sm" type="none"/>
              <a:tailEnd len="sm" w="sm" type="none"/>
            </a:ln>
          </p:spPr>
        </p:cxnSp>
        <p:cxnSp>
          <p:nvCxnSpPr>
            <p:cNvPr id="1367" name="Google Shape;1367;p62"/>
            <p:cNvCxnSpPr>
              <a:stCxn id="1361" idx="4"/>
              <a:endCxn id="1363" idx="0"/>
            </p:cNvCxnSpPr>
            <p:nvPr/>
          </p:nvCxnSpPr>
          <p:spPr>
            <a:xfrm flipH="1">
              <a:off x="6161243" y="1265776"/>
              <a:ext cx="172500" cy="675000"/>
            </a:xfrm>
            <a:prstGeom prst="straightConnector1">
              <a:avLst/>
            </a:prstGeom>
            <a:noFill/>
            <a:ln cap="flat" cmpd="sng" w="19050">
              <a:solidFill>
                <a:srgbClr val="FFFFFF"/>
              </a:solidFill>
              <a:prstDash val="solid"/>
              <a:round/>
              <a:headEnd len="sm" w="sm" type="none"/>
              <a:tailEnd len="sm" w="sm" type="none"/>
            </a:ln>
          </p:spPr>
        </p:cxnSp>
        <p:cxnSp>
          <p:nvCxnSpPr>
            <p:cNvPr id="1368" name="Google Shape;1368;p62"/>
            <p:cNvCxnSpPr>
              <a:stCxn id="1363" idx="5"/>
              <a:endCxn id="1364" idx="2"/>
            </p:cNvCxnSpPr>
            <p:nvPr/>
          </p:nvCxnSpPr>
          <p:spPr>
            <a:xfrm>
              <a:off x="6345832" y="2386478"/>
              <a:ext cx="762300" cy="56100"/>
            </a:xfrm>
            <a:prstGeom prst="straightConnector1">
              <a:avLst/>
            </a:prstGeom>
            <a:noFill/>
            <a:ln cap="flat" cmpd="sng" w="19050">
              <a:solidFill>
                <a:srgbClr val="FFFFFF"/>
              </a:solidFill>
              <a:prstDash val="solid"/>
              <a:round/>
              <a:headEnd len="sm" w="sm" type="none"/>
              <a:tailEnd len="sm" w="sm" type="none"/>
            </a:ln>
          </p:spPr>
        </p:cxnSp>
        <p:cxnSp>
          <p:nvCxnSpPr>
            <p:cNvPr id="1369" name="Google Shape;1369;p62"/>
            <p:cNvCxnSpPr>
              <a:stCxn id="1364" idx="5"/>
              <a:endCxn id="1365" idx="1"/>
            </p:cNvCxnSpPr>
            <p:nvPr/>
          </p:nvCxnSpPr>
          <p:spPr>
            <a:xfrm>
              <a:off x="7553836" y="2627097"/>
              <a:ext cx="459000" cy="376200"/>
            </a:xfrm>
            <a:prstGeom prst="straightConnector1">
              <a:avLst/>
            </a:prstGeom>
            <a:noFill/>
            <a:ln cap="flat" cmpd="sng" w="19050">
              <a:solidFill>
                <a:srgbClr val="FFFFFF"/>
              </a:solidFill>
              <a:prstDash val="solid"/>
              <a:round/>
              <a:headEnd len="sm" w="sm" type="none"/>
              <a:tailEnd len="sm" w="sm" type="none"/>
            </a:ln>
          </p:spPr>
        </p:cxnSp>
        <p:sp>
          <p:nvSpPr>
            <p:cNvPr id="1370" name="Google Shape;1370;p62"/>
            <p:cNvSpPr/>
            <p:nvPr/>
          </p:nvSpPr>
          <p:spPr>
            <a:xfrm>
              <a:off x="8105395" y="16736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371" name="Google Shape;1371;p62"/>
            <p:cNvCxnSpPr>
              <a:stCxn id="1364" idx="6"/>
              <a:endCxn id="1370" idx="3"/>
            </p:cNvCxnSpPr>
            <p:nvPr/>
          </p:nvCxnSpPr>
          <p:spPr>
            <a:xfrm flipH="1" rot="10800000">
              <a:off x="7630281" y="2119142"/>
              <a:ext cx="551700" cy="323400"/>
            </a:xfrm>
            <a:prstGeom prst="straightConnector1">
              <a:avLst/>
            </a:prstGeom>
            <a:noFill/>
            <a:ln cap="flat" cmpd="sng" w="19050">
              <a:solidFill>
                <a:srgbClr val="FFFFFF"/>
              </a:solidFill>
              <a:prstDash val="solid"/>
              <a:round/>
              <a:headEnd len="sm" w="sm" type="none"/>
              <a:tailEnd len="sm" w="sm" type="none"/>
            </a:ln>
          </p:spPr>
        </p:cxnSp>
      </p:grpSp>
      <p:graphicFrame>
        <p:nvGraphicFramePr>
          <p:cNvPr id="1372" name="Google Shape;1372;p62"/>
          <p:cNvGraphicFramePr/>
          <p:nvPr/>
        </p:nvGraphicFramePr>
        <p:xfrm>
          <a:off x="402675" y="4527475"/>
          <a:ext cx="3000000" cy="3000000"/>
        </p:xfrm>
        <a:graphic>
          <a:graphicData uri="http://schemas.openxmlformats.org/drawingml/2006/table">
            <a:tbl>
              <a:tblPr>
                <a:noFill/>
                <a:tableStyleId>{F61E8307-4E6B-4154-8BF4-D3231BAD3CED}</a:tableStyleId>
              </a:tblPr>
              <a:tblGrid>
                <a:gridCol w="807750"/>
                <a:gridCol w="415550"/>
                <a:gridCol w="415550"/>
                <a:gridCol w="415550"/>
                <a:gridCol w="415550"/>
                <a:gridCol w="415550"/>
                <a:gridCol w="415550"/>
              </a:tblGrid>
              <a:tr h="381000">
                <a:tc>
                  <a:txBody>
                    <a:bodyPr/>
                    <a:lstStyle/>
                    <a:p>
                      <a:pPr indent="0" lvl="0" marL="0" marR="0" rtl="0" algn="r">
                        <a:lnSpc>
                          <a:spcPct val="100000"/>
                        </a:lnSpc>
                        <a:spcBef>
                          <a:spcPts val="0"/>
                        </a:spcBef>
                        <a:spcAft>
                          <a:spcPts val="0"/>
                        </a:spcAft>
                        <a:buClr>
                          <a:srgbClr val="000000"/>
                        </a:buClr>
                        <a:buSzPts val="1400"/>
                        <a:buFont typeface="Arial"/>
                        <a:buNone/>
                      </a:pPr>
                      <a:r>
                        <a:rPr lang="en" sz="1400" u="none" cap="none" strike="noStrike">
                          <a:solidFill>
                            <a:srgbClr val="FFFFFF"/>
                          </a:solidFill>
                        </a:rPr>
                        <a:t>F to B</a:t>
                      </a:r>
                      <a:endParaRPr sz="1400" u="none" cap="none" strike="noStrike">
                        <a:solidFill>
                          <a:srgbClr val="FFFFFF"/>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373" name="Google Shape;1373;p62"/>
          <p:cNvSpPr txBox="1"/>
          <p:nvPr/>
        </p:nvSpPr>
        <p:spPr>
          <a:xfrm>
            <a:off x="1640035"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t/>
            </a:r>
            <a:endParaRPr b="0" i="0" sz="2500" u="none" cap="none" strike="noStrike">
              <a:solidFill>
                <a:srgbClr val="4A86E8"/>
              </a:solidFill>
              <a:latin typeface="Shadows Into Light"/>
              <a:ea typeface="Shadows Into Light"/>
              <a:cs typeface="Shadows Into Light"/>
              <a:sym typeface="Shadows Into Light"/>
            </a:endParaRPr>
          </a:p>
        </p:txBody>
      </p:sp>
      <p:sp>
        <p:nvSpPr>
          <p:cNvPr id="1374" name="Google Shape;1374;p62"/>
          <p:cNvSpPr txBox="1"/>
          <p:nvPr/>
        </p:nvSpPr>
        <p:spPr>
          <a:xfrm>
            <a:off x="2053182"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t/>
            </a:r>
            <a:endParaRPr b="0" i="0" sz="2500" u="none" cap="none" strike="noStrike">
              <a:solidFill>
                <a:srgbClr val="4A86E8"/>
              </a:solidFill>
              <a:latin typeface="Shadows Into Light"/>
              <a:ea typeface="Shadows Into Light"/>
              <a:cs typeface="Shadows Into Light"/>
              <a:sym typeface="Shadows Into Light"/>
            </a:endParaRPr>
          </a:p>
        </p:txBody>
      </p:sp>
      <p:graphicFrame>
        <p:nvGraphicFramePr>
          <p:cNvPr id="1375" name="Google Shape;1375;p62"/>
          <p:cNvGraphicFramePr/>
          <p:nvPr/>
        </p:nvGraphicFramePr>
        <p:xfrm>
          <a:off x="547450" y="3521150"/>
          <a:ext cx="3000000" cy="3000000"/>
        </p:xfrm>
        <a:graphic>
          <a:graphicData uri="http://schemas.openxmlformats.org/drawingml/2006/table">
            <a:tbl>
              <a:tblPr>
                <a:noFill/>
                <a:tableStyleId>{F61E8307-4E6B-4154-8BF4-D3231BAD3CED}</a:tableStyleId>
              </a:tblPr>
              <a:tblGrid>
                <a:gridCol w="673000"/>
                <a:gridCol w="248330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solidFill>
                            <a:srgbClr val="FFFFFF"/>
                          </a:solidFill>
                        </a:rPr>
                        <a:t>Set</a:t>
                      </a:r>
                      <a:endParaRPr sz="1400" u="none" cap="none" strike="noStrike">
                        <a:solidFill>
                          <a:srgbClr val="FFFFFF"/>
                        </a:solidFill>
                      </a:endParaRPr>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376" name="Google Shape;1376;p62"/>
          <p:cNvGrpSpPr/>
          <p:nvPr/>
        </p:nvGrpSpPr>
        <p:grpSpPr>
          <a:xfrm>
            <a:off x="1233318" y="3686209"/>
            <a:ext cx="525300" cy="1231800"/>
            <a:chOff x="1201171" y="3533809"/>
            <a:chExt cx="525300" cy="1231800"/>
          </a:xfrm>
        </p:grpSpPr>
        <p:sp>
          <p:nvSpPr>
            <p:cNvPr id="1377" name="Google Shape;1377;p62"/>
            <p:cNvSpPr txBox="1"/>
            <p:nvPr/>
          </p:nvSpPr>
          <p:spPr>
            <a:xfrm>
              <a:off x="1201171" y="43720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378" name="Google Shape;1378;p62"/>
            <p:cNvSpPr txBox="1"/>
            <p:nvPr/>
          </p:nvSpPr>
          <p:spPr>
            <a:xfrm>
              <a:off x="1353571" y="35338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379" name="Google Shape;1379;p62"/>
          <p:cNvSpPr txBox="1"/>
          <p:nvPr/>
        </p:nvSpPr>
        <p:spPr>
          <a:xfrm rot="-706987">
            <a:off x="87526" y="155565"/>
            <a:ext cx="1040118" cy="383087"/>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0" lang="en" sz="1000" u="none" cap="none" strike="noStrike">
                <a:solidFill>
                  <a:srgbClr val="FF0000"/>
                </a:solidFill>
                <a:latin typeface="Proxima Nova"/>
                <a:ea typeface="Proxima Nova"/>
                <a:cs typeface="Proxima Nova"/>
                <a:sym typeface="Proxima Nova"/>
              </a:rPr>
              <a:t>NEW AND IMPROVED</a:t>
            </a:r>
            <a:endParaRPr b="1" i="0" sz="1000" u="none" cap="none" strike="noStrike">
              <a:solidFill>
                <a:srgbClr val="FF0000"/>
              </a:solidFill>
              <a:latin typeface="Proxima Nova"/>
              <a:ea typeface="Proxima Nova"/>
              <a:cs typeface="Proxima Nova"/>
              <a:sym typeface="Proxima Nova"/>
            </a:endParaRPr>
          </a:p>
        </p:txBody>
      </p:sp>
      <p:grpSp>
        <p:nvGrpSpPr>
          <p:cNvPr id="1380" name="Google Shape;1380;p62"/>
          <p:cNvGrpSpPr/>
          <p:nvPr/>
        </p:nvGrpSpPr>
        <p:grpSpPr>
          <a:xfrm>
            <a:off x="1651941" y="3610009"/>
            <a:ext cx="1833559" cy="1314429"/>
            <a:chOff x="1651941" y="3457609"/>
            <a:chExt cx="1833559" cy="1314429"/>
          </a:xfrm>
        </p:grpSpPr>
        <p:sp>
          <p:nvSpPr>
            <p:cNvPr id="1381" name="Google Shape;1381;p62"/>
            <p:cNvSpPr txBox="1"/>
            <p:nvPr/>
          </p:nvSpPr>
          <p:spPr>
            <a:xfrm>
              <a:off x="1651941" y="43720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lang="en" sz="2500">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382" name="Google Shape;1382;p62"/>
            <p:cNvSpPr txBox="1"/>
            <p:nvPr/>
          </p:nvSpPr>
          <p:spPr>
            <a:xfrm>
              <a:off x="2058659" y="437843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lang="en" sz="2500">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383" name="Google Shape;1383;p62"/>
            <p:cNvSpPr txBox="1"/>
            <p:nvPr/>
          </p:nvSpPr>
          <p:spPr>
            <a:xfrm>
              <a:off x="2185341" y="3762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384" name="Google Shape;1384;p62"/>
            <p:cNvSpPr txBox="1"/>
            <p:nvPr/>
          </p:nvSpPr>
          <p:spPr>
            <a:xfrm>
              <a:off x="3112600" y="3457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385" name="Google Shape;1385;p62"/>
          <p:cNvSpPr txBox="1"/>
          <p:nvPr/>
        </p:nvSpPr>
        <p:spPr>
          <a:xfrm>
            <a:off x="1614318"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386" name="Google Shape;1386;p62"/>
          <p:cNvSpPr txBox="1"/>
          <p:nvPr/>
        </p:nvSpPr>
        <p:spPr>
          <a:xfrm>
            <a:off x="2058659"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387" name="Google Shape;1387;p62"/>
          <p:cNvSpPr txBox="1"/>
          <p:nvPr/>
        </p:nvSpPr>
        <p:spPr>
          <a:xfrm>
            <a:off x="1220459"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388" name="Google Shape;1388;p62"/>
          <p:cNvGrpSpPr/>
          <p:nvPr/>
        </p:nvGrpSpPr>
        <p:grpSpPr>
          <a:xfrm>
            <a:off x="2466329" y="3610009"/>
            <a:ext cx="525300" cy="1308000"/>
            <a:chOff x="2466329" y="3457609"/>
            <a:chExt cx="525300" cy="1308000"/>
          </a:xfrm>
        </p:grpSpPr>
        <p:sp>
          <p:nvSpPr>
            <p:cNvPr id="1389" name="Google Shape;1389;p62"/>
            <p:cNvSpPr txBox="1"/>
            <p:nvPr/>
          </p:nvSpPr>
          <p:spPr>
            <a:xfrm>
              <a:off x="2466329" y="43720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390" name="Google Shape;1390;p62"/>
            <p:cNvSpPr txBox="1"/>
            <p:nvPr/>
          </p:nvSpPr>
          <p:spPr>
            <a:xfrm>
              <a:off x="2618729" y="3457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391" name="Google Shape;1391;p62"/>
          <p:cNvSpPr txBox="1"/>
          <p:nvPr/>
        </p:nvSpPr>
        <p:spPr>
          <a:xfrm>
            <a:off x="2471806" y="45244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392" name="Google Shape;1392;p62"/>
          <p:cNvGrpSpPr/>
          <p:nvPr/>
        </p:nvGrpSpPr>
        <p:grpSpPr>
          <a:xfrm>
            <a:off x="1741953" y="3610009"/>
            <a:ext cx="1896900" cy="1308000"/>
            <a:chOff x="1741953" y="3457609"/>
            <a:chExt cx="1896900" cy="1308000"/>
          </a:xfrm>
        </p:grpSpPr>
        <p:sp>
          <p:nvSpPr>
            <p:cNvPr id="1393" name="Google Shape;1393;p62"/>
            <p:cNvSpPr txBox="1"/>
            <p:nvPr/>
          </p:nvSpPr>
          <p:spPr>
            <a:xfrm>
              <a:off x="2872094" y="43720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394" name="Google Shape;1394;p62"/>
            <p:cNvSpPr txBox="1"/>
            <p:nvPr/>
          </p:nvSpPr>
          <p:spPr>
            <a:xfrm>
              <a:off x="3265953" y="43720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sp>
          <p:nvSpPr>
            <p:cNvPr id="1395" name="Google Shape;1395;p62"/>
            <p:cNvSpPr txBox="1"/>
            <p:nvPr/>
          </p:nvSpPr>
          <p:spPr>
            <a:xfrm>
              <a:off x="2872094" y="3838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396" name="Google Shape;1396;p62"/>
            <p:cNvSpPr txBox="1"/>
            <p:nvPr/>
          </p:nvSpPr>
          <p:spPr>
            <a:xfrm>
              <a:off x="1741953" y="345760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397" name="Google Shape;1397;p62"/>
          <p:cNvSpPr/>
          <p:nvPr/>
        </p:nvSpPr>
        <p:spPr>
          <a:xfrm>
            <a:off x="2895887" y="4524425"/>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57">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9"/>
                                        </p:tgtEl>
                                        <p:attrNameLst>
                                          <p:attrName>style.visibility</p:attrName>
                                        </p:attrNameLst>
                                      </p:cBhvr>
                                      <p:to>
                                        <p:strVal val="visible"/>
                                      </p:to>
                                    </p:set>
                                    <p:animEffect filter="fade" transition="in">
                                      <p:cBhvr>
                                        <p:cTn dur="1000"/>
                                        <p:tgtEl>
                                          <p:spTgt spid="13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5"/>
                                        </p:tgtEl>
                                        <p:attrNameLst>
                                          <p:attrName>style.visibility</p:attrName>
                                        </p:attrNameLst>
                                      </p:cBhvr>
                                      <p:to>
                                        <p:strVal val="visible"/>
                                      </p:to>
                                    </p:set>
                                    <p:animEffect filter="fade" transition="in">
                                      <p:cBhvr>
                                        <p:cTn dur="1000"/>
                                        <p:tgtEl>
                                          <p:spTgt spid="13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76"/>
                                        </p:tgtEl>
                                        <p:attrNameLst>
                                          <p:attrName>style.visibility</p:attrName>
                                        </p:attrNameLst>
                                      </p:cBhvr>
                                      <p:to>
                                        <p:strVal val="visible"/>
                                      </p:to>
                                    </p:set>
                                    <p:animEffect filter="fade" transition="in">
                                      <p:cBhvr>
                                        <p:cTn dur="1000"/>
                                        <p:tgtEl>
                                          <p:spTgt spid="13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7"/>
                                        </p:tgtEl>
                                        <p:attrNameLst>
                                          <p:attrName>style.visibility</p:attrName>
                                        </p:attrNameLst>
                                      </p:cBhvr>
                                      <p:to>
                                        <p:strVal val="visible"/>
                                      </p:to>
                                    </p:set>
                                    <p:animEffect filter="fade" transition="in">
                                      <p:cBhvr>
                                        <p:cTn dur="1000"/>
                                        <p:tgtEl>
                                          <p:spTgt spid="13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80"/>
                                        </p:tgtEl>
                                        <p:attrNameLst>
                                          <p:attrName>style.visibility</p:attrName>
                                        </p:attrNameLst>
                                      </p:cBhvr>
                                      <p:to>
                                        <p:strVal val="visible"/>
                                      </p:to>
                                    </p:set>
                                    <p:animEffect filter="fade" transition="in">
                                      <p:cBhvr>
                                        <p:cTn dur="1000"/>
                                        <p:tgtEl>
                                          <p:spTgt spid="13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5"/>
                                        </p:tgtEl>
                                        <p:attrNameLst>
                                          <p:attrName>style.visibility</p:attrName>
                                        </p:attrNameLst>
                                      </p:cBhvr>
                                      <p:to>
                                        <p:strVal val="visible"/>
                                      </p:to>
                                    </p:set>
                                    <p:animEffect filter="fade" transition="in">
                                      <p:cBhvr>
                                        <p:cTn dur="1000"/>
                                        <p:tgtEl>
                                          <p:spTgt spid="13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88"/>
                                        </p:tgtEl>
                                        <p:attrNameLst>
                                          <p:attrName>style.visibility</p:attrName>
                                        </p:attrNameLst>
                                      </p:cBhvr>
                                      <p:to>
                                        <p:strVal val="visible"/>
                                      </p:to>
                                    </p:set>
                                    <p:animEffect filter="fade" transition="in">
                                      <p:cBhvr>
                                        <p:cTn dur="1000"/>
                                        <p:tgtEl>
                                          <p:spTgt spid="1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86"/>
                                        </p:tgtEl>
                                        <p:attrNameLst>
                                          <p:attrName>style.visibility</p:attrName>
                                        </p:attrNameLst>
                                      </p:cBhvr>
                                      <p:to>
                                        <p:strVal val="visible"/>
                                      </p:to>
                                    </p:set>
                                    <p:animEffect filter="fade" transition="in">
                                      <p:cBhvr>
                                        <p:cTn dur="1000"/>
                                        <p:tgtEl>
                                          <p:spTgt spid="13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1"/>
                                        </p:tgtEl>
                                        <p:attrNameLst>
                                          <p:attrName>style.visibility</p:attrName>
                                        </p:attrNameLst>
                                      </p:cBhvr>
                                      <p:to>
                                        <p:strVal val="visible"/>
                                      </p:to>
                                    </p:set>
                                    <p:animEffect filter="fade" transition="in">
                                      <p:cBhvr>
                                        <p:cTn dur="1000"/>
                                        <p:tgtEl>
                                          <p:spTgt spid="13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392"/>
                                        </p:tgtEl>
                                        <p:attrNameLst>
                                          <p:attrName>style.visibility</p:attrName>
                                        </p:attrNameLst>
                                      </p:cBhvr>
                                      <p:to>
                                        <p:strVal val="visible"/>
                                      </p:to>
                                    </p:set>
                                    <p:animEffect filter="fade" transition="in">
                                      <p:cBhvr>
                                        <p:cTn dur="1000"/>
                                        <p:tgtEl>
                                          <p:spTgt spid="13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397"/>
                                        </p:tgtEl>
                                        <p:attrNameLst>
                                          <p:attrName>style.visibility</p:attrName>
                                        </p:attrNameLst>
                                      </p:cBhvr>
                                      <p:to>
                                        <p:strVal val="visible"/>
                                      </p:to>
                                    </p:set>
                                    <p:animEffect filter="fade" transition="in">
                                      <p:cBhvr>
                                        <p:cTn dur="1000"/>
                                        <p:tgtEl>
                                          <p:spTgt spid="1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1" name="Shape 1401"/>
        <p:cNvGrpSpPr/>
        <p:nvPr/>
      </p:nvGrpSpPr>
      <p:grpSpPr>
        <a:xfrm>
          <a:off x="0" y="0"/>
          <a:ext cx="0" cy="0"/>
          <a:chOff x="0" y="0"/>
          <a:chExt cx="0" cy="0"/>
        </a:xfrm>
      </p:grpSpPr>
      <p:sp>
        <p:nvSpPr>
          <p:cNvPr id="1402" name="Google Shape;1402;p6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03" name="Google Shape;1403;p63"/>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10</a:t>
            </a:r>
            <a:endParaRPr/>
          </a:p>
        </p:txBody>
      </p:sp>
      <p:sp>
        <p:nvSpPr>
          <p:cNvPr id="1404" name="Google Shape;1404;p63"/>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Search Redux</a:t>
            </a:r>
            <a:endParaRPr/>
          </a:p>
        </p:txBody>
      </p:sp>
      <p:sp>
        <p:nvSpPr>
          <p:cNvPr id="1405" name="Google Shape;1405;p63"/>
          <p:cNvSpPr txBox="1"/>
          <p:nvPr>
            <p:ph idx="1" type="body"/>
          </p:nvPr>
        </p:nvSpPr>
        <p:spPr>
          <a:xfrm>
            <a:off x="65250" y="6554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600"/>
              <a:buNone/>
            </a:pPr>
            <a:r>
              <a:rPr lang="en"/>
              <a:t>As it is currently written, our BFS algorithm may visit the same vertices over and over again if the graph that it is searching contains </a:t>
            </a:r>
            <a:r>
              <a:rPr b="1" i="1" lang="en">
                <a:solidFill>
                  <a:srgbClr val="FF0000"/>
                </a:solidFill>
              </a:rPr>
              <a:t>cycles</a:t>
            </a:r>
            <a:r>
              <a:rPr lang="en"/>
              <a:t>. Let's modify the algorithm to use a </a:t>
            </a:r>
            <a:r>
              <a:rPr b="1" i="1" lang="en">
                <a:solidFill>
                  <a:srgbClr val="FF0000"/>
                </a:solidFill>
              </a:rPr>
              <a:t>set</a:t>
            </a:r>
            <a:r>
              <a:rPr lang="en">
                <a:solidFill>
                  <a:srgbClr val="FF0000"/>
                </a:solidFill>
              </a:rPr>
              <a:t> </a:t>
            </a:r>
            <a:r>
              <a:rPr lang="en"/>
              <a:t>to keep track of the vertices that it has visited before so that it does not visit them more than once.</a:t>
            </a:r>
            <a:endParaRPr/>
          </a:p>
        </p:txBody>
      </p:sp>
      <p:graphicFrame>
        <p:nvGraphicFramePr>
          <p:cNvPr id="1406" name="Google Shape;1406;p63"/>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407" name="Google Shape;1407;p63"/>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B to G</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408" name="Google Shape;1408;p63"/>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409" name="Google Shape;1409;p63"/>
          <p:cNvGrpSpPr/>
          <p:nvPr/>
        </p:nvGrpSpPr>
        <p:grpSpPr>
          <a:xfrm>
            <a:off x="337941" y="1734406"/>
            <a:ext cx="2160423" cy="2142938"/>
            <a:chOff x="5900277" y="743776"/>
            <a:chExt cx="2727118" cy="2705047"/>
          </a:xfrm>
        </p:grpSpPr>
        <p:sp>
          <p:nvSpPr>
            <p:cNvPr id="1410" name="Google Shape;1410;p63"/>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411" name="Google Shape;1411;p63"/>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412" name="Google Shape;1412;p63"/>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413" name="Google Shape;1413;p63"/>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414" name="Google Shape;1414;p63"/>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415" name="Google Shape;1415;p63"/>
            <p:cNvCxnSpPr>
              <a:stCxn id="1410" idx="6"/>
              <a:endCxn id="1411"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416" name="Google Shape;1416;p63"/>
            <p:cNvCxnSpPr>
              <a:stCxn id="1410" idx="4"/>
              <a:endCxn id="1412"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417" name="Google Shape;1417;p63"/>
            <p:cNvCxnSpPr>
              <a:stCxn id="1412" idx="5"/>
              <a:endCxn id="1413"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418" name="Google Shape;1418;p63"/>
            <p:cNvCxnSpPr>
              <a:stCxn id="1413" idx="5"/>
              <a:endCxn id="1414"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419" name="Google Shape;1419;p63"/>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420" name="Google Shape;1420;p63"/>
            <p:cNvCxnSpPr>
              <a:stCxn id="1413" idx="6"/>
              <a:endCxn id="1419"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cxnSp>
        <p:nvCxnSpPr>
          <p:cNvPr id="1421" name="Google Shape;1421;p63"/>
          <p:cNvCxnSpPr>
            <a:stCxn id="1413" idx="0"/>
            <a:endCxn id="1411" idx="4"/>
          </p:cNvCxnSpPr>
          <p:nvPr/>
        </p:nvCxnSpPr>
        <p:spPr>
          <a:xfrm flipH="1" rot="10800000">
            <a:off x="1501686" y="2403604"/>
            <a:ext cx="83700" cy="469800"/>
          </a:xfrm>
          <a:prstGeom prst="straightConnector1">
            <a:avLst/>
          </a:prstGeom>
          <a:noFill/>
          <a:ln cap="flat" cmpd="sng" w="19050">
            <a:solidFill>
              <a:srgbClr val="000000"/>
            </a:solidFill>
            <a:prstDash val="solid"/>
            <a:round/>
            <a:headEnd len="sm" w="sm" type="none"/>
            <a:tailEnd len="sm" w="sm" type="none"/>
          </a:ln>
        </p:spPr>
      </p:cxnSp>
      <p:cxnSp>
        <p:nvCxnSpPr>
          <p:cNvPr id="1422" name="Google Shape;1422;p63"/>
          <p:cNvCxnSpPr>
            <a:stCxn id="1414" idx="0"/>
            <a:endCxn id="1419" idx="4"/>
          </p:cNvCxnSpPr>
          <p:nvPr/>
        </p:nvCxnSpPr>
        <p:spPr>
          <a:xfrm flipH="1" rot="10800000">
            <a:off x="2157718" y="2884516"/>
            <a:ext cx="133800" cy="579300"/>
          </a:xfrm>
          <a:prstGeom prst="straightConnector1">
            <a:avLst/>
          </a:prstGeom>
          <a:noFill/>
          <a:ln cap="flat" cmpd="sng" w="19050">
            <a:solidFill>
              <a:srgbClr val="000000"/>
            </a:solidFill>
            <a:prstDash val="solid"/>
            <a:round/>
            <a:headEnd len="sm" w="sm" type="none"/>
            <a:tailEnd len="med" w="med" type="triangle"/>
          </a:ln>
        </p:spPr>
      </p:cxnSp>
      <p:graphicFrame>
        <p:nvGraphicFramePr>
          <p:cNvPr id="1423" name="Google Shape;1423;p63"/>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424" name="Google Shape;1424;p63"/>
          <p:cNvSpPr txBox="1"/>
          <p:nvPr/>
        </p:nvSpPr>
        <p:spPr>
          <a:xfrm>
            <a:off x="7078346"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425" name="Google Shape;1425;p63"/>
          <p:cNvSpPr txBox="1"/>
          <p:nvPr/>
        </p:nvSpPr>
        <p:spPr>
          <a:xfrm>
            <a:off x="7478634"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426" name="Google Shape;1426;p63"/>
          <p:cNvSpPr txBox="1"/>
          <p:nvPr/>
        </p:nvSpPr>
        <p:spPr>
          <a:xfrm>
            <a:off x="8183723"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graphicFrame>
        <p:nvGraphicFramePr>
          <p:cNvPr id="1427" name="Google Shape;1427;p63"/>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428" name="Google Shape;1428;p63"/>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2" name="Shape 1432"/>
        <p:cNvGrpSpPr/>
        <p:nvPr/>
      </p:nvGrpSpPr>
      <p:grpSpPr>
        <a:xfrm>
          <a:off x="0" y="0"/>
          <a:ext cx="0" cy="0"/>
          <a:chOff x="0" y="0"/>
          <a:chExt cx="0" cy="0"/>
        </a:xfrm>
      </p:grpSpPr>
      <p:sp>
        <p:nvSpPr>
          <p:cNvPr id="1433" name="Google Shape;1433;p6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434" name="Google Shape;1434;p64"/>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10</a:t>
            </a:r>
            <a:endParaRPr/>
          </a:p>
        </p:txBody>
      </p:sp>
      <p:sp>
        <p:nvSpPr>
          <p:cNvPr id="1435" name="Google Shape;1435;p64"/>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Search Redux</a:t>
            </a:r>
            <a:endParaRPr/>
          </a:p>
        </p:txBody>
      </p:sp>
      <p:sp>
        <p:nvSpPr>
          <p:cNvPr id="1436" name="Google Shape;1436;p64"/>
          <p:cNvSpPr txBox="1"/>
          <p:nvPr>
            <p:ph idx="1" type="body"/>
          </p:nvPr>
        </p:nvSpPr>
        <p:spPr>
          <a:xfrm>
            <a:off x="65250" y="6554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600"/>
              <a:buNone/>
            </a:pPr>
            <a:r>
              <a:rPr lang="en"/>
              <a:t>As it is currently written, our BFS algorithm may visit the same vertices over and over again if the graph that it is searching contains </a:t>
            </a:r>
            <a:r>
              <a:rPr b="1" i="1" lang="en">
                <a:solidFill>
                  <a:srgbClr val="FF0000"/>
                </a:solidFill>
              </a:rPr>
              <a:t>cycles</a:t>
            </a:r>
            <a:r>
              <a:rPr lang="en"/>
              <a:t>. Let's modify the algorithm to use a </a:t>
            </a:r>
            <a:r>
              <a:rPr b="1" i="1" lang="en">
                <a:solidFill>
                  <a:srgbClr val="FF0000"/>
                </a:solidFill>
              </a:rPr>
              <a:t>set</a:t>
            </a:r>
            <a:r>
              <a:rPr lang="en">
                <a:solidFill>
                  <a:srgbClr val="FF0000"/>
                </a:solidFill>
              </a:rPr>
              <a:t> </a:t>
            </a:r>
            <a:r>
              <a:rPr lang="en"/>
              <a:t>to keep track of the vertices that it has visited before so that it does not visit them more than once.</a:t>
            </a:r>
            <a:endParaRPr/>
          </a:p>
        </p:txBody>
      </p:sp>
      <p:graphicFrame>
        <p:nvGraphicFramePr>
          <p:cNvPr id="1437" name="Google Shape;1437;p64"/>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438" name="Google Shape;1438;p64"/>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B to G</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439" name="Google Shape;1439;p64"/>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440" name="Google Shape;1440;p64"/>
          <p:cNvGrpSpPr/>
          <p:nvPr/>
        </p:nvGrpSpPr>
        <p:grpSpPr>
          <a:xfrm>
            <a:off x="337941" y="1734406"/>
            <a:ext cx="2160423" cy="2142938"/>
            <a:chOff x="5900277" y="743776"/>
            <a:chExt cx="2727118" cy="2705047"/>
          </a:xfrm>
        </p:grpSpPr>
        <p:sp>
          <p:nvSpPr>
            <p:cNvPr id="1441" name="Google Shape;1441;p64"/>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442" name="Google Shape;1442;p64"/>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443" name="Google Shape;1443;p64"/>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444" name="Google Shape;1444;p64"/>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445" name="Google Shape;1445;p64"/>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446" name="Google Shape;1446;p64"/>
            <p:cNvCxnSpPr>
              <a:stCxn id="1441" idx="6"/>
              <a:endCxn id="1442"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447" name="Google Shape;1447;p64"/>
            <p:cNvCxnSpPr>
              <a:stCxn id="1441" idx="4"/>
              <a:endCxn id="1443"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448" name="Google Shape;1448;p64"/>
            <p:cNvCxnSpPr>
              <a:stCxn id="1443" idx="5"/>
              <a:endCxn id="1444"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449" name="Google Shape;1449;p64"/>
            <p:cNvCxnSpPr>
              <a:stCxn id="1444" idx="5"/>
              <a:endCxn id="1445"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450" name="Google Shape;1450;p64"/>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451" name="Google Shape;1451;p64"/>
            <p:cNvCxnSpPr>
              <a:stCxn id="1444" idx="6"/>
              <a:endCxn id="1450"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cxnSp>
        <p:nvCxnSpPr>
          <p:cNvPr id="1452" name="Google Shape;1452;p64"/>
          <p:cNvCxnSpPr>
            <a:stCxn id="1444" idx="0"/>
            <a:endCxn id="1442" idx="4"/>
          </p:cNvCxnSpPr>
          <p:nvPr/>
        </p:nvCxnSpPr>
        <p:spPr>
          <a:xfrm flipH="1" rot="10800000">
            <a:off x="1501686" y="2403604"/>
            <a:ext cx="83700" cy="469800"/>
          </a:xfrm>
          <a:prstGeom prst="straightConnector1">
            <a:avLst/>
          </a:prstGeom>
          <a:noFill/>
          <a:ln cap="flat" cmpd="sng" w="19050">
            <a:solidFill>
              <a:srgbClr val="000000"/>
            </a:solidFill>
            <a:prstDash val="solid"/>
            <a:round/>
            <a:headEnd len="sm" w="sm" type="none"/>
            <a:tailEnd len="sm" w="sm" type="none"/>
          </a:ln>
        </p:spPr>
      </p:cxnSp>
      <p:cxnSp>
        <p:nvCxnSpPr>
          <p:cNvPr id="1453" name="Google Shape;1453;p64"/>
          <p:cNvCxnSpPr>
            <a:stCxn id="1445" idx="0"/>
            <a:endCxn id="1450" idx="4"/>
          </p:cNvCxnSpPr>
          <p:nvPr/>
        </p:nvCxnSpPr>
        <p:spPr>
          <a:xfrm flipH="1" rot="10800000">
            <a:off x="2157718" y="2884516"/>
            <a:ext cx="133800" cy="579300"/>
          </a:xfrm>
          <a:prstGeom prst="straightConnector1">
            <a:avLst/>
          </a:prstGeom>
          <a:noFill/>
          <a:ln cap="flat" cmpd="sng" w="19050">
            <a:solidFill>
              <a:srgbClr val="000000"/>
            </a:solidFill>
            <a:prstDash val="solid"/>
            <a:round/>
            <a:headEnd len="sm" w="sm" type="none"/>
            <a:tailEnd len="med" w="med" type="triangle"/>
          </a:ln>
        </p:spPr>
      </p:cxnSp>
      <p:sp>
        <p:nvSpPr>
          <p:cNvPr id="1454" name="Google Shape;1454;p64"/>
          <p:cNvSpPr txBox="1"/>
          <p:nvPr/>
        </p:nvSpPr>
        <p:spPr>
          <a:xfrm>
            <a:off x="3501471" y="1769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455" name="Google Shape;1455;p64"/>
          <p:cNvSpPr txBox="1"/>
          <p:nvPr/>
        </p:nvSpPr>
        <p:spPr>
          <a:xfrm>
            <a:off x="5495529"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456" name="Google Shape;1456;p64"/>
          <p:cNvSpPr/>
          <p:nvPr/>
        </p:nvSpPr>
        <p:spPr>
          <a:xfrm>
            <a:off x="5119962" y="4137937"/>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7" name="Google Shape;1457;p64"/>
          <p:cNvSpPr txBox="1"/>
          <p:nvPr/>
        </p:nvSpPr>
        <p:spPr>
          <a:xfrm>
            <a:off x="3488612" y="1775729"/>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58" name="Google Shape;1458;p64"/>
          <p:cNvSpPr/>
          <p:nvPr/>
        </p:nvSpPr>
        <p:spPr>
          <a:xfrm>
            <a:off x="3930540" y="1774796"/>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59" name="Google Shape;1459;p64"/>
          <p:cNvSpPr txBox="1"/>
          <p:nvPr/>
        </p:nvSpPr>
        <p:spPr>
          <a:xfrm>
            <a:off x="3495041" y="2938018"/>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0" name="Google Shape;1460;p64"/>
          <p:cNvSpPr txBox="1"/>
          <p:nvPr/>
        </p:nvSpPr>
        <p:spPr>
          <a:xfrm>
            <a:off x="3888900" y="2956353"/>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1" name="Google Shape;1461;p64"/>
          <p:cNvSpPr txBox="1"/>
          <p:nvPr/>
        </p:nvSpPr>
        <p:spPr>
          <a:xfrm>
            <a:off x="4282759" y="2938018"/>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2" name="Google Shape;1462;p64"/>
          <p:cNvSpPr/>
          <p:nvPr/>
        </p:nvSpPr>
        <p:spPr>
          <a:xfrm>
            <a:off x="4724687" y="2943513"/>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63" name="Google Shape;1463;p64"/>
          <p:cNvSpPr txBox="1"/>
          <p:nvPr/>
        </p:nvSpPr>
        <p:spPr>
          <a:xfrm>
            <a:off x="3495041"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4" name="Google Shape;1464;p64"/>
          <p:cNvSpPr txBox="1"/>
          <p:nvPr/>
        </p:nvSpPr>
        <p:spPr>
          <a:xfrm>
            <a:off x="3888900"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5" name="Google Shape;1465;p64"/>
          <p:cNvSpPr txBox="1"/>
          <p:nvPr/>
        </p:nvSpPr>
        <p:spPr>
          <a:xfrm>
            <a:off x="4282759" y="4137929"/>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graphicFrame>
        <p:nvGraphicFramePr>
          <p:cNvPr id="1466" name="Google Shape;1466;p64"/>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467" name="Google Shape;1467;p64"/>
          <p:cNvSpPr txBox="1"/>
          <p:nvPr/>
        </p:nvSpPr>
        <p:spPr>
          <a:xfrm>
            <a:off x="4683047"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t>
            </a:r>
            <a:endParaRPr b="0" i="0" sz="2400" u="none" cap="none" strike="noStrike">
              <a:solidFill>
                <a:srgbClr val="FF0000"/>
              </a:solidFill>
              <a:latin typeface="Shadows Into Light"/>
              <a:ea typeface="Shadows Into Light"/>
              <a:cs typeface="Shadows Into Light"/>
              <a:sym typeface="Shadows Into Light"/>
            </a:endParaRPr>
          </a:p>
        </p:txBody>
      </p:sp>
      <p:sp>
        <p:nvSpPr>
          <p:cNvPr id="1468" name="Google Shape;1468;p64"/>
          <p:cNvSpPr txBox="1"/>
          <p:nvPr/>
        </p:nvSpPr>
        <p:spPr>
          <a:xfrm>
            <a:off x="7078346"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469" name="Google Shape;1469;p64"/>
          <p:cNvSpPr txBox="1"/>
          <p:nvPr/>
        </p:nvSpPr>
        <p:spPr>
          <a:xfrm>
            <a:off x="7478634"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sp>
        <p:nvSpPr>
          <p:cNvPr id="1470" name="Google Shape;1470;p64"/>
          <p:cNvSpPr txBox="1"/>
          <p:nvPr/>
        </p:nvSpPr>
        <p:spPr>
          <a:xfrm>
            <a:off x="8183723"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t/>
            </a:r>
            <a:endParaRPr b="0" i="0" sz="2400" u="none" cap="none" strike="noStrike">
              <a:solidFill>
                <a:srgbClr val="4A86E8"/>
              </a:solidFill>
              <a:latin typeface="Shadows Into Light"/>
              <a:ea typeface="Shadows Into Light"/>
              <a:cs typeface="Shadows Into Light"/>
              <a:sym typeface="Shadows Into Light"/>
            </a:endParaRPr>
          </a:p>
        </p:txBody>
      </p:sp>
      <p:graphicFrame>
        <p:nvGraphicFramePr>
          <p:cNvPr id="1471" name="Google Shape;1471;p64"/>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472" name="Google Shape;1472;p64"/>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473" name="Google Shape;1473;p64"/>
          <p:cNvSpPr txBox="1"/>
          <p:nvPr/>
        </p:nvSpPr>
        <p:spPr>
          <a:xfrm>
            <a:off x="6907146" y="17344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grpSp>
        <p:nvGrpSpPr>
          <p:cNvPr id="1474" name="Google Shape;1474;p64"/>
          <p:cNvGrpSpPr/>
          <p:nvPr/>
        </p:nvGrpSpPr>
        <p:grpSpPr>
          <a:xfrm>
            <a:off x="3882471" y="1769300"/>
            <a:ext cx="3763117" cy="774600"/>
            <a:chOff x="3882471" y="1769300"/>
            <a:chExt cx="3763117" cy="774600"/>
          </a:xfrm>
        </p:grpSpPr>
        <p:sp>
          <p:nvSpPr>
            <p:cNvPr id="1475" name="Google Shape;1475;p64"/>
            <p:cNvSpPr txBox="1"/>
            <p:nvPr/>
          </p:nvSpPr>
          <p:spPr>
            <a:xfrm>
              <a:off x="3882471" y="1769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476" name="Google Shape;1476;p64"/>
            <p:cNvSpPr txBox="1"/>
            <p:nvPr/>
          </p:nvSpPr>
          <p:spPr>
            <a:xfrm>
              <a:off x="4289188" y="1769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477" name="Google Shape;1477;p64"/>
            <p:cNvSpPr txBox="1"/>
            <p:nvPr/>
          </p:nvSpPr>
          <p:spPr>
            <a:xfrm>
              <a:off x="7006671" y="2150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478" name="Google Shape;1478;p64"/>
            <p:cNvSpPr txBox="1"/>
            <p:nvPr/>
          </p:nvSpPr>
          <p:spPr>
            <a:xfrm>
              <a:off x="7260988" y="19217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79" name="Google Shape;1479;p64"/>
          <p:cNvGrpSpPr/>
          <p:nvPr/>
        </p:nvGrpSpPr>
        <p:grpSpPr>
          <a:xfrm>
            <a:off x="3507900" y="2944447"/>
            <a:ext cx="4880400" cy="393600"/>
            <a:chOff x="3507900" y="2868247"/>
            <a:chExt cx="4880400" cy="393600"/>
          </a:xfrm>
        </p:grpSpPr>
        <p:sp>
          <p:nvSpPr>
            <p:cNvPr id="1480" name="Google Shape;1480;p64"/>
            <p:cNvSpPr txBox="1"/>
            <p:nvPr/>
          </p:nvSpPr>
          <p:spPr>
            <a:xfrm>
              <a:off x="3507900" y="28682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1481" name="Google Shape;1481;p64"/>
            <p:cNvSpPr txBox="1"/>
            <p:nvPr/>
          </p:nvSpPr>
          <p:spPr>
            <a:xfrm>
              <a:off x="8003700" y="28682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82" name="Google Shape;1482;p64"/>
          <p:cNvGrpSpPr/>
          <p:nvPr/>
        </p:nvGrpSpPr>
        <p:grpSpPr>
          <a:xfrm>
            <a:off x="3888900" y="2944447"/>
            <a:ext cx="4728000" cy="774600"/>
            <a:chOff x="3888900" y="2868247"/>
            <a:chExt cx="4728000" cy="774600"/>
          </a:xfrm>
        </p:grpSpPr>
        <p:sp>
          <p:nvSpPr>
            <p:cNvPr id="1483" name="Google Shape;1483;p64"/>
            <p:cNvSpPr txBox="1"/>
            <p:nvPr/>
          </p:nvSpPr>
          <p:spPr>
            <a:xfrm>
              <a:off x="3888900" y="28682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484" name="Google Shape;1484;p64"/>
            <p:cNvSpPr txBox="1"/>
            <p:nvPr/>
          </p:nvSpPr>
          <p:spPr>
            <a:xfrm>
              <a:off x="4295618" y="28682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485" name="Google Shape;1485;p64"/>
            <p:cNvSpPr txBox="1"/>
            <p:nvPr/>
          </p:nvSpPr>
          <p:spPr>
            <a:xfrm>
              <a:off x="8232300" y="32492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486" name="Google Shape;1486;p64"/>
            <p:cNvSpPr txBox="1"/>
            <p:nvPr/>
          </p:nvSpPr>
          <p:spPr>
            <a:xfrm>
              <a:off x="6899276" y="30206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87" name="Google Shape;1487;p64"/>
          <p:cNvGrpSpPr/>
          <p:nvPr/>
        </p:nvGrpSpPr>
        <p:grpSpPr>
          <a:xfrm>
            <a:off x="4689476" y="2944447"/>
            <a:ext cx="3051600" cy="469800"/>
            <a:chOff x="4689476" y="2944447"/>
            <a:chExt cx="3051600" cy="469800"/>
          </a:xfrm>
        </p:grpSpPr>
        <p:sp>
          <p:nvSpPr>
            <p:cNvPr id="1488" name="Google Shape;1488;p64"/>
            <p:cNvSpPr txBox="1"/>
            <p:nvPr/>
          </p:nvSpPr>
          <p:spPr>
            <a:xfrm>
              <a:off x="4689476" y="29444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489" name="Google Shape;1489;p64"/>
            <p:cNvSpPr txBox="1"/>
            <p:nvPr/>
          </p:nvSpPr>
          <p:spPr>
            <a:xfrm>
              <a:off x="7356476" y="3020647"/>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90" name="Google Shape;1490;p64"/>
          <p:cNvGrpSpPr/>
          <p:nvPr/>
        </p:nvGrpSpPr>
        <p:grpSpPr>
          <a:xfrm>
            <a:off x="3507900" y="4131500"/>
            <a:ext cx="4423200" cy="546000"/>
            <a:chOff x="3507900" y="4131500"/>
            <a:chExt cx="4423200" cy="546000"/>
          </a:xfrm>
        </p:grpSpPr>
        <p:sp>
          <p:nvSpPr>
            <p:cNvPr id="1491" name="Google Shape;1491;p64"/>
            <p:cNvSpPr txBox="1"/>
            <p:nvPr/>
          </p:nvSpPr>
          <p:spPr>
            <a:xfrm>
              <a:off x="3507900"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B</a:t>
              </a:r>
              <a:endParaRPr b="0" i="0" sz="2400" u="none" cap="none" strike="noStrike">
                <a:solidFill>
                  <a:srgbClr val="4A86E8"/>
                </a:solidFill>
                <a:latin typeface="Shadows Into Light"/>
                <a:ea typeface="Shadows Into Light"/>
                <a:cs typeface="Shadows Into Light"/>
                <a:sym typeface="Shadows Into Light"/>
              </a:endParaRPr>
            </a:p>
          </p:txBody>
        </p:sp>
        <p:sp>
          <p:nvSpPr>
            <p:cNvPr id="1492" name="Google Shape;1492;p64"/>
            <p:cNvSpPr txBox="1"/>
            <p:nvPr/>
          </p:nvSpPr>
          <p:spPr>
            <a:xfrm>
              <a:off x="7546500" y="42839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B</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93" name="Google Shape;1493;p64"/>
          <p:cNvGrpSpPr/>
          <p:nvPr/>
        </p:nvGrpSpPr>
        <p:grpSpPr>
          <a:xfrm>
            <a:off x="3888900" y="4055300"/>
            <a:ext cx="4753718" cy="850800"/>
            <a:chOff x="3888900" y="4055300"/>
            <a:chExt cx="4753718" cy="850800"/>
          </a:xfrm>
        </p:grpSpPr>
        <p:sp>
          <p:nvSpPr>
            <p:cNvPr id="1494" name="Google Shape;1494;p64"/>
            <p:cNvSpPr txBox="1"/>
            <p:nvPr/>
          </p:nvSpPr>
          <p:spPr>
            <a:xfrm>
              <a:off x="3888900"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495" name="Google Shape;1495;p64"/>
            <p:cNvSpPr txBox="1"/>
            <p:nvPr/>
          </p:nvSpPr>
          <p:spPr>
            <a:xfrm>
              <a:off x="4295618"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H</a:t>
              </a:r>
              <a:endParaRPr b="0" i="0" sz="2400" u="none" cap="none" strike="noStrike">
                <a:solidFill>
                  <a:srgbClr val="4A86E8"/>
                </a:solidFill>
                <a:latin typeface="Shadows Into Light"/>
                <a:ea typeface="Shadows Into Light"/>
                <a:cs typeface="Shadows Into Light"/>
                <a:sym typeface="Shadows Into Light"/>
              </a:endParaRPr>
            </a:p>
          </p:txBody>
        </p:sp>
        <p:sp>
          <p:nvSpPr>
            <p:cNvPr id="1496" name="Google Shape;1496;p64"/>
            <p:cNvSpPr txBox="1"/>
            <p:nvPr/>
          </p:nvSpPr>
          <p:spPr>
            <a:xfrm>
              <a:off x="6873559" y="4512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1497" name="Google Shape;1497;p64"/>
            <p:cNvSpPr txBox="1"/>
            <p:nvPr/>
          </p:nvSpPr>
          <p:spPr>
            <a:xfrm>
              <a:off x="8258018"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H</a:t>
              </a:r>
              <a:endParaRPr b="0" i="0" sz="2400" u="none" cap="none" strike="noStrike">
                <a:solidFill>
                  <a:srgbClr val="4A86E8"/>
                </a:solidFill>
                <a:latin typeface="Shadows Into Light"/>
                <a:ea typeface="Shadows Into Light"/>
                <a:cs typeface="Shadows Into Light"/>
                <a:sym typeface="Shadows Into Light"/>
              </a:endParaRPr>
            </a:p>
          </p:txBody>
        </p:sp>
      </p:grpSp>
      <p:grpSp>
        <p:nvGrpSpPr>
          <p:cNvPr id="1498" name="Google Shape;1498;p64"/>
          <p:cNvGrpSpPr/>
          <p:nvPr/>
        </p:nvGrpSpPr>
        <p:grpSpPr>
          <a:xfrm>
            <a:off x="4689476" y="4055300"/>
            <a:ext cx="3674059" cy="774600"/>
            <a:chOff x="4689476" y="4055300"/>
            <a:chExt cx="3674059" cy="774600"/>
          </a:xfrm>
        </p:grpSpPr>
        <p:sp>
          <p:nvSpPr>
            <p:cNvPr id="1499" name="Google Shape;1499;p64"/>
            <p:cNvSpPr txBox="1"/>
            <p:nvPr/>
          </p:nvSpPr>
          <p:spPr>
            <a:xfrm>
              <a:off x="4689476"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500" name="Google Shape;1500;p64"/>
            <p:cNvSpPr txBox="1"/>
            <p:nvPr/>
          </p:nvSpPr>
          <p:spPr>
            <a:xfrm>
              <a:off x="5083335" y="41315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1501" name="Google Shape;1501;p64"/>
            <p:cNvSpPr txBox="1"/>
            <p:nvPr/>
          </p:nvSpPr>
          <p:spPr>
            <a:xfrm>
              <a:off x="7051676" y="4055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1502" name="Google Shape;1502;p64"/>
            <p:cNvSpPr txBox="1"/>
            <p:nvPr/>
          </p:nvSpPr>
          <p:spPr>
            <a:xfrm>
              <a:off x="7978935" y="4436300"/>
              <a:ext cx="384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473"/>
                                        </p:tgtEl>
                                        <p:attrNameLst>
                                          <p:attrName>style.visibility</p:attrName>
                                        </p:attrNameLst>
                                      </p:cBhvr>
                                      <p:to>
                                        <p:strVal val="visible"/>
                                      </p:to>
                                    </p:set>
                                    <p:animEffect filter="fade" transition="in">
                                      <p:cBhvr>
                                        <p:cTn dur="1000"/>
                                        <p:tgtEl>
                                          <p:spTgt spid="1473"/>
                                        </p:tgtEl>
                                      </p:cBhvr>
                                    </p:animEffect>
                                  </p:childTnLst>
                                </p:cTn>
                              </p:par>
                              <p:par>
                                <p:cTn fill="hold" nodeType="withEffect" presetClass="entr" presetID="10" presetSubtype="0">
                                  <p:stCondLst>
                                    <p:cond delay="0"/>
                                  </p:stCondLst>
                                  <p:childTnLst>
                                    <p:set>
                                      <p:cBhvr>
                                        <p:cTn dur="1" fill="hold">
                                          <p:stCondLst>
                                            <p:cond delay="0"/>
                                          </p:stCondLst>
                                        </p:cTn>
                                        <p:tgtEl>
                                          <p:spTgt spid="1454"/>
                                        </p:tgtEl>
                                        <p:attrNameLst>
                                          <p:attrName>style.visibility</p:attrName>
                                        </p:attrNameLst>
                                      </p:cBhvr>
                                      <p:to>
                                        <p:strVal val="visible"/>
                                      </p:to>
                                    </p:set>
                                    <p:animEffect filter="fade" transition="in">
                                      <p:cBhvr>
                                        <p:cTn dur="1000"/>
                                        <p:tgtEl>
                                          <p:spTgt spid="14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7"/>
                                        </p:tgtEl>
                                        <p:attrNameLst>
                                          <p:attrName>style.visibility</p:attrName>
                                        </p:attrNameLst>
                                      </p:cBhvr>
                                      <p:to>
                                        <p:strVal val="visible"/>
                                      </p:to>
                                    </p:set>
                                    <p:animEffect filter="fade" transition="in">
                                      <p:cBhvr>
                                        <p:cTn dur="1000"/>
                                        <p:tgtEl>
                                          <p:spTgt spid="145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74"/>
                                        </p:tgtEl>
                                        <p:attrNameLst>
                                          <p:attrName>style.visibility</p:attrName>
                                        </p:attrNameLst>
                                      </p:cBhvr>
                                      <p:to>
                                        <p:strVal val="visible"/>
                                      </p:to>
                                    </p:set>
                                    <p:animEffect filter="fade" transition="in">
                                      <p:cBhvr>
                                        <p:cTn dur="1000"/>
                                        <p:tgtEl>
                                          <p:spTgt spid="1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8"/>
                                        </p:tgtEl>
                                        <p:attrNameLst>
                                          <p:attrName>style.visibility</p:attrName>
                                        </p:attrNameLst>
                                      </p:cBhvr>
                                      <p:to>
                                        <p:strVal val="visible"/>
                                      </p:to>
                                    </p:set>
                                    <p:animEffect filter="fade" transition="in">
                                      <p:cBhvr>
                                        <p:cTn dur="1000"/>
                                        <p:tgtEl>
                                          <p:spTgt spid="14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79"/>
                                        </p:tgtEl>
                                        <p:attrNameLst>
                                          <p:attrName>style.visibility</p:attrName>
                                        </p:attrNameLst>
                                      </p:cBhvr>
                                      <p:to>
                                        <p:strVal val="visible"/>
                                      </p:to>
                                    </p:set>
                                    <p:animEffect filter="fade" transition="in">
                                      <p:cBhvr>
                                        <p:cTn dur="1000"/>
                                        <p:tgtEl>
                                          <p:spTgt spid="14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9"/>
                                        </p:tgtEl>
                                        <p:attrNameLst>
                                          <p:attrName>style.visibility</p:attrName>
                                        </p:attrNameLst>
                                      </p:cBhvr>
                                      <p:to>
                                        <p:strVal val="visible"/>
                                      </p:to>
                                    </p:set>
                                    <p:animEffect filter="fade" transition="in">
                                      <p:cBhvr>
                                        <p:cTn dur="1000"/>
                                        <p:tgtEl>
                                          <p:spTgt spid="145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2"/>
                                        </p:tgtEl>
                                        <p:attrNameLst>
                                          <p:attrName>style.visibility</p:attrName>
                                        </p:attrNameLst>
                                      </p:cBhvr>
                                      <p:to>
                                        <p:strVal val="visible"/>
                                      </p:to>
                                    </p:set>
                                    <p:animEffect filter="fade" transition="in">
                                      <p:cBhvr>
                                        <p:cTn dur="1000"/>
                                        <p:tgtEl>
                                          <p:spTgt spid="14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0"/>
                                        </p:tgtEl>
                                        <p:attrNameLst>
                                          <p:attrName>style.visibility</p:attrName>
                                        </p:attrNameLst>
                                      </p:cBhvr>
                                      <p:to>
                                        <p:strVal val="visible"/>
                                      </p:to>
                                    </p:set>
                                    <p:animEffect filter="fade" transition="in">
                                      <p:cBhvr>
                                        <p:cTn dur="1000"/>
                                        <p:tgtEl>
                                          <p:spTgt spid="14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87"/>
                                        </p:tgtEl>
                                        <p:attrNameLst>
                                          <p:attrName>style.visibility</p:attrName>
                                        </p:attrNameLst>
                                      </p:cBhvr>
                                      <p:to>
                                        <p:strVal val="visible"/>
                                      </p:to>
                                    </p:set>
                                    <p:animEffect filter="fade" transition="in">
                                      <p:cBhvr>
                                        <p:cTn dur="1000"/>
                                        <p:tgtEl>
                                          <p:spTgt spid="14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1"/>
                                        </p:tgtEl>
                                        <p:attrNameLst>
                                          <p:attrName>style.visibility</p:attrName>
                                        </p:attrNameLst>
                                      </p:cBhvr>
                                      <p:to>
                                        <p:strVal val="visible"/>
                                      </p:to>
                                    </p:set>
                                    <p:animEffect filter="fade" transition="in">
                                      <p:cBhvr>
                                        <p:cTn dur="1000"/>
                                        <p:tgtEl>
                                          <p:spTgt spid="14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2"/>
                                        </p:tgtEl>
                                        <p:attrNameLst>
                                          <p:attrName>style.visibility</p:attrName>
                                        </p:attrNameLst>
                                      </p:cBhvr>
                                      <p:to>
                                        <p:strVal val="visible"/>
                                      </p:to>
                                    </p:set>
                                    <p:animEffect filter="fade" transition="in">
                                      <p:cBhvr>
                                        <p:cTn dur="1000"/>
                                        <p:tgtEl>
                                          <p:spTgt spid="146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90"/>
                                        </p:tgtEl>
                                        <p:attrNameLst>
                                          <p:attrName>style.visibility</p:attrName>
                                        </p:attrNameLst>
                                      </p:cBhvr>
                                      <p:to>
                                        <p:strVal val="visible"/>
                                      </p:to>
                                    </p:set>
                                    <p:animEffect filter="fade" transition="in">
                                      <p:cBhvr>
                                        <p:cTn dur="1000"/>
                                        <p:tgtEl>
                                          <p:spTgt spid="14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3"/>
                                        </p:tgtEl>
                                        <p:attrNameLst>
                                          <p:attrName>style.visibility</p:attrName>
                                        </p:attrNameLst>
                                      </p:cBhvr>
                                      <p:to>
                                        <p:strVal val="visible"/>
                                      </p:to>
                                    </p:set>
                                    <p:animEffect filter="fade" transition="in">
                                      <p:cBhvr>
                                        <p:cTn dur="1000"/>
                                        <p:tgtEl>
                                          <p:spTgt spid="14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93"/>
                                        </p:tgtEl>
                                        <p:attrNameLst>
                                          <p:attrName>style.visibility</p:attrName>
                                        </p:attrNameLst>
                                      </p:cBhvr>
                                      <p:to>
                                        <p:strVal val="visible"/>
                                      </p:to>
                                    </p:set>
                                    <p:animEffect filter="fade" transition="in">
                                      <p:cBhvr>
                                        <p:cTn dur="1000"/>
                                        <p:tgtEl>
                                          <p:spTgt spid="14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4"/>
                                        </p:tgtEl>
                                        <p:attrNameLst>
                                          <p:attrName>style.visibility</p:attrName>
                                        </p:attrNameLst>
                                      </p:cBhvr>
                                      <p:to>
                                        <p:strVal val="visible"/>
                                      </p:to>
                                    </p:set>
                                    <p:animEffect filter="fade" transition="in">
                                      <p:cBhvr>
                                        <p:cTn dur="1000"/>
                                        <p:tgtEl>
                                          <p:spTgt spid="146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98"/>
                                        </p:tgtEl>
                                        <p:attrNameLst>
                                          <p:attrName>style.visibility</p:attrName>
                                        </p:attrNameLst>
                                      </p:cBhvr>
                                      <p:to>
                                        <p:strVal val="visible"/>
                                      </p:to>
                                    </p:set>
                                    <p:animEffect filter="fade" transition="in">
                                      <p:cBhvr>
                                        <p:cTn dur="1000"/>
                                        <p:tgtEl>
                                          <p:spTgt spid="14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5"/>
                                        </p:tgtEl>
                                        <p:attrNameLst>
                                          <p:attrName>style.visibility</p:attrName>
                                        </p:attrNameLst>
                                      </p:cBhvr>
                                      <p:to>
                                        <p:strVal val="visible"/>
                                      </p:to>
                                    </p:set>
                                    <p:animEffect filter="fade" transition="in">
                                      <p:cBhvr>
                                        <p:cTn dur="1000"/>
                                        <p:tgtEl>
                                          <p:spTgt spid="14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67"/>
                                        </p:tgtEl>
                                        <p:attrNameLst>
                                          <p:attrName>style.visibility</p:attrName>
                                        </p:attrNameLst>
                                      </p:cBhvr>
                                      <p:to>
                                        <p:strVal val="visible"/>
                                      </p:to>
                                    </p:set>
                                    <p:animEffect filter="fade" transition="in">
                                      <p:cBhvr>
                                        <p:cTn dur="1000"/>
                                        <p:tgtEl>
                                          <p:spTgt spid="14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455"/>
                                        </p:tgtEl>
                                        <p:attrNameLst>
                                          <p:attrName>style.visibility</p:attrName>
                                        </p:attrNameLst>
                                      </p:cBhvr>
                                      <p:to>
                                        <p:strVal val="visible"/>
                                      </p:to>
                                    </p:set>
                                    <p:animEffect filter="fade" transition="in">
                                      <p:cBhvr>
                                        <p:cTn dur="1000"/>
                                        <p:tgtEl>
                                          <p:spTgt spid="14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456"/>
                                        </p:tgtEl>
                                        <p:attrNameLst>
                                          <p:attrName>style.visibility</p:attrName>
                                        </p:attrNameLst>
                                      </p:cBhvr>
                                      <p:to>
                                        <p:strVal val="visible"/>
                                      </p:to>
                                    </p:set>
                                    <p:animEffect filter="fade" transition="in">
                                      <p:cBhvr>
                                        <p:cTn dur="1000"/>
                                        <p:tgtEl>
                                          <p:spTgt spid="14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6" name="Shape 1506"/>
        <p:cNvGrpSpPr/>
        <p:nvPr/>
      </p:nvGrpSpPr>
      <p:grpSpPr>
        <a:xfrm>
          <a:off x="0" y="0"/>
          <a:ext cx="0" cy="0"/>
          <a:chOff x="0" y="0"/>
          <a:chExt cx="0" cy="0"/>
        </a:xfrm>
      </p:grpSpPr>
      <p:sp>
        <p:nvSpPr>
          <p:cNvPr id="1507" name="Google Shape;1507;p6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Breadth-First Search may be run on any graph, and so it should be part of the Graph interface. Java's default method feature can be used to to add the new method to the interface without immediately breaking any existing implementations.</a:t>
            </a:r>
            <a:endParaRPr/>
          </a:p>
        </p:txBody>
      </p:sp>
      <p:sp>
        <p:nvSpPr>
          <p:cNvPr id="1508" name="Google Shape;1508;p6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09" name="Google Shape;1509;p65"/>
          <p:cNvSpPr txBox="1"/>
          <p:nvPr>
            <p:ph idx="2" type="body"/>
          </p:nvPr>
        </p:nvSpPr>
        <p:spPr>
          <a:xfrm>
            <a:off x="3077125" y="1740950"/>
            <a:ext cx="5879100" cy="2524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Graph</a:t>
            </a:r>
            <a:r>
              <a:rPr lang="en" sz="1600">
                <a:solidFill>
                  <a:srgbClr val="FF0000"/>
                </a:solidFill>
              </a:rPr>
              <a:t> </a:t>
            </a:r>
            <a:r>
              <a:rPr lang="en" sz="1600"/>
              <a:t>interface and define a new </a:t>
            </a:r>
            <a:r>
              <a:rPr lang="en" sz="1600">
                <a:solidFill>
                  <a:srgbClr val="FF0000"/>
                </a:solidFill>
                <a:latin typeface="Courier New"/>
                <a:ea typeface="Courier New"/>
                <a:cs typeface="Courier New"/>
                <a:sym typeface="Courier New"/>
              </a:rPr>
              <a:t>default</a:t>
            </a:r>
            <a:r>
              <a:rPr lang="en" sz="1600">
                <a:solidFill>
                  <a:srgbClr val="FF0000"/>
                </a:solidFill>
              </a:rPr>
              <a:t> </a:t>
            </a:r>
            <a:r>
              <a:rPr lang="en" sz="1600"/>
              <a:t>method named </a:t>
            </a:r>
            <a:r>
              <a:rPr lang="en" sz="1600">
                <a:solidFill>
                  <a:srgbClr val="FF0000"/>
                </a:solidFill>
                <a:latin typeface="Courier New"/>
                <a:ea typeface="Courier New"/>
                <a:cs typeface="Courier New"/>
                <a:sym typeface="Courier New"/>
              </a:rPr>
              <a:t>bfSearch</a:t>
            </a:r>
            <a:r>
              <a:rPr lang="en" sz="1600">
                <a:solidFill>
                  <a:srgbClr val="FF0000"/>
                </a:solidFill>
              </a:rPr>
              <a:t> </a:t>
            </a:r>
            <a:r>
              <a:rPr lang="en" sz="1600"/>
              <a:t>that declares </a:t>
            </a:r>
            <a:r>
              <a:rPr b="1" i="1" lang="en" sz="1600">
                <a:solidFill>
                  <a:srgbClr val="FF0000"/>
                </a:solidFill>
              </a:rPr>
              <a:t>parameters</a:t>
            </a:r>
            <a:r>
              <a:rPr lang="en" sz="1600">
                <a:solidFill>
                  <a:srgbClr val="FF0000"/>
                </a:solidFill>
              </a:rPr>
              <a:t> </a:t>
            </a:r>
            <a:r>
              <a:rPr lang="en" sz="1600"/>
              <a:t>for </a:t>
            </a:r>
            <a:r>
              <a:rPr lang="en" sz="1600">
                <a:solidFill>
                  <a:srgbClr val="FF0000"/>
                </a:solidFill>
                <a:latin typeface="Courier New"/>
                <a:ea typeface="Courier New"/>
                <a:cs typeface="Courier New"/>
                <a:sym typeface="Courier New"/>
              </a:rPr>
              <a:t>start</a:t>
            </a:r>
            <a:r>
              <a:rPr lang="en" sz="1600">
                <a:solidFill>
                  <a:srgbClr val="FF0000"/>
                </a:solidFill>
              </a:rPr>
              <a:t> </a:t>
            </a:r>
            <a:r>
              <a:rPr lang="en" sz="1600"/>
              <a:t>and </a:t>
            </a:r>
            <a:r>
              <a:rPr lang="en" sz="1600">
                <a:solidFill>
                  <a:srgbClr val="FF0000"/>
                </a:solidFill>
                <a:latin typeface="Courier New"/>
                <a:ea typeface="Courier New"/>
                <a:cs typeface="Courier New"/>
                <a:sym typeface="Courier New"/>
              </a:rPr>
              <a:t>end</a:t>
            </a:r>
            <a:r>
              <a:rPr lang="en" sz="1600">
                <a:solidFill>
                  <a:srgbClr val="FF0000"/>
                </a:solidFill>
              </a:rPr>
              <a:t> </a:t>
            </a:r>
            <a:r>
              <a:rPr lang="en" sz="1600"/>
              <a:t>values and </a:t>
            </a:r>
            <a:r>
              <a:rPr b="1" i="1" lang="en" sz="1600">
                <a:solidFill>
                  <a:srgbClr val="FF0000"/>
                </a:solidFill>
              </a:rPr>
              <a:t>returns </a:t>
            </a:r>
            <a:r>
              <a:rPr lang="en" sz="1600"/>
              <a:t>a </a:t>
            </a:r>
            <a:r>
              <a:rPr lang="en" sz="1600">
                <a:solidFill>
                  <a:srgbClr val="FF0000"/>
                </a:solidFill>
                <a:latin typeface="Courier New"/>
                <a:ea typeface="Courier New"/>
                <a:cs typeface="Courier New"/>
                <a:sym typeface="Courier New"/>
              </a:rPr>
              <a:t>boolean</a:t>
            </a:r>
            <a:r>
              <a:rPr lang="en" sz="1600"/>
              <a:t>.</a:t>
            </a:r>
            <a:endParaRPr sz="1600"/>
          </a:p>
          <a:p>
            <a:pPr indent="-317500" lvl="1" marL="914400" rtl="0" algn="l">
              <a:spcBef>
                <a:spcPts val="0"/>
              </a:spcBef>
              <a:spcAft>
                <a:spcPts val="0"/>
              </a:spcAft>
              <a:buSzPts val="1400"/>
              <a:buChar char="○"/>
            </a:pPr>
            <a:r>
              <a:rPr lang="en" sz="1400"/>
              <a:t>Use the provided UML as a guide for your method signature.</a:t>
            </a:r>
            <a:endParaRPr sz="1400"/>
          </a:p>
          <a:p>
            <a:pPr indent="-317500" lvl="1" marL="914400" rtl="0" algn="l">
              <a:spcBef>
                <a:spcPts val="0"/>
              </a:spcBef>
              <a:spcAft>
                <a:spcPts val="0"/>
              </a:spcAft>
              <a:buSzPts val="1400"/>
              <a:buChar char="○"/>
            </a:pPr>
            <a:r>
              <a:rPr lang="en" sz="1400"/>
              <a:t>Throw an </a:t>
            </a:r>
            <a:r>
              <a:rPr lang="en" sz="1400">
                <a:solidFill>
                  <a:srgbClr val="FF0000"/>
                </a:solidFill>
                <a:latin typeface="Courier New"/>
                <a:ea typeface="Courier New"/>
                <a:cs typeface="Courier New"/>
                <a:sym typeface="Courier New"/>
              </a:rPr>
              <a:t>UnsupportedOperationException</a:t>
            </a:r>
            <a:r>
              <a:rPr lang="en" sz="1400">
                <a:solidFill>
                  <a:srgbClr val="FF0000"/>
                </a:solidFill>
              </a:rPr>
              <a:t> </a:t>
            </a:r>
            <a:r>
              <a:rPr lang="en" sz="1400"/>
              <a:t>from this default implementation.</a:t>
            </a:r>
            <a:endParaRPr sz="1400"/>
          </a:p>
          <a:p>
            <a:pPr indent="-330200" lvl="0" marL="457200" rtl="0" algn="l">
              <a:spcBef>
                <a:spcPts val="0"/>
              </a:spcBef>
              <a:spcAft>
                <a:spcPts val="0"/>
              </a:spcAft>
              <a:buSzPts val="1600"/>
              <a:buChar char="●"/>
            </a:pPr>
            <a:r>
              <a:rPr b="1" i="1" lang="en" sz="1600">
                <a:solidFill>
                  <a:srgbClr val="FF0000"/>
                </a:solidFill>
              </a:rPr>
              <a:t>Run</a:t>
            </a:r>
            <a:r>
              <a:rPr lang="en" sz="1600">
                <a:solidFill>
                  <a:srgbClr val="FF0000"/>
                </a:solidFill>
              </a:rPr>
              <a:t> </a:t>
            </a:r>
            <a:r>
              <a:rPr lang="en" sz="1600"/>
              <a:t>the provided </a:t>
            </a:r>
            <a:r>
              <a:rPr lang="en" sz="1600">
                <a:solidFill>
                  <a:srgbClr val="FF0000"/>
                </a:solidFill>
                <a:latin typeface="Courier New"/>
                <a:ea typeface="Courier New"/>
                <a:cs typeface="Courier New"/>
                <a:sym typeface="Courier New"/>
              </a:rPr>
              <a:t>BFSearchTest</a:t>
            </a:r>
            <a:r>
              <a:rPr lang="en" sz="1600"/>
              <a:t> JUnit test.</a:t>
            </a:r>
            <a:endParaRPr sz="1600"/>
          </a:p>
          <a:p>
            <a:pPr indent="-317500" lvl="1" marL="914400" rtl="0" algn="l">
              <a:spcBef>
                <a:spcPts val="0"/>
              </a:spcBef>
              <a:spcAft>
                <a:spcPts val="0"/>
              </a:spcAft>
              <a:buSzPts val="1400"/>
              <a:buChar char="○"/>
            </a:pPr>
            <a:r>
              <a:rPr lang="en" sz="1400"/>
              <a:t>The tests should </a:t>
            </a:r>
            <a:r>
              <a:rPr b="1" i="1" lang="en" sz="1400">
                <a:solidFill>
                  <a:srgbClr val="FF0000"/>
                </a:solidFill>
              </a:rPr>
              <a:t>run</a:t>
            </a:r>
            <a:r>
              <a:rPr lang="en" sz="1400"/>
              <a:t>, but will </a:t>
            </a:r>
            <a:r>
              <a:rPr b="1" i="1" lang="en" sz="1400">
                <a:solidFill>
                  <a:srgbClr val="FF0000"/>
                </a:solidFill>
              </a:rPr>
              <a:t>fail</a:t>
            </a:r>
            <a:r>
              <a:rPr lang="en" sz="1400">
                <a:solidFill>
                  <a:srgbClr val="FF0000"/>
                </a:solidFill>
              </a:rPr>
              <a:t> </a:t>
            </a:r>
            <a:r>
              <a:rPr lang="en" sz="1400"/>
              <a:t>when the exception is thrown.</a:t>
            </a:r>
            <a:endParaRPr sz="1400"/>
          </a:p>
        </p:txBody>
      </p:sp>
      <p:sp>
        <p:nvSpPr>
          <p:cNvPr id="1510" name="Google Shape;1510;p6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Adding BFS to the </a:t>
            </a:r>
            <a:r>
              <a:rPr lang="en">
                <a:latin typeface="Courier New"/>
                <a:ea typeface="Courier New"/>
                <a:cs typeface="Courier New"/>
                <a:sym typeface="Courier New"/>
              </a:rPr>
              <a:t>Graph</a:t>
            </a:r>
            <a:r>
              <a:rPr lang="en"/>
              <a:t> Interface</a:t>
            </a:r>
            <a:endParaRPr/>
          </a:p>
        </p:txBody>
      </p:sp>
      <p:sp>
        <p:nvSpPr>
          <p:cNvPr id="1511" name="Google Shape;1511;p6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12</a:t>
            </a:r>
            <a:r>
              <a:rPr lang="en"/>
              <a:t>.</a:t>
            </a:r>
            <a:r>
              <a:rPr lang="en"/>
              <a:t>11</a:t>
            </a:r>
            <a:endParaRPr/>
          </a:p>
        </p:txBody>
      </p:sp>
      <p:graphicFrame>
        <p:nvGraphicFramePr>
          <p:cNvPr id="1512" name="Google Shape;1512;p65"/>
          <p:cNvGraphicFramePr/>
          <p:nvPr/>
        </p:nvGraphicFramePr>
        <p:xfrm>
          <a:off x="174250" y="1847850"/>
          <a:ext cx="3000000" cy="3000000"/>
        </p:xfrm>
        <a:graphic>
          <a:graphicData uri="http://schemas.openxmlformats.org/drawingml/2006/table">
            <a:tbl>
              <a:tblPr>
                <a:noFill/>
                <a:tableStyleId>{F61E8307-4E6B-4154-8BF4-D3231BAD3CED}</a:tableStyleId>
              </a:tblPr>
              <a:tblGrid>
                <a:gridCol w="2805850"/>
              </a:tblGrid>
              <a:tr h="257275">
                <a:tc>
                  <a:txBody>
                    <a:bodyPr/>
                    <a:lstStyle/>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&lt;&lt;interface&gt;&gt;</a:t>
                      </a:r>
                      <a:endParaRPr i="1" sz="10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Graph&lt;E&gt;</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50">
                <a:tc>
                  <a:txBody>
                    <a:bodyPr/>
                    <a:lstStyle/>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add(value: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contains(value: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size(): int</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connectUndirected(a: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connected(a: E, b: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 bfSearch(start: E, end: E): boolean</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6" name="Shape 1516"/>
        <p:cNvGrpSpPr/>
        <p:nvPr/>
      </p:nvGrpSpPr>
      <p:grpSpPr>
        <a:xfrm>
          <a:off x="0" y="0"/>
          <a:ext cx="0" cy="0"/>
          <a:chOff x="0" y="0"/>
          <a:chExt cx="0" cy="0"/>
        </a:xfrm>
      </p:grpSpPr>
      <p:pic>
        <p:nvPicPr>
          <p:cNvPr id="1517" name="Google Shape;1517;p66"/>
          <p:cNvPicPr preferRelativeResize="0"/>
          <p:nvPr/>
        </p:nvPicPr>
        <p:blipFill rotWithShape="1">
          <a:blip r:embed="rId3">
            <a:alphaModFix/>
          </a:blip>
          <a:srcRect b="0" l="0" r="0" t="0"/>
          <a:stretch/>
        </p:blipFill>
        <p:spPr>
          <a:xfrm>
            <a:off x="152400" y="1821375"/>
            <a:ext cx="2376599" cy="2759851"/>
          </a:xfrm>
          <a:prstGeom prst="rect">
            <a:avLst/>
          </a:prstGeom>
          <a:noFill/>
          <a:ln>
            <a:noFill/>
          </a:ln>
        </p:spPr>
      </p:pic>
      <p:sp>
        <p:nvSpPr>
          <p:cNvPr id="1518" name="Google Shape;1518;p66"/>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Begin Implementing BFS</a:t>
            </a:r>
            <a:endParaRPr/>
          </a:p>
        </p:txBody>
      </p:sp>
      <p:sp>
        <p:nvSpPr>
          <p:cNvPr id="1519" name="Google Shape;1519;p66"/>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The Breadth-First Search algorithm is fairly straightforward, but it still requires a significant amount of code to implement fully. Let's begin implementing the algorithm in the </a:t>
            </a:r>
            <a:r>
              <a:rPr lang="en">
                <a:latin typeface="Courier New"/>
                <a:ea typeface="Courier New"/>
                <a:cs typeface="Courier New"/>
                <a:sym typeface="Courier New"/>
              </a:rPr>
              <a:t>AdjacencyGraph</a:t>
            </a:r>
            <a:r>
              <a:rPr lang="en"/>
              <a:t> now by creating all of the data </a:t>
            </a:r>
            <a:r>
              <a:rPr lang="en"/>
              <a:t>structures</a:t>
            </a:r>
            <a:r>
              <a:rPr lang="en"/>
              <a:t> that we will need.</a:t>
            </a:r>
            <a:endParaRPr/>
          </a:p>
        </p:txBody>
      </p:sp>
      <p:sp>
        <p:nvSpPr>
          <p:cNvPr id="1520" name="Google Shape;1520;p6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21" name="Google Shape;1521;p66"/>
          <p:cNvSpPr txBox="1"/>
          <p:nvPr>
            <p:ph idx="2" type="body"/>
          </p:nvPr>
        </p:nvSpPr>
        <p:spPr>
          <a:xfrm>
            <a:off x="2755175" y="1786950"/>
            <a:ext cx="6126000" cy="28830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AdjacencyGraph</a:t>
            </a:r>
            <a:r>
              <a:rPr lang="en" sz="1400">
                <a:solidFill>
                  <a:srgbClr val="FF0000"/>
                </a:solidFill>
              </a:rPr>
              <a:t> </a:t>
            </a:r>
            <a:r>
              <a:rPr lang="en" sz="1400"/>
              <a:t>class and </a:t>
            </a:r>
            <a:r>
              <a:rPr b="1" i="1" lang="en" sz="1400">
                <a:solidFill>
                  <a:srgbClr val="FF0000"/>
                </a:solidFill>
              </a:rPr>
              <a:t>override</a:t>
            </a:r>
            <a:r>
              <a:rPr lang="en" sz="1400">
                <a:solidFill>
                  <a:srgbClr val="FF0000"/>
                </a:solidFill>
              </a:rPr>
              <a:t> </a:t>
            </a:r>
            <a:r>
              <a:rPr lang="en" sz="1400"/>
              <a:t>the default implementation of </a:t>
            </a:r>
            <a:r>
              <a:rPr lang="en" sz="1400">
                <a:solidFill>
                  <a:srgbClr val="FF0000"/>
                </a:solidFill>
                <a:latin typeface="Courier New"/>
                <a:ea typeface="Courier New"/>
                <a:cs typeface="Courier New"/>
                <a:sym typeface="Courier New"/>
              </a:rPr>
              <a:t>bfSearch</a:t>
            </a:r>
            <a:r>
              <a:rPr lang="en" sz="1400">
                <a:solidFill>
                  <a:srgbClr val="FF0000"/>
                </a:solidFill>
              </a:rPr>
              <a:t> </a:t>
            </a:r>
            <a:r>
              <a:rPr lang="en" sz="1400"/>
              <a:t>inherited from the </a:t>
            </a:r>
            <a:r>
              <a:rPr lang="en" sz="1400">
                <a:latin typeface="Courier New"/>
                <a:ea typeface="Courier New"/>
                <a:cs typeface="Courier New"/>
                <a:sym typeface="Courier New"/>
              </a:rPr>
              <a:t>Graph</a:t>
            </a:r>
            <a:r>
              <a:rPr lang="en" sz="1400"/>
              <a:t> interface.</a:t>
            </a:r>
            <a:endParaRPr sz="1400"/>
          </a:p>
          <a:p>
            <a:pPr indent="-317500" lvl="0" marL="457200" rtl="0" algn="l">
              <a:lnSpc>
                <a:spcPct val="115000"/>
              </a:lnSpc>
              <a:spcBef>
                <a:spcPts val="0"/>
              </a:spcBef>
              <a:spcAft>
                <a:spcPts val="0"/>
              </a:spcAft>
              <a:buSzPts val="1400"/>
              <a:buChar char="●"/>
            </a:pPr>
            <a:r>
              <a:rPr lang="en" sz="1400"/>
              <a:t>For now, focus only  on the setup for the algorithm.</a:t>
            </a:r>
            <a:endParaRPr sz="1400"/>
          </a:p>
          <a:p>
            <a:pPr indent="-304800" lvl="1" marL="914400" rtl="0" algn="l">
              <a:lnSpc>
                <a:spcPct val="115000"/>
              </a:lnSpc>
              <a:spcBef>
                <a:spcPts val="0"/>
              </a:spcBef>
              <a:spcAft>
                <a:spcPts val="0"/>
              </a:spcAft>
              <a:buSzPts val="1200"/>
              <a:buChar char="○"/>
            </a:pPr>
            <a:r>
              <a:rPr lang="en" sz="1200"/>
              <a:t>Get the vertices corresponding to the </a:t>
            </a:r>
            <a:r>
              <a:rPr lang="en" sz="1200">
                <a:solidFill>
                  <a:srgbClr val="FF0000"/>
                </a:solidFill>
                <a:latin typeface="Courier New"/>
                <a:ea typeface="Courier New"/>
                <a:cs typeface="Courier New"/>
                <a:sym typeface="Courier New"/>
              </a:rPr>
              <a:t>start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end</a:t>
            </a:r>
            <a:r>
              <a:rPr lang="en" sz="1200">
                <a:solidFill>
                  <a:srgbClr val="FF0000"/>
                </a:solidFill>
              </a:rPr>
              <a:t> </a:t>
            </a:r>
            <a:r>
              <a:rPr lang="en" sz="1200"/>
              <a:t>values from the graph's map of </a:t>
            </a:r>
            <a:r>
              <a:rPr lang="en" sz="1200">
                <a:solidFill>
                  <a:srgbClr val="FF0000"/>
                </a:solidFill>
                <a:latin typeface="Courier New"/>
                <a:ea typeface="Courier New"/>
                <a:cs typeface="Courier New"/>
                <a:sym typeface="Courier New"/>
              </a:rPr>
              <a:t>vertices</a:t>
            </a:r>
            <a:r>
              <a:rPr lang="en" sz="1200"/>
              <a:t>.</a:t>
            </a:r>
            <a:endParaRPr sz="1200"/>
          </a:p>
          <a:p>
            <a:pPr indent="-304800" lvl="1" marL="914400" rtl="0" algn="l">
              <a:lnSpc>
                <a:spcPct val="115000"/>
              </a:lnSpc>
              <a:spcBef>
                <a:spcPts val="0"/>
              </a:spcBef>
              <a:spcAft>
                <a:spcPts val="0"/>
              </a:spcAft>
              <a:buSzPts val="1200"/>
              <a:buChar char="○"/>
            </a:pPr>
            <a:r>
              <a:rPr lang="en" sz="1200"/>
              <a:t>Create the </a:t>
            </a:r>
            <a:r>
              <a:rPr b="1" i="1" lang="en" sz="1200">
                <a:solidFill>
                  <a:srgbClr val="FF0000"/>
                </a:solidFill>
              </a:rPr>
              <a:t>queue</a:t>
            </a:r>
            <a:r>
              <a:rPr lang="en" sz="1200">
                <a:solidFill>
                  <a:srgbClr val="FF0000"/>
                </a:solidFill>
              </a:rPr>
              <a:t> </a:t>
            </a:r>
            <a:r>
              <a:rPr lang="en" sz="1200"/>
              <a:t>(</a:t>
            </a:r>
            <a:r>
              <a:rPr lang="en" sz="1200">
                <a:solidFill>
                  <a:srgbClr val="FF0000"/>
                </a:solidFill>
                <a:latin typeface="Courier New"/>
                <a:ea typeface="Courier New"/>
                <a:cs typeface="Courier New"/>
                <a:sym typeface="Courier New"/>
              </a:rPr>
              <a:t>java.util.LinkedList</a:t>
            </a:r>
            <a:r>
              <a:rPr lang="en" sz="1200"/>
              <a:t>) and </a:t>
            </a:r>
            <a:r>
              <a:rPr b="1" i="1" lang="en" sz="1200">
                <a:solidFill>
                  <a:srgbClr val="FF0000"/>
                </a:solidFill>
              </a:rPr>
              <a:t>set</a:t>
            </a:r>
            <a:r>
              <a:rPr lang="en" sz="1200">
                <a:solidFill>
                  <a:srgbClr val="FF0000"/>
                </a:solidFill>
              </a:rPr>
              <a:t> </a:t>
            </a:r>
            <a:r>
              <a:rPr lang="en" sz="1200"/>
              <a:t>(</a:t>
            </a:r>
            <a:r>
              <a:rPr lang="en" sz="1200">
                <a:solidFill>
                  <a:srgbClr val="FF0000"/>
                </a:solidFill>
                <a:latin typeface="Courier New"/>
                <a:ea typeface="Courier New"/>
                <a:cs typeface="Courier New"/>
                <a:sym typeface="Courier New"/>
              </a:rPr>
              <a:t>java.util.HashSet</a:t>
            </a:r>
            <a:r>
              <a:rPr lang="en" sz="1200"/>
              <a:t>).</a:t>
            </a:r>
            <a:endParaRPr sz="1200"/>
          </a:p>
          <a:p>
            <a:pPr indent="-304800" lvl="1" marL="914400" rtl="0" algn="l">
              <a:lnSpc>
                <a:spcPct val="115000"/>
              </a:lnSpc>
              <a:spcBef>
                <a:spcPts val="0"/>
              </a:spcBef>
              <a:spcAft>
                <a:spcPts val="0"/>
              </a:spcAft>
              <a:buSzPts val="1200"/>
              <a:buChar char="○"/>
            </a:pPr>
            <a:r>
              <a:rPr b="1" i="1" lang="en" sz="1200">
                <a:solidFill>
                  <a:srgbClr val="FF0000"/>
                </a:solidFill>
              </a:rPr>
              <a:t>Add</a:t>
            </a:r>
            <a:r>
              <a:rPr lang="en" sz="1200">
                <a:solidFill>
                  <a:srgbClr val="FF0000"/>
                </a:solidFill>
              </a:rPr>
              <a:t> </a:t>
            </a:r>
            <a:r>
              <a:rPr lang="en" sz="1200"/>
              <a:t>the starting vertex to </a:t>
            </a:r>
            <a:r>
              <a:rPr b="1" i="1" lang="en" sz="1200">
                <a:solidFill>
                  <a:srgbClr val="FF0000"/>
                </a:solidFill>
              </a:rPr>
              <a:t>both</a:t>
            </a:r>
            <a:r>
              <a:rPr lang="en" sz="1200"/>
              <a:t>.</a:t>
            </a:r>
            <a:endParaRPr sz="1200"/>
          </a:p>
          <a:p>
            <a:pPr indent="-304800" lvl="1" marL="914400" rtl="0" algn="l">
              <a:lnSpc>
                <a:spcPct val="115000"/>
              </a:lnSpc>
              <a:spcBef>
                <a:spcPts val="0"/>
              </a:spcBef>
              <a:spcAft>
                <a:spcPts val="0"/>
              </a:spcAft>
              <a:buSzPts val="1200"/>
              <a:buChar char="○"/>
            </a:pPr>
            <a:r>
              <a:rPr lang="en" sz="1200">
                <a:solidFill>
                  <a:srgbClr val="FF0000"/>
                </a:solidFill>
              </a:rPr>
              <a:t>Return </a:t>
            </a:r>
            <a:r>
              <a:rPr lang="en" sz="1200">
                <a:solidFill>
                  <a:srgbClr val="FF0000"/>
                </a:solidFill>
                <a:latin typeface="Courier New"/>
                <a:ea typeface="Courier New"/>
                <a:cs typeface="Courier New"/>
                <a:sym typeface="Courier New"/>
              </a:rPr>
              <a:t>false</a:t>
            </a:r>
            <a:r>
              <a:rPr lang="en" sz="1200">
                <a:solidFill>
                  <a:srgbClr val="FF0000"/>
                </a:solidFill>
              </a:rPr>
              <a:t> </a:t>
            </a:r>
            <a:r>
              <a:rPr lang="en" sz="1200"/>
              <a:t>for now.</a:t>
            </a:r>
            <a:endParaRPr sz="1200"/>
          </a:p>
          <a:p>
            <a:pPr indent="-317500" lvl="0" marL="457200" rtl="0" algn="l">
              <a:lnSpc>
                <a:spcPct val="115000"/>
              </a:lnSpc>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your partially implemented algorithm using the provided </a:t>
            </a:r>
            <a:r>
              <a:rPr lang="en" sz="1400">
                <a:solidFill>
                  <a:srgbClr val="FF0000"/>
                </a:solidFill>
                <a:latin typeface="Courier New"/>
                <a:ea typeface="Courier New"/>
                <a:cs typeface="Courier New"/>
                <a:sym typeface="Courier New"/>
              </a:rPr>
              <a:t>BFSearchTest</a:t>
            </a:r>
            <a:r>
              <a:rPr lang="en" sz="1400"/>
              <a:t>.</a:t>
            </a:r>
            <a:endParaRPr sz="1400"/>
          </a:p>
          <a:p>
            <a:pPr indent="-304800" lvl="1" marL="914400" rtl="0" algn="l">
              <a:lnSpc>
                <a:spcPct val="115000"/>
              </a:lnSpc>
              <a:spcBef>
                <a:spcPts val="0"/>
              </a:spcBef>
              <a:spcAft>
                <a:spcPts val="0"/>
              </a:spcAft>
              <a:buSzPts val="1200"/>
              <a:buChar char="○"/>
            </a:pPr>
            <a:r>
              <a:rPr b="1" i="1" lang="en" sz="1200">
                <a:solidFill>
                  <a:srgbClr val="FF0000"/>
                </a:solidFill>
              </a:rPr>
              <a:t>Some </a:t>
            </a:r>
            <a:r>
              <a:rPr lang="en" sz="1200"/>
              <a:t>of the tests should now </a:t>
            </a:r>
            <a:r>
              <a:rPr b="1" i="1" lang="en" sz="1200">
                <a:solidFill>
                  <a:srgbClr val="FF0000"/>
                </a:solidFill>
              </a:rPr>
              <a:t>pass</a:t>
            </a:r>
            <a:r>
              <a:rPr lang="en" sz="1200"/>
              <a:t>.</a:t>
            </a:r>
            <a:endParaRPr sz="1200"/>
          </a:p>
        </p:txBody>
      </p:sp>
      <p:sp>
        <p:nvSpPr>
          <p:cNvPr id="1522" name="Google Shape;1522;p66"/>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12</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6" name="Shape 1526"/>
        <p:cNvGrpSpPr/>
        <p:nvPr/>
      </p:nvGrpSpPr>
      <p:grpSpPr>
        <a:xfrm>
          <a:off x="0" y="0"/>
          <a:ext cx="0" cy="0"/>
          <a:chOff x="0" y="0"/>
          <a:chExt cx="0" cy="0"/>
        </a:xfrm>
      </p:grpSpPr>
      <p:sp>
        <p:nvSpPr>
          <p:cNvPr id="1527" name="Google Shape;1527;p67"/>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Complete the </a:t>
            </a:r>
            <a:r>
              <a:rPr lang="en"/>
              <a:t>BFS Algorithm</a:t>
            </a:r>
            <a:endParaRPr/>
          </a:p>
        </p:txBody>
      </p:sp>
      <p:sp>
        <p:nvSpPr>
          <p:cNvPr id="1528" name="Google Shape;1528;p67"/>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Now that the data structures are squared away, we can begin implementing the main BFS loop in the </a:t>
            </a:r>
            <a:r>
              <a:rPr lang="en">
                <a:latin typeface="Courier New"/>
                <a:ea typeface="Courier New"/>
                <a:cs typeface="Courier New"/>
                <a:sym typeface="Courier New"/>
              </a:rPr>
              <a:t>AdjacencyGraph</a:t>
            </a:r>
            <a:r>
              <a:rPr lang="en"/>
              <a:t> class. This loop will continue visiting vertices until the end vertex is found, or the queue is empty, whichever happens first.</a:t>
            </a:r>
            <a:endParaRPr/>
          </a:p>
        </p:txBody>
      </p:sp>
      <p:sp>
        <p:nvSpPr>
          <p:cNvPr id="1529" name="Google Shape;1529;p6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530" name="Google Shape;1530;p67"/>
          <p:cNvSpPr txBox="1"/>
          <p:nvPr>
            <p:ph idx="2" type="body"/>
          </p:nvPr>
        </p:nvSpPr>
        <p:spPr>
          <a:xfrm>
            <a:off x="2858675" y="1951925"/>
            <a:ext cx="5938800" cy="28476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sz="1400"/>
              <a:t>Open the </a:t>
            </a:r>
            <a:r>
              <a:rPr lang="en" sz="1400">
                <a:latin typeface="Courier New"/>
                <a:ea typeface="Courier New"/>
                <a:cs typeface="Courier New"/>
                <a:sym typeface="Courier New"/>
              </a:rPr>
              <a:t>AdjacencyGraph</a:t>
            </a:r>
            <a:r>
              <a:rPr lang="en" sz="1400"/>
              <a:t> class and navigate to the </a:t>
            </a:r>
            <a:r>
              <a:rPr lang="en" sz="1400">
                <a:latin typeface="Courier New"/>
                <a:ea typeface="Courier New"/>
                <a:cs typeface="Courier New"/>
                <a:sym typeface="Courier New"/>
              </a:rPr>
              <a:t>bfSearch</a:t>
            </a:r>
            <a:r>
              <a:rPr lang="en" sz="1400"/>
              <a:t> method.</a:t>
            </a:r>
            <a:endParaRPr sz="1400"/>
          </a:p>
          <a:p>
            <a:pPr indent="-317500" lvl="0" marL="457200" rtl="0" algn="l">
              <a:lnSpc>
                <a:spcPct val="115000"/>
              </a:lnSpc>
              <a:spcBef>
                <a:spcPts val="0"/>
              </a:spcBef>
              <a:spcAft>
                <a:spcPts val="0"/>
              </a:spcAft>
              <a:buSzPts val="1400"/>
              <a:buChar char="●"/>
            </a:pPr>
            <a:r>
              <a:rPr lang="en" sz="1400"/>
              <a:t>Implement the </a:t>
            </a:r>
            <a:r>
              <a:rPr b="1" i="1" lang="en" sz="1400">
                <a:solidFill>
                  <a:srgbClr val="FF0000"/>
                </a:solidFill>
              </a:rPr>
              <a:t>main BFS loop</a:t>
            </a:r>
            <a:r>
              <a:rPr lang="en" sz="1400"/>
              <a:t> according to the following algorithm:</a:t>
            </a:r>
            <a:endParaRPr sz="1400"/>
          </a:p>
          <a:p>
            <a:pPr indent="-304800" lvl="1" marL="914400" rtl="0" algn="l">
              <a:lnSpc>
                <a:spcPct val="115000"/>
              </a:lnSpc>
              <a:spcBef>
                <a:spcPts val="0"/>
              </a:spcBef>
              <a:spcAft>
                <a:spcPts val="0"/>
              </a:spcAft>
              <a:buSzPts val="1200"/>
              <a:buChar char="○"/>
            </a:pPr>
            <a:r>
              <a:rPr lang="en" sz="1200"/>
              <a:t>As long as the queue is </a:t>
            </a:r>
            <a:r>
              <a:rPr b="1" i="1" lang="en" sz="1200">
                <a:solidFill>
                  <a:srgbClr val="FF0000"/>
                </a:solidFill>
              </a:rPr>
              <a:t>not empty</a:t>
            </a:r>
            <a:r>
              <a:rPr lang="en" sz="1200"/>
              <a:t>:</a:t>
            </a:r>
            <a:endParaRPr sz="1200"/>
          </a:p>
          <a:p>
            <a:pPr indent="-304800" lvl="2" marL="1371600" rtl="0" algn="l">
              <a:lnSpc>
                <a:spcPct val="115000"/>
              </a:lnSpc>
              <a:spcBef>
                <a:spcPts val="0"/>
              </a:spcBef>
              <a:spcAft>
                <a:spcPts val="0"/>
              </a:spcAft>
              <a:buSzPts val="1200"/>
              <a:buChar char="■"/>
            </a:pPr>
            <a:r>
              <a:rPr b="1" i="1" lang="en" sz="1200">
                <a:solidFill>
                  <a:srgbClr val="FF0000"/>
                </a:solidFill>
              </a:rPr>
              <a:t>Dequeue </a:t>
            </a:r>
            <a:r>
              <a:rPr lang="en" sz="1200"/>
              <a:t>the next vertex and call it </a:t>
            </a:r>
            <a:r>
              <a:rPr b="1" i="1" lang="en" sz="1200">
                <a:solidFill>
                  <a:srgbClr val="FF0000"/>
                </a:solidFill>
              </a:rPr>
              <a:t>V</a:t>
            </a:r>
            <a:r>
              <a:rPr lang="en" sz="1200"/>
              <a:t>.</a:t>
            </a:r>
            <a:endParaRPr sz="1200"/>
          </a:p>
          <a:p>
            <a:pPr indent="-304800" lvl="2" marL="1371600" rtl="0" algn="l">
              <a:lnSpc>
                <a:spcPct val="115000"/>
              </a:lnSpc>
              <a:spcBef>
                <a:spcPts val="0"/>
              </a:spcBef>
              <a:spcAft>
                <a:spcPts val="0"/>
              </a:spcAft>
              <a:buSzPts val="1200"/>
              <a:buChar char="■"/>
            </a:pPr>
            <a:r>
              <a:rPr lang="en" sz="1200"/>
              <a:t>If </a:t>
            </a:r>
            <a:r>
              <a:rPr b="1" i="1" lang="en" sz="1200">
                <a:solidFill>
                  <a:srgbClr val="FF0000"/>
                </a:solidFill>
              </a:rPr>
              <a:t>V</a:t>
            </a:r>
            <a:r>
              <a:rPr lang="en" sz="1200"/>
              <a:t> is </a:t>
            </a:r>
            <a:r>
              <a:rPr b="1" i="1" lang="en" sz="1200">
                <a:solidFill>
                  <a:srgbClr val="FF0000"/>
                </a:solidFill>
              </a:rPr>
              <a:t>E</a:t>
            </a:r>
            <a:r>
              <a:rPr lang="en" sz="1200"/>
              <a:t> return </a:t>
            </a:r>
            <a:r>
              <a:rPr lang="en" sz="1200">
                <a:solidFill>
                  <a:srgbClr val="FF0000"/>
                </a:solidFill>
                <a:latin typeface="Courier New"/>
                <a:ea typeface="Courier New"/>
                <a:cs typeface="Courier New"/>
                <a:sym typeface="Courier New"/>
              </a:rPr>
              <a:t>true</a:t>
            </a:r>
            <a:r>
              <a:rPr lang="en" sz="1200"/>
              <a:t>.</a:t>
            </a:r>
            <a:endParaRPr sz="1200"/>
          </a:p>
          <a:p>
            <a:pPr indent="-304800" lvl="2" marL="1371600" rtl="0" algn="l">
              <a:lnSpc>
                <a:spcPct val="115000"/>
              </a:lnSpc>
              <a:spcBef>
                <a:spcPts val="0"/>
              </a:spcBef>
              <a:spcAft>
                <a:spcPts val="0"/>
              </a:spcAft>
              <a:buSzPts val="1200"/>
              <a:buChar char="■"/>
            </a:pPr>
            <a:r>
              <a:rPr lang="en" sz="1200"/>
              <a:t>Otherwise, for each of</a:t>
            </a:r>
            <a:r>
              <a:rPr lang="en" sz="1200">
                <a:solidFill>
                  <a:srgbClr val="FF0000"/>
                </a:solidFill>
              </a:rPr>
              <a:t> </a:t>
            </a:r>
            <a:r>
              <a:rPr b="1" i="1" lang="en" sz="1200">
                <a:solidFill>
                  <a:srgbClr val="FF0000"/>
                </a:solidFill>
              </a:rPr>
              <a:t>V</a:t>
            </a:r>
            <a:r>
              <a:rPr lang="en" sz="1200"/>
              <a:t>'s neighbors </a:t>
            </a:r>
            <a:r>
              <a:rPr b="1" i="1" lang="en" sz="1200">
                <a:solidFill>
                  <a:srgbClr val="FF0000"/>
                </a:solidFill>
              </a:rPr>
              <a:t>N</a:t>
            </a:r>
            <a:r>
              <a:rPr lang="en" sz="1200"/>
              <a:t>:</a:t>
            </a:r>
            <a:endParaRPr sz="1200"/>
          </a:p>
          <a:p>
            <a:pPr indent="-304800" lvl="3" marL="1828800" rtl="0" algn="l">
              <a:lnSpc>
                <a:spcPct val="115000"/>
              </a:lnSpc>
              <a:spcBef>
                <a:spcPts val="0"/>
              </a:spcBef>
              <a:spcAft>
                <a:spcPts val="0"/>
              </a:spcAft>
              <a:buSzPts val="1200"/>
              <a:buChar char="●"/>
            </a:pPr>
            <a:r>
              <a:rPr lang="en" sz="1200"/>
              <a:t>If the </a:t>
            </a:r>
            <a:r>
              <a:rPr b="1" i="1" lang="en" sz="1200">
                <a:solidFill>
                  <a:srgbClr val="FF0000"/>
                </a:solidFill>
              </a:rPr>
              <a:t>N</a:t>
            </a:r>
            <a:r>
              <a:rPr b="1" i="1" lang="en" sz="1200"/>
              <a:t> </a:t>
            </a:r>
            <a:r>
              <a:rPr lang="en" sz="1200"/>
              <a:t>is </a:t>
            </a:r>
            <a:r>
              <a:rPr b="1" i="1" lang="en" sz="1200">
                <a:solidFill>
                  <a:srgbClr val="FF0000"/>
                </a:solidFill>
              </a:rPr>
              <a:t>not</a:t>
            </a:r>
            <a:r>
              <a:rPr lang="en" sz="1200">
                <a:solidFill>
                  <a:srgbClr val="FF0000"/>
                </a:solidFill>
              </a:rPr>
              <a:t> </a:t>
            </a:r>
            <a:r>
              <a:rPr lang="en" sz="1200"/>
              <a:t>already in the set:</a:t>
            </a:r>
            <a:endParaRPr sz="1200"/>
          </a:p>
          <a:p>
            <a:pPr indent="-304800" lvl="4" marL="2286000" rtl="0" algn="l">
              <a:lnSpc>
                <a:spcPct val="115000"/>
              </a:lnSpc>
              <a:spcBef>
                <a:spcPts val="0"/>
              </a:spcBef>
              <a:spcAft>
                <a:spcPts val="0"/>
              </a:spcAft>
              <a:buSzPts val="1200"/>
              <a:buChar char="○"/>
            </a:pPr>
            <a:r>
              <a:rPr b="1" i="1" lang="en" sz="1200">
                <a:solidFill>
                  <a:srgbClr val="FF0000"/>
                </a:solidFill>
              </a:rPr>
              <a:t>Add</a:t>
            </a:r>
            <a:r>
              <a:rPr lang="en" sz="1200">
                <a:solidFill>
                  <a:srgbClr val="FF0000"/>
                </a:solidFill>
              </a:rPr>
              <a:t> </a:t>
            </a:r>
            <a:r>
              <a:rPr b="1" i="1" lang="en" sz="1200">
                <a:solidFill>
                  <a:srgbClr val="FF0000"/>
                </a:solidFill>
              </a:rPr>
              <a:t>N</a:t>
            </a:r>
            <a:r>
              <a:rPr lang="en" sz="1200"/>
              <a:t> to </a:t>
            </a:r>
            <a:r>
              <a:rPr b="1" i="1" lang="en" sz="1200">
                <a:solidFill>
                  <a:srgbClr val="FF0000"/>
                </a:solidFill>
              </a:rPr>
              <a:t>both</a:t>
            </a:r>
            <a:r>
              <a:rPr lang="en" sz="1200">
                <a:solidFill>
                  <a:srgbClr val="FF0000"/>
                </a:solidFill>
              </a:rPr>
              <a:t> </a:t>
            </a:r>
            <a:r>
              <a:rPr lang="en" sz="1200"/>
              <a:t>the set </a:t>
            </a:r>
            <a:r>
              <a:rPr b="1" i="1" lang="en" sz="1200">
                <a:solidFill>
                  <a:srgbClr val="FF0000"/>
                </a:solidFill>
              </a:rPr>
              <a:t>and</a:t>
            </a:r>
            <a:r>
              <a:rPr lang="en" sz="1200">
                <a:solidFill>
                  <a:srgbClr val="FF0000"/>
                </a:solidFill>
              </a:rPr>
              <a:t> </a:t>
            </a:r>
            <a:r>
              <a:rPr lang="en" sz="1200"/>
              <a:t>the queue</a:t>
            </a:r>
            <a:endParaRPr sz="1200"/>
          </a:p>
          <a:p>
            <a:pPr indent="-304800" lvl="1" marL="914400" rtl="0" algn="l">
              <a:lnSpc>
                <a:spcPct val="115000"/>
              </a:lnSpc>
              <a:spcBef>
                <a:spcPts val="0"/>
              </a:spcBef>
              <a:spcAft>
                <a:spcPts val="0"/>
              </a:spcAft>
              <a:buSzPts val="1200"/>
              <a:buChar char="○"/>
            </a:pPr>
            <a:r>
              <a:rPr lang="en" sz="1200"/>
              <a:t>If the queue is </a:t>
            </a:r>
            <a:r>
              <a:rPr b="1" i="1" lang="en" sz="1200">
                <a:solidFill>
                  <a:srgbClr val="FF0000"/>
                </a:solidFill>
              </a:rPr>
              <a:t>empty</a:t>
            </a:r>
            <a:r>
              <a:rPr lang="en" sz="1200"/>
              <a:t>, return </a:t>
            </a:r>
            <a:r>
              <a:rPr lang="en" sz="1200">
                <a:solidFill>
                  <a:srgbClr val="FF0000"/>
                </a:solidFill>
                <a:latin typeface="Courier New"/>
                <a:ea typeface="Courier New"/>
                <a:cs typeface="Courier New"/>
                <a:sym typeface="Courier New"/>
              </a:rPr>
              <a:t>false</a:t>
            </a:r>
            <a:r>
              <a:rPr lang="en" sz="1200"/>
              <a:t>.</a:t>
            </a:r>
            <a:endParaRPr sz="1200"/>
          </a:p>
          <a:p>
            <a:pPr indent="-317500" lvl="0" marL="457200" rtl="0" algn="l">
              <a:lnSpc>
                <a:spcPct val="115000"/>
              </a:lnSpc>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your completed algorithm using the provided </a:t>
            </a:r>
            <a:r>
              <a:rPr lang="en" sz="1400">
                <a:solidFill>
                  <a:srgbClr val="FF0000"/>
                </a:solidFill>
                <a:latin typeface="Courier New"/>
                <a:ea typeface="Courier New"/>
                <a:cs typeface="Courier New"/>
                <a:sym typeface="Courier New"/>
              </a:rPr>
              <a:t>BFSearchTest</a:t>
            </a:r>
            <a:r>
              <a:rPr lang="en" sz="1400"/>
              <a:t>.</a:t>
            </a:r>
            <a:endParaRPr sz="1400"/>
          </a:p>
          <a:p>
            <a:pPr indent="-304800" lvl="1" marL="914400" rtl="0" algn="l">
              <a:lnSpc>
                <a:spcPct val="115000"/>
              </a:lnSpc>
              <a:spcBef>
                <a:spcPts val="0"/>
              </a:spcBef>
              <a:spcAft>
                <a:spcPts val="0"/>
              </a:spcAft>
              <a:buSzPts val="1200"/>
              <a:buChar char="○"/>
            </a:pPr>
            <a:r>
              <a:rPr b="1" i="1" lang="en" sz="1200">
                <a:solidFill>
                  <a:srgbClr val="FF0000"/>
                </a:solidFill>
              </a:rPr>
              <a:t>All</a:t>
            </a:r>
            <a:r>
              <a:rPr lang="en" sz="1200">
                <a:solidFill>
                  <a:srgbClr val="FF0000"/>
                </a:solidFill>
              </a:rPr>
              <a:t> </a:t>
            </a:r>
            <a:r>
              <a:rPr lang="en" sz="1200"/>
              <a:t>of the tests should now pass.</a:t>
            </a:r>
            <a:endParaRPr sz="1200"/>
          </a:p>
        </p:txBody>
      </p:sp>
      <p:sp>
        <p:nvSpPr>
          <p:cNvPr id="1531" name="Google Shape;1531;p67"/>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13</a:t>
            </a:r>
            <a:endParaRPr/>
          </a:p>
        </p:txBody>
      </p:sp>
      <p:pic>
        <p:nvPicPr>
          <p:cNvPr id="1532" name="Google Shape;1532;p67"/>
          <p:cNvPicPr preferRelativeResize="0"/>
          <p:nvPr/>
        </p:nvPicPr>
        <p:blipFill rotWithShape="1">
          <a:blip r:embed="rId3">
            <a:alphaModFix/>
          </a:blip>
          <a:srcRect b="0" l="0" r="0" t="0"/>
          <a:stretch/>
        </p:blipFill>
        <p:spPr>
          <a:xfrm>
            <a:off x="152400" y="1821375"/>
            <a:ext cx="2376599" cy="275985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6" name="Shape 1536"/>
        <p:cNvGrpSpPr/>
        <p:nvPr/>
      </p:nvGrpSpPr>
      <p:grpSpPr>
        <a:xfrm>
          <a:off x="0" y="0"/>
          <a:ext cx="0" cy="0"/>
          <a:chOff x="0" y="0"/>
          <a:chExt cx="0" cy="0"/>
        </a:xfrm>
      </p:grpSpPr>
      <p:sp>
        <p:nvSpPr>
          <p:cNvPr id="1537" name="Google Shape;1537;p68"/>
          <p:cNvSpPr txBox="1"/>
          <p:nvPr>
            <p:ph type="title"/>
          </p:nvPr>
        </p:nvSpPr>
        <p:spPr>
          <a:xfrm>
            <a:off x="4959925" y="56568"/>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Building a path </a:t>
            </a:r>
            <a:endParaRPr/>
          </a:p>
        </p:txBody>
      </p:sp>
      <p:sp>
        <p:nvSpPr>
          <p:cNvPr id="1538" name="Google Shape;1538;p68"/>
          <p:cNvSpPr txBox="1"/>
          <p:nvPr>
            <p:ph idx="1" type="body"/>
          </p:nvPr>
        </p:nvSpPr>
        <p:spPr>
          <a:xfrm>
            <a:off x="301275" y="43725"/>
            <a:ext cx="4388100" cy="49716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The</a:t>
            </a:r>
            <a:r>
              <a:rPr lang="en">
                <a:solidFill>
                  <a:srgbClr val="FF0000"/>
                </a:solidFill>
              </a:rPr>
              <a:t> </a:t>
            </a:r>
            <a:r>
              <a:rPr b="1" i="1" lang="en">
                <a:solidFill>
                  <a:srgbClr val="FF0000"/>
                </a:solidFill>
              </a:rPr>
              <a:t>breadth-first search</a:t>
            </a:r>
            <a:r>
              <a:rPr lang="en"/>
              <a:t> algorithm that we implemented determines whether or not a path </a:t>
            </a:r>
            <a:r>
              <a:rPr b="1" i="1" lang="en">
                <a:solidFill>
                  <a:srgbClr val="FF0000"/>
                </a:solidFill>
              </a:rPr>
              <a:t>exists</a:t>
            </a:r>
            <a:r>
              <a:rPr lang="en">
                <a:solidFill>
                  <a:srgbClr val="FF0000"/>
                </a:solidFill>
              </a:rPr>
              <a:t> </a:t>
            </a:r>
            <a:r>
              <a:rPr lang="en"/>
              <a:t>between two vertices in the graph, but it doesn't tell us what the path </a:t>
            </a:r>
            <a:r>
              <a:rPr b="1" i="1" lang="en">
                <a:solidFill>
                  <a:srgbClr val="FF0000"/>
                </a:solidFill>
              </a:rPr>
              <a:t>actually is</a:t>
            </a:r>
            <a:r>
              <a:rPr lang="en"/>
              <a:t>.</a:t>
            </a:r>
            <a:endParaRPr/>
          </a:p>
          <a:p>
            <a:pPr indent="-298450" lvl="1" marL="914400" rtl="0" algn="l">
              <a:lnSpc>
                <a:spcPct val="100000"/>
              </a:lnSpc>
              <a:spcBef>
                <a:spcPts val="0"/>
              </a:spcBef>
              <a:spcAft>
                <a:spcPts val="0"/>
              </a:spcAft>
              <a:buSzPts val="1100"/>
              <a:buChar char="○"/>
            </a:pPr>
            <a:r>
              <a:rPr lang="en"/>
              <a:t>It's useful to know that we can get from ROC to LAX, but we can't book the trip if we don't know through which airports to fly!</a:t>
            </a:r>
            <a:endParaRPr/>
          </a:p>
          <a:p>
            <a:pPr indent="-311150" lvl="0" marL="457200" rtl="0" algn="l">
              <a:lnSpc>
                <a:spcPct val="100000"/>
              </a:lnSpc>
              <a:spcBef>
                <a:spcPts val="1000"/>
              </a:spcBef>
              <a:spcAft>
                <a:spcPts val="0"/>
              </a:spcAft>
              <a:buSzPts val="1300"/>
              <a:buChar char="●"/>
            </a:pPr>
            <a:r>
              <a:rPr lang="en"/>
              <a:t>Recall that, for each neighbor </a:t>
            </a:r>
            <a:r>
              <a:rPr b="1" i="1" lang="en">
                <a:solidFill>
                  <a:srgbClr val="FF0000"/>
                </a:solidFill>
              </a:rPr>
              <a:t>N</a:t>
            </a:r>
            <a:r>
              <a:rPr lang="en"/>
              <a:t> of vertex</a:t>
            </a:r>
            <a:r>
              <a:rPr lang="en">
                <a:solidFill>
                  <a:srgbClr val="FF0000"/>
                </a:solidFill>
              </a:rPr>
              <a:t> </a:t>
            </a:r>
            <a:r>
              <a:rPr b="1" i="1" lang="en">
                <a:solidFill>
                  <a:srgbClr val="FF0000"/>
                </a:solidFill>
              </a:rPr>
              <a:t>V</a:t>
            </a:r>
            <a:r>
              <a:rPr lang="en"/>
              <a:t>:</a:t>
            </a:r>
            <a:endParaRPr/>
          </a:p>
          <a:p>
            <a:pPr indent="-298450" lvl="1" marL="914400" rtl="0" algn="l">
              <a:lnSpc>
                <a:spcPct val="100000"/>
              </a:lnSpc>
              <a:spcBef>
                <a:spcPts val="0"/>
              </a:spcBef>
              <a:spcAft>
                <a:spcPts val="0"/>
              </a:spcAft>
              <a:buSzPts val="1100"/>
              <a:buChar char="○"/>
            </a:pPr>
            <a:r>
              <a:rPr lang="en"/>
              <a:t>If </a:t>
            </a:r>
            <a:r>
              <a:rPr b="1" i="1" lang="en">
                <a:solidFill>
                  <a:srgbClr val="FF0000"/>
                </a:solidFill>
              </a:rPr>
              <a:t>N</a:t>
            </a:r>
            <a:r>
              <a:rPr lang="en"/>
              <a:t> is not already in the set, this is the </a:t>
            </a:r>
            <a:r>
              <a:rPr b="1" i="1" lang="en">
                <a:solidFill>
                  <a:srgbClr val="FF0000"/>
                </a:solidFill>
              </a:rPr>
              <a:t>first time</a:t>
            </a:r>
            <a:r>
              <a:rPr lang="en">
                <a:solidFill>
                  <a:srgbClr val="FF0000"/>
                </a:solidFill>
              </a:rPr>
              <a:t> </a:t>
            </a:r>
            <a:r>
              <a:rPr lang="en"/>
              <a:t>that we have seen</a:t>
            </a:r>
            <a:r>
              <a:rPr lang="en">
                <a:solidFill>
                  <a:srgbClr val="FF0000"/>
                </a:solidFill>
              </a:rPr>
              <a:t> </a:t>
            </a:r>
            <a:r>
              <a:rPr b="1" i="1" lang="en">
                <a:solidFill>
                  <a:srgbClr val="FF0000"/>
                </a:solidFill>
              </a:rPr>
              <a:t>N</a:t>
            </a:r>
            <a:r>
              <a:rPr lang="en"/>
              <a:t>.</a:t>
            </a:r>
            <a:endParaRPr/>
          </a:p>
          <a:p>
            <a:pPr indent="-298450" lvl="1" marL="914400" rtl="0" algn="l">
              <a:lnSpc>
                <a:spcPct val="100000"/>
              </a:lnSpc>
              <a:spcBef>
                <a:spcPts val="0"/>
              </a:spcBef>
              <a:spcAft>
                <a:spcPts val="0"/>
              </a:spcAft>
              <a:buSzPts val="1100"/>
              <a:buChar char="○"/>
            </a:pPr>
            <a:r>
              <a:rPr lang="en"/>
              <a:t>This means that </a:t>
            </a:r>
            <a:r>
              <a:rPr b="1" i="1" lang="en">
                <a:solidFill>
                  <a:srgbClr val="FF0000"/>
                </a:solidFill>
              </a:rPr>
              <a:t>V</a:t>
            </a:r>
            <a:r>
              <a:rPr lang="en"/>
              <a:t> is </a:t>
            </a:r>
            <a:r>
              <a:rPr b="1" i="1" lang="en">
                <a:solidFill>
                  <a:srgbClr val="FF0000"/>
                </a:solidFill>
              </a:rPr>
              <a:t>N</a:t>
            </a:r>
            <a:r>
              <a:rPr lang="en"/>
              <a:t>'s </a:t>
            </a:r>
            <a:r>
              <a:rPr b="1" i="1" lang="en">
                <a:solidFill>
                  <a:srgbClr val="FF0000"/>
                </a:solidFill>
              </a:rPr>
              <a:t>predecessor</a:t>
            </a:r>
            <a:r>
              <a:rPr lang="en">
                <a:solidFill>
                  <a:srgbClr val="FF0000"/>
                </a:solidFill>
              </a:rPr>
              <a:t> </a:t>
            </a:r>
            <a:r>
              <a:rPr lang="en"/>
              <a:t>along the path (if it exists) - </a:t>
            </a:r>
            <a:r>
              <a:rPr b="1" i="1" lang="en">
                <a:solidFill>
                  <a:srgbClr val="FF0000"/>
                </a:solidFill>
              </a:rPr>
              <a:t>V</a:t>
            </a:r>
            <a:r>
              <a:rPr lang="en"/>
              <a:t> is the vertex through which we </a:t>
            </a:r>
            <a:r>
              <a:rPr b="1" i="1" lang="en">
                <a:solidFill>
                  <a:srgbClr val="FF0000"/>
                </a:solidFill>
              </a:rPr>
              <a:t>first discovered N</a:t>
            </a:r>
            <a:r>
              <a:rPr lang="en"/>
              <a:t>.</a:t>
            </a:r>
            <a:endParaRPr/>
          </a:p>
          <a:p>
            <a:pPr indent="-311150" lvl="0" marL="457200" rtl="0" algn="l">
              <a:lnSpc>
                <a:spcPct val="100000"/>
              </a:lnSpc>
              <a:spcBef>
                <a:spcPts val="1000"/>
              </a:spcBef>
              <a:spcAft>
                <a:spcPts val="0"/>
              </a:spcAft>
              <a:buSzPts val="1300"/>
              <a:buChar char="●"/>
            </a:pPr>
            <a:r>
              <a:rPr lang="en"/>
              <a:t>We will need to make a </a:t>
            </a:r>
            <a:r>
              <a:rPr b="1" i="1" lang="en">
                <a:solidFill>
                  <a:srgbClr val="FF0000"/>
                </a:solidFill>
              </a:rPr>
              <a:t>small</a:t>
            </a:r>
            <a:r>
              <a:rPr lang="en">
                <a:solidFill>
                  <a:srgbClr val="FF0000"/>
                </a:solidFill>
              </a:rPr>
              <a:t> </a:t>
            </a:r>
            <a:r>
              <a:rPr lang="en"/>
              <a:t>change to the BFS algorithm so that it not only keeps track of every vertex, but also its </a:t>
            </a:r>
            <a:r>
              <a:rPr b="1" i="1" lang="en">
                <a:solidFill>
                  <a:srgbClr val="FF0000"/>
                </a:solidFill>
              </a:rPr>
              <a:t>predecessor</a:t>
            </a:r>
            <a:r>
              <a:rPr lang="en"/>
              <a:t>.</a:t>
            </a:r>
            <a:endParaRPr/>
          </a:p>
          <a:p>
            <a:pPr indent="-298450" lvl="1" marL="914400" rtl="0" algn="l">
              <a:lnSpc>
                <a:spcPct val="100000"/>
              </a:lnSpc>
              <a:spcBef>
                <a:spcPts val="0"/>
              </a:spcBef>
              <a:spcAft>
                <a:spcPts val="0"/>
              </a:spcAft>
              <a:buSzPts val="1100"/>
              <a:buChar char="○"/>
            </a:pPr>
            <a:r>
              <a:rPr lang="en"/>
              <a:t>We will use a </a:t>
            </a:r>
            <a:r>
              <a:rPr b="1" i="1" lang="en">
                <a:solidFill>
                  <a:srgbClr val="FF0000"/>
                </a:solidFill>
              </a:rPr>
              <a:t>map</a:t>
            </a:r>
            <a:r>
              <a:rPr lang="en">
                <a:solidFill>
                  <a:srgbClr val="FF0000"/>
                </a:solidFill>
              </a:rPr>
              <a:t> </a:t>
            </a:r>
            <a:r>
              <a:rPr lang="en"/>
              <a:t>instead of a </a:t>
            </a:r>
            <a:r>
              <a:rPr b="1" i="1" lang="en">
                <a:solidFill>
                  <a:srgbClr val="FF0000"/>
                </a:solidFill>
              </a:rPr>
              <a:t>set</a:t>
            </a:r>
            <a:r>
              <a:rPr lang="en">
                <a:solidFill>
                  <a:srgbClr val="FF0000"/>
                </a:solidFill>
              </a:rPr>
              <a:t> </a:t>
            </a:r>
            <a:r>
              <a:rPr lang="en"/>
              <a:t>where the </a:t>
            </a:r>
            <a:r>
              <a:rPr b="1" i="1" lang="en">
                <a:solidFill>
                  <a:srgbClr val="FF0000"/>
                </a:solidFill>
              </a:rPr>
              <a:t>key</a:t>
            </a:r>
            <a:r>
              <a:rPr lang="en">
                <a:solidFill>
                  <a:srgbClr val="FF0000"/>
                </a:solidFill>
              </a:rPr>
              <a:t> </a:t>
            </a:r>
            <a:r>
              <a:rPr lang="en"/>
              <a:t>is the </a:t>
            </a:r>
            <a:r>
              <a:rPr b="1" i="1" lang="en">
                <a:solidFill>
                  <a:srgbClr val="FF0000"/>
                </a:solidFill>
              </a:rPr>
              <a:t>vertex </a:t>
            </a:r>
            <a:r>
              <a:rPr lang="en"/>
              <a:t>and the </a:t>
            </a:r>
            <a:r>
              <a:rPr b="1" i="1" lang="en">
                <a:solidFill>
                  <a:srgbClr val="FF0000"/>
                </a:solidFill>
              </a:rPr>
              <a:t>value</a:t>
            </a:r>
            <a:r>
              <a:rPr lang="en">
                <a:solidFill>
                  <a:srgbClr val="FF0000"/>
                </a:solidFill>
              </a:rPr>
              <a:t> </a:t>
            </a:r>
            <a:r>
              <a:rPr lang="en"/>
              <a:t>is its </a:t>
            </a:r>
            <a:r>
              <a:rPr b="1" i="1" lang="en">
                <a:solidFill>
                  <a:srgbClr val="FF0000"/>
                </a:solidFill>
              </a:rPr>
              <a:t>predecessor</a:t>
            </a:r>
            <a:r>
              <a:rPr lang="en"/>
              <a:t>.</a:t>
            </a:r>
            <a:endParaRPr/>
          </a:p>
          <a:p>
            <a:pPr indent="-298450" lvl="1" marL="914400" rtl="0" algn="l">
              <a:lnSpc>
                <a:spcPct val="100000"/>
              </a:lnSpc>
              <a:spcBef>
                <a:spcPts val="0"/>
              </a:spcBef>
              <a:spcAft>
                <a:spcPts val="0"/>
              </a:spcAft>
              <a:buSzPts val="1100"/>
              <a:buChar char="○"/>
            </a:pPr>
            <a:r>
              <a:rPr lang="en"/>
              <a:t>In other words, for each neighbor </a:t>
            </a:r>
            <a:r>
              <a:rPr b="1" i="1" lang="en">
                <a:solidFill>
                  <a:srgbClr val="FF0000"/>
                </a:solidFill>
              </a:rPr>
              <a:t>N</a:t>
            </a:r>
            <a:r>
              <a:rPr lang="en"/>
              <a:t> of vertex </a:t>
            </a:r>
            <a:r>
              <a:rPr b="1" i="1" lang="en">
                <a:solidFill>
                  <a:srgbClr val="FF0000"/>
                </a:solidFill>
              </a:rPr>
              <a:t>V</a:t>
            </a:r>
            <a:r>
              <a:rPr lang="en"/>
              <a:t>, if </a:t>
            </a:r>
            <a:r>
              <a:rPr b="1" i="1" lang="en">
                <a:solidFill>
                  <a:srgbClr val="FF0000"/>
                </a:solidFill>
              </a:rPr>
              <a:t>N</a:t>
            </a:r>
            <a:r>
              <a:rPr lang="en"/>
              <a:t> is not already in the map, we will put the </a:t>
            </a:r>
            <a:r>
              <a:rPr b="1" i="1" lang="en">
                <a:solidFill>
                  <a:srgbClr val="FF0000"/>
                </a:solidFill>
              </a:rPr>
              <a:t>N:V</a:t>
            </a:r>
            <a:r>
              <a:rPr b="1" i="1" lang="en"/>
              <a:t> </a:t>
            </a:r>
            <a:r>
              <a:rPr lang="en"/>
              <a:t>pair into the map.</a:t>
            </a:r>
            <a:endParaRPr/>
          </a:p>
          <a:p>
            <a:pPr indent="-311150" lvl="0" marL="457200" rtl="0" algn="l">
              <a:lnSpc>
                <a:spcPct val="100000"/>
              </a:lnSpc>
              <a:spcBef>
                <a:spcPts val="1000"/>
              </a:spcBef>
              <a:spcAft>
                <a:spcPts val="0"/>
              </a:spcAft>
              <a:buSzPts val="1300"/>
              <a:buChar char="●"/>
            </a:pPr>
            <a:r>
              <a:rPr lang="en"/>
              <a:t>This will allow us to reverse engineer vertices along the path (if it exists) by working </a:t>
            </a:r>
            <a:r>
              <a:rPr b="1" i="1" lang="en">
                <a:solidFill>
                  <a:srgbClr val="FF0000"/>
                </a:solidFill>
              </a:rPr>
              <a:t>backwards</a:t>
            </a:r>
            <a:r>
              <a:rPr lang="en">
                <a:solidFill>
                  <a:srgbClr val="FF0000"/>
                </a:solidFill>
              </a:rPr>
              <a:t> </a:t>
            </a:r>
            <a:r>
              <a:rPr lang="en"/>
              <a:t>through the map.</a:t>
            </a:r>
            <a:endParaRPr/>
          </a:p>
        </p:txBody>
      </p:sp>
      <p:sp>
        <p:nvSpPr>
          <p:cNvPr id="1539" name="Google Shape;1539;p68"/>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grpSp>
        <p:nvGrpSpPr>
          <p:cNvPr id="1540" name="Google Shape;1540;p68"/>
          <p:cNvGrpSpPr/>
          <p:nvPr/>
        </p:nvGrpSpPr>
        <p:grpSpPr>
          <a:xfrm>
            <a:off x="6814585" y="623472"/>
            <a:ext cx="2180058" cy="2162415"/>
            <a:chOff x="5900277" y="743776"/>
            <a:chExt cx="2727118" cy="2705047"/>
          </a:xfrm>
        </p:grpSpPr>
        <p:sp>
          <p:nvSpPr>
            <p:cNvPr id="1541" name="Google Shape;1541;p68"/>
            <p:cNvSpPr/>
            <p:nvPr/>
          </p:nvSpPr>
          <p:spPr>
            <a:xfrm>
              <a:off x="6072743" y="743776"/>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542" name="Google Shape;1542;p68"/>
            <p:cNvSpPr/>
            <p:nvPr/>
          </p:nvSpPr>
          <p:spPr>
            <a:xfrm>
              <a:off x="7213995" y="106668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543" name="Google Shape;1543;p68"/>
            <p:cNvSpPr/>
            <p:nvPr/>
          </p:nvSpPr>
          <p:spPr>
            <a:xfrm>
              <a:off x="5900277" y="19409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544" name="Google Shape;1544;p68"/>
            <p:cNvSpPr/>
            <p:nvPr/>
          </p:nvSpPr>
          <p:spPr>
            <a:xfrm>
              <a:off x="7108281" y="2181542"/>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545" name="Google Shape;1545;p68"/>
            <p:cNvSpPr/>
            <p:nvPr/>
          </p:nvSpPr>
          <p:spPr>
            <a:xfrm>
              <a:off x="7936395" y="29268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546" name="Google Shape;1546;p68"/>
            <p:cNvCxnSpPr>
              <a:stCxn id="1541" idx="6"/>
              <a:endCxn id="1542" idx="1"/>
            </p:cNvCxnSpPr>
            <p:nvPr/>
          </p:nvCxnSpPr>
          <p:spPr>
            <a:xfrm>
              <a:off x="6594743" y="1004776"/>
              <a:ext cx="695700" cy="138300"/>
            </a:xfrm>
            <a:prstGeom prst="straightConnector1">
              <a:avLst/>
            </a:prstGeom>
            <a:noFill/>
            <a:ln cap="flat" cmpd="sng" w="19050">
              <a:solidFill>
                <a:srgbClr val="FFFFFF"/>
              </a:solidFill>
              <a:prstDash val="solid"/>
              <a:round/>
              <a:headEnd len="sm" w="sm" type="none"/>
              <a:tailEnd len="sm" w="sm" type="none"/>
            </a:ln>
          </p:spPr>
        </p:cxnSp>
        <p:cxnSp>
          <p:nvCxnSpPr>
            <p:cNvPr id="1547" name="Google Shape;1547;p68"/>
            <p:cNvCxnSpPr>
              <a:stCxn id="1541" idx="4"/>
              <a:endCxn id="1543" idx="0"/>
            </p:cNvCxnSpPr>
            <p:nvPr/>
          </p:nvCxnSpPr>
          <p:spPr>
            <a:xfrm flipH="1">
              <a:off x="6161243" y="1265776"/>
              <a:ext cx="172500" cy="675000"/>
            </a:xfrm>
            <a:prstGeom prst="straightConnector1">
              <a:avLst/>
            </a:prstGeom>
            <a:noFill/>
            <a:ln cap="flat" cmpd="sng" w="19050">
              <a:solidFill>
                <a:srgbClr val="FFFFFF"/>
              </a:solidFill>
              <a:prstDash val="solid"/>
              <a:round/>
              <a:headEnd len="sm" w="sm" type="none"/>
              <a:tailEnd len="sm" w="sm" type="none"/>
            </a:ln>
          </p:spPr>
        </p:cxnSp>
        <p:cxnSp>
          <p:nvCxnSpPr>
            <p:cNvPr id="1548" name="Google Shape;1548;p68"/>
            <p:cNvCxnSpPr>
              <a:stCxn id="1543" idx="5"/>
              <a:endCxn id="1544" idx="2"/>
            </p:cNvCxnSpPr>
            <p:nvPr/>
          </p:nvCxnSpPr>
          <p:spPr>
            <a:xfrm>
              <a:off x="6345832" y="2386478"/>
              <a:ext cx="762300" cy="56100"/>
            </a:xfrm>
            <a:prstGeom prst="straightConnector1">
              <a:avLst/>
            </a:prstGeom>
            <a:noFill/>
            <a:ln cap="flat" cmpd="sng" w="19050">
              <a:solidFill>
                <a:srgbClr val="FFFFFF"/>
              </a:solidFill>
              <a:prstDash val="solid"/>
              <a:round/>
              <a:headEnd len="sm" w="sm" type="none"/>
              <a:tailEnd len="sm" w="sm" type="none"/>
            </a:ln>
          </p:spPr>
        </p:cxnSp>
        <p:cxnSp>
          <p:nvCxnSpPr>
            <p:cNvPr id="1549" name="Google Shape;1549;p68"/>
            <p:cNvCxnSpPr>
              <a:stCxn id="1544" idx="5"/>
              <a:endCxn id="1545" idx="1"/>
            </p:cNvCxnSpPr>
            <p:nvPr/>
          </p:nvCxnSpPr>
          <p:spPr>
            <a:xfrm>
              <a:off x="7553836" y="2627097"/>
              <a:ext cx="459000" cy="376200"/>
            </a:xfrm>
            <a:prstGeom prst="straightConnector1">
              <a:avLst/>
            </a:prstGeom>
            <a:noFill/>
            <a:ln cap="flat" cmpd="sng" w="19050">
              <a:solidFill>
                <a:srgbClr val="FFFFFF"/>
              </a:solidFill>
              <a:prstDash val="solid"/>
              <a:round/>
              <a:headEnd len="sm" w="sm" type="none"/>
              <a:tailEnd len="sm" w="sm" type="none"/>
            </a:ln>
          </p:spPr>
        </p:cxnSp>
        <p:sp>
          <p:nvSpPr>
            <p:cNvPr id="1550" name="Google Shape;1550;p68"/>
            <p:cNvSpPr/>
            <p:nvPr/>
          </p:nvSpPr>
          <p:spPr>
            <a:xfrm>
              <a:off x="8105395" y="1673623"/>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551" name="Google Shape;1551;p68"/>
            <p:cNvCxnSpPr>
              <a:stCxn id="1544" idx="6"/>
              <a:endCxn id="1550" idx="3"/>
            </p:cNvCxnSpPr>
            <p:nvPr/>
          </p:nvCxnSpPr>
          <p:spPr>
            <a:xfrm flipH="1" rot="10800000">
              <a:off x="7630281" y="2119142"/>
              <a:ext cx="551700" cy="323400"/>
            </a:xfrm>
            <a:prstGeom prst="straightConnector1">
              <a:avLst/>
            </a:prstGeom>
            <a:noFill/>
            <a:ln cap="flat" cmpd="sng" w="19050">
              <a:solidFill>
                <a:srgbClr val="FFFFFF"/>
              </a:solidFill>
              <a:prstDash val="solid"/>
              <a:round/>
              <a:headEnd len="sm" w="sm" type="none"/>
              <a:tailEnd len="sm" w="sm" type="none"/>
            </a:ln>
          </p:spPr>
        </p:cxnSp>
      </p:grpSp>
      <p:graphicFrame>
        <p:nvGraphicFramePr>
          <p:cNvPr id="1552" name="Google Shape;1552;p68"/>
          <p:cNvGraphicFramePr/>
          <p:nvPr/>
        </p:nvGraphicFramePr>
        <p:xfrm>
          <a:off x="5158725" y="2102822"/>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553" name="Google Shape;1553;p68"/>
          <p:cNvGraphicFramePr/>
          <p:nvPr/>
        </p:nvGraphicFramePr>
        <p:xfrm>
          <a:off x="5188525" y="4559582"/>
          <a:ext cx="3000000" cy="3000000"/>
        </p:xfrm>
        <a:graphic>
          <a:graphicData uri="http://schemas.openxmlformats.org/drawingml/2006/table">
            <a:tbl>
              <a:tblPr>
                <a:noFill/>
                <a:tableStyleId>{F61E8307-4E6B-4154-8BF4-D3231BAD3CED}</a:tableStyleId>
              </a:tblPr>
              <a:tblGrid>
                <a:gridCol w="807750"/>
                <a:gridCol w="415550"/>
                <a:gridCol w="415550"/>
                <a:gridCol w="415550"/>
                <a:gridCol w="415550"/>
                <a:gridCol w="415550"/>
                <a:gridCol w="415550"/>
              </a:tblGrid>
              <a:tr h="381000">
                <a:tc>
                  <a:txBody>
                    <a:bodyPr/>
                    <a:lstStyle/>
                    <a:p>
                      <a:pPr indent="0" lvl="0" marL="0" marR="0" rtl="0" algn="r">
                        <a:lnSpc>
                          <a:spcPct val="100000"/>
                        </a:lnSpc>
                        <a:spcBef>
                          <a:spcPts val="0"/>
                        </a:spcBef>
                        <a:spcAft>
                          <a:spcPts val="0"/>
                        </a:spcAft>
                        <a:buClr>
                          <a:srgbClr val="000000"/>
                        </a:buClr>
                        <a:buSzPts val="1400"/>
                        <a:buFont typeface="Arial"/>
                        <a:buNone/>
                      </a:pPr>
                      <a:r>
                        <a:rPr lang="en" sz="1400" u="none" cap="none" strike="noStrike">
                          <a:solidFill>
                            <a:srgbClr val="FFFFFF"/>
                          </a:solidFill>
                        </a:rPr>
                        <a:t>F to B</a:t>
                      </a:r>
                      <a:endParaRPr sz="1400" u="none" cap="none" strike="noStrike">
                        <a:solidFill>
                          <a:srgbClr val="FFFFFF"/>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554" name="Google Shape;1554;p68"/>
          <p:cNvSpPr txBox="1"/>
          <p:nvPr/>
        </p:nvSpPr>
        <p:spPr>
          <a:xfrm>
            <a:off x="6026086"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555" name="Google Shape;1555;p68"/>
          <p:cNvSpPr txBox="1"/>
          <p:nvPr/>
        </p:nvSpPr>
        <p:spPr>
          <a:xfrm>
            <a:off x="6012932" y="45727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556" name="Google Shape;1556;p68"/>
          <p:cNvGrpSpPr/>
          <p:nvPr/>
        </p:nvGrpSpPr>
        <p:grpSpPr>
          <a:xfrm>
            <a:off x="5544057" y="2413047"/>
            <a:ext cx="1995967" cy="393613"/>
            <a:chOff x="5544057" y="2413047"/>
            <a:chExt cx="1995967" cy="393613"/>
          </a:xfrm>
        </p:grpSpPr>
        <p:sp>
          <p:nvSpPr>
            <p:cNvPr id="1557" name="Google Shape;1557;p68"/>
            <p:cNvSpPr txBox="1"/>
            <p:nvPr/>
          </p:nvSpPr>
          <p:spPr>
            <a:xfrm>
              <a:off x="5544057" y="241306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558" name="Google Shape;1558;p68"/>
            <p:cNvSpPr txBox="1"/>
            <p:nvPr/>
          </p:nvSpPr>
          <p:spPr>
            <a:xfrm>
              <a:off x="6349324" y="2413047"/>
              <a:ext cx="11907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559" name="Google Shape;1559;p68"/>
          <p:cNvGrpSpPr/>
          <p:nvPr/>
        </p:nvGrpSpPr>
        <p:grpSpPr>
          <a:xfrm>
            <a:off x="5544057" y="2730703"/>
            <a:ext cx="1668300" cy="2210413"/>
            <a:chOff x="5544057" y="2730703"/>
            <a:chExt cx="1668300" cy="2210413"/>
          </a:xfrm>
        </p:grpSpPr>
        <p:grpSp>
          <p:nvGrpSpPr>
            <p:cNvPr id="1560" name="Google Shape;1560;p68"/>
            <p:cNvGrpSpPr/>
            <p:nvPr/>
          </p:nvGrpSpPr>
          <p:grpSpPr>
            <a:xfrm>
              <a:off x="5544057" y="2730703"/>
              <a:ext cx="1566414" cy="742493"/>
              <a:chOff x="5544057" y="2730703"/>
              <a:chExt cx="1566414" cy="742493"/>
            </a:xfrm>
          </p:grpSpPr>
          <p:sp>
            <p:nvSpPr>
              <p:cNvPr id="1561" name="Google Shape;1561;p68"/>
              <p:cNvSpPr txBox="1"/>
              <p:nvPr/>
            </p:nvSpPr>
            <p:spPr>
              <a:xfrm>
                <a:off x="5544057" y="274996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562" name="Google Shape;1562;p68"/>
              <p:cNvSpPr txBox="1"/>
              <p:nvPr/>
            </p:nvSpPr>
            <p:spPr>
              <a:xfrm>
                <a:off x="5544057" y="30795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563" name="Google Shape;1563;p68"/>
              <p:cNvSpPr txBox="1"/>
              <p:nvPr/>
            </p:nvSpPr>
            <p:spPr>
              <a:xfrm>
                <a:off x="6737571" y="273070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564" name="Google Shape;1564;p68"/>
              <p:cNvSpPr txBox="1"/>
              <p:nvPr/>
            </p:nvSpPr>
            <p:spPr>
              <a:xfrm>
                <a:off x="6737571" y="30795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565" name="Google Shape;1565;p68"/>
            <p:cNvGrpSpPr/>
            <p:nvPr/>
          </p:nvGrpSpPr>
          <p:grpSpPr>
            <a:xfrm>
              <a:off x="6432771" y="4547516"/>
              <a:ext cx="779586" cy="393600"/>
              <a:chOff x="6432771" y="4547516"/>
              <a:chExt cx="779586" cy="393600"/>
            </a:xfrm>
          </p:grpSpPr>
          <p:sp>
            <p:nvSpPr>
              <p:cNvPr id="1566" name="Google Shape;1566;p68"/>
              <p:cNvSpPr txBox="1"/>
              <p:nvPr/>
            </p:nvSpPr>
            <p:spPr>
              <a:xfrm>
                <a:off x="6432771"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567" name="Google Shape;1567;p68"/>
              <p:cNvSpPr txBox="1"/>
              <p:nvPr/>
            </p:nvSpPr>
            <p:spPr>
              <a:xfrm>
                <a:off x="6839457"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grpSp>
      </p:grpSp>
      <p:grpSp>
        <p:nvGrpSpPr>
          <p:cNvPr id="1568" name="Google Shape;1568;p68"/>
          <p:cNvGrpSpPr/>
          <p:nvPr/>
        </p:nvGrpSpPr>
        <p:grpSpPr>
          <a:xfrm>
            <a:off x="5544057" y="3403660"/>
            <a:ext cx="2093393" cy="1537456"/>
            <a:chOff x="5544057" y="3403660"/>
            <a:chExt cx="2093393" cy="1537456"/>
          </a:xfrm>
        </p:grpSpPr>
        <p:sp>
          <p:nvSpPr>
            <p:cNvPr id="1569" name="Google Shape;1569;p68"/>
            <p:cNvSpPr txBox="1"/>
            <p:nvPr/>
          </p:nvSpPr>
          <p:spPr>
            <a:xfrm>
              <a:off x="5544057" y="340366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0" name="Google Shape;1570;p68"/>
            <p:cNvSpPr txBox="1"/>
            <p:nvPr/>
          </p:nvSpPr>
          <p:spPr>
            <a:xfrm>
              <a:off x="6737571" y="341650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1" name="Google Shape;1571;p68"/>
            <p:cNvSpPr txBox="1"/>
            <p:nvPr/>
          </p:nvSpPr>
          <p:spPr>
            <a:xfrm>
              <a:off x="7264550"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572" name="Google Shape;1572;p68"/>
          <p:cNvGrpSpPr/>
          <p:nvPr/>
        </p:nvGrpSpPr>
        <p:grpSpPr>
          <a:xfrm>
            <a:off x="5544057" y="3740567"/>
            <a:ext cx="2918750" cy="1200549"/>
            <a:chOff x="5544057" y="3740567"/>
            <a:chExt cx="2918750" cy="1200549"/>
          </a:xfrm>
        </p:grpSpPr>
        <p:sp>
          <p:nvSpPr>
            <p:cNvPr id="1573" name="Google Shape;1573;p68"/>
            <p:cNvSpPr txBox="1"/>
            <p:nvPr/>
          </p:nvSpPr>
          <p:spPr>
            <a:xfrm>
              <a:off x="5544057" y="374056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4" name="Google Shape;1574;p68"/>
            <p:cNvSpPr txBox="1"/>
            <p:nvPr/>
          </p:nvSpPr>
          <p:spPr>
            <a:xfrm>
              <a:off x="5544057" y="40701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5" name="Google Shape;1575;p68"/>
            <p:cNvSpPr txBox="1"/>
            <p:nvPr/>
          </p:nvSpPr>
          <p:spPr>
            <a:xfrm>
              <a:off x="6737571" y="375255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6" name="Google Shape;1576;p68"/>
            <p:cNvSpPr txBox="1"/>
            <p:nvPr/>
          </p:nvSpPr>
          <p:spPr>
            <a:xfrm>
              <a:off x="6737571" y="408303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577" name="Google Shape;1577;p68"/>
            <p:cNvGrpSpPr/>
            <p:nvPr/>
          </p:nvGrpSpPr>
          <p:grpSpPr>
            <a:xfrm>
              <a:off x="7696065" y="4547516"/>
              <a:ext cx="766742" cy="393600"/>
              <a:chOff x="7696065" y="4547516"/>
              <a:chExt cx="766742" cy="393600"/>
            </a:xfrm>
          </p:grpSpPr>
          <p:sp>
            <p:nvSpPr>
              <p:cNvPr id="1578" name="Google Shape;1578;p68"/>
              <p:cNvSpPr txBox="1"/>
              <p:nvPr/>
            </p:nvSpPr>
            <p:spPr>
              <a:xfrm>
                <a:off x="7696065"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579" name="Google Shape;1579;p68"/>
              <p:cNvSpPr txBox="1"/>
              <p:nvPr/>
            </p:nvSpPr>
            <p:spPr>
              <a:xfrm>
                <a:off x="8089907" y="454751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grpSp>
      </p:grpSp>
      <p:sp>
        <p:nvSpPr>
          <p:cNvPr id="1580" name="Google Shape;1580;p68"/>
          <p:cNvSpPr txBox="1"/>
          <p:nvPr/>
        </p:nvSpPr>
        <p:spPr>
          <a:xfrm>
            <a:off x="6426038" y="45727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581" name="Google Shape;1581;p68"/>
          <p:cNvSpPr txBox="1"/>
          <p:nvPr/>
        </p:nvSpPr>
        <p:spPr>
          <a:xfrm>
            <a:off x="6826302" y="45727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582" name="Google Shape;1582;p68"/>
          <p:cNvSpPr txBox="1"/>
          <p:nvPr/>
        </p:nvSpPr>
        <p:spPr>
          <a:xfrm>
            <a:off x="7270660" y="45727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583" name="Google Shape;1583;p68"/>
          <p:cNvSpPr/>
          <p:nvPr/>
        </p:nvSpPr>
        <p:spPr>
          <a:xfrm>
            <a:off x="7709330" y="4550110"/>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3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2"/>
                                        </p:tgtEl>
                                        <p:attrNameLst>
                                          <p:attrName>style.visibility</p:attrName>
                                        </p:attrNameLst>
                                      </p:cBhvr>
                                      <p:to>
                                        <p:strVal val="visible"/>
                                      </p:to>
                                    </p:set>
                                    <p:animEffect filter="fade" transition="in">
                                      <p:cBhvr>
                                        <p:cTn dur="1000"/>
                                        <p:tgtEl>
                                          <p:spTgt spid="15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4"/>
                                        </p:tgtEl>
                                        <p:attrNameLst>
                                          <p:attrName>style.visibility</p:attrName>
                                        </p:attrNameLst>
                                      </p:cBhvr>
                                      <p:to>
                                        <p:strVal val="visible"/>
                                      </p:to>
                                    </p:set>
                                    <p:animEffect filter="fade" transition="in">
                                      <p:cBhvr>
                                        <p:cTn dur="1000"/>
                                        <p:tgtEl>
                                          <p:spTgt spid="1554"/>
                                        </p:tgtEl>
                                      </p:cBhvr>
                                    </p:animEffect>
                                  </p:childTnLst>
                                </p:cTn>
                              </p:par>
                              <p:par>
                                <p:cTn fill="hold" nodeType="withEffect" presetClass="entr" presetID="10" presetSubtype="0">
                                  <p:stCondLst>
                                    <p:cond delay="0"/>
                                  </p:stCondLst>
                                  <p:childTnLst>
                                    <p:set>
                                      <p:cBhvr>
                                        <p:cTn dur="1" fill="hold">
                                          <p:stCondLst>
                                            <p:cond delay="0"/>
                                          </p:stCondLst>
                                        </p:cTn>
                                        <p:tgtEl>
                                          <p:spTgt spid="1556"/>
                                        </p:tgtEl>
                                        <p:attrNameLst>
                                          <p:attrName>style.visibility</p:attrName>
                                        </p:attrNameLst>
                                      </p:cBhvr>
                                      <p:to>
                                        <p:strVal val="visible"/>
                                      </p:to>
                                    </p:set>
                                    <p:animEffect filter="fade" transition="in">
                                      <p:cBhvr>
                                        <p:cTn dur="1000"/>
                                        <p:tgtEl>
                                          <p:spTgt spid="15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5"/>
                                        </p:tgtEl>
                                        <p:attrNameLst>
                                          <p:attrName>style.visibility</p:attrName>
                                        </p:attrNameLst>
                                      </p:cBhvr>
                                      <p:to>
                                        <p:strVal val="visible"/>
                                      </p:to>
                                    </p:set>
                                    <p:animEffect filter="fade" transition="in">
                                      <p:cBhvr>
                                        <p:cTn dur="1000"/>
                                        <p:tgtEl>
                                          <p:spTgt spid="155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59"/>
                                        </p:tgtEl>
                                        <p:attrNameLst>
                                          <p:attrName>style.visibility</p:attrName>
                                        </p:attrNameLst>
                                      </p:cBhvr>
                                      <p:to>
                                        <p:strVal val="visible"/>
                                      </p:to>
                                    </p:set>
                                    <p:animEffect filter="fade" transition="in">
                                      <p:cBhvr>
                                        <p:cTn dur="1000"/>
                                        <p:tgtEl>
                                          <p:spTgt spid="15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0"/>
                                        </p:tgtEl>
                                        <p:attrNameLst>
                                          <p:attrName>style.visibility</p:attrName>
                                        </p:attrNameLst>
                                      </p:cBhvr>
                                      <p:to>
                                        <p:strVal val="visible"/>
                                      </p:to>
                                    </p:set>
                                    <p:animEffect filter="fade" transition="in">
                                      <p:cBhvr>
                                        <p:cTn dur="1000"/>
                                        <p:tgtEl>
                                          <p:spTgt spid="158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68"/>
                                        </p:tgtEl>
                                        <p:attrNameLst>
                                          <p:attrName>style.visibility</p:attrName>
                                        </p:attrNameLst>
                                      </p:cBhvr>
                                      <p:to>
                                        <p:strVal val="visible"/>
                                      </p:to>
                                    </p:set>
                                    <p:animEffect filter="fade" transition="in">
                                      <p:cBhvr>
                                        <p:cTn dur="1000"/>
                                        <p:tgtEl>
                                          <p:spTgt spid="15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1"/>
                                        </p:tgtEl>
                                        <p:attrNameLst>
                                          <p:attrName>style.visibility</p:attrName>
                                        </p:attrNameLst>
                                      </p:cBhvr>
                                      <p:to>
                                        <p:strVal val="visible"/>
                                      </p:to>
                                    </p:set>
                                    <p:animEffect filter="fade" transition="in">
                                      <p:cBhvr>
                                        <p:cTn dur="1000"/>
                                        <p:tgtEl>
                                          <p:spTgt spid="158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2"/>
                                        </p:tgtEl>
                                        <p:attrNameLst>
                                          <p:attrName>style.visibility</p:attrName>
                                        </p:attrNameLst>
                                      </p:cBhvr>
                                      <p:to>
                                        <p:strVal val="visible"/>
                                      </p:to>
                                    </p:set>
                                    <p:animEffect filter="fade" transition="in">
                                      <p:cBhvr>
                                        <p:cTn dur="1000"/>
                                        <p:tgtEl>
                                          <p:spTgt spid="15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572"/>
                                        </p:tgtEl>
                                        <p:attrNameLst>
                                          <p:attrName>style.visibility</p:attrName>
                                        </p:attrNameLst>
                                      </p:cBhvr>
                                      <p:to>
                                        <p:strVal val="visible"/>
                                      </p:to>
                                    </p:set>
                                    <p:animEffect filter="fade" transition="in">
                                      <p:cBhvr>
                                        <p:cTn dur="1000"/>
                                        <p:tgtEl>
                                          <p:spTgt spid="157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83"/>
                                        </p:tgtEl>
                                        <p:attrNameLst>
                                          <p:attrName>style.visibility</p:attrName>
                                        </p:attrNameLst>
                                      </p:cBhvr>
                                      <p:to>
                                        <p:strVal val="visible"/>
                                      </p:to>
                                    </p:set>
                                    <p:animEffect filter="fade" transition="in">
                                      <p:cBhvr>
                                        <p:cTn dur="1000"/>
                                        <p:tgtEl>
                                          <p:spTgt spid="15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7" name="Shape 1587"/>
        <p:cNvGrpSpPr/>
        <p:nvPr/>
      </p:nvGrpSpPr>
      <p:grpSpPr>
        <a:xfrm>
          <a:off x="0" y="0"/>
          <a:ext cx="0" cy="0"/>
          <a:chOff x="0" y="0"/>
          <a:chExt cx="0" cy="0"/>
        </a:xfrm>
      </p:grpSpPr>
      <p:sp>
        <p:nvSpPr>
          <p:cNvPr id="1588" name="Google Shape;1588;p6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Constructing a Path</a:t>
            </a:r>
            <a:endParaRPr/>
          </a:p>
        </p:txBody>
      </p:sp>
      <p:sp>
        <p:nvSpPr>
          <p:cNvPr id="1589" name="Google Shape;1589;p69"/>
          <p:cNvSpPr txBox="1"/>
          <p:nvPr>
            <p:ph idx="4294967295" type="body"/>
          </p:nvPr>
        </p:nvSpPr>
        <p:spPr>
          <a:xfrm>
            <a:off x="125500" y="1368875"/>
            <a:ext cx="4749300" cy="37434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So now that we've filled a map with each </a:t>
            </a:r>
            <a:r>
              <a:rPr b="1" i="1" lang="en">
                <a:solidFill>
                  <a:srgbClr val="FF0000"/>
                </a:solidFill>
              </a:rPr>
              <a:t>vertex and its predecessor</a:t>
            </a:r>
            <a:r>
              <a:rPr lang="en">
                <a:solidFill>
                  <a:srgbClr val="FF0000"/>
                </a:solidFill>
              </a:rPr>
              <a:t> </a:t>
            </a:r>
            <a:r>
              <a:rPr lang="en"/>
              <a:t>along the path, how do we know exactly which vertices actually form the path between</a:t>
            </a:r>
            <a:r>
              <a:rPr lang="en">
                <a:solidFill>
                  <a:srgbClr val="FF0000"/>
                </a:solidFill>
              </a:rPr>
              <a:t> </a:t>
            </a:r>
            <a:r>
              <a:rPr b="1" i="1" lang="en">
                <a:solidFill>
                  <a:srgbClr val="FF0000"/>
                </a:solidFill>
              </a:rPr>
              <a:t>F and B</a:t>
            </a:r>
            <a:r>
              <a:rPr lang="en"/>
              <a:t>?</a:t>
            </a:r>
            <a:endParaRPr/>
          </a:p>
          <a:p>
            <a:pPr indent="-311150" lvl="0" marL="457200" rtl="0" algn="l">
              <a:lnSpc>
                <a:spcPct val="115000"/>
              </a:lnSpc>
              <a:spcBef>
                <a:spcPts val="1000"/>
              </a:spcBef>
              <a:spcAft>
                <a:spcPts val="0"/>
              </a:spcAft>
              <a:buSzPts val="1300"/>
              <a:buChar char="●"/>
            </a:pPr>
            <a:r>
              <a:rPr lang="en"/>
              <a:t>Using the map, we start at the </a:t>
            </a:r>
            <a:r>
              <a:rPr b="1" i="1" lang="en">
                <a:solidFill>
                  <a:srgbClr val="FF0000"/>
                </a:solidFill>
              </a:rPr>
              <a:t>end</a:t>
            </a:r>
            <a:r>
              <a:rPr lang="en">
                <a:solidFill>
                  <a:srgbClr val="FF0000"/>
                </a:solidFill>
              </a:rPr>
              <a:t> </a:t>
            </a:r>
            <a:r>
              <a:rPr lang="en"/>
              <a:t>of the path (</a:t>
            </a:r>
            <a:r>
              <a:rPr b="1" i="1" lang="en">
                <a:solidFill>
                  <a:srgbClr val="FF0000"/>
                </a:solidFill>
              </a:rPr>
              <a:t>B</a:t>
            </a:r>
            <a:r>
              <a:rPr lang="en"/>
              <a:t>) and work our way </a:t>
            </a:r>
            <a:r>
              <a:rPr b="1" i="1" lang="en">
                <a:solidFill>
                  <a:srgbClr val="FF0000"/>
                </a:solidFill>
              </a:rPr>
              <a:t>backwards</a:t>
            </a:r>
            <a:r>
              <a:rPr lang="en">
                <a:solidFill>
                  <a:srgbClr val="FF0000"/>
                </a:solidFill>
              </a:rPr>
              <a:t> </a:t>
            </a:r>
            <a:r>
              <a:rPr lang="en"/>
              <a:t>to the beginning (</a:t>
            </a:r>
            <a:r>
              <a:rPr b="1" i="1" lang="en">
                <a:solidFill>
                  <a:srgbClr val="FF0000"/>
                </a:solidFill>
              </a:rPr>
              <a:t>F</a:t>
            </a:r>
            <a:r>
              <a:rPr lang="en"/>
              <a:t>).</a:t>
            </a:r>
            <a:endParaRPr/>
          </a:p>
          <a:p>
            <a:pPr indent="-298450" lvl="1" marL="914400" rtl="0" algn="l">
              <a:lnSpc>
                <a:spcPct val="115000"/>
              </a:lnSpc>
              <a:spcBef>
                <a:spcPts val="0"/>
              </a:spcBef>
              <a:spcAft>
                <a:spcPts val="0"/>
              </a:spcAft>
              <a:buSzPts val="1100"/>
              <a:buChar char="○"/>
            </a:pPr>
            <a:r>
              <a:rPr lang="en"/>
              <a:t>We use each </a:t>
            </a:r>
            <a:r>
              <a:rPr b="1" i="1" lang="en">
                <a:solidFill>
                  <a:srgbClr val="FF0000"/>
                </a:solidFill>
              </a:rPr>
              <a:t>vertex</a:t>
            </a:r>
            <a:r>
              <a:rPr lang="en">
                <a:solidFill>
                  <a:srgbClr val="FF0000"/>
                </a:solidFill>
              </a:rPr>
              <a:t> </a:t>
            </a:r>
            <a:r>
              <a:rPr lang="en"/>
              <a:t>along the path to look up its </a:t>
            </a:r>
            <a:r>
              <a:rPr b="1" i="1" lang="en">
                <a:solidFill>
                  <a:srgbClr val="FF0000"/>
                </a:solidFill>
              </a:rPr>
              <a:t>predecessor</a:t>
            </a:r>
            <a:r>
              <a:rPr lang="en"/>
              <a:t>.</a:t>
            </a:r>
            <a:endParaRPr/>
          </a:p>
          <a:p>
            <a:pPr indent="-298450" lvl="1" marL="914400" rtl="0" algn="l">
              <a:lnSpc>
                <a:spcPct val="115000"/>
              </a:lnSpc>
              <a:spcBef>
                <a:spcPts val="0"/>
              </a:spcBef>
              <a:spcAft>
                <a:spcPts val="0"/>
              </a:spcAft>
              <a:buSzPts val="1100"/>
              <a:buChar char="○"/>
            </a:pPr>
            <a:r>
              <a:rPr lang="en"/>
              <a:t>Each time we retrieve a vertex from the map, we insert it at the </a:t>
            </a:r>
            <a:r>
              <a:rPr b="1" i="1" lang="en">
                <a:solidFill>
                  <a:srgbClr val="FF0000"/>
                </a:solidFill>
              </a:rPr>
              <a:t>front</a:t>
            </a:r>
            <a:r>
              <a:rPr lang="en">
                <a:solidFill>
                  <a:srgbClr val="FF0000"/>
                </a:solidFill>
              </a:rPr>
              <a:t> </a:t>
            </a:r>
            <a:r>
              <a:rPr lang="en"/>
              <a:t>of the path.</a:t>
            </a:r>
            <a:endParaRPr/>
          </a:p>
          <a:p>
            <a:pPr indent="-298450" lvl="1" marL="914400" rtl="0" algn="l">
              <a:lnSpc>
                <a:spcPct val="115000"/>
              </a:lnSpc>
              <a:spcBef>
                <a:spcPts val="0"/>
              </a:spcBef>
              <a:spcAft>
                <a:spcPts val="0"/>
              </a:spcAft>
              <a:buSzPts val="1100"/>
              <a:buChar char="○"/>
            </a:pPr>
            <a:r>
              <a:rPr lang="en"/>
              <a:t>We continue until the predecessor is </a:t>
            </a:r>
            <a:r>
              <a:rPr lang="en">
                <a:solidFill>
                  <a:srgbClr val="FF0000"/>
                </a:solidFill>
                <a:latin typeface="Courier New"/>
                <a:ea typeface="Courier New"/>
                <a:cs typeface="Courier New"/>
                <a:sym typeface="Courier New"/>
              </a:rPr>
              <a:t>null</a:t>
            </a:r>
            <a:r>
              <a:rPr lang="en"/>
              <a:t>.</a:t>
            </a:r>
            <a:endParaRPr/>
          </a:p>
          <a:p>
            <a:pPr indent="-311150" lvl="0" marL="457200" rtl="0" algn="l">
              <a:lnSpc>
                <a:spcPct val="115000"/>
              </a:lnSpc>
              <a:spcBef>
                <a:spcPts val="1000"/>
              </a:spcBef>
              <a:spcAft>
                <a:spcPts val="0"/>
              </a:spcAft>
              <a:buSzPts val="1300"/>
              <a:buChar char="●"/>
            </a:pPr>
            <a:r>
              <a:rPr lang="en"/>
              <a:t>What data structure provides the features we need the most efficiently?</a:t>
            </a:r>
            <a:endParaRPr/>
          </a:p>
          <a:p>
            <a:pPr indent="-298450" lvl="1" marL="914400" rtl="0" algn="l">
              <a:lnSpc>
                <a:spcPct val="115000"/>
              </a:lnSpc>
              <a:spcBef>
                <a:spcPts val="0"/>
              </a:spcBef>
              <a:spcAft>
                <a:spcPts val="0"/>
              </a:spcAft>
              <a:buSzPts val="1100"/>
              <a:buChar char="○"/>
            </a:pPr>
            <a:r>
              <a:rPr lang="en"/>
              <a:t>It needs to be </a:t>
            </a:r>
            <a:r>
              <a:rPr b="1" i="1" lang="en">
                <a:solidFill>
                  <a:srgbClr val="FF0000"/>
                </a:solidFill>
              </a:rPr>
              <a:t>iterable </a:t>
            </a:r>
            <a:r>
              <a:rPr lang="en"/>
              <a:t>and/or offer </a:t>
            </a:r>
            <a:r>
              <a:rPr b="1" i="1" lang="en">
                <a:solidFill>
                  <a:srgbClr val="FF0000"/>
                </a:solidFill>
              </a:rPr>
              <a:t>access by index</a:t>
            </a:r>
            <a:r>
              <a:rPr lang="en"/>
              <a:t>.</a:t>
            </a:r>
            <a:endParaRPr/>
          </a:p>
          <a:p>
            <a:pPr indent="-298450" lvl="1" marL="914400" rtl="0" algn="l">
              <a:lnSpc>
                <a:spcPct val="115000"/>
              </a:lnSpc>
              <a:spcBef>
                <a:spcPts val="0"/>
              </a:spcBef>
              <a:spcAft>
                <a:spcPts val="0"/>
              </a:spcAft>
              <a:buSzPts val="1100"/>
              <a:buChar char="○"/>
            </a:pPr>
            <a:r>
              <a:rPr lang="en"/>
              <a:t>Insert at the </a:t>
            </a:r>
            <a:r>
              <a:rPr b="1" i="1" lang="en">
                <a:solidFill>
                  <a:srgbClr val="FF0000"/>
                </a:solidFill>
              </a:rPr>
              <a:t>front </a:t>
            </a:r>
            <a:r>
              <a:rPr lang="en"/>
              <a:t>needs to be efficient.</a:t>
            </a:r>
            <a:endParaRPr/>
          </a:p>
          <a:p>
            <a:pPr indent="-311150" lvl="0" marL="457200" rtl="0" algn="l">
              <a:lnSpc>
                <a:spcPct val="115000"/>
              </a:lnSpc>
              <a:spcBef>
                <a:spcPts val="1000"/>
              </a:spcBef>
              <a:spcAft>
                <a:spcPts val="0"/>
              </a:spcAft>
              <a:buSzPts val="1300"/>
              <a:buChar char="●"/>
            </a:pPr>
            <a:r>
              <a:rPr lang="en"/>
              <a:t>How about a </a:t>
            </a:r>
            <a:r>
              <a:rPr lang="en">
                <a:solidFill>
                  <a:srgbClr val="FF0000"/>
                </a:solidFill>
                <a:latin typeface="Courier New"/>
                <a:ea typeface="Courier New"/>
                <a:cs typeface="Courier New"/>
                <a:sym typeface="Courier New"/>
              </a:rPr>
              <a:t>LinkedList</a:t>
            </a:r>
            <a:r>
              <a:rPr lang="en"/>
              <a:t>?</a:t>
            </a:r>
            <a:endParaRPr/>
          </a:p>
        </p:txBody>
      </p:sp>
      <p:sp>
        <p:nvSpPr>
          <p:cNvPr id="1590" name="Google Shape;1590;p6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1591" name="Google Shape;1591;p69"/>
          <p:cNvGraphicFramePr/>
          <p:nvPr/>
        </p:nvGraphicFramePr>
        <p:xfrm>
          <a:off x="5768325" y="1486801"/>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t/>
                      </a:r>
                      <a:endParaRPr sz="1000" u="none" cap="none" strike="noStrike">
                        <a:solidFill>
                          <a:srgbClr val="4A86E8"/>
                        </a:solidFill>
                        <a:latin typeface="Shadows Into Light"/>
                        <a:ea typeface="Shadows Into Light"/>
                        <a:cs typeface="Shadows Into Light"/>
                        <a:sym typeface="Shadows Into Light"/>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592" name="Google Shape;1592;p69"/>
          <p:cNvGraphicFramePr/>
          <p:nvPr/>
        </p:nvGraphicFramePr>
        <p:xfrm>
          <a:off x="4959917" y="4166197"/>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1593" name="Google Shape;1593;p69"/>
          <p:cNvGrpSpPr/>
          <p:nvPr/>
        </p:nvGrpSpPr>
        <p:grpSpPr>
          <a:xfrm>
            <a:off x="6147235" y="1803447"/>
            <a:ext cx="1995967" cy="393613"/>
            <a:chOff x="5544057" y="2413047"/>
            <a:chExt cx="1995967" cy="393613"/>
          </a:xfrm>
        </p:grpSpPr>
        <p:sp>
          <p:nvSpPr>
            <p:cNvPr id="1594" name="Google Shape;1594;p69"/>
            <p:cNvSpPr txBox="1"/>
            <p:nvPr/>
          </p:nvSpPr>
          <p:spPr>
            <a:xfrm>
              <a:off x="5544057" y="241306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595" name="Google Shape;1595;p69"/>
            <p:cNvSpPr txBox="1"/>
            <p:nvPr/>
          </p:nvSpPr>
          <p:spPr>
            <a:xfrm>
              <a:off x="6349324" y="2413047"/>
              <a:ext cx="11907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596" name="Google Shape;1596;p69"/>
          <p:cNvGrpSpPr/>
          <p:nvPr/>
        </p:nvGrpSpPr>
        <p:grpSpPr>
          <a:xfrm>
            <a:off x="6147235" y="2121103"/>
            <a:ext cx="1566414" cy="742493"/>
            <a:chOff x="5544057" y="2730703"/>
            <a:chExt cx="1566414" cy="742493"/>
          </a:xfrm>
        </p:grpSpPr>
        <p:sp>
          <p:nvSpPr>
            <p:cNvPr id="1597" name="Google Shape;1597;p69"/>
            <p:cNvSpPr txBox="1"/>
            <p:nvPr/>
          </p:nvSpPr>
          <p:spPr>
            <a:xfrm>
              <a:off x="5544057" y="274996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598" name="Google Shape;1598;p69"/>
            <p:cNvSpPr txBox="1"/>
            <p:nvPr/>
          </p:nvSpPr>
          <p:spPr>
            <a:xfrm>
              <a:off x="5544057" y="30795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599" name="Google Shape;1599;p69"/>
            <p:cNvSpPr txBox="1"/>
            <p:nvPr/>
          </p:nvSpPr>
          <p:spPr>
            <a:xfrm>
              <a:off x="6737571" y="273070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600" name="Google Shape;1600;p69"/>
            <p:cNvSpPr txBox="1"/>
            <p:nvPr/>
          </p:nvSpPr>
          <p:spPr>
            <a:xfrm>
              <a:off x="6737571" y="30795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601" name="Google Shape;1601;p69"/>
          <p:cNvGrpSpPr/>
          <p:nvPr/>
        </p:nvGrpSpPr>
        <p:grpSpPr>
          <a:xfrm>
            <a:off x="6147235" y="2794060"/>
            <a:ext cx="1566414" cy="406443"/>
            <a:chOff x="5544057" y="3403660"/>
            <a:chExt cx="1566414" cy="406443"/>
          </a:xfrm>
        </p:grpSpPr>
        <p:sp>
          <p:nvSpPr>
            <p:cNvPr id="1602" name="Google Shape;1602;p69"/>
            <p:cNvSpPr txBox="1"/>
            <p:nvPr/>
          </p:nvSpPr>
          <p:spPr>
            <a:xfrm>
              <a:off x="5544057" y="340366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603" name="Google Shape;1603;p69"/>
            <p:cNvSpPr txBox="1"/>
            <p:nvPr/>
          </p:nvSpPr>
          <p:spPr>
            <a:xfrm>
              <a:off x="6737571" y="341650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604" name="Google Shape;1604;p69"/>
          <p:cNvGrpSpPr/>
          <p:nvPr/>
        </p:nvGrpSpPr>
        <p:grpSpPr>
          <a:xfrm>
            <a:off x="6147235" y="3130967"/>
            <a:ext cx="1566414" cy="736072"/>
            <a:chOff x="5544057" y="3740567"/>
            <a:chExt cx="1566414" cy="736072"/>
          </a:xfrm>
        </p:grpSpPr>
        <p:sp>
          <p:nvSpPr>
            <p:cNvPr id="1605" name="Google Shape;1605;p69"/>
            <p:cNvSpPr txBox="1"/>
            <p:nvPr/>
          </p:nvSpPr>
          <p:spPr>
            <a:xfrm>
              <a:off x="5544057" y="374056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606" name="Google Shape;1606;p69"/>
            <p:cNvSpPr txBox="1"/>
            <p:nvPr/>
          </p:nvSpPr>
          <p:spPr>
            <a:xfrm>
              <a:off x="5544057" y="4070196"/>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sp>
          <p:nvSpPr>
            <p:cNvPr id="1607" name="Google Shape;1607;p69"/>
            <p:cNvSpPr txBox="1"/>
            <p:nvPr/>
          </p:nvSpPr>
          <p:spPr>
            <a:xfrm>
              <a:off x="6737571" y="375255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608" name="Google Shape;1608;p69"/>
            <p:cNvSpPr txBox="1"/>
            <p:nvPr/>
          </p:nvSpPr>
          <p:spPr>
            <a:xfrm>
              <a:off x="6737571" y="408303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609" name="Google Shape;1609;p69"/>
          <p:cNvGrpSpPr/>
          <p:nvPr/>
        </p:nvGrpSpPr>
        <p:grpSpPr>
          <a:xfrm>
            <a:off x="4950853" y="3036445"/>
            <a:ext cx="2239475" cy="1524645"/>
            <a:chOff x="5331853" y="2884045"/>
            <a:chExt cx="2239475" cy="1524645"/>
          </a:xfrm>
        </p:grpSpPr>
        <p:sp>
          <p:nvSpPr>
            <p:cNvPr id="1610" name="Google Shape;1610;p69"/>
            <p:cNvSpPr txBox="1"/>
            <p:nvPr/>
          </p:nvSpPr>
          <p:spPr>
            <a:xfrm>
              <a:off x="7198428" y="40150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611" name="Google Shape;1611;p69"/>
            <p:cNvGrpSpPr/>
            <p:nvPr/>
          </p:nvGrpSpPr>
          <p:grpSpPr>
            <a:xfrm>
              <a:off x="5331853" y="2884045"/>
              <a:ext cx="1247097" cy="557400"/>
              <a:chOff x="5331853" y="2884045"/>
              <a:chExt cx="1247097" cy="557400"/>
            </a:xfrm>
          </p:grpSpPr>
          <p:sp>
            <p:nvSpPr>
              <p:cNvPr id="1612" name="Google Shape;1612;p69"/>
              <p:cNvSpPr/>
              <p:nvPr/>
            </p:nvSpPr>
            <p:spPr>
              <a:xfrm>
                <a:off x="5879025" y="3091947"/>
                <a:ext cx="699925" cy="93300"/>
              </a:xfrm>
              <a:custGeom>
                <a:rect b="b" l="l" r="r" t="t"/>
                <a:pathLst>
                  <a:path extrusionOk="0" h="3732" w="27997">
                    <a:moveTo>
                      <a:pt x="0" y="907"/>
                    </a:moveTo>
                    <a:cubicBezTo>
                      <a:pt x="1712" y="779"/>
                      <a:pt x="5608" y="-335"/>
                      <a:pt x="10274" y="136"/>
                    </a:cubicBezTo>
                    <a:cubicBezTo>
                      <a:pt x="14940" y="607"/>
                      <a:pt x="25043" y="3133"/>
                      <a:pt x="27997" y="3732"/>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13" name="Google Shape;1613;p69"/>
              <p:cNvSpPr txBox="1"/>
              <p:nvPr/>
            </p:nvSpPr>
            <p:spPr>
              <a:xfrm rot="-1181307">
                <a:off x="5371882" y="2986199"/>
                <a:ext cx="667843" cy="35309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START HERE</a:t>
                </a:r>
                <a:endParaRPr b="0" i="0" sz="1400" u="none" cap="none" strike="noStrike">
                  <a:solidFill>
                    <a:srgbClr val="FF0000"/>
                  </a:solidFill>
                  <a:latin typeface="Shadows Into Light"/>
                  <a:ea typeface="Shadows Into Light"/>
                  <a:cs typeface="Shadows Into Light"/>
                  <a:sym typeface="Shadows Into Light"/>
                </a:endParaRPr>
              </a:p>
            </p:txBody>
          </p:sp>
        </p:grpSp>
      </p:grpSp>
      <p:grpSp>
        <p:nvGrpSpPr>
          <p:cNvPr id="1614" name="Google Shape;1614;p69"/>
          <p:cNvGrpSpPr/>
          <p:nvPr/>
        </p:nvGrpSpPr>
        <p:grpSpPr>
          <a:xfrm>
            <a:off x="7796025" y="1516156"/>
            <a:ext cx="1163761" cy="541500"/>
            <a:chOff x="5008732" y="1376599"/>
            <a:chExt cx="1163761" cy="541500"/>
          </a:xfrm>
        </p:grpSpPr>
        <p:sp>
          <p:nvSpPr>
            <p:cNvPr id="1615" name="Google Shape;1615;p69"/>
            <p:cNvSpPr txBox="1"/>
            <p:nvPr/>
          </p:nvSpPr>
          <p:spPr>
            <a:xfrm rot="1075329">
              <a:off x="5466590" y="1470792"/>
              <a:ext cx="667805" cy="35311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STOP HERE</a:t>
              </a:r>
              <a:endParaRPr b="0" i="0" sz="1400" u="none" cap="none" strike="noStrike">
                <a:solidFill>
                  <a:srgbClr val="FF0000"/>
                </a:solidFill>
                <a:latin typeface="Shadows Into Light"/>
                <a:ea typeface="Shadows Into Light"/>
                <a:cs typeface="Shadows Into Light"/>
                <a:sym typeface="Shadows Into Light"/>
              </a:endParaRPr>
            </a:p>
          </p:txBody>
        </p:sp>
        <p:sp>
          <p:nvSpPr>
            <p:cNvPr id="1616" name="Google Shape;1616;p69"/>
            <p:cNvSpPr/>
            <p:nvPr/>
          </p:nvSpPr>
          <p:spPr>
            <a:xfrm>
              <a:off x="5008732" y="1573496"/>
              <a:ext cx="584325" cy="314646"/>
            </a:xfrm>
            <a:custGeom>
              <a:rect b="b" l="l" r="r" t="t"/>
              <a:pathLst>
                <a:path extrusionOk="0" h="22347" w="23373">
                  <a:moveTo>
                    <a:pt x="23373" y="0"/>
                  </a:moveTo>
                  <a:cubicBezTo>
                    <a:pt x="21575" y="1199"/>
                    <a:pt x="16482" y="3468"/>
                    <a:pt x="12586" y="7192"/>
                  </a:cubicBezTo>
                  <a:cubicBezTo>
                    <a:pt x="8691" y="10917"/>
                    <a:pt x="2098" y="19821"/>
                    <a:pt x="0" y="22347"/>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617" name="Google Shape;1617;p69"/>
          <p:cNvCxnSpPr/>
          <p:nvPr/>
        </p:nvCxnSpPr>
        <p:spPr>
          <a:xfrm>
            <a:off x="6507293" y="3341465"/>
            <a:ext cx="833400" cy="0"/>
          </a:xfrm>
          <a:prstGeom prst="straightConnector1">
            <a:avLst/>
          </a:prstGeom>
          <a:noFill/>
          <a:ln cap="flat" cmpd="sng" w="19050">
            <a:solidFill>
              <a:srgbClr val="FF0000"/>
            </a:solidFill>
            <a:prstDash val="solid"/>
            <a:round/>
            <a:headEnd len="sm" w="sm" type="none"/>
            <a:tailEnd len="med" w="med" type="triangle"/>
          </a:ln>
        </p:spPr>
      </p:cxnSp>
      <p:sp>
        <p:nvSpPr>
          <p:cNvPr id="1618" name="Google Shape;1618;p69"/>
          <p:cNvSpPr txBox="1"/>
          <p:nvPr/>
        </p:nvSpPr>
        <p:spPr>
          <a:xfrm>
            <a:off x="6423585" y="41674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619" name="Google Shape;1619;p69"/>
          <p:cNvSpPr txBox="1"/>
          <p:nvPr/>
        </p:nvSpPr>
        <p:spPr>
          <a:xfrm>
            <a:off x="6023321" y="41674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620" name="Google Shape;1620;p69"/>
          <p:cNvSpPr txBox="1"/>
          <p:nvPr/>
        </p:nvSpPr>
        <p:spPr>
          <a:xfrm>
            <a:off x="5623057" y="41674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cxnSp>
        <p:nvCxnSpPr>
          <p:cNvPr id="1621" name="Google Shape;1621;p69"/>
          <p:cNvCxnSpPr/>
          <p:nvPr/>
        </p:nvCxnSpPr>
        <p:spPr>
          <a:xfrm>
            <a:off x="6507293" y="3010980"/>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622" name="Google Shape;1622;p69"/>
          <p:cNvCxnSpPr/>
          <p:nvPr/>
        </p:nvCxnSpPr>
        <p:spPr>
          <a:xfrm>
            <a:off x="6507293" y="2325180"/>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623" name="Google Shape;1623;p69"/>
          <p:cNvCxnSpPr/>
          <p:nvPr/>
        </p:nvCxnSpPr>
        <p:spPr>
          <a:xfrm>
            <a:off x="6507293" y="1969865"/>
            <a:ext cx="833400" cy="0"/>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09"/>
                                        </p:tgtEl>
                                        <p:attrNameLst>
                                          <p:attrName>style.visibility</p:attrName>
                                        </p:attrNameLst>
                                      </p:cBhvr>
                                      <p:to>
                                        <p:strVal val="visible"/>
                                      </p:to>
                                    </p:set>
                                    <p:animEffect filter="fade" transition="in">
                                      <p:cBhvr>
                                        <p:cTn dur="1000"/>
                                        <p:tgtEl>
                                          <p:spTgt spid="16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17"/>
                                        </p:tgtEl>
                                        <p:attrNameLst>
                                          <p:attrName>style.visibility</p:attrName>
                                        </p:attrNameLst>
                                      </p:cBhvr>
                                      <p:to>
                                        <p:strVal val="visible"/>
                                      </p:to>
                                    </p:set>
                                    <p:animEffect filter="fade" transition="in">
                                      <p:cBhvr>
                                        <p:cTn dur="1000"/>
                                        <p:tgtEl>
                                          <p:spTgt spid="16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8"/>
                                        </p:tgtEl>
                                        <p:attrNameLst>
                                          <p:attrName>style.visibility</p:attrName>
                                        </p:attrNameLst>
                                      </p:cBhvr>
                                      <p:to>
                                        <p:strVal val="visible"/>
                                      </p:to>
                                    </p:set>
                                    <p:animEffect filter="fade" transition="in">
                                      <p:cBhvr>
                                        <p:cTn dur="1000"/>
                                        <p:tgtEl>
                                          <p:spTgt spid="16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1"/>
                                        </p:tgtEl>
                                        <p:attrNameLst>
                                          <p:attrName>style.visibility</p:attrName>
                                        </p:attrNameLst>
                                      </p:cBhvr>
                                      <p:to>
                                        <p:strVal val="visible"/>
                                      </p:to>
                                    </p:set>
                                    <p:animEffect filter="fade" transition="in">
                                      <p:cBhvr>
                                        <p:cTn dur="1000"/>
                                        <p:tgtEl>
                                          <p:spTgt spid="16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9"/>
                                        </p:tgtEl>
                                        <p:attrNameLst>
                                          <p:attrName>style.visibility</p:attrName>
                                        </p:attrNameLst>
                                      </p:cBhvr>
                                      <p:to>
                                        <p:strVal val="visible"/>
                                      </p:to>
                                    </p:set>
                                    <p:animEffect filter="fade" transition="in">
                                      <p:cBhvr>
                                        <p:cTn dur="1000"/>
                                        <p:tgtEl>
                                          <p:spTgt spid="16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2"/>
                                        </p:tgtEl>
                                        <p:attrNameLst>
                                          <p:attrName>style.visibility</p:attrName>
                                        </p:attrNameLst>
                                      </p:cBhvr>
                                      <p:to>
                                        <p:strVal val="visible"/>
                                      </p:to>
                                    </p:set>
                                    <p:animEffect filter="fade" transition="in">
                                      <p:cBhvr>
                                        <p:cTn dur="1000"/>
                                        <p:tgtEl>
                                          <p:spTgt spid="16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20"/>
                                        </p:tgtEl>
                                        <p:attrNameLst>
                                          <p:attrName>style.visibility</p:attrName>
                                        </p:attrNameLst>
                                      </p:cBhvr>
                                      <p:to>
                                        <p:strVal val="visible"/>
                                      </p:to>
                                    </p:set>
                                    <p:animEffect filter="fade" transition="in">
                                      <p:cBhvr>
                                        <p:cTn dur="1000"/>
                                        <p:tgtEl>
                                          <p:spTgt spid="1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23"/>
                                        </p:tgtEl>
                                        <p:attrNameLst>
                                          <p:attrName>style.visibility</p:attrName>
                                        </p:attrNameLst>
                                      </p:cBhvr>
                                      <p:to>
                                        <p:strVal val="visible"/>
                                      </p:to>
                                    </p:set>
                                    <p:animEffect filter="fade" transition="in">
                                      <p:cBhvr>
                                        <p:cTn dur="1000"/>
                                        <p:tgtEl>
                                          <p:spTgt spid="162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14"/>
                                        </p:tgtEl>
                                        <p:attrNameLst>
                                          <p:attrName>style.visibility</p:attrName>
                                        </p:attrNameLst>
                                      </p:cBhvr>
                                      <p:to>
                                        <p:strVal val="visible"/>
                                      </p:to>
                                    </p:set>
                                    <p:animEffect filter="fade" transition="in">
                                      <p:cBhvr>
                                        <p:cTn dur="1000"/>
                                        <p:tgtEl>
                                          <p:spTgt spid="16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7" name="Shape 1627"/>
        <p:cNvGrpSpPr/>
        <p:nvPr/>
      </p:nvGrpSpPr>
      <p:grpSpPr>
        <a:xfrm>
          <a:off x="0" y="0"/>
          <a:ext cx="0" cy="0"/>
          <a:chOff x="0" y="0"/>
          <a:chExt cx="0" cy="0"/>
        </a:xfrm>
      </p:grpSpPr>
      <p:sp>
        <p:nvSpPr>
          <p:cNvPr id="1628" name="Google Shape;1628;p7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29" name="Google Shape;1629;p70"/>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14</a:t>
            </a:r>
            <a:endParaRPr/>
          </a:p>
        </p:txBody>
      </p:sp>
      <p:graphicFrame>
        <p:nvGraphicFramePr>
          <p:cNvPr id="1630" name="Google Shape;1630;p70"/>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631" name="Google Shape;1631;p70"/>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632" name="Google Shape;1632;p70"/>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633" name="Google Shape;1633;p70"/>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634" name="Google Shape;1634;p70"/>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Path</a:t>
            </a:r>
            <a:endParaRPr/>
          </a:p>
        </p:txBody>
      </p:sp>
      <p:sp>
        <p:nvSpPr>
          <p:cNvPr id="1635" name="Google Shape;1635;p70"/>
          <p:cNvSpPr txBox="1"/>
          <p:nvPr>
            <p:ph idx="1" type="body"/>
          </p:nvPr>
        </p:nvSpPr>
        <p:spPr>
          <a:xfrm>
            <a:off x="65250" y="6554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600"/>
              <a:buNone/>
            </a:pPr>
            <a:r>
              <a:rPr i="1" lang="en"/>
              <a:t>Building </a:t>
            </a:r>
            <a:r>
              <a:rPr lang="en"/>
              <a:t>a path using BFS is a little more complicated than simply </a:t>
            </a:r>
            <a:r>
              <a:rPr i="1" lang="en"/>
              <a:t>finding</a:t>
            </a:r>
            <a:r>
              <a:rPr lang="en"/>
              <a:t> one. Once again, it can be a useful activity to run through the </a:t>
            </a:r>
            <a:r>
              <a:rPr lang="en"/>
              <a:t>steps "on paper" before trying to implement the algorithm Try it now using the searches below. Don't forget to visit neighbors in </a:t>
            </a:r>
            <a:r>
              <a:rPr b="1" i="1" lang="en" u="sng">
                <a:solidFill>
                  <a:srgbClr val="FF0000"/>
                </a:solidFill>
              </a:rPr>
              <a:t>alphabetical order</a:t>
            </a:r>
            <a:r>
              <a:rPr lang="en"/>
              <a:t>.</a:t>
            </a:r>
            <a:endParaRPr/>
          </a:p>
        </p:txBody>
      </p:sp>
      <p:grpSp>
        <p:nvGrpSpPr>
          <p:cNvPr id="1636" name="Google Shape;1636;p70"/>
          <p:cNvGrpSpPr/>
          <p:nvPr/>
        </p:nvGrpSpPr>
        <p:grpSpPr>
          <a:xfrm>
            <a:off x="185541" y="1658206"/>
            <a:ext cx="2160423" cy="2142938"/>
            <a:chOff x="5900277" y="743776"/>
            <a:chExt cx="2727118" cy="2705047"/>
          </a:xfrm>
        </p:grpSpPr>
        <p:sp>
          <p:nvSpPr>
            <p:cNvPr id="1637" name="Google Shape;1637;p70"/>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638" name="Google Shape;1638;p70"/>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639" name="Google Shape;1639;p70"/>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640" name="Google Shape;1640;p70"/>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641" name="Google Shape;1641;p70"/>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642" name="Google Shape;1642;p70"/>
            <p:cNvCxnSpPr>
              <a:stCxn id="1637" idx="6"/>
              <a:endCxn id="1638"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643" name="Google Shape;1643;p70"/>
            <p:cNvCxnSpPr>
              <a:stCxn id="1637" idx="4"/>
              <a:endCxn id="1639"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644" name="Google Shape;1644;p70"/>
            <p:cNvCxnSpPr>
              <a:stCxn id="1639" idx="5"/>
              <a:endCxn id="1640"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645" name="Google Shape;1645;p70"/>
            <p:cNvCxnSpPr>
              <a:stCxn id="1640" idx="5"/>
              <a:endCxn id="1641"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646" name="Google Shape;1646;p70"/>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647" name="Google Shape;1647;p70"/>
            <p:cNvCxnSpPr>
              <a:stCxn id="1640" idx="6"/>
              <a:endCxn id="1646"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graphicFrame>
        <p:nvGraphicFramePr>
          <p:cNvPr id="1648" name="Google Shape;1648;p70"/>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649" name="Google Shape;1649;p70"/>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3" name="Shape 1653"/>
        <p:cNvGrpSpPr/>
        <p:nvPr/>
      </p:nvGrpSpPr>
      <p:grpSpPr>
        <a:xfrm>
          <a:off x="0" y="0"/>
          <a:ext cx="0" cy="0"/>
          <a:chOff x="0" y="0"/>
          <a:chExt cx="0" cy="0"/>
        </a:xfrm>
      </p:grpSpPr>
      <p:sp>
        <p:nvSpPr>
          <p:cNvPr id="1654" name="Google Shape;1654;p7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655" name="Google Shape;1655;p71"/>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14</a:t>
            </a:r>
            <a:endParaRPr/>
          </a:p>
        </p:txBody>
      </p:sp>
      <p:graphicFrame>
        <p:nvGraphicFramePr>
          <p:cNvPr id="1656" name="Google Shape;1656;p71"/>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F to 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657" name="Google Shape;1657;p71"/>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658" name="Google Shape;1658;p71"/>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G to C</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659" name="Google Shape;1659;p71"/>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660" name="Google Shape;1660;p71"/>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Path</a:t>
            </a:r>
            <a:endParaRPr/>
          </a:p>
        </p:txBody>
      </p:sp>
      <p:sp>
        <p:nvSpPr>
          <p:cNvPr id="1661" name="Google Shape;1661;p71"/>
          <p:cNvSpPr txBox="1"/>
          <p:nvPr>
            <p:ph idx="1" type="body"/>
          </p:nvPr>
        </p:nvSpPr>
        <p:spPr>
          <a:xfrm>
            <a:off x="65250" y="6554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0"/>
              </a:spcAft>
              <a:buSzPts val="1600"/>
              <a:buNone/>
            </a:pPr>
            <a:r>
              <a:rPr i="1" lang="en"/>
              <a:t>Building </a:t>
            </a:r>
            <a:r>
              <a:rPr lang="en"/>
              <a:t>a path using BFS is a little more complicated than simply </a:t>
            </a:r>
            <a:r>
              <a:rPr i="1" lang="en"/>
              <a:t>finding</a:t>
            </a:r>
            <a:r>
              <a:rPr lang="en"/>
              <a:t> one. Once again, it can be a useful activity to run through the steps "on paper" before trying to implement the algorithm Try it now using the searches below. Don't forget to visit neighbors in </a:t>
            </a:r>
            <a:r>
              <a:rPr b="1" i="1" lang="en" u="sng"/>
              <a:t>alphabetical order</a:t>
            </a:r>
            <a:r>
              <a:rPr lang="en"/>
              <a:t>.</a:t>
            </a:r>
            <a:endParaRPr/>
          </a:p>
        </p:txBody>
      </p:sp>
      <p:grpSp>
        <p:nvGrpSpPr>
          <p:cNvPr id="1662" name="Google Shape;1662;p71"/>
          <p:cNvGrpSpPr/>
          <p:nvPr/>
        </p:nvGrpSpPr>
        <p:grpSpPr>
          <a:xfrm>
            <a:off x="185541" y="1658206"/>
            <a:ext cx="2160423" cy="2142938"/>
            <a:chOff x="5900277" y="743776"/>
            <a:chExt cx="2727118" cy="2705047"/>
          </a:xfrm>
        </p:grpSpPr>
        <p:sp>
          <p:nvSpPr>
            <p:cNvPr id="1663" name="Google Shape;1663;p71"/>
            <p:cNvSpPr/>
            <p:nvPr/>
          </p:nvSpPr>
          <p:spPr>
            <a:xfrm>
              <a:off x="6072743" y="743776"/>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664" name="Google Shape;1664;p71"/>
            <p:cNvSpPr/>
            <p:nvPr/>
          </p:nvSpPr>
          <p:spPr>
            <a:xfrm>
              <a:off x="7213995" y="106668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665" name="Google Shape;1665;p71"/>
            <p:cNvSpPr/>
            <p:nvPr/>
          </p:nvSpPr>
          <p:spPr>
            <a:xfrm>
              <a:off x="5900277" y="19409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666" name="Google Shape;1666;p71"/>
            <p:cNvSpPr/>
            <p:nvPr/>
          </p:nvSpPr>
          <p:spPr>
            <a:xfrm>
              <a:off x="7108281" y="2181542"/>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667" name="Google Shape;1667;p71"/>
            <p:cNvSpPr/>
            <p:nvPr/>
          </p:nvSpPr>
          <p:spPr>
            <a:xfrm>
              <a:off x="7936395" y="29268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cxnSp>
          <p:nvCxnSpPr>
            <p:cNvPr id="1668" name="Google Shape;1668;p71"/>
            <p:cNvCxnSpPr>
              <a:stCxn id="1663" idx="6"/>
              <a:endCxn id="1664" idx="1"/>
            </p:cNvCxnSpPr>
            <p:nvPr/>
          </p:nvCxnSpPr>
          <p:spPr>
            <a:xfrm>
              <a:off x="6594743" y="1004776"/>
              <a:ext cx="695700" cy="138300"/>
            </a:xfrm>
            <a:prstGeom prst="straightConnector1">
              <a:avLst/>
            </a:prstGeom>
            <a:noFill/>
            <a:ln cap="flat" cmpd="sng" w="19050">
              <a:solidFill>
                <a:srgbClr val="000000"/>
              </a:solidFill>
              <a:prstDash val="solid"/>
              <a:round/>
              <a:headEnd len="sm" w="sm" type="none"/>
              <a:tailEnd len="sm" w="sm" type="none"/>
            </a:ln>
          </p:spPr>
        </p:cxnSp>
        <p:cxnSp>
          <p:nvCxnSpPr>
            <p:cNvPr id="1669" name="Google Shape;1669;p71"/>
            <p:cNvCxnSpPr>
              <a:stCxn id="1663" idx="4"/>
              <a:endCxn id="1665" idx="0"/>
            </p:cNvCxnSpPr>
            <p:nvPr/>
          </p:nvCxnSpPr>
          <p:spPr>
            <a:xfrm flipH="1">
              <a:off x="6161243" y="1265776"/>
              <a:ext cx="172500" cy="675000"/>
            </a:xfrm>
            <a:prstGeom prst="straightConnector1">
              <a:avLst/>
            </a:prstGeom>
            <a:noFill/>
            <a:ln cap="flat" cmpd="sng" w="19050">
              <a:solidFill>
                <a:srgbClr val="000000"/>
              </a:solidFill>
              <a:prstDash val="solid"/>
              <a:round/>
              <a:headEnd len="sm" w="sm" type="none"/>
              <a:tailEnd len="sm" w="sm" type="none"/>
            </a:ln>
          </p:spPr>
        </p:cxnSp>
        <p:cxnSp>
          <p:nvCxnSpPr>
            <p:cNvPr id="1670" name="Google Shape;1670;p71"/>
            <p:cNvCxnSpPr>
              <a:stCxn id="1665" idx="5"/>
              <a:endCxn id="1666" idx="2"/>
            </p:cNvCxnSpPr>
            <p:nvPr/>
          </p:nvCxnSpPr>
          <p:spPr>
            <a:xfrm>
              <a:off x="6345832" y="2386478"/>
              <a:ext cx="762300" cy="56100"/>
            </a:xfrm>
            <a:prstGeom prst="straightConnector1">
              <a:avLst/>
            </a:prstGeom>
            <a:noFill/>
            <a:ln cap="flat" cmpd="sng" w="19050">
              <a:solidFill>
                <a:srgbClr val="000000"/>
              </a:solidFill>
              <a:prstDash val="solid"/>
              <a:round/>
              <a:headEnd len="sm" w="sm" type="none"/>
              <a:tailEnd len="sm" w="sm" type="none"/>
            </a:ln>
          </p:spPr>
        </p:cxnSp>
        <p:cxnSp>
          <p:nvCxnSpPr>
            <p:cNvPr id="1671" name="Google Shape;1671;p71"/>
            <p:cNvCxnSpPr>
              <a:stCxn id="1666" idx="5"/>
              <a:endCxn id="1667" idx="1"/>
            </p:cNvCxnSpPr>
            <p:nvPr/>
          </p:nvCxnSpPr>
          <p:spPr>
            <a:xfrm>
              <a:off x="7553836" y="2627097"/>
              <a:ext cx="459000" cy="376200"/>
            </a:xfrm>
            <a:prstGeom prst="straightConnector1">
              <a:avLst/>
            </a:prstGeom>
            <a:noFill/>
            <a:ln cap="flat" cmpd="sng" w="19050">
              <a:solidFill>
                <a:srgbClr val="000000"/>
              </a:solidFill>
              <a:prstDash val="solid"/>
              <a:round/>
              <a:headEnd len="sm" w="sm" type="none"/>
              <a:tailEnd len="sm" w="sm" type="none"/>
            </a:ln>
          </p:spPr>
        </p:cxnSp>
        <p:sp>
          <p:nvSpPr>
            <p:cNvPr id="1672" name="Google Shape;1672;p71"/>
            <p:cNvSpPr/>
            <p:nvPr/>
          </p:nvSpPr>
          <p:spPr>
            <a:xfrm>
              <a:off x="8105395" y="1673623"/>
              <a:ext cx="522000" cy="5220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cxnSp>
          <p:nvCxnSpPr>
            <p:cNvPr id="1673" name="Google Shape;1673;p71"/>
            <p:cNvCxnSpPr>
              <a:stCxn id="1666" idx="6"/>
              <a:endCxn id="1672" idx="3"/>
            </p:cNvCxnSpPr>
            <p:nvPr/>
          </p:nvCxnSpPr>
          <p:spPr>
            <a:xfrm flipH="1" rot="10800000">
              <a:off x="7630281" y="2119142"/>
              <a:ext cx="551700" cy="323400"/>
            </a:xfrm>
            <a:prstGeom prst="straightConnector1">
              <a:avLst/>
            </a:prstGeom>
            <a:noFill/>
            <a:ln cap="flat" cmpd="sng" w="19050">
              <a:solidFill>
                <a:srgbClr val="000000"/>
              </a:solidFill>
              <a:prstDash val="solid"/>
              <a:round/>
              <a:headEnd len="sm" w="sm" type="none"/>
              <a:tailEnd len="sm" w="sm" type="none"/>
            </a:ln>
          </p:spPr>
        </p:cxnSp>
      </p:grpSp>
      <p:sp>
        <p:nvSpPr>
          <p:cNvPr id="1674" name="Google Shape;1674;p71"/>
          <p:cNvSpPr txBox="1"/>
          <p:nvPr/>
        </p:nvSpPr>
        <p:spPr>
          <a:xfrm>
            <a:off x="2381329" y="422901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675" name="Google Shape;1675;p71"/>
          <p:cNvGrpSpPr/>
          <p:nvPr/>
        </p:nvGrpSpPr>
        <p:grpSpPr>
          <a:xfrm>
            <a:off x="3162593" y="1981545"/>
            <a:ext cx="1884976" cy="419290"/>
            <a:chOff x="3391193" y="1981545"/>
            <a:chExt cx="1884976" cy="419290"/>
          </a:xfrm>
        </p:grpSpPr>
        <p:sp>
          <p:nvSpPr>
            <p:cNvPr id="1676" name="Google Shape;1676;p71"/>
            <p:cNvSpPr txBox="1"/>
            <p:nvPr/>
          </p:nvSpPr>
          <p:spPr>
            <a:xfrm>
              <a:off x="3391193" y="198154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677" name="Google Shape;1677;p71"/>
            <p:cNvSpPr txBox="1"/>
            <p:nvPr/>
          </p:nvSpPr>
          <p:spPr>
            <a:xfrm>
              <a:off x="4292769" y="2007235"/>
              <a:ext cx="9834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678" name="Google Shape;1678;p71"/>
          <p:cNvSpPr txBox="1"/>
          <p:nvPr/>
        </p:nvSpPr>
        <p:spPr>
          <a:xfrm>
            <a:off x="2364482"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679" name="Google Shape;1679;p71"/>
          <p:cNvGrpSpPr/>
          <p:nvPr/>
        </p:nvGrpSpPr>
        <p:grpSpPr>
          <a:xfrm>
            <a:off x="2781593" y="2324873"/>
            <a:ext cx="1960257" cy="2284901"/>
            <a:chOff x="3010193" y="2324873"/>
            <a:chExt cx="1960257" cy="2284901"/>
          </a:xfrm>
        </p:grpSpPr>
        <p:sp>
          <p:nvSpPr>
            <p:cNvPr id="1680" name="Google Shape;1680;p71"/>
            <p:cNvSpPr txBox="1"/>
            <p:nvPr/>
          </p:nvSpPr>
          <p:spPr>
            <a:xfrm>
              <a:off x="3010193" y="421617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681" name="Google Shape;1681;p71"/>
            <p:cNvGrpSpPr/>
            <p:nvPr/>
          </p:nvGrpSpPr>
          <p:grpSpPr>
            <a:xfrm>
              <a:off x="3391193" y="2324873"/>
              <a:ext cx="1579257" cy="393600"/>
              <a:chOff x="3391193" y="2324873"/>
              <a:chExt cx="1579257" cy="393600"/>
            </a:xfrm>
          </p:grpSpPr>
          <p:sp>
            <p:nvSpPr>
              <p:cNvPr id="1682" name="Google Shape;1682;p71"/>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683" name="Google Shape;1683;p71"/>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grpSp>
      </p:grpSp>
      <p:grpSp>
        <p:nvGrpSpPr>
          <p:cNvPr id="1684" name="Google Shape;1684;p71"/>
          <p:cNvGrpSpPr/>
          <p:nvPr/>
        </p:nvGrpSpPr>
        <p:grpSpPr>
          <a:xfrm>
            <a:off x="3162593" y="2668201"/>
            <a:ext cx="1579257" cy="1930443"/>
            <a:chOff x="3391193" y="2668201"/>
            <a:chExt cx="1579257" cy="1930443"/>
          </a:xfrm>
        </p:grpSpPr>
        <p:grpSp>
          <p:nvGrpSpPr>
            <p:cNvPr id="1685" name="Google Shape;1685;p71"/>
            <p:cNvGrpSpPr/>
            <p:nvPr/>
          </p:nvGrpSpPr>
          <p:grpSpPr>
            <a:xfrm>
              <a:off x="3391193" y="2668201"/>
              <a:ext cx="1579257" cy="393600"/>
              <a:chOff x="3391193" y="2324873"/>
              <a:chExt cx="1579257" cy="393600"/>
            </a:xfrm>
          </p:grpSpPr>
          <p:sp>
            <p:nvSpPr>
              <p:cNvPr id="1686" name="Google Shape;1686;p71"/>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687" name="Google Shape;1687;p71"/>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688" name="Google Shape;1688;p71"/>
            <p:cNvSpPr txBox="1"/>
            <p:nvPr/>
          </p:nvSpPr>
          <p:spPr>
            <a:xfrm>
              <a:off x="3391193" y="42050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689" name="Google Shape;1689;p71"/>
          <p:cNvSpPr txBox="1"/>
          <p:nvPr/>
        </p:nvSpPr>
        <p:spPr>
          <a:xfrm>
            <a:off x="2764746"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690" name="Google Shape;1690;p71"/>
          <p:cNvSpPr txBox="1"/>
          <p:nvPr/>
        </p:nvSpPr>
        <p:spPr>
          <a:xfrm>
            <a:off x="3165010"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691" name="Google Shape;1691;p71"/>
          <p:cNvGrpSpPr/>
          <p:nvPr/>
        </p:nvGrpSpPr>
        <p:grpSpPr>
          <a:xfrm>
            <a:off x="3162593" y="2992265"/>
            <a:ext cx="1579257" cy="1612800"/>
            <a:chOff x="3391193" y="2992265"/>
            <a:chExt cx="1579257" cy="1612800"/>
          </a:xfrm>
        </p:grpSpPr>
        <p:grpSp>
          <p:nvGrpSpPr>
            <p:cNvPr id="1692" name="Google Shape;1692;p71"/>
            <p:cNvGrpSpPr/>
            <p:nvPr/>
          </p:nvGrpSpPr>
          <p:grpSpPr>
            <a:xfrm>
              <a:off x="3391193" y="2992265"/>
              <a:ext cx="1579257" cy="393600"/>
              <a:chOff x="3391193" y="2324873"/>
              <a:chExt cx="1579257" cy="393600"/>
            </a:xfrm>
          </p:grpSpPr>
          <p:sp>
            <p:nvSpPr>
              <p:cNvPr id="1693" name="Google Shape;1693;p71"/>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694" name="Google Shape;1694;p71"/>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695" name="Google Shape;1695;p71"/>
            <p:cNvSpPr txBox="1"/>
            <p:nvPr/>
          </p:nvSpPr>
          <p:spPr>
            <a:xfrm>
              <a:off x="3816286"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696" name="Google Shape;1696;p71"/>
          <p:cNvSpPr/>
          <p:nvPr/>
        </p:nvSpPr>
        <p:spPr>
          <a:xfrm>
            <a:off x="3594530" y="4219625"/>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1697" name="Google Shape;1697;p71"/>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698" name="Google Shape;1698;p71"/>
          <p:cNvSpPr txBox="1"/>
          <p:nvPr/>
        </p:nvSpPr>
        <p:spPr>
          <a:xfrm>
            <a:off x="3174990"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699" name="Google Shape;1699;p71"/>
          <p:cNvSpPr txBox="1"/>
          <p:nvPr/>
        </p:nvSpPr>
        <p:spPr>
          <a:xfrm>
            <a:off x="2781147"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700" name="Google Shape;1700;p71"/>
          <p:cNvSpPr txBox="1"/>
          <p:nvPr/>
        </p:nvSpPr>
        <p:spPr>
          <a:xfrm>
            <a:off x="2368896"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701" name="Google Shape;1701;p71"/>
          <p:cNvGrpSpPr/>
          <p:nvPr/>
        </p:nvGrpSpPr>
        <p:grpSpPr>
          <a:xfrm>
            <a:off x="1979053" y="2851938"/>
            <a:ext cx="1969101" cy="2206552"/>
            <a:chOff x="2207653" y="2851938"/>
            <a:chExt cx="1969101" cy="2206552"/>
          </a:xfrm>
        </p:grpSpPr>
        <p:sp>
          <p:nvSpPr>
            <p:cNvPr id="1702" name="Google Shape;1702;p71"/>
            <p:cNvSpPr txBox="1"/>
            <p:nvPr/>
          </p:nvSpPr>
          <p:spPr>
            <a:xfrm>
              <a:off x="3803854"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703" name="Google Shape;1703;p71"/>
            <p:cNvGrpSpPr/>
            <p:nvPr/>
          </p:nvGrpSpPr>
          <p:grpSpPr>
            <a:xfrm>
              <a:off x="2207653" y="2851938"/>
              <a:ext cx="1247097" cy="557400"/>
              <a:chOff x="2207653" y="2851938"/>
              <a:chExt cx="1247097" cy="557400"/>
            </a:xfrm>
          </p:grpSpPr>
          <p:sp>
            <p:nvSpPr>
              <p:cNvPr id="1704" name="Google Shape;1704;p71"/>
              <p:cNvSpPr/>
              <p:nvPr/>
            </p:nvSpPr>
            <p:spPr>
              <a:xfrm>
                <a:off x="2754825" y="3059840"/>
                <a:ext cx="699925" cy="93300"/>
              </a:xfrm>
              <a:custGeom>
                <a:rect b="b" l="l" r="r" t="t"/>
                <a:pathLst>
                  <a:path extrusionOk="0" h="3732" w="27997">
                    <a:moveTo>
                      <a:pt x="0" y="907"/>
                    </a:moveTo>
                    <a:cubicBezTo>
                      <a:pt x="1712" y="779"/>
                      <a:pt x="5608" y="-335"/>
                      <a:pt x="10274" y="136"/>
                    </a:cubicBezTo>
                    <a:cubicBezTo>
                      <a:pt x="14940" y="607"/>
                      <a:pt x="25043" y="3133"/>
                      <a:pt x="27997" y="3732"/>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05" name="Google Shape;1705;p71"/>
              <p:cNvSpPr txBox="1"/>
              <p:nvPr/>
            </p:nvSpPr>
            <p:spPr>
              <a:xfrm rot="-1181307">
                <a:off x="2247682" y="2954092"/>
                <a:ext cx="667843" cy="35309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START HERE</a:t>
                </a:r>
                <a:endParaRPr b="0" i="0" sz="1400" u="none" cap="none" strike="noStrike">
                  <a:solidFill>
                    <a:srgbClr val="FF0000"/>
                  </a:solidFill>
                  <a:latin typeface="Shadows Into Light"/>
                  <a:ea typeface="Shadows Into Light"/>
                  <a:cs typeface="Shadows Into Light"/>
                  <a:sym typeface="Shadows Into Light"/>
                </a:endParaRPr>
              </a:p>
            </p:txBody>
          </p:sp>
        </p:grpSp>
      </p:grpSp>
      <p:grpSp>
        <p:nvGrpSpPr>
          <p:cNvPr id="1706" name="Google Shape;1706;p71"/>
          <p:cNvGrpSpPr/>
          <p:nvPr/>
        </p:nvGrpSpPr>
        <p:grpSpPr>
          <a:xfrm>
            <a:off x="4780125" y="1528999"/>
            <a:ext cx="1087568" cy="675015"/>
            <a:chOff x="5008725" y="1528999"/>
            <a:chExt cx="1087568" cy="675015"/>
          </a:xfrm>
        </p:grpSpPr>
        <p:sp>
          <p:nvSpPr>
            <p:cNvPr id="1707" name="Google Shape;1707;p71"/>
            <p:cNvSpPr txBox="1"/>
            <p:nvPr/>
          </p:nvSpPr>
          <p:spPr>
            <a:xfrm rot="1075329">
              <a:off x="5390390" y="1623192"/>
              <a:ext cx="667805" cy="35311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STOP HERE</a:t>
              </a:r>
              <a:endParaRPr b="0" i="0" sz="1400" u="none" cap="none" strike="noStrike">
                <a:solidFill>
                  <a:srgbClr val="FF0000"/>
                </a:solidFill>
                <a:latin typeface="Shadows Into Light"/>
                <a:ea typeface="Shadows Into Light"/>
                <a:cs typeface="Shadows Into Light"/>
                <a:sym typeface="Shadows Into Light"/>
              </a:endParaRPr>
            </a:p>
          </p:txBody>
        </p:sp>
        <p:sp>
          <p:nvSpPr>
            <p:cNvPr id="1708" name="Google Shape;1708;p71"/>
            <p:cNvSpPr/>
            <p:nvPr/>
          </p:nvSpPr>
          <p:spPr>
            <a:xfrm>
              <a:off x="5008725" y="1725900"/>
              <a:ext cx="584325" cy="478114"/>
            </a:xfrm>
            <a:custGeom>
              <a:rect b="b" l="l" r="r" t="t"/>
              <a:pathLst>
                <a:path extrusionOk="0" h="22347" w="23373">
                  <a:moveTo>
                    <a:pt x="23373" y="0"/>
                  </a:moveTo>
                  <a:cubicBezTo>
                    <a:pt x="21575" y="1199"/>
                    <a:pt x="16482" y="3468"/>
                    <a:pt x="12586" y="7192"/>
                  </a:cubicBezTo>
                  <a:cubicBezTo>
                    <a:pt x="8691" y="10917"/>
                    <a:pt x="2098" y="19821"/>
                    <a:pt x="0" y="22347"/>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709" name="Google Shape;1709;p71"/>
          <p:cNvCxnSpPr>
            <a:stCxn id="1693" idx="3"/>
            <a:endCxn id="1694" idx="1"/>
          </p:cNvCxnSpPr>
          <p:nvPr/>
        </p:nvCxnSpPr>
        <p:spPr>
          <a:xfrm>
            <a:off x="3535493" y="3189065"/>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710" name="Google Shape;1710;p71"/>
          <p:cNvCxnSpPr>
            <a:stCxn id="1686" idx="3"/>
            <a:endCxn id="1687" idx="1"/>
          </p:cNvCxnSpPr>
          <p:nvPr/>
        </p:nvCxnSpPr>
        <p:spPr>
          <a:xfrm>
            <a:off x="3535493" y="2865001"/>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711" name="Google Shape;1711;p71"/>
          <p:cNvCxnSpPr>
            <a:stCxn id="1682" idx="3"/>
            <a:endCxn id="1683" idx="1"/>
          </p:cNvCxnSpPr>
          <p:nvPr/>
        </p:nvCxnSpPr>
        <p:spPr>
          <a:xfrm>
            <a:off x="3535493" y="2521673"/>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712" name="Google Shape;1712;p71"/>
          <p:cNvCxnSpPr/>
          <p:nvPr/>
        </p:nvCxnSpPr>
        <p:spPr>
          <a:xfrm>
            <a:off x="3535493" y="2216873"/>
            <a:ext cx="833400" cy="0"/>
          </a:xfrm>
          <a:prstGeom prst="straightConnector1">
            <a:avLst/>
          </a:prstGeom>
          <a:noFill/>
          <a:ln cap="flat" cmpd="sng" w="19050">
            <a:solidFill>
              <a:srgbClr val="FF0000"/>
            </a:solidFill>
            <a:prstDash val="solid"/>
            <a:round/>
            <a:headEnd len="sm" w="sm" type="none"/>
            <a:tailEnd len="med" w="med" type="triangle"/>
          </a:ln>
        </p:spPr>
      </p:cxnSp>
      <p:grpSp>
        <p:nvGrpSpPr>
          <p:cNvPr id="1713" name="Google Shape;1713;p71"/>
          <p:cNvGrpSpPr/>
          <p:nvPr/>
        </p:nvGrpSpPr>
        <p:grpSpPr>
          <a:xfrm>
            <a:off x="5958714" y="1981545"/>
            <a:ext cx="2670255" cy="2613507"/>
            <a:chOff x="6187314" y="1981545"/>
            <a:chExt cx="2670255" cy="2613507"/>
          </a:xfrm>
        </p:grpSpPr>
        <p:sp>
          <p:nvSpPr>
            <p:cNvPr id="1714" name="Google Shape;1714;p71"/>
            <p:cNvSpPr txBox="1"/>
            <p:nvPr/>
          </p:nvSpPr>
          <p:spPr>
            <a:xfrm>
              <a:off x="6187314" y="420145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715" name="Google Shape;1715;p71"/>
            <p:cNvGrpSpPr/>
            <p:nvPr/>
          </p:nvGrpSpPr>
          <p:grpSpPr>
            <a:xfrm>
              <a:off x="6972593" y="1981545"/>
              <a:ext cx="1884976" cy="419290"/>
              <a:chOff x="3391193" y="1981545"/>
              <a:chExt cx="1884976" cy="419290"/>
            </a:xfrm>
          </p:grpSpPr>
          <p:sp>
            <p:nvSpPr>
              <p:cNvPr id="1716" name="Google Shape;1716;p71"/>
              <p:cNvSpPr txBox="1"/>
              <p:nvPr/>
            </p:nvSpPr>
            <p:spPr>
              <a:xfrm>
                <a:off x="3391193" y="198154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717" name="Google Shape;1717;p71"/>
              <p:cNvSpPr txBox="1"/>
              <p:nvPr/>
            </p:nvSpPr>
            <p:spPr>
              <a:xfrm>
                <a:off x="4292769" y="2007235"/>
                <a:ext cx="9834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grpSp>
      <p:sp>
        <p:nvSpPr>
          <p:cNvPr id="1718" name="Google Shape;1718;p71"/>
          <p:cNvSpPr txBox="1"/>
          <p:nvPr/>
        </p:nvSpPr>
        <p:spPr>
          <a:xfrm>
            <a:off x="5965146"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719" name="Google Shape;1719;p71"/>
          <p:cNvGrpSpPr/>
          <p:nvPr/>
        </p:nvGrpSpPr>
        <p:grpSpPr>
          <a:xfrm>
            <a:off x="6355715" y="2331295"/>
            <a:ext cx="1973100" cy="2273785"/>
            <a:chOff x="6584315" y="2331295"/>
            <a:chExt cx="1973100" cy="2273785"/>
          </a:xfrm>
        </p:grpSpPr>
        <p:sp>
          <p:nvSpPr>
            <p:cNvPr id="1720" name="Google Shape;1720;p71"/>
            <p:cNvSpPr txBox="1"/>
            <p:nvPr/>
          </p:nvSpPr>
          <p:spPr>
            <a:xfrm>
              <a:off x="6965315" y="233129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1" name="Google Shape;1721;p71"/>
            <p:cNvSpPr txBox="1"/>
            <p:nvPr/>
          </p:nvSpPr>
          <p:spPr>
            <a:xfrm>
              <a:off x="6965315" y="26617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2" name="Google Shape;1722;p71"/>
            <p:cNvSpPr txBox="1"/>
            <p:nvPr/>
          </p:nvSpPr>
          <p:spPr>
            <a:xfrm>
              <a:off x="8184515" y="233129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3" name="Google Shape;1723;p71"/>
            <p:cNvSpPr txBox="1"/>
            <p:nvPr/>
          </p:nvSpPr>
          <p:spPr>
            <a:xfrm>
              <a:off x="8184515" y="26617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4" name="Google Shape;1724;p71"/>
            <p:cNvSpPr txBox="1"/>
            <p:nvPr/>
          </p:nvSpPr>
          <p:spPr>
            <a:xfrm>
              <a:off x="6584315"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5" name="Google Shape;1725;p71"/>
            <p:cNvSpPr txBox="1"/>
            <p:nvPr/>
          </p:nvSpPr>
          <p:spPr>
            <a:xfrm>
              <a:off x="6987733" y="42114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G</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726" name="Google Shape;1726;p71"/>
          <p:cNvGrpSpPr/>
          <p:nvPr/>
        </p:nvGrpSpPr>
        <p:grpSpPr>
          <a:xfrm>
            <a:off x="6736715" y="2985844"/>
            <a:ext cx="1592100" cy="1612800"/>
            <a:chOff x="6965315" y="2985844"/>
            <a:chExt cx="1592100" cy="1612800"/>
          </a:xfrm>
        </p:grpSpPr>
        <p:sp>
          <p:nvSpPr>
            <p:cNvPr id="1727" name="Google Shape;1727;p71"/>
            <p:cNvSpPr txBox="1"/>
            <p:nvPr/>
          </p:nvSpPr>
          <p:spPr>
            <a:xfrm>
              <a:off x="6965315" y="29858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8" name="Google Shape;1728;p71"/>
            <p:cNvSpPr txBox="1"/>
            <p:nvPr/>
          </p:nvSpPr>
          <p:spPr>
            <a:xfrm>
              <a:off x="8184515" y="29858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729" name="Google Shape;1729;p71"/>
            <p:cNvSpPr txBox="1"/>
            <p:nvPr/>
          </p:nvSpPr>
          <p:spPr>
            <a:xfrm>
              <a:off x="7396830" y="42050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730" name="Google Shape;1730;p71"/>
          <p:cNvGrpSpPr/>
          <p:nvPr/>
        </p:nvGrpSpPr>
        <p:grpSpPr>
          <a:xfrm>
            <a:off x="6736715" y="3329172"/>
            <a:ext cx="1592100" cy="1263907"/>
            <a:chOff x="6965315" y="3329172"/>
            <a:chExt cx="1592100" cy="1263907"/>
          </a:xfrm>
        </p:grpSpPr>
        <p:sp>
          <p:nvSpPr>
            <p:cNvPr id="1731" name="Google Shape;1731;p71"/>
            <p:cNvSpPr txBox="1"/>
            <p:nvPr/>
          </p:nvSpPr>
          <p:spPr>
            <a:xfrm>
              <a:off x="6965315" y="332917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732" name="Google Shape;1732;p71"/>
            <p:cNvSpPr txBox="1"/>
            <p:nvPr/>
          </p:nvSpPr>
          <p:spPr>
            <a:xfrm>
              <a:off x="6965315" y="365965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sp>
          <p:nvSpPr>
            <p:cNvPr id="1733" name="Google Shape;1733;p71"/>
            <p:cNvSpPr txBox="1"/>
            <p:nvPr/>
          </p:nvSpPr>
          <p:spPr>
            <a:xfrm>
              <a:off x="8184515" y="332917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734" name="Google Shape;1734;p71"/>
            <p:cNvSpPr txBox="1"/>
            <p:nvPr/>
          </p:nvSpPr>
          <p:spPr>
            <a:xfrm>
              <a:off x="8184515" y="365965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735" name="Google Shape;1735;p71"/>
            <p:cNvSpPr txBox="1"/>
            <p:nvPr/>
          </p:nvSpPr>
          <p:spPr>
            <a:xfrm>
              <a:off x="7781086" y="419710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B</a:t>
              </a:r>
              <a:endParaRPr b="0" i="0" sz="2500" u="none" cap="none" strike="noStrike">
                <a:solidFill>
                  <a:srgbClr val="4A86E8"/>
                </a:solidFill>
                <a:latin typeface="Shadows Into Light"/>
                <a:ea typeface="Shadows Into Light"/>
                <a:cs typeface="Shadows Into Light"/>
                <a:sym typeface="Shadows Into Light"/>
              </a:endParaRPr>
            </a:p>
          </p:txBody>
        </p:sp>
        <p:sp>
          <p:nvSpPr>
            <p:cNvPr id="1736" name="Google Shape;1736;p71"/>
            <p:cNvSpPr txBox="1"/>
            <p:nvPr/>
          </p:nvSpPr>
          <p:spPr>
            <a:xfrm>
              <a:off x="8184515" y="41994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737" name="Google Shape;1737;p71"/>
          <p:cNvSpPr txBox="1"/>
          <p:nvPr/>
        </p:nvSpPr>
        <p:spPr>
          <a:xfrm>
            <a:off x="6352567"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738" name="Google Shape;1738;p71"/>
          <p:cNvSpPr txBox="1"/>
          <p:nvPr/>
        </p:nvSpPr>
        <p:spPr>
          <a:xfrm>
            <a:off x="6746410"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739" name="Google Shape;1739;p71"/>
          <p:cNvSpPr txBox="1"/>
          <p:nvPr/>
        </p:nvSpPr>
        <p:spPr>
          <a:xfrm>
            <a:off x="7165082"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aphicFrame>
        <p:nvGraphicFramePr>
          <p:cNvPr id="1740" name="Google Shape;1740;p71"/>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741" name="Google Shape;1741;p71"/>
          <p:cNvGrpSpPr/>
          <p:nvPr/>
        </p:nvGrpSpPr>
        <p:grpSpPr>
          <a:xfrm>
            <a:off x="5331853" y="3544159"/>
            <a:ext cx="2202856" cy="1506120"/>
            <a:chOff x="5331853" y="3544159"/>
            <a:chExt cx="2202856" cy="1506120"/>
          </a:xfrm>
        </p:grpSpPr>
        <p:grpSp>
          <p:nvGrpSpPr>
            <p:cNvPr id="1742" name="Google Shape;1742;p71"/>
            <p:cNvGrpSpPr/>
            <p:nvPr/>
          </p:nvGrpSpPr>
          <p:grpSpPr>
            <a:xfrm>
              <a:off x="5331853" y="3544159"/>
              <a:ext cx="1247097" cy="557400"/>
              <a:chOff x="2207653" y="3163159"/>
              <a:chExt cx="1247097" cy="557400"/>
            </a:xfrm>
          </p:grpSpPr>
          <p:sp>
            <p:nvSpPr>
              <p:cNvPr id="1743" name="Google Shape;1743;p71"/>
              <p:cNvSpPr/>
              <p:nvPr/>
            </p:nvSpPr>
            <p:spPr>
              <a:xfrm>
                <a:off x="2754825" y="3371061"/>
                <a:ext cx="699925" cy="93300"/>
              </a:xfrm>
              <a:custGeom>
                <a:rect b="b" l="l" r="r" t="t"/>
                <a:pathLst>
                  <a:path extrusionOk="0" h="3732" w="27997">
                    <a:moveTo>
                      <a:pt x="0" y="907"/>
                    </a:moveTo>
                    <a:cubicBezTo>
                      <a:pt x="1712" y="779"/>
                      <a:pt x="5608" y="-335"/>
                      <a:pt x="10274" y="136"/>
                    </a:cubicBezTo>
                    <a:cubicBezTo>
                      <a:pt x="14940" y="607"/>
                      <a:pt x="25043" y="3133"/>
                      <a:pt x="27997" y="3732"/>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44" name="Google Shape;1744;p71"/>
              <p:cNvSpPr txBox="1"/>
              <p:nvPr/>
            </p:nvSpPr>
            <p:spPr>
              <a:xfrm rot="-1181307">
                <a:off x="2247682" y="3265313"/>
                <a:ext cx="667843" cy="35309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START HERE</a:t>
                </a:r>
                <a:endParaRPr b="0" i="0" sz="1400" u="none" cap="none" strike="noStrike">
                  <a:solidFill>
                    <a:srgbClr val="FF0000"/>
                  </a:solidFill>
                  <a:latin typeface="Shadows Into Light"/>
                  <a:ea typeface="Shadows Into Light"/>
                  <a:cs typeface="Shadows Into Light"/>
                  <a:sym typeface="Shadows Into Light"/>
                </a:endParaRPr>
              </a:p>
            </p:txBody>
          </p:sp>
        </p:grpSp>
        <p:sp>
          <p:nvSpPr>
            <p:cNvPr id="1745" name="Google Shape;1745;p71"/>
            <p:cNvSpPr txBox="1"/>
            <p:nvPr/>
          </p:nvSpPr>
          <p:spPr>
            <a:xfrm>
              <a:off x="7161809"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H</a:t>
              </a:r>
              <a:endParaRPr b="0" i="0" sz="2500" u="none" cap="none" strike="noStrike">
                <a:solidFill>
                  <a:srgbClr val="4A86E8"/>
                </a:solidFill>
                <a:latin typeface="Shadows Into Light"/>
                <a:ea typeface="Shadows Into Light"/>
                <a:cs typeface="Shadows Into Light"/>
                <a:sym typeface="Shadows Into Light"/>
              </a:endParaRPr>
            </a:p>
          </p:txBody>
        </p:sp>
      </p:grpSp>
      <p:cxnSp>
        <p:nvCxnSpPr>
          <p:cNvPr id="1746" name="Google Shape;1746;p71"/>
          <p:cNvCxnSpPr/>
          <p:nvPr/>
        </p:nvCxnSpPr>
        <p:spPr>
          <a:xfrm>
            <a:off x="7116037" y="3836337"/>
            <a:ext cx="833400" cy="0"/>
          </a:xfrm>
          <a:prstGeom prst="straightConnector1">
            <a:avLst/>
          </a:prstGeom>
          <a:noFill/>
          <a:ln cap="flat" cmpd="sng" w="19050">
            <a:solidFill>
              <a:srgbClr val="FF0000"/>
            </a:solidFill>
            <a:prstDash val="solid"/>
            <a:round/>
            <a:headEnd len="sm" w="sm" type="none"/>
            <a:tailEnd len="med" w="med" type="triangle"/>
          </a:ln>
        </p:spPr>
      </p:cxnSp>
      <p:sp>
        <p:nvSpPr>
          <p:cNvPr id="1747" name="Google Shape;1747;p71"/>
          <p:cNvSpPr txBox="1"/>
          <p:nvPr/>
        </p:nvSpPr>
        <p:spPr>
          <a:xfrm>
            <a:off x="6767966"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C</a:t>
            </a:r>
            <a:endParaRPr b="0" i="0" sz="2500" u="none" cap="none" strike="noStrike">
              <a:solidFill>
                <a:srgbClr val="4A86E8"/>
              </a:solidFill>
              <a:latin typeface="Shadows Into Light"/>
              <a:ea typeface="Shadows Into Light"/>
              <a:cs typeface="Shadows Into Light"/>
              <a:sym typeface="Shadows Into Light"/>
            </a:endParaRPr>
          </a:p>
        </p:txBody>
      </p:sp>
      <p:sp>
        <p:nvSpPr>
          <p:cNvPr id="1748" name="Google Shape;1748;p71"/>
          <p:cNvSpPr txBox="1"/>
          <p:nvPr/>
        </p:nvSpPr>
        <p:spPr>
          <a:xfrm>
            <a:off x="6367702"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E</a:t>
            </a:r>
            <a:endParaRPr b="0" i="0" sz="2500" u="none" cap="none" strike="noStrike">
              <a:solidFill>
                <a:srgbClr val="4A86E8"/>
              </a:solidFill>
              <a:latin typeface="Shadows Into Light"/>
              <a:ea typeface="Shadows Into Light"/>
              <a:cs typeface="Shadows Into Light"/>
              <a:sym typeface="Shadows Into Light"/>
            </a:endParaRPr>
          </a:p>
        </p:txBody>
      </p:sp>
      <p:sp>
        <p:nvSpPr>
          <p:cNvPr id="1749" name="Google Shape;1749;p71"/>
          <p:cNvSpPr txBox="1"/>
          <p:nvPr/>
        </p:nvSpPr>
        <p:spPr>
          <a:xfrm>
            <a:off x="5973859"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F</a:t>
            </a:r>
            <a:endParaRPr b="0" i="0" sz="2500" u="none" cap="none" strike="noStrike">
              <a:solidFill>
                <a:srgbClr val="4A86E8"/>
              </a:solidFill>
              <a:latin typeface="Shadows Into Light"/>
              <a:ea typeface="Shadows Into Light"/>
              <a:cs typeface="Shadows Into Light"/>
              <a:sym typeface="Shadows Into Light"/>
            </a:endParaRPr>
          </a:p>
        </p:txBody>
      </p:sp>
      <p:cxnSp>
        <p:nvCxnSpPr>
          <p:cNvPr id="1750" name="Google Shape;1750;p71"/>
          <p:cNvCxnSpPr/>
          <p:nvPr/>
        </p:nvCxnSpPr>
        <p:spPr>
          <a:xfrm>
            <a:off x="7116037" y="3201052"/>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751" name="Google Shape;1751;p71"/>
          <p:cNvCxnSpPr/>
          <p:nvPr/>
        </p:nvCxnSpPr>
        <p:spPr>
          <a:xfrm>
            <a:off x="7116037" y="2528095"/>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752" name="Google Shape;1752;p71"/>
          <p:cNvCxnSpPr/>
          <p:nvPr/>
        </p:nvCxnSpPr>
        <p:spPr>
          <a:xfrm>
            <a:off x="7116037" y="2204031"/>
            <a:ext cx="833400" cy="0"/>
          </a:xfrm>
          <a:prstGeom prst="straightConnector1">
            <a:avLst/>
          </a:prstGeom>
          <a:noFill/>
          <a:ln cap="flat" cmpd="sng" w="19050">
            <a:solidFill>
              <a:srgbClr val="FF0000"/>
            </a:solidFill>
            <a:prstDash val="solid"/>
            <a:round/>
            <a:headEnd len="sm" w="sm" type="none"/>
            <a:tailEnd len="med" w="med" type="triangle"/>
          </a:ln>
        </p:spPr>
      </p:cxnSp>
      <p:grpSp>
        <p:nvGrpSpPr>
          <p:cNvPr id="1753" name="Google Shape;1753;p71"/>
          <p:cNvGrpSpPr/>
          <p:nvPr/>
        </p:nvGrpSpPr>
        <p:grpSpPr>
          <a:xfrm>
            <a:off x="8116650" y="1237041"/>
            <a:ext cx="1065314" cy="863433"/>
            <a:chOff x="5144850" y="1465641"/>
            <a:chExt cx="1065314" cy="863433"/>
          </a:xfrm>
        </p:grpSpPr>
        <p:sp>
          <p:nvSpPr>
            <p:cNvPr id="1754" name="Google Shape;1754;p71"/>
            <p:cNvSpPr txBox="1"/>
            <p:nvPr/>
          </p:nvSpPr>
          <p:spPr>
            <a:xfrm rot="1075329">
              <a:off x="5504261" y="1559834"/>
              <a:ext cx="667805" cy="35311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STOP HERE</a:t>
              </a:r>
              <a:endParaRPr b="0" i="0" sz="1400" u="none" cap="none" strike="noStrike">
                <a:solidFill>
                  <a:srgbClr val="FF0000"/>
                </a:solidFill>
                <a:latin typeface="Shadows Into Light"/>
                <a:ea typeface="Shadows Into Light"/>
                <a:cs typeface="Shadows Into Light"/>
                <a:sym typeface="Shadows Into Light"/>
              </a:endParaRPr>
            </a:p>
          </p:txBody>
        </p:sp>
        <p:sp>
          <p:nvSpPr>
            <p:cNvPr id="1755" name="Google Shape;1755;p71"/>
            <p:cNvSpPr/>
            <p:nvPr/>
          </p:nvSpPr>
          <p:spPr>
            <a:xfrm>
              <a:off x="5144850" y="1787551"/>
              <a:ext cx="448177" cy="541524"/>
            </a:xfrm>
            <a:custGeom>
              <a:rect b="b" l="l" r="r" t="t"/>
              <a:pathLst>
                <a:path extrusionOk="0" h="22347" w="23373">
                  <a:moveTo>
                    <a:pt x="23373" y="0"/>
                  </a:moveTo>
                  <a:cubicBezTo>
                    <a:pt x="21575" y="1199"/>
                    <a:pt x="16482" y="3468"/>
                    <a:pt x="12586" y="7192"/>
                  </a:cubicBezTo>
                  <a:cubicBezTo>
                    <a:pt x="8691" y="10917"/>
                    <a:pt x="2098" y="19821"/>
                    <a:pt x="0" y="22347"/>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756" name="Google Shape;1756;p71"/>
          <p:cNvSpPr/>
          <p:nvPr/>
        </p:nvSpPr>
        <p:spPr>
          <a:xfrm>
            <a:off x="7982879" y="4201217"/>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7" name="Google Shape;1757;p71"/>
          <p:cNvSpPr txBox="1"/>
          <p:nvPr/>
        </p:nvSpPr>
        <p:spPr>
          <a:xfrm>
            <a:off x="7552503"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74"/>
                                        </p:tgtEl>
                                        <p:attrNameLst>
                                          <p:attrName>style.visibility</p:attrName>
                                        </p:attrNameLst>
                                      </p:cBhvr>
                                      <p:to>
                                        <p:strVal val="visible"/>
                                      </p:to>
                                    </p:set>
                                    <p:animEffect filter="fade" transition="in">
                                      <p:cBhvr>
                                        <p:cTn dur="1000"/>
                                        <p:tgtEl>
                                          <p:spTgt spid="167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5"/>
                                        </p:tgtEl>
                                        <p:attrNameLst>
                                          <p:attrName>style.visibility</p:attrName>
                                        </p:attrNameLst>
                                      </p:cBhvr>
                                      <p:to>
                                        <p:strVal val="visible"/>
                                      </p:to>
                                    </p:set>
                                    <p:animEffect filter="fade" transition="in">
                                      <p:cBhvr>
                                        <p:cTn dur="1000"/>
                                        <p:tgtEl>
                                          <p:spTgt spid="16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78"/>
                                        </p:tgtEl>
                                        <p:attrNameLst>
                                          <p:attrName>style.visibility</p:attrName>
                                        </p:attrNameLst>
                                      </p:cBhvr>
                                      <p:to>
                                        <p:strVal val="visible"/>
                                      </p:to>
                                    </p:set>
                                    <p:animEffect filter="fade" transition="in">
                                      <p:cBhvr>
                                        <p:cTn dur="1000"/>
                                        <p:tgtEl>
                                          <p:spTgt spid="16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79"/>
                                        </p:tgtEl>
                                        <p:attrNameLst>
                                          <p:attrName>style.visibility</p:attrName>
                                        </p:attrNameLst>
                                      </p:cBhvr>
                                      <p:to>
                                        <p:strVal val="visible"/>
                                      </p:to>
                                    </p:set>
                                    <p:animEffect filter="fade" transition="in">
                                      <p:cBhvr>
                                        <p:cTn dur="1000"/>
                                        <p:tgtEl>
                                          <p:spTgt spid="16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89"/>
                                        </p:tgtEl>
                                        <p:attrNameLst>
                                          <p:attrName>style.visibility</p:attrName>
                                        </p:attrNameLst>
                                      </p:cBhvr>
                                      <p:to>
                                        <p:strVal val="visible"/>
                                      </p:to>
                                    </p:set>
                                    <p:animEffect filter="fade" transition="in">
                                      <p:cBhvr>
                                        <p:cTn dur="1000"/>
                                        <p:tgtEl>
                                          <p:spTgt spid="168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84"/>
                                        </p:tgtEl>
                                        <p:attrNameLst>
                                          <p:attrName>style.visibility</p:attrName>
                                        </p:attrNameLst>
                                      </p:cBhvr>
                                      <p:to>
                                        <p:strVal val="visible"/>
                                      </p:to>
                                    </p:set>
                                    <p:animEffect filter="fade" transition="in">
                                      <p:cBhvr>
                                        <p:cTn dur="1000"/>
                                        <p:tgtEl>
                                          <p:spTgt spid="16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0"/>
                                        </p:tgtEl>
                                        <p:attrNameLst>
                                          <p:attrName>style.visibility</p:attrName>
                                        </p:attrNameLst>
                                      </p:cBhvr>
                                      <p:to>
                                        <p:strVal val="visible"/>
                                      </p:to>
                                    </p:set>
                                    <p:animEffect filter="fade" transition="in">
                                      <p:cBhvr>
                                        <p:cTn dur="1000"/>
                                        <p:tgtEl>
                                          <p:spTgt spid="16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1"/>
                                        </p:tgtEl>
                                        <p:attrNameLst>
                                          <p:attrName>style.visibility</p:attrName>
                                        </p:attrNameLst>
                                      </p:cBhvr>
                                      <p:to>
                                        <p:strVal val="visible"/>
                                      </p:to>
                                    </p:set>
                                    <p:animEffect filter="fade" transition="in">
                                      <p:cBhvr>
                                        <p:cTn dur="1000"/>
                                        <p:tgtEl>
                                          <p:spTgt spid="16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96"/>
                                        </p:tgtEl>
                                        <p:attrNameLst>
                                          <p:attrName>style.visibility</p:attrName>
                                        </p:attrNameLst>
                                      </p:cBhvr>
                                      <p:to>
                                        <p:strVal val="visible"/>
                                      </p:to>
                                    </p:set>
                                    <p:animEffect filter="fade" transition="in">
                                      <p:cBhvr>
                                        <p:cTn dur="1000"/>
                                        <p:tgtEl>
                                          <p:spTgt spid="16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1"/>
                                        </p:tgtEl>
                                        <p:attrNameLst>
                                          <p:attrName>style.visibility</p:attrName>
                                        </p:attrNameLst>
                                      </p:cBhvr>
                                      <p:to>
                                        <p:strVal val="visible"/>
                                      </p:to>
                                    </p:set>
                                    <p:animEffect filter="fade" transition="in">
                                      <p:cBhvr>
                                        <p:cTn dur="1000"/>
                                        <p:tgtEl>
                                          <p:spTgt spid="17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09"/>
                                        </p:tgtEl>
                                        <p:attrNameLst>
                                          <p:attrName>style.visibility</p:attrName>
                                        </p:attrNameLst>
                                      </p:cBhvr>
                                      <p:to>
                                        <p:strVal val="visible"/>
                                      </p:to>
                                    </p:set>
                                    <p:animEffect filter="fade" transition="in">
                                      <p:cBhvr>
                                        <p:cTn dur="1000"/>
                                        <p:tgtEl>
                                          <p:spTgt spid="17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8"/>
                                        </p:tgtEl>
                                        <p:attrNameLst>
                                          <p:attrName>style.visibility</p:attrName>
                                        </p:attrNameLst>
                                      </p:cBhvr>
                                      <p:to>
                                        <p:strVal val="visible"/>
                                      </p:to>
                                    </p:set>
                                    <p:animEffect filter="fade" transition="in">
                                      <p:cBhvr>
                                        <p:cTn dur="1000"/>
                                        <p:tgtEl>
                                          <p:spTgt spid="16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0"/>
                                        </p:tgtEl>
                                        <p:attrNameLst>
                                          <p:attrName>style.visibility</p:attrName>
                                        </p:attrNameLst>
                                      </p:cBhvr>
                                      <p:to>
                                        <p:strVal val="visible"/>
                                      </p:to>
                                    </p:set>
                                    <p:animEffect filter="fade" transition="in">
                                      <p:cBhvr>
                                        <p:cTn dur="1000"/>
                                        <p:tgtEl>
                                          <p:spTgt spid="17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699"/>
                                        </p:tgtEl>
                                        <p:attrNameLst>
                                          <p:attrName>style.visibility</p:attrName>
                                        </p:attrNameLst>
                                      </p:cBhvr>
                                      <p:to>
                                        <p:strVal val="visible"/>
                                      </p:to>
                                    </p:set>
                                    <p:animEffect filter="fade" transition="in">
                                      <p:cBhvr>
                                        <p:cTn dur="1000"/>
                                        <p:tgtEl>
                                          <p:spTgt spid="16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1"/>
                                        </p:tgtEl>
                                        <p:attrNameLst>
                                          <p:attrName>style.visibility</p:attrName>
                                        </p:attrNameLst>
                                      </p:cBhvr>
                                      <p:to>
                                        <p:strVal val="visible"/>
                                      </p:to>
                                    </p:set>
                                    <p:animEffect filter="fade" transition="in">
                                      <p:cBhvr>
                                        <p:cTn dur="1000"/>
                                        <p:tgtEl>
                                          <p:spTgt spid="17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0"/>
                                        </p:tgtEl>
                                        <p:attrNameLst>
                                          <p:attrName>style.visibility</p:attrName>
                                        </p:attrNameLst>
                                      </p:cBhvr>
                                      <p:to>
                                        <p:strVal val="visible"/>
                                      </p:to>
                                    </p:set>
                                    <p:animEffect filter="fade" transition="in">
                                      <p:cBhvr>
                                        <p:cTn dur="1000"/>
                                        <p:tgtEl>
                                          <p:spTgt spid="17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2"/>
                                        </p:tgtEl>
                                        <p:attrNameLst>
                                          <p:attrName>style.visibility</p:attrName>
                                        </p:attrNameLst>
                                      </p:cBhvr>
                                      <p:to>
                                        <p:strVal val="visible"/>
                                      </p:to>
                                    </p:set>
                                    <p:animEffect filter="fade" transition="in">
                                      <p:cBhvr>
                                        <p:cTn dur="1000"/>
                                        <p:tgtEl>
                                          <p:spTgt spid="171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06"/>
                                        </p:tgtEl>
                                        <p:attrNameLst>
                                          <p:attrName>style.visibility</p:attrName>
                                        </p:attrNameLst>
                                      </p:cBhvr>
                                      <p:to>
                                        <p:strVal val="visible"/>
                                      </p:to>
                                    </p:set>
                                    <p:animEffect filter="fade" transition="in">
                                      <p:cBhvr>
                                        <p:cTn dur="1000"/>
                                        <p:tgtEl>
                                          <p:spTgt spid="17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3"/>
                                        </p:tgtEl>
                                        <p:attrNameLst>
                                          <p:attrName>style.visibility</p:attrName>
                                        </p:attrNameLst>
                                      </p:cBhvr>
                                      <p:to>
                                        <p:strVal val="visible"/>
                                      </p:to>
                                    </p:set>
                                    <p:animEffect filter="fade" transition="in">
                                      <p:cBhvr>
                                        <p:cTn dur="1000"/>
                                        <p:tgtEl>
                                          <p:spTgt spid="17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18"/>
                                        </p:tgtEl>
                                        <p:attrNameLst>
                                          <p:attrName>style.visibility</p:attrName>
                                        </p:attrNameLst>
                                      </p:cBhvr>
                                      <p:to>
                                        <p:strVal val="visible"/>
                                      </p:to>
                                    </p:set>
                                    <p:animEffect filter="fade" transition="in">
                                      <p:cBhvr>
                                        <p:cTn dur="1000"/>
                                        <p:tgtEl>
                                          <p:spTgt spid="17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19"/>
                                        </p:tgtEl>
                                        <p:attrNameLst>
                                          <p:attrName>style.visibility</p:attrName>
                                        </p:attrNameLst>
                                      </p:cBhvr>
                                      <p:to>
                                        <p:strVal val="visible"/>
                                      </p:to>
                                    </p:set>
                                    <p:animEffect filter="fade" transition="in">
                                      <p:cBhvr>
                                        <p:cTn dur="1000"/>
                                        <p:tgtEl>
                                          <p:spTgt spid="17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7"/>
                                        </p:tgtEl>
                                        <p:attrNameLst>
                                          <p:attrName>style.visibility</p:attrName>
                                        </p:attrNameLst>
                                      </p:cBhvr>
                                      <p:to>
                                        <p:strVal val="visible"/>
                                      </p:to>
                                    </p:set>
                                    <p:animEffect filter="fade" transition="in">
                                      <p:cBhvr>
                                        <p:cTn dur="1000"/>
                                        <p:tgtEl>
                                          <p:spTgt spid="17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26"/>
                                        </p:tgtEl>
                                        <p:attrNameLst>
                                          <p:attrName>style.visibility</p:attrName>
                                        </p:attrNameLst>
                                      </p:cBhvr>
                                      <p:to>
                                        <p:strVal val="visible"/>
                                      </p:to>
                                    </p:set>
                                    <p:animEffect filter="fade" transition="in">
                                      <p:cBhvr>
                                        <p:cTn dur="1000"/>
                                        <p:tgtEl>
                                          <p:spTgt spid="17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8"/>
                                        </p:tgtEl>
                                        <p:attrNameLst>
                                          <p:attrName>style.visibility</p:attrName>
                                        </p:attrNameLst>
                                      </p:cBhvr>
                                      <p:to>
                                        <p:strVal val="visible"/>
                                      </p:to>
                                    </p:set>
                                    <p:animEffect filter="fade" transition="in">
                                      <p:cBhvr>
                                        <p:cTn dur="1000"/>
                                        <p:tgtEl>
                                          <p:spTgt spid="17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39"/>
                                        </p:tgtEl>
                                        <p:attrNameLst>
                                          <p:attrName>style.visibility</p:attrName>
                                        </p:attrNameLst>
                                      </p:cBhvr>
                                      <p:to>
                                        <p:strVal val="visible"/>
                                      </p:to>
                                    </p:set>
                                    <p:animEffect filter="fade" transition="in">
                                      <p:cBhvr>
                                        <p:cTn dur="1000"/>
                                        <p:tgtEl>
                                          <p:spTgt spid="173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30"/>
                                        </p:tgtEl>
                                        <p:attrNameLst>
                                          <p:attrName>style.visibility</p:attrName>
                                        </p:attrNameLst>
                                      </p:cBhvr>
                                      <p:to>
                                        <p:strVal val="visible"/>
                                      </p:to>
                                    </p:set>
                                    <p:animEffect filter="fade" transition="in">
                                      <p:cBhvr>
                                        <p:cTn dur="1000"/>
                                        <p:tgtEl>
                                          <p:spTgt spid="17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7"/>
                                        </p:tgtEl>
                                        <p:attrNameLst>
                                          <p:attrName>style.visibility</p:attrName>
                                        </p:attrNameLst>
                                      </p:cBhvr>
                                      <p:to>
                                        <p:strVal val="visible"/>
                                      </p:to>
                                    </p:set>
                                    <p:animEffect filter="fade" transition="in">
                                      <p:cBhvr>
                                        <p:cTn dur="1000"/>
                                        <p:tgtEl>
                                          <p:spTgt spid="1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6"/>
                                        </p:tgtEl>
                                        <p:attrNameLst>
                                          <p:attrName>style.visibility</p:attrName>
                                        </p:attrNameLst>
                                      </p:cBhvr>
                                      <p:to>
                                        <p:strVal val="visible"/>
                                      </p:to>
                                    </p:set>
                                    <p:animEffect filter="fade" transition="in">
                                      <p:cBhvr>
                                        <p:cTn dur="1000"/>
                                        <p:tgtEl>
                                          <p:spTgt spid="1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1"/>
                                        </p:tgtEl>
                                        <p:attrNameLst>
                                          <p:attrName>style.visibility</p:attrName>
                                        </p:attrNameLst>
                                      </p:cBhvr>
                                      <p:to>
                                        <p:strVal val="visible"/>
                                      </p:to>
                                    </p:set>
                                    <p:animEffect filter="fade" transition="in">
                                      <p:cBhvr>
                                        <p:cTn dur="1000"/>
                                        <p:tgtEl>
                                          <p:spTgt spid="17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46"/>
                                        </p:tgtEl>
                                        <p:attrNameLst>
                                          <p:attrName>style.visibility</p:attrName>
                                        </p:attrNameLst>
                                      </p:cBhvr>
                                      <p:to>
                                        <p:strVal val="visible"/>
                                      </p:to>
                                    </p:set>
                                    <p:animEffect filter="fade" transition="in">
                                      <p:cBhvr>
                                        <p:cTn dur="1000"/>
                                        <p:tgtEl>
                                          <p:spTgt spid="17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47"/>
                                        </p:tgtEl>
                                        <p:attrNameLst>
                                          <p:attrName>style.visibility</p:attrName>
                                        </p:attrNameLst>
                                      </p:cBhvr>
                                      <p:to>
                                        <p:strVal val="visible"/>
                                      </p:to>
                                    </p:set>
                                    <p:animEffect filter="fade" transition="in">
                                      <p:cBhvr>
                                        <p:cTn dur="1000"/>
                                        <p:tgtEl>
                                          <p:spTgt spid="17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0"/>
                                        </p:tgtEl>
                                        <p:attrNameLst>
                                          <p:attrName>style.visibility</p:attrName>
                                        </p:attrNameLst>
                                      </p:cBhvr>
                                      <p:to>
                                        <p:strVal val="visible"/>
                                      </p:to>
                                    </p:set>
                                    <p:animEffect filter="fade" transition="in">
                                      <p:cBhvr>
                                        <p:cTn dur="1000"/>
                                        <p:tgtEl>
                                          <p:spTgt spid="175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48"/>
                                        </p:tgtEl>
                                        <p:attrNameLst>
                                          <p:attrName>style.visibility</p:attrName>
                                        </p:attrNameLst>
                                      </p:cBhvr>
                                      <p:to>
                                        <p:strVal val="visible"/>
                                      </p:to>
                                    </p:set>
                                    <p:animEffect filter="fade" transition="in">
                                      <p:cBhvr>
                                        <p:cTn dur="1000"/>
                                        <p:tgtEl>
                                          <p:spTgt spid="17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1"/>
                                        </p:tgtEl>
                                        <p:attrNameLst>
                                          <p:attrName>style.visibility</p:attrName>
                                        </p:attrNameLst>
                                      </p:cBhvr>
                                      <p:to>
                                        <p:strVal val="visible"/>
                                      </p:to>
                                    </p:set>
                                    <p:animEffect filter="fade" transition="in">
                                      <p:cBhvr>
                                        <p:cTn dur="1000"/>
                                        <p:tgtEl>
                                          <p:spTgt spid="175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49"/>
                                        </p:tgtEl>
                                        <p:attrNameLst>
                                          <p:attrName>style.visibility</p:attrName>
                                        </p:attrNameLst>
                                      </p:cBhvr>
                                      <p:to>
                                        <p:strVal val="visible"/>
                                      </p:to>
                                    </p:set>
                                    <p:animEffect filter="fade" transition="in">
                                      <p:cBhvr>
                                        <p:cTn dur="1000"/>
                                        <p:tgtEl>
                                          <p:spTgt spid="17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752"/>
                                        </p:tgtEl>
                                        <p:attrNameLst>
                                          <p:attrName>style.visibility</p:attrName>
                                        </p:attrNameLst>
                                      </p:cBhvr>
                                      <p:to>
                                        <p:strVal val="visible"/>
                                      </p:to>
                                    </p:set>
                                    <p:animEffect filter="fade" transition="in">
                                      <p:cBhvr>
                                        <p:cTn dur="1000"/>
                                        <p:tgtEl>
                                          <p:spTgt spid="175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753"/>
                                        </p:tgtEl>
                                        <p:attrNameLst>
                                          <p:attrName>style.visibility</p:attrName>
                                        </p:attrNameLst>
                                      </p:cBhvr>
                                      <p:to>
                                        <p:strVal val="visible"/>
                                      </p:to>
                                    </p:set>
                                    <p:animEffect filter="fade" transition="in">
                                      <p:cBhvr>
                                        <p:cTn dur="1000"/>
                                        <p:tgtEl>
                                          <p:spTgt spid="17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1" name="Shape 1761"/>
        <p:cNvGrpSpPr/>
        <p:nvPr/>
      </p:nvGrpSpPr>
      <p:grpSpPr>
        <a:xfrm>
          <a:off x="0" y="0"/>
          <a:ext cx="0" cy="0"/>
          <a:chOff x="0" y="0"/>
          <a:chExt cx="0" cy="0"/>
        </a:xfrm>
      </p:grpSpPr>
      <p:sp>
        <p:nvSpPr>
          <p:cNvPr id="1762" name="Google Shape;1762;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63" name="Google Shape;1763;p72"/>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15</a:t>
            </a:r>
            <a:endParaRPr/>
          </a:p>
        </p:txBody>
      </p:sp>
      <p:sp>
        <p:nvSpPr>
          <p:cNvPr id="1764" name="Google Shape;1764;p72"/>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Another Default Method in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
        <p:nvSpPr>
          <p:cNvPr id="1765" name="Google Shape;1765;p72"/>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The current Breadth-First Search method returns a boolean indicating whether or not a path was found. Let's add another default method to the </a:t>
            </a:r>
            <a:r>
              <a:rPr lang="en">
                <a:latin typeface="Courier New"/>
                <a:ea typeface="Courier New"/>
                <a:cs typeface="Courier New"/>
                <a:sym typeface="Courier New"/>
              </a:rPr>
              <a:t>Graph</a:t>
            </a:r>
            <a:r>
              <a:rPr lang="en"/>
              <a:t> interface that uses BFS to find and return the values along the path (if it exists).</a:t>
            </a:r>
            <a:endParaRPr/>
          </a:p>
        </p:txBody>
      </p:sp>
      <p:sp>
        <p:nvSpPr>
          <p:cNvPr id="1766" name="Google Shape;1766;p72"/>
          <p:cNvSpPr txBox="1"/>
          <p:nvPr>
            <p:ph idx="2" type="body"/>
          </p:nvPr>
        </p:nvSpPr>
        <p:spPr>
          <a:xfrm>
            <a:off x="3062150" y="1847850"/>
            <a:ext cx="5819100" cy="2807400"/>
          </a:xfrm>
          <a:prstGeom prst="rect">
            <a:avLst/>
          </a:prstGeom>
          <a:noFill/>
          <a:ln>
            <a:noFill/>
          </a:ln>
        </p:spPr>
        <p:txBody>
          <a:bodyPr anchorCtr="0" anchor="t" bIns="91425" lIns="91425" spcFirstLastPara="1" rIns="91425" wrap="square" tIns="91425">
            <a:spAutoFit/>
          </a:bodyPr>
          <a:lstStyle/>
          <a:p>
            <a:pPr indent="-330200" lvl="0" marL="457200" rtl="0" algn="l">
              <a:lnSpc>
                <a:spcPct val="115000"/>
              </a:lnSpc>
              <a:spcBef>
                <a:spcPts val="0"/>
              </a:spcBef>
              <a:spcAft>
                <a:spcPts val="0"/>
              </a:spcAft>
              <a:buSzPts val="1600"/>
              <a:buChar char="●"/>
            </a:pPr>
            <a:r>
              <a:rPr lang="en" sz="1600"/>
              <a:t>Open the </a:t>
            </a:r>
            <a:r>
              <a:rPr lang="en" sz="1600">
                <a:solidFill>
                  <a:srgbClr val="FF0000"/>
                </a:solidFill>
                <a:latin typeface="Courier New"/>
                <a:ea typeface="Courier New"/>
                <a:cs typeface="Courier New"/>
                <a:sym typeface="Courier New"/>
              </a:rPr>
              <a:t>Graph</a:t>
            </a:r>
            <a:r>
              <a:rPr lang="en" sz="1600">
                <a:solidFill>
                  <a:srgbClr val="FF0000"/>
                </a:solidFill>
              </a:rPr>
              <a:t> </a:t>
            </a:r>
            <a:r>
              <a:rPr lang="en" sz="1600"/>
              <a:t>interface and define a new </a:t>
            </a:r>
            <a:r>
              <a:rPr lang="en" sz="1600">
                <a:solidFill>
                  <a:srgbClr val="FF0000"/>
                </a:solidFill>
                <a:latin typeface="Courier New"/>
                <a:ea typeface="Courier New"/>
                <a:cs typeface="Courier New"/>
                <a:sym typeface="Courier New"/>
              </a:rPr>
              <a:t>default</a:t>
            </a:r>
            <a:r>
              <a:rPr lang="en" sz="1600">
                <a:solidFill>
                  <a:srgbClr val="FF0000"/>
                </a:solidFill>
              </a:rPr>
              <a:t> </a:t>
            </a:r>
            <a:r>
              <a:rPr lang="en" sz="1600"/>
              <a:t>method named </a:t>
            </a:r>
            <a:r>
              <a:rPr lang="en" sz="1600">
                <a:solidFill>
                  <a:srgbClr val="FF0000"/>
                </a:solidFill>
                <a:latin typeface="Courier New"/>
                <a:ea typeface="Courier New"/>
                <a:cs typeface="Courier New"/>
                <a:sym typeface="Courier New"/>
              </a:rPr>
              <a:t>bfPath</a:t>
            </a:r>
            <a:r>
              <a:rPr lang="en" sz="1600">
                <a:solidFill>
                  <a:srgbClr val="FF0000"/>
                </a:solidFill>
              </a:rPr>
              <a:t> </a:t>
            </a:r>
            <a:r>
              <a:rPr lang="en" sz="1600"/>
              <a:t>that declares </a:t>
            </a:r>
            <a:r>
              <a:rPr b="1" i="1" lang="en" sz="1600">
                <a:solidFill>
                  <a:srgbClr val="FF0000"/>
                </a:solidFill>
              </a:rPr>
              <a:t>parameters</a:t>
            </a:r>
            <a:r>
              <a:rPr lang="en" sz="1600">
                <a:solidFill>
                  <a:srgbClr val="FF0000"/>
                </a:solidFill>
              </a:rPr>
              <a:t> </a:t>
            </a:r>
            <a:r>
              <a:rPr lang="en" sz="1600"/>
              <a:t>for </a:t>
            </a:r>
            <a:r>
              <a:rPr lang="en" sz="1600">
                <a:solidFill>
                  <a:srgbClr val="FF0000"/>
                </a:solidFill>
                <a:latin typeface="Courier New"/>
                <a:ea typeface="Courier New"/>
                <a:cs typeface="Courier New"/>
                <a:sym typeface="Courier New"/>
              </a:rPr>
              <a:t>start</a:t>
            </a:r>
            <a:r>
              <a:rPr lang="en" sz="1600">
                <a:solidFill>
                  <a:srgbClr val="FF0000"/>
                </a:solidFill>
              </a:rPr>
              <a:t> </a:t>
            </a:r>
            <a:r>
              <a:rPr lang="en" sz="1600"/>
              <a:t>and </a:t>
            </a:r>
            <a:r>
              <a:rPr lang="en" sz="1600">
                <a:solidFill>
                  <a:srgbClr val="FF0000"/>
                </a:solidFill>
                <a:latin typeface="Courier New"/>
                <a:ea typeface="Courier New"/>
                <a:cs typeface="Courier New"/>
                <a:sym typeface="Courier New"/>
              </a:rPr>
              <a:t>end</a:t>
            </a:r>
            <a:r>
              <a:rPr lang="en" sz="1600">
                <a:solidFill>
                  <a:srgbClr val="FF0000"/>
                </a:solidFill>
              </a:rPr>
              <a:t> </a:t>
            </a:r>
            <a:r>
              <a:rPr lang="en" sz="1600"/>
              <a:t>values and </a:t>
            </a:r>
            <a:r>
              <a:rPr b="1" i="1" lang="en" sz="1600">
                <a:solidFill>
                  <a:srgbClr val="FF0000"/>
                </a:solidFill>
              </a:rPr>
              <a:t>returns </a:t>
            </a:r>
            <a:r>
              <a:rPr lang="en" sz="1600"/>
              <a:t>a </a:t>
            </a:r>
            <a:r>
              <a:rPr lang="en" sz="1600">
                <a:solidFill>
                  <a:srgbClr val="FF0000"/>
                </a:solidFill>
                <a:latin typeface="Courier New"/>
                <a:ea typeface="Courier New"/>
                <a:cs typeface="Courier New"/>
                <a:sym typeface="Courier New"/>
              </a:rPr>
              <a:t>java.util.List&lt;E&gt;</a:t>
            </a:r>
            <a:r>
              <a:rPr lang="en" sz="1600"/>
              <a:t>.</a:t>
            </a:r>
            <a:endParaRPr sz="1600"/>
          </a:p>
          <a:p>
            <a:pPr indent="-317500" lvl="1" marL="914400" rtl="0" algn="l">
              <a:lnSpc>
                <a:spcPct val="115000"/>
              </a:lnSpc>
              <a:spcBef>
                <a:spcPts val="0"/>
              </a:spcBef>
              <a:spcAft>
                <a:spcPts val="0"/>
              </a:spcAft>
              <a:buSzPts val="1400"/>
              <a:buChar char="○"/>
            </a:pPr>
            <a:r>
              <a:rPr lang="en" sz="1400"/>
              <a:t>Use the provided UML as a guide for your method signature.</a:t>
            </a:r>
            <a:endParaRPr sz="1400"/>
          </a:p>
          <a:p>
            <a:pPr indent="-317500" lvl="1" marL="914400" rtl="0" algn="l">
              <a:lnSpc>
                <a:spcPct val="115000"/>
              </a:lnSpc>
              <a:spcBef>
                <a:spcPts val="0"/>
              </a:spcBef>
              <a:spcAft>
                <a:spcPts val="0"/>
              </a:spcAft>
              <a:buSzPts val="1400"/>
              <a:buChar char="○"/>
            </a:pPr>
            <a:r>
              <a:rPr lang="en" sz="1400"/>
              <a:t>Throw an </a:t>
            </a:r>
            <a:r>
              <a:rPr lang="en" sz="1400">
                <a:solidFill>
                  <a:srgbClr val="FF0000"/>
                </a:solidFill>
                <a:latin typeface="Courier New"/>
                <a:ea typeface="Courier New"/>
                <a:cs typeface="Courier New"/>
                <a:sym typeface="Courier New"/>
              </a:rPr>
              <a:t>UnsupportedOperationException</a:t>
            </a:r>
            <a:r>
              <a:rPr lang="en" sz="1400">
                <a:solidFill>
                  <a:srgbClr val="FF0000"/>
                </a:solidFill>
              </a:rPr>
              <a:t> </a:t>
            </a:r>
            <a:r>
              <a:rPr lang="en" sz="1400"/>
              <a:t>from this default implementation.</a:t>
            </a:r>
            <a:endParaRPr sz="1400"/>
          </a:p>
          <a:p>
            <a:pPr indent="-330200" lvl="0" marL="457200" rtl="0" algn="l">
              <a:lnSpc>
                <a:spcPct val="115000"/>
              </a:lnSpc>
              <a:spcBef>
                <a:spcPts val="0"/>
              </a:spcBef>
              <a:spcAft>
                <a:spcPts val="0"/>
              </a:spcAft>
              <a:buSzPts val="1600"/>
              <a:buChar char="●"/>
            </a:pPr>
            <a:r>
              <a:rPr b="1" i="1" lang="en" sz="1600">
                <a:solidFill>
                  <a:srgbClr val="FF0000"/>
                </a:solidFill>
              </a:rPr>
              <a:t>Run</a:t>
            </a:r>
            <a:r>
              <a:rPr lang="en" sz="1600">
                <a:solidFill>
                  <a:srgbClr val="FF0000"/>
                </a:solidFill>
              </a:rPr>
              <a:t> </a:t>
            </a:r>
            <a:r>
              <a:rPr lang="en" sz="1600"/>
              <a:t>the provided </a:t>
            </a:r>
            <a:r>
              <a:rPr lang="en" sz="1600">
                <a:solidFill>
                  <a:srgbClr val="FF0000"/>
                </a:solidFill>
                <a:latin typeface="Courier New"/>
                <a:ea typeface="Courier New"/>
                <a:cs typeface="Courier New"/>
                <a:sym typeface="Courier New"/>
              </a:rPr>
              <a:t>BFPathTest</a:t>
            </a:r>
            <a:r>
              <a:rPr lang="en" sz="1600"/>
              <a:t> JUnit test.</a:t>
            </a:r>
            <a:endParaRPr sz="1600"/>
          </a:p>
          <a:p>
            <a:pPr indent="-317500" lvl="1" marL="914400" rtl="0" algn="l">
              <a:lnSpc>
                <a:spcPct val="115000"/>
              </a:lnSpc>
              <a:spcBef>
                <a:spcPts val="0"/>
              </a:spcBef>
              <a:spcAft>
                <a:spcPts val="0"/>
              </a:spcAft>
              <a:buSzPts val="1400"/>
              <a:buChar char="○"/>
            </a:pPr>
            <a:r>
              <a:rPr lang="en" sz="1400"/>
              <a:t>The tests should </a:t>
            </a:r>
            <a:r>
              <a:rPr b="1" i="1" lang="en" sz="1400">
                <a:solidFill>
                  <a:srgbClr val="FF0000"/>
                </a:solidFill>
              </a:rPr>
              <a:t>run</a:t>
            </a:r>
            <a:r>
              <a:rPr lang="en" sz="1400"/>
              <a:t>, but will </a:t>
            </a:r>
            <a:r>
              <a:rPr b="1" i="1" lang="en" sz="1400">
                <a:solidFill>
                  <a:srgbClr val="FF0000"/>
                </a:solidFill>
              </a:rPr>
              <a:t>fail</a:t>
            </a:r>
            <a:r>
              <a:rPr lang="en" sz="1400">
                <a:solidFill>
                  <a:srgbClr val="FF0000"/>
                </a:solidFill>
              </a:rPr>
              <a:t> </a:t>
            </a:r>
            <a:r>
              <a:rPr lang="en" sz="1400"/>
              <a:t>when the exception is thrown.</a:t>
            </a:r>
            <a:endParaRPr sz="1400"/>
          </a:p>
        </p:txBody>
      </p:sp>
      <p:graphicFrame>
        <p:nvGraphicFramePr>
          <p:cNvPr id="1767" name="Google Shape;1767;p72"/>
          <p:cNvGraphicFramePr/>
          <p:nvPr/>
        </p:nvGraphicFramePr>
        <p:xfrm>
          <a:off x="161407" y="1847850"/>
          <a:ext cx="3000000" cy="3000000"/>
        </p:xfrm>
        <a:graphic>
          <a:graphicData uri="http://schemas.openxmlformats.org/drawingml/2006/table">
            <a:tbl>
              <a:tblPr>
                <a:noFill/>
                <a:tableStyleId>{F61E8307-4E6B-4154-8BF4-D3231BAD3CED}</a:tableStyleId>
              </a:tblPr>
              <a:tblGrid>
                <a:gridCol w="2805850"/>
              </a:tblGrid>
              <a:tr h="257275">
                <a:tc>
                  <a:txBody>
                    <a:bodyPr/>
                    <a:lstStyle/>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&lt;&lt;interface&gt;&gt;</a:t>
                      </a:r>
                      <a:endParaRPr i="1" sz="10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Graph&lt;E&gt;</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50">
                <a:tc>
                  <a:txBody>
                    <a:bodyPr/>
                    <a:lstStyle/>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add(value: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contains(value: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size(): int</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connectUndirected(a: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connected(a: E, b: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bfSearch(start: E, end: E): boolean</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 bfPath(start: E, end: E): List&lt;E&gt;</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1" name="Shape 1771"/>
        <p:cNvGrpSpPr/>
        <p:nvPr/>
      </p:nvGrpSpPr>
      <p:grpSpPr>
        <a:xfrm>
          <a:off x="0" y="0"/>
          <a:ext cx="0" cy="0"/>
          <a:chOff x="0" y="0"/>
          <a:chExt cx="0" cy="0"/>
        </a:xfrm>
      </p:grpSpPr>
      <p:sp>
        <p:nvSpPr>
          <p:cNvPr id="1772" name="Google Shape;1772;p7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73" name="Google Shape;1773;p73"/>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16</a:t>
            </a:r>
            <a:endParaRPr/>
          </a:p>
        </p:txBody>
      </p:sp>
      <p:pic>
        <p:nvPicPr>
          <p:cNvPr id="1774" name="Google Shape;1774;p73"/>
          <p:cNvPicPr preferRelativeResize="0"/>
          <p:nvPr/>
        </p:nvPicPr>
        <p:blipFill rotWithShape="1">
          <a:blip r:embed="rId3">
            <a:alphaModFix/>
          </a:blip>
          <a:srcRect b="0" l="0" r="0" t="0"/>
          <a:stretch/>
        </p:blipFill>
        <p:spPr>
          <a:xfrm>
            <a:off x="228600" y="2049975"/>
            <a:ext cx="2376599" cy="2759851"/>
          </a:xfrm>
          <a:prstGeom prst="rect">
            <a:avLst/>
          </a:prstGeom>
          <a:noFill/>
          <a:ln>
            <a:noFill/>
          </a:ln>
        </p:spPr>
      </p:pic>
      <p:sp>
        <p:nvSpPr>
          <p:cNvPr id="1775" name="Google Shape;1775;p73"/>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Begin Implementing BFS-Path</a:t>
            </a:r>
            <a:endParaRPr/>
          </a:p>
        </p:txBody>
      </p:sp>
      <p:sp>
        <p:nvSpPr>
          <p:cNvPr id="1776" name="Google Shape;1776;p73"/>
          <p:cNvSpPr txBox="1"/>
          <p:nvPr>
            <p:ph idx="1" type="body"/>
          </p:nvPr>
        </p:nvSpPr>
        <p:spPr>
          <a:xfrm>
            <a:off x="65250" y="731625"/>
            <a:ext cx="8955900" cy="1280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The setup for BFS-Path is very similar to the existing BFS implementation. The only major difference is that we will be using a </a:t>
            </a:r>
            <a:r>
              <a:rPr b="1" i="1" lang="en">
                <a:solidFill>
                  <a:srgbClr val="FF0000"/>
                </a:solidFill>
              </a:rPr>
              <a:t>map</a:t>
            </a:r>
            <a:r>
              <a:rPr lang="en">
                <a:solidFill>
                  <a:srgbClr val="FF0000"/>
                </a:solidFill>
              </a:rPr>
              <a:t> </a:t>
            </a:r>
            <a:r>
              <a:rPr lang="en"/>
              <a:t>to keep track of each visited vertex and its predecessor (instead of a set). Begin implementing the algorithm now by focusing on creating the data structures that you will need.</a:t>
            </a:r>
            <a:endParaRPr/>
          </a:p>
        </p:txBody>
      </p:sp>
      <p:sp>
        <p:nvSpPr>
          <p:cNvPr id="1777" name="Google Shape;1777;p73"/>
          <p:cNvSpPr txBox="1"/>
          <p:nvPr>
            <p:ph idx="2" type="body"/>
          </p:nvPr>
        </p:nvSpPr>
        <p:spPr>
          <a:xfrm>
            <a:off x="2725250" y="2025925"/>
            <a:ext cx="6193500" cy="2828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AdjacencyGraph</a:t>
            </a:r>
            <a:r>
              <a:rPr lang="en" sz="1400">
                <a:solidFill>
                  <a:srgbClr val="FF0000"/>
                </a:solidFill>
              </a:rPr>
              <a:t> </a:t>
            </a:r>
            <a:r>
              <a:rPr lang="en" sz="1400"/>
              <a:t>class and </a:t>
            </a:r>
            <a:r>
              <a:rPr b="1" i="1" lang="en" sz="1400">
                <a:solidFill>
                  <a:srgbClr val="FF0000"/>
                </a:solidFill>
              </a:rPr>
              <a:t>override</a:t>
            </a:r>
            <a:r>
              <a:rPr lang="en" sz="1400">
                <a:solidFill>
                  <a:srgbClr val="FF0000"/>
                </a:solidFill>
              </a:rPr>
              <a:t> </a:t>
            </a:r>
            <a:r>
              <a:rPr lang="en" sz="1400"/>
              <a:t>the default implementation of </a:t>
            </a:r>
            <a:r>
              <a:rPr lang="en" sz="1400">
                <a:solidFill>
                  <a:srgbClr val="FF0000"/>
                </a:solidFill>
                <a:latin typeface="Courier New"/>
                <a:ea typeface="Courier New"/>
                <a:cs typeface="Courier New"/>
                <a:sym typeface="Courier New"/>
              </a:rPr>
              <a:t>bfPath</a:t>
            </a:r>
            <a:r>
              <a:rPr lang="en" sz="1400">
                <a:solidFill>
                  <a:srgbClr val="FF0000"/>
                </a:solidFill>
              </a:rPr>
              <a:t> </a:t>
            </a:r>
            <a:r>
              <a:rPr lang="en" sz="1400"/>
              <a:t>inherited from the </a:t>
            </a:r>
            <a:r>
              <a:rPr lang="en" sz="1400">
                <a:latin typeface="Courier New"/>
                <a:ea typeface="Courier New"/>
                <a:cs typeface="Courier New"/>
                <a:sym typeface="Courier New"/>
              </a:rPr>
              <a:t>Graph</a:t>
            </a:r>
            <a:r>
              <a:rPr lang="en" sz="1400"/>
              <a:t> interface.</a:t>
            </a:r>
            <a:endParaRPr sz="1400"/>
          </a:p>
          <a:p>
            <a:pPr indent="-317500" lvl="0" marL="457200" rtl="0" algn="l">
              <a:lnSpc>
                <a:spcPct val="115000"/>
              </a:lnSpc>
              <a:spcBef>
                <a:spcPts val="0"/>
              </a:spcBef>
              <a:spcAft>
                <a:spcPts val="0"/>
              </a:spcAft>
              <a:buSzPts val="1400"/>
              <a:buChar char="●"/>
            </a:pPr>
            <a:r>
              <a:rPr lang="en" sz="1400"/>
              <a:t>Focus on the setup for the algorithm.</a:t>
            </a:r>
            <a:endParaRPr sz="1400"/>
          </a:p>
          <a:p>
            <a:pPr indent="-304800" lvl="1" marL="914400" rtl="0" algn="l">
              <a:lnSpc>
                <a:spcPct val="115000"/>
              </a:lnSpc>
              <a:spcBef>
                <a:spcPts val="0"/>
              </a:spcBef>
              <a:spcAft>
                <a:spcPts val="0"/>
              </a:spcAft>
              <a:buSzPts val="1200"/>
              <a:buChar char="○"/>
            </a:pPr>
            <a:r>
              <a:rPr lang="en" sz="1200"/>
              <a:t>Get the vertices corresponding to the </a:t>
            </a:r>
            <a:r>
              <a:rPr lang="en" sz="1200">
                <a:solidFill>
                  <a:srgbClr val="FF0000"/>
                </a:solidFill>
                <a:latin typeface="Courier New"/>
                <a:ea typeface="Courier New"/>
                <a:cs typeface="Courier New"/>
                <a:sym typeface="Courier New"/>
              </a:rPr>
              <a:t>start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end</a:t>
            </a:r>
            <a:r>
              <a:rPr lang="en" sz="1200">
                <a:solidFill>
                  <a:srgbClr val="FF0000"/>
                </a:solidFill>
              </a:rPr>
              <a:t> </a:t>
            </a:r>
            <a:r>
              <a:rPr lang="en" sz="1200"/>
              <a:t>values from the graph's map of </a:t>
            </a:r>
            <a:r>
              <a:rPr lang="en" sz="1200">
                <a:solidFill>
                  <a:srgbClr val="FF0000"/>
                </a:solidFill>
                <a:latin typeface="Courier New"/>
                <a:ea typeface="Courier New"/>
                <a:cs typeface="Courier New"/>
                <a:sym typeface="Courier New"/>
              </a:rPr>
              <a:t>vertices</a:t>
            </a:r>
            <a:r>
              <a:rPr lang="en" sz="1200"/>
              <a:t>.</a:t>
            </a:r>
            <a:endParaRPr sz="1200"/>
          </a:p>
          <a:p>
            <a:pPr indent="-304800" lvl="1" marL="914400" rtl="0" algn="l">
              <a:lnSpc>
                <a:spcPct val="115000"/>
              </a:lnSpc>
              <a:spcBef>
                <a:spcPts val="0"/>
              </a:spcBef>
              <a:spcAft>
                <a:spcPts val="0"/>
              </a:spcAft>
              <a:buSzPts val="1200"/>
              <a:buChar char="○"/>
            </a:pPr>
            <a:r>
              <a:rPr lang="en" sz="1200"/>
              <a:t>Create the </a:t>
            </a:r>
            <a:r>
              <a:rPr b="1" i="1" lang="en" sz="1200">
                <a:solidFill>
                  <a:srgbClr val="FF0000"/>
                </a:solidFill>
              </a:rPr>
              <a:t>queue</a:t>
            </a:r>
            <a:r>
              <a:rPr lang="en" sz="1200">
                <a:solidFill>
                  <a:srgbClr val="FF0000"/>
                </a:solidFill>
              </a:rPr>
              <a:t> </a:t>
            </a:r>
            <a:r>
              <a:rPr lang="en" sz="1200"/>
              <a:t>(</a:t>
            </a:r>
            <a:r>
              <a:rPr lang="en" sz="1200">
                <a:solidFill>
                  <a:srgbClr val="FF0000"/>
                </a:solidFill>
                <a:latin typeface="Courier New"/>
                <a:ea typeface="Courier New"/>
                <a:cs typeface="Courier New"/>
                <a:sym typeface="Courier New"/>
              </a:rPr>
              <a:t>java.util.LinkedList</a:t>
            </a:r>
            <a:r>
              <a:rPr lang="en" sz="1200"/>
              <a:t>) and add the starting vertex.</a:t>
            </a:r>
            <a:endParaRPr sz="1200"/>
          </a:p>
          <a:p>
            <a:pPr indent="-304800" lvl="1" marL="914400" rtl="0" algn="l">
              <a:lnSpc>
                <a:spcPct val="115000"/>
              </a:lnSpc>
              <a:spcBef>
                <a:spcPts val="0"/>
              </a:spcBef>
              <a:spcAft>
                <a:spcPts val="0"/>
              </a:spcAft>
              <a:buSzPts val="1200"/>
              <a:buChar char="○"/>
            </a:pPr>
            <a:r>
              <a:rPr lang="en" sz="1200"/>
              <a:t>Create a </a:t>
            </a:r>
            <a:r>
              <a:rPr b="1" i="1" lang="en" sz="1200">
                <a:solidFill>
                  <a:srgbClr val="FF0000"/>
                </a:solidFill>
              </a:rPr>
              <a:t>predecessor map </a:t>
            </a:r>
            <a:r>
              <a:rPr lang="en" sz="1200"/>
              <a:t>(</a:t>
            </a:r>
            <a:r>
              <a:rPr lang="en" sz="1200">
                <a:solidFill>
                  <a:srgbClr val="FF0000"/>
                </a:solidFill>
                <a:latin typeface="Courier New"/>
                <a:ea typeface="Courier New"/>
                <a:cs typeface="Courier New"/>
                <a:sym typeface="Courier New"/>
              </a:rPr>
              <a:t>java.util.HashMap</a:t>
            </a:r>
            <a:r>
              <a:rPr lang="en" sz="1200"/>
              <a:t>) and add the starting vertex as the key with a </a:t>
            </a:r>
            <a:r>
              <a:rPr lang="en" sz="1200">
                <a:solidFill>
                  <a:srgbClr val="FF0000"/>
                </a:solidFill>
                <a:latin typeface="Courier New"/>
                <a:ea typeface="Courier New"/>
                <a:cs typeface="Courier New"/>
                <a:sym typeface="Courier New"/>
              </a:rPr>
              <a:t>null</a:t>
            </a:r>
            <a:r>
              <a:rPr lang="en" sz="1200"/>
              <a:t> predecessor.</a:t>
            </a:r>
            <a:endParaRPr sz="1200"/>
          </a:p>
          <a:p>
            <a:pPr indent="-304800" lvl="1" marL="914400" rtl="0" algn="l">
              <a:lnSpc>
                <a:spcPct val="115000"/>
              </a:lnSpc>
              <a:spcBef>
                <a:spcPts val="0"/>
              </a:spcBef>
              <a:spcAft>
                <a:spcPts val="0"/>
              </a:spcAft>
              <a:buSzPts val="1200"/>
              <a:buChar char="○"/>
            </a:pPr>
            <a:r>
              <a:rPr lang="en" sz="1200">
                <a:solidFill>
                  <a:srgbClr val="FF0000"/>
                </a:solidFill>
              </a:rPr>
              <a:t>Return </a:t>
            </a:r>
            <a:r>
              <a:rPr lang="en" sz="1200">
                <a:solidFill>
                  <a:srgbClr val="FF0000"/>
                </a:solidFill>
                <a:latin typeface="Courier New"/>
                <a:ea typeface="Courier New"/>
                <a:cs typeface="Courier New"/>
                <a:sym typeface="Courier New"/>
              </a:rPr>
              <a:t>null</a:t>
            </a:r>
            <a:r>
              <a:rPr lang="en" sz="1200">
                <a:solidFill>
                  <a:srgbClr val="FF0000"/>
                </a:solidFill>
              </a:rPr>
              <a:t> </a:t>
            </a:r>
            <a:r>
              <a:rPr lang="en" sz="1200"/>
              <a:t>for now.</a:t>
            </a:r>
            <a:endParaRPr sz="1200"/>
          </a:p>
          <a:p>
            <a:pPr indent="-317500" lvl="0" marL="457200" rtl="0" algn="l">
              <a:lnSpc>
                <a:spcPct val="115000"/>
              </a:lnSpc>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your partially implemented algorithm using the provided </a:t>
            </a:r>
            <a:r>
              <a:rPr lang="en" sz="1400">
                <a:solidFill>
                  <a:srgbClr val="FF0000"/>
                </a:solidFill>
                <a:latin typeface="Courier New"/>
                <a:ea typeface="Courier New"/>
                <a:cs typeface="Courier New"/>
                <a:sym typeface="Courier New"/>
              </a:rPr>
              <a:t>BFPathTest</a:t>
            </a:r>
            <a:r>
              <a:rPr lang="en" sz="1400"/>
              <a:t>.</a:t>
            </a:r>
            <a:endParaRPr sz="1400"/>
          </a:p>
          <a:p>
            <a:pPr indent="-304800" lvl="1" marL="914400" rtl="0" algn="l">
              <a:lnSpc>
                <a:spcPct val="115000"/>
              </a:lnSpc>
              <a:spcBef>
                <a:spcPts val="0"/>
              </a:spcBef>
              <a:spcAft>
                <a:spcPts val="0"/>
              </a:spcAft>
              <a:buSzPts val="1200"/>
              <a:buChar char="○"/>
            </a:pPr>
            <a:r>
              <a:rPr b="1" i="1" lang="en" sz="1200">
                <a:solidFill>
                  <a:srgbClr val="FF0000"/>
                </a:solidFill>
              </a:rPr>
              <a:t>Some </a:t>
            </a:r>
            <a:r>
              <a:rPr lang="en" sz="1200"/>
              <a:t>of the tests should now </a:t>
            </a:r>
            <a:r>
              <a:rPr b="1" i="1" lang="en" sz="1200">
                <a:solidFill>
                  <a:srgbClr val="FF0000"/>
                </a:solidFill>
              </a:rPr>
              <a:t>pass</a:t>
            </a:r>
            <a:r>
              <a:rPr lang="en" sz="1200"/>
              <a:t>.</a:t>
            </a:r>
            <a:endParaRPr sz="1200"/>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1" name="Shape 1781"/>
        <p:cNvGrpSpPr/>
        <p:nvPr/>
      </p:nvGrpSpPr>
      <p:grpSpPr>
        <a:xfrm>
          <a:off x="0" y="0"/>
          <a:ext cx="0" cy="0"/>
          <a:chOff x="0" y="0"/>
          <a:chExt cx="0" cy="0"/>
        </a:xfrm>
      </p:grpSpPr>
      <p:pic>
        <p:nvPicPr>
          <p:cNvPr id="1782" name="Google Shape;1782;p74"/>
          <p:cNvPicPr preferRelativeResize="0"/>
          <p:nvPr/>
        </p:nvPicPr>
        <p:blipFill rotWithShape="1">
          <a:blip r:embed="rId3">
            <a:alphaModFix/>
          </a:blip>
          <a:srcRect b="0" l="0" r="0" t="0"/>
          <a:stretch/>
        </p:blipFill>
        <p:spPr>
          <a:xfrm>
            <a:off x="120325" y="1861951"/>
            <a:ext cx="3084074" cy="2673249"/>
          </a:xfrm>
          <a:prstGeom prst="rect">
            <a:avLst/>
          </a:prstGeom>
          <a:noFill/>
          <a:ln>
            <a:noFill/>
          </a:ln>
        </p:spPr>
      </p:pic>
      <p:sp>
        <p:nvSpPr>
          <p:cNvPr id="1783" name="Google Shape;1783;p74"/>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A Path-Making Helper Function</a:t>
            </a:r>
            <a:endParaRPr/>
          </a:p>
        </p:txBody>
      </p:sp>
      <p:sp>
        <p:nvSpPr>
          <p:cNvPr id="1784" name="Google Shape;1784;p74"/>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The most complicated part of the BFS-Path algorithm is using the map of predecessors to build the path</a:t>
            </a:r>
            <a:r>
              <a:rPr lang="en">
                <a:solidFill>
                  <a:srgbClr val="FF0000"/>
                </a:solidFill>
              </a:rPr>
              <a:t> </a:t>
            </a:r>
            <a:r>
              <a:rPr b="1" i="1" lang="en">
                <a:solidFill>
                  <a:srgbClr val="FF0000"/>
                </a:solidFill>
              </a:rPr>
              <a:t>in reverse</a:t>
            </a:r>
            <a:r>
              <a:rPr lang="en"/>
              <a:t>. Implement a helper function that adds values to the path by inserting them at index 0 in a list. Which list implementation should you use?</a:t>
            </a:r>
            <a:endParaRPr/>
          </a:p>
        </p:txBody>
      </p:sp>
      <p:sp>
        <p:nvSpPr>
          <p:cNvPr id="1785" name="Google Shape;1785;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86" name="Google Shape;1786;p74"/>
          <p:cNvSpPr txBox="1"/>
          <p:nvPr>
            <p:ph idx="2" type="body"/>
          </p:nvPr>
        </p:nvSpPr>
        <p:spPr>
          <a:xfrm>
            <a:off x="3144500" y="1708325"/>
            <a:ext cx="5796600" cy="3272400"/>
          </a:xfrm>
          <a:prstGeom prst="rect">
            <a:avLst/>
          </a:prstGeom>
          <a:noFill/>
          <a:ln>
            <a:noFill/>
          </a:ln>
        </p:spPr>
        <p:txBody>
          <a:bodyPr anchorCtr="0" anchor="t" bIns="91425" lIns="91425" spcFirstLastPara="1" rIns="91425" wrap="square" tIns="91425">
            <a:spAutoFit/>
          </a:bodyPr>
          <a:lstStyle/>
          <a:p>
            <a:pPr indent="-317500" lvl="0" marL="457200" rtl="0" algn="l">
              <a:lnSpc>
                <a:spcPct val="115000"/>
              </a:lnSpc>
              <a:spcBef>
                <a:spcPts val="0"/>
              </a:spcBef>
              <a:spcAft>
                <a:spcPts val="0"/>
              </a:spcAft>
              <a:buSzPts val="1400"/>
              <a:buChar char="●"/>
            </a:pPr>
            <a:r>
              <a:rPr lang="en" sz="1400"/>
              <a:t>Open the </a:t>
            </a:r>
            <a:r>
              <a:rPr lang="en" sz="1400">
                <a:latin typeface="Courier New"/>
                <a:ea typeface="Courier New"/>
                <a:cs typeface="Courier New"/>
                <a:sym typeface="Courier New"/>
              </a:rPr>
              <a:t>AdjacencyGraph</a:t>
            </a:r>
            <a:r>
              <a:rPr lang="en" sz="1400"/>
              <a:t> class and define a </a:t>
            </a:r>
            <a:r>
              <a:rPr lang="en" sz="1400">
                <a:solidFill>
                  <a:srgbClr val="FF0000"/>
                </a:solidFill>
                <a:latin typeface="Courier New"/>
                <a:ea typeface="Courier New"/>
                <a:cs typeface="Courier New"/>
                <a:sym typeface="Courier New"/>
              </a:rPr>
              <a:t>private</a:t>
            </a:r>
            <a:r>
              <a:rPr lang="en" sz="1400">
                <a:solidFill>
                  <a:srgbClr val="FF0000"/>
                </a:solidFill>
              </a:rPr>
              <a:t> </a:t>
            </a:r>
            <a:r>
              <a:rPr lang="en" sz="1400"/>
              <a:t>method named "</a:t>
            </a:r>
            <a:r>
              <a:rPr lang="en" sz="1400">
                <a:solidFill>
                  <a:srgbClr val="FF0000"/>
                </a:solidFill>
                <a:latin typeface="Courier New"/>
                <a:ea typeface="Courier New"/>
                <a:cs typeface="Courier New"/>
                <a:sym typeface="Courier New"/>
              </a:rPr>
              <a:t>makePath</a:t>
            </a:r>
            <a:r>
              <a:rPr lang="en" sz="1400"/>
              <a:t>" that declares parameters for a </a:t>
            </a:r>
            <a:r>
              <a:rPr lang="en" sz="1400">
                <a:solidFill>
                  <a:srgbClr val="FF0000"/>
                </a:solidFill>
                <a:latin typeface="Courier New"/>
                <a:ea typeface="Courier New"/>
                <a:cs typeface="Courier New"/>
                <a:sym typeface="Courier New"/>
              </a:rPr>
              <a:t>predecessors</a:t>
            </a:r>
            <a:r>
              <a:rPr lang="en" sz="1400">
                <a:solidFill>
                  <a:srgbClr val="FF0000"/>
                </a:solidFill>
              </a:rPr>
              <a:t> </a:t>
            </a:r>
            <a:r>
              <a:rPr lang="en" sz="1400"/>
              <a:t>map and the </a:t>
            </a:r>
            <a:r>
              <a:rPr lang="en" sz="1400">
                <a:solidFill>
                  <a:srgbClr val="FF0000"/>
                </a:solidFill>
                <a:latin typeface="Courier New"/>
                <a:ea typeface="Courier New"/>
                <a:cs typeface="Courier New"/>
                <a:sym typeface="Courier New"/>
              </a:rPr>
              <a:t>end</a:t>
            </a:r>
            <a:r>
              <a:rPr lang="en" sz="1400">
                <a:solidFill>
                  <a:srgbClr val="FF0000"/>
                </a:solidFill>
              </a:rPr>
              <a:t> </a:t>
            </a:r>
            <a:r>
              <a:rPr lang="en" sz="1400"/>
              <a:t>vertex and returns a </a:t>
            </a:r>
            <a:r>
              <a:rPr lang="en" sz="1400">
                <a:latin typeface="Courier New"/>
                <a:ea typeface="Courier New"/>
                <a:cs typeface="Courier New"/>
                <a:sym typeface="Courier New"/>
              </a:rPr>
              <a:t>List&lt;E&gt;</a:t>
            </a:r>
            <a:r>
              <a:rPr lang="en" sz="1400"/>
              <a:t>.</a:t>
            </a:r>
            <a:endParaRPr sz="1400"/>
          </a:p>
          <a:p>
            <a:pPr indent="-317500" lvl="0" marL="457200" rtl="0" algn="l">
              <a:lnSpc>
                <a:spcPct val="115000"/>
              </a:lnSpc>
              <a:spcBef>
                <a:spcPts val="0"/>
              </a:spcBef>
              <a:spcAft>
                <a:spcPts val="0"/>
              </a:spcAft>
              <a:buSzPts val="1400"/>
              <a:buChar char="●"/>
            </a:pPr>
            <a:r>
              <a:rPr lang="en" sz="1400"/>
              <a:t>Use the map to build a path according to the following algorithm:</a:t>
            </a:r>
            <a:endParaRPr sz="1400"/>
          </a:p>
          <a:p>
            <a:pPr indent="-304800" lvl="1" marL="914400" rtl="0" algn="l">
              <a:lnSpc>
                <a:spcPct val="115000"/>
              </a:lnSpc>
              <a:spcBef>
                <a:spcPts val="0"/>
              </a:spcBef>
              <a:spcAft>
                <a:spcPts val="0"/>
              </a:spcAft>
              <a:buSzPts val="1200"/>
              <a:buChar char="○"/>
            </a:pPr>
            <a:r>
              <a:rPr lang="en" sz="1200"/>
              <a:t>If the map</a:t>
            </a:r>
            <a:r>
              <a:rPr b="1" i="1" lang="en" sz="1200"/>
              <a:t> </a:t>
            </a:r>
            <a:r>
              <a:rPr b="1" i="1" lang="en" sz="1200">
                <a:solidFill>
                  <a:srgbClr val="FF0000"/>
                </a:solidFill>
              </a:rPr>
              <a:t>does not contain</a:t>
            </a:r>
            <a:r>
              <a:rPr lang="en" sz="1200"/>
              <a:t> the </a:t>
            </a:r>
            <a:r>
              <a:rPr lang="en" sz="1200">
                <a:latin typeface="Courier New"/>
                <a:ea typeface="Courier New"/>
                <a:cs typeface="Courier New"/>
                <a:sym typeface="Courier New"/>
              </a:rPr>
              <a:t>end</a:t>
            </a:r>
            <a:r>
              <a:rPr lang="en" sz="1200"/>
              <a:t> vertex, </a:t>
            </a:r>
            <a:r>
              <a:rPr b="1" i="1" lang="en" sz="1200">
                <a:solidFill>
                  <a:srgbClr val="FF0000"/>
                </a:solidFill>
              </a:rPr>
              <a:t>return </a:t>
            </a:r>
            <a:r>
              <a:rPr lang="en" sz="1200">
                <a:solidFill>
                  <a:srgbClr val="FF0000"/>
                </a:solidFill>
                <a:latin typeface="Courier New"/>
                <a:ea typeface="Courier New"/>
                <a:cs typeface="Courier New"/>
                <a:sym typeface="Courier New"/>
              </a:rPr>
              <a:t>null</a:t>
            </a:r>
            <a:r>
              <a:rPr lang="en" sz="1200"/>
              <a:t>.</a:t>
            </a:r>
            <a:endParaRPr sz="1200"/>
          </a:p>
          <a:p>
            <a:pPr indent="-304800" lvl="2" marL="1371600" rtl="0" algn="l">
              <a:lnSpc>
                <a:spcPct val="115000"/>
              </a:lnSpc>
              <a:spcBef>
                <a:spcPts val="0"/>
              </a:spcBef>
              <a:spcAft>
                <a:spcPts val="0"/>
              </a:spcAft>
              <a:buSzPts val="1200"/>
              <a:buChar char="■"/>
            </a:pPr>
            <a:r>
              <a:rPr b="1" i="1" lang="en" sz="1200">
                <a:solidFill>
                  <a:srgbClr val="FF0000"/>
                </a:solidFill>
              </a:rPr>
              <a:t>Hint</a:t>
            </a:r>
            <a:r>
              <a:rPr lang="en" sz="1200"/>
              <a:t>: use the </a:t>
            </a:r>
            <a:r>
              <a:rPr lang="en" sz="1200">
                <a:solidFill>
                  <a:srgbClr val="FF0000"/>
                </a:solidFill>
                <a:latin typeface="Courier New"/>
                <a:ea typeface="Courier New"/>
                <a:cs typeface="Courier New"/>
                <a:sym typeface="Courier New"/>
              </a:rPr>
              <a:t>containsKey(end)</a:t>
            </a:r>
            <a:r>
              <a:rPr lang="en" sz="1200"/>
              <a:t> method on the map.</a:t>
            </a:r>
            <a:endParaRPr sz="1200"/>
          </a:p>
          <a:p>
            <a:pPr indent="-304800" lvl="1" marL="914400" rtl="0" algn="l">
              <a:lnSpc>
                <a:spcPct val="115000"/>
              </a:lnSpc>
              <a:spcBef>
                <a:spcPts val="0"/>
              </a:spcBef>
              <a:spcAft>
                <a:spcPts val="0"/>
              </a:spcAft>
              <a:buSzPts val="1200"/>
              <a:buChar char="○"/>
            </a:pPr>
            <a:r>
              <a:rPr lang="en" sz="1200"/>
              <a:t>Otherwise:</a:t>
            </a:r>
            <a:endParaRPr sz="1200"/>
          </a:p>
          <a:p>
            <a:pPr indent="-304800" lvl="2" marL="1371600" rtl="0" algn="l">
              <a:lnSpc>
                <a:spcPct val="115000"/>
              </a:lnSpc>
              <a:spcBef>
                <a:spcPts val="0"/>
              </a:spcBef>
              <a:spcAft>
                <a:spcPts val="0"/>
              </a:spcAft>
              <a:buSzPts val="1200"/>
              <a:buChar char="■"/>
            </a:pPr>
            <a:r>
              <a:rPr lang="en" sz="1200"/>
              <a:t>Make an empty list for the </a:t>
            </a:r>
            <a:r>
              <a:rPr b="1" i="1" lang="en" sz="1200">
                <a:solidFill>
                  <a:srgbClr val="FF0000"/>
                </a:solidFill>
              </a:rPr>
              <a:t>path</a:t>
            </a:r>
            <a:r>
              <a:rPr lang="en" sz="1200"/>
              <a:t>.</a:t>
            </a:r>
            <a:endParaRPr sz="1200"/>
          </a:p>
          <a:p>
            <a:pPr indent="-304800" lvl="2" marL="1371600" rtl="0" algn="l">
              <a:lnSpc>
                <a:spcPct val="115000"/>
              </a:lnSpc>
              <a:spcBef>
                <a:spcPts val="0"/>
              </a:spcBef>
              <a:spcAft>
                <a:spcPts val="0"/>
              </a:spcAft>
              <a:buSzPts val="1200"/>
              <a:buChar char="■"/>
            </a:pPr>
            <a:r>
              <a:rPr lang="en" sz="1200"/>
              <a:t>Set the </a:t>
            </a:r>
            <a:r>
              <a:rPr b="1" i="1" lang="en" sz="1200">
                <a:solidFill>
                  <a:srgbClr val="FF0000"/>
                </a:solidFill>
              </a:rPr>
              <a:t>current </a:t>
            </a:r>
            <a:r>
              <a:rPr lang="en" sz="1200"/>
              <a:t>vertex to </a:t>
            </a:r>
            <a:r>
              <a:rPr lang="en" sz="1200">
                <a:latin typeface="Courier New"/>
                <a:ea typeface="Courier New"/>
                <a:cs typeface="Courier New"/>
                <a:sym typeface="Courier New"/>
              </a:rPr>
              <a:t>end</a:t>
            </a:r>
            <a:r>
              <a:rPr lang="en" sz="1200"/>
              <a:t>.</a:t>
            </a:r>
            <a:endParaRPr sz="1200"/>
          </a:p>
          <a:p>
            <a:pPr indent="-304800" lvl="2" marL="1371600" rtl="0" algn="l">
              <a:lnSpc>
                <a:spcPct val="115000"/>
              </a:lnSpc>
              <a:spcBef>
                <a:spcPts val="0"/>
              </a:spcBef>
              <a:spcAft>
                <a:spcPts val="0"/>
              </a:spcAft>
              <a:buSzPts val="1200"/>
              <a:buChar char="■"/>
            </a:pPr>
            <a:r>
              <a:rPr lang="en" sz="1200"/>
              <a:t>As long as current</a:t>
            </a:r>
            <a:r>
              <a:rPr lang="en" sz="1200">
                <a:solidFill>
                  <a:srgbClr val="FF0000"/>
                </a:solidFill>
              </a:rPr>
              <a:t> </a:t>
            </a:r>
            <a:r>
              <a:rPr b="1" i="1" lang="en" sz="1200">
                <a:solidFill>
                  <a:srgbClr val="FF0000"/>
                </a:solidFill>
              </a:rPr>
              <a:t>is not</a:t>
            </a:r>
            <a:r>
              <a:rPr lang="en" sz="1200">
                <a:solidFill>
                  <a:srgbClr val="FF0000"/>
                </a:solidFill>
              </a:rPr>
              <a:t> </a:t>
            </a:r>
            <a:r>
              <a:rPr lang="en" sz="1200">
                <a:solidFill>
                  <a:srgbClr val="FF0000"/>
                </a:solidFill>
                <a:latin typeface="Courier New"/>
                <a:ea typeface="Courier New"/>
                <a:cs typeface="Courier New"/>
                <a:sym typeface="Courier New"/>
              </a:rPr>
              <a:t>null</a:t>
            </a:r>
            <a:r>
              <a:rPr lang="en" sz="1200"/>
              <a:t>:</a:t>
            </a:r>
            <a:endParaRPr sz="1200"/>
          </a:p>
          <a:p>
            <a:pPr indent="-304800" lvl="3" marL="1828800" rtl="0" algn="l">
              <a:lnSpc>
                <a:spcPct val="115000"/>
              </a:lnSpc>
              <a:spcBef>
                <a:spcPts val="0"/>
              </a:spcBef>
              <a:spcAft>
                <a:spcPts val="0"/>
              </a:spcAft>
              <a:buSzPts val="1200"/>
              <a:buChar char="●"/>
            </a:pPr>
            <a:r>
              <a:rPr b="1" i="1" lang="en" sz="1200">
                <a:solidFill>
                  <a:srgbClr val="FF0000"/>
                </a:solidFill>
              </a:rPr>
              <a:t>Add</a:t>
            </a:r>
            <a:r>
              <a:rPr lang="en" sz="1200">
                <a:solidFill>
                  <a:srgbClr val="FF0000"/>
                </a:solidFill>
              </a:rPr>
              <a:t> </a:t>
            </a:r>
            <a:r>
              <a:rPr lang="en" sz="1200"/>
              <a:t>the current vertex's </a:t>
            </a:r>
            <a:r>
              <a:rPr b="1" i="1" lang="en" sz="1200">
                <a:solidFill>
                  <a:srgbClr val="FF0000"/>
                </a:solidFill>
              </a:rPr>
              <a:t>value </a:t>
            </a:r>
            <a:r>
              <a:rPr lang="en" sz="1200"/>
              <a:t>to the </a:t>
            </a:r>
            <a:r>
              <a:rPr b="1" i="1" lang="en" sz="1200">
                <a:solidFill>
                  <a:srgbClr val="FF0000"/>
                </a:solidFill>
              </a:rPr>
              <a:t>front </a:t>
            </a:r>
            <a:r>
              <a:rPr lang="en" sz="1200"/>
              <a:t>of the path.</a:t>
            </a:r>
            <a:endParaRPr sz="1200"/>
          </a:p>
          <a:p>
            <a:pPr indent="-304800" lvl="3" marL="1828800" rtl="0" algn="l">
              <a:lnSpc>
                <a:spcPct val="115000"/>
              </a:lnSpc>
              <a:spcBef>
                <a:spcPts val="0"/>
              </a:spcBef>
              <a:spcAft>
                <a:spcPts val="0"/>
              </a:spcAft>
              <a:buSzPts val="1200"/>
              <a:buChar char="●"/>
            </a:pPr>
            <a:r>
              <a:rPr lang="en" sz="1200"/>
              <a:t>Use current to </a:t>
            </a:r>
            <a:r>
              <a:rPr b="1" i="1" lang="en" sz="1200">
                <a:solidFill>
                  <a:srgbClr val="FF0000"/>
                </a:solidFill>
              </a:rPr>
              <a:t>retrieve </a:t>
            </a:r>
            <a:r>
              <a:rPr lang="en" sz="1200"/>
              <a:t>its predecessor from the map.</a:t>
            </a:r>
            <a:endParaRPr sz="1200"/>
          </a:p>
          <a:p>
            <a:pPr indent="-304800" lvl="3" marL="1828800" rtl="0" algn="l">
              <a:lnSpc>
                <a:spcPct val="115000"/>
              </a:lnSpc>
              <a:spcBef>
                <a:spcPts val="0"/>
              </a:spcBef>
              <a:spcAft>
                <a:spcPts val="0"/>
              </a:spcAft>
              <a:buSzPts val="1200"/>
              <a:buChar char="●"/>
            </a:pPr>
            <a:r>
              <a:rPr b="1" i="1" lang="en" sz="1200">
                <a:solidFill>
                  <a:srgbClr val="FF0000"/>
                </a:solidFill>
              </a:rPr>
              <a:t>Set </a:t>
            </a:r>
            <a:r>
              <a:rPr lang="en" sz="1200"/>
              <a:t>current to the predecessor.</a:t>
            </a:r>
            <a:endParaRPr sz="1200"/>
          </a:p>
          <a:p>
            <a:pPr indent="-304800" lvl="2" marL="1371600" rtl="0" algn="l">
              <a:lnSpc>
                <a:spcPct val="115000"/>
              </a:lnSpc>
              <a:spcBef>
                <a:spcPts val="0"/>
              </a:spcBef>
              <a:spcAft>
                <a:spcPts val="0"/>
              </a:spcAft>
              <a:buSzPts val="1200"/>
              <a:buChar char="■"/>
            </a:pPr>
            <a:r>
              <a:rPr b="1" i="1" lang="en" sz="1200">
                <a:solidFill>
                  <a:srgbClr val="FF0000"/>
                </a:solidFill>
              </a:rPr>
              <a:t>Return </a:t>
            </a:r>
            <a:r>
              <a:rPr lang="en" sz="1200"/>
              <a:t>the path.</a:t>
            </a:r>
            <a:endParaRPr sz="1200"/>
          </a:p>
        </p:txBody>
      </p:sp>
      <p:sp>
        <p:nvSpPr>
          <p:cNvPr id="1787" name="Google Shape;1787;p74"/>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17</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1" name="Shape 1791"/>
        <p:cNvGrpSpPr/>
        <p:nvPr/>
      </p:nvGrpSpPr>
      <p:grpSpPr>
        <a:xfrm>
          <a:off x="0" y="0"/>
          <a:ext cx="0" cy="0"/>
          <a:chOff x="0" y="0"/>
          <a:chExt cx="0" cy="0"/>
        </a:xfrm>
      </p:grpSpPr>
      <p:sp>
        <p:nvSpPr>
          <p:cNvPr id="1792" name="Google Shape;1792;p7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793" name="Google Shape;1793;p75"/>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18</a:t>
            </a:r>
            <a:endParaRPr/>
          </a:p>
        </p:txBody>
      </p:sp>
      <p:pic>
        <p:nvPicPr>
          <p:cNvPr id="1794" name="Google Shape;1794;p75"/>
          <p:cNvPicPr preferRelativeResize="0"/>
          <p:nvPr/>
        </p:nvPicPr>
        <p:blipFill rotWithShape="1">
          <a:blip r:embed="rId3">
            <a:alphaModFix/>
          </a:blip>
          <a:srcRect b="0" l="0" r="0" t="0"/>
          <a:stretch/>
        </p:blipFill>
        <p:spPr>
          <a:xfrm>
            <a:off x="152400" y="1668975"/>
            <a:ext cx="2376599" cy="2759851"/>
          </a:xfrm>
          <a:prstGeom prst="rect">
            <a:avLst/>
          </a:prstGeom>
          <a:noFill/>
          <a:ln>
            <a:noFill/>
          </a:ln>
        </p:spPr>
      </p:pic>
      <p:sp>
        <p:nvSpPr>
          <p:cNvPr id="1795" name="Google Shape;1795;p75"/>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The Finishing Touches</a:t>
            </a:r>
            <a:endParaRPr/>
          </a:p>
        </p:txBody>
      </p:sp>
      <p:sp>
        <p:nvSpPr>
          <p:cNvPr id="1796" name="Google Shape;1796;p75"/>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Now that the hardest part of the BFS-Path algorithm has been implemented, finishing the algorithm should be </a:t>
            </a:r>
            <a:r>
              <a:rPr lang="en"/>
              <a:t>fairly</a:t>
            </a:r>
            <a:r>
              <a:rPr lang="en"/>
              <a:t> straightforward. Let's put all of the pieces together and then test the algorithm!</a:t>
            </a:r>
            <a:endParaRPr/>
          </a:p>
        </p:txBody>
      </p:sp>
      <p:sp>
        <p:nvSpPr>
          <p:cNvPr id="1797" name="Google Shape;1797;p75"/>
          <p:cNvSpPr txBox="1"/>
          <p:nvPr>
            <p:ph idx="2" type="body"/>
          </p:nvPr>
        </p:nvSpPr>
        <p:spPr>
          <a:xfrm>
            <a:off x="2627900" y="1634550"/>
            <a:ext cx="6298200" cy="2828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Open the </a:t>
            </a:r>
            <a:r>
              <a:rPr lang="en" sz="1400">
                <a:latin typeface="Courier New"/>
                <a:ea typeface="Courier New"/>
                <a:cs typeface="Courier New"/>
                <a:sym typeface="Courier New"/>
              </a:rPr>
              <a:t>AdjacencyGraph</a:t>
            </a:r>
            <a:r>
              <a:rPr lang="en" sz="1400"/>
              <a:t> class and navigate to the </a:t>
            </a:r>
            <a:r>
              <a:rPr lang="en" sz="1400">
                <a:latin typeface="Courier New"/>
                <a:ea typeface="Courier New"/>
                <a:cs typeface="Courier New"/>
                <a:sym typeface="Courier New"/>
              </a:rPr>
              <a:t>bfPath</a:t>
            </a:r>
            <a:r>
              <a:rPr lang="en" sz="1400"/>
              <a:t> method.</a:t>
            </a:r>
            <a:endParaRPr sz="1400"/>
          </a:p>
          <a:p>
            <a:pPr indent="-317500" lvl="0" marL="457200" rtl="0" algn="l">
              <a:lnSpc>
                <a:spcPct val="115000"/>
              </a:lnSpc>
              <a:spcBef>
                <a:spcPts val="0"/>
              </a:spcBef>
              <a:spcAft>
                <a:spcPts val="0"/>
              </a:spcAft>
              <a:buSzPts val="1400"/>
              <a:buChar char="●"/>
            </a:pPr>
            <a:r>
              <a:rPr lang="en" sz="1400"/>
              <a:t>Implement the </a:t>
            </a:r>
            <a:r>
              <a:rPr b="1" i="1" lang="en" sz="1400">
                <a:solidFill>
                  <a:srgbClr val="FF0000"/>
                </a:solidFill>
              </a:rPr>
              <a:t>main BF Path loop</a:t>
            </a:r>
            <a:r>
              <a:rPr lang="en" sz="1400"/>
              <a:t> according to the following algorithm:</a:t>
            </a:r>
            <a:endParaRPr sz="1400"/>
          </a:p>
          <a:p>
            <a:pPr indent="-304800" lvl="1" marL="914400" rtl="0" algn="l">
              <a:lnSpc>
                <a:spcPct val="115000"/>
              </a:lnSpc>
              <a:spcBef>
                <a:spcPts val="0"/>
              </a:spcBef>
              <a:spcAft>
                <a:spcPts val="0"/>
              </a:spcAft>
              <a:buSzPts val="1200"/>
              <a:buChar char="○"/>
            </a:pPr>
            <a:r>
              <a:rPr lang="en" sz="1200"/>
              <a:t>As long as the queue is </a:t>
            </a:r>
            <a:r>
              <a:rPr b="1" i="1" lang="en" sz="1200">
                <a:solidFill>
                  <a:srgbClr val="FF0000"/>
                </a:solidFill>
              </a:rPr>
              <a:t>not empty</a:t>
            </a:r>
            <a:r>
              <a:rPr lang="en" sz="1200"/>
              <a:t>:</a:t>
            </a:r>
            <a:endParaRPr sz="1200"/>
          </a:p>
          <a:p>
            <a:pPr indent="-304800" lvl="2" marL="1371600" rtl="0" algn="l">
              <a:lnSpc>
                <a:spcPct val="115000"/>
              </a:lnSpc>
              <a:spcBef>
                <a:spcPts val="0"/>
              </a:spcBef>
              <a:spcAft>
                <a:spcPts val="0"/>
              </a:spcAft>
              <a:buSzPts val="1200"/>
              <a:buChar char="■"/>
            </a:pPr>
            <a:r>
              <a:rPr b="1" i="1" lang="en" sz="1200">
                <a:solidFill>
                  <a:srgbClr val="FF0000"/>
                </a:solidFill>
              </a:rPr>
              <a:t>Dequeue </a:t>
            </a:r>
            <a:r>
              <a:rPr lang="en" sz="1200"/>
              <a:t>the next vertex and call it </a:t>
            </a:r>
            <a:r>
              <a:rPr b="1" i="1" lang="en" sz="1200">
                <a:solidFill>
                  <a:srgbClr val="FF0000"/>
                </a:solidFill>
              </a:rPr>
              <a:t>V</a:t>
            </a:r>
            <a:r>
              <a:rPr lang="en" sz="1200"/>
              <a:t>.</a:t>
            </a:r>
            <a:endParaRPr sz="1200"/>
          </a:p>
          <a:p>
            <a:pPr indent="-304800" lvl="2" marL="1371600" rtl="0" algn="l">
              <a:lnSpc>
                <a:spcPct val="115000"/>
              </a:lnSpc>
              <a:spcBef>
                <a:spcPts val="0"/>
              </a:spcBef>
              <a:spcAft>
                <a:spcPts val="0"/>
              </a:spcAft>
              <a:buSzPts val="1200"/>
              <a:buChar char="■"/>
            </a:pPr>
            <a:r>
              <a:rPr lang="en" sz="1200"/>
              <a:t>If </a:t>
            </a:r>
            <a:r>
              <a:rPr b="1" i="1" lang="en" sz="1200">
                <a:solidFill>
                  <a:srgbClr val="FF0000"/>
                </a:solidFill>
              </a:rPr>
              <a:t>V</a:t>
            </a:r>
            <a:r>
              <a:rPr lang="en" sz="1200"/>
              <a:t> is </a:t>
            </a:r>
            <a:r>
              <a:rPr b="1" i="1" lang="en" sz="1200">
                <a:solidFill>
                  <a:srgbClr val="FF0000"/>
                </a:solidFill>
              </a:rPr>
              <a:t>E</a:t>
            </a:r>
            <a:r>
              <a:rPr lang="en" sz="1200"/>
              <a:t>, </a:t>
            </a:r>
            <a:r>
              <a:rPr b="1" i="1" lang="en" sz="1200">
                <a:solidFill>
                  <a:srgbClr val="FF0000"/>
                </a:solidFill>
              </a:rPr>
              <a:t>break</a:t>
            </a:r>
            <a:r>
              <a:rPr lang="en" sz="1200"/>
              <a:t>.</a:t>
            </a:r>
            <a:endParaRPr sz="1200"/>
          </a:p>
          <a:p>
            <a:pPr indent="-304800" lvl="2" marL="1371600" rtl="0" algn="l">
              <a:lnSpc>
                <a:spcPct val="115000"/>
              </a:lnSpc>
              <a:spcBef>
                <a:spcPts val="0"/>
              </a:spcBef>
              <a:spcAft>
                <a:spcPts val="0"/>
              </a:spcAft>
              <a:buSzPts val="1200"/>
              <a:buChar char="■"/>
            </a:pPr>
            <a:r>
              <a:rPr lang="en" sz="1200"/>
              <a:t>Otherwise, for each of</a:t>
            </a:r>
            <a:r>
              <a:rPr lang="en" sz="1200">
                <a:solidFill>
                  <a:srgbClr val="FF0000"/>
                </a:solidFill>
              </a:rPr>
              <a:t> </a:t>
            </a:r>
            <a:r>
              <a:rPr b="1" i="1" lang="en" sz="1200">
                <a:solidFill>
                  <a:srgbClr val="FF0000"/>
                </a:solidFill>
              </a:rPr>
              <a:t>V</a:t>
            </a:r>
            <a:r>
              <a:rPr lang="en" sz="1200"/>
              <a:t>'s neighbors </a:t>
            </a:r>
            <a:r>
              <a:rPr b="1" i="1" lang="en" sz="1200">
                <a:solidFill>
                  <a:srgbClr val="FF0000"/>
                </a:solidFill>
              </a:rPr>
              <a:t>N</a:t>
            </a:r>
            <a:r>
              <a:rPr lang="en" sz="1200"/>
              <a:t>:</a:t>
            </a:r>
            <a:endParaRPr sz="1200"/>
          </a:p>
          <a:p>
            <a:pPr indent="-304800" lvl="3" marL="1828800" rtl="0" algn="l">
              <a:lnSpc>
                <a:spcPct val="115000"/>
              </a:lnSpc>
              <a:spcBef>
                <a:spcPts val="0"/>
              </a:spcBef>
              <a:spcAft>
                <a:spcPts val="0"/>
              </a:spcAft>
              <a:buSzPts val="1200"/>
              <a:buChar char="●"/>
            </a:pPr>
            <a:r>
              <a:rPr lang="en" sz="1200"/>
              <a:t>If </a:t>
            </a:r>
            <a:r>
              <a:rPr b="1" i="1" lang="en" sz="1200">
                <a:solidFill>
                  <a:srgbClr val="FF0000"/>
                </a:solidFill>
              </a:rPr>
              <a:t>N</a:t>
            </a:r>
            <a:r>
              <a:rPr lang="en" sz="1200"/>
              <a:t> is </a:t>
            </a:r>
            <a:r>
              <a:rPr b="1" i="1" lang="en" sz="1200">
                <a:solidFill>
                  <a:srgbClr val="FF0000"/>
                </a:solidFill>
              </a:rPr>
              <a:t>not</a:t>
            </a:r>
            <a:r>
              <a:rPr lang="en" sz="1200">
                <a:solidFill>
                  <a:srgbClr val="FF0000"/>
                </a:solidFill>
              </a:rPr>
              <a:t> </a:t>
            </a:r>
            <a:r>
              <a:rPr lang="en" sz="1200"/>
              <a:t>already in the map:</a:t>
            </a:r>
            <a:endParaRPr sz="1200"/>
          </a:p>
          <a:p>
            <a:pPr indent="-304800" lvl="4" marL="2286000" rtl="0" algn="l">
              <a:lnSpc>
                <a:spcPct val="115000"/>
              </a:lnSpc>
              <a:spcBef>
                <a:spcPts val="0"/>
              </a:spcBef>
              <a:spcAft>
                <a:spcPts val="0"/>
              </a:spcAft>
              <a:buSzPts val="1200"/>
              <a:buChar char="○"/>
            </a:pPr>
            <a:r>
              <a:rPr b="1" i="1" lang="en" sz="1200">
                <a:solidFill>
                  <a:srgbClr val="FF0000"/>
                </a:solidFill>
              </a:rPr>
              <a:t>Add</a:t>
            </a:r>
            <a:r>
              <a:rPr lang="en" sz="1200"/>
              <a:t> </a:t>
            </a:r>
            <a:r>
              <a:rPr b="1" i="1" lang="en" sz="1200">
                <a:solidFill>
                  <a:srgbClr val="FF0000"/>
                </a:solidFill>
              </a:rPr>
              <a:t>N</a:t>
            </a:r>
            <a:r>
              <a:rPr b="1" i="1" lang="en" sz="1200"/>
              <a:t> </a:t>
            </a:r>
            <a:r>
              <a:rPr lang="en" sz="1200"/>
              <a:t>to the queue</a:t>
            </a:r>
            <a:endParaRPr sz="1200"/>
          </a:p>
          <a:p>
            <a:pPr indent="-304800" lvl="4" marL="2286000" rtl="0" algn="l">
              <a:lnSpc>
                <a:spcPct val="115000"/>
              </a:lnSpc>
              <a:spcBef>
                <a:spcPts val="0"/>
              </a:spcBef>
              <a:spcAft>
                <a:spcPts val="0"/>
              </a:spcAft>
              <a:buSzPts val="1200"/>
              <a:buChar char="○"/>
            </a:pPr>
            <a:r>
              <a:rPr b="1" i="1" lang="en" sz="1200">
                <a:solidFill>
                  <a:srgbClr val="FF0000"/>
                </a:solidFill>
              </a:rPr>
              <a:t>Put</a:t>
            </a:r>
            <a:r>
              <a:rPr lang="en" sz="1200">
                <a:solidFill>
                  <a:srgbClr val="FF0000"/>
                </a:solidFill>
              </a:rPr>
              <a:t> </a:t>
            </a:r>
            <a:r>
              <a:rPr b="1" i="1" lang="en" sz="1200">
                <a:solidFill>
                  <a:srgbClr val="FF0000"/>
                </a:solidFill>
              </a:rPr>
              <a:t>N</a:t>
            </a:r>
            <a:r>
              <a:rPr lang="en" sz="1200"/>
              <a:t> (</a:t>
            </a:r>
            <a:r>
              <a:rPr lang="en" sz="1200">
                <a:solidFill>
                  <a:srgbClr val="FF0000"/>
                </a:solidFill>
              </a:rPr>
              <a:t>key</a:t>
            </a:r>
            <a:r>
              <a:rPr lang="en" sz="1200"/>
              <a:t>) and </a:t>
            </a:r>
            <a:r>
              <a:rPr b="1" i="1" lang="en" sz="1200">
                <a:solidFill>
                  <a:srgbClr val="FF0000"/>
                </a:solidFill>
              </a:rPr>
              <a:t>V</a:t>
            </a:r>
            <a:r>
              <a:rPr lang="en" sz="1200">
                <a:solidFill>
                  <a:srgbClr val="FF0000"/>
                </a:solidFill>
              </a:rPr>
              <a:t> </a:t>
            </a:r>
            <a:r>
              <a:rPr lang="en" sz="1200"/>
              <a:t>(</a:t>
            </a:r>
            <a:r>
              <a:rPr lang="en" sz="1200">
                <a:solidFill>
                  <a:srgbClr val="FF0000"/>
                </a:solidFill>
              </a:rPr>
              <a:t>value</a:t>
            </a:r>
            <a:r>
              <a:rPr lang="en" sz="1200"/>
              <a:t>) in the predecessor map. </a:t>
            </a:r>
            <a:endParaRPr sz="1200"/>
          </a:p>
          <a:p>
            <a:pPr indent="-304800" lvl="1" marL="914400" rtl="0" algn="l">
              <a:lnSpc>
                <a:spcPct val="115000"/>
              </a:lnSpc>
              <a:spcBef>
                <a:spcPts val="0"/>
              </a:spcBef>
              <a:spcAft>
                <a:spcPts val="0"/>
              </a:spcAft>
              <a:buSzPts val="1200"/>
              <a:buChar char="○"/>
            </a:pPr>
            <a:r>
              <a:rPr b="1" i="1" lang="en" sz="1200">
                <a:solidFill>
                  <a:srgbClr val="FF0000"/>
                </a:solidFill>
              </a:rPr>
              <a:t>Call </a:t>
            </a:r>
            <a:r>
              <a:rPr lang="en" sz="1200"/>
              <a:t>your </a:t>
            </a:r>
            <a:r>
              <a:rPr lang="en" sz="1200">
                <a:solidFill>
                  <a:srgbClr val="FF0000"/>
                </a:solidFill>
                <a:latin typeface="Courier New"/>
                <a:ea typeface="Courier New"/>
                <a:cs typeface="Courier New"/>
                <a:sym typeface="Courier New"/>
              </a:rPr>
              <a:t>makePath</a:t>
            </a:r>
            <a:r>
              <a:rPr lang="en" sz="1200">
                <a:solidFill>
                  <a:srgbClr val="FF0000"/>
                </a:solidFill>
              </a:rPr>
              <a:t> </a:t>
            </a:r>
            <a:r>
              <a:rPr lang="en" sz="1200"/>
              <a:t>helper function and return the result.</a:t>
            </a:r>
            <a:endParaRPr sz="1200"/>
          </a:p>
          <a:p>
            <a:pPr indent="-317500" lvl="0" marL="457200" rtl="0" algn="l">
              <a:lnSpc>
                <a:spcPct val="115000"/>
              </a:lnSpc>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your completed algorithm using the provided </a:t>
            </a:r>
            <a:r>
              <a:rPr lang="en" sz="1400">
                <a:solidFill>
                  <a:srgbClr val="FF0000"/>
                </a:solidFill>
                <a:latin typeface="Courier New"/>
                <a:ea typeface="Courier New"/>
                <a:cs typeface="Courier New"/>
                <a:sym typeface="Courier New"/>
              </a:rPr>
              <a:t>BFPathTest</a:t>
            </a:r>
            <a:r>
              <a:rPr lang="en" sz="1400"/>
              <a:t>.</a:t>
            </a:r>
            <a:endParaRPr sz="1400"/>
          </a:p>
          <a:p>
            <a:pPr indent="-304800" lvl="1" marL="914400" rtl="0" algn="l">
              <a:lnSpc>
                <a:spcPct val="115000"/>
              </a:lnSpc>
              <a:spcBef>
                <a:spcPts val="0"/>
              </a:spcBef>
              <a:spcAft>
                <a:spcPts val="0"/>
              </a:spcAft>
              <a:buSzPts val="1200"/>
              <a:buChar char="○"/>
            </a:pPr>
            <a:r>
              <a:rPr b="1" i="1" lang="en" sz="1200">
                <a:solidFill>
                  <a:srgbClr val="FF0000"/>
                </a:solidFill>
              </a:rPr>
              <a:t>All</a:t>
            </a:r>
            <a:r>
              <a:rPr lang="en" sz="1200">
                <a:solidFill>
                  <a:srgbClr val="FF0000"/>
                </a:solidFill>
              </a:rPr>
              <a:t> </a:t>
            </a:r>
            <a:r>
              <a:rPr lang="en" sz="1200"/>
              <a:t>of the tests should now pass. </a:t>
            </a:r>
            <a:endParaRPr sz="1200"/>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1" name="Shape 1801"/>
        <p:cNvGrpSpPr/>
        <p:nvPr/>
      </p:nvGrpSpPr>
      <p:grpSpPr>
        <a:xfrm>
          <a:off x="0" y="0"/>
          <a:ext cx="0" cy="0"/>
          <a:chOff x="0" y="0"/>
          <a:chExt cx="0" cy="0"/>
        </a:xfrm>
      </p:grpSpPr>
      <p:sp>
        <p:nvSpPr>
          <p:cNvPr id="1802" name="Google Shape;1802;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03" name="Google Shape;1803;p76"/>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19</a:t>
            </a:r>
            <a:endParaRPr/>
          </a:p>
        </p:txBody>
      </p:sp>
      <p:graphicFrame>
        <p:nvGraphicFramePr>
          <p:cNvPr id="1804" name="Google Shape;1804;p76"/>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W to Z</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05" name="Google Shape;1805;p76"/>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806" name="Google Shape;1806;p76"/>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Z to X</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07" name="Google Shape;1807;p76"/>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808" name="Google Shape;1808;p76"/>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Breadth-First Path "On Paper"</a:t>
            </a:r>
            <a:endParaRPr/>
          </a:p>
        </p:txBody>
      </p:sp>
      <p:graphicFrame>
        <p:nvGraphicFramePr>
          <p:cNvPr id="1809" name="Google Shape;1809;p76"/>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10" name="Google Shape;1810;p76"/>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811" name="Google Shape;1811;p76"/>
          <p:cNvGrpSpPr/>
          <p:nvPr/>
        </p:nvGrpSpPr>
        <p:grpSpPr>
          <a:xfrm>
            <a:off x="119466" y="1491981"/>
            <a:ext cx="2380778" cy="2101576"/>
            <a:chOff x="119466" y="1644381"/>
            <a:chExt cx="2380778" cy="2101576"/>
          </a:xfrm>
        </p:grpSpPr>
        <p:sp>
          <p:nvSpPr>
            <p:cNvPr id="1812" name="Google Shape;1812;p76"/>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1813" name="Google Shape;1813;p76"/>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1814" name="Google Shape;1814;p76"/>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1815" name="Google Shape;1815;p76"/>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1816" name="Google Shape;1816;p76"/>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1817" name="Google Shape;1817;p76"/>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1818" name="Google Shape;1818;p76"/>
            <p:cNvCxnSpPr>
              <a:stCxn id="1812" idx="2"/>
              <a:endCxn id="1814"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1819" name="Google Shape;1819;p76"/>
            <p:cNvCxnSpPr>
              <a:stCxn id="1814" idx="5"/>
              <a:endCxn id="1816"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1820" name="Google Shape;1820;p76"/>
            <p:cNvCxnSpPr>
              <a:stCxn id="1816" idx="3"/>
              <a:endCxn id="1815"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1821" name="Google Shape;1821;p76"/>
            <p:cNvCxnSpPr>
              <a:stCxn id="1815" idx="6"/>
              <a:endCxn id="1817"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1822" name="Google Shape;1822;p76"/>
            <p:cNvCxnSpPr>
              <a:stCxn id="1817" idx="0"/>
              <a:endCxn id="1816"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1823" name="Google Shape;1823;p76"/>
            <p:cNvCxnSpPr>
              <a:stCxn id="1816" idx="7"/>
              <a:endCxn id="1813"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1824" name="Google Shape;1824;p76"/>
            <p:cNvCxnSpPr>
              <a:stCxn id="1813" idx="4"/>
              <a:endCxn id="1817"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8" name="Shape 1828"/>
        <p:cNvGrpSpPr/>
        <p:nvPr/>
      </p:nvGrpSpPr>
      <p:grpSpPr>
        <a:xfrm>
          <a:off x="0" y="0"/>
          <a:ext cx="0" cy="0"/>
          <a:chOff x="0" y="0"/>
          <a:chExt cx="0" cy="0"/>
        </a:xfrm>
      </p:grpSpPr>
      <p:sp>
        <p:nvSpPr>
          <p:cNvPr id="1829" name="Google Shape;1829;p7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830" name="Google Shape;1830;p77"/>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19</a:t>
            </a:r>
            <a:endParaRPr/>
          </a:p>
        </p:txBody>
      </p:sp>
      <p:graphicFrame>
        <p:nvGraphicFramePr>
          <p:cNvPr id="1831" name="Google Shape;1831;p77"/>
          <p:cNvGraphicFramePr/>
          <p:nvPr/>
        </p:nvGraphicFramePr>
        <p:xfrm>
          <a:off x="52969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W to Z</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32" name="Google Shape;1832;p77"/>
          <p:cNvGraphicFramePr/>
          <p:nvPr/>
        </p:nvGraphicFramePr>
        <p:xfrm>
          <a:off x="63685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833" name="Google Shape;1833;p77"/>
          <p:cNvGraphicFramePr/>
          <p:nvPr/>
        </p:nvGraphicFramePr>
        <p:xfrm>
          <a:off x="1715560" y="42064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Z to X</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1834" name="Google Shape;1834;p77"/>
          <p:cNvGraphicFramePr/>
          <p:nvPr/>
        </p:nvGraphicFramePr>
        <p:xfrm>
          <a:off x="2787100" y="1682997"/>
          <a:ext cx="3000000" cy="3000000"/>
        </p:xfrm>
        <a:graphic>
          <a:graphicData uri="http://schemas.openxmlformats.org/drawingml/2006/table">
            <a:tbl>
              <a:tblPr>
                <a:noFill/>
                <a:tableStyleId>{F61E8307-4E6B-4154-8BF4-D3231BAD3CED}</a:tableStyleId>
              </a:tblPr>
              <a:tblGrid>
                <a:gridCol w="1190600"/>
                <a:gridCol w="119060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Vertex</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FFFF"/>
                          </a:solidFill>
                        </a:rPr>
                        <a:t>Predecessor</a:t>
                      </a:r>
                      <a:endParaRPr sz="10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835" name="Google Shape;1835;p77"/>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SzPts val="3600"/>
              <a:buNone/>
            </a:pPr>
            <a:r>
              <a:rPr lang="en">
                <a:solidFill>
                  <a:schemeClr val="lt1"/>
                </a:solidFill>
              </a:rPr>
              <a:t>Breadth-First Path "On Paper"</a:t>
            </a:r>
            <a:endParaRPr/>
          </a:p>
        </p:txBody>
      </p:sp>
      <p:sp>
        <p:nvSpPr>
          <p:cNvPr id="1836" name="Google Shape;1836;p77"/>
          <p:cNvSpPr txBox="1"/>
          <p:nvPr>
            <p:ph idx="1" type="body"/>
          </p:nvPr>
        </p:nvSpPr>
        <p:spPr>
          <a:xfrm>
            <a:off x="65250" y="731625"/>
            <a:ext cx="8955900" cy="6771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600"/>
              <a:buNone/>
            </a:pPr>
            <a:r>
              <a:rPr lang="en"/>
              <a:t>It is important that you be able to demonstrate an understanding of how the BFS-Path algorithm works on your exams, quizzes (and technical interviews!). Practice "on paper" now.</a:t>
            </a:r>
            <a:endParaRPr/>
          </a:p>
        </p:txBody>
      </p:sp>
      <p:grpSp>
        <p:nvGrpSpPr>
          <p:cNvPr id="1837" name="Google Shape;1837;p77"/>
          <p:cNvGrpSpPr/>
          <p:nvPr/>
        </p:nvGrpSpPr>
        <p:grpSpPr>
          <a:xfrm>
            <a:off x="2381329" y="1981545"/>
            <a:ext cx="2666240" cy="2641072"/>
            <a:chOff x="2381329" y="1981545"/>
            <a:chExt cx="2666240" cy="2641072"/>
          </a:xfrm>
        </p:grpSpPr>
        <p:sp>
          <p:nvSpPr>
            <p:cNvPr id="1838" name="Google Shape;1838;p77"/>
            <p:cNvSpPr txBox="1"/>
            <p:nvPr/>
          </p:nvSpPr>
          <p:spPr>
            <a:xfrm>
              <a:off x="2381329" y="4229017"/>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839" name="Google Shape;1839;p77"/>
            <p:cNvGrpSpPr/>
            <p:nvPr/>
          </p:nvGrpSpPr>
          <p:grpSpPr>
            <a:xfrm>
              <a:off x="3162593" y="1981545"/>
              <a:ext cx="1884976" cy="419290"/>
              <a:chOff x="3391193" y="1981545"/>
              <a:chExt cx="1884976" cy="419290"/>
            </a:xfrm>
          </p:grpSpPr>
          <p:sp>
            <p:nvSpPr>
              <p:cNvPr id="1840" name="Google Shape;1840;p77"/>
              <p:cNvSpPr txBox="1"/>
              <p:nvPr/>
            </p:nvSpPr>
            <p:spPr>
              <a:xfrm>
                <a:off x="3391193" y="198154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1841" name="Google Shape;1841;p77"/>
              <p:cNvSpPr txBox="1"/>
              <p:nvPr/>
            </p:nvSpPr>
            <p:spPr>
              <a:xfrm>
                <a:off x="4292769" y="2007235"/>
                <a:ext cx="9834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grpSp>
      <p:sp>
        <p:nvSpPr>
          <p:cNvPr id="1842" name="Google Shape;1842;p77"/>
          <p:cNvSpPr txBox="1"/>
          <p:nvPr/>
        </p:nvSpPr>
        <p:spPr>
          <a:xfrm>
            <a:off x="2370911"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843" name="Google Shape;1843;p77"/>
          <p:cNvGrpSpPr/>
          <p:nvPr/>
        </p:nvGrpSpPr>
        <p:grpSpPr>
          <a:xfrm>
            <a:off x="2781593" y="2324873"/>
            <a:ext cx="1960257" cy="2284901"/>
            <a:chOff x="3010193" y="2324873"/>
            <a:chExt cx="1960257" cy="2284901"/>
          </a:xfrm>
        </p:grpSpPr>
        <p:sp>
          <p:nvSpPr>
            <p:cNvPr id="1844" name="Google Shape;1844;p77"/>
            <p:cNvSpPr txBox="1"/>
            <p:nvPr/>
          </p:nvSpPr>
          <p:spPr>
            <a:xfrm>
              <a:off x="3010193" y="421617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845" name="Google Shape;1845;p77"/>
            <p:cNvGrpSpPr/>
            <p:nvPr/>
          </p:nvGrpSpPr>
          <p:grpSpPr>
            <a:xfrm>
              <a:off x="3391193" y="2324873"/>
              <a:ext cx="1579257" cy="393600"/>
              <a:chOff x="3391193" y="2324873"/>
              <a:chExt cx="1579257" cy="393600"/>
            </a:xfrm>
          </p:grpSpPr>
          <p:sp>
            <p:nvSpPr>
              <p:cNvPr id="1846" name="Google Shape;1846;p77"/>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1847" name="Google Shape;1847;p77"/>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grpSp>
      <p:grpSp>
        <p:nvGrpSpPr>
          <p:cNvPr id="1848" name="Google Shape;1848;p77"/>
          <p:cNvGrpSpPr/>
          <p:nvPr/>
        </p:nvGrpSpPr>
        <p:grpSpPr>
          <a:xfrm>
            <a:off x="3162593" y="2668201"/>
            <a:ext cx="1579257" cy="1930443"/>
            <a:chOff x="3391193" y="2668201"/>
            <a:chExt cx="1579257" cy="1930443"/>
          </a:xfrm>
        </p:grpSpPr>
        <p:grpSp>
          <p:nvGrpSpPr>
            <p:cNvPr id="1849" name="Google Shape;1849;p77"/>
            <p:cNvGrpSpPr/>
            <p:nvPr/>
          </p:nvGrpSpPr>
          <p:grpSpPr>
            <a:xfrm>
              <a:off x="3391193" y="2668201"/>
              <a:ext cx="1579257" cy="393600"/>
              <a:chOff x="3391193" y="2324873"/>
              <a:chExt cx="1579257" cy="393600"/>
            </a:xfrm>
          </p:grpSpPr>
          <p:sp>
            <p:nvSpPr>
              <p:cNvPr id="1850" name="Google Shape;1850;p77"/>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51" name="Google Shape;1851;p77"/>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852" name="Google Shape;1852;p77"/>
            <p:cNvSpPr txBox="1"/>
            <p:nvPr/>
          </p:nvSpPr>
          <p:spPr>
            <a:xfrm>
              <a:off x="3391193" y="42050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sp>
        <p:nvSpPr>
          <p:cNvPr id="1853" name="Google Shape;1853;p77"/>
          <p:cNvSpPr txBox="1"/>
          <p:nvPr/>
        </p:nvSpPr>
        <p:spPr>
          <a:xfrm>
            <a:off x="2764746"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854" name="Google Shape;1854;p77"/>
          <p:cNvSpPr txBox="1"/>
          <p:nvPr/>
        </p:nvSpPr>
        <p:spPr>
          <a:xfrm>
            <a:off x="3165010"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aphicFrame>
        <p:nvGraphicFramePr>
          <p:cNvPr id="1855" name="Google Shape;1855;p77"/>
          <p:cNvGraphicFramePr/>
          <p:nvPr/>
        </p:nvGraphicFramePr>
        <p:xfrm>
          <a:off x="17155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856" name="Google Shape;1856;p77"/>
          <p:cNvSpPr txBox="1"/>
          <p:nvPr/>
        </p:nvSpPr>
        <p:spPr>
          <a:xfrm>
            <a:off x="3186912"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57" name="Google Shape;1857;p77"/>
          <p:cNvSpPr txBox="1"/>
          <p:nvPr/>
        </p:nvSpPr>
        <p:spPr>
          <a:xfrm>
            <a:off x="2774661"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858" name="Google Shape;1858;p77"/>
          <p:cNvGrpSpPr/>
          <p:nvPr/>
        </p:nvGrpSpPr>
        <p:grpSpPr>
          <a:xfrm>
            <a:off x="1979053" y="3594650"/>
            <a:ext cx="1969125" cy="1463840"/>
            <a:chOff x="1979053" y="3594650"/>
            <a:chExt cx="1969125" cy="1463840"/>
          </a:xfrm>
        </p:grpSpPr>
        <p:sp>
          <p:nvSpPr>
            <p:cNvPr id="1859" name="Google Shape;1859;p77"/>
            <p:cNvSpPr txBox="1"/>
            <p:nvPr/>
          </p:nvSpPr>
          <p:spPr>
            <a:xfrm>
              <a:off x="3575278"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860" name="Google Shape;1860;p77"/>
            <p:cNvGrpSpPr/>
            <p:nvPr/>
          </p:nvGrpSpPr>
          <p:grpSpPr>
            <a:xfrm>
              <a:off x="1979053" y="3594650"/>
              <a:ext cx="1247097" cy="557400"/>
              <a:chOff x="2207653" y="3594650"/>
              <a:chExt cx="1247097" cy="557400"/>
            </a:xfrm>
          </p:grpSpPr>
          <p:sp>
            <p:nvSpPr>
              <p:cNvPr id="1861" name="Google Shape;1861;p77"/>
              <p:cNvSpPr/>
              <p:nvPr/>
            </p:nvSpPr>
            <p:spPr>
              <a:xfrm>
                <a:off x="2754825" y="3802552"/>
                <a:ext cx="699925" cy="93300"/>
              </a:xfrm>
              <a:custGeom>
                <a:rect b="b" l="l" r="r" t="t"/>
                <a:pathLst>
                  <a:path extrusionOk="0" h="3732" w="27997">
                    <a:moveTo>
                      <a:pt x="0" y="907"/>
                    </a:moveTo>
                    <a:cubicBezTo>
                      <a:pt x="1712" y="779"/>
                      <a:pt x="5608" y="-335"/>
                      <a:pt x="10274" y="136"/>
                    </a:cubicBezTo>
                    <a:cubicBezTo>
                      <a:pt x="14940" y="607"/>
                      <a:pt x="25043" y="3133"/>
                      <a:pt x="27997" y="3732"/>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62" name="Google Shape;1862;p77"/>
              <p:cNvSpPr txBox="1"/>
              <p:nvPr/>
            </p:nvSpPr>
            <p:spPr>
              <a:xfrm rot="-1181307">
                <a:off x="2247682" y="3696804"/>
                <a:ext cx="667843" cy="35309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START HERE</a:t>
                </a:r>
                <a:endParaRPr b="0" i="0" sz="1400" u="none" cap="none" strike="noStrike">
                  <a:solidFill>
                    <a:srgbClr val="FF0000"/>
                  </a:solidFill>
                  <a:latin typeface="Shadows Into Light"/>
                  <a:ea typeface="Shadows Into Light"/>
                  <a:cs typeface="Shadows Into Light"/>
                  <a:sym typeface="Shadows Into Light"/>
                </a:endParaRPr>
              </a:p>
            </p:txBody>
          </p:sp>
        </p:grpSp>
      </p:grpSp>
      <p:grpSp>
        <p:nvGrpSpPr>
          <p:cNvPr id="1863" name="Google Shape;1863;p77"/>
          <p:cNvGrpSpPr/>
          <p:nvPr/>
        </p:nvGrpSpPr>
        <p:grpSpPr>
          <a:xfrm>
            <a:off x="4780125" y="1376599"/>
            <a:ext cx="1163768" cy="755576"/>
            <a:chOff x="5008725" y="1376599"/>
            <a:chExt cx="1163768" cy="755576"/>
          </a:xfrm>
        </p:grpSpPr>
        <p:sp>
          <p:nvSpPr>
            <p:cNvPr id="1864" name="Google Shape;1864;p77"/>
            <p:cNvSpPr txBox="1"/>
            <p:nvPr/>
          </p:nvSpPr>
          <p:spPr>
            <a:xfrm rot="1075329">
              <a:off x="5466590" y="1470792"/>
              <a:ext cx="667805" cy="35311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STOP HERE</a:t>
              </a:r>
              <a:endParaRPr b="0" i="0" sz="1400" u="none" cap="none" strike="noStrike">
                <a:solidFill>
                  <a:srgbClr val="FF0000"/>
                </a:solidFill>
                <a:latin typeface="Shadows Into Light"/>
                <a:ea typeface="Shadows Into Light"/>
                <a:cs typeface="Shadows Into Light"/>
                <a:sym typeface="Shadows Into Light"/>
              </a:endParaRPr>
            </a:p>
          </p:txBody>
        </p:sp>
        <p:sp>
          <p:nvSpPr>
            <p:cNvPr id="1865" name="Google Shape;1865;p77"/>
            <p:cNvSpPr/>
            <p:nvPr/>
          </p:nvSpPr>
          <p:spPr>
            <a:xfrm>
              <a:off x="5008725" y="1573500"/>
              <a:ext cx="584325" cy="558675"/>
            </a:xfrm>
            <a:custGeom>
              <a:rect b="b" l="l" r="r" t="t"/>
              <a:pathLst>
                <a:path extrusionOk="0" h="22347" w="23373">
                  <a:moveTo>
                    <a:pt x="23373" y="0"/>
                  </a:moveTo>
                  <a:cubicBezTo>
                    <a:pt x="21575" y="1199"/>
                    <a:pt x="16482" y="3468"/>
                    <a:pt x="12586" y="7192"/>
                  </a:cubicBezTo>
                  <a:cubicBezTo>
                    <a:pt x="8691" y="10917"/>
                    <a:pt x="2098" y="19821"/>
                    <a:pt x="0" y="22347"/>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1866" name="Google Shape;1866;p77"/>
          <p:cNvCxnSpPr/>
          <p:nvPr/>
        </p:nvCxnSpPr>
        <p:spPr>
          <a:xfrm>
            <a:off x="3535493" y="3874865"/>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867" name="Google Shape;1867;p77"/>
          <p:cNvCxnSpPr>
            <a:stCxn id="1850" idx="3"/>
            <a:endCxn id="1851" idx="1"/>
          </p:cNvCxnSpPr>
          <p:nvPr/>
        </p:nvCxnSpPr>
        <p:spPr>
          <a:xfrm>
            <a:off x="3535493" y="2865001"/>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868" name="Google Shape;1868;p77"/>
          <p:cNvCxnSpPr>
            <a:stCxn id="1846" idx="3"/>
            <a:endCxn id="1847" idx="1"/>
          </p:cNvCxnSpPr>
          <p:nvPr/>
        </p:nvCxnSpPr>
        <p:spPr>
          <a:xfrm>
            <a:off x="3535493" y="2521673"/>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869" name="Google Shape;1869;p77"/>
          <p:cNvCxnSpPr/>
          <p:nvPr/>
        </p:nvCxnSpPr>
        <p:spPr>
          <a:xfrm>
            <a:off x="3535493" y="2216873"/>
            <a:ext cx="833400" cy="0"/>
          </a:xfrm>
          <a:prstGeom prst="straightConnector1">
            <a:avLst/>
          </a:prstGeom>
          <a:noFill/>
          <a:ln cap="flat" cmpd="sng" w="19050">
            <a:solidFill>
              <a:srgbClr val="FF0000"/>
            </a:solidFill>
            <a:prstDash val="solid"/>
            <a:round/>
            <a:headEnd len="sm" w="sm" type="none"/>
            <a:tailEnd len="med" w="med" type="triangle"/>
          </a:ln>
        </p:spPr>
      </p:cxnSp>
      <p:grpSp>
        <p:nvGrpSpPr>
          <p:cNvPr id="1870" name="Google Shape;1870;p77"/>
          <p:cNvGrpSpPr/>
          <p:nvPr/>
        </p:nvGrpSpPr>
        <p:grpSpPr>
          <a:xfrm>
            <a:off x="5958714" y="1981545"/>
            <a:ext cx="2670255" cy="2613507"/>
            <a:chOff x="6187314" y="1981545"/>
            <a:chExt cx="2670255" cy="2613507"/>
          </a:xfrm>
        </p:grpSpPr>
        <p:sp>
          <p:nvSpPr>
            <p:cNvPr id="1871" name="Google Shape;1871;p77"/>
            <p:cNvSpPr txBox="1"/>
            <p:nvPr/>
          </p:nvSpPr>
          <p:spPr>
            <a:xfrm>
              <a:off x="6187314" y="420145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872" name="Google Shape;1872;p77"/>
            <p:cNvGrpSpPr/>
            <p:nvPr/>
          </p:nvGrpSpPr>
          <p:grpSpPr>
            <a:xfrm>
              <a:off x="6972593" y="1981545"/>
              <a:ext cx="1884976" cy="419290"/>
              <a:chOff x="3391193" y="1981545"/>
              <a:chExt cx="1884976" cy="419290"/>
            </a:xfrm>
          </p:grpSpPr>
          <p:sp>
            <p:nvSpPr>
              <p:cNvPr id="1873" name="Google Shape;1873;p77"/>
              <p:cNvSpPr txBox="1"/>
              <p:nvPr/>
            </p:nvSpPr>
            <p:spPr>
              <a:xfrm>
                <a:off x="3391193" y="198154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1874" name="Google Shape;1874;p77"/>
              <p:cNvSpPr txBox="1"/>
              <p:nvPr/>
            </p:nvSpPr>
            <p:spPr>
              <a:xfrm>
                <a:off x="4292769" y="2007235"/>
                <a:ext cx="9834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null</a:t>
                </a:r>
                <a:endParaRPr b="0" i="0" sz="2500" u="none" cap="none" strike="noStrike">
                  <a:solidFill>
                    <a:srgbClr val="4A86E8"/>
                  </a:solidFill>
                  <a:latin typeface="Shadows Into Light"/>
                  <a:ea typeface="Shadows Into Light"/>
                  <a:cs typeface="Shadows Into Light"/>
                  <a:sym typeface="Shadows Into Light"/>
                </a:endParaRPr>
              </a:p>
            </p:txBody>
          </p:sp>
        </p:grpSp>
      </p:grpSp>
      <p:sp>
        <p:nvSpPr>
          <p:cNvPr id="1875" name="Google Shape;1875;p77"/>
          <p:cNvSpPr txBox="1"/>
          <p:nvPr/>
        </p:nvSpPr>
        <p:spPr>
          <a:xfrm>
            <a:off x="5965146"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grpSp>
        <p:nvGrpSpPr>
          <p:cNvPr id="1876" name="Google Shape;1876;p77"/>
          <p:cNvGrpSpPr/>
          <p:nvPr/>
        </p:nvGrpSpPr>
        <p:grpSpPr>
          <a:xfrm>
            <a:off x="6355715" y="2331295"/>
            <a:ext cx="1973100" cy="2273785"/>
            <a:chOff x="6355715" y="2331295"/>
            <a:chExt cx="1973100" cy="2273785"/>
          </a:xfrm>
        </p:grpSpPr>
        <p:sp>
          <p:nvSpPr>
            <p:cNvPr id="1877" name="Google Shape;1877;p77"/>
            <p:cNvSpPr txBox="1"/>
            <p:nvPr/>
          </p:nvSpPr>
          <p:spPr>
            <a:xfrm>
              <a:off x="6736715" y="233129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78" name="Google Shape;1878;p77"/>
            <p:cNvSpPr txBox="1"/>
            <p:nvPr/>
          </p:nvSpPr>
          <p:spPr>
            <a:xfrm>
              <a:off x="6736715" y="26617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1879" name="Google Shape;1879;p77"/>
            <p:cNvSpPr txBox="1"/>
            <p:nvPr/>
          </p:nvSpPr>
          <p:spPr>
            <a:xfrm>
              <a:off x="7955915" y="233129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0" name="Google Shape;1880;p77"/>
            <p:cNvSpPr txBox="1"/>
            <p:nvPr/>
          </p:nvSpPr>
          <p:spPr>
            <a:xfrm>
              <a:off x="7955915" y="26617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1" name="Google Shape;1881;p77"/>
            <p:cNvSpPr txBox="1"/>
            <p:nvPr/>
          </p:nvSpPr>
          <p:spPr>
            <a:xfrm>
              <a:off x="6355715"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2" name="Google Shape;1882;p77"/>
            <p:cNvSpPr txBox="1"/>
            <p:nvPr/>
          </p:nvSpPr>
          <p:spPr>
            <a:xfrm>
              <a:off x="6759133" y="421148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883" name="Google Shape;1883;p77"/>
          <p:cNvGrpSpPr/>
          <p:nvPr/>
        </p:nvGrpSpPr>
        <p:grpSpPr>
          <a:xfrm>
            <a:off x="6736715" y="2985844"/>
            <a:ext cx="1592100" cy="1612800"/>
            <a:chOff x="6736715" y="2985844"/>
            <a:chExt cx="1592100" cy="1612800"/>
          </a:xfrm>
        </p:grpSpPr>
        <p:sp>
          <p:nvSpPr>
            <p:cNvPr id="1884" name="Google Shape;1884;p77"/>
            <p:cNvSpPr txBox="1"/>
            <p:nvPr/>
          </p:nvSpPr>
          <p:spPr>
            <a:xfrm>
              <a:off x="6736715" y="29858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5" name="Google Shape;1885;p77"/>
            <p:cNvSpPr txBox="1"/>
            <p:nvPr/>
          </p:nvSpPr>
          <p:spPr>
            <a:xfrm>
              <a:off x="7955915" y="29858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6" name="Google Shape;1886;p77"/>
            <p:cNvSpPr txBox="1"/>
            <p:nvPr/>
          </p:nvSpPr>
          <p:spPr>
            <a:xfrm>
              <a:off x="7168230" y="420504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7" name="Google Shape;1887;p77"/>
            <p:cNvSpPr txBox="1"/>
            <p:nvPr/>
          </p:nvSpPr>
          <p:spPr>
            <a:xfrm>
              <a:off x="6736715" y="332917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8" name="Google Shape;1888;p77"/>
            <p:cNvSpPr txBox="1"/>
            <p:nvPr/>
          </p:nvSpPr>
          <p:spPr>
            <a:xfrm>
              <a:off x="7955915" y="3329172"/>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889" name="Google Shape;1889;p77"/>
            <p:cNvSpPr txBox="1"/>
            <p:nvPr/>
          </p:nvSpPr>
          <p:spPr>
            <a:xfrm>
              <a:off x="7552486" y="4197104"/>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890" name="Google Shape;1890;p77"/>
          <p:cNvGrpSpPr/>
          <p:nvPr/>
        </p:nvGrpSpPr>
        <p:grpSpPr>
          <a:xfrm>
            <a:off x="6736715" y="3659658"/>
            <a:ext cx="1592100" cy="933421"/>
            <a:chOff x="6736715" y="3659658"/>
            <a:chExt cx="1592100" cy="933421"/>
          </a:xfrm>
        </p:grpSpPr>
        <p:sp>
          <p:nvSpPr>
            <p:cNvPr id="1891" name="Google Shape;1891;p77"/>
            <p:cNvSpPr txBox="1"/>
            <p:nvPr/>
          </p:nvSpPr>
          <p:spPr>
            <a:xfrm>
              <a:off x="6736715" y="365965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1892" name="Google Shape;1892;p77"/>
            <p:cNvSpPr txBox="1"/>
            <p:nvPr/>
          </p:nvSpPr>
          <p:spPr>
            <a:xfrm>
              <a:off x="7955915" y="365965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1893" name="Google Shape;1893;p77"/>
            <p:cNvSpPr txBox="1"/>
            <p:nvPr/>
          </p:nvSpPr>
          <p:spPr>
            <a:xfrm>
              <a:off x="7955915" y="41994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graphicFrame>
        <p:nvGraphicFramePr>
          <p:cNvPr id="1894" name="Google Shape;1894;p77"/>
          <p:cNvGraphicFramePr/>
          <p:nvPr/>
        </p:nvGraphicFramePr>
        <p:xfrm>
          <a:off x="5296960" y="466360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Path</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1895" name="Google Shape;1895;p77"/>
          <p:cNvGrpSpPr/>
          <p:nvPr/>
        </p:nvGrpSpPr>
        <p:grpSpPr>
          <a:xfrm>
            <a:off x="5331853" y="3544159"/>
            <a:ext cx="2202856" cy="1506120"/>
            <a:chOff x="5331853" y="3544159"/>
            <a:chExt cx="2202856" cy="1506120"/>
          </a:xfrm>
        </p:grpSpPr>
        <p:grpSp>
          <p:nvGrpSpPr>
            <p:cNvPr id="1896" name="Google Shape;1896;p77"/>
            <p:cNvGrpSpPr/>
            <p:nvPr/>
          </p:nvGrpSpPr>
          <p:grpSpPr>
            <a:xfrm>
              <a:off x="5331853" y="3544159"/>
              <a:ext cx="1247097" cy="557400"/>
              <a:chOff x="2207653" y="3163159"/>
              <a:chExt cx="1247097" cy="557400"/>
            </a:xfrm>
          </p:grpSpPr>
          <p:sp>
            <p:nvSpPr>
              <p:cNvPr id="1897" name="Google Shape;1897;p77"/>
              <p:cNvSpPr/>
              <p:nvPr/>
            </p:nvSpPr>
            <p:spPr>
              <a:xfrm>
                <a:off x="2754825" y="3371061"/>
                <a:ext cx="699925" cy="93300"/>
              </a:xfrm>
              <a:custGeom>
                <a:rect b="b" l="l" r="r" t="t"/>
                <a:pathLst>
                  <a:path extrusionOk="0" h="3732" w="27997">
                    <a:moveTo>
                      <a:pt x="0" y="907"/>
                    </a:moveTo>
                    <a:cubicBezTo>
                      <a:pt x="1712" y="779"/>
                      <a:pt x="5608" y="-335"/>
                      <a:pt x="10274" y="136"/>
                    </a:cubicBezTo>
                    <a:cubicBezTo>
                      <a:pt x="14940" y="607"/>
                      <a:pt x="25043" y="3133"/>
                      <a:pt x="27997" y="3732"/>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98" name="Google Shape;1898;p77"/>
              <p:cNvSpPr txBox="1"/>
              <p:nvPr/>
            </p:nvSpPr>
            <p:spPr>
              <a:xfrm rot="-1181307">
                <a:off x="2247682" y="3265313"/>
                <a:ext cx="667843" cy="353093"/>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START HERE</a:t>
                </a:r>
                <a:endParaRPr b="0" i="0" sz="1400" u="none" cap="none" strike="noStrike">
                  <a:solidFill>
                    <a:srgbClr val="FF0000"/>
                  </a:solidFill>
                  <a:latin typeface="Shadows Into Light"/>
                  <a:ea typeface="Shadows Into Light"/>
                  <a:cs typeface="Shadows Into Light"/>
                  <a:sym typeface="Shadows Into Light"/>
                </a:endParaRPr>
              </a:p>
            </p:txBody>
          </p:sp>
        </p:grpSp>
        <p:sp>
          <p:nvSpPr>
            <p:cNvPr id="1899" name="Google Shape;1899;p77"/>
            <p:cNvSpPr txBox="1"/>
            <p:nvPr/>
          </p:nvSpPr>
          <p:spPr>
            <a:xfrm>
              <a:off x="7161809"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cxnSp>
        <p:nvCxnSpPr>
          <p:cNvPr id="1900" name="Google Shape;1900;p77"/>
          <p:cNvCxnSpPr/>
          <p:nvPr/>
        </p:nvCxnSpPr>
        <p:spPr>
          <a:xfrm>
            <a:off x="7116037" y="3836337"/>
            <a:ext cx="833400" cy="0"/>
          </a:xfrm>
          <a:prstGeom prst="straightConnector1">
            <a:avLst/>
          </a:prstGeom>
          <a:noFill/>
          <a:ln cap="flat" cmpd="sng" w="19050">
            <a:solidFill>
              <a:srgbClr val="FF0000"/>
            </a:solidFill>
            <a:prstDash val="solid"/>
            <a:round/>
            <a:headEnd len="sm" w="sm" type="none"/>
            <a:tailEnd len="med" w="med" type="triangle"/>
          </a:ln>
        </p:spPr>
      </p:cxnSp>
      <p:sp>
        <p:nvSpPr>
          <p:cNvPr id="1901" name="Google Shape;1901;p77"/>
          <p:cNvSpPr txBox="1"/>
          <p:nvPr/>
        </p:nvSpPr>
        <p:spPr>
          <a:xfrm>
            <a:off x="6767966"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1902" name="Google Shape;1902;p77"/>
          <p:cNvSpPr txBox="1"/>
          <p:nvPr/>
        </p:nvSpPr>
        <p:spPr>
          <a:xfrm>
            <a:off x="6359006"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1903" name="Google Shape;1903;p77"/>
          <p:cNvSpPr txBox="1"/>
          <p:nvPr/>
        </p:nvSpPr>
        <p:spPr>
          <a:xfrm>
            <a:off x="5973859" y="4656679"/>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cxnSp>
        <p:nvCxnSpPr>
          <p:cNvPr id="1904" name="Google Shape;1904;p77"/>
          <p:cNvCxnSpPr/>
          <p:nvPr/>
        </p:nvCxnSpPr>
        <p:spPr>
          <a:xfrm>
            <a:off x="7116037" y="3505852"/>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905" name="Google Shape;1905;p77"/>
          <p:cNvCxnSpPr/>
          <p:nvPr/>
        </p:nvCxnSpPr>
        <p:spPr>
          <a:xfrm>
            <a:off x="7116037" y="2528095"/>
            <a:ext cx="833400" cy="0"/>
          </a:xfrm>
          <a:prstGeom prst="straightConnector1">
            <a:avLst/>
          </a:prstGeom>
          <a:noFill/>
          <a:ln cap="flat" cmpd="sng" w="19050">
            <a:solidFill>
              <a:srgbClr val="FF0000"/>
            </a:solidFill>
            <a:prstDash val="solid"/>
            <a:round/>
            <a:headEnd len="sm" w="sm" type="none"/>
            <a:tailEnd len="med" w="med" type="triangle"/>
          </a:ln>
        </p:spPr>
      </p:cxnSp>
      <p:cxnSp>
        <p:nvCxnSpPr>
          <p:cNvPr id="1906" name="Google Shape;1906;p77"/>
          <p:cNvCxnSpPr/>
          <p:nvPr/>
        </p:nvCxnSpPr>
        <p:spPr>
          <a:xfrm>
            <a:off x="7116037" y="2204031"/>
            <a:ext cx="833400" cy="0"/>
          </a:xfrm>
          <a:prstGeom prst="straightConnector1">
            <a:avLst/>
          </a:prstGeom>
          <a:noFill/>
          <a:ln cap="flat" cmpd="sng" w="19050">
            <a:solidFill>
              <a:srgbClr val="FF0000"/>
            </a:solidFill>
            <a:prstDash val="solid"/>
            <a:round/>
            <a:headEnd len="sm" w="sm" type="none"/>
            <a:tailEnd len="med" w="med" type="triangle"/>
          </a:ln>
        </p:spPr>
      </p:cxnSp>
      <p:grpSp>
        <p:nvGrpSpPr>
          <p:cNvPr id="1907" name="Google Shape;1907;p77"/>
          <p:cNvGrpSpPr/>
          <p:nvPr/>
        </p:nvGrpSpPr>
        <p:grpSpPr>
          <a:xfrm>
            <a:off x="8116650" y="1237041"/>
            <a:ext cx="1065314" cy="863433"/>
            <a:chOff x="5144850" y="1465641"/>
            <a:chExt cx="1065314" cy="863433"/>
          </a:xfrm>
        </p:grpSpPr>
        <p:sp>
          <p:nvSpPr>
            <p:cNvPr id="1908" name="Google Shape;1908;p77"/>
            <p:cNvSpPr txBox="1"/>
            <p:nvPr/>
          </p:nvSpPr>
          <p:spPr>
            <a:xfrm rot="1075329">
              <a:off x="5504261" y="1559834"/>
              <a:ext cx="667805" cy="353115"/>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0000"/>
                  </a:solidFill>
                  <a:latin typeface="Shadows Into Light"/>
                  <a:ea typeface="Shadows Into Light"/>
                  <a:cs typeface="Shadows Into Light"/>
                  <a:sym typeface="Shadows Into Light"/>
                </a:rPr>
                <a:t>STOP HERE</a:t>
              </a:r>
              <a:endParaRPr b="0" i="0" sz="1400" u="none" cap="none" strike="noStrike">
                <a:solidFill>
                  <a:srgbClr val="FF0000"/>
                </a:solidFill>
                <a:latin typeface="Shadows Into Light"/>
                <a:ea typeface="Shadows Into Light"/>
                <a:cs typeface="Shadows Into Light"/>
                <a:sym typeface="Shadows Into Light"/>
              </a:endParaRPr>
            </a:p>
          </p:txBody>
        </p:sp>
        <p:sp>
          <p:nvSpPr>
            <p:cNvPr id="1909" name="Google Shape;1909;p77"/>
            <p:cNvSpPr/>
            <p:nvPr/>
          </p:nvSpPr>
          <p:spPr>
            <a:xfrm>
              <a:off x="5144850" y="1787551"/>
              <a:ext cx="448177" cy="541524"/>
            </a:xfrm>
            <a:custGeom>
              <a:rect b="b" l="l" r="r" t="t"/>
              <a:pathLst>
                <a:path extrusionOk="0" h="22347" w="23373">
                  <a:moveTo>
                    <a:pt x="23373" y="0"/>
                  </a:moveTo>
                  <a:cubicBezTo>
                    <a:pt x="21575" y="1199"/>
                    <a:pt x="16482" y="3468"/>
                    <a:pt x="12586" y="7192"/>
                  </a:cubicBezTo>
                  <a:cubicBezTo>
                    <a:pt x="8691" y="10917"/>
                    <a:pt x="2098" y="19821"/>
                    <a:pt x="0" y="22347"/>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1910" name="Google Shape;1910;p77"/>
          <p:cNvGrpSpPr/>
          <p:nvPr/>
        </p:nvGrpSpPr>
        <p:grpSpPr>
          <a:xfrm>
            <a:off x="119466" y="1491981"/>
            <a:ext cx="2380778" cy="2101576"/>
            <a:chOff x="119466" y="1644381"/>
            <a:chExt cx="2380778" cy="2101576"/>
          </a:xfrm>
        </p:grpSpPr>
        <p:sp>
          <p:nvSpPr>
            <p:cNvPr id="1911" name="Google Shape;1911;p77"/>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1912" name="Google Shape;1912;p77"/>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1913" name="Google Shape;1913;p77"/>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1914" name="Google Shape;1914;p77"/>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1915" name="Google Shape;1915;p77"/>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1916" name="Google Shape;1916;p77"/>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1917" name="Google Shape;1917;p77"/>
            <p:cNvCxnSpPr>
              <a:stCxn id="1911" idx="2"/>
              <a:endCxn id="1913"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1918" name="Google Shape;1918;p77"/>
            <p:cNvCxnSpPr>
              <a:stCxn id="1913" idx="5"/>
              <a:endCxn id="1915"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1919" name="Google Shape;1919;p77"/>
            <p:cNvCxnSpPr>
              <a:stCxn id="1915" idx="3"/>
              <a:endCxn id="1914"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1920" name="Google Shape;1920;p77"/>
            <p:cNvCxnSpPr>
              <a:stCxn id="1914" idx="6"/>
              <a:endCxn id="1916"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1921" name="Google Shape;1921;p77"/>
            <p:cNvCxnSpPr>
              <a:stCxn id="1916" idx="0"/>
              <a:endCxn id="1915"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1922" name="Google Shape;1922;p77"/>
            <p:cNvCxnSpPr>
              <a:stCxn id="1915" idx="7"/>
              <a:endCxn id="1912"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1923" name="Google Shape;1923;p77"/>
            <p:cNvCxnSpPr>
              <a:stCxn id="1912" idx="4"/>
              <a:endCxn id="1916"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grpSp>
        <p:nvGrpSpPr>
          <p:cNvPr id="1924" name="Google Shape;1924;p77"/>
          <p:cNvGrpSpPr/>
          <p:nvPr/>
        </p:nvGrpSpPr>
        <p:grpSpPr>
          <a:xfrm>
            <a:off x="3162593" y="2992265"/>
            <a:ext cx="1585711" cy="1612800"/>
            <a:chOff x="3162593" y="2992265"/>
            <a:chExt cx="1585711" cy="1612800"/>
          </a:xfrm>
        </p:grpSpPr>
        <p:sp>
          <p:nvSpPr>
            <p:cNvPr id="1925" name="Google Shape;1925;p77"/>
            <p:cNvSpPr txBox="1"/>
            <p:nvPr/>
          </p:nvSpPr>
          <p:spPr>
            <a:xfrm>
              <a:off x="3587686"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1926" name="Google Shape;1926;p77"/>
            <p:cNvSpPr txBox="1"/>
            <p:nvPr/>
          </p:nvSpPr>
          <p:spPr>
            <a:xfrm>
              <a:off x="3975115"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1927" name="Google Shape;1927;p77"/>
            <p:cNvSpPr txBox="1"/>
            <p:nvPr/>
          </p:nvSpPr>
          <p:spPr>
            <a:xfrm>
              <a:off x="4375404" y="42114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grpSp>
          <p:nvGrpSpPr>
            <p:cNvPr id="1928" name="Google Shape;1928;p77"/>
            <p:cNvGrpSpPr/>
            <p:nvPr/>
          </p:nvGrpSpPr>
          <p:grpSpPr>
            <a:xfrm>
              <a:off x="3162593" y="2992265"/>
              <a:ext cx="1579257" cy="1054635"/>
              <a:chOff x="3162593" y="2992265"/>
              <a:chExt cx="1579257" cy="1054635"/>
            </a:xfrm>
          </p:grpSpPr>
          <p:grpSp>
            <p:nvGrpSpPr>
              <p:cNvPr id="1929" name="Google Shape;1929;p77"/>
              <p:cNvGrpSpPr/>
              <p:nvPr/>
            </p:nvGrpSpPr>
            <p:grpSpPr>
              <a:xfrm>
                <a:off x="3162593" y="2992265"/>
                <a:ext cx="1579257" cy="393600"/>
                <a:chOff x="3391193" y="2324873"/>
                <a:chExt cx="1579257" cy="393600"/>
              </a:xfrm>
            </p:grpSpPr>
            <p:sp>
              <p:nvSpPr>
                <p:cNvPr id="1930" name="Google Shape;1930;p77"/>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1931" name="Google Shape;1931;p77"/>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932" name="Google Shape;1932;p77"/>
              <p:cNvGrpSpPr/>
              <p:nvPr/>
            </p:nvGrpSpPr>
            <p:grpSpPr>
              <a:xfrm>
                <a:off x="3162593" y="3322783"/>
                <a:ext cx="1579257" cy="393600"/>
                <a:chOff x="3391193" y="2324873"/>
                <a:chExt cx="1579257" cy="393600"/>
              </a:xfrm>
            </p:grpSpPr>
            <p:sp>
              <p:nvSpPr>
                <p:cNvPr id="1933" name="Google Shape;1933;p77"/>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1934" name="Google Shape;1934;p77"/>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1935" name="Google Shape;1935;p77"/>
              <p:cNvGrpSpPr/>
              <p:nvPr/>
            </p:nvGrpSpPr>
            <p:grpSpPr>
              <a:xfrm>
                <a:off x="3162593" y="3653300"/>
                <a:ext cx="1579257" cy="393600"/>
                <a:chOff x="3391193" y="2324873"/>
                <a:chExt cx="1579257" cy="393600"/>
              </a:xfrm>
            </p:grpSpPr>
            <p:sp>
              <p:nvSpPr>
                <p:cNvPr id="1936" name="Google Shape;1936;p77"/>
                <p:cNvSpPr txBox="1"/>
                <p:nvPr/>
              </p:nvSpPr>
              <p:spPr>
                <a:xfrm>
                  <a:off x="3391193"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1937" name="Google Shape;1937;p77"/>
                <p:cNvSpPr txBox="1"/>
                <p:nvPr/>
              </p:nvSpPr>
              <p:spPr>
                <a:xfrm>
                  <a:off x="4597550" y="2324873"/>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grpSp>
      <p:sp>
        <p:nvSpPr>
          <p:cNvPr id="1938" name="Google Shape;1938;p77"/>
          <p:cNvSpPr txBox="1"/>
          <p:nvPr/>
        </p:nvSpPr>
        <p:spPr>
          <a:xfrm>
            <a:off x="3565298"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39" name="Google Shape;1939;p77"/>
          <p:cNvSpPr txBox="1"/>
          <p:nvPr/>
        </p:nvSpPr>
        <p:spPr>
          <a:xfrm>
            <a:off x="3965586"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40" name="Google Shape;1940;p77"/>
          <p:cNvSpPr/>
          <p:nvPr/>
        </p:nvSpPr>
        <p:spPr>
          <a:xfrm>
            <a:off x="4394153" y="4219625"/>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41" name="Google Shape;1941;p77"/>
          <p:cNvSpPr txBox="1"/>
          <p:nvPr/>
        </p:nvSpPr>
        <p:spPr>
          <a:xfrm>
            <a:off x="2374373" y="4664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1942" name="Google Shape;1942;p77"/>
          <p:cNvSpPr txBox="1"/>
          <p:nvPr/>
        </p:nvSpPr>
        <p:spPr>
          <a:xfrm>
            <a:off x="6352567"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43" name="Google Shape;1943;p77"/>
          <p:cNvSpPr txBox="1"/>
          <p:nvPr/>
        </p:nvSpPr>
        <p:spPr>
          <a:xfrm>
            <a:off x="6746410"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44" name="Google Shape;1944;p77"/>
          <p:cNvSpPr txBox="1"/>
          <p:nvPr/>
        </p:nvSpPr>
        <p:spPr>
          <a:xfrm>
            <a:off x="7152223"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45" name="Google Shape;1945;p77"/>
          <p:cNvSpPr txBox="1"/>
          <p:nvPr/>
        </p:nvSpPr>
        <p:spPr>
          <a:xfrm>
            <a:off x="7552503" y="4207698"/>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 sz="2300" u="none" cap="none" strike="noStrike">
                <a:solidFill>
                  <a:srgbClr val="FF0000"/>
                </a:solidFill>
                <a:latin typeface="Shadows Into Light"/>
                <a:ea typeface="Shadows Into Light"/>
                <a:cs typeface="Shadows Into Light"/>
                <a:sym typeface="Shadows Into Light"/>
              </a:rPr>
              <a:t>✗</a:t>
            </a:r>
            <a:endParaRPr b="0" i="0" sz="2300" u="none" cap="none" strike="noStrike">
              <a:solidFill>
                <a:srgbClr val="FF0000"/>
              </a:solidFill>
              <a:latin typeface="Shadows Into Light"/>
              <a:ea typeface="Shadows Into Light"/>
              <a:cs typeface="Shadows Into Light"/>
              <a:sym typeface="Shadows Into Light"/>
            </a:endParaRPr>
          </a:p>
        </p:txBody>
      </p:sp>
      <p:sp>
        <p:nvSpPr>
          <p:cNvPr id="1946" name="Google Shape;1946;p77"/>
          <p:cNvSpPr/>
          <p:nvPr/>
        </p:nvSpPr>
        <p:spPr>
          <a:xfrm>
            <a:off x="7982879" y="4201217"/>
            <a:ext cx="329700" cy="393600"/>
          </a:xfrm>
          <a:prstGeom prst="ellipse">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37"/>
                                        </p:tgtEl>
                                        <p:attrNameLst>
                                          <p:attrName>style.visibility</p:attrName>
                                        </p:attrNameLst>
                                      </p:cBhvr>
                                      <p:to>
                                        <p:strVal val="visible"/>
                                      </p:to>
                                    </p:set>
                                    <p:animEffect filter="fade" transition="in">
                                      <p:cBhvr>
                                        <p:cTn dur="1000"/>
                                        <p:tgtEl>
                                          <p:spTgt spid="18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42"/>
                                        </p:tgtEl>
                                        <p:attrNameLst>
                                          <p:attrName>style.visibility</p:attrName>
                                        </p:attrNameLst>
                                      </p:cBhvr>
                                      <p:to>
                                        <p:strVal val="visible"/>
                                      </p:to>
                                    </p:set>
                                    <p:animEffect filter="fade" transition="in">
                                      <p:cBhvr>
                                        <p:cTn dur="1000"/>
                                        <p:tgtEl>
                                          <p:spTgt spid="18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43"/>
                                        </p:tgtEl>
                                        <p:attrNameLst>
                                          <p:attrName>style.visibility</p:attrName>
                                        </p:attrNameLst>
                                      </p:cBhvr>
                                      <p:to>
                                        <p:strVal val="visible"/>
                                      </p:to>
                                    </p:set>
                                    <p:animEffect filter="fade" transition="in">
                                      <p:cBhvr>
                                        <p:cTn dur="1000"/>
                                        <p:tgtEl>
                                          <p:spTgt spid="18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3"/>
                                        </p:tgtEl>
                                        <p:attrNameLst>
                                          <p:attrName>style.visibility</p:attrName>
                                        </p:attrNameLst>
                                      </p:cBhvr>
                                      <p:to>
                                        <p:strVal val="visible"/>
                                      </p:to>
                                    </p:set>
                                    <p:animEffect filter="fade" transition="in">
                                      <p:cBhvr>
                                        <p:cTn dur="1000"/>
                                        <p:tgtEl>
                                          <p:spTgt spid="18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48"/>
                                        </p:tgtEl>
                                        <p:attrNameLst>
                                          <p:attrName>style.visibility</p:attrName>
                                        </p:attrNameLst>
                                      </p:cBhvr>
                                      <p:to>
                                        <p:strVal val="visible"/>
                                      </p:to>
                                    </p:set>
                                    <p:animEffect filter="fade" transition="in">
                                      <p:cBhvr>
                                        <p:cTn dur="1000"/>
                                        <p:tgtEl>
                                          <p:spTgt spid="18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4"/>
                                        </p:tgtEl>
                                        <p:attrNameLst>
                                          <p:attrName>style.visibility</p:attrName>
                                        </p:attrNameLst>
                                      </p:cBhvr>
                                      <p:to>
                                        <p:strVal val="visible"/>
                                      </p:to>
                                    </p:set>
                                    <p:animEffect filter="fade" transition="in">
                                      <p:cBhvr>
                                        <p:cTn dur="1000"/>
                                        <p:tgtEl>
                                          <p:spTgt spid="18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24"/>
                                        </p:tgtEl>
                                        <p:attrNameLst>
                                          <p:attrName>style.visibility</p:attrName>
                                        </p:attrNameLst>
                                      </p:cBhvr>
                                      <p:to>
                                        <p:strVal val="visible"/>
                                      </p:to>
                                    </p:set>
                                    <p:animEffect filter="fade" transition="in">
                                      <p:cBhvr>
                                        <p:cTn dur="1000"/>
                                        <p:tgtEl>
                                          <p:spTgt spid="19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8"/>
                                        </p:tgtEl>
                                        <p:attrNameLst>
                                          <p:attrName>style.visibility</p:attrName>
                                        </p:attrNameLst>
                                      </p:cBhvr>
                                      <p:to>
                                        <p:strVal val="visible"/>
                                      </p:to>
                                    </p:set>
                                    <p:animEffect filter="fade" transition="in">
                                      <p:cBhvr>
                                        <p:cTn dur="1000"/>
                                        <p:tgtEl>
                                          <p:spTgt spid="19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9"/>
                                        </p:tgtEl>
                                        <p:attrNameLst>
                                          <p:attrName>style.visibility</p:attrName>
                                        </p:attrNameLst>
                                      </p:cBhvr>
                                      <p:to>
                                        <p:strVal val="visible"/>
                                      </p:to>
                                    </p:set>
                                    <p:animEffect filter="fade" transition="in">
                                      <p:cBhvr>
                                        <p:cTn dur="1000"/>
                                        <p:tgtEl>
                                          <p:spTgt spid="193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0"/>
                                        </p:tgtEl>
                                        <p:attrNameLst>
                                          <p:attrName>style.visibility</p:attrName>
                                        </p:attrNameLst>
                                      </p:cBhvr>
                                      <p:to>
                                        <p:strVal val="visible"/>
                                      </p:to>
                                    </p:set>
                                    <p:animEffect filter="fade" transition="in">
                                      <p:cBhvr>
                                        <p:cTn dur="1000"/>
                                        <p:tgtEl>
                                          <p:spTgt spid="19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58"/>
                                        </p:tgtEl>
                                        <p:attrNameLst>
                                          <p:attrName>style.visibility</p:attrName>
                                        </p:attrNameLst>
                                      </p:cBhvr>
                                      <p:to>
                                        <p:strVal val="visible"/>
                                      </p:to>
                                    </p:set>
                                    <p:animEffect filter="fade" transition="in">
                                      <p:cBhvr>
                                        <p:cTn dur="1000"/>
                                        <p:tgtEl>
                                          <p:spTgt spid="18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6"/>
                                        </p:tgtEl>
                                        <p:attrNameLst>
                                          <p:attrName>style.visibility</p:attrName>
                                        </p:attrNameLst>
                                      </p:cBhvr>
                                      <p:to>
                                        <p:strVal val="visible"/>
                                      </p:to>
                                    </p:set>
                                    <p:animEffect filter="fade" transition="in">
                                      <p:cBhvr>
                                        <p:cTn dur="1000"/>
                                        <p:tgtEl>
                                          <p:spTgt spid="18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56"/>
                                        </p:tgtEl>
                                        <p:attrNameLst>
                                          <p:attrName>style.visibility</p:attrName>
                                        </p:attrNameLst>
                                      </p:cBhvr>
                                      <p:to>
                                        <p:strVal val="visible"/>
                                      </p:to>
                                    </p:set>
                                    <p:animEffect filter="fade" transition="in">
                                      <p:cBhvr>
                                        <p:cTn dur="1000"/>
                                        <p:tgtEl>
                                          <p:spTgt spid="18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7"/>
                                        </p:tgtEl>
                                        <p:attrNameLst>
                                          <p:attrName>style.visibility</p:attrName>
                                        </p:attrNameLst>
                                      </p:cBhvr>
                                      <p:to>
                                        <p:strVal val="visible"/>
                                      </p:to>
                                    </p:set>
                                    <p:animEffect filter="fade" transition="in">
                                      <p:cBhvr>
                                        <p:cTn dur="1000"/>
                                        <p:tgtEl>
                                          <p:spTgt spid="186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57"/>
                                        </p:tgtEl>
                                        <p:attrNameLst>
                                          <p:attrName>style.visibility</p:attrName>
                                        </p:attrNameLst>
                                      </p:cBhvr>
                                      <p:to>
                                        <p:strVal val="visible"/>
                                      </p:to>
                                    </p:set>
                                    <p:animEffect filter="fade" transition="in">
                                      <p:cBhvr>
                                        <p:cTn dur="1000"/>
                                        <p:tgtEl>
                                          <p:spTgt spid="18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8"/>
                                        </p:tgtEl>
                                        <p:attrNameLst>
                                          <p:attrName>style.visibility</p:attrName>
                                        </p:attrNameLst>
                                      </p:cBhvr>
                                      <p:to>
                                        <p:strVal val="visible"/>
                                      </p:to>
                                    </p:set>
                                    <p:animEffect filter="fade" transition="in">
                                      <p:cBhvr>
                                        <p:cTn dur="1000"/>
                                        <p:tgtEl>
                                          <p:spTgt spid="186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41"/>
                                        </p:tgtEl>
                                        <p:attrNameLst>
                                          <p:attrName>style.visibility</p:attrName>
                                        </p:attrNameLst>
                                      </p:cBhvr>
                                      <p:to>
                                        <p:strVal val="visible"/>
                                      </p:to>
                                    </p:set>
                                    <p:animEffect filter="fade" transition="in">
                                      <p:cBhvr>
                                        <p:cTn dur="1000"/>
                                        <p:tgtEl>
                                          <p:spTgt spid="19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69"/>
                                        </p:tgtEl>
                                        <p:attrNameLst>
                                          <p:attrName>style.visibility</p:attrName>
                                        </p:attrNameLst>
                                      </p:cBhvr>
                                      <p:to>
                                        <p:strVal val="visible"/>
                                      </p:to>
                                    </p:set>
                                    <p:animEffect filter="fade" transition="in">
                                      <p:cBhvr>
                                        <p:cTn dur="1000"/>
                                        <p:tgtEl>
                                          <p:spTgt spid="18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63"/>
                                        </p:tgtEl>
                                        <p:attrNameLst>
                                          <p:attrName>style.visibility</p:attrName>
                                        </p:attrNameLst>
                                      </p:cBhvr>
                                      <p:to>
                                        <p:strVal val="visible"/>
                                      </p:to>
                                    </p:set>
                                    <p:animEffect filter="fade" transition="in">
                                      <p:cBhvr>
                                        <p:cTn dur="1000"/>
                                        <p:tgtEl>
                                          <p:spTgt spid="186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0"/>
                                        </p:tgtEl>
                                        <p:attrNameLst>
                                          <p:attrName>style.visibility</p:attrName>
                                        </p:attrNameLst>
                                      </p:cBhvr>
                                      <p:to>
                                        <p:strVal val="visible"/>
                                      </p:to>
                                    </p:set>
                                    <p:animEffect filter="fade" transition="in">
                                      <p:cBhvr>
                                        <p:cTn dur="1000"/>
                                        <p:tgtEl>
                                          <p:spTgt spid="18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75"/>
                                        </p:tgtEl>
                                        <p:attrNameLst>
                                          <p:attrName>style.visibility</p:attrName>
                                        </p:attrNameLst>
                                      </p:cBhvr>
                                      <p:to>
                                        <p:strVal val="visible"/>
                                      </p:to>
                                    </p:set>
                                    <p:animEffect filter="fade" transition="in">
                                      <p:cBhvr>
                                        <p:cTn dur="1000"/>
                                        <p:tgtEl>
                                          <p:spTgt spid="18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76"/>
                                        </p:tgtEl>
                                        <p:attrNameLst>
                                          <p:attrName>style.visibility</p:attrName>
                                        </p:attrNameLst>
                                      </p:cBhvr>
                                      <p:to>
                                        <p:strVal val="visible"/>
                                      </p:to>
                                    </p:set>
                                    <p:animEffect filter="fade" transition="in">
                                      <p:cBhvr>
                                        <p:cTn dur="1000"/>
                                        <p:tgtEl>
                                          <p:spTgt spid="18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2"/>
                                        </p:tgtEl>
                                        <p:attrNameLst>
                                          <p:attrName>style.visibility</p:attrName>
                                        </p:attrNameLst>
                                      </p:cBhvr>
                                      <p:to>
                                        <p:strVal val="visible"/>
                                      </p:to>
                                    </p:set>
                                    <p:animEffect filter="fade" transition="in">
                                      <p:cBhvr>
                                        <p:cTn dur="1000"/>
                                        <p:tgtEl>
                                          <p:spTgt spid="194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83"/>
                                        </p:tgtEl>
                                        <p:attrNameLst>
                                          <p:attrName>style.visibility</p:attrName>
                                        </p:attrNameLst>
                                      </p:cBhvr>
                                      <p:to>
                                        <p:strVal val="visible"/>
                                      </p:to>
                                    </p:set>
                                    <p:animEffect filter="fade" transition="in">
                                      <p:cBhvr>
                                        <p:cTn dur="1000"/>
                                        <p:tgtEl>
                                          <p:spTgt spid="18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3"/>
                                        </p:tgtEl>
                                        <p:attrNameLst>
                                          <p:attrName>style.visibility</p:attrName>
                                        </p:attrNameLst>
                                      </p:cBhvr>
                                      <p:to>
                                        <p:strVal val="visible"/>
                                      </p:to>
                                    </p:set>
                                    <p:animEffect filter="fade" transition="in">
                                      <p:cBhvr>
                                        <p:cTn dur="1000"/>
                                        <p:tgtEl>
                                          <p:spTgt spid="194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4"/>
                                        </p:tgtEl>
                                        <p:attrNameLst>
                                          <p:attrName>style.visibility</p:attrName>
                                        </p:attrNameLst>
                                      </p:cBhvr>
                                      <p:to>
                                        <p:strVal val="visible"/>
                                      </p:to>
                                    </p:set>
                                    <p:animEffect filter="fade" transition="in">
                                      <p:cBhvr>
                                        <p:cTn dur="1000"/>
                                        <p:tgtEl>
                                          <p:spTgt spid="19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5"/>
                                        </p:tgtEl>
                                        <p:attrNameLst>
                                          <p:attrName>style.visibility</p:attrName>
                                        </p:attrNameLst>
                                      </p:cBhvr>
                                      <p:to>
                                        <p:strVal val="visible"/>
                                      </p:to>
                                    </p:set>
                                    <p:animEffect filter="fade" transition="in">
                                      <p:cBhvr>
                                        <p:cTn dur="1000"/>
                                        <p:tgtEl>
                                          <p:spTgt spid="19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890"/>
                                        </p:tgtEl>
                                        <p:attrNameLst>
                                          <p:attrName>style.visibility</p:attrName>
                                        </p:attrNameLst>
                                      </p:cBhvr>
                                      <p:to>
                                        <p:strVal val="visible"/>
                                      </p:to>
                                    </p:set>
                                    <p:animEffect filter="fade" transition="in">
                                      <p:cBhvr>
                                        <p:cTn dur="1000"/>
                                        <p:tgtEl>
                                          <p:spTgt spid="18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6"/>
                                        </p:tgtEl>
                                        <p:attrNameLst>
                                          <p:attrName>style.visibility</p:attrName>
                                        </p:attrNameLst>
                                      </p:cBhvr>
                                      <p:to>
                                        <p:strVal val="visible"/>
                                      </p:to>
                                    </p:set>
                                    <p:animEffect filter="fade" transition="in">
                                      <p:cBhvr>
                                        <p:cTn dur="1000"/>
                                        <p:tgtEl>
                                          <p:spTgt spid="19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895"/>
                                        </p:tgtEl>
                                        <p:attrNameLst>
                                          <p:attrName>style.visibility</p:attrName>
                                        </p:attrNameLst>
                                      </p:cBhvr>
                                      <p:to>
                                        <p:strVal val="visible"/>
                                      </p:to>
                                    </p:set>
                                    <p:animEffect filter="fade" transition="in">
                                      <p:cBhvr>
                                        <p:cTn dur="1000"/>
                                        <p:tgtEl>
                                          <p:spTgt spid="18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0"/>
                                        </p:tgtEl>
                                        <p:attrNameLst>
                                          <p:attrName>style.visibility</p:attrName>
                                        </p:attrNameLst>
                                      </p:cBhvr>
                                      <p:to>
                                        <p:strVal val="visible"/>
                                      </p:to>
                                    </p:set>
                                    <p:animEffect filter="fade" transition="in">
                                      <p:cBhvr>
                                        <p:cTn dur="1000"/>
                                        <p:tgtEl>
                                          <p:spTgt spid="190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01"/>
                                        </p:tgtEl>
                                        <p:attrNameLst>
                                          <p:attrName>style.visibility</p:attrName>
                                        </p:attrNameLst>
                                      </p:cBhvr>
                                      <p:to>
                                        <p:strVal val="visible"/>
                                      </p:to>
                                    </p:set>
                                    <p:animEffect filter="fade" transition="in">
                                      <p:cBhvr>
                                        <p:cTn dur="1000"/>
                                        <p:tgtEl>
                                          <p:spTgt spid="19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4"/>
                                        </p:tgtEl>
                                        <p:attrNameLst>
                                          <p:attrName>style.visibility</p:attrName>
                                        </p:attrNameLst>
                                      </p:cBhvr>
                                      <p:to>
                                        <p:strVal val="visible"/>
                                      </p:to>
                                    </p:set>
                                    <p:animEffect filter="fade" transition="in">
                                      <p:cBhvr>
                                        <p:cTn dur="1000"/>
                                        <p:tgtEl>
                                          <p:spTgt spid="190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02"/>
                                        </p:tgtEl>
                                        <p:attrNameLst>
                                          <p:attrName>style.visibility</p:attrName>
                                        </p:attrNameLst>
                                      </p:cBhvr>
                                      <p:to>
                                        <p:strVal val="visible"/>
                                      </p:to>
                                    </p:set>
                                    <p:animEffect filter="fade" transition="in">
                                      <p:cBhvr>
                                        <p:cTn dur="1000"/>
                                        <p:tgtEl>
                                          <p:spTgt spid="19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5"/>
                                        </p:tgtEl>
                                        <p:attrNameLst>
                                          <p:attrName>style.visibility</p:attrName>
                                        </p:attrNameLst>
                                      </p:cBhvr>
                                      <p:to>
                                        <p:strVal val="visible"/>
                                      </p:to>
                                    </p:set>
                                    <p:animEffect filter="fade" transition="in">
                                      <p:cBhvr>
                                        <p:cTn dur="1000"/>
                                        <p:tgtEl>
                                          <p:spTgt spid="190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03"/>
                                        </p:tgtEl>
                                        <p:attrNameLst>
                                          <p:attrName>style.visibility</p:attrName>
                                        </p:attrNameLst>
                                      </p:cBhvr>
                                      <p:to>
                                        <p:strVal val="visible"/>
                                      </p:to>
                                    </p:set>
                                    <p:animEffect filter="fade" transition="in">
                                      <p:cBhvr>
                                        <p:cTn dur="1000"/>
                                        <p:tgtEl>
                                          <p:spTgt spid="19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6"/>
                                        </p:tgtEl>
                                        <p:attrNameLst>
                                          <p:attrName>style.visibility</p:attrName>
                                        </p:attrNameLst>
                                      </p:cBhvr>
                                      <p:to>
                                        <p:strVal val="visible"/>
                                      </p:to>
                                    </p:set>
                                    <p:animEffect filter="fade" transition="in">
                                      <p:cBhvr>
                                        <p:cTn dur="1000"/>
                                        <p:tgtEl>
                                          <p:spTgt spid="19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907"/>
                                        </p:tgtEl>
                                        <p:attrNameLst>
                                          <p:attrName>style.visibility</p:attrName>
                                        </p:attrNameLst>
                                      </p:cBhvr>
                                      <p:to>
                                        <p:strVal val="visible"/>
                                      </p:to>
                                    </p:set>
                                    <p:animEffect filter="fade" transition="in">
                                      <p:cBhvr>
                                        <p:cTn dur="1000"/>
                                        <p:tgtEl>
                                          <p:spTgt spid="190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0" name="Shape 1950"/>
        <p:cNvGrpSpPr/>
        <p:nvPr/>
      </p:nvGrpSpPr>
      <p:grpSpPr>
        <a:xfrm>
          <a:off x="0" y="0"/>
          <a:ext cx="0" cy="0"/>
          <a:chOff x="0" y="0"/>
          <a:chExt cx="0" cy="0"/>
        </a:xfrm>
      </p:grpSpPr>
      <p:sp>
        <p:nvSpPr>
          <p:cNvPr id="1951" name="Google Shape;1951;p78"/>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952" name="Google Shape;1952;p78"/>
          <p:cNvSpPr txBox="1"/>
          <p:nvPr>
            <p:ph type="title"/>
          </p:nvPr>
        </p:nvSpPr>
        <p:spPr>
          <a:xfrm>
            <a:off x="5264725" y="1961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a:t>Depth-First Search</a:t>
            </a:r>
            <a:endParaRPr/>
          </a:p>
          <a:p>
            <a:pPr indent="0" lvl="0" marL="0" rtl="0" algn="l">
              <a:lnSpc>
                <a:spcPct val="100000"/>
              </a:lnSpc>
              <a:spcBef>
                <a:spcPts val="0"/>
              </a:spcBef>
              <a:spcAft>
                <a:spcPts val="0"/>
              </a:spcAft>
              <a:buSzPts val="2800"/>
              <a:buNone/>
            </a:pPr>
            <a:r>
              <a:rPr lang="en" sz="1900"/>
              <a:t>(DFS)</a:t>
            </a:r>
            <a:endParaRPr sz="1900"/>
          </a:p>
        </p:txBody>
      </p:sp>
      <p:sp>
        <p:nvSpPr>
          <p:cNvPr id="1953" name="Google Shape;1953;p78"/>
          <p:cNvSpPr txBox="1"/>
          <p:nvPr>
            <p:ph idx="1" type="body"/>
          </p:nvPr>
        </p:nvSpPr>
        <p:spPr>
          <a:xfrm>
            <a:off x="320550" y="231025"/>
            <a:ext cx="4420800" cy="44868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A </a:t>
            </a:r>
            <a:r>
              <a:rPr b="1" i="1" lang="en">
                <a:solidFill>
                  <a:srgbClr val="FF0000"/>
                </a:solidFill>
              </a:rPr>
              <a:t>search</a:t>
            </a:r>
            <a:r>
              <a:rPr lang="en">
                <a:solidFill>
                  <a:srgbClr val="FF0000"/>
                </a:solidFill>
              </a:rPr>
              <a:t> </a:t>
            </a:r>
            <a:r>
              <a:rPr lang="en"/>
              <a:t>is an algorithm that determines whether or not a path </a:t>
            </a:r>
            <a:r>
              <a:rPr b="1" i="1" lang="en">
                <a:solidFill>
                  <a:srgbClr val="FF0000"/>
                </a:solidFill>
              </a:rPr>
              <a:t>exists</a:t>
            </a:r>
            <a:r>
              <a:rPr lang="en">
                <a:solidFill>
                  <a:srgbClr val="FF0000"/>
                </a:solidFill>
              </a:rPr>
              <a:t> </a:t>
            </a:r>
            <a:r>
              <a:rPr lang="en"/>
              <a:t>between two vertices in a graph.</a:t>
            </a:r>
            <a:endParaRPr/>
          </a:p>
          <a:p>
            <a:pPr indent="-311150" lvl="0" marL="457200" rtl="0" algn="l">
              <a:lnSpc>
                <a:spcPct val="115000"/>
              </a:lnSpc>
              <a:spcBef>
                <a:spcPts val="1000"/>
              </a:spcBef>
              <a:spcAft>
                <a:spcPts val="0"/>
              </a:spcAft>
              <a:buSzPts val="1300"/>
              <a:buChar char="●"/>
            </a:pPr>
            <a:r>
              <a:rPr b="1" i="1" lang="en">
                <a:solidFill>
                  <a:srgbClr val="FF0000"/>
                </a:solidFill>
              </a:rPr>
              <a:t>Breadth-First Search</a:t>
            </a:r>
            <a:r>
              <a:rPr lang="en"/>
              <a:t> (</a:t>
            </a:r>
            <a:r>
              <a:rPr b="1" i="1" lang="en">
                <a:solidFill>
                  <a:srgbClr val="FF0000"/>
                </a:solidFill>
              </a:rPr>
              <a:t>BFS</a:t>
            </a:r>
            <a:r>
              <a:rPr lang="en"/>
              <a:t>) is one such algorithm.</a:t>
            </a:r>
            <a:endParaRPr/>
          </a:p>
          <a:p>
            <a:pPr indent="-298450" lvl="1" marL="914400" rtl="0" algn="l">
              <a:lnSpc>
                <a:spcPct val="115000"/>
              </a:lnSpc>
              <a:spcBef>
                <a:spcPts val="0"/>
              </a:spcBef>
              <a:spcAft>
                <a:spcPts val="0"/>
              </a:spcAft>
              <a:buSzPts val="1100"/>
              <a:buChar char="○"/>
            </a:pPr>
            <a:r>
              <a:rPr lang="en"/>
              <a:t>BFS uses a </a:t>
            </a:r>
            <a:r>
              <a:rPr b="1" i="1" lang="en">
                <a:solidFill>
                  <a:srgbClr val="FF0000"/>
                </a:solidFill>
              </a:rPr>
              <a:t>queue</a:t>
            </a:r>
            <a:r>
              <a:rPr lang="en">
                <a:solidFill>
                  <a:srgbClr val="FF0000"/>
                </a:solidFill>
              </a:rPr>
              <a:t> </a:t>
            </a:r>
            <a:r>
              <a:rPr lang="en"/>
              <a:t>to search vertices in order based on </a:t>
            </a:r>
            <a:r>
              <a:rPr b="1" i="1" lang="en">
                <a:solidFill>
                  <a:srgbClr val="FF0000"/>
                </a:solidFill>
              </a:rPr>
              <a:t>distance</a:t>
            </a:r>
            <a:r>
              <a:rPr lang="en">
                <a:solidFill>
                  <a:srgbClr val="FF0000"/>
                </a:solidFill>
              </a:rPr>
              <a:t> </a:t>
            </a:r>
            <a:r>
              <a:rPr lang="en"/>
              <a:t>from the starting vertex.</a:t>
            </a:r>
            <a:endParaRPr/>
          </a:p>
          <a:p>
            <a:pPr indent="-298450" lvl="1" marL="914400" rtl="0" algn="l">
              <a:lnSpc>
                <a:spcPct val="115000"/>
              </a:lnSpc>
              <a:spcBef>
                <a:spcPts val="0"/>
              </a:spcBef>
              <a:spcAft>
                <a:spcPts val="0"/>
              </a:spcAft>
              <a:buSzPts val="1100"/>
              <a:buChar char="○"/>
            </a:pPr>
            <a:r>
              <a:rPr lang="en"/>
              <a:t>All of the vertices that are </a:t>
            </a:r>
            <a:r>
              <a:rPr b="1" i="1" lang="en">
                <a:solidFill>
                  <a:srgbClr val="FF0000"/>
                </a:solidFill>
              </a:rPr>
              <a:t>one</a:t>
            </a:r>
            <a:r>
              <a:rPr lang="en">
                <a:solidFill>
                  <a:srgbClr val="FF0000"/>
                </a:solidFill>
              </a:rPr>
              <a:t> </a:t>
            </a:r>
            <a:r>
              <a:rPr lang="en"/>
              <a:t>edge away are searched </a:t>
            </a:r>
            <a:r>
              <a:rPr b="1" i="1" lang="en">
                <a:solidFill>
                  <a:srgbClr val="FF0000"/>
                </a:solidFill>
              </a:rPr>
              <a:t>first</a:t>
            </a:r>
            <a:r>
              <a:rPr lang="en"/>
              <a:t>, then those that are </a:t>
            </a:r>
            <a:r>
              <a:rPr b="1" i="1" lang="en">
                <a:solidFill>
                  <a:srgbClr val="FF0000"/>
                </a:solidFill>
              </a:rPr>
              <a:t>two</a:t>
            </a:r>
            <a:r>
              <a:rPr lang="en">
                <a:solidFill>
                  <a:srgbClr val="FF0000"/>
                </a:solidFill>
              </a:rPr>
              <a:t> </a:t>
            </a:r>
            <a:r>
              <a:rPr lang="en"/>
              <a:t>edges away, and so on.</a:t>
            </a:r>
            <a:endParaRPr/>
          </a:p>
          <a:p>
            <a:pPr indent="-311150" lvl="0" marL="457200" rtl="0" algn="l">
              <a:lnSpc>
                <a:spcPct val="115000"/>
              </a:lnSpc>
              <a:spcBef>
                <a:spcPts val="1000"/>
              </a:spcBef>
              <a:spcAft>
                <a:spcPts val="0"/>
              </a:spcAft>
              <a:buSzPts val="1300"/>
              <a:buChar char="●"/>
            </a:pPr>
            <a:r>
              <a:rPr lang="en"/>
              <a:t>A </a:t>
            </a:r>
            <a:r>
              <a:rPr b="1" i="1" lang="en">
                <a:solidFill>
                  <a:srgbClr val="FF0000"/>
                </a:solidFill>
              </a:rPr>
              <a:t>Depth-First Search</a:t>
            </a:r>
            <a:r>
              <a:rPr lang="en"/>
              <a:t> (</a:t>
            </a:r>
            <a:r>
              <a:rPr b="1" i="1" lang="en">
                <a:solidFill>
                  <a:srgbClr val="FF0000"/>
                </a:solidFill>
              </a:rPr>
              <a:t>DFS</a:t>
            </a:r>
            <a:r>
              <a:rPr lang="en"/>
              <a:t>) is an alternative to BFS.</a:t>
            </a:r>
            <a:endParaRPr/>
          </a:p>
          <a:p>
            <a:pPr indent="-298450" lvl="1" marL="914400" rtl="0" algn="l">
              <a:lnSpc>
                <a:spcPct val="115000"/>
              </a:lnSpc>
              <a:spcBef>
                <a:spcPts val="0"/>
              </a:spcBef>
              <a:spcAft>
                <a:spcPts val="0"/>
              </a:spcAft>
              <a:buSzPts val="1100"/>
              <a:buChar char="○"/>
            </a:pPr>
            <a:r>
              <a:rPr lang="en"/>
              <a:t>Rather than explore all of the nodes that are </a:t>
            </a:r>
            <a:r>
              <a:rPr b="1" i="1" lang="en">
                <a:solidFill>
                  <a:srgbClr val="FF0000"/>
                </a:solidFill>
              </a:rPr>
              <a:t>one</a:t>
            </a:r>
            <a:r>
              <a:rPr lang="en">
                <a:solidFill>
                  <a:srgbClr val="FF0000"/>
                </a:solidFill>
              </a:rPr>
              <a:t> </a:t>
            </a:r>
            <a:r>
              <a:rPr lang="en"/>
              <a:t>edge away first, DFS explores deeper and deeper into the graph.</a:t>
            </a:r>
            <a:endParaRPr/>
          </a:p>
          <a:p>
            <a:pPr indent="-298450" lvl="1" marL="914400" rtl="0" algn="l">
              <a:lnSpc>
                <a:spcPct val="115000"/>
              </a:lnSpc>
              <a:spcBef>
                <a:spcPts val="0"/>
              </a:spcBef>
              <a:spcAft>
                <a:spcPts val="0"/>
              </a:spcAft>
              <a:buSzPts val="1100"/>
              <a:buChar char="○"/>
            </a:pPr>
            <a:r>
              <a:rPr lang="en"/>
              <a:t>If it arrives at a vertex that does not have any </a:t>
            </a:r>
            <a:r>
              <a:rPr b="1" i="1" lang="en">
                <a:solidFill>
                  <a:srgbClr val="FF0000"/>
                </a:solidFill>
              </a:rPr>
              <a:t>unexplored</a:t>
            </a:r>
            <a:r>
              <a:rPr lang="en">
                <a:solidFill>
                  <a:srgbClr val="FF0000"/>
                </a:solidFill>
              </a:rPr>
              <a:t> </a:t>
            </a:r>
            <a:r>
              <a:rPr lang="en"/>
              <a:t>neighbors, it </a:t>
            </a:r>
            <a:r>
              <a:rPr b="1" i="1" lang="en">
                <a:solidFill>
                  <a:srgbClr val="FF0000"/>
                </a:solidFill>
              </a:rPr>
              <a:t>backtracks</a:t>
            </a:r>
            <a:r>
              <a:rPr lang="en">
                <a:solidFill>
                  <a:srgbClr val="FF0000"/>
                </a:solidFill>
              </a:rPr>
              <a:t> </a:t>
            </a:r>
            <a:r>
              <a:rPr lang="en"/>
              <a:t>along its path only as far as necessary to find a vertex with at least one unexplored neighbor.</a:t>
            </a:r>
            <a:endParaRPr/>
          </a:p>
          <a:p>
            <a:pPr indent="-311150" lvl="0" marL="457200" rtl="0" algn="l">
              <a:lnSpc>
                <a:spcPct val="115000"/>
              </a:lnSpc>
              <a:spcBef>
                <a:spcPts val="1000"/>
              </a:spcBef>
              <a:spcAft>
                <a:spcPts val="0"/>
              </a:spcAft>
              <a:buSzPts val="1300"/>
              <a:buChar char="●"/>
            </a:pPr>
            <a:r>
              <a:rPr lang="en"/>
              <a:t>A DFS can be implemented using a </a:t>
            </a:r>
            <a:r>
              <a:rPr b="1" i="1" lang="en">
                <a:solidFill>
                  <a:srgbClr val="FF0000"/>
                </a:solidFill>
              </a:rPr>
              <a:t>stack</a:t>
            </a:r>
            <a:r>
              <a:rPr lang="en">
                <a:solidFill>
                  <a:srgbClr val="FF0000"/>
                </a:solidFill>
              </a:rPr>
              <a:t> </a:t>
            </a:r>
            <a:r>
              <a:rPr lang="en"/>
              <a:t>rather than a queue, or through </a:t>
            </a:r>
            <a:r>
              <a:rPr b="1" i="1" lang="en">
                <a:solidFill>
                  <a:srgbClr val="FF0000"/>
                </a:solidFill>
              </a:rPr>
              <a:t>recursion</a:t>
            </a:r>
            <a:r>
              <a:rPr lang="en"/>
              <a:t>.</a:t>
            </a:r>
            <a:endParaRPr/>
          </a:p>
        </p:txBody>
      </p:sp>
      <p:sp>
        <p:nvSpPr>
          <p:cNvPr id="1954" name="Google Shape;1954;p78"/>
          <p:cNvSpPr txBox="1"/>
          <p:nvPr>
            <p:ph idx="3" type="body"/>
          </p:nvPr>
        </p:nvSpPr>
        <p:spPr>
          <a:xfrm>
            <a:off x="5192225" y="4512050"/>
            <a:ext cx="3706500" cy="547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Let's practice </a:t>
            </a:r>
            <a:r>
              <a:rPr b="1" i="1" lang="en">
                <a:solidFill>
                  <a:srgbClr val="FF0000"/>
                </a:solidFill>
              </a:rPr>
              <a:t>depth-first search</a:t>
            </a:r>
            <a:r>
              <a:rPr lang="en"/>
              <a:t> on this example graph to find a path from </a:t>
            </a:r>
            <a:r>
              <a:rPr b="1" i="1" lang="en">
                <a:solidFill>
                  <a:srgbClr val="FF0000"/>
                </a:solidFill>
              </a:rPr>
              <a:t>A to G</a:t>
            </a:r>
            <a:r>
              <a:rPr lang="en"/>
              <a:t>.</a:t>
            </a:r>
            <a:endParaRPr/>
          </a:p>
        </p:txBody>
      </p:sp>
      <p:cxnSp>
        <p:nvCxnSpPr>
          <p:cNvPr id="1955" name="Google Shape;1955;p78"/>
          <p:cNvCxnSpPr>
            <a:stCxn id="1956" idx="6"/>
            <a:endCxn id="1957" idx="1"/>
          </p:cNvCxnSpPr>
          <p:nvPr/>
        </p:nvCxnSpPr>
        <p:spPr>
          <a:xfrm>
            <a:off x="6213338" y="1190770"/>
            <a:ext cx="582000" cy="115800"/>
          </a:xfrm>
          <a:prstGeom prst="straightConnector1">
            <a:avLst/>
          </a:prstGeom>
          <a:noFill/>
          <a:ln cap="flat" cmpd="sng" w="19050">
            <a:solidFill>
              <a:srgbClr val="FFFFFF"/>
            </a:solidFill>
            <a:prstDash val="solid"/>
            <a:round/>
            <a:headEnd len="sm" w="sm" type="none"/>
            <a:tailEnd len="sm" w="sm" type="none"/>
          </a:ln>
        </p:spPr>
      </p:cxnSp>
      <p:cxnSp>
        <p:nvCxnSpPr>
          <p:cNvPr id="1958" name="Google Shape;1958;p78"/>
          <p:cNvCxnSpPr>
            <a:stCxn id="1956" idx="4"/>
            <a:endCxn id="1959" idx="0"/>
          </p:cNvCxnSpPr>
          <p:nvPr/>
        </p:nvCxnSpPr>
        <p:spPr>
          <a:xfrm flipH="1">
            <a:off x="5850638" y="1409170"/>
            <a:ext cx="144300" cy="589500"/>
          </a:xfrm>
          <a:prstGeom prst="straightConnector1">
            <a:avLst/>
          </a:prstGeom>
          <a:noFill/>
          <a:ln cap="flat" cmpd="sng" w="19050">
            <a:solidFill>
              <a:srgbClr val="FFFFFF"/>
            </a:solidFill>
            <a:prstDash val="solid"/>
            <a:round/>
            <a:headEnd len="sm" w="sm" type="none"/>
            <a:tailEnd len="sm" w="sm" type="none"/>
          </a:ln>
        </p:spPr>
      </p:cxnSp>
      <p:cxnSp>
        <p:nvCxnSpPr>
          <p:cNvPr id="1960" name="Google Shape;1960;p78"/>
          <p:cNvCxnSpPr>
            <a:stCxn id="1957" idx="5"/>
            <a:endCxn id="1961" idx="1"/>
          </p:cNvCxnSpPr>
          <p:nvPr/>
        </p:nvCxnSpPr>
        <p:spPr>
          <a:xfrm>
            <a:off x="7104245" y="1615377"/>
            <a:ext cx="405900" cy="567900"/>
          </a:xfrm>
          <a:prstGeom prst="straightConnector1">
            <a:avLst/>
          </a:prstGeom>
          <a:noFill/>
          <a:ln cap="flat" cmpd="sng" w="19050">
            <a:solidFill>
              <a:srgbClr val="FFFFFF"/>
            </a:solidFill>
            <a:prstDash val="solid"/>
            <a:round/>
            <a:headEnd len="sm" w="sm" type="none"/>
            <a:tailEnd len="sm" w="sm" type="none"/>
          </a:ln>
        </p:spPr>
      </p:cxnSp>
      <p:cxnSp>
        <p:nvCxnSpPr>
          <p:cNvPr id="1962" name="Google Shape;1962;p78"/>
          <p:cNvCxnSpPr>
            <a:stCxn id="1959" idx="6"/>
            <a:endCxn id="1961" idx="2"/>
          </p:cNvCxnSpPr>
          <p:nvPr/>
        </p:nvCxnSpPr>
        <p:spPr>
          <a:xfrm>
            <a:off x="6069013" y="2217045"/>
            <a:ext cx="1377300" cy="120600"/>
          </a:xfrm>
          <a:prstGeom prst="straightConnector1">
            <a:avLst/>
          </a:prstGeom>
          <a:noFill/>
          <a:ln cap="flat" cmpd="sng" w="19050">
            <a:solidFill>
              <a:srgbClr val="FFFFFF"/>
            </a:solidFill>
            <a:prstDash val="solid"/>
            <a:round/>
            <a:headEnd len="sm" w="sm" type="none"/>
            <a:tailEnd len="sm" w="sm" type="none"/>
          </a:ln>
        </p:spPr>
      </p:cxnSp>
      <p:cxnSp>
        <p:nvCxnSpPr>
          <p:cNvPr id="1963" name="Google Shape;1963;p78"/>
          <p:cNvCxnSpPr>
            <a:stCxn id="1957" idx="3"/>
            <a:endCxn id="1964" idx="0"/>
          </p:cNvCxnSpPr>
          <p:nvPr/>
        </p:nvCxnSpPr>
        <p:spPr>
          <a:xfrm flipH="1">
            <a:off x="6680481" y="1615377"/>
            <a:ext cx="114900" cy="1154100"/>
          </a:xfrm>
          <a:prstGeom prst="straightConnector1">
            <a:avLst/>
          </a:prstGeom>
          <a:noFill/>
          <a:ln cap="flat" cmpd="sng" w="19050">
            <a:solidFill>
              <a:srgbClr val="FFFFFF"/>
            </a:solidFill>
            <a:prstDash val="solid"/>
            <a:round/>
            <a:headEnd len="sm" w="sm" type="none"/>
            <a:tailEnd len="sm" w="sm" type="none"/>
          </a:ln>
        </p:spPr>
      </p:cxnSp>
      <p:cxnSp>
        <p:nvCxnSpPr>
          <p:cNvPr id="1965" name="Google Shape;1965;p78"/>
          <p:cNvCxnSpPr>
            <a:stCxn id="1959" idx="5"/>
            <a:endCxn id="1964" idx="1"/>
          </p:cNvCxnSpPr>
          <p:nvPr/>
        </p:nvCxnSpPr>
        <p:spPr>
          <a:xfrm>
            <a:off x="6005045" y="2371477"/>
            <a:ext cx="520800" cy="462000"/>
          </a:xfrm>
          <a:prstGeom prst="straightConnector1">
            <a:avLst/>
          </a:prstGeom>
          <a:noFill/>
          <a:ln cap="flat" cmpd="sng" w="19050">
            <a:solidFill>
              <a:srgbClr val="FFFFFF"/>
            </a:solidFill>
            <a:prstDash val="solid"/>
            <a:round/>
            <a:headEnd len="sm" w="sm" type="none"/>
            <a:tailEnd len="sm" w="sm" type="none"/>
          </a:ln>
        </p:spPr>
      </p:cxnSp>
      <p:cxnSp>
        <p:nvCxnSpPr>
          <p:cNvPr id="1966" name="Google Shape;1966;p78"/>
          <p:cNvCxnSpPr>
            <a:stCxn id="1964" idx="5"/>
            <a:endCxn id="1967" idx="2"/>
          </p:cNvCxnSpPr>
          <p:nvPr/>
        </p:nvCxnSpPr>
        <p:spPr>
          <a:xfrm>
            <a:off x="6834770" y="3142302"/>
            <a:ext cx="653400" cy="179700"/>
          </a:xfrm>
          <a:prstGeom prst="straightConnector1">
            <a:avLst/>
          </a:prstGeom>
          <a:noFill/>
          <a:ln cap="flat" cmpd="sng" w="19050">
            <a:solidFill>
              <a:srgbClr val="FFFFFF"/>
            </a:solidFill>
            <a:prstDash val="solid"/>
            <a:round/>
            <a:headEnd len="sm" w="sm" type="none"/>
            <a:tailEnd len="sm" w="sm" type="none"/>
          </a:ln>
        </p:spPr>
      </p:cxnSp>
      <p:cxnSp>
        <p:nvCxnSpPr>
          <p:cNvPr id="1968" name="Google Shape;1968;p78"/>
          <p:cNvCxnSpPr>
            <a:stCxn id="1961" idx="4"/>
            <a:endCxn id="1967" idx="0"/>
          </p:cNvCxnSpPr>
          <p:nvPr/>
        </p:nvCxnSpPr>
        <p:spPr>
          <a:xfrm>
            <a:off x="7664688" y="2556170"/>
            <a:ext cx="42000" cy="547500"/>
          </a:xfrm>
          <a:prstGeom prst="straightConnector1">
            <a:avLst/>
          </a:prstGeom>
          <a:noFill/>
          <a:ln cap="flat" cmpd="sng" w="19050">
            <a:solidFill>
              <a:srgbClr val="FFFFFF"/>
            </a:solidFill>
            <a:prstDash val="solid"/>
            <a:round/>
            <a:headEnd len="sm" w="sm" type="none"/>
            <a:tailEnd len="sm" w="sm" type="none"/>
          </a:ln>
        </p:spPr>
      </p:cxnSp>
      <p:cxnSp>
        <p:nvCxnSpPr>
          <p:cNvPr id="1969" name="Google Shape;1969;p78"/>
          <p:cNvCxnSpPr>
            <a:stCxn id="1967" idx="5"/>
            <a:endCxn id="1970" idx="1"/>
          </p:cNvCxnSpPr>
          <p:nvPr/>
        </p:nvCxnSpPr>
        <p:spPr>
          <a:xfrm>
            <a:off x="7861070" y="3476552"/>
            <a:ext cx="263100" cy="305100"/>
          </a:xfrm>
          <a:prstGeom prst="straightConnector1">
            <a:avLst/>
          </a:prstGeom>
          <a:noFill/>
          <a:ln cap="flat" cmpd="sng" w="19050">
            <a:solidFill>
              <a:srgbClr val="FFFFFF"/>
            </a:solidFill>
            <a:prstDash val="solid"/>
            <a:round/>
            <a:headEnd len="sm" w="sm" type="none"/>
            <a:tailEnd len="sm" w="sm" type="none"/>
          </a:ln>
        </p:spPr>
      </p:cxnSp>
      <p:cxnSp>
        <p:nvCxnSpPr>
          <p:cNvPr id="1971" name="Google Shape;1971;p78"/>
          <p:cNvCxnSpPr>
            <a:stCxn id="1957" idx="6"/>
            <a:endCxn id="1972" idx="2"/>
          </p:cNvCxnSpPr>
          <p:nvPr/>
        </p:nvCxnSpPr>
        <p:spPr>
          <a:xfrm>
            <a:off x="7168213" y="1460945"/>
            <a:ext cx="530700" cy="0"/>
          </a:xfrm>
          <a:prstGeom prst="straightConnector1">
            <a:avLst/>
          </a:prstGeom>
          <a:noFill/>
          <a:ln cap="flat" cmpd="sng" w="19050">
            <a:solidFill>
              <a:srgbClr val="FFFFFF"/>
            </a:solidFill>
            <a:prstDash val="solid"/>
            <a:round/>
            <a:headEnd len="sm" w="sm" type="none"/>
            <a:tailEnd len="sm" w="sm" type="none"/>
          </a:ln>
        </p:spPr>
      </p:cxnSp>
      <p:cxnSp>
        <p:nvCxnSpPr>
          <p:cNvPr id="1973" name="Google Shape;1973;p78"/>
          <p:cNvCxnSpPr>
            <a:stCxn id="1974" idx="4"/>
            <a:endCxn id="1975" idx="0"/>
          </p:cNvCxnSpPr>
          <p:nvPr/>
        </p:nvCxnSpPr>
        <p:spPr>
          <a:xfrm flipH="1">
            <a:off x="5922938" y="3684920"/>
            <a:ext cx="146100" cy="258600"/>
          </a:xfrm>
          <a:prstGeom prst="straightConnector1">
            <a:avLst/>
          </a:prstGeom>
          <a:noFill/>
          <a:ln cap="flat" cmpd="sng" w="19050">
            <a:solidFill>
              <a:srgbClr val="FFFFFF"/>
            </a:solidFill>
            <a:prstDash val="solid"/>
            <a:round/>
            <a:headEnd len="sm" w="sm" type="none"/>
            <a:tailEnd len="sm" w="sm" type="none"/>
          </a:ln>
        </p:spPr>
      </p:cxnSp>
      <p:cxnSp>
        <p:nvCxnSpPr>
          <p:cNvPr id="1976" name="Google Shape;1976;p78"/>
          <p:cNvCxnSpPr>
            <a:stCxn id="1975" idx="6"/>
            <a:endCxn id="1977" idx="3"/>
          </p:cNvCxnSpPr>
          <p:nvPr/>
        </p:nvCxnSpPr>
        <p:spPr>
          <a:xfrm flipH="1" rot="10800000">
            <a:off x="6141188" y="4090470"/>
            <a:ext cx="384600" cy="71400"/>
          </a:xfrm>
          <a:prstGeom prst="straightConnector1">
            <a:avLst/>
          </a:prstGeom>
          <a:noFill/>
          <a:ln cap="flat" cmpd="sng" w="19050">
            <a:solidFill>
              <a:srgbClr val="FFFFFF"/>
            </a:solidFill>
            <a:prstDash val="solid"/>
            <a:round/>
            <a:headEnd len="sm" w="sm" type="none"/>
            <a:tailEnd len="sm" w="sm" type="none"/>
          </a:ln>
        </p:spPr>
      </p:cxnSp>
      <p:cxnSp>
        <p:nvCxnSpPr>
          <p:cNvPr id="1978" name="Google Shape;1978;p78"/>
          <p:cNvCxnSpPr>
            <a:stCxn id="1974" idx="5"/>
            <a:endCxn id="1977" idx="1"/>
          </p:cNvCxnSpPr>
          <p:nvPr/>
        </p:nvCxnSpPr>
        <p:spPr>
          <a:xfrm>
            <a:off x="6223470" y="3620952"/>
            <a:ext cx="302400" cy="160800"/>
          </a:xfrm>
          <a:prstGeom prst="straightConnector1">
            <a:avLst/>
          </a:prstGeom>
          <a:noFill/>
          <a:ln cap="flat" cmpd="sng" w="19050">
            <a:solidFill>
              <a:srgbClr val="FFFFFF"/>
            </a:solidFill>
            <a:prstDash val="solid"/>
            <a:round/>
            <a:headEnd len="sm" w="sm" type="none"/>
            <a:tailEnd len="sm" w="sm" type="none"/>
          </a:ln>
        </p:spPr>
      </p:cxnSp>
      <p:sp>
        <p:nvSpPr>
          <p:cNvPr id="1956" name="Google Shape;1956;p78"/>
          <p:cNvSpPr/>
          <p:nvPr/>
        </p:nvSpPr>
        <p:spPr>
          <a:xfrm>
            <a:off x="5776538" y="9723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1957" name="Google Shape;1957;p78"/>
          <p:cNvSpPr/>
          <p:nvPr/>
        </p:nvSpPr>
        <p:spPr>
          <a:xfrm>
            <a:off x="6731413" y="12425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959" name="Google Shape;1959;p78"/>
          <p:cNvSpPr/>
          <p:nvPr/>
        </p:nvSpPr>
        <p:spPr>
          <a:xfrm>
            <a:off x="5632213" y="19986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1964" name="Google Shape;1964;p78"/>
          <p:cNvSpPr/>
          <p:nvPr/>
        </p:nvSpPr>
        <p:spPr>
          <a:xfrm>
            <a:off x="6461938" y="27694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sp>
        <p:nvSpPr>
          <p:cNvPr id="1961" name="Google Shape;1961;p78"/>
          <p:cNvSpPr/>
          <p:nvPr/>
        </p:nvSpPr>
        <p:spPr>
          <a:xfrm>
            <a:off x="7446288" y="21193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D</a:t>
            </a:r>
            <a:endParaRPr b="0" i="0" sz="1400" u="none" cap="none" strike="noStrike">
              <a:solidFill>
                <a:srgbClr val="FFFFFF"/>
              </a:solidFill>
              <a:latin typeface="Arial"/>
              <a:ea typeface="Arial"/>
              <a:cs typeface="Arial"/>
              <a:sym typeface="Arial"/>
            </a:endParaRPr>
          </a:p>
        </p:txBody>
      </p:sp>
      <p:sp>
        <p:nvSpPr>
          <p:cNvPr id="1967" name="Google Shape;1967;p78"/>
          <p:cNvSpPr/>
          <p:nvPr/>
        </p:nvSpPr>
        <p:spPr>
          <a:xfrm>
            <a:off x="7488238" y="310372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sp>
        <p:nvSpPr>
          <p:cNvPr id="1970" name="Google Shape;1970;p78"/>
          <p:cNvSpPr/>
          <p:nvPr/>
        </p:nvSpPr>
        <p:spPr>
          <a:xfrm>
            <a:off x="8060313" y="37177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sp>
        <p:nvSpPr>
          <p:cNvPr id="1972" name="Google Shape;1972;p78"/>
          <p:cNvSpPr/>
          <p:nvPr/>
        </p:nvSpPr>
        <p:spPr>
          <a:xfrm>
            <a:off x="7699051" y="12425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sp>
        <p:nvSpPr>
          <p:cNvPr id="1977" name="Google Shape;1977;p78"/>
          <p:cNvSpPr/>
          <p:nvPr/>
        </p:nvSpPr>
        <p:spPr>
          <a:xfrm>
            <a:off x="6461938" y="3717745"/>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a:t>
            </a:r>
            <a:endParaRPr b="0" i="0" sz="1400" u="none" cap="none" strike="noStrike">
              <a:solidFill>
                <a:srgbClr val="FFFFFF"/>
              </a:solidFill>
              <a:latin typeface="Arial"/>
              <a:ea typeface="Arial"/>
              <a:cs typeface="Arial"/>
              <a:sym typeface="Arial"/>
            </a:endParaRPr>
          </a:p>
        </p:txBody>
      </p:sp>
      <p:sp>
        <p:nvSpPr>
          <p:cNvPr id="1974" name="Google Shape;1974;p78"/>
          <p:cNvSpPr/>
          <p:nvPr/>
        </p:nvSpPr>
        <p:spPr>
          <a:xfrm>
            <a:off x="5850638" y="324812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J</a:t>
            </a:r>
            <a:endParaRPr b="0" i="0" sz="1400" u="none" cap="none" strike="noStrike">
              <a:solidFill>
                <a:srgbClr val="FFFFFF"/>
              </a:solidFill>
              <a:latin typeface="Arial"/>
              <a:ea typeface="Arial"/>
              <a:cs typeface="Arial"/>
              <a:sym typeface="Arial"/>
            </a:endParaRPr>
          </a:p>
        </p:txBody>
      </p:sp>
      <p:sp>
        <p:nvSpPr>
          <p:cNvPr id="1975" name="Google Shape;1975;p78"/>
          <p:cNvSpPr/>
          <p:nvPr/>
        </p:nvSpPr>
        <p:spPr>
          <a:xfrm>
            <a:off x="5704388" y="3943470"/>
            <a:ext cx="436800" cy="4368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K</a:t>
            </a:r>
            <a:endParaRPr b="0" i="0" sz="1400" u="none" cap="none" strike="noStrike">
              <a:solidFill>
                <a:srgbClr val="FFFFFF"/>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4"/>
                                        </p:tgtEl>
                                        <p:attrNameLst>
                                          <p:attrName>style.visibility</p:attrName>
                                        </p:attrNameLst>
                                      </p:cBhvr>
                                      <p:to>
                                        <p:strVal val="visible"/>
                                      </p:to>
                                    </p:set>
                                    <p:animEffect filter="fade" transition="in">
                                      <p:cBhvr>
                                        <p:cTn dur="1000"/>
                                        <p:tgtEl>
                                          <p:spTgt spid="195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2" name="Shape 1982"/>
        <p:cNvGrpSpPr/>
        <p:nvPr/>
      </p:nvGrpSpPr>
      <p:grpSpPr>
        <a:xfrm>
          <a:off x="0" y="0"/>
          <a:ext cx="0" cy="0"/>
          <a:chOff x="0" y="0"/>
          <a:chExt cx="0" cy="0"/>
        </a:xfrm>
      </p:grpSpPr>
      <p:sp>
        <p:nvSpPr>
          <p:cNvPr id="1983" name="Google Shape;1983;p7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Illustrated Example</a:t>
            </a:r>
            <a:endParaRPr/>
          </a:p>
        </p:txBody>
      </p:sp>
      <p:sp>
        <p:nvSpPr>
          <p:cNvPr id="1984" name="Google Shape;1984;p79"/>
          <p:cNvSpPr/>
          <p:nvPr/>
        </p:nvSpPr>
        <p:spPr>
          <a:xfrm>
            <a:off x="3403738" y="152507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A</a:t>
            </a:r>
            <a:endParaRPr b="0" i="0" sz="1400" u="none" cap="none" strike="noStrike">
              <a:solidFill>
                <a:srgbClr val="FFFFFF"/>
              </a:solidFill>
              <a:latin typeface="Arial"/>
              <a:ea typeface="Arial"/>
              <a:cs typeface="Arial"/>
              <a:sym typeface="Arial"/>
            </a:endParaRPr>
          </a:p>
        </p:txBody>
      </p:sp>
      <p:sp>
        <p:nvSpPr>
          <p:cNvPr id="1985" name="Google Shape;1985;p79"/>
          <p:cNvSpPr/>
          <p:nvPr/>
        </p:nvSpPr>
        <p:spPr>
          <a:xfrm>
            <a:off x="4358613" y="1795245"/>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C</a:t>
            </a:r>
            <a:endParaRPr b="0" i="0" sz="1400" u="none" cap="none" strike="noStrike">
              <a:solidFill>
                <a:srgbClr val="FFFFFF"/>
              </a:solidFill>
              <a:latin typeface="Arial"/>
              <a:ea typeface="Arial"/>
              <a:cs typeface="Arial"/>
              <a:sym typeface="Arial"/>
            </a:endParaRPr>
          </a:p>
        </p:txBody>
      </p:sp>
      <p:sp>
        <p:nvSpPr>
          <p:cNvPr id="1986" name="Google Shape;1986;p79"/>
          <p:cNvSpPr/>
          <p:nvPr/>
        </p:nvSpPr>
        <p:spPr>
          <a:xfrm>
            <a:off x="3259413" y="2551345"/>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B</a:t>
            </a:r>
            <a:endParaRPr b="0" i="0" sz="1400" u="none" cap="none" strike="noStrike">
              <a:solidFill>
                <a:srgbClr val="FFFFFF"/>
              </a:solidFill>
              <a:latin typeface="Arial"/>
              <a:ea typeface="Arial"/>
              <a:cs typeface="Arial"/>
              <a:sym typeface="Arial"/>
            </a:endParaRPr>
          </a:p>
        </p:txBody>
      </p:sp>
      <p:sp>
        <p:nvSpPr>
          <p:cNvPr id="1987" name="Google Shape;1987;p79"/>
          <p:cNvSpPr/>
          <p:nvPr/>
        </p:nvSpPr>
        <p:spPr>
          <a:xfrm>
            <a:off x="4089138" y="332217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H</a:t>
            </a:r>
            <a:endParaRPr b="0" i="0" sz="1400" u="none" cap="none" strike="noStrike">
              <a:solidFill>
                <a:srgbClr val="FFFFFF"/>
              </a:solidFill>
              <a:latin typeface="Arial"/>
              <a:ea typeface="Arial"/>
              <a:cs typeface="Arial"/>
              <a:sym typeface="Arial"/>
            </a:endParaRPr>
          </a:p>
        </p:txBody>
      </p:sp>
      <p:sp>
        <p:nvSpPr>
          <p:cNvPr id="1988" name="Google Shape;1988;p79"/>
          <p:cNvSpPr/>
          <p:nvPr/>
        </p:nvSpPr>
        <p:spPr>
          <a:xfrm>
            <a:off x="5073488" y="267207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D</a:t>
            </a:r>
            <a:endParaRPr b="0" i="0" sz="1400" u="none" cap="none" strike="noStrike">
              <a:solidFill>
                <a:srgbClr val="FFFFFF"/>
              </a:solidFill>
              <a:latin typeface="Arial"/>
              <a:ea typeface="Arial"/>
              <a:cs typeface="Arial"/>
              <a:sym typeface="Arial"/>
            </a:endParaRPr>
          </a:p>
        </p:txBody>
      </p:sp>
      <p:sp>
        <p:nvSpPr>
          <p:cNvPr id="1989" name="Google Shape;1989;p79"/>
          <p:cNvSpPr/>
          <p:nvPr/>
        </p:nvSpPr>
        <p:spPr>
          <a:xfrm>
            <a:off x="5115438" y="365642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F</a:t>
            </a:r>
            <a:endParaRPr b="0" i="0" sz="1400" u="none" cap="none" strike="noStrike">
              <a:solidFill>
                <a:srgbClr val="FFFFFF"/>
              </a:solidFill>
              <a:latin typeface="Arial"/>
              <a:ea typeface="Arial"/>
              <a:cs typeface="Arial"/>
              <a:sym typeface="Arial"/>
            </a:endParaRPr>
          </a:p>
        </p:txBody>
      </p:sp>
      <p:cxnSp>
        <p:nvCxnSpPr>
          <p:cNvPr id="1990" name="Google Shape;1990;p79"/>
          <p:cNvCxnSpPr>
            <a:stCxn id="1984" idx="6"/>
            <a:endCxn id="1985" idx="1"/>
          </p:cNvCxnSpPr>
          <p:nvPr/>
        </p:nvCxnSpPr>
        <p:spPr>
          <a:xfrm>
            <a:off x="3840538" y="1743470"/>
            <a:ext cx="582000" cy="115800"/>
          </a:xfrm>
          <a:prstGeom prst="straightConnector1">
            <a:avLst/>
          </a:prstGeom>
          <a:noFill/>
          <a:ln cap="flat" cmpd="sng" w="19050">
            <a:solidFill>
              <a:srgbClr val="000000"/>
            </a:solidFill>
            <a:prstDash val="solid"/>
            <a:round/>
            <a:headEnd len="sm" w="sm" type="none"/>
            <a:tailEnd len="sm" w="sm" type="none"/>
          </a:ln>
        </p:spPr>
      </p:cxnSp>
      <p:cxnSp>
        <p:nvCxnSpPr>
          <p:cNvPr id="1991" name="Google Shape;1991;p79"/>
          <p:cNvCxnSpPr>
            <a:stCxn id="1984" idx="4"/>
            <a:endCxn id="1986" idx="0"/>
          </p:cNvCxnSpPr>
          <p:nvPr/>
        </p:nvCxnSpPr>
        <p:spPr>
          <a:xfrm flipH="1">
            <a:off x="3477838" y="1961870"/>
            <a:ext cx="144300" cy="589500"/>
          </a:xfrm>
          <a:prstGeom prst="straightConnector1">
            <a:avLst/>
          </a:prstGeom>
          <a:noFill/>
          <a:ln cap="flat" cmpd="sng" w="19050">
            <a:solidFill>
              <a:srgbClr val="000000"/>
            </a:solidFill>
            <a:prstDash val="solid"/>
            <a:round/>
            <a:headEnd len="sm" w="sm" type="none"/>
            <a:tailEnd len="sm" w="sm" type="none"/>
          </a:ln>
        </p:spPr>
      </p:cxnSp>
      <p:cxnSp>
        <p:nvCxnSpPr>
          <p:cNvPr id="1992" name="Google Shape;1992;p79"/>
          <p:cNvCxnSpPr>
            <a:stCxn id="1985" idx="5"/>
            <a:endCxn id="1988" idx="1"/>
          </p:cNvCxnSpPr>
          <p:nvPr/>
        </p:nvCxnSpPr>
        <p:spPr>
          <a:xfrm>
            <a:off x="4731445" y="2168077"/>
            <a:ext cx="405900" cy="567900"/>
          </a:xfrm>
          <a:prstGeom prst="straightConnector1">
            <a:avLst/>
          </a:prstGeom>
          <a:noFill/>
          <a:ln cap="flat" cmpd="sng" w="19050">
            <a:solidFill>
              <a:srgbClr val="000000"/>
            </a:solidFill>
            <a:prstDash val="solid"/>
            <a:round/>
            <a:headEnd len="sm" w="sm" type="none"/>
            <a:tailEnd len="sm" w="sm" type="none"/>
          </a:ln>
        </p:spPr>
      </p:cxnSp>
      <p:cxnSp>
        <p:nvCxnSpPr>
          <p:cNvPr id="1993" name="Google Shape;1993;p79"/>
          <p:cNvCxnSpPr>
            <a:stCxn id="1986" idx="6"/>
            <a:endCxn id="1988" idx="2"/>
          </p:cNvCxnSpPr>
          <p:nvPr/>
        </p:nvCxnSpPr>
        <p:spPr>
          <a:xfrm>
            <a:off x="3696213" y="2769745"/>
            <a:ext cx="1377300" cy="120600"/>
          </a:xfrm>
          <a:prstGeom prst="straightConnector1">
            <a:avLst/>
          </a:prstGeom>
          <a:noFill/>
          <a:ln cap="flat" cmpd="sng" w="19050">
            <a:solidFill>
              <a:srgbClr val="000000"/>
            </a:solidFill>
            <a:prstDash val="solid"/>
            <a:round/>
            <a:headEnd len="sm" w="sm" type="none"/>
            <a:tailEnd len="sm" w="sm" type="none"/>
          </a:ln>
        </p:spPr>
      </p:cxnSp>
      <p:cxnSp>
        <p:nvCxnSpPr>
          <p:cNvPr id="1994" name="Google Shape;1994;p79"/>
          <p:cNvCxnSpPr>
            <a:stCxn id="1985" idx="3"/>
            <a:endCxn id="1987" idx="0"/>
          </p:cNvCxnSpPr>
          <p:nvPr/>
        </p:nvCxnSpPr>
        <p:spPr>
          <a:xfrm flipH="1">
            <a:off x="4307681" y="2168077"/>
            <a:ext cx="114900" cy="1154100"/>
          </a:xfrm>
          <a:prstGeom prst="straightConnector1">
            <a:avLst/>
          </a:prstGeom>
          <a:noFill/>
          <a:ln cap="flat" cmpd="sng" w="19050">
            <a:solidFill>
              <a:srgbClr val="000000"/>
            </a:solidFill>
            <a:prstDash val="solid"/>
            <a:round/>
            <a:headEnd len="sm" w="sm" type="none"/>
            <a:tailEnd len="sm" w="sm" type="none"/>
          </a:ln>
        </p:spPr>
      </p:cxnSp>
      <p:cxnSp>
        <p:nvCxnSpPr>
          <p:cNvPr id="1995" name="Google Shape;1995;p79"/>
          <p:cNvCxnSpPr>
            <a:stCxn id="1986" idx="5"/>
            <a:endCxn id="1987" idx="1"/>
          </p:cNvCxnSpPr>
          <p:nvPr/>
        </p:nvCxnSpPr>
        <p:spPr>
          <a:xfrm>
            <a:off x="3632245" y="2924177"/>
            <a:ext cx="520800" cy="462000"/>
          </a:xfrm>
          <a:prstGeom prst="straightConnector1">
            <a:avLst/>
          </a:prstGeom>
          <a:noFill/>
          <a:ln cap="flat" cmpd="sng" w="19050">
            <a:solidFill>
              <a:srgbClr val="000000"/>
            </a:solidFill>
            <a:prstDash val="solid"/>
            <a:round/>
            <a:headEnd len="sm" w="sm" type="none"/>
            <a:tailEnd len="sm" w="sm" type="none"/>
          </a:ln>
        </p:spPr>
      </p:cxnSp>
      <p:cxnSp>
        <p:nvCxnSpPr>
          <p:cNvPr id="1996" name="Google Shape;1996;p79"/>
          <p:cNvCxnSpPr>
            <a:stCxn id="1987" idx="5"/>
            <a:endCxn id="1989" idx="2"/>
          </p:cNvCxnSpPr>
          <p:nvPr/>
        </p:nvCxnSpPr>
        <p:spPr>
          <a:xfrm>
            <a:off x="4461970" y="3695002"/>
            <a:ext cx="653400" cy="179700"/>
          </a:xfrm>
          <a:prstGeom prst="straightConnector1">
            <a:avLst/>
          </a:prstGeom>
          <a:noFill/>
          <a:ln cap="flat" cmpd="sng" w="19050">
            <a:solidFill>
              <a:srgbClr val="000000"/>
            </a:solidFill>
            <a:prstDash val="solid"/>
            <a:round/>
            <a:headEnd len="sm" w="sm" type="none"/>
            <a:tailEnd len="sm" w="sm" type="none"/>
          </a:ln>
        </p:spPr>
      </p:cxnSp>
      <p:cxnSp>
        <p:nvCxnSpPr>
          <p:cNvPr id="1997" name="Google Shape;1997;p79"/>
          <p:cNvCxnSpPr>
            <a:stCxn id="1988" idx="4"/>
            <a:endCxn id="1989" idx="0"/>
          </p:cNvCxnSpPr>
          <p:nvPr/>
        </p:nvCxnSpPr>
        <p:spPr>
          <a:xfrm>
            <a:off x="5291888" y="3108870"/>
            <a:ext cx="42000" cy="547500"/>
          </a:xfrm>
          <a:prstGeom prst="straightConnector1">
            <a:avLst/>
          </a:prstGeom>
          <a:noFill/>
          <a:ln cap="flat" cmpd="sng" w="19050">
            <a:solidFill>
              <a:srgbClr val="000000"/>
            </a:solidFill>
            <a:prstDash val="solid"/>
            <a:round/>
            <a:headEnd len="sm" w="sm" type="none"/>
            <a:tailEnd len="sm" w="sm" type="none"/>
          </a:ln>
        </p:spPr>
      </p:cxnSp>
      <p:sp>
        <p:nvSpPr>
          <p:cNvPr id="1998" name="Google Shape;1998;p79"/>
          <p:cNvSpPr/>
          <p:nvPr/>
        </p:nvSpPr>
        <p:spPr>
          <a:xfrm>
            <a:off x="5687513" y="4270445"/>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G</a:t>
            </a:r>
            <a:endParaRPr b="0" i="0" sz="1400" u="none" cap="none" strike="noStrike">
              <a:solidFill>
                <a:srgbClr val="FFFFFF"/>
              </a:solidFill>
              <a:latin typeface="Arial"/>
              <a:ea typeface="Arial"/>
              <a:cs typeface="Arial"/>
              <a:sym typeface="Arial"/>
            </a:endParaRPr>
          </a:p>
        </p:txBody>
      </p:sp>
      <p:cxnSp>
        <p:nvCxnSpPr>
          <p:cNvPr id="1999" name="Google Shape;1999;p79"/>
          <p:cNvCxnSpPr>
            <a:stCxn id="1989" idx="5"/>
            <a:endCxn id="1998" idx="1"/>
          </p:cNvCxnSpPr>
          <p:nvPr/>
        </p:nvCxnSpPr>
        <p:spPr>
          <a:xfrm>
            <a:off x="5488270" y="4029252"/>
            <a:ext cx="263100" cy="305100"/>
          </a:xfrm>
          <a:prstGeom prst="straightConnector1">
            <a:avLst/>
          </a:prstGeom>
          <a:noFill/>
          <a:ln cap="flat" cmpd="sng" w="19050">
            <a:solidFill>
              <a:srgbClr val="000000"/>
            </a:solidFill>
            <a:prstDash val="solid"/>
            <a:round/>
            <a:headEnd len="sm" w="sm" type="none"/>
            <a:tailEnd len="sm" w="sm" type="none"/>
          </a:ln>
        </p:spPr>
      </p:cxnSp>
      <p:sp>
        <p:nvSpPr>
          <p:cNvPr id="2000" name="Google Shape;2000;p79"/>
          <p:cNvSpPr/>
          <p:nvPr/>
        </p:nvSpPr>
        <p:spPr>
          <a:xfrm>
            <a:off x="5326251" y="1795245"/>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E</a:t>
            </a:r>
            <a:endParaRPr b="0" i="0" sz="1400" u="none" cap="none" strike="noStrike">
              <a:solidFill>
                <a:srgbClr val="FFFFFF"/>
              </a:solidFill>
              <a:latin typeface="Arial"/>
              <a:ea typeface="Arial"/>
              <a:cs typeface="Arial"/>
              <a:sym typeface="Arial"/>
            </a:endParaRPr>
          </a:p>
        </p:txBody>
      </p:sp>
      <p:cxnSp>
        <p:nvCxnSpPr>
          <p:cNvPr id="2001" name="Google Shape;2001;p79"/>
          <p:cNvCxnSpPr>
            <a:stCxn id="1985" idx="6"/>
            <a:endCxn id="2000" idx="2"/>
          </p:cNvCxnSpPr>
          <p:nvPr/>
        </p:nvCxnSpPr>
        <p:spPr>
          <a:xfrm>
            <a:off x="4795413" y="2013645"/>
            <a:ext cx="530700" cy="0"/>
          </a:xfrm>
          <a:prstGeom prst="straightConnector1">
            <a:avLst/>
          </a:prstGeom>
          <a:noFill/>
          <a:ln cap="flat" cmpd="sng" w="19050">
            <a:solidFill>
              <a:srgbClr val="000000"/>
            </a:solidFill>
            <a:prstDash val="solid"/>
            <a:round/>
            <a:headEnd len="sm" w="sm" type="none"/>
            <a:tailEnd len="sm" w="sm" type="none"/>
          </a:ln>
        </p:spPr>
      </p:cxnSp>
      <p:sp>
        <p:nvSpPr>
          <p:cNvPr id="2002" name="Google Shape;2002;p79"/>
          <p:cNvSpPr/>
          <p:nvPr/>
        </p:nvSpPr>
        <p:spPr>
          <a:xfrm>
            <a:off x="4089138" y="4270445"/>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I</a:t>
            </a:r>
            <a:endParaRPr b="0" i="0" sz="1400" u="none" cap="none" strike="noStrike">
              <a:solidFill>
                <a:srgbClr val="FFFFFF"/>
              </a:solidFill>
              <a:latin typeface="Arial"/>
              <a:ea typeface="Arial"/>
              <a:cs typeface="Arial"/>
              <a:sym typeface="Arial"/>
            </a:endParaRPr>
          </a:p>
        </p:txBody>
      </p:sp>
      <p:sp>
        <p:nvSpPr>
          <p:cNvPr id="2003" name="Google Shape;2003;p79"/>
          <p:cNvSpPr/>
          <p:nvPr/>
        </p:nvSpPr>
        <p:spPr>
          <a:xfrm>
            <a:off x="3477838" y="380082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J</a:t>
            </a:r>
            <a:endParaRPr b="0" i="0" sz="1400" u="none" cap="none" strike="noStrike">
              <a:solidFill>
                <a:srgbClr val="FFFFFF"/>
              </a:solidFill>
              <a:latin typeface="Arial"/>
              <a:ea typeface="Arial"/>
              <a:cs typeface="Arial"/>
              <a:sym typeface="Arial"/>
            </a:endParaRPr>
          </a:p>
        </p:txBody>
      </p:sp>
      <p:sp>
        <p:nvSpPr>
          <p:cNvPr id="2004" name="Google Shape;2004;p79"/>
          <p:cNvSpPr/>
          <p:nvPr/>
        </p:nvSpPr>
        <p:spPr>
          <a:xfrm>
            <a:off x="3331588" y="4496170"/>
            <a:ext cx="436800" cy="4368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K</a:t>
            </a:r>
            <a:endParaRPr b="0" i="0" sz="1400" u="none" cap="none" strike="noStrike">
              <a:solidFill>
                <a:srgbClr val="FFFFFF"/>
              </a:solidFill>
              <a:latin typeface="Arial"/>
              <a:ea typeface="Arial"/>
              <a:cs typeface="Arial"/>
              <a:sym typeface="Arial"/>
            </a:endParaRPr>
          </a:p>
        </p:txBody>
      </p:sp>
      <p:cxnSp>
        <p:nvCxnSpPr>
          <p:cNvPr id="2005" name="Google Shape;2005;p79"/>
          <p:cNvCxnSpPr>
            <a:stCxn id="2003" idx="4"/>
            <a:endCxn id="2004" idx="0"/>
          </p:cNvCxnSpPr>
          <p:nvPr/>
        </p:nvCxnSpPr>
        <p:spPr>
          <a:xfrm flipH="1">
            <a:off x="3550138" y="4237620"/>
            <a:ext cx="146100" cy="258600"/>
          </a:xfrm>
          <a:prstGeom prst="straightConnector1">
            <a:avLst/>
          </a:prstGeom>
          <a:noFill/>
          <a:ln cap="flat" cmpd="sng" w="19050">
            <a:solidFill>
              <a:srgbClr val="000000"/>
            </a:solidFill>
            <a:prstDash val="solid"/>
            <a:round/>
            <a:headEnd len="sm" w="sm" type="none"/>
            <a:tailEnd len="sm" w="sm" type="none"/>
          </a:ln>
        </p:spPr>
      </p:cxnSp>
      <p:cxnSp>
        <p:nvCxnSpPr>
          <p:cNvPr id="2006" name="Google Shape;2006;p79"/>
          <p:cNvCxnSpPr>
            <a:stCxn id="2004" idx="6"/>
            <a:endCxn id="2002" idx="3"/>
          </p:cNvCxnSpPr>
          <p:nvPr/>
        </p:nvCxnSpPr>
        <p:spPr>
          <a:xfrm flipH="1" rot="10800000">
            <a:off x="3768388" y="4643170"/>
            <a:ext cx="384600" cy="71400"/>
          </a:xfrm>
          <a:prstGeom prst="straightConnector1">
            <a:avLst/>
          </a:prstGeom>
          <a:noFill/>
          <a:ln cap="flat" cmpd="sng" w="19050">
            <a:solidFill>
              <a:srgbClr val="000000"/>
            </a:solidFill>
            <a:prstDash val="solid"/>
            <a:round/>
            <a:headEnd len="sm" w="sm" type="none"/>
            <a:tailEnd len="sm" w="sm" type="none"/>
          </a:ln>
        </p:spPr>
      </p:cxnSp>
      <p:cxnSp>
        <p:nvCxnSpPr>
          <p:cNvPr id="2007" name="Google Shape;2007;p79"/>
          <p:cNvCxnSpPr>
            <a:stCxn id="2003" idx="5"/>
            <a:endCxn id="2002" idx="1"/>
          </p:cNvCxnSpPr>
          <p:nvPr/>
        </p:nvCxnSpPr>
        <p:spPr>
          <a:xfrm>
            <a:off x="3850670" y="4173652"/>
            <a:ext cx="302400" cy="160800"/>
          </a:xfrm>
          <a:prstGeom prst="straightConnector1">
            <a:avLst/>
          </a:prstGeom>
          <a:noFill/>
          <a:ln cap="flat" cmpd="sng" w="19050">
            <a:solidFill>
              <a:srgbClr val="000000"/>
            </a:solidFill>
            <a:prstDash val="solid"/>
            <a:round/>
            <a:headEnd len="sm" w="sm" type="none"/>
            <a:tailEnd len="sm" w="sm" type="none"/>
          </a:ln>
        </p:spPr>
      </p:cxnSp>
      <p:sp>
        <p:nvSpPr>
          <p:cNvPr id="2008" name="Google Shape;2008;p7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cxnSp>
        <p:nvCxnSpPr>
          <p:cNvPr id="2009" name="Google Shape;2009;p79"/>
          <p:cNvCxnSpPr>
            <a:stCxn id="1984" idx="2"/>
            <a:endCxn id="1986" idx="2"/>
          </p:cNvCxnSpPr>
          <p:nvPr/>
        </p:nvCxnSpPr>
        <p:spPr>
          <a:xfrm flipH="1">
            <a:off x="3259438" y="1743470"/>
            <a:ext cx="144300" cy="1026300"/>
          </a:xfrm>
          <a:prstGeom prst="curvedConnector3">
            <a:avLst>
              <a:gd fmla="val 265038" name="adj1"/>
            </a:avLst>
          </a:prstGeom>
          <a:noFill/>
          <a:ln cap="flat" cmpd="sng" w="28575">
            <a:solidFill>
              <a:srgbClr val="FF0000"/>
            </a:solidFill>
            <a:prstDash val="solid"/>
            <a:round/>
            <a:headEnd len="sm" w="sm" type="none"/>
            <a:tailEnd len="med" w="med" type="triangle"/>
          </a:ln>
        </p:spPr>
      </p:cxnSp>
      <p:cxnSp>
        <p:nvCxnSpPr>
          <p:cNvPr id="2010" name="Google Shape;2010;p79"/>
          <p:cNvCxnSpPr>
            <a:stCxn id="1986" idx="7"/>
            <a:endCxn id="1988" idx="1"/>
          </p:cNvCxnSpPr>
          <p:nvPr/>
        </p:nvCxnSpPr>
        <p:spPr>
          <a:xfrm flipH="1" rot="-5400000">
            <a:off x="4324495" y="1923063"/>
            <a:ext cx="120600" cy="1505100"/>
          </a:xfrm>
          <a:prstGeom prst="curvedConnector3">
            <a:avLst>
              <a:gd fmla="val -250492" name="adj1"/>
            </a:avLst>
          </a:prstGeom>
          <a:noFill/>
          <a:ln cap="flat" cmpd="sng" w="28575">
            <a:solidFill>
              <a:srgbClr val="FF0000"/>
            </a:solidFill>
            <a:prstDash val="solid"/>
            <a:round/>
            <a:headEnd len="sm" w="sm" type="none"/>
            <a:tailEnd len="med" w="med" type="triangle"/>
          </a:ln>
        </p:spPr>
      </p:cxnSp>
      <p:cxnSp>
        <p:nvCxnSpPr>
          <p:cNvPr id="2011" name="Google Shape;2011;p79"/>
          <p:cNvCxnSpPr>
            <a:stCxn id="1988" idx="0"/>
            <a:endCxn id="1985" idx="6"/>
          </p:cNvCxnSpPr>
          <p:nvPr/>
        </p:nvCxnSpPr>
        <p:spPr>
          <a:xfrm flipH="1" rot="5400000">
            <a:off x="4714388" y="2094570"/>
            <a:ext cx="658500" cy="496500"/>
          </a:xfrm>
          <a:prstGeom prst="curvedConnector2">
            <a:avLst/>
          </a:prstGeom>
          <a:noFill/>
          <a:ln cap="flat" cmpd="sng" w="28575">
            <a:solidFill>
              <a:srgbClr val="FF0000"/>
            </a:solidFill>
            <a:prstDash val="solid"/>
            <a:round/>
            <a:headEnd len="sm" w="sm" type="none"/>
            <a:tailEnd len="med" w="med" type="triangle"/>
          </a:ln>
        </p:spPr>
      </p:cxnSp>
      <p:cxnSp>
        <p:nvCxnSpPr>
          <p:cNvPr id="2012" name="Google Shape;2012;p79"/>
          <p:cNvCxnSpPr>
            <a:stCxn id="1985" idx="7"/>
            <a:endCxn id="2000" idx="1"/>
          </p:cNvCxnSpPr>
          <p:nvPr/>
        </p:nvCxnSpPr>
        <p:spPr>
          <a:xfrm flipH="1" rot="-5400000">
            <a:off x="5060545" y="1530113"/>
            <a:ext cx="600" cy="658800"/>
          </a:xfrm>
          <a:prstGeom prst="curvedConnector3">
            <a:avLst>
              <a:gd fmla="val -50348773" name="adj1"/>
            </a:avLst>
          </a:prstGeom>
          <a:noFill/>
          <a:ln cap="flat" cmpd="sng" w="28575">
            <a:solidFill>
              <a:srgbClr val="FF0000"/>
            </a:solidFill>
            <a:prstDash val="solid"/>
            <a:round/>
            <a:headEnd len="sm" w="sm" type="none"/>
            <a:tailEnd len="med" w="med" type="triangle"/>
          </a:ln>
        </p:spPr>
      </p:cxnSp>
      <p:sp>
        <p:nvSpPr>
          <p:cNvPr id="2013" name="Google Shape;2013;p79"/>
          <p:cNvSpPr/>
          <p:nvPr/>
        </p:nvSpPr>
        <p:spPr>
          <a:xfrm>
            <a:off x="5296395" y="1765400"/>
            <a:ext cx="496500" cy="496500"/>
          </a:xfrm>
          <a:prstGeom prst="mathMultiply">
            <a:avLst>
              <a:gd fmla="val 11384" name="adj1"/>
            </a:avLst>
          </a:prstGeom>
          <a:solidFill>
            <a:srgbClr val="FF0000"/>
          </a:solidFill>
          <a:ln cap="flat" cmpd="sng" w="19050">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14" name="Google Shape;2014;p79"/>
          <p:cNvCxnSpPr>
            <a:stCxn id="2000" idx="0"/>
            <a:endCxn id="1985" idx="0"/>
          </p:cNvCxnSpPr>
          <p:nvPr/>
        </p:nvCxnSpPr>
        <p:spPr>
          <a:xfrm rot="5400000">
            <a:off x="5060601" y="1311795"/>
            <a:ext cx="600" cy="967500"/>
          </a:xfrm>
          <a:prstGeom prst="curvedConnector3">
            <a:avLst>
              <a:gd fmla="val -70678285" name="adj1"/>
            </a:avLst>
          </a:prstGeom>
          <a:noFill/>
          <a:ln cap="flat" cmpd="sng" w="28575">
            <a:solidFill>
              <a:srgbClr val="FF0000"/>
            </a:solidFill>
            <a:prstDash val="solid"/>
            <a:round/>
            <a:headEnd len="sm" w="sm" type="none"/>
            <a:tailEnd len="med" w="med" type="triangle"/>
          </a:ln>
        </p:spPr>
      </p:cxnSp>
      <p:cxnSp>
        <p:nvCxnSpPr>
          <p:cNvPr id="2015" name="Google Shape;2015;p79"/>
          <p:cNvCxnSpPr>
            <a:stCxn id="1985" idx="2"/>
            <a:endCxn id="1987" idx="2"/>
          </p:cNvCxnSpPr>
          <p:nvPr/>
        </p:nvCxnSpPr>
        <p:spPr>
          <a:xfrm flipH="1">
            <a:off x="4089213" y="2013645"/>
            <a:ext cx="269400" cy="1527000"/>
          </a:xfrm>
          <a:prstGeom prst="curvedConnector3">
            <a:avLst>
              <a:gd fmla="val 188419" name="adj1"/>
            </a:avLst>
          </a:prstGeom>
          <a:noFill/>
          <a:ln cap="flat" cmpd="sng" w="28575">
            <a:solidFill>
              <a:srgbClr val="FF0000"/>
            </a:solidFill>
            <a:prstDash val="solid"/>
            <a:round/>
            <a:headEnd len="sm" w="sm" type="none"/>
            <a:tailEnd len="med" w="med" type="triangle"/>
          </a:ln>
        </p:spPr>
      </p:cxnSp>
      <p:cxnSp>
        <p:nvCxnSpPr>
          <p:cNvPr id="2016" name="Google Shape;2016;p79"/>
          <p:cNvCxnSpPr>
            <a:stCxn id="1987" idx="4"/>
            <a:endCxn id="1989" idx="3"/>
          </p:cNvCxnSpPr>
          <p:nvPr/>
        </p:nvCxnSpPr>
        <p:spPr>
          <a:xfrm flipH="1" rot="-5400000">
            <a:off x="4608288" y="3458220"/>
            <a:ext cx="270300" cy="871800"/>
          </a:xfrm>
          <a:prstGeom prst="curvedConnector3">
            <a:avLst>
              <a:gd fmla="val 211755" name="adj1"/>
            </a:avLst>
          </a:prstGeom>
          <a:noFill/>
          <a:ln cap="flat" cmpd="sng" w="28575">
            <a:solidFill>
              <a:srgbClr val="FF0000"/>
            </a:solidFill>
            <a:prstDash val="solid"/>
            <a:round/>
            <a:headEnd len="sm" w="sm" type="none"/>
            <a:tailEnd len="med" w="med" type="triangle"/>
          </a:ln>
        </p:spPr>
      </p:cxnSp>
      <p:cxnSp>
        <p:nvCxnSpPr>
          <p:cNvPr id="2017" name="Google Shape;2017;p79"/>
          <p:cNvCxnSpPr>
            <a:stCxn id="1989" idx="6"/>
            <a:endCxn id="1998" idx="7"/>
          </p:cNvCxnSpPr>
          <p:nvPr/>
        </p:nvCxnSpPr>
        <p:spPr>
          <a:xfrm>
            <a:off x="5552238" y="3874820"/>
            <a:ext cx="508200" cy="459600"/>
          </a:xfrm>
          <a:prstGeom prst="curvedConnector2">
            <a:avLst/>
          </a:prstGeom>
          <a:noFill/>
          <a:ln cap="flat" cmpd="sng" w="28575">
            <a:solidFill>
              <a:srgbClr val="FF0000"/>
            </a:solidFill>
            <a:prstDash val="solid"/>
            <a:round/>
            <a:headEnd len="sm" w="sm" type="none"/>
            <a:tailEnd len="med" w="med" type="triangle"/>
          </a:ln>
        </p:spPr>
      </p:cxnSp>
      <p:sp>
        <p:nvSpPr>
          <p:cNvPr id="2018" name="Google Shape;2018;p79"/>
          <p:cNvSpPr txBox="1"/>
          <p:nvPr/>
        </p:nvSpPr>
        <p:spPr>
          <a:xfrm>
            <a:off x="225100" y="1581900"/>
            <a:ext cx="2660700" cy="848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As with BFS, when practicing </a:t>
            </a:r>
            <a:r>
              <a:rPr b="1" i="1" lang="en" sz="1200" u="none" cap="none" strike="noStrike">
                <a:solidFill>
                  <a:srgbClr val="FF0000"/>
                </a:solidFill>
                <a:latin typeface="Arial"/>
                <a:ea typeface="Arial"/>
                <a:cs typeface="Arial"/>
                <a:sym typeface="Arial"/>
              </a:rPr>
              <a:t>depth-first search</a:t>
            </a:r>
            <a:r>
              <a:rPr b="1" i="1" lang="en" sz="1200" u="none" cap="none" strike="noStrike">
                <a:solidFill>
                  <a:srgbClr val="00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we will always visit neighbors in </a:t>
            </a:r>
            <a:r>
              <a:rPr b="1" i="1" lang="en" sz="1200" u="none" cap="none" strike="noStrike">
                <a:solidFill>
                  <a:srgbClr val="FF0000"/>
                </a:solidFill>
                <a:latin typeface="Arial"/>
                <a:ea typeface="Arial"/>
                <a:cs typeface="Arial"/>
                <a:sym typeface="Arial"/>
              </a:rPr>
              <a:t>alphabetical order</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2019" name="Google Shape;2019;p79"/>
          <p:cNvSpPr txBox="1"/>
          <p:nvPr/>
        </p:nvSpPr>
        <p:spPr>
          <a:xfrm>
            <a:off x="6238034" y="2598225"/>
            <a:ext cx="2660700" cy="848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Like BFS, DFS also uses a </a:t>
            </a:r>
            <a:r>
              <a:rPr b="1" i="1" lang="en" sz="1200" u="none" cap="none" strike="noStrike">
                <a:solidFill>
                  <a:srgbClr val="FF0000"/>
                </a:solidFill>
                <a:latin typeface="Arial"/>
                <a:ea typeface="Arial"/>
                <a:cs typeface="Arial"/>
                <a:sym typeface="Arial"/>
              </a:rPr>
              <a:t>set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to keep track of </a:t>
            </a:r>
            <a:r>
              <a:rPr b="1" i="1" lang="en" sz="1200" u="none" cap="none" strike="noStrike">
                <a:solidFill>
                  <a:srgbClr val="FF0000"/>
                </a:solidFill>
                <a:latin typeface="Arial"/>
                <a:ea typeface="Arial"/>
                <a:cs typeface="Arial"/>
                <a:sym typeface="Arial"/>
              </a:rPr>
              <a:t>previously visited vertices</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so that we avoid getting trapped in cycles.</a:t>
            </a:r>
            <a:endParaRPr b="0" i="0" sz="1200" u="none" cap="none" strike="noStrike">
              <a:solidFill>
                <a:srgbClr val="000000"/>
              </a:solidFill>
              <a:latin typeface="Arial"/>
              <a:ea typeface="Arial"/>
              <a:cs typeface="Arial"/>
              <a:sym typeface="Arial"/>
            </a:endParaRPr>
          </a:p>
        </p:txBody>
      </p:sp>
      <p:sp>
        <p:nvSpPr>
          <p:cNvPr id="2020" name="Google Shape;2020;p79"/>
          <p:cNvSpPr txBox="1"/>
          <p:nvPr/>
        </p:nvSpPr>
        <p:spPr>
          <a:xfrm>
            <a:off x="225100" y="2598224"/>
            <a:ext cx="2660700" cy="705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Rather than search </a:t>
            </a:r>
            <a:r>
              <a:rPr b="1" i="1" lang="en" sz="1200" u="none" cap="none" strike="noStrike">
                <a:solidFill>
                  <a:srgbClr val="FF0000"/>
                </a:solidFill>
                <a:latin typeface="Arial"/>
                <a:ea typeface="Arial"/>
                <a:cs typeface="Arial"/>
                <a:sym typeface="Arial"/>
              </a:rPr>
              <a:t>all</a:t>
            </a:r>
            <a:r>
              <a:rPr b="1"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of the neighbors of vertex </a:t>
            </a:r>
            <a:r>
              <a:rPr b="1" i="1" lang="en" sz="1200" u="none" cap="none" strike="noStrike">
                <a:solidFill>
                  <a:srgbClr val="FF0000"/>
                </a:solidFill>
                <a:latin typeface="Arial"/>
                <a:ea typeface="Arial"/>
                <a:cs typeface="Arial"/>
                <a:sym typeface="Arial"/>
              </a:rPr>
              <a:t>A</a:t>
            </a:r>
            <a:r>
              <a:rPr b="0" i="0" lang="en" sz="1200" u="none" cap="none" strike="noStrike">
                <a:solidFill>
                  <a:srgbClr val="000000"/>
                </a:solidFill>
                <a:latin typeface="Arial"/>
                <a:ea typeface="Arial"/>
                <a:cs typeface="Arial"/>
                <a:sym typeface="Arial"/>
              </a:rPr>
              <a:t>, DFS will explore </a:t>
            </a:r>
            <a:r>
              <a:rPr b="1" i="1" lang="en" sz="1200" u="none" cap="none" strike="noStrike">
                <a:solidFill>
                  <a:srgbClr val="FF0000"/>
                </a:solidFill>
                <a:latin typeface="Arial"/>
                <a:ea typeface="Arial"/>
                <a:cs typeface="Arial"/>
                <a:sym typeface="Arial"/>
              </a:rPr>
              <a:t>deeper</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into the graph.</a:t>
            </a:r>
            <a:endParaRPr b="0" i="0" sz="1200" u="none" cap="none" strike="noStrike">
              <a:solidFill>
                <a:srgbClr val="000000"/>
              </a:solidFill>
              <a:latin typeface="Arial"/>
              <a:ea typeface="Arial"/>
              <a:cs typeface="Arial"/>
              <a:sym typeface="Arial"/>
            </a:endParaRPr>
          </a:p>
        </p:txBody>
      </p:sp>
      <p:sp>
        <p:nvSpPr>
          <p:cNvPr id="2021" name="Google Shape;2021;p79"/>
          <p:cNvSpPr txBox="1"/>
          <p:nvPr/>
        </p:nvSpPr>
        <p:spPr>
          <a:xfrm>
            <a:off x="6246650" y="1589275"/>
            <a:ext cx="2660700" cy="848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the algorithm arrives at a node with </a:t>
            </a:r>
            <a:r>
              <a:rPr b="1" i="1" lang="en" sz="1200" u="none" cap="none" strike="noStrike">
                <a:solidFill>
                  <a:srgbClr val="FF0000"/>
                </a:solidFill>
                <a:latin typeface="Arial"/>
                <a:ea typeface="Arial"/>
                <a:cs typeface="Arial"/>
                <a:sym typeface="Arial"/>
              </a:rPr>
              <a:t>no unexplored neighbors</a:t>
            </a:r>
            <a:r>
              <a:rPr b="0" i="0" lang="en" sz="1200" u="none" cap="none" strike="noStrike">
                <a:solidFill>
                  <a:srgbClr val="000000"/>
                </a:solidFill>
                <a:latin typeface="Arial"/>
                <a:ea typeface="Arial"/>
                <a:cs typeface="Arial"/>
                <a:sym typeface="Arial"/>
              </a:rPr>
              <a:t>, it will </a:t>
            </a:r>
            <a:r>
              <a:rPr b="1" i="1" lang="en" sz="1200" u="none" cap="none" strike="noStrike">
                <a:solidFill>
                  <a:srgbClr val="FF0000"/>
                </a:solidFill>
                <a:latin typeface="Arial"/>
                <a:ea typeface="Arial"/>
                <a:cs typeface="Arial"/>
                <a:sym typeface="Arial"/>
              </a:rPr>
              <a:t>backtrack</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to the last node with at least </a:t>
            </a:r>
            <a:r>
              <a:rPr b="1" i="1" lang="en" sz="1200" u="none" cap="none" strike="noStrike">
                <a:solidFill>
                  <a:srgbClr val="FF0000"/>
                </a:solidFill>
                <a:latin typeface="Arial"/>
                <a:ea typeface="Arial"/>
                <a:cs typeface="Arial"/>
                <a:sym typeface="Arial"/>
              </a:rPr>
              <a:t>one</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unexplored neighbor.</a:t>
            </a:r>
            <a:endParaRPr b="0" i="0" sz="1200" u="none" cap="none" strike="noStrike">
              <a:solidFill>
                <a:srgbClr val="000000"/>
              </a:solidFill>
              <a:latin typeface="Arial"/>
              <a:ea typeface="Arial"/>
              <a:cs typeface="Arial"/>
              <a:sym typeface="Arial"/>
            </a:endParaRPr>
          </a:p>
        </p:txBody>
      </p:sp>
      <p:sp>
        <p:nvSpPr>
          <p:cNvPr id="2022" name="Google Shape;2022;p79"/>
          <p:cNvSpPr txBox="1"/>
          <p:nvPr/>
        </p:nvSpPr>
        <p:spPr>
          <a:xfrm>
            <a:off x="6246650" y="3607175"/>
            <a:ext cx="2660700" cy="705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search will continue until </a:t>
            </a:r>
            <a:r>
              <a:rPr b="1" i="1" lang="en" sz="1200" u="none" cap="none" strike="noStrike">
                <a:solidFill>
                  <a:srgbClr val="FF0000"/>
                </a:solidFill>
                <a:latin typeface="Arial"/>
                <a:ea typeface="Arial"/>
                <a:cs typeface="Arial"/>
                <a:sym typeface="Arial"/>
              </a:rPr>
              <a:t>all</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vertices have been explored, or until the </a:t>
            </a:r>
            <a:r>
              <a:rPr b="1" i="1" lang="en" sz="1200" u="none" cap="none" strike="noStrike">
                <a:solidFill>
                  <a:srgbClr val="FF0000"/>
                </a:solidFill>
                <a:latin typeface="Arial"/>
                <a:ea typeface="Arial"/>
                <a:cs typeface="Arial"/>
                <a:sym typeface="Arial"/>
              </a:rPr>
              <a:t>end </a:t>
            </a:r>
            <a:r>
              <a:rPr b="0" i="0" lang="en" sz="1200" u="none" cap="none" strike="noStrike">
                <a:solidFill>
                  <a:srgbClr val="000000"/>
                </a:solidFill>
                <a:latin typeface="Arial"/>
                <a:ea typeface="Arial"/>
                <a:cs typeface="Arial"/>
                <a:sym typeface="Arial"/>
              </a:rPr>
              <a:t>vertex is found.</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8"/>
                                        </p:tgtEl>
                                        <p:attrNameLst>
                                          <p:attrName>style.visibility</p:attrName>
                                        </p:attrNameLst>
                                      </p:cBhvr>
                                      <p:to>
                                        <p:strVal val="visible"/>
                                      </p:to>
                                    </p:set>
                                    <p:animEffect filter="fade" transition="in">
                                      <p:cBhvr>
                                        <p:cTn dur="1000"/>
                                        <p:tgtEl>
                                          <p:spTgt spid="201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09"/>
                                        </p:tgtEl>
                                        <p:attrNameLst>
                                          <p:attrName>style.visibility</p:attrName>
                                        </p:attrNameLst>
                                      </p:cBhvr>
                                      <p:to>
                                        <p:strVal val="visible"/>
                                      </p:to>
                                    </p:set>
                                    <p:animEffect filter="fade" transition="in">
                                      <p:cBhvr>
                                        <p:cTn dur="1000"/>
                                        <p:tgtEl>
                                          <p:spTgt spid="20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0"/>
                                        </p:tgtEl>
                                        <p:attrNameLst>
                                          <p:attrName>style.visibility</p:attrName>
                                        </p:attrNameLst>
                                      </p:cBhvr>
                                      <p:to>
                                        <p:strVal val="visible"/>
                                      </p:to>
                                    </p:set>
                                    <p:animEffect filter="fade" transition="in">
                                      <p:cBhvr>
                                        <p:cTn dur="1000"/>
                                        <p:tgtEl>
                                          <p:spTgt spid="202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0"/>
                                        </p:tgtEl>
                                        <p:attrNameLst>
                                          <p:attrName>style.visibility</p:attrName>
                                        </p:attrNameLst>
                                      </p:cBhvr>
                                      <p:to>
                                        <p:strVal val="visible"/>
                                      </p:to>
                                    </p:set>
                                    <p:animEffect filter="fade" transition="in">
                                      <p:cBhvr>
                                        <p:cTn dur="1000"/>
                                        <p:tgtEl>
                                          <p:spTgt spid="201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11"/>
                                        </p:tgtEl>
                                        <p:attrNameLst>
                                          <p:attrName>style.visibility</p:attrName>
                                        </p:attrNameLst>
                                      </p:cBhvr>
                                      <p:to>
                                        <p:strVal val="visible"/>
                                      </p:to>
                                    </p:set>
                                    <p:animEffect filter="fade" transition="in">
                                      <p:cBhvr>
                                        <p:cTn dur="1000"/>
                                        <p:tgtEl>
                                          <p:spTgt spid="2011"/>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2012"/>
                                        </p:tgtEl>
                                        <p:attrNameLst>
                                          <p:attrName>style.visibility</p:attrName>
                                        </p:attrNameLst>
                                      </p:cBhvr>
                                      <p:to>
                                        <p:strVal val="visible"/>
                                      </p:to>
                                    </p:set>
                                    <p:animEffect filter="fade" transition="in">
                                      <p:cBhvr>
                                        <p:cTn dur="1000"/>
                                        <p:tgtEl>
                                          <p:spTgt spid="2012"/>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2013"/>
                                        </p:tgtEl>
                                        <p:attrNameLst>
                                          <p:attrName>style.visibility</p:attrName>
                                        </p:attrNameLst>
                                      </p:cBhvr>
                                      <p:to>
                                        <p:strVal val="visible"/>
                                      </p:to>
                                    </p:set>
                                    <p:animEffect filter="fade" transition="in">
                                      <p:cBhvr>
                                        <p:cTn dur="1000"/>
                                        <p:tgtEl>
                                          <p:spTgt spid="20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1"/>
                                        </p:tgtEl>
                                        <p:attrNameLst>
                                          <p:attrName>style.visibility</p:attrName>
                                        </p:attrNameLst>
                                      </p:cBhvr>
                                      <p:to>
                                        <p:strVal val="visible"/>
                                      </p:to>
                                    </p:set>
                                    <p:animEffect filter="fade" transition="in">
                                      <p:cBhvr>
                                        <p:cTn dur="1000"/>
                                        <p:tgtEl>
                                          <p:spTgt spid="202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4"/>
                                        </p:tgtEl>
                                        <p:attrNameLst>
                                          <p:attrName>style.visibility</p:attrName>
                                        </p:attrNameLst>
                                      </p:cBhvr>
                                      <p:to>
                                        <p:strVal val="visible"/>
                                      </p:to>
                                    </p:set>
                                    <p:animEffect filter="fade" transition="in">
                                      <p:cBhvr>
                                        <p:cTn dur="1000"/>
                                        <p:tgtEl>
                                          <p:spTgt spid="20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9"/>
                                        </p:tgtEl>
                                        <p:attrNameLst>
                                          <p:attrName>style.visibility</p:attrName>
                                        </p:attrNameLst>
                                      </p:cBhvr>
                                      <p:to>
                                        <p:strVal val="visible"/>
                                      </p:to>
                                    </p:set>
                                    <p:animEffect filter="fade" transition="in">
                                      <p:cBhvr>
                                        <p:cTn dur="1000"/>
                                        <p:tgtEl>
                                          <p:spTgt spid="201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5"/>
                                        </p:tgtEl>
                                        <p:attrNameLst>
                                          <p:attrName>style.visibility</p:attrName>
                                        </p:attrNameLst>
                                      </p:cBhvr>
                                      <p:to>
                                        <p:strVal val="visible"/>
                                      </p:to>
                                    </p:set>
                                    <p:animEffect filter="fade" transition="in">
                                      <p:cBhvr>
                                        <p:cTn dur="1000"/>
                                        <p:tgtEl>
                                          <p:spTgt spid="20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2"/>
                                        </p:tgtEl>
                                        <p:attrNameLst>
                                          <p:attrName>style.visibility</p:attrName>
                                        </p:attrNameLst>
                                      </p:cBhvr>
                                      <p:to>
                                        <p:strVal val="visible"/>
                                      </p:to>
                                    </p:set>
                                    <p:animEffect filter="fade" transition="in">
                                      <p:cBhvr>
                                        <p:cTn dur="1000"/>
                                        <p:tgtEl>
                                          <p:spTgt spid="202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016"/>
                                        </p:tgtEl>
                                        <p:attrNameLst>
                                          <p:attrName>style.visibility</p:attrName>
                                        </p:attrNameLst>
                                      </p:cBhvr>
                                      <p:to>
                                        <p:strVal val="visible"/>
                                      </p:to>
                                    </p:set>
                                    <p:animEffect filter="fade" transition="in">
                                      <p:cBhvr>
                                        <p:cTn dur="1000"/>
                                        <p:tgtEl>
                                          <p:spTgt spid="20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2017"/>
                                        </p:tgtEl>
                                        <p:attrNameLst>
                                          <p:attrName>style.visibility</p:attrName>
                                        </p:attrNameLst>
                                      </p:cBhvr>
                                      <p:to>
                                        <p:strVal val="visible"/>
                                      </p:to>
                                    </p:set>
                                    <p:animEffect filter="fade" transition="in">
                                      <p:cBhvr>
                                        <p:cTn dur="1000"/>
                                        <p:tgtEl>
                                          <p:spTgt spid="201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6" name="Shape 2026"/>
        <p:cNvGrpSpPr/>
        <p:nvPr/>
      </p:nvGrpSpPr>
      <p:grpSpPr>
        <a:xfrm>
          <a:off x="0" y="0"/>
          <a:ext cx="0" cy="0"/>
          <a:chOff x="0" y="0"/>
          <a:chExt cx="0" cy="0"/>
        </a:xfrm>
      </p:grpSpPr>
      <p:sp>
        <p:nvSpPr>
          <p:cNvPr id="2027" name="Google Shape;2027;p8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28" name="Google Shape;2028;p80"/>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20</a:t>
            </a:r>
            <a:endParaRPr/>
          </a:p>
        </p:txBody>
      </p:sp>
      <p:sp>
        <p:nvSpPr>
          <p:cNvPr id="2029" name="Google Shape;2029;p80"/>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Depth-First Search</a:t>
            </a:r>
            <a:endParaRPr/>
          </a:p>
        </p:txBody>
      </p:sp>
      <p:sp>
        <p:nvSpPr>
          <p:cNvPr id="2030" name="Google Shape;2030;p80"/>
          <p:cNvSpPr txBox="1"/>
          <p:nvPr>
            <p:ph idx="1" type="body"/>
          </p:nvPr>
        </p:nvSpPr>
        <p:spPr>
          <a:xfrm>
            <a:off x="65250" y="7316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600"/>
              <a:buNone/>
            </a:pPr>
            <a:r>
              <a:rPr lang="en"/>
              <a:t>Once again, practicing a new algorithm "on paper" can help gain a better understanding before trying to implement it. Practice using Depth-First Search to perform searches beginning at each vertex listed below below. Remember to always search neighbors in </a:t>
            </a:r>
            <a:r>
              <a:rPr b="1" i="1" lang="en" u="sng">
                <a:solidFill>
                  <a:srgbClr val="FF0000"/>
                </a:solidFill>
              </a:rPr>
              <a:t>alphabetical order</a:t>
            </a:r>
            <a:r>
              <a:rPr lang="en"/>
              <a:t>.</a:t>
            </a:r>
            <a:endParaRPr/>
          </a:p>
        </p:txBody>
      </p:sp>
      <p:grpSp>
        <p:nvGrpSpPr>
          <p:cNvPr id="2031" name="Google Shape;2031;p80"/>
          <p:cNvGrpSpPr/>
          <p:nvPr/>
        </p:nvGrpSpPr>
        <p:grpSpPr>
          <a:xfrm>
            <a:off x="119466" y="1720581"/>
            <a:ext cx="2380778" cy="2101576"/>
            <a:chOff x="119466" y="1644381"/>
            <a:chExt cx="2380778" cy="2101576"/>
          </a:xfrm>
        </p:grpSpPr>
        <p:sp>
          <p:nvSpPr>
            <p:cNvPr id="2032" name="Google Shape;2032;p80"/>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033" name="Google Shape;2033;p80"/>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034" name="Google Shape;2034;p80"/>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035" name="Google Shape;2035;p80"/>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036" name="Google Shape;2036;p80"/>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037" name="Google Shape;2037;p80"/>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038" name="Google Shape;2038;p80"/>
            <p:cNvCxnSpPr>
              <a:stCxn id="2032" idx="2"/>
              <a:endCxn id="2034"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039" name="Google Shape;2039;p80"/>
            <p:cNvCxnSpPr>
              <a:stCxn id="2034" idx="5"/>
              <a:endCxn id="2036"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040" name="Google Shape;2040;p80"/>
            <p:cNvCxnSpPr>
              <a:stCxn id="2036" idx="3"/>
              <a:endCxn id="2035"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041" name="Google Shape;2041;p80"/>
            <p:cNvCxnSpPr>
              <a:stCxn id="2035" idx="6"/>
              <a:endCxn id="2037"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042" name="Google Shape;2042;p80"/>
            <p:cNvCxnSpPr>
              <a:stCxn id="2037" idx="0"/>
              <a:endCxn id="2036"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043" name="Google Shape;2043;p80"/>
            <p:cNvCxnSpPr>
              <a:stCxn id="2036" idx="7"/>
              <a:endCxn id="2033"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044" name="Google Shape;2044;p80"/>
            <p:cNvCxnSpPr>
              <a:stCxn id="2033" idx="4"/>
              <a:endCxn id="2037"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graphicFrame>
        <p:nvGraphicFramePr>
          <p:cNvPr id="2045" name="Google Shape;2045;p80"/>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2046" name="Google Shape;2046;p80"/>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Z</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47" name="Google Shape;2047;p80"/>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Y</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48" name="Google Shape;2048;p80"/>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W</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49" name="Google Shape;2049;p80"/>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2050" name="Google Shape;2050;p80"/>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4" name="Shape 2054"/>
        <p:cNvGrpSpPr/>
        <p:nvPr/>
      </p:nvGrpSpPr>
      <p:grpSpPr>
        <a:xfrm>
          <a:off x="0" y="0"/>
          <a:ext cx="0" cy="0"/>
          <a:chOff x="0" y="0"/>
          <a:chExt cx="0" cy="0"/>
        </a:xfrm>
      </p:grpSpPr>
      <p:sp>
        <p:nvSpPr>
          <p:cNvPr id="2055" name="Google Shape;2055;p8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056" name="Google Shape;2056;p81"/>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20</a:t>
            </a:r>
            <a:endParaRPr/>
          </a:p>
        </p:txBody>
      </p:sp>
      <p:sp>
        <p:nvSpPr>
          <p:cNvPr id="2057" name="Google Shape;2057;p81"/>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Depth-First Search</a:t>
            </a:r>
            <a:endParaRPr/>
          </a:p>
        </p:txBody>
      </p:sp>
      <p:sp>
        <p:nvSpPr>
          <p:cNvPr id="2058" name="Google Shape;2058;p81"/>
          <p:cNvSpPr txBox="1"/>
          <p:nvPr>
            <p:ph idx="1" type="body"/>
          </p:nvPr>
        </p:nvSpPr>
        <p:spPr>
          <a:xfrm>
            <a:off x="65250" y="731625"/>
            <a:ext cx="8955900" cy="923400"/>
          </a:xfrm>
          <a:prstGeom prst="rect">
            <a:avLst/>
          </a:prstGeom>
          <a:noFill/>
          <a:ln>
            <a:noFill/>
          </a:ln>
        </p:spPr>
        <p:txBody>
          <a:bodyPr anchorCtr="0" anchor="t" bIns="91425" lIns="91425" spcFirstLastPara="1" rIns="91425" wrap="square" tIns="91425">
            <a:spAutoFit/>
          </a:bodyPr>
          <a:lstStyle/>
          <a:p>
            <a:pPr indent="0" lvl="0" marL="0" rtl="0" algn="l">
              <a:lnSpc>
                <a:spcPct val="100000"/>
              </a:lnSpc>
              <a:spcBef>
                <a:spcPts val="0"/>
              </a:spcBef>
              <a:spcAft>
                <a:spcPts val="1600"/>
              </a:spcAft>
              <a:buSzPts val="1600"/>
              <a:buNone/>
            </a:pPr>
            <a:r>
              <a:rPr lang="en"/>
              <a:t>Once again, practicing a new algorithm "on paper" can help gain a better understanding before trying to implement it. Practice using Depth-First Search to perform searches beginning at each vertex listed below below. Remember to always search neighbors in </a:t>
            </a:r>
            <a:r>
              <a:rPr b="1" i="1" lang="en" u="sng">
                <a:solidFill>
                  <a:srgbClr val="FF0000"/>
                </a:solidFill>
              </a:rPr>
              <a:t>alphabetical order</a:t>
            </a:r>
            <a:r>
              <a:rPr lang="en"/>
              <a:t>.</a:t>
            </a:r>
            <a:endParaRPr/>
          </a:p>
        </p:txBody>
      </p:sp>
      <p:grpSp>
        <p:nvGrpSpPr>
          <p:cNvPr id="2059" name="Google Shape;2059;p81"/>
          <p:cNvGrpSpPr/>
          <p:nvPr/>
        </p:nvGrpSpPr>
        <p:grpSpPr>
          <a:xfrm>
            <a:off x="119466" y="1720581"/>
            <a:ext cx="2380778" cy="2101576"/>
            <a:chOff x="119466" y="1644381"/>
            <a:chExt cx="2380778" cy="2101576"/>
          </a:xfrm>
        </p:grpSpPr>
        <p:sp>
          <p:nvSpPr>
            <p:cNvPr id="2060" name="Google Shape;2060;p81"/>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061" name="Google Shape;2061;p81"/>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062" name="Google Shape;2062;p81"/>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063" name="Google Shape;2063;p81"/>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064" name="Google Shape;2064;p81"/>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065" name="Google Shape;2065;p81"/>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066" name="Google Shape;2066;p81"/>
            <p:cNvCxnSpPr>
              <a:stCxn id="2060" idx="2"/>
              <a:endCxn id="2062"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067" name="Google Shape;2067;p81"/>
            <p:cNvCxnSpPr>
              <a:stCxn id="2062" idx="5"/>
              <a:endCxn id="2064"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068" name="Google Shape;2068;p81"/>
            <p:cNvCxnSpPr>
              <a:stCxn id="2064" idx="3"/>
              <a:endCxn id="2063"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069" name="Google Shape;2069;p81"/>
            <p:cNvCxnSpPr>
              <a:stCxn id="2063" idx="6"/>
              <a:endCxn id="2065"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070" name="Google Shape;2070;p81"/>
            <p:cNvCxnSpPr>
              <a:stCxn id="2065" idx="0"/>
              <a:endCxn id="2064"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071" name="Google Shape;2071;p81"/>
            <p:cNvCxnSpPr>
              <a:stCxn id="2064" idx="7"/>
              <a:endCxn id="2061"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072" name="Google Shape;2072;p81"/>
            <p:cNvCxnSpPr>
              <a:stCxn id="2061" idx="4"/>
              <a:endCxn id="2065"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graphicFrame>
        <p:nvGraphicFramePr>
          <p:cNvPr id="2073" name="Google Shape;2073;p81"/>
          <p:cNvGraphicFramePr/>
          <p:nvPr/>
        </p:nvGraphicFramePr>
        <p:xfrm>
          <a:off x="6378950" y="1693100"/>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2074" name="Google Shape;2074;p81"/>
          <p:cNvGraphicFramePr/>
          <p:nvPr/>
        </p:nvGraphicFramePr>
        <p:xfrm>
          <a:off x="2842425" y="17716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Z</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75" name="Google Shape;2075;p81"/>
          <p:cNvGraphicFramePr/>
          <p:nvPr/>
        </p:nvGraphicFramePr>
        <p:xfrm>
          <a:off x="2842425" y="4133850"/>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Y</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76" name="Google Shape;2076;p81"/>
          <p:cNvGraphicFramePr/>
          <p:nvPr/>
        </p:nvGraphicFramePr>
        <p:xfrm>
          <a:off x="2842425" y="2946797"/>
          <a:ext cx="3000000" cy="3000000"/>
        </p:xfrm>
        <a:graphic>
          <a:graphicData uri="http://schemas.openxmlformats.org/drawingml/2006/table">
            <a:tbl>
              <a:tblPr>
                <a:noFill/>
                <a:tableStyleId>{F61E8307-4E6B-4154-8BF4-D3231BAD3CED}</a:tableStyleId>
              </a:tblPr>
              <a:tblGrid>
                <a:gridCol w="648925"/>
                <a:gridCol w="399450"/>
                <a:gridCol w="399450"/>
                <a:gridCol w="399450"/>
                <a:gridCol w="399450"/>
                <a:gridCol w="399450"/>
                <a:gridCol w="399450"/>
                <a:gridCol w="399450"/>
              </a:tblGrid>
              <a:tr h="396200">
                <a:tc>
                  <a:txBody>
                    <a:bodyPr/>
                    <a:lstStyle/>
                    <a:p>
                      <a:pPr indent="0" lvl="0" marL="0" marR="0" rtl="0" algn="r">
                        <a:lnSpc>
                          <a:spcPct val="100000"/>
                        </a:lnSpc>
                        <a:spcBef>
                          <a:spcPts val="0"/>
                        </a:spcBef>
                        <a:spcAft>
                          <a:spcPts val="0"/>
                        </a:spcAft>
                        <a:buClr>
                          <a:srgbClr val="000000"/>
                        </a:buClr>
                        <a:buSzPts val="1200"/>
                        <a:buFont typeface="Arial"/>
                        <a:buNone/>
                      </a:pPr>
                      <a:r>
                        <a:rPr lang="en" sz="1200" u="none" cap="none" strike="noStrike"/>
                        <a:t>W</a:t>
                      </a:r>
                      <a:endParaRPr sz="1200" u="none" cap="none" strike="noStrike"/>
                    </a:p>
                  </a:txBody>
                  <a:tcPr marT="91425" marB="91425" marR="91425" marL="91425" anchor="ctr">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2077" name="Google Shape;2077;p81"/>
          <p:cNvGraphicFramePr/>
          <p:nvPr/>
        </p:nvGraphicFramePr>
        <p:xfrm>
          <a:off x="6378950" y="2855388"/>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2078" name="Google Shape;2078;p81"/>
          <p:cNvGraphicFramePr/>
          <p:nvPr/>
        </p:nvGraphicFramePr>
        <p:xfrm>
          <a:off x="6378950" y="4036009"/>
          <a:ext cx="3000000" cy="3000000"/>
        </p:xfrm>
        <a:graphic>
          <a:graphicData uri="http://schemas.openxmlformats.org/drawingml/2006/table">
            <a:tbl>
              <a:tblPr>
                <a:noFill/>
                <a:tableStyleId>{F61E8307-4E6B-4154-8BF4-D3231BAD3CED}</a:tableStyleId>
              </a:tblPr>
              <a:tblGrid>
                <a:gridCol w="484625"/>
                <a:gridCol w="1788250"/>
              </a:tblGrid>
              <a:tr h="888325">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Set</a:t>
                      </a:r>
                      <a:endParaRPr sz="1400" u="none" cap="none" strike="noStrike"/>
                    </a:p>
                  </a:txBody>
                  <a:tcPr marT="91425" marB="91425" marR="91425" marL="91425">
                    <a:lnL cap="flat" cmpd="sng" w="9525">
                      <a:solidFill>
                        <a:srgbClr val="9E9E9E">
                          <a:alpha val="0"/>
                        </a:srgbClr>
                      </a:solidFill>
                      <a:prstDash val="solid"/>
                      <a:round/>
                      <a:headEnd len="sm" w="sm" type="none"/>
                      <a:tailEnd len="sm" w="sm" type="none"/>
                    </a:lnL>
                    <a:lnR cap="flat" cmpd="sng" w="19050">
                      <a:solidFill>
                        <a:srgbClr val="000000"/>
                      </a:solidFill>
                      <a:prstDash val="solid"/>
                      <a:round/>
                      <a:headEnd len="sm" w="sm" type="none"/>
                      <a:tailEnd len="sm" w="sm" type="none"/>
                    </a:lnR>
                    <a:lnT cap="flat" cmpd="sng" w="9525">
                      <a:solidFill>
                        <a:srgbClr val="9E9E9E">
                          <a:alpha val="0"/>
                        </a:srgbClr>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2079" name="Google Shape;2079;p81"/>
          <p:cNvGrpSpPr/>
          <p:nvPr/>
        </p:nvGrpSpPr>
        <p:grpSpPr>
          <a:xfrm>
            <a:off x="3491353" y="1776865"/>
            <a:ext cx="3804575" cy="393600"/>
            <a:chOff x="3491353" y="1700665"/>
            <a:chExt cx="3804575" cy="393600"/>
          </a:xfrm>
        </p:grpSpPr>
        <p:sp>
          <p:nvSpPr>
            <p:cNvPr id="2080" name="Google Shape;2080;p81"/>
            <p:cNvSpPr txBox="1"/>
            <p:nvPr/>
          </p:nvSpPr>
          <p:spPr>
            <a:xfrm>
              <a:off x="349135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2081" name="Google Shape;2081;p81"/>
            <p:cNvSpPr txBox="1"/>
            <p:nvPr/>
          </p:nvSpPr>
          <p:spPr>
            <a:xfrm>
              <a:off x="692302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82" name="Google Shape;2082;p81"/>
          <p:cNvGrpSpPr/>
          <p:nvPr/>
        </p:nvGrpSpPr>
        <p:grpSpPr>
          <a:xfrm>
            <a:off x="3884658" y="1776865"/>
            <a:ext cx="3493775" cy="823650"/>
            <a:chOff x="3884658" y="1700665"/>
            <a:chExt cx="3493775" cy="823650"/>
          </a:xfrm>
        </p:grpSpPr>
        <p:sp>
          <p:nvSpPr>
            <p:cNvPr id="2083" name="Google Shape;2083;p81"/>
            <p:cNvSpPr txBox="1"/>
            <p:nvPr/>
          </p:nvSpPr>
          <p:spPr>
            <a:xfrm>
              <a:off x="388465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2084" name="Google Shape;2084;p81"/>
            <p:cNvSpPr txBox="1"/>
            <p:nvPr/>
          </p:nvSpPr>
          <p:spPr>
            <a:xfrm>
              <a:off x="7005533" y="21307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85" name="Google Shape;2085;p81"/>
          <p:cNvGrpSpPr/>
          <p:nvPr/>
        </p:nvGrpSpPr>
        <p:grpSpPr>
          <a:xfrm>
            <a:off x="4277963" y="1737115"/>
            <a:ext cx="4213600" cy="433350"/>
            <a:chOff x="4277963" y="1660915"/>
            <a:chExt cx="4213600" cy="433350"/>
          </a:xfrm>
        </p:grpSpPr>
        <p:sp>
          <p:nvSpPr>
            <p:cNvPr id="2086" name="Google Shape;2086;p81"/>
            <p:cNvSpPr txBox="1"/>
            <p:nvPr/>
          </p:nvSpPr>
          <p:spPr>
            <a:xfrm>
              <a:off x="427796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2087" name="Google Shape;2087;p81"/>
            <p:cNvSpPr txBox="1"/>
            <p:nvPr/>
          </p:nvSpPr>
          <p:spPr>
            <a:xfrm>
              <a:off x="8118663" y="16609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88" name="Google Shape;2088;p81"/>
          <p:cNvGrpSpPr/>
          <p:nvPr/>
        </p:nvGrpSpPr>
        <p:grpSpPr>
          <a:xfrm>
            <a:off x="4716705" y="1776865"/>
            <a:ext cx="3364550" cy="823650"/>
            <a:chOff x="4716705" y="1700665"/>
            <a:chExt cx="3364550" cy="823650"/>
          </a:xfrm>
        </p:grpSpPr>
        <p:sp>
          <p:nvSpPr>
            <p:cNvPr id="2089" name="Google Shape;2089;p81"/>
            <p:cNvSpPr txBox="1"/>
            <p:nvPr/>
          </p:nvSpPr>
          <p:spPr>
            <a:xfrm>
              <a:off x="4716705"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2090" name="Google Shape;2090;p81"/>
            <p:cNvSpPr txBox="1"/>
            <p:nvPr/>
          </p:nvSpPr>
          <p:spPr>
            <a:xfrm>
              <a:off x="7708355" y="21307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91" name="Google Shape;2091;p81"/>
          <p:cNvGrpSpPr/>
          <p:nvPr/>
        </p:nvGrpSpPr>
        <p:grpSpPr>
          <a:xfrm>
            <a:off x="5097705" y="1776865"/>
            <a:ext cx="2653625" cy="460825"/>
            <a:chOff x="5097705" y="1700665"/>
            <a:chExt cx="2653625" cy="460825"/>
          </a:xfrm>
        </p:grpSpPr>
        <p:sp>
          <p:nvSpPr>
            <p:cNvPr id="2092" name="Google Shape;2092;p81"/>
            <p:cNvSpPr txBox="1"/>
            <p:nvPr/>
          </p:nvSpPr>
          <p:spPr>
            <a:xfrm>
              <a:off x="5097705"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2093" name="Google Shape;2093;p81"/>
            <p:cNvSpPr txBox="1"/>
            <p:nvPr/>
          </p:nvSpPr>
          <p:spPr>
            <a:xfrm>
              <a:off x="7378430" y="17678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94" name="Google Shape;2094;p81"/>
          <p:cNvGrpSpPr/>
          <p:nvPr/>
        </p:nvGrpSpPr>
        <p:grpSpPr>
          <a:xfrm>
            <a:off x="5491010" y="1776865"/>
            <a:ext cx="3044625" cy="784575"/>
            <a:chOff x="5491010" y="1700665"/>
            <a:chExt cx="3044625" cy="784575"/>
          </a:xfrm>
        </p:grpSpPr>
        <p:sp>
          <p:nvSpPr>
            <p:cNvPr id="2095" name="Google Shape;2095;p81"/>
            <p:cNvSpPr txBox="1"/>
            <p:nvPr/>
          </p:nvSpPr>
          <p:spPr>
            <a:xfrm>
              <a:off x="5491010"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2096" name="Google Shape;2096;p81"/>
            <p:cNvSpPr txBox="1"/>
            <p:nvPr/>
          </p:nvSpPr>
          <p:spPr>
            <a:xfrm>
              <a:off x="8162735" y="209164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097" name="Google Shape;2097;p81"/>
          <p:cNvGrpSpPr/>
          <p:nvPr/>
        </p:nvGrpSpPr>
        <p:grpSpPr>
          <a:xfrm>
            <a:off x="3491353" y="2944476"/>
            <a:ext cx="3880775" cy="393600"/>
            <a:chOff x="3491353" y="1700665"/>
            <a:chExt cx="3880775" cy="393600"/>
          </a:xfrm>
        </p:grpSpPr>
        <p:sp>
          <p:nvSpPr>
            <p:cNvPr id="2098" name="Google Shape;2098;p81"/>
            <p:cNvSpPr txBox="1"/>
            <p:nvPr/>
          </p:nvSpPr>
          <p:spPr>
            <a:xfrm>
              <a:off x="349135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2099" name="Google Shape;2099;p81"/>
            <p:cNvSpPr txBox="1"/>
            <p:nvPr/>
          </p:nvSpPr>
          <p:spPr>
            <a:xfrm>
              <a:off x="699922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00" name="Google Shape;2100;p81"/>
          <p:cNvGrpSpPr/>
          <p:nvPr/>
        </p:nvGrpSpPr>
        <p:grpSpPr>
          <a:xfrm>
            <a:off x="3884658" y="2944476"/>
            <a:ext cx="3493775" cy="747450"/>
            <a:chOff x="3884658" y="1700665"/>
            <a:chExt cx="3493775" cy="747450"/>
          </a:xfrm>
        </p:grpSpPr>
        <p:sp>
          <p:nvSpPr>
            <p:cNvPr id="2101" name="Google Shape;2101;p81"/>
            <p:cNvSpPr txBox="1"/>
            <p:nvPr/>
          </p:nvSpPr>
          <p:spPr>
            <a:xfrm>
              <a:off x="388465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2102" name="Google Shape;2102;p81"/>
            <p:cNvSpPr txBox="1"/>
            <p:nvPr/>
          </p:nvSpPr>
          <p:spPr>
            <a:xfrm>
              <a:off x="7005533" y="20545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03" name="Google Shape;2103;p81"/>
          <p:cNvGrpSpPr/>
          <p:nvPr/>
        </p:nvGrpSpPr>
        <p:grpSpPr>
          <a:xfrm>
            <a:off x="4699248" y="2944476"/>
            <a:ext cx="3756400" cy="811050"/>
            <a:chOff x="4277963" y="1700665"/>
            <a:chExt cx="3756400" cy="811050"/>
          </a:xfrm>
        </p:grpSpPr>
        <p:sp>
          <p:nvSpPr>
            <p:cNvPr id="2104" name="Google Shape;2104;p81"/>
            <p:cNvSpPr txBox="1"/>
            <p:nvPr/>
          </p:nvSpPr>
          <p:spPr>
            <a:xfrm>
              <a:off x="427796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2105" name="Google Shape;2105;p81"/>
            <p:cNvSpPr txBox="1"/>
            <p:nvPr/>
          </p:nvSpPr>
          <p:spPr>
            <a:xfrm>
              <a:off x="7661463" y="21181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06" name="Google Shape;2106;p81"/>
          <p:cNvGrpSpPr/>
          <p:nvPr/>
        </p:nvGrpSpPr>
        <p:grpSpPr>
          <a:xfrm>
            <a:off x="4306973" y="2944476"/>
            <a:ext cx="3516950" cy="442650"/>
            <a:chOff x="4716705" y="1700665"/>
            <a:chExt cx="3516950" cy="442650"/>
          </a:xfrm>
        </p:grpSpPr>
        <p:sp>
          <p:nvSpPr>
            <p:cNvPr id="2107" name="Google Shape;2107;p81"/>
            <p:cNvSpPr txBox="1"/>
            <p:nvPr/>
          </p:nvSpPr>
          <p:spPr>
            <a:xfrm>
              <a:off x="4716705"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2108" name="Google Shape;2108;p81"/>
            <p:cNvSpPr txBox="1"/>
            <p:nvPr/>
          </p:nvSpPr>
          <p:spPr>
            <a:xfrm>
              <a:off x="7860755" y="17497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09" name="Google Shape;2109;p81"/>
          <p:cNvGrpSpPr/>
          <p:nvPr/>
        </p:nvGrpSpPr>
        <p:grpSpPr>
          <a:xfrm>
            <a:off x="5097705" y="2935501"/>
            <a:ext cx="3339425" cy="402575"/>
            <a:chOff x="5097705" y="1691690"/>
            <a:chExt cx="3339425" cy="402575"/>
          </a:xfrm>
        </p:grpSpPr>
        <p:sp>
          <p:nvSpPr>
            <p:cNvPr id="2110" name="Google Shape;2110;p81"/>
            <p:cNvSpPr txBox="1"/>
            <p:nvPr/>
          </p:nvSpPr>
          <p:spPr>
            <a:xfrm>
              <a:off x="5097705"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2111" name="Google Shape;2111;p81"/>
            <p:cNvSpPr txBox="1"/>
            <p:nvPr/>
          </p:nvSpPr>
          <p:spPr>
            <a:xfrm>
              <a:off x="8064230" y="16916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12" name="Google Shape;2112;p81"/>
          <p:cNvGrpSpPr/>
          <p:nvPr/>
        </p:nvGrpSpPr>
        <p:grpSpPr>
          <a:xfrm>
            <a:off x="5491010" y="2944476"/>
            <a:ext cx="2663625" cy="784575"/>
            <a:chOff x="5491010" y="1700665"/>
            <a:chExt cx="2663625" cy="784575"/>
          </a:xfrm>
        </p:grpSpPr>
        <p:sp>
          <p:nvSpPr>
            <p:cNvPr id="2113" name="Google Shape;2113;p81"/>
            <p:cNvSpPr txBox="1"/>
            <p:nvPr/>
          </p:nvSpPr>
          <p:spPr>
            <a:xfrm>
              <a:off x="5491010"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2114" name="Google Shape;2114;p81"/>
            <p:cNvSpPr txBox="1"/>
            <p:nvPr/>
          </p:nvSpPr>
          <p:spPr>
            <a:xfrm>
              <a:off x="7781735" y="209164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15" name="Google Shape;2115;p81"/>
          <p:cNvGrpSpPr/>
          <p:nvPr/>
        </p:nvGrpSpPr>
        <p:grpSpPr>
          <a:xfrm>
            <a:off x="3491353" y="4124391"/>
            <a:ext cx="4947575" cy="774600"/>
            <a:chOff x="3491353" y="1700665"/>
            <a:chExt cx="4947575" cy="774600"/>
          </a:xfrm>
        </p:grpSpPr>
        <p:sp>
          <p:nvSpPr>
            <p:cNvPr id="2116" name="Google Shape;2116;p81"/>
            <p:cNvSpPr txBox="1"/>
            <p:nvPr/>
          </p:nvSpPr>
          <p:spPr>
            <a:xfrm>
              <a:off x="349135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sp>
          <p:nvSpPr>
            <p:cNvPr id="2117" name="Google Shape;2117;p81"/>
            <p:cNvSpPr txBox="1"/>
            <p:nvPr/>
          </p:nvSpPr>
          <p:spPr>
            <a:xfrm>
              <a:off x="8066028" y="2081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Y</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18" name="Google Shape;2118;p81"/>
          <p:cNvGrpSpPr/>
          <p:nvPr/>
        </p:nvGrpSpPr>
        <p:grpSpPr>
          <a:xfrm>
            <a:off x="3884658" y="4124391"/>
            <a:ext cx="3646175" cy="442650"/>
            <a:chOff x="3884658" y="1700665"/>
            <a:chExt cx="3646175" cy="442650"/>
          </a:xfrm>
        </p:grpSpPr>
        <p:sp>
          <p:nvSpPr>
            <p:cNvPr id="2119" name="Google Shape;2119;p81"/>
            <p:cNvSpPr txBox="1"/>
            <p:nvPr/>
          </p:nvSpPr>
          <p:spPr>
            <a:xfrm>
              <a:off x="388465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sp>
          <p:nvSpPr>
            <p:cNvPr id="2120" name="Google Shape;2120;p81"/>
            <p:cNvSpPr txBox="1"/>
            <p:nvPr/>
          </p:nvSpPr>
          <p:spPr>
            <a:xfrm>
              <a:off x="7157933" y="17497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U</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21" name="Google Shape;2121;p81"/>
          <p:cNvGrpSpPr/>
          <p:nvPr/>
        </p:nvGrpSpPr>
        <p:grpSpPr>
          <a:xfrm>
            <a:off x="4277963" y="4084641"/>
            <a:ext cx="3756400" cy="433350"/>
            <a:chOff x="4277963" y="1660915"/>
            <a:chExt cx="3756400" cy="433350"/>
          </a:xfrm>
        </p:grpSpPr>
        <p:sp>
          <p:nvSpPr>
            <p:cNvPr id="2122" name="Google Shape;2122;p81"/>
            <p:cNvSpPr txBox="1"/>
            <p:nvPr/>
          </p:nvSpPr>
          <p:spPr>
            <a:xfrm>
              <a:off x="4277963"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sp>
          <p:nvSpPr>
            <p:cNvPr id="2123" name="Google Shape;2123;p81"/>
            <p:cNvSpPr txBox="1"/>
            <p:nvPr/>
          </p:nvSpPr>
          <p:spPr>
            <a:xfrm>
              <a:off x="7661463" y="16609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V</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24" name="Google Shape;2124;p81"/>
          <p:cNvGrpSpPr/>
          <p:nvPr/>
        </p:nvGrpSpPr>
        <p:grpSpPr>
          <a:xfrm>
            <a:off x="4698248" y="4124391"/>
            <a:ext cx="3154407" cy="747450"/>
            <a:chOff x="4698248" y="1700665"/>
            <a:chExt cx="3154407" cy="747450"/>
          </a:xfrm>
        </p:grpSpPr>
        <p:sp>
          <p:nvSpPr>
            <p:cNvPr id="2125" name="Google Shape;2125;p81"/>
            <p:cNvSpPr txBox="1"/>
            <p:nvPr/>
          </p:nvSpPr>
          <p:spPr>
            <a:xfrm>
              <a:off x="4698248"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sp>
          <p:nvSpPr>
            <p:cNvPr id="2126" name="Google Shape;2126;p81"/>
            <p:cNvSpPr txBox="1"/>
            <p:nvPr/>
          </p:nvSpPr>
          <p:spPr>
            <a:xfrm>
              <a:off x="7479755" y="205451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W</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27" name="Google Shape;2127;p81"/>
          <p:cNvGrpSpPr/>
          <p:nvPr/>
        </p:nvGrpSpPr>
        <p:grpSpPr>
          <a:xfrm>
            <a:off x="5097705" y="4115416"/>
            <a:ext cx="3339425" cy="402575"/>
            <a:chOff x="5097705" y="1691690"/>
            <a:chExt cx="3339425" cy="402575"/>
          </a:xfrm>
        </p:grpSpPr>
        <p:sp>
          <p:nvSpPr>
            <p:cNvPr id="2128" name="Google Shape;2128;p81"/>
            <p:cNvSpPr txBox="1"/>
            <p:nvPr/>
          </p:nvSpPr>
          <p:spPr>
            <a:xfrm>
              <a:off x="5097705"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sp>
          <p:nvSpPr>
            <p:cNvPr id="2129" name="Google Shape;2129;p81"/>
            <p:cNvSpPr txBox="1"/>
            <p:nvPr/>
          </p:nvSpPr>
          <p:spPr>
            <a:xfrm>
              <a:off x="8064230" y="169169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X</a:t>
              </a:r>
              <a:endParaRPr b="0" i="0" sz="2500" u="none" cap="none" strike="noStrike">
                <a:solidFill>
                  <a:srgbClr val="4A86E8"/>
                </a:solidFill>
                <a:latin typeface="Shadows Into Light"/>
                <a:ea typeface="Shadows Into Light"/>
                <a:cs typeface="Shadows Into Light"/>
                <a:sym typeface="Shadows Into Light"/>
              </a:endParaRPr>
            </a:p>
          </p:txBody>
        </p:sp>
      </p:grpSp>
      <p:grpSp>
        <p:nvGrpSpPr>
          <p:cNvPr id="2130" name="Google Shape;2130;p81"/>
          <p:cNvGrpSpPr/>
          <p:nvPr/>
        </p:nvGrpSpPr>
        <p:grpSpPr>
          <a:xfrm>
            <a:off x="5491010" y="4124391"/>
            <a:ext cx="1825425" cy="784575"/>
            <a:chOff x="5491010" y="1700665"/>
            <a:chExt cx="1825425" cy="784575"/>
          </a:xfrm>
        </p:grpSpPr>
        <p:sp>
          <p:nvSpPr>
            <p:cNvPr id="2131" name="Google Shape;2131;p81"/>
            <p:cNvSpPr txBox="1"/>
            <p:nvPr/>
          </p:nvSpPr>
          <p:spPr>
            <a:xfrm>
              <a:off x="5491010" y="1700665"/>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sp>
          <p:nvSpPr>
            <p:cNvPr id="2132" name="Google Shape;2132;p81"/>
            <p:cNvSpPr txBox="1"/>
            <p:nvPr/>
          </p:nvSpPr>
          <p:spPr>
            <a:xfrm>
              <a:off x="6943535" y="2091640"/>
              <a:ext cx="372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500"/>
                <a:buFont typeface="Arial"/>
                <a:buNone/>
              </a:pPr>
              <a:r>
                <a:rPr b="0" i="0" lang="en" sz="2500" u="none" cap="none" strike="noStrike">
                  <a:solidFill>
                    <a:srgbClr val="4A86E8"/>
                  </a:solidFill>
                  <a:latin typeface="Shadows Into Light"/>
                  <a:ea typeface="Shadows Into Light"/>
                  <a:cs typeface="Shadows Into Light"/>
                  <a:sym typeface="Shadows Into Light"/>
                </a:rPr>
                <a:t>Z</a:t>
              </a:r>
              <a:endParaRPr b="0" i="0" sz="2500" u="none" cap="none" strike="noStrik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79"/>
                                        </p:tgtEl>
                                        <p:attrNameLst>
                                          <p:attrName>style.visibility</p:attrName>
                                        </p:attrNameLst>
                                      </p:cBhvr>
                                      <p:to>
                                        <p:strVal val="visible"/>
                                      </p:to>
                                    </p:set>
                                    <p:animEffect filter="fade" transition="in">
                                      <p:cBhvr>
                                        <p:cTn dur="1000"/>
                                        <p:tgtEl>
                                          <p:spTgt spid="20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2"/>
                                        </p:tgtEl>
                                        <p:attrNameLst>
                                          <p:attrName>style.visibility</p:attrName>
                                        </p:attrNameLst>
                                      </p:cBhvr>
                                      <p:to>
                                        <p:strVal val="visible"/>
                                      </p:to>
                                    </p:set>
                                    <p:animEffect filter="fade" transition="in">
                                      <p:cBhvr>
                                        <p:cTn dur="1000"/>
                                        <p:tgtEl>
                                          <p:spTgt spid="20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5"/>
                                        </p:tgtEl>
                                        <p:attrNameLst>
                                          <p:attrName>style.visibility</p:attrName>
                                        </p:attrNameLst>
                                      </p:cBhvr>
                                      <p:to>
                                        <p:strVal val="visible"/>
                                      </p:to>
                                    </p:set>
                                    <p:animEffect filter="fade" transition="in">
                                      <p:cBhvr>
                                        <p:cTn dur="1000"/>
                                        <p:tgtEl>
                                          <p:spTgt spid="20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88"/>
                                        </p:tgtEl>
                                        <p:attrNameLst>
                                          <p:attrName>style.visibility</p:attrName>
                                        </p:attrNameLst>
                                      </p:cBhvr>
                                      <p:to>
                                        <p:strVal val="visible"/>
                                      </p:to>
                                    </p:set>
                                    <p:animEffect filter="fade" transition="in">
                                      <p:cBhvr>
                                        <p:cTn dur="1000"/>
                                        <p:tgtEl>
                                          <p:spTgt spid="20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1"/>
                                        </p:tgtEl>
                                        <p:attrNameLst>
                                          <p:attrName>style.visibility</p:attrName>
                                        </p:attrNameLst>
                                      </p:cBhvr>
                                      <p:to>
                                        <p:strVal val="visible"/>
                                      </p:to>
                                    </p:set>
                                    <p:animEffect filter="fade" transition="in">
                                      <p:cBhvr>
                                        <p:cTn dur="1000"/>
                                        <p:tgtEl>
                                          <p:spTgt spid="20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4"/>
                                        </p:tgtEl>
                                        <p:attrNameLst>
                                          <p:attrName>style.visibility</p:attrName>
                                        </p:attrNameLst>
                                      </p:cBhvr>
                                      <p:to>
                                        <p:strVal val="visible"/>
                                      </p:to>
                                    </p:set>
                                    <p:animEffect filter="fade" transition="in">
                                      <p:cBhvr>
                                        <p:cTn dur="1000"/>
                                        <p:tgtEl>
                                          <p:spTgt spid="20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7"/>
                                        </p:tgtEl>
                                        <p:attrNameLst>
                                          <p:attrName>style.visibility</p:attrName>
                                        </p:attrNameLst>
                                      </p:cBhvr>
                                      <p:to>
                                        <p:strVal val="visible"/>
                                      </p:to>
                                    </p:set>
                                    <p:animEffect filter="fade" transition="in">
                                      <p:cBhvr>
                                        <p:cTn dur="1000"/>
                                        <p:tgtEl>
                                          <p:spTgt spid="20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0"/>
                                        </p:tgtEl>
                                        <p:attrNameLst>
                                          <p:attrName>style.visibility</p:attrName>
                                        </p:attrNameLst>
                                      </p:cBhvr>
                                      <p:to>
                                        <p:strVal val="visible"/>
                                      </p:to>
                                    </p:set>
                                    <p:animEffect filter="fade" transition="in">
                                      <p:cBhvr>
                                        <p:cTn dur="1000"/>
                                        <p:tgtEl>
                                          <p:spTgt spid="2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6"/>
                                        </p:tgtEl>
                                        <p:attrNameLst>
                                          <p:attrName>style.visibility</p:attrName>
                                        </p:attrNameLst>
                                      </p:cBhvr>
                                      <p:to>
                                        <p:strVal val="visible"/>
                                      </p:to>
                                    </p:set>
                                    <p:animEffect filter="fade" transition="in">
                                      <p:cBhvr>
                                        <p:cTn dur="1000"/>
                                        <p:tgtEl>
                                          <p:spTgt spid="21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3"/>
                                        </p:tgtEl>
                                        <p:attrNameLst>
                                          <p:attrName>style.visibility</p:attrName>
                                        </p:attrNameLst>
                                      </p:cBhvr>
                                      <p:to>
                                        <p:strVal val="visible"/>
                                      </p:to>
                                    </p:set>
                                    <p:animEffect filter="fade" transition="in">
                                      <p:cBhvr>
                                        <p:cTn dur="1000"/>
                                        <p:tgtEl>
                                          <p:spTgt spid="21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09"/>
                                        </p:tgtEl>
                                        <p:attrNameLst>
                                          <p:attrName>style.visibility</p:attrName>
                                        </p:attrNameLst>
                                      </p:cBhvr>
                                      <p:to>
                                        <p:strVal val="visible"/>
                                      </p:to>
                                    </p:set>
                                    <p:animEffect filter="fade" transition="in">
                                      <p:cBhvr>
                                        <p:cTn dur="1000"/>
                                        <p:tgtEl>
                                          <p:spTgt spid="21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2"/>
                                        </p:tgtEl>
                                        <p:attrNameLst>
                                          <p:attrName>style.visibility</p:attrName>
                                        </p:attrNameLst>
                                      </p:cBhvr>
                                      <p:to>
                                        <p:strVal val="visible"/>
                                      </p:to>
                                    </p:set>
                                    <p:animEffect filter="fade" transition="in">
                                      <p:cBhvr>
                                        <p:cTn dur="1000"/>
                                        <p:tgtEl>
                                          <p:spTgt spid="21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5"/>
                                        </p:tgtEl>
                                        <p:attrNameLst>
                                          <p:attrName>style.visibility</p:attrName>
                                        </p:attrNameLst>
                                      </p:cBhvr>
                                      <p:to>
                                        <p:strVal val="visible"/>
                                      </p:to>
                                    </p:set>
                                    <p:animEffect filter="fade" transition="in">
                                      <p:cBhvr>
                                        <p:cTn dur="1000"/>
                                        <p:tgtEl>
                                          <p:spTgt spid="21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18"/>
                                        </p:tgtEl>
                                        <p:attrNameLst>
                                          <p:attrName>style.visibility</p:attrName>
                                        </p:attrNameLst>
                                      </p:cBhvr>
                                      <p:to>
                                        <p:strVal val="visible"/>
                                      </p:to>
                                    </p:set>
                                    <p:animEffect filter="fade" transition="in">
                                      <p:cBhvr>
                                        <p:cTn dur="1000"/>
                                        <p:tgtEl>
                                          <p:spTgt spid="21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1"/>
                                        </p:tgtEl>
                                        <p:attrNameLst>
                                          <p:attrName>style.visibility</p:attrName>
                                        </p:attrNameLst>
                                      </p:cBhvr>
                                      <p:to>
                                        <p:strVal val="visible"/>
                                      </p:to>
                                    </p:set>
                                    <p:animEffect filter="fade" transition="in">
                                      <p:cBhvr>
                                        <p:cTn dur="1000"/>
                                        <p:tgtEl>
                                          <p:spTgt spid="212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4"/>
                                        </p:tgtEl>
                                        <p:attrNameLst>
                                          <p:attrName>style.visibility</p:attrName>
                                        </p:attrNameLst>
                                      </p:cBhvr>
                                      <p:to>
                                        <p:strVal val="visible"/>
                                      </p:to>
                                    </p:set>
                                    <p:animEffect filter="fade" transition="in">
                                      <p:cBhvr>
                                        <p:cTn dur="1000"/>
                                        <p:tgtEl>
                                          <p:spTgt spid="21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27"/>
                                        </p:tgtEl>
                                        <p:attrNameLst>
                                          <p:attrName>style.visibility</p:attrName>
                                        </p:attrNameLst>
                                      </p:cBhvr>
                                      <p:to>
                                        <p:strVal val="visible"/>
                                      </p:to>
                                    </p:set>
                                    <p:animEffect filter="fade" transition="in">
                                      <p:cBhvr>
                                        <p:cTn dur="1000"/>
                                        <p:tgtEl>
                                          <p:spTgt spid="21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0"/>
                                        </p:tgtEl>
                                        <p:attrNameLst>
                                          <p:attrName>style.visibility</p:attrName>
                                        </p:attrNameLst>
                                      </p:cBhvr>
                                      <p:to>
                                        <p:strVal val="visible"/>
                                      </p:to>
                                    </p:set>
                                    <p:animEffect filter="fade" transition="in">
                                      <p:cBhvr>
                                        <p:cTn dur="1000"/>
                                        <p:tgtEl>
                                          <p:spTgt spid="213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6" name="Shape 2136"/>
        <p:cNvGrpSpPr/>
        <p:nvPr/>
      </p:nvGrpSpPr>
      <p:grpSpPr>
        <a:xfrm>
          <a:off x="0" y="0"/>
          <a:ext cx="0" cy="0"/>
          <a:chOff x="0" y="0"/>
          <a:chExt cx="0" cy="0"/>
        </a:xfrm>
      </p:grpSpPr>
      <p:graphicFrame>
        <p:nvGraphicFramePr>
          <p:cNvPr id="2137" name="Google Shape;2137;p82"/>
          <p:cNvGraphicFramePr/>
          <p:nvPr/>
        </p:nvGraphicFramePr>
        <p:xfrm>
          <a:off x="5192213" y="1778475"/>
          <a:ext cx="3000000" cy="3000000"/>
        </p:xfrm>
        <a:graphic>
          <a:graphicData uri="http://schemas.openxmlformats.org/drawingml/2006/table">
            <a:tbl>
              <a:tblPr>
                <a:noFill/>
                <a:tableStyleId>{F61E8307-4E6B-4154-8BF4-D3231BAD3CED}</a:tableStyleId>
              </a:tblPr>
              <a:tblGrid>
                <a:gridCol w="1809275"/>
              </a:tblGrid>
              <a:tr h="31675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FF"/>
                          </a:solidFill>
                        </a:rPr>
                        <a:t>Visited Set</a:t>
                      </a:r>
                      <a:endParaRPr sz="1400" u="none" cap="none" strike="noStrike">
                        <a:solidFill>
                          <a:srgbClr val="FFFFFF"/>
                        </a:solidFill>
                      </a:endParaRPr>
                    </a:p>
                  </a:txBody>
                  <a:tcPr marT="91425" marB="91425" marR="91425" marL="91425">
                    <a:lnL cap="flat" cmpd="sng" w="19050">
                      <a:solidFill>
                        <a:srgbClr val="000000">
                          <a:alpha val="0"/>
                        </a:srgbClr>
                      </a:solidFill>
                      <a:prstDash val="solid"/>
                      <a:round/>
                      <a:headEnd len="sm" w="sm" type="none"/>
                      <a:tailEnd len="sm" w="sm" type="none"/>
                    </a:lnL>
                    <a:lnR cap="flat" cmpd="sng" w="19050">
                      <a:solidFill>
                        <a:srgbClr val="000000">
                          <a:alpha val="0"/>
                        </a:srgbClr>
                      </a:solidFill>
                      <a:prstDash val="solid"/>
                      <a:round/>
                      <a:headEnd len="sm" w="sm" type="none"/>
                      <a:tailEnd len="sm" w="sm" type="none"/>
                    </a:lnR>
                    <a:lnT cap="flat" cmpd="sng" w="19050">
                      <a:solidFill>
                        <a:srgbClr val="000000">
                          <a:alpha val="0"/>
                        </a:srgbClr>
                      </a:solidFill>
                      <a:prstDash val="solid"/>
                      <a:round/>
                      <a:headEnd len="sm" w="sm" type="none"/>
                      <a:tailEnd len="sm" w="sm" type="none"/>
                    </a:lnT>
                    <a:lnB cap="flat" cmpd="sng" w="19050">
                      <a:solidFill>
                        <a:srgbClr val="000000"/>
                      </a:solidFill>
                      <a:prstDash val="solid"/>
                      <a:round/>
                      <a:headEnd len="sm" w="sm" type="none"/>
                      <a:tailEnd len="sm" w="sm" type="none"/>
                    </a:lnB>
                  </a:tcPr>
                </a:tc>
              </a:tr>
              <a:tr h="157385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2138" name="Google Shape;2138;p82"/>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2139" name="Google Shape;2139;p82"/>
          <p:cNvSpPr txBox="1"/>
          <p:nvPr>
            <p:ph type="title"/>
          </p:nvPr>
        </p:nvSpPr>
        <p:spPr>
          <a:xfrm>
            <a:off x="5188525" y="1961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The DFS Algorithm</a:t>
            </a:r>
            <a:endParaRPr/>
          </a:p>
        </p:txBody>
      </p:sp>
      <p:sp>
        <p:nvSpPr>
          <p:cNvPr id="2140" name="Google Shape;2140;p82"/>
          <p:cNvSpPr txBox="1"/>
          <p:nvPr>
            <p:ph idx="1" type="body"/>
          </p:nvPr>
        </p:nvSpPr>
        <p:spPr>
          <a:xfrm>
            <a:off x="147400" y="272325"/>
            <a:ext cx="4546200" cy="4527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Like BFS, a </a:t>
            </a:r>
            <a:r>
              <a:rPr b="1" i="1" lang="en">
                <a:solidFill>
                  <a:srgbClr val="FF0000"/>
                </a:solidFill>
              </a:rPr>
              <a:t>depth-first search</a:t>
            </a:r>
            <a:r>
              <a:rPr lang="en"/>
              <a:t> can be used to determine whether or not a path </a:t>
            </a:r>
            <a:r>
              <a:rPr b="1" i="1" lang="en">
                <a:solidFill>
                  <a:srgbClr val="FF0000"/>
                </a:solidFill>
              </a:rPr>
              <a:t>exists</a:t>
            </a:r>
            <a:r>
              <a:rPr lang="en">
                <a:solidFill>
                  <a:srgbClr val="FF0000"/>
                </a:solidFill>
              </a:rPr>
              <a:t> </a:t>
            </a:r>
            <a:r>
              <a:rPr lang="en"/>
              <a:t>between a start vertex </a:t>
            </a:r>
            <a:r>
              <a:rPr b="1" i="1" lang="en">
                <a:solidFill>
                  <a:srgbClr val="FF0000"/>
                </a:solidFill>
              </a:rPr>
              <a:t>S</a:t>
            </a:r>
            <a:r>
              <a:rPr lang="en"/>
              <a:t> and an end vertex</a:t>
            </a:r>
            <a:r>
              <a:rPr lang="en">
                <a:solidFill>
                  <a:srgbClr val="FF0000"/>
                </a:solidFill>
              </a:rPr>
              <a:t> </a:t>
            </a:r>
            <a:r>
              <a:rPr b="1" i="1" lang="en">
                <a:solidFill>
                  <a:srgbClr val="FF0000"/>
                </a:solidFill>
              </a:rPr>
              <a:t>E</a:t>
            </a:r>
            <a:r>
              <a:rPr lang="en"/>
              <a:t>.</a:t>
            </a:r>
            <a:endParaRPr/>
          </a:p>
          <a:p>
            <a:pPr indent="-311150" lvl="0" marL="457200" rtl="0" algn="l">
              <a:lnSpc>
                <a:spcPct val="115000"/>
              </a:lnSpc>
              <a:spcBef>
                <a:spcPts val="1000"/>
              </a:spcBef>
              <a:spcAft>
                <a:spcPts val="0"/>
              </a:spcAft>
              <a:buSzPts val="1300"/>
              <a:buChar char="●"/>
            </a:pPr>
            <a:r>
              <a:rPr lang="en"/>
              <a:t>We will be implementing a </a:t>
            </a:r>
            <a:r>
              <a:rPr b="1" i="1" lang="en">
                <a:solidFill>
                  <a:srgbClr val="FF0000"/>
                </a:solidFill>
              </a:rPr>
              <a:t>recursive</a:t>
            </a:r>
            <a:r>
              <a:rPr lang="en">
                <a:solidFill>
                  <a:srgbClr val="FF0000"/>
                </a:solidFill>
              </a:rPr>
              <a:t> </a:t>
            </a:r>
            <a:r>
              <a:rPr lang="en"/>
              <a:t>implementation of DFS in two parts.</a:t>
            </a:r>
            <a:endParaRPr/>
          </a:p>
          <a:p>
            <a:pPr indent="-311150" lvl="0" marL="457200" rtl="0" algn="l">
              <a:lnSpc>
                <a:spcPct val="115000"/>
              </a:lnSpc>
              <a:spcBef>
                <a:spcPts val="1000"/>
              </a:spcBef>
              <a:spcAft>
                <a:spcPts val="0"/>
              </a:spcAft>
              <a:buSzPts val="1300"/>
              <a:buChar char="●"/>
            </a:pPr>
            <a:r>
              <a:rPr lang="en"/>
              <a:t>The first part is a </a:t>
            </a:r>
            <a:r>
              <a:rPr b="1" i="1" lang="en">
                <a:solidFill>
                  <a:srgbClr val="FF0000"/>
                </a:solidFill>
              </a:rPr>
              <a:t>helper function</a:t>
            </a:r>
            <a:r>
              <a:rPr lang="en"/>
              <a:t> that </a:t>
            </a:r>
            <a:r>
              <a:rPr b="1" i="1" lang="en">
                <a:solidFill>
                  <a:srgbClr val="FF0000"/>
                </a:solidFill>
              </a:rPr>
              <a:t>visits</a:t>
            </a:r>
            <a:r>
              <a:rPr lang="en">
                <a:solidFill>
                  <a:srgbClr val="FF0000"/>
                </a:solidFill>
              </a:rPr>
              <a:t> </a:t>
            </a:r>
            <a:r>
              <a:rPr lang="en"/>
              <a:t>a vertex.</a:t>
            </a:r>
            <a:endParaRPr/>
          </a:p>
          <a:p>
            <a:pPr indent="-298450" lvl="1" marL="914400" rtl="0" algn="l">
              <a:lnSpc>
                <a:spcPct val="115000"/>
              </a:lnSpc>
              <a:spcBef>
                <a:spcPts val="0"/>
              </a:spcBef>
              <a:spcAft>
                <a:spcPts val="0"/>
              </a:spcAft>
              <a:buSzPts val="1100"/>
              <a:buChar char="○"/>
            </a:pPr>
            <a:r>
              <a:rPr lang="en"/>
              <a:t>It will declare parameters for a vertex </a:t>
            </a:r>
            <a:r>
              <a:rPr b="1" i="1" lang="en">
                <a:solidFill>
                  <a:srgbClr val="FF0000"/>
                </a:solidFill>
              </a:rPr>
              <a:t>V</a:t>
            </a:r>
            <a:r>
              <a:rPr lang="en"/>
              <a:t> and a set of previously </a:t>
            </a:r>
            <a:r>
              <a:rPr b="1" i="1" lang="en">
                <a:solidFill>
                  <a:srgbClr val="FF0000"/>
                </a:solidFill>
              </a:rPr>
              <a:t>visited</a:t>
            </a:r>
            <a:r>
              <a:rPr lang="en">
                <a:solidFill>
                  <a:srgbClr val="FF0000"/>
                </a:solidFill>
              </a:rPr>
              <a:t> </a:t>
            </a:r>
            <a:r>
              <a:rPr lang="en"/>
              <a:t>vertices.</a:t>
            </a:r>
            <a:endParaRPr/>
          </a:p>
          <a:p>
            <a:pPr indent="-298450" lvl="1" marL="914400" rtl="0" algn="l">
              <a:lnSpc>
                <a:spcPct val="115000"/>
              </a:lnSpc>
              <a:spcBef>
                <a:spcPts val="0"/>
              </a:spcBef>
              <a:spcAft>
                <a:spcPts val="0"/>
              </a:spcAft>
              <a:buSzPts val="1100"/>
              <a:buChar char="○"/>
            </a:pPr>
            <a:r>
              <a:rPr lang="en"/>
              <a:t>For each neighbor </a:t>
            </a:r>
            <a:r>
              <a:rPr b="1" i="1" lang="en">
                <a:solidFill>
                  <a:srgbClr val="FF0000"/>
                </a:solidFill>
              </a:rPr>
              <a:t>N</a:t>
            </a:r>
            <a:r>
              <a:rPr lang="en"/>
              <a:t> of </a:t>
            </a:r>
            <a:r>
              <a:rPr b="1" i="1" lang="en">
                <a:solidFill>
                  <a:srgbClr val="FF0000"/>
                </a:solidFill>
              </a:rPr>
              <a:t>V</a:t>
            </a:r>
            <a:r>
              <a:rPr lang="en"/>
              <a:t> that is not already in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b="1" i="1" lang="en">
                <a:solidFill>
                  <a:srgbClr val="FF0000"/>
                </a:solidFill>
              </a:rPr>
              <a:t>Add</a:t>
            </a:r>
            <a:r>
              <a:rPr lang="en">
                <a:solidFill>
                  <a:srgbClr val="FF0000"/>
                </a:solidFill>
              </a:rPr>
              <a:t> </a:t>
            </a:r>
            <a:r>
              <a:rPr b="1" i="1" lang="en">
                <a:solidFill>
                  <a:srgbClr val="FF0000"/>
                </a:solidFill>
              </a:rPr>
              <a:t>N</a:t>
            </a:r>
            <a:r>
              <a:rPr lang="en"/>
              <a:t> to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b="1" i="1" lang="en">
                <a:solidFill>
                  <a:srgbClr val="FF0000"/>
                </a:solidFill>
              </a:rPr>
              <a:t>Visit</a:t>
            </a:r>
            <a:r>
              <a:rPr lang="en">
                <a:solidFill>
                  <a:srgbClr val="FF0000"/>
                </a:solidFill>
              </a:rPr>
              <a:t> </a:t>
            </a:r>
            <a:r>
              <a:rPr b="1" i="1" lang="en">
                <a:solidFill>
                  <a:srgbClr val="FF0000"/>
                </a:solidFill>
              </a:rPr>
              <a:t>N</a:t>
            </a:r>
            <a:r>
              <a:rPr lang="en"/>
              <a:t> (make a </a:t>
            </a:r>
            <a:r>
              <a:rPr b="1" i="1" lang="en">
                <a:solidFill>
                  <a:srgbClr val="FF0000"/>
                </a:solidFill>
              </a:rPr>
              <a:t>recursive</a:t>
            </a:r>
            <a:r>
              <a:rPr lang="en">
                <a:solidFill>
                  <a:srgbClr val="FF0000"/>
                </a:solidFill>
              </a:rPr>
              <a:t> </a:t>
            </a:r>
            <a:r>
              <a:rPr lang="en"/>
              <a:t>call).</a:t>
            </a:r>
            <a:endParaRPr/>
          </a:p>
          <a:p>
            <a:pPr indent="-311150" lvl="0" marL="457200" rtl="0" algn="l">
              <a:lnSpc>
                <a:spcPct val="115000"/>
              </a:lnSpc>
              <a:spcBef>
                <a:spcPts val="1000"/>
              </a:spcBef>
              <a:spcAft>
                <a:spcPts val="0"/>
              </a:spcAft>
              <a:buSzPts val="1300"/>
              <a:buChar char="●"/>
            </a:pPr>
            <a:r>
              <a:rPr lang="en"/>
              <a:t>The second part is the </a:t>
            </a:r>
            <a:r>
              <a:rPr b="1" i="1" lang="en">
                <a:solidFill>
                  <a:srgbClr val="FF0000"/>
                </a:solidFill>
              </a:rPr>
              <a:t>main DFS method</a:t>
            </a:r>
            <a:r>
              <a:rPr lang="en"/>
              <a:t>. It will simply:</a:t>
            </a:r>
            <a:endParaRPr/>
          </a:p>
          <a:p>
            <a:pPr indent="-298450" lvl="1" marL="914400" rtl="0" algn="l">
              <a:lnSpc>
                <a:spcPct val="115000"/>
              </a:lnSpc>
              <a:spcBef>
                <a:spcPts val="0"/>
              </a:spcBef>
              <a:spcAft>
                <a:spcPts val="0"/>
              </a:spcAft>
              <a:buSzPts val="1100"/>
              <a:buChar char="○"/>
            </a:pPr>
            <a:r>
              <a:rPr b="1" i="1" lang="en">
                <a:solidFill>
                  <a:srgbClr val="FF0000"/>
                </a:solidFill>
              </a:rPr>
              <a:t>Create </a:t>
            </a:r>
            <a:r>
              <a:rPr lang="en"/>
              <a:t>the </a:t>
            </a:r>
            <a:r>
              <a:rPr b="1" i="1" lang="en">
                <a:solidFill>
                  <a:srgbClr val="FF0000"/>
                </a:solidFill>
              </a:rPr>
              <a:t>visited</a:t>
            </a:r>
            <a:r>
              <a:rPr lang="en">
                <a:solidFill>
                  <a:srgbClr val="FF0000"/>
                </a:solidFill>
              </a:rPr>
              <a:t> </a:t>
            </a:r>
            <a:r>
              <a:rPr lang="en"/>
              <a:t>set.</a:t>
            </a:r>
            <a:endParaRPr/>
          </a:p>
          <a:p>
            <a:pPr indent="-298450" lvl="1" marL="914400" rtl="0" algn="l">
              <a:lnSpc>
                <a:spcPct val="115000"/>
              </a:lnSpc>
              <a:spcBef>
                <a:spcPts val="0"/>
              </a:spcBef>
              <a:spcAft>
                <a:spcPts val="0"/>
              </a:spcAft>
              <a:buSzPts val="1100"/>
              <a:buChar char="○"/>
            </a:pPr>
            <a:r>
              <a:rPr b="1" i="1" lang="en">
                <a:solidFill>
                  <a:srgbClr val="FF0000"/>
                </a:solidFill>
              </a:rPr>
              <a:t>Add</a:t>
            </a:r>
            <a:r>
              <a:rPr lang="en">
                <a:solidFill>
                  <a:srgbClr val="FF0000"/>
                </a:solidFill>
              </a:rPr>
              <a:t> </a:t>
            </a:r>
            <a:r>
              <a:rPr b="1" i="1" lang="en">
                <a:solidFill>
                  <a:srgbClr val="FF0000"/>
                </a:solidFill>
              </a:rPr>
              <a:t>S</a:t>
            </a:r>
            <a:r>
              <a:rPr lang="en"/>
              <a:t> to the </a:t>
            </a:r>
            <a:r>
              <a:rPr b="1" i="1" lang="en">
                <a:solidFill>
                  <a:srgbClr val="FF0000"/>
                </a:solidFill>
              </a:rPr>
              <a:t>visited</a:t>
            </a:r>
            <a:r>
              <a:rPr lang="en">
                <a:solidFill>
                  <a:srgbClr val="FF0000"/>
                </a:solidFill>
              </a:rPr>
              <a:t> </a:t>
            </a:r>
            <a:r>
              <a:rPr lang="en"/>
              <a:t>set.</a:t>
            </a:r>
            <a:endParaRPr/>
          </a:p>
          <a:p>
            <a:pPr indent="-298450" lvl="1" marL="914400" rtl="0" algn="l">
              <a:lnSpc>
                <a:spcPct val="115000"/>
              </a:lnSpc>
              <a:spcBef>
                <a:spcPts val="0"/>
              </a:spcBef>
              <a:spcAft>
                <a:spcPts val="0"/>
              </a:spcAft>
              <a:buSzPts val="1100"/>
              <a:buChar char="○"/>
            </a:pPr>
            <a:r>
              <a:rPr b="1" i="1" lang="en">
                <a:solidFill>
                  <a:srgbClr val="FF0000"/>
                </a:solidFill>
              </a:rPr>
              <a:t>Call</a:t>
            </a:r>
            <a:r>
              <a:rPr lang="en">
                <a:solidFill>
                  <a:srgbClr val="FF0000"/>
                </a:solidFill>
              </a:rPr>
              <a:t> </a:t>
            </a:r>
            <a:r>
              <a:rPr lang="en"/>
              <a:t>the helper function with </a:t>
            </a:r>
            <a:r>
              <a:rPr b="1" i="1" lang="en">
                <a:solidFill>
                  <a:srgbClr val="FF0000"/>
                </a:solidFill>
              </a:rPr>
              <a:t>S</a:t>
            </a:r>
            <a:r>
              <a:rPr lang="en"/>
              <a:t> and the </a:t>
            </a:r>
            <a:r>
              <a:rPr b="1" i="1" lang="en">
                <a:solidFill>
                  <a:srgbClr val="FF0000"/>
                </a:solidFill>
              </a:rPr>
              <a:t>visited</a:t>
            </a:r>
            <a:r>
              <a:rPr lang="en">
                <a:solidFill>
                  <a:srgbClr val="FF0000"/>
                </a:solidFill>
              </a:rPr>
              <a:t> </a:t>
            </a:r>
            <a:r>
              <a:rPr lang="en"/>
              <a:t>set.</a:t>
            </a:r>
            <a:endParaRPr/>
          </a:p>
          <a:p>
            <a:pPr indent="-298450" lvl="1" marL="914400" rtl="0" algn="l">
              <a:lnSpc>
                <a:spcPct val="115000"/>
              </a:lnSpc>
              <a:spcBef>
                <a:spcPts val="0"/>
              </a:spcBef>
              <a:spcAft>
                <a:spcPts val="0"/>
              </a:spcAft>
              <a:buSzPts val="1100"/>
              <a:buChar char="○"/>
            </a:pPr>
            <a:r>
              <a:rPr lang="en"/>
              <a:t>When the function returns, return </a:t>
            </a:r>
            <a:r>
              <a:rPr lang="en">
                <a:solidFill>
                  <a:srgbClr val="FF0000"/>
                </a:solidFill>
                <a:latin typeface="Courier New"/>
                <a:ea typeface="Courier New"/>
                <a:cs typeface="Courier New"/>
                <a:sym typeface="Courier New"/>
              </a:rPr>
              <a:t>true</a:t>
            </a:r>
            <a:r>
              <a:rPr lang="en">
                <a:solidFill>
                  <a:srgbClr val="FF0000"/>
                </a:solidFill>
              </a:rPr>
              <a:t> </a:t>
            </a:r>
            <a:r>
              <a:rPr lang="en"/>
              <a:t>if </a:t>
            </a:r>
            <a:r>
              <a:rPr b="1" i="1" lang="en">
                <a:solidFill>
                  <a:srgbClr val="FF0000"/>
                </a:solidFill>
              </a:rPr>
              <a:t>E</a:t>
            </a:r>
            <a:r>
              <a:rPr lang="en"/>
              <a:t> is in the set, and </a:t>
            </a:r>
            <a:r>
              <a:rPr lang="en">
                <a:solidFill>
                  <a:srgbClr val="FF0000"/>
                </a:solidFill>
                <a:latin typeface="Courier New"/>
                <a:ea typeface="Courier New"/>
                <a:cs typeface="Courier New"/>
                <a:sym typeface="Courier New"/>
              </a:rPr>
              <a:t>false</a:t>
            </a:r>
            <a:r>
              <a:rPr lang="en">
                <a:solidFill>
                  <a:srgbClr val="FF0000"/>
                </a:solidFill>
              </a:rPr>
              <a:t> </a:t>
            </a:r>
            <a:r>
              <a:rPr lang="en"/>
              <a:t>otherwise.</a:t>
            </a:r>
            <a:endParaRPr/>
          </a:p>
        </p:txBody>
      </p:sp>
      <p:sp>
        <p:nvSpPr>
          <p:cNvPr id="2141" name="Google Shape;2141;p82"/>
          <p:cNvSpPr txBox="1"/>
          <p:nvPr>
            <p:ph idx="3" type="body"/>
          </p:nvPr>
        </p:nvSpPr>
        <p:spPr>
          <a:xfrm>
            <a:off x="5232525" y="1030475"/>
            <a:ext cx="37065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Let's look at an example of performing a </a:t>
            </a:r>
            <a:r>
              <a:rPr b="1" i="1" lang="en">
                <a:solidFill>
                  <a:srgbClr val="FF0000"/>
                </a:solidFill>
              </a:rPr>
              <a:t>depth-first search</a:t>
            </a:r>
            <a:r>
              <a:rPr lang="en"/>
              <a:t> on the example graph below to find a path from </a:t>
            </a:r>
            <a:r>
              <a:rPr b="1" i="1" lang="en">
                <a:solidFill>
                  <a:srgbClr val="FF0000"/>
                </a:solidFill>
              </a:rPr>
              <a:t>F to B</a:t>
            </a:r>
            <a:r>
              <a:rPr lang="en"/>
              <a:t>.</a:t>
            </a:r>
            <a:endParaRPr/>
          </a:p>
        </p:txBody>
      </p:sp>
      <p:grpSp>
        <p:nvGrpSpPr>
          <p:cNvPr id="2142" name="Google Shape;2142;p82"/>
          <p:cNvGrpSpPr/>
          <p:nvPr/>
        </p:nvGrpSpPr>
        <p:grpSpPr>
          <a:xfrm>
            <a:off x="7119770" y="1810539"/>
            <a:ext cx="1819260" cy="1804266"/>
            <a:chOff x="6699858" y="172562"/>
            <a:chExt cx="2727118" cy="2705047"/>
          </a:xfrm>
        </p:grpSpPr>
        <p:sp>
          <p:nvSpPr>
            <p:cNvPr id="2143" name="Google Shape;2143;p82"/>
            <p:cNvSpPr/>
            <p:nvPr/>
          </p:nvSpPr>
          <p:spPr>
            <a:xfrm>
              <a:off x="6872323" y="172562"/>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F</a:t>
              </a:r>
              <a:endParaRPr b="0" i="0" sz="1000" u="none" cap="none" strike="noStrike">
                <a:solidFill>
                  <a:srgbClr val="FFFFFF"/>
                </a:solidFill>
                <a:latin typeface="Arial"/>
                <a:ea typeface="Arial"/>
                <a:cs typeface="Arial"/>
                <a:sym typeface="Arial"/>
              </a:endParaRPr>
            </a:p>
          </p:txBody>
        </p:sp>
        <p:sp>
          <p:nvSpPr>
            <p:cNvPr id="2144" name="Google Shape;2144;p82"/>
            <p:cNvSpPr/>
            <p:nvPr/>
          </p:nvSpPr>
          <p:spPr>
            <a:xfrm>
              <a:off x="8013576" y="495468"/>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E</a:t>
              </a:r>
              <a:endParaRPr b="0" i="0" sz="1000" u="none" cap="none" strike="noStrike">
                <a:solidFill>
                  <a:srgbClr val="FFFFFF"/>
                </a:solidFill>
                <a:latin typeface="Arial"/>
                <a:ea typeface="Arial"/>
                <a:cs typeface="Arial"/>
                <a:sym typeface="Arial"/>
              </a:endParaRPr>
            </a:p>
          </p:txBody>
        </p:sp>
        <p:sp>
          <p:nvSpPr>
            <p:cNvPr id="2145" name="Google Shape;2145;p82"/>
            <p:cNvSpPr/>
            <p:nvPr/>
          </p:nvSpPr>
          <p:spPr>
            <a:xfrm>
              <a:off x="6699858" y="1369709"/>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G</a:t>
              </a:r>
              <a:endParaRPr b="0" i="0" sz="1000" u="none" cap="none" strike="noStrike">
                <a:solidFill>
                  <a:srgbClr val="FFFFFF"/>
                </a:solidFill>
                <a:latin typeface="Arial"/>
                <a:ea typeface="Arial"/>
                <a:cs typeface="Arial"/>
                <a:sym typeface="Arial"/>
              </a:endParaRPr>
            </a:p>
          </p:txBody>
        </p:sp>
        <p:sp>
          <p:nvSpPr>
            <p:cNvPr id="2146" name="Google Shape;2146;p82"/>
            <p:cNvSpPr/>
            <p:nvPr/>
          </p:nvSpPr>
          <p:spPr>
            <a:xfrm>
              <a:off x="7907861" y="1610328"/>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C</a:t>
              </a:r>
              <a:endParaRPr b="0" i="0" sz="1000" u="none" cap="none" strike="noStrike">
                <a:solidFill>
                  <a:srgbClr val="FFFFFF"/>
                </a:solidFill>
                <a:latin typeface="Arial"/>
                <a:ea typeface="Arial"/>
                <a:cs typeface="Arial"/>
                <a:sym typeface="Arial"/>
              </a:endParaRPr>
            </a:p>
          </p:txBody>
        </p:sp>
        <p:sp>
          <p:nvSpPr>
            <p:cNvPr id="2147" name="Google Shape;2147;p82"/>
            <p:cNvSpPr/>
            <p:nvPr/>
          </p:nvSpPr>
          <p:spPr>
            <a:xfrm>
              <a:off x="8735976" y="2355609"/>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B</a:t>
              </a:r>
              <a:endParaRPr b="0" i="0" sz="1000" u="none" cap="none" strike="noStrike">
                <a:solidFill>
                  <a:srgbClr val="FFFFFF"/>
                </a:solidFill>
                <a:latin typeface="Arial"/>
                <a:ea typeface="Arial"/>
                <a:cs typeface="Arial"/>
                <a:sym typeface="Arial"/>
              </a:endParaRPr>
            </a:p>
          </p:txBody>
        </p:sp>
        <p:cxnSp>
          <p:nvCxnSpPr>
            <p:cNvPr id="2148" name="Google Shape;2148;p82"/>
            <p:cNvCxnSpPr>
              <a:stCxn id="2143" idx="6"/>
              <a:endCxn id="2144" idx="1"/>
            </p:cNvCxnSpPr>
            <p:nvPr/>
          </p:nvCxnSpPr>
          <p:spPr>
            <a:xfrm>
              <a:off x="7394323" y="433562"/>
              <a:ext cx="695700" cy="138300"/>
            </a:xfrm>
            <a:prstGeom prst="straightConnector1">
              <a:avLst/>
            </a:prstGeom>
            <a:noFill/>
            <a:ln cap="flat" cmpd="sng" w="19050">
              <a:solidFill>
                <a:srgbClr val="FFFFFF"/>
              </a:solidFill>
              <a:prstDash val="solid"/>
              <a:round/>
              <a:headEnd len="sm" w="sm" type="none"/>
              <a:tailEnd len="sm" w="sm" type="none"/>
            </a:ln>
          </p:spPr>
        </p:cxnSp>
        <p:cxnSp>
          <p:nvCxnSpPr>
            <p:cNvPr id="2149" name="Google Shape;2149;p82"/>
            <p:cNvCxnSpPr>
              <a:stCxn id="2143" idx="4"/>
              <a:endCxn id="2145" idx="0"/>
            </p:cNvCxnSpPr>
            <p:nvPr/>
          </p:nvCxnSpPr>
          <p:spPr>
            <a:xfrm flipH="1">
              <a:off x="6960823" y="694562"/>
              <a:ext cx="172500" cy="675000"/>
            </a:xfrm>
            <a:prstGeom prst="straightConnector1">
              <a:avLst/>
            </a:prstGeom>
            <a:noFill/>
            <a:ln cap="flat" cmpd="sng" w="19050">
              <a:solidFill>
                <a:srgbClr val="FFFFFF"/>
              </a:solidFill>
              <a:prstDash val="solid"/>
              <a:round/>
              <a:headEnd len="sm" w="sm" type="none"/>
              <a:tailEnd len="sm" w="sm" type="none"/>
            </a:ln>
          </p:spPr>
        </p:cxnSp>
        <p:cxnSp>
          <p:nvCxnSpPr>
            <p:cNvPr id="2150" name="Google Shape;2150;p82"/>
            <p:cNvCxnSpPr>
              <a:stCxn id="2145" idx="5"/>
              <a:endCxn id="2146" idx="2"/>
            </p:cNvCxnSpPr>
            <p:nvPr/>
          </p:nvCxnSpPr>
          <p:spPr>
            <a:xfrm>
              <a:off x="7145413" y="1815264"/>
              <a:ext cx="762300" cy="56100"/>
            </a:xfrm>
            <a:prstGeom prst="straightConnector1">
              <a:avLst/>
            </a:prstGeom>
            <a:noFill/>
            <a:ln cap="flat" cmpd="sng" w="19050">
              <a:solidFill>
                <a:srgbClr val="FFFFFF"/>
              </a:solidFill>
              <a:prstDash val="solid"/>
              <a:round/>
              <a:headEnd len="sm" w="sm" type="none"/>
              <a:tailEnd len="sm" w="sm" type="none"/>
            </a:ln>
          </p:spPr>
        </p:cxnSp>
        <p:cxnSp>
          <p:nvCxnSpPr>
            <p:cNvPr id="2151" name="Google Shape;2151;p82"/>
            <p:cNvCxnSpPr>
              <a:stCxn id="2146" idx="5"/>
              <a:endCxn id="2147" idx="1"/>
            </p:cNvCxnSpPr>
            <p:nvPr/>
          </p:nvCxnSpPr>
          <p:spPr>
            <a:xfrm>
              <a:off x="8353416" y="2055883"/>
              <a:ext cx="459000" cy="376200"/>
            </a:xfrm>
            <a:prstGeom prst="straightConnector1">
              <a:avLst/>
            </a:prstGeom>
            <a:noFill/>
            <a:ln cap="flat" cmpd="sng" w="19050">
              <a:solidFill>
                <a:srgbClr val="FFFFFF"/>
              </a:solidFill>
              <a:prstDash val="solid"/>
              <a:round/>
              <a:headEnd len="sm" w="sm" type="none"/>
              <a:tailEnd len="sm" w="sm" type="none"/>
            </a:ln>
          </p:spPr>
        </p:cxnSp>
        <p:sp>
          <p:nvSpPr>
            <p:cNvPr id="2152" name="Google Shape;2152;p82"/>
            <p:cNvSpPr/>
            <p:nvPr/>
          </p:nvSpPr>
          <p:spPr>
            <a:xfrm>
              <a:off x="8904976" y="1102409"/>
              <a:ext cx="522000" cy="522000"/>
            </a:xfrm>
            <a:prstGeom prst="ellipse">
              <a:avLst/>
            </a:prstGeom>
            <a:solidFill>
              <a:srgbClr val="4A86E8"/>
            </a:solidFill>
            <a:ln cap="flat" cmpd="sng" w="1905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0" lang="en" sz="1000" u="none" cap="none" strike="noStrike">
                  <a:solidFill>
                    <a:srgbClr val="FFFFFF"/>
                  </a:solidFill>
                  <a:latin typeface="Arial"/>
                  <a:ea typeface="Arial"/>
                  <a:cs typeface="Arial"/>
                  <a:sym typeface="Arial"/>
                </a:rPr>
                <a:t>A</a:t>
              </a:r>
              <a:endParaRPr b="0" i="0" sz="1000" u="none" cap="none" strike="noStrike">
                <a:solidFill>
                  <a:srgbClr val="FFFFFF"/>
                </a:solidFill>
                <a:latin typeface="Arial"/>
                <a:ea typeface="Arial"/>
                <a:cs typeface="Arial"/>
                <a:sym typeface="Arial"/>
              </a:endParaRPr>
            </a:p>
          </p:txBody>
        </p:sp>
        <p:cxnSp>
          <p:nvCxnSpPr>
            <p:cNvPr id="2153" name="Google Shape;2153;p82"/>
            <p:cNvCxnSpPr>
              <a:stCxn id="2146" idx="6"/>
              <a:endCxn id="2152" idx="3"/>
            </p:cNvCxnSpPr>
            <p:nvPr/>
          </p:nvCxnSpPr>
          <p:spPr>
            <a:xfrm flipH="1" rot="10800000">
              <a:off x="8429861" y="1547928"/>
              <a:ext cx="551700" cy="323400"/>
            </a:xfrm>
            <a:prstGeom prst="straightConnector1">
              <a:avLst/>
            </a:prstGeom>
            <a:noFill/>
            <a:ln cap="flat" cmpd="sng" w="19050">
              <a:solidFill>
                <a:srgbClr val="FFFFFF"/>
              </a:solidFill>
              <a:prstDash val="solid"/>
              <a:round/>
              <a:headEnd len="sm" w="sm" type="none"/>
              <a:tailEnd len="sm" w="sm" type="none"/>
            </a:ln>
          </p:spPr>
        </p:cxnSp>
      </p:grpSp>
      <p:sp>
        <p:nvSpPr>
          <p:cNvPr id="2154" name="Google Shape;2154;p82"/>
          <p:cNvSpPr txBox="1"/>
          <p:nvPr/>
        </p:nvSpPr>
        <p:spPr>
          <a:xfrm>
            <a:off x="5307908" y="23252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F</a:t>
            </a:r>
            <a:endParaRPr b="0" i="0" sz="2400" u="none" cap="none" strike="noStrike">
              <a:solidFill>
                <a:srgbClr val="4A86E8"/>
              </a:solidFill>
              <a:latin typeface="Shadows Into Light"/>
              <a:ea typeface="Shadows Into Light"/>
              <a:cs typeface="Shadows Into Light"/>
              <a:sym typeface="Shadows Into Light"/>
            </a:endParaRPr>
          </a:p>
        </p:txBody>
      </p:sp>
      <p:sp>
        <p:nvSpPr>
          <p:cNvPr id="2155" name="Google Shape;2155;p82"/>
          <p:cNvSpPr txBox="1"/>
          <p:nvPr/>
        </p:nvSpPr>
        <p:spPr>
          <a:xfrm>
            <a:off x="5688908" y="26300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E</a:t>
            </a:r>
            <a:endParaRPr b="0" i="0" sz="2400" u="none" cap="none" strike="noStrike">
              <a:solidFill>
                <a:srgbClr val="4A86E8"/>
              </a:solidFill>
              <a:latin typeface="Shadows Into Light"/>
              <a:ea typeface="Shadows Into Light"/>
              <a:cs typeface="Shadows Into Light"/>
              <a:sym typeface="Shadows Into Light"/>
            </a:endParaRPr>
          </a:p>
        </p:txBody>
      </p:sp>
      <p:sp>
        <p:nvSpPr>
          <p:cNvPr id="2156" name="Google Shape;2156;p82"/>
          <p:cNvSpPr txBox="1"/>
          <p:nvPr/>
        </p:nvSpPr>
        <p:spPr>
          <a:xfrm>
            <a:off x="6146108" y="23252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G</a:t>
            </a:r>
            <a:endParaRPr b="0" i="0" sz="2400" u="none" cap="none" strike="noStrike">
              <a:solidFill>
                <a:srgbClr val="4A86E8"/>
              </a:solidFill>
              <a:latin typeface="Shadows Into Light"/>
              <a:ea typeface="Shadows Into Light"/>
              <a:cs typeface="Shadows Into Light"/>
              <a:sym typeface="Shadows Into Light"/>
            </a:endParaRPr>
          </a:p>
        </p:txBody>
      </p:sp>
      <p:sp>
        <p:nvSpPr>
          <p:cNvPr id="2157" name="Google Shape;2157;p82"/>
          <p:cNvSpPr txBox="1"/>
          <p:nvPr/>
        </p:nvSpPr>
        <p:spPr>
          <a:xfrm>
            <a:off x="5612708" y="32396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C</a:t>
            </a:r>
            <a:endParaRPr b="0" i="0" sz="2400" u="none" cap="none" strike="noStrike">
              <a:solidFill>
                <a:srgbClr val="4A86E8"/>
              </a:solidFill>
              <a:latin typeface="Shadows Into Light"/>
              <a:ea typeface="Shadows Into Light"/>
              <a:cs typeface="Shadows Into Light"/>
              <a:sym typeface="Shadows Into Light"/>
            </a:endParaRPr>
          </a:p>
        </p:txBody>
      </p:sp>
      <p:sp>
        <p:nvSpPr>
          <p:cNvPr id="2158" name="Google Shape;2158;p82"/>
          <p:cNvSpPr txBox="1"/>
          <p:nvPr/>
        </p:nvSpPr>
        <p:spPr>
          <a:xfrm>
            <a:off x="6222308" y="31634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A</a:t>
            </a:r>
            <a:endParaRPr b="0" i="0" sz="2400" u="none" cap="none" strike="noStrike">
              <a:solidFill>
                <a:srgbClr val="4A86E8"/>
              </a:solidFill>
              <a:latin typeface="Shadows Into Light"/>
              <a:ea typeface="Shadows Into Light"/>
              <a:cs typeface="Shadows Into Light"/>
              <a:sym typeface="Shadows Into Light"/>
            </a:endParaRPr>
          </a:p>
        </p:txBody>
      </p:sp>
      <p:sp>
        <p:nvSpPr>
          <p:cNvPr id="2159" name="Google Shape;2159;p82"/>
          <p:cNvSpPr txBox="1"/>
          <p:nvPr/>
        </p:nvSpPr>
        <p:spPr>
          <a:xfrm>
            <a:off x="6527108" y="2706250"/>
            <a:ext cx="3789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4A86E8"/>
                </a:solidFill>
                <a:latin typeface="Shadows Into Light"/>
                <a:ea typeface="Shadows Into Light"/>
                <a:cs typeface="Shadows Into Light"/>
                <a:sym typeface="Shadows Into Light"/>
              </a:rPr>
              <a:t>B</a:t>
            </a:r>
            <a:endParaRPr b="0" i="0" sz="2400" u="none" cap="none" strike="noStrike">
              <a:solidFill>
                <a:srgbClr val="4A86E8"/>
              </a:solidFill>
              <a:latin typeface="Shadows Into Light"/>
              <a:ea typeface="Shadows Into Light"/>
              <a:cs typeface="Shadows Into Light"/>
              <a:sym typeface="Shadows Into Light"/>
            </a:endParaRPr>
          </a:p>
        </p:txBody>
      </p:sp>
      <p:sp>
        <p:nvSpPr>
          <p:cNvPr id="2160" name="Google Shape;2160;p82"/>
          <p:cNvSpPr txBox="1"/>
          <p:nvPr>
            <p:ph idx="3" type="body"/>
          </p:nvPr>
        </p:nvSpPr>
        <p:spPr>
          <a:xfrm>
            <a:off x="5232525" y="3926075"/>
            <a:ext cx="3706500" cy="83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 DFS wil search </a:t>
            </a:r>
            <a:r>
              <a:rPr b="1" i="1" lang="en">
                <a:solidFill>
                  <a:srgbClr val="FF0000"/>
                </a:solidFill>
              </a:rPr>
              <a:t>all</a:t>
            </a:r>
            <a:r>
              <a:rPr lang="en">
                <a:solidFill>
                  <a:srgbClr val="FF0000"/>
                </a:solidFill>
              </a:rPr>
              <a:t> </a:t>
            </a:r>
            <a:r>
              <a:rPr lang="en"/>
              <a:t>of the vertices that are </a:t>
            </a:r>
            <a:r>
              <a:rPr b="1" i="1" lang="en">
                <a:solidFill>
                  <a:srgbClr val="FF0000"/>
                </a:solidFill>
              </a:rPr>
              <a:t>reachable </a:t>
            </a:r>
            <a:r>
              <a:rPr lang="en"/>
              <a:t>from the starting vertex. If the </a:t>
            </a:r>
            <a:r>
              <a:rPr b="1" i="1" lang="en">
                <a:solidFill>
                  <a:srgbClr val="FF0000"/>
                </a:solidFill>
              </a:rPr>
              <a:t>end</a:t>
            </a:r>
            <a:r>
              <a:rPr lang="en">
                <a:solidFill>
                  <a:srgbClr val="FF0000"/>
                </a:solidFill>
              </a:rPr>
              <a:t> </a:t>
            </a:r>
            <a:r>
              <a:rPr lang="en"/>
              <a:t>vertex is in the set after the search is complete, then a path exists!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40">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1"/>
                                        </p:tgtEl>
                                        <p:attrNameLst>
                                          <p:attrName>style.visibility</p:attrName>
                                        </p:attrNameLst>
                                      </p:cBhvr>
                                      <p:to>
                                        <p:strVal val="visible"/>
                                      </p:to>
                                    </p:set>
                                    <p:animEffect filter="fade" transition="in">
                                      <p:cBhvr>
                                        <p:cTn dur="1000"/>
                                        <p:tgtEl>
                                          <p:spTgt spid="214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142"/>
                                        </p:tgtEl>
                                        <p:attrNameLst>
                                          <p:attrName>style.visibility</p:attrName>
                                        </p:attrNameLst>
                                      </p:cBhvr>
                                      <p:to>
                                        <p:strVal val="visible"/>
                                      </p:to>
                                    </p:set>
                                    <p:animEffect filter="fade" transition="in">
                                      <p:cBhvr>
                                        <p:cTn dur="1000"/>
                                        <p:tgtEl>
                                          <p:spTgt spid="2142"/>
                                        </p:tgtEl>
                                      </p:cBhvr>
                                    </p:animEffect>
                                  </p:childTnLst>
                                </p:cTn>
                              </p:par>
                              <p:par>
                                <p:cTn fill="hold" nodeType="withEffect" presetClass="entr" presetID="10" presetSubtype="0">
                                  <p:stCondLst>
                                    <p:cond delay="0"/>
                                  </p:stCondLst>
                                  <p:childTnLst>
                                    <p:set>
                                      <p:cBhvr>
                                        <p:cTn dur="1" fill="hold">
                                          <p:stCondLst>
                                            <p:cond delay="0"/>
                                          </p:stCondLst>
                                        </p:cTn>
                                        <p:tgtEl>
                                          <p:spTgt spid="2137"/>
                                        </p:tgtEl>
                                        <p:attrNameLst>
                                          <p:attrName>style.visibility</p:attrName>
                                        </p:attrNameLst>
                                      </p:cBhvr>
                                      <p:to>
                                        <p:strVal val="visible"/>
                                      </p:to>
                                    </p:set>
                                    <p:animEffect filter="fade" transition="in">
                                      <p:cBhvr>
                                        <p:cTn dur="1000"/>
                                        <p:tgtEl>
                                          <p:spTgt spid="21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4"/>
                                        </p:tgtEl>
                                        <p:attrNameLst>
                                          <p:attrName>style.visibility</p:attrName>
                                        </p:attrNameLst>
                                      </p:cBhvr>
                                      <p:to>
                                        <p:strVal val="visible"/>
                                      </p:to>
                                    </p:set>
                                    <p:animEffect filter="fade" transition="in">
                                      <p:cBhvr>
                                        <p:cTn dur="1000"/>
                                        <p:tgtEl>
                                          <p:spTgt spid="21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5"/>
                                        </p:tgtEl>
                                        <p:attrNameLst>
                                          <p:attrName>style.visibility</p:attrName>
                                        </p:attrNameLst>
                                      </p:cBhvr>
                                      <p:to>
                                        <p:strVal val="visible"/>
                                      </p:to>
                                    </p:set>
                                    <p:animEffect filter="fade" transition="in">
                                      <p:cBhvr>
                                        <p:cTn dur="1000"/>
                                        <p:tgtEl>
                                          <p:spTgt spid="215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6"/>
                                        </p:tgtEl>
                                        <p:attrNameLst>
                                          <p:attrName>style.visibility</p:attrName>
                                        </p:attrNameLst>
                                      </p:cBhvr>
                                      <p:to>
                                        <p:strVal val="visible"/>
                                      </p:to>
                                    </p:set>
                                    <p:animEffect filter="fade" transition="in">
                                      <p:cBhvr>
                                        <p:cTn dur="1000"/>
                                        <p:tgtEl>
                                          <p:spTgt spid="21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7"/>
                                        </p:tgtEl>
                                        <p:attrNameLst>
                                          <p:attrName>style.visibility</p:attrName>
                                        </p:attrNameLst>
                                      </p:cBhvr>
                                      <p:to>
                                        <p:strVal val="visible"/>
                                      </p:to>
                                    </p:set>
                                    <p:animEffect filter="fade" transition="in">
                                      <p:cBhvr>
                                        <p:cTn dur="1000"/>
                                        <p:tgtEl>
                                          <p:spTgt spid="21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8"/>
                                        </p:tgtEl>
                                        <p:attrNameLst>
                                          <p:attrName>style.visibility</p:attrName>
                                        </p:attrNameLst>
                                      </p:cBhvr>
                                      <p:to>
                                        <p:strVal val="visible"/>
                                      </p:to>
                                    </p:set>
                                    <p:animEffect filter="fade" transition="in">
                                      <p:cBhvr>
                                        <p:cTn dur="1000"/>
                                        <p:tgtEl>
                                          <p:spTgt spid="215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59"/>
                                        </p:tgtEl>
                                        <p:attrNameLst>
                                          <p:attrName>style.visibility</p:attrName>
                                        </p:attrNameLst>
                                      </p:cBhvr>
                                      <p:to>
                                        <p:strVal val="visible"/>
                                      </p:to>
                                    </p:set>
                                    <p:animEffect filter="fade" transition="in">
                                      <p:cBhvr>
                                        <p:cTn dur="1000"/>
                                        <p:tgtEl>
                                          <p:spTgt spid="21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0"/>
                                        </p:tgtEl>
                                        <p:attrNameLst>
                                          <p:attrName>style.visibility</p:attrName>
                                        </p:attrNameLst>
                                      </p:cBhvr>
                                      <p:to>
                                        <p:strVal val="visible"/>
                                      </p:to>
                                    </p:set>
                                    <p:animEffect filter="fade" transition="in">
                                      <p:cBhvr>
                                        <p:cTn dur="1000"/>
                                        <p:tgtEl>
                                          <p:spTgt spid="21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4" name="Shape 2164"/>
        <p:cNvGrpSpPr/>
        <p:nvPr/>
      </p:nvGrpSpPr>
      <p:grpSpPr>
        <a:xfrm>
          <a:off x="0" y="0"/>
          <a:ext cx="0" cy="0"/>
          <a:chOff x="0" y="0"/>
          <a:chExt cx="0" cy="0"/>
        </a:xfrm>
      </p:grpSpPr>
      <p:sp>
        <p:nvSpPr>
          <p:cNvPr id="2165" name="Google Shape;2165;p8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66" name="Google Shape;2166;p83"/>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21</a:t>
            </a:r>
            <a:endParaRPr/>
          </a:p>
        </p:txBody>
      </p:sp>
      <p:sp>
        <p:nvSpPr>
          <p:cNvPr id="2167" name="Google Shape;2167;p83"/>
          <p:cNvSpPr txBox="1"/>
          <p:nvPr/>
        </p:nvSpPr>
        <p:spPr>
          <a:xfrm>
            <a:off x="2980100" y="1847850"/>
            <a:ext cx="5970600" cy="25242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666666"/>
              </a:buClr>
              <a:buSzPts val="1600"/>
              <a:buFont typeface="Roboto"/>
              <a:buChar char="●"/>
            </a:pPr>
            <a:r>
              <a:rPr b="0" i="0" lang="en" sz="1600" u="none" cap="none" strike="noStrike">
                <a:solidFill>
                  <a:srgbClr val="666666"/>
                </a:solidFill>
                <a:latin typeface="Roboto"/>
                <a:ea typeface="Roboto"/>
                <a:cs typeface="Roboto"/>
                <a:sym typeface="Roboto"/>
              </a:rPr>
              <a:t>Open the </a:t>
            </a:r>
            <a:r>
              <a:rPr b="0" i="0" lang="en" sz="1600" u="none" cap="none" strike="noStrike">
                <a:solidFill>
                  <a:srgbClr val="FF0000"/>
                </a:solidFill>
                <a:latin typeface="Courier New"/>
                <a:ea typeface="Courier New"/>
                <a:cs typeface="Courier New"/>
                <a:sym typeface="Courier New"/>
              </a:rPr>
              <a:t>Graph</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interface and define a new </a:t>
            </a:r>
            <a:r>
              <a:rPr b="0" i="0" lang="en" sz="1600" u="none" cap="none" strike="noStrike">
                <a:solidFill>
                  <a:srgbClr val="FF0000"/>
                </a:solidFill>
                <a:latin typeface="Courier New"/>
                <a:ea typeface="Courier New"/>
                <a:cs typeface="Courier New"/>
                <a:sym typeface="Courier New"/>
              </a:rPr>
              <a:t>default</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method named </a:t>
            </a:r>
            <a:r>
              <a:rPr b="0" i="0" lang="en" sz="1600" u="none" cap="none" strike="noStrike">
                <a:solidFill>
                  <a:srgbClr val="FF0000"/>
                </a:solidFill>
                <a:latin typeface="Courier New"/>
                <a:ea typeface="Courier New"/>
                <a:cs typeface="Courier New"/>
                <a:sym typeface="Courier New"/>
              </a:rPr>
              <a:t>dfSearch</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that declares </a:t>
            </a:r>
            <a:r>
              <a:rPr b="1" i="1" lang="en" sz="1600" u="none" cap="none" strike="noStrike">
                <a:solidFill>
                  <a:srgbClr val="FF0000"/>
                </a:solidFill>
                <a:latin typeface="Roboto"/>
                <a:ea typeface="Roboto"/>
                <a:cs typeface="Roboto"/>
                <a:sym typeface="Roboto"/>
              </a:rPr>
              <a:t>parameters</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for </a:t>
            </a:r>
            <a:r>
              <a:rPr b="0" i="0" lang="en" sz="1600" u="none" cap="none" strike="noStrike">
                <a:solidFill>
                  <a:srgbClr val="FF0000"/>
                </a:solidFill>
                <a:latin typeface="Courier New"/>
                <a:ea typeface="Courier New"/>
                <a:cs typeface="Courier New"/>
                <a:sym typeface="Courier New"/>
              </a:rPr>
              <a:t>start</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and </a:t>
            </a:r>
            <a:r>
              <a:rPr b="0" i="0" lang="en" sz="1600" u="none" cap="none" strike="noStrike">
                <a:solidFill>
                  <a:srgbClr val="FF0000"/>
                </a:solidFill>
                <a:latin typeface="Courier New"/>
                <a:ea typeface="Courier New"/>
                <a:cs typeface="Courier New"/>
                <a:sym typeface="Courier New"/>
              </a:rPr>
              <a:t>end</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values and </a:t>
            </a:r>
            <a:r>
              <a:rPr b="1" i="1" lang="en" sz="1600" u="none" cap="none" strike="noStrike">
                <a:solidFill>
                  <a:srgbClr val="FF0000"/>
                </a:solidFill>
                <a:latin typeface="Roboto"/>
                <a:ea typeface="Roboto"/>
                <a:cs typeface="Roboto"/>
                <a:sym typeface="Roboto"/>
              </a:rPr>
              <a:t>returns </a:t>
            </a:r>
            <a:r>
              <a:rPr b="0" i="0" lang="en" sz="1600" u="none" cap="none" strike="noStrike">
                <a:solidFill>
                  <a:srgbClr val="666666"/>
                </a:solidFill>
                <a:latin typeface="Roboto"/>
                <a:ea typeface="Roboto"/>
                <a:cs typeface="Roboto"/>
                <a:sym typeface="Roboto"/>
              </a:rPr>
              <a:t>a </a:t>
            </a:r>
            <a:r>
              <a:rPr b="0" i="0" lang="en" sz="1600" u="none" cap="none" strike="noStrike">
                <a:solidFill>
                  <a:srgbClr val="FF0000"/>
                </a:solidFill>
                <a:latin typeface="Courier New"/>
                <a:ea typeface="Courier New"/>
                <a:cs typeface="Courier New"/>
                <a:sym typeface="Courier New"/>
              </a:rPr>
              <a:t>boolean</a:t>
            </a:r>
            <a:r>
              <a:rPr b="0" i="0" lang="en" sz="1600" u="none" cap="none" strike="noStrike">
                <a:solidFill>
                  <a:srgbClr val="666666"/>
                </a:solidFill>
                <a:latin typeface="Roboto"/>
                <a:ea typeface="Roboto"/>
                <a:cs typeface="Roboto"/>
                <a:sym typeface="Roboto"/>
              </a:rPr>
              <a:t>.</a:t>
            </a:r>
            <a:endParaRPr b="0" i="0" sz="160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Use the provided UML as a guide for your method signature.</a:t>
            </a:r>
            <a:endParaRPr b="0" i="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Throw an </a:t>
            </a:r>
            <a:r>
              <a:rPr b="0" i="0" lang="en" u="none" cap="none" strike="noStrike">
                <a:solidFill>
                  <a:srgbClr val="FF0000"/>
                </a:solidFill>
                <a:latin typeface="Courier New"/>
                <a:ea typeface="Courier New"/>
                <a:cs typeface="Courier New"/>
                <a:sym typeface="Courier New"/>
              </a:rPr>
              <a:t>UnsupportedOperationException</a:t>
            </a:r>
            <a:r>
              <a:rPr b="0" i="0" lang="en" u="none" cap="none" strike="noStrike">
                <a:solidFill>
                  <a:srgbClr val="FF0000"/>
                </a:solidFill>
                <a:latin typeface="Roboto"/>
                <a:ea typeface="Roboto"/>
                <a:cs typeface="Roboto"/>
                <a:sym typeface="Roboto"/>
              </a:rPr>
              <a:t> </a:t>
            </a:r>
            <a:r>
              <a:rPr b="0" i="0" lang="en" u="none" cap="none" strike="noStrike">
                <a:solidFill>
                  <a:srgbClr val="666666"/>
                </a:solidFill>
                <a:latin typeface="Roboto"/>
                <a:ea typeface="Roboto"/>
                <a:cs typeface="Roboto"/>
                <a:sym typeface="Roboto"/>
              </a:rPr>
              <a:t>from this default implementation.</a:t>
            </a:r>
            <a:endParaRPr b="0" i="0" u="none" cap="none" strike="noStrike">
              <a:solidFill>
                <a:srgbClr val="666666"/>
              </a:solidFill>
              <a:latin typeface="Roboto"/>
              <a:ea typeface="Roboto"/>
              <a:cs typeface="Roboto"/>
              <a:sym typeface="Roboto"/>
            </a:endParaRPr>
          </a:p>
          <a:p>
            <a:pPr indent="-330200" lvl="0" marL="457200" marR="0" rtl="0" algn="l">
              <a:lnSpc>
                <a:spcPct val="115000"/>
              </a:lnSpc>
              <a:spcBef>
                <a:spcPts val="0"/>
              </a:spcBef>
              <a:spcAft>
                <a:spcPts val="0"/>
              </a:spcAft>
              <a:buClr>
                <a:srgbClr val="666666"/>
              </a:buClr>
              <a:buSzPts val="1600"/>
              <a:buFont typeface="Roboto"/>
              <a:buChar char="●"/>
            </a:pPr>
            <a:r>
              <a:rPr b="1" i="1" lang="en" sz="1600" u="none" cap="none" strike="noStrike">
                <a:solidFill>
                  <a:srgbClr val="FF0000"/>
                </a:solidFill>
                <a:latin typeface="Roboto"/>
                <a:ea typeface="Roboto"/>
                <a:cs typeface="Roboto"/>
                <a:sym typeface="Roboto"/>
              </a:rPr>
              <a:t>Run</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the provided </a:t>
            </a:r>
            <a:r>
              <a:rPr b="0" i="0" lang="en" sz="1600" u="none" cap="none" strike="noStrike">
                <a:solidFill>
                  <a:srgbClr val="FF0000"/>
                </a:solidFill>
                <a:latin typeface="Courier New"/>
                <a:ea typeface="Courier New"/>
                <a:cs typeface="Courier New"/>
                <a:sym typeface="Courier New"/>
              </a:rPr>
              <a:t>DFSearchTest</a:t>
            </a:r>
            <a:r>
              <a:rPr b="0" i="0" lang="en" sz="1600" u="none" cap="none" strike="noStrike">
                <a:solidFill>
                  <a:srgbClr val="666666"/>
                </a:solidFill>
                <a:latin typeface="Roboto"/>
                <a:ea typeface="Roboto"/>
                <a:cs typeface="Roboto"/>
                <a:sym typeface="Roboto"/>
              </a:rPr>
              <a:t> JUnit test.</a:t>
            </a:r>
            <a:endParaRPr b="0" i="0" sz="160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The tests should </a:t>
            </a:r>
            <a:r>
              <a:rPr b="1" i="1" lang="en" u="none" cap="none" strike="noStrike">
                <a:solidFill>
                  <a:srgbClr val="FF0000"/>
                </a:solidFill>
                <a:latin typeface="Roboto"/>
                <a:ea typeface="Roboto"/>
                <a:cs typeface="Roboto"/>
                <a:sym typeface="Roboto"/>
              </a:rPr>
              <a:t>run</a:t>
            </a:r>
            <a:r>
              <a:rPr b="0" i="0" lang="en" u="none" cap="none" strike="noStrike">
                <a:solidFill>
                  <a:srgbClr val="666666"/>
                </a:solidFill>
                <a:latin typeface="Roboto"/>
                <a:ea typeface="Roboto"/>
                <a:cs typeface="Roboto"/>
                <a:sym typeface="Roboto"/>
              </a:rPr>
              <a:t>, but will </a:t>
            </a:r>
            <a:r>
              <a:rPr b="1" i="1" lang="en" u="none" cap="none" strike="noStrike">
                <a:solidFill>
                  <a:srgbClr val="FF0000"/>
                </a:solidFill>
                <a:latin typeface="Roboto"/>
                <a:ea typeface="Roboto"/>
                <a:cs typeface="Roboto"/>
                <a:sym typeface="Roboto"/>
              </a:rPr>
              <a:t>fail</a:t>
            </a:r>
            <a:r>
              <a:rPr b="0" i="0" lang="en" u="none" cap="none" strike="noStrike">
                <a:solidFill>
                  <a:srgbClr val="FF0000"/>
                </a:solidFill>
                <a:latin typeface="Roboto"/>
                <a:ea typeface="Roboto"/>
                <a:cs typeface="Roboto"/>
                <a:sym typeface="Roboto"/>
              </a:rPr>
              <a:t> </a:t>
            </a:r>
            <a:r>
              <a:rPr b="0" i="0" lang="en" u="none" cap="none" strike="noStrike">
                <a:solidFill>
                  <a:srgbClr val="666666"/>
                </a:solidFill>
                <a:latin typeface="Roboto"/>
                <a:ea typeface="Roboto"/>
                <a:cs typeface="Roboto"/>
                <a:sym typeface="Roboto"/>
              </a:rPr>
              <a:t>when the exception is thrown.</a:t>
            </a:r>
            <a:endParaRPr b="0" i="0" u="none" cap="none" strike="noStrike">
              <a:solidFill>
                <a:srgbClr val="666666"/>
              </a:solidFill>
              <a:latin typeface="Roboto"/>
              <a:ea typeface="Roboto"/>
              <a:cs typeface="Roboto"/>
              <a:sym typeface="Roboto"/>
            </a:endParaRPr>
          </a:p>
        </p:txBody>
      </p:sp>
      <p:graphicFrame>
        <p:nvGraphicFramePr>
          <p:cNvPr id="2168" name="Google Shape;2168;p83"/>
          <p:cNvGraphicFramePr/>
          <p:nvPr/>
        </p:nvGraphicFramePr>
        <p:xfrm>
          <a:off x="174250" y="1847850"/>
          <a:ext cx="3000000" cy="3000000"/>
        </p:xfrm>
        <a:graphic>
          <a:graphicData uri="http://schemas.openxmlformats.org/drawingml/2006/table">
            <a:tbl>
              <a:tblPr>
                <a:noFill/>
                <a:tableStyleId>{F61E8307-4E6B-4154-8BF4-D3231BAD3CED}</a:tableStyleId>
              </a:tblPr>
              <a:tblGrid>
                <a:gridCol w="2805850"/>
              </a:tblGrid>
              <a:tr h="257275">
                <a:tc>
                  <a:txBody>
                    <a:bodyPr/>
                    <a:lstStyle/>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&lt;&lt;interface&gt;&gt;</a:t>
                      </a:r>
                      <a:endParaRPr i="1" sz="10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Graph&lt;E&gt;</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50">
                <a:tc>
                  <a:txBody>
                    <a:bodyPr/>
                    <a:lstStyle/>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add(value: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contains(value: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size(): int</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connectUndirected(a: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connected(a: E, b: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bfSearch(start: E, end: E): boolean</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bfPath(start: E, end: E): List&lt;E&gt;</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 dfSearch(start: E, end: E): boolean</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169" name="Google Shape;2169;p8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As with the BFS and BFS-Path algorithms, we'll need to add a new method to the </a:t>
            </a:r>
            <a:r>
              <a:rPr lang="en">
                <a:latin typeface="Courier New"/>
                <a:ea typeface="Courier New"/>
                <a:cs typeface="Courier New"/>
                <a:sym typeface="Courier New"/>
              </a:rPr>
              <a:t>Graph</a:t>
            </a:r>
            <a:r>
              <a:rPr lang="en"/>
              <a:t> interface so that we can attempt a Depth-First Search on any </a:t>
            </a:r>
            <a:r>
              <a:rPr lang="en">
                <a:latin typeface="Courier New"/>
                <a:ea typeface="Courier New"/>
                <a:cs typeface="Courier New"/>
                <a:sym typeface="Courier New"/>
              </a:rPr>
              <a:t>Graph</a:t>
            </a:r>
            <a:r>
              <a:rPr lang="en"/>
              <a:t> implementation. We should provide a default implementation so as to avoid breaking our existing implementation.</a:t>
            </a:r>
            <a:endParaRPr/>
          </a:p>
        </p:txBody>
      </p:sp>
      <p:sp>
        <p:nvSpPr>
          <p:cNvPr id="2170" name="Google Shape;2170;p8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Adding a Default DFS Method to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4" name="Shape 2174"/>
        <p:cNvGrpSpPr/>
        <p:nvPr/>
      </p:nvGrpSpPr>
      <p:grpSpPr>
        <a:xfrm>
          <a:off x="0" y="0"/>
          <a:ext cx="0" cy="0"/>
          <a:chOff x="0" y="0"/>
          <a:chExt cx="0" cy="0"/>
        </a:xfrm>
      </p:grpSpPr>
      <p:pic>
        <p:nvPicPr>
          <p:cNvPr id="2175" name="Google Shape;2175;p84"/>
          <p:cNvPicPr preferRelativeResize="0"/>
          <p:nvPr/>
        </p:nvPicPr>
        <p:blipFill rotWithShape="1">
          <a:blip r:embed="rId3">
            <a:alphaModFix/>
          </a:blip>
          <a:srcRect b="0" l="0" r="0" t="0"/>
          <a:stretch/>
        </p:blipFill>
        <p:spPr>
          <a:xfrm>
            <a:off x="272650" y="1502000"/>
            <a:ext cx="2257926" cy="2622026"/>
          </a:xfrm>
          <a:prstGeom prst="rect">
            <a:avLst/>
          </a:prstGeom>
          <a:noFill/>
          <a:ln>
            <a:noFill/>
          </a:ln>
        </p:spPr>
      </p:pic>
      <p:sp>
        <p:nvSpPr>
          <p:cNvPr id="2176" name="Google Shape;2176;p84"/>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A Recursive DFS Helper Method</a:t>
            </a:r>
            <a:endParaRPr/>
          </a:p>
        </p:txBody>
      </p:sp>
      <p:sp>
        <p:nvSpPr>
          <p:cNvPr id="2177" name="Google Shape;2177;p84"/>
          <p:cNvSpPr txBox="1"/>
          <p:nvPr>
            <p:ph idx="1" type="body"/>
          </p:nvPr>
        </p:nvSpPr>
        <p:spPr>
          <a:xfrm>
            <a:off x="65250" y="731625"/>
            <a:ext cx="89559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Depth-First Search can be implemented using either iteration or recursion. Let's write a recursive implementation beginning with a private helper method that will do most of the work.</a:t>
            </a:r>
            <a:endParaRPr/>
          </a:p>
        </p:txBody>
      </p:sp>
      <p:sp>
        <p:nvSpPr>
          <p:cNvPr id="2178" name="Google Shape;2178;p8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79" name="Google Shape;2179;p84"/>
          <p:cNvSpPr txBox="1"/>
          <p:nvPr>
            <p:ph idx="2" type="body"/>
          </p:nvPr>
        </p:nvSpPr>
        <p:spPr>
          <a:xfrm>
            <a:off x="2904925" y="1580750"/>
            <a:ext cx="6021300" cy="2415900"/>
          </a:xfrm>
          <a:prstGeom prst="rect">
            <a:avLst/>
          </a:prstGeom>
          <a:noFill/>
          <a:ln>
            <a:noFill/>
          </a:ln>
        </p:spPr>
        <p:txBody>
          <a:bodyPr anchorCtr="0" anchor="t" bIns="91425" lIns="91425" spcFirstLastPara="1" rIns="91425" wrap="square" tIns="91425">
            <a:spAutoFit/>
          </a:bodyPr>
          <a:lstStyle/>
          <a:p>
            <a:pPr indent="-336550" lvl="0" marL="457200" rtl="0" algn="l">
              <a:lnSpc>
                <a:spcPct val="115000"/>
              </a:lnSpc>
              <a:spcBef>
                <a:spcPts val="0"/>
              </a:spcBef>
              <a:spcAft>
                <a:spcPts val="0"/>
              </a:spcAft>
              <a:buSzPts val="1700"/>
              <a:buChar char="●"/>
            </a:pPr>
            <a:r>
              <a:rPr lang="en" sz="1700"/>
              <a:t>Open the </a:t>
            </a:r>
            <a:r>
              <a:rPr lang="en" sz="1700">
                <a:solidFill>
                  <a:srgbClr val="FF0000"/>
                </a:solidFill>
                <a:latin typeface="Courier New"/>
                <a:ea typeface="Courier New"/>
                <a:cs typeface="Courier New"/>
                <a:sym typeface="Courier New"/>
              </a:rPr>
              <a:t>AdjacencyGraph</a:t>
            </a:r>
            <a:r>
              <a:rPr lang="en" sz="1700">
                <a:solidFill>
                  <a:srgbClr val="FF0000"/>
                </a:solidFill>
              </a:rPr>
              <a:t> </a:t>
            </a:r>
            <a:r>
              <a:rPr lang="en" sz="1700"/>
              <a:t>class and define a </a:t>
            </a:r>
            <a:r>
              <a:rPr lang="en" sz="1700">
                <a:solidFill>
                  <a:srgbClr val="FF0000"/>
                </a:solidFill>
                <a:latin typeface="Courier New"/>
                <a:ea typeface="Courier New"/>
                <a:cs typeface="Courier New"/>
                <a:sym typeface="Courier New"/>
              </a:rPr>
              <a:t>private</a:t>
            </a:r>
            <a:r>
              <a:rPr lang="en" sz="1700"/>
              <a:t> method named "</a:t>
            </a:r>
            <a:r>
              <a:rPr lang="en" sz="1700">
                <a:solidFill>
                  <a:srgbClr val="FF0000"/>
                </a:solidFill>
                <a:latin typeface="Courier New"/>
                <a:ea typeface="Courier New"/>
                <a:cs typeface="Courier New"/>
                <a:sym typeface="Courier New"/>
              </a:rPr>
              <a:t>visitDFS</a:t>
            </a:r>
            <a:r>
              <a:rPr lang="en" sz="1700"/>
              <a:t>" that declares parameters for a </a:t>
            </a:r>
            <a:r>
              <a:rPr lang="en" sz="1700">
                <a:solidFill>
                  <a:srgbClr val="FF0000"/>
                </a:solidFill>
                <a:latin typeface="Courier New"/>
                <a:ea typeface="Courier New"/>
                <a:cs typeface="Courier New"/>
                <a:sym typeface="Courier New"/>
              </a:rPr>
              <a:t>vertex</a:t>
            </a:r>
            <a:r>
              <a:rPr lang="en" sz="1700">
                <a:solidFill>
                  <a:srgbClr val="FF0000"/>
                </a:solidFill>
              </a:rPr>
              <a:t> </a:t>
            </a:r>
            <a:r>
              <a:rPr lang="en" sz="1700"/>
              <a:t>and a set of previously </a:t>
            </a:r>
            <a:r>
              <a:rPr lang="en" sz="1700">
                <a:solidFill>
                  <a:srgbClr val="FF0000"/>
                </a:solidFill>
                <a:latin typeface="Courier New"/>
                <a:ea typeface="Courier New"/>
                <a:cs typeface="Courier New"/>
                <a:sym typeface="Courier New"/>
              </a:rPr>
              <a:t>visited</a:t>
            </a:r>
            <a:r>
              <a:rPr lang="en" sz="1700">
                <a:solidFill>
                  <a:srgbClr val="FF0000"/>
                </a:solidFill>
              </a:rPr>
              <a:t> </a:t>
            </a:r>
            <a:r>
              <a:rPr lang="en" sz="1700"/>
              <a:t>vertices.</a:t>
            </a:r>
            <a:endParaRPr b="1" i="1" sz="1700"/>
          </a:p>
          <a:p>
            <a:pPr indent="-323850" lvl="1" marL="914400" rtl="0" algn="l">
              <a:lnSpc>
                <a:spcPct val="115000"/>
              </a:lnSpc>
              <a:spcBef>
                <a:spcPts val="0"/>
              </a:spcBef>
              <a:spcAft>
                <a:spcPts val="0"/>
              </a:spcAft>
              <a:buSzPts val="1500"/>
              <a:buChar char="○"/>
            </a:pPr>
            <a:r>
              <a:rPr lang="en" sz="1500"/>
              <a:t>For each of the </a:t>
            </a:r>
            <a:r>
              <a:rPr lang="en" sz="1500">
                <a:latin typeface="Courier New"/>
                <a:ea typeface="Courier New"/>
                <a:cs typeface="Courier New"/>
                <a:sym typeface="Courier New"/>
              </a:rPr>
              <a:t>vertex</a:t>
            </a:r>
            <a:r>
              <a:rPr lang="en" sz="1500"/>
              <a:t>'s neighbors </a:t>
            </a:r>
            <a:r>
              <a:rPr b="1" i="1" lang="en" sz="1500">
                <a:solidFill>
                  <a:srgbClr val="FF0000"/>
                </a:solidFill>
              </a:rPr>
              <a:t>N</a:t>
            </a:r>
            <a:r>
              <a:rPr lang="en" sz="1500"/>
              <a:t> that is </a:t>
            </a:r>
            <a:r>
              <a:rPr lang="en" sz="1500">
                <a:solidFill>
                  <a:srgbClr val="FF0000"/>
                </a:solidFill>
              </a:rPr>
              <a:t>not </a:t>
            </a:r>
            <a:r>
              <a:rPr lang="en" sz="1500"/>
              <a:t>already in the </a:t>
            </a:r>
            <a:r>
              <a:rPr lang="en" sz="1500">
                <a:latin typeface="Courier New"/>
                <a:ea typeface="Courier New"/>
                <a:cs typeface="Courier New"/>
                <a:sym typeface="Courier New"/>
              </a:rPr>
              <a:t>visited</a:t>
            </a:r>
            <a:r>
              <a:rPr lang="en" sz="1500"/>
              <a:t> set:</a:t>
            </a:r>
            <a:endParaRPr sz="1500"/>
          </a:p>
          <a:p>
            <a:pPr indent="-323850" lvl="2" marL="1371600" rtl="0" algn="l">
              <a:lnSpc>
                <a:spcPct val="115000"/>
              </a:lnSpc>
              <a:spcBef>
                <a:spcPts val="0"/>
              </a:spcBef>
              <a:spcAft>
                <a:spcPts val="0"/>
              </a:spcAft>
              <a:buSzPts val="1500"/>
              <a:buChar char="■"/>
            </a:pPr>
            <a:r>
              <a:rPr b="1" i="1" lang="en" sz="1500">
                <a:solidFill>
                  <a:srgbClr val="FF0000"/>
                </a:solidFill>
              </a:rPr>
              <a:t>Add N</a:t>
            </a:r>
            <a:r>
              <a:rPr lang="en" sz="1500"/>
              <a:t> to the </a:t>
            </a:r>
            <a:r>
              <a:rPr lang="en" sz="1500">
                <a:latin typeface="Courier New"/>
                <a:ea typeface="Courier New"/>
                <a:cs typeface="Courier New"/>
                <a:sym typeface="Courier New"/>
              </a:rPr>
              <a:t>visited</a:t>
            </a:r>
            <a:r>
              <a:rPr lang="en" sz="1500"/>
              <a:t> set.</a:t>
            </a:r>
            <a:endParaRPr sz="1500"/>
          </a:p>
          <a:p>
            <a:pPr indent="-323850" lvl="2" marL="1371600" rtl="0" algn="l">
              <a:lnSpc>
                <a:spcPct val="115000"/>
              </a:lnSpc>
              <a:spcBef>
                <a:spcPts val="0"/>
              </a:spcBef>
              <a:spcAft>
                <a:spcPts val="0"/>
              </a:spcAft>
              <a:buSzPts val="1500"/>
              <a:buChar char="■"/>
            </a:pPr>
            <a:r>
              <a:rPr lang="en" sz="1500"/>
              <a:t>Make a </a:t>
            </a:r>
            <a:r>
              <a:rPr b="1" i="1" lang="en" sz="1500">
                <a:solidFill>
                  <a:srgbClr val="FF0000"/>
                </a:solidFill>
              </a:rPr>
              <a:t>recursive call</a:t>
            </a:r>
            <a:r>
              <a:rPr lang="en" sz="1500"/>
              <a:t> with </a:t>
            </a:r>
            <a:r>
              <a:rPr b="1" i="1" lang="en" sz="1500">
                <a:solidFill>
                  <a:srgbClr val="FF0000"/>
                </a:solidFill>
              </a:rPr>
              <a:t>N</a:t>
            </a:r>
            <a:r>
              <a:rPr lang="en" sz="1500">
                <a:solidFill>
                  <a:srgbClr val="FF0000"/>
                </a:solidFill>
              </a:rPr>
              <a:t> </a:t>
            </a:r>
            <a:r>
              <a:rPr lang="en" sz="1500"/>
              <a:t>and the </a:t>
            </a:r>
            <a:r>
              <a:rPr lang="en" sz="1500">
                <a:latin typeface="Courier New"/>
                <a:ea typeface="Courier New"/>
                <a:cs typeface="Courier New"/>
                <a:sym typeface="Courier New"/>
              </a:rPr>
              <a:t>visited</a:t>
            </a:r>
            <a:r>
              <a:rPr lang="en" sz="1500"/>
              <a:t> set.</a:t>
            </a:r>
            <a:endParaRPr sz="1500"/>
          </a:p>
        </p:txBody>
      </p:sp>
      <p:sp>
        <p:nvSpPr>
          <p:cNvPr id="2180" name="Google Shape;2180;p84"/>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22</a:t>
            </a:r>
            <a:endParaRPr/>
          </a:p>
        </p:txBody>
      </p:sp>
      <p:sp>
        <p:nvSpPr>
          <p:cNvPr id="2181" name="Google Shape;2181;p84"/>
          <p:cNvSpPr txBox="1"/>
          <p:nvPr/>
        </p:nvSpPr>
        <p:spPr>
          <a:xfrm>
            <a:off x="130600" y="4124025"/>
            <a:ext cx="2660700" cy="852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Instead of searching </a:t>
            </a:r>
            <a:r>
              <a:rPr b="1" i="1" lang="en" sz="1200" u="none" cap="none" strike="noStrike">
                <a:solidFill>
                  <a:srgbClr val="FF0000"/>
                </a:solidFill>
                <a:latin typeface="Arial"/>
                <a:ea typeface="Arial"/>
                <a:cs typeface="Arial"/>
                <a:sym typeface="Arial"/>
              </a:rPr>
              <a:t>all</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of the immediate neighbors of a vertex, DFS picks </a:t>
            </a:r>
            <a:r>
              <a:rPr b="1" i="1" lang="en" sz="1200" u="none" cap="none" strike="noStrike">
                <a:solidFill>
                  <a:srgbClr val="FF0000"/>
                </a:solidFill>
                <a:latin typeface="Arial"/>
                <a:ea typeface="Arial"/>
                <a:cs typeface="Arial"/>
                <a:sym typeface="Arial"/>
              </a:rPr>
              <a:t>one</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neighbor, and then </a:t>
            </a:r>
            <a:r>
              <a:rPr b="1" i="1" lang="en" sz="1200" u="none" cap="none" strike="noStrike">
                <a:solidFill>
                  <a:srgbClr val="FF0000"/>
                </a:solidFill>
                <a:latin typeface="Arial"/>
                <a:ea typeface="Arial"/>
                <a:cs typeface="Arial"/>
                <a:sym typeface="Arial"/>
              </a:rPr>
              <a:t>one</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of its neighbors, and so on. </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5" name="Shape 2185"/>
        <p:cNvGrpSpPr/>
        <p:nvPr/>
      </p:nvGrpSpPr>
      <p:grpSpPr>
        <a:xfrm>
          <a:off x="0" y="0"/>
          <a:ext cx="0" cy="0"/>
          <a:chOff x="0" y="0"/>
          <a:chExt cx="0" cy="0"/>
        </a:xfrm>
      </p:grpSpPr>
      <p:pic>
        <p:nvPicPr>
          <p:cNvPr id="2186" name="Google Shape;2186;p85"/>
          <p:cNvPicPr preferRelativeResize="0"/>
          <p:nvPr/>
        </p:nvPicPr>
        <p:blipFill rotWithShape="1">
          <a:blip r:embed="rId3">
            <a:alphaModFix/>
          </a:blip>
          <a:srcRect b="0" l="0" r="0" t="0"/>
          <a:stretch/>
        </p:blipFill>
        <p:spPr>
          <a:xfrm>
            <a:off x="272653" y="1364175"/>
            <a:ext cx="2376599" cy="2759851"/>
          </a:xfrm>
          <a:prstGeom prst="rect">
            <a:avLst/>
          </a:prstGeom>
          <a:noFill/>
          <a:ln>
            <a:noFill/>
          </a:ln>
        </p:spPr>
      </p:pic>
      <p:sp>
        <p:nvSpPr>
          <p:cNvPr id="2187" name="Google Shape;2187;p85"/>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Put the Finishing Touches on DFS</a:t>
            </a:r>
            <a:endParaRPr/>
          </a:p>
        </p:txBody>
      </p:sp>
      <p:sp>
        <p:nvSpPr>
          <p:cNvPr id="2188" name="Google Shape;2188;p85"/>
          <p:cNvSpPr txBox="1"/>
          <p:nvPr>
            <p:ph idx="1" type="body"/>
          </p:nvPr>
        </p:nvSpPr>
        <p:spPr>
          <a:xfrm>
            <a:off x="65250" y="731625"/>
            <a:ext cx="8955900" cy="71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The recursive </a:t>
            </a:r>
            <a:r>
              <a:rPr lang="en">
                <a:latin typeface="Courier New"/>
                <a:ea typeface="Courier New"/>
                <a:cs typeface="Courier New"/>
                <a:sym typeface="Courier New"/>
              </a:rPr>
              <a:t>visitDFS</a:t>
            </a:r>
            <a:r>
              <a:rPr lang="en"/>
              <a:t> helper method does most of the work. The main DFS method will only need to create the set of visited vertices and return the final result.</a:t>
            </a:r>
            <a:endParaRPr/>
          </a:p>
        </p:txBody>
      </p:sp>
      <p:sp>
        <p:nvSpPr>
          <p:cNvPr id="2189" name="Google Shape;2189;p8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190" name="Google Shape;2190;p85"/>
          <p:cNvSpPr txBox="1"/>
          <p:nvPr>
            <p:ph idx="2" type="body"/>
          </p:nvPr>
        </p:nvSpPr>
        <p:spPr>
          <a:xfrm>
            <a:off x="2912400" y="1653775"/>
            <a:ext cx="6058800" cy="22434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Open the </a:t>
            </a:r>
            <a:r>
              <a:rPr lang="en">
                <a:solidFill>
                  <a:srgbClr val="FF0000"/>
                </a:solidFill>
                <a:latin typeface="Courier New"/>
                <a:ea typeface="Courier New"/>
                <a:cs typeface="Courier New"/>
                <a:sym typeface="Courier New"/>
              </a:rPr>
              <a:t>AdjacencyGraph</a:t>
            </a:r>
            <a:r>
              <a:rPr lang="en">
                <a:solidFill>
                  <a:srgbClr val="FF0000"/>
                </a:solidFill>
              </a:rPr>
              <a:t> </a:t>
            </a:r>
            <a:r>
              <a:rPr lang="en"/>
              <a:t>class and </a:t>
            </a:r>
            <a:r>
              <a:rPr b="1" i="1" lang="en">
                <a:solidFill>
                  <a:srgbClr val="FF0000"/>
                </a:solidFill>
              </a:rPr>
              <a:t>override</a:t>
            </a:r>
            <a:r>
              <a:rPr lang="en">
                <a:solidFill>
                  <a:srgbClr val="FF0000"/>
                </a:solidFill>
              </a:rPr>
              <a:t> </a:t>
            </a:r>
            <a:r>
              <a:rPr lang="en"/>
              <a:t>the default implementation of </a:t>
            </a:r>
            <a:r>
              <a:rPr lang="en">
                <a:latin typeface="Courier New"/>
                <a:ea typeface="Courier New"/>
                <a:cs typeface="Courier New"/>
                <a:sym typeface="Courier New"/>
              </a:rPr>
              <a:t>dfSearch</a:t>
            </a:r>
            <a:r>
              <a:rPr lang="en"/>
              <a:t> inherited from the </a:t>
            </a:r>
            <a:r>
              <a:rPr lang="en">
                <a:latin typeface="Courier New"/>
                <a:ea typeface="Courier New"/>
                <a:cs typeface="Courier New"/>
                <a:sym typeface="Courier New"/>
              </a:rPr>
              <a:t>Graph</a:t>
            </a:r>
            <a:r>
              <a:rPr lang="en"/>
              <a:t> interface.</a:t>
            </a:r>
            <a:endParaRPr/>
          </a:p>
          <a:p>
            <a:pPr indent="-311150" lvl="0" marL="457200" rtl="0" algn="l">
              <a:lnSpc>
                <a:spcPct val="115000"/>
              </a:lnSpc>
              <a:spcBef>
                <a:spcPts val="0"/>
              </a:spcBef>
              <a:spcAft>
                <a:spcPts val="0"/>
              </a:spcAft>
              <a:buSzPts val="1300"/>
              <a:buChar char="●"/>
            </a:pPr>
            <a:r>
              <a:rPr lang="en"/>
              <a:t>Implement the main DFS algorithm as follows:</a:t>
            </a:r>
            <a:endParaRPr/>
          </a:p>
          <a:p>
            <a:pPr indent="-298450" lvl="1" marL="914400" rtl="0" algn="l">
              <a:lnSpc>
                <a:spcPct val="115000"/>
              </a:lnSpc>
              <a:spcBef>
                <a:spcPts val="0"/>
              </a:spcBef>
              <a:spcAft>
                <a:spcPts val="0"/>
              </a:spcAft>
              <a:buSzPts val="1100"/>
              <a:buChar char="○"/>
            </a:pPr>
            <a:r>
              <a:rPr lang="en"/>
              <a:t>Get the vertices corresponding to the </a:t>
            </a:r>
            <a:r>
              <a:rPr lang="en">
                <a:solidFill>
                  <a:srgbClr val="FF0000"/>
                </a:solidFill>
                <a:latin typeface="Courier New"/>
                <a:ea typeface="Courier New"/>
                <a:cs typeface="Courier New"/>
                <a:sym typeface="Courier New"/>
              </a:rPr>
              <a:t>start</a:t>
            </a:r>
            <a:r>
              <a:rPr lang="en">
                <a:solidFill>
                  <a:srgbClr val="FF0000"/>
                </a:solidFill>
              </a:rPr>
              <a:t> </a:t>
            </a:r>
            <a:r>
              <a:rPr lang="en"/>
              <a:t>and </a:t>
            </a:r>
            <a:r>
              <a:rPr lang="en">
                <a:solidFill>
                  <a:srgbClr val="FF0000"/>
                </a:solidFill>
                <a:latin typeface="Courier New"/>
                <a:ea typeface="Courier New"/>
                <a:cs typeface="Courier New"/>
                <a:sym typeface="Courier New"/>
              </a:rPr>
              <a:t>end</a:t>
            </a:r>
            <a:r>
              <a:rPr lang="en">
                <a:solidFill>
                  <a:srgbClr val="FF0000"/>
                </a:solidFill>
              </a:rPr>
              <a:t> </a:t>
            </a:r>
            <a:r>
              <a:rPr lang="en"/>
              <a:t>values from the graph's map of </a:t>
            </a:r>
            <a:r>
              <a:rPr lang="en">
                <a:solidFill>
                  <a:srgbClr val="FF0000"/>
                </a:solidFill>
                <a:latin typeface="Courier New"/>
                <a:ea typeface="Courier New"/>
                <a:cs typeface="Courier New"/>
                <a:sym typeface="Courier New"/>
              </a:rPr>
              <a:t>vertices</a:t>
            </a:r>
            <a:r>
              <a:rPr lang="en"/>
              <a:t>.</a:t>
            </a:r>
            <a:endParaRPr/>
          </a:p>
          <a:p>
            <a:pPr indent="-298450" lvl="1" marL="914400" rtl="0" algn="l">
              <a:lnSpc>
                <a:spcPct val="115000"/>
              </a:lnSpc>
              <a:spcBef>
                <a:spcPts val="0"/>
              </a:spcBef>
              <a:spcAft>
                <a:spcPts val="0"/>
              </a:spcAft>
              <a:buSzPts val="1100"/>
              <a:buChar char="○"/>
            </a:pPr>
            <a:r>
              <a:rPr lang="en"/>
              <a:t>Create the </a:t>
            </a:r>
            <a:r>
              <a:rPr b="1" i="1" lang="en">
                <a:solidFill>
                  <a:srgbClr val="FF0000"/>
                </a:solidFill>
              </a:rPr>
              <a:t>set</a:t>
            </a:r>
            <a:r>
              <a:rPr lang="en">
                <a:solidFill>
                  <a:srgbClr val="FF0000"/>
                </a:solidFill>
              </a:rPr>
              <a:t> </a:t>
            </a:r>
            <a:r>
              <a:rPr lang="en"/>
              <a:t>of </a:t>
            </a:r>
            <a:r>
              <a:rPr lang="en">
                <a:solidFill>
                  <a:srgbClr val="FF0000"/>
                </a:solidFill>
                <a:latin typeface="Courier New"/>
                <a:ea typeface="Courier New"/>
                <a:cs typeface="Courier New"/>
                <a:sym typeface="Courier New"/>
              </a:rPr>
              <a:t>visited</a:t>
            </a:r>
            <a:r>
              <a:rPr lang="en">
                <a:solidFill>
                  <a:srgbClr val="FF0000"/>
                </a:solidFill>
              </a:rPr>
              <a:t> </a:t>
            </a:r>
            <a:r>
              <a:rPr lang="en"/>
              <a:t>vertices.</a:t>
            </a:r>
            <a:endParaRPr/>
          </a:p>
          <a:p>
            <a:pPr indent="-298450" lvl="1" marL="914400" rtl="0" algn="l">
              <a:lnSpc>
                <a:spcPct val="115000"/>
              </a:lnSpc>
              <a:spcBef>
                <a:spcPts val="0"/>
              </a:spcBef>
              <a:spcAft>
                <a:spcPts val="0"/>
              </a:spcAft>
              <a:buSzPts val="1100"/>
              <a:buChar char="○"/>
            </a:pPr>
            <a:r>
              <a:rPr b="1" i="1" lang="en">
                <a:solidFill>
                  <a:srgbClr val="FF0000"/>
                </a:solidFill>
              </a:rPr>
              <a:t>Add</a:t>
            </a:r>
            <a:r>
              <a:rPr lang="en">
                <a:solidFill>
                  <a:srgbClr val="FF0000"/>
                </a:solidFill>
              </a:rPr>
              <a:t> </a:t>
            </a:r>
            <a:r>
              <a:rPr lang="en"/>
              <a:t>the start vertex to the </a:t>
            </a:r>
            <a:r>
              <a:rPr lang="en">
                <a:latin typeface="Courier New"/>
                <a:ea typeface="Courier New"/>
                <a:cs typeface="Courier New"/>
                <a:sym typeface="Courier New"/>
              </a:rPr>
              <a:t>visited</a:t>
            </a:r>
            <a:r>
              <a:rPr lang="en"/>
              <a:t> set.</a:t>
            </a:r>
            <a:endParaRPr/>
          </a:p>
          <a:p>
            <a:pPr indent="-298450" lvl="1" marL="914400" rtl="0" algn="l">
              <a:lnSpc>
                <a:spcPct val="115000"/>
              </a:lnSpc>
              <a:spcBef>
                <a:spcPts val="0"/>
              </a:spcBef>
              <a:spcAft>
                <a:spcPts val="0"/>
              </a:spcAft>
              <a:buSzPts val="1100"/>
              <a:buChar char="○"/>
            </a:pPr>
            <a:r>
              <a:rPr b="1" i="1" lang="en">
                <a:solidFill>
                  <a:srgbClr val="FF0000"/>
                </a:solidFill>
              </a:rPr>
              <a:t>Call</a:t>
            </a:r>
            <a:r>
              <a:rPr lang="en">
                <a:solidFill>
                  <a:srgbClr val="FF0000"/>
                </a:solidFill>
              </a:rPr>
              <a:t> </a:t>
            </a:r>
            <a:r>
              <a:rPr lang="en"/>
              <a:t>the </a:t>
            </a:r>
            <a:r>
              <a:rPr lang="en">
                <a:solidFill>
                  <a:srgbClr val="FF0000"/>
                </a:solidFill>
                <a:latin typeface="Courier New"/>
                <a:ea typeface="Courier New"/>
                <a:cs typeface="Courier New"/>
                <a:sym typeface="Courier New"/>
              </a:rPr>
              <a:t>visitDFS</a:t>
            </a:r>
            <a:r>
              <a:rPr lang="en">
                <a:solidFill>
                  <a:srgbClr val="FF0000"/>
                </a:solidFill>
              </a:rPr>
              <a:t> </a:t>
            </a:r>
            <a:r>
              <a:rPr lang="en"/>
              <a:t>helper method.</a:t>
            </a:r>
            <a:endParaRPr/>
          </a:p>
          <a:p>
            <a:pPr indent="-298450" lvl="1" marL="914400" rtl="0" algn="l">
              <a:lnSpc>
                <a:spcPct val="115000"/>
              </a:lnSpc>
              <a:spcBef>
                <a:spcPts val="0"/>
              </a:spcBef>
              <a:spcAft>
                <a:spcPts val="0"/>
              </a:spcAft>
              <a:buSzPts val="1100"/>
              <a:buChar char="○"/>
            </a:pPr>
            <a:r>
              <a:rPr b="1" i="1" lang="en">
                <a:solidFill>
                  <a:srgbClr val="FF0000"/>
                </a:solidFill>
              </a:rPr>
              <a:t>Return</a:t>
            </a:r>
            <a:r>
              <a:rPr lang="en">
                <a:solidFill>
                  <a:srgbClr val="FF0000"/>
                </a:solidFill>
              </a:rPr>
              <a:t> </a:t>
            </a:r>
            <a:r>
              <a:rPr lang="en">
                <a:solidFill>
                  <a:srgbClr val="FF0000"/>
                </a:solidFill>
                <a:latin typeface="Courier New"/>
                <a:ea typeface="Courier New"/>
                <a:cs typeface="Courier New"/>
                <a:sym typeface="Courier New"/>
              </a:rPr>
              <a:t>true</a:t>
            </a:r>
            <a:r>
              <a:rPr lang="en">
                <a:solidFill>
                  <a:srgbClr val="FF0000"/>
                </a:solidFill>
              </a:rPr>
              <a:t> </a:t>
            </a:r>
            <a:r>
              <a:rPr lang="en"/>
              <a:t>if the end vertex is in the </a:t>
            </a:r>
            <a:r>
              <a:rPr lang="en">
                <a:latin typeface="Courier New"/>
                <a:ea typeface="Courier New"/>
                <a:cs typeface="Courier New"/>
                <a:sym typeface="Courier New"/>
              </a:rPr>
              <a:t>visited</a:t>
            </a:r>
            <a:r>
              <a:rPr lang="en"/>
              <a:t> set, and </a:t>
            </a:r>
            <a:r>
              <a:rPr lang="en">
                <a:latin typeface="Courier New"/>
                <a:ea typeface="Courier New"/>
                <a:cs typeface="Courier New"/>
                <a:sym typeface="Courier New"/>
              </a:rPr>
              <a:t>false</a:t>
            </a:r>
            <a:r>
              <a:rPr lang="en"/>
              <a:t> otherwise.</a:t>
            </a:r>
            <a:endParaRPr/>
          </a:p>
          <a:p>
            <a:pPr indent="-311150" lvl="0" marL="457200" rtl="0" algn="l">
              <a:lnSpc>
                <a:spcPct val="115000"/>
              </a:lnSpc>
              <a:spcBef>
                <a:spcPts val="0"/>
              </a:spcBef>
              <a:spcAft>
                <a:spcPts val="0"/>
              </a:spcAft>
              <a:buSzPts val="1300"/>
              <a:buChar char="●"/>
            </a:pPr>
            <a:r>
              <a:rPr b="1" i="1" lang="en">
                <a:solidFill>
                  <a:srgbClr val="FF0000"/>
                </a:solidFill>
              </a:rPr>
              <a:t>Test</a:t>
            </a:r>
            <a:r>
              <a:rPr lang="en">
                <a:solidFill>
                  <a:srgbClr val="FF0000"/>
                </a:solidFill>
              </a:rPr>
              <a:t> </a:t>
            </a:r>
            <a:r>
              <a:rPr lang="en"/>
              <a:t>your algorithm using the provided </a:t>
            </a:r>
            <a:r>
              <a:rPr lang="en">
                <a:solidFill>
                  <a:srgbClr val="FF0000"/>
                </a:solidFill>
                <a:latin typeface="Courier New"/>
                <a:ea typeface="Courier New"/>
                <a:cs typeface="Courier New"/>
                <a:sym typeface="Courier New"/>
              </a:rPr>
              <a:t>DFSearchTest</a:t>
            </a:r>
            <a:r>
              <a:rPr lang="en"/>
              <a:t>.</a:t>
            </a:r>
            <a:endParaRPr/>
          </a:p>
        </p:txBody>
      </p:sp>
      <p:sp>
        <p:nvSpPr>
          <p:cNvPr id="2191" name="Google Shape;2191;p85"/>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23</a:t>
            </a:r>
            <a:endParaRPr/>
          </a:p>
        </p:txBody>
      </p:sp>
      <p:sp>
        <p:nvSpPr>
          <p:cNvPr id="2192" name="Google Shape;2192;p85"/>
          <p:cNvSpPr txBox="1"/>
          <p:nvPr/>
        </p:nvSpPr>
        <p:spPr>
          <a:xfrm>
            <a:off x="130600" y="4124025"/>
            <a:ext cx="2660700" cy="852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DFS searches </a:t>
            </a:r>
            <a:r>
              <a:rPr b="1" i="1" lang="en" sz="1200" u="none" cap="none" strike="noStrike">
                <a:solidFill>
                  <a:srgbClr val="FF0000"/>
                </a:solidFill>
                <a:latin typeface="Arial"/>
                <a:ea typeface="Arial"/>
                <a:cs typeface="Arial"/>
                <a:sym typeface="Arial"/>
              </a:rPr>
              <a:t>every</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vertex that is </a:t>
            </a:r>
            <a:r>
              <a:rPr b="1" i="1" lang="en" sz="1200" u="none" cap="none" strike="noStrike">
                <a:solidFill>
                  <a:srgbClr val="FF0000"/>
                </a:solidFill>
                <a:latin typeface="Arial"/>
                <a:ea typeface="Arial"/>
                <a:cs typeface="Arial"/>
                <a:sym typeface="Arial"/>
              </a:rPr>
              <a:t>reachable</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from the start vertex. If a path exists to the end vertex, it will be in the set of </a:t>
            </a:r>
            <a:r>
              <a:rPr b="1" i="1" lang="en" sz="1200" u="none" cap="none" strike="noStrike">
                <a:solidFill>
                  <a:srgbClr val="FF0000"/>
                </a:solidFill>
                <a:latin typeface="Arial"/>
                <a:ea typeface="Arial"/>
                <a:cs typeface="Arial"/>
                <a:sym typeface="Arial"/>
              </a:rPr>
              <a:t>visited</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vertices.</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6" name="Shape 2196"/>
        <p:cNvGrpSpPr/>
        <p:nvPr/>
      </p:nvGrpSpPr>
      <p:grpSpPr>
        <a:xfrm>
          <a:off x="0" y="0"/>
          <a:ext cx="0" cy="0"/>
          <a:chOff x="0" y="0"/>
          <a:chExt cx="0" cy="0"/>
        </a:xfrm>
      </p:grpSpPr>
      <p:sp>
        <p:nvSpPr>
          <p:cNvPr id="2197" name="Google Shape;2197;p86"/>
          <p:cNvSpPr txBox="1"/>
          <p:nvPr>
            <p:ph type="title"/>
          </p:nvPr>
        </p:nvSpPr>
        <p:spPr>
          <a:xfrm>
            <a:off x="311725" y="15733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Path Building</a:t>
            </a:r>
            <a:endParaRPr/>
          </a:p>
        </p:txBody>
      </p:sp>
      <p:sp>
        <p:nvSpPr>
          <p:cNvPr id="2198" name="Google Shape;2198;p86"/>
          <p:cNvSpPr txBox="1"/>
          <p:nvPr>
            <p:ph idx="1" type="body"/>
          </p:nvPr>
        </p:nvSpPr>
        <p:spPr>
          <a:xfrm>
            <a:off x="4492275" y="43725"/>
            <a:ext cx="4311600" cy="5049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As with our initial version of BFS, the current version of DFS tells us whether or not a path </a:t>
            </a:r>
            <a:r>
              <a:rPr b="1" i="1" lang="en">
                <a:solidFill>
                  <a:srgbClr val="FF0000"/>
                </a:solidFill>
              </a:rPr>
              <a:t>exists</a:t>
            </a:r>
            <a:r>
              <a:rPr lang="en"/>
              <a:t>, but not which vertices are included along the path.</a:t>
            </a:r>
            <a:endParaRPr/>
          </a:p>
          <a:p>
            <a:pPr indent="-298450" lvl="1" marL="914400" rtl="0" algn="l">
              <a:lnSpc>
                <a:spcPct val="115000"/>
              </a:lnSpc>
              <a:spcBef>
                <a:spcPts val="0"/>
              </a:spcBef>
              <a:spcAft>
                <a:spcPts val="0"/>
              </a:spcAft>
              <a:buSzPts val="1100"/>
              <a:buChar char="○"/>
            </a:pPr>
            <a:r>
              <a:rPr lang="en"/>
              <a:t>Also like BFS, we will need to modify the current algorithm to construct a path.</a:t>
            </a:r>
            <a:endParaRPr/>
          </a:p>
          <a:p>
            <a:pPr indent="-311150" lvl="0" marL="457200" rtl="0" algn="l">
              <a:lnSpc>
                <a:spcPct val="115000"/>
              </a:lnSpc>
              <a:spcBef>
                <a:spcPts val="1000"/>
              </a:spcBef>
              <a:spcAft>
                <a:spcPts val="0"/>
              </a:spcAft>
              <a:buSzPts val="1300"/>
              <a:buChar char="●"/>
            </a:pPr>
            <a:r>
              <a:rPr lang="en"/>
              <a:t>The </a:t>
            </a:r>
            <a:r>
              <a:rPr b="1" i="1" lang="en">
                <a:solidFill>
                  <a:srgbClr val="FF0000"/>
                </a:solidFill>
              </a:rPr>
              <a:t>DFS path</a:t>
            </a:r>
            <a:r>
              <a:rPr lang="en"/>
              <a:t> algorithm declares parameters for a vertex </a:t>
            </a:r>
            <a:r>
              <a:rPr b="1" i="1" lang="en">
                <a:solidFill>
                  <a:srgbClr val="FF0000"/>
                </a:solidFill>
              </a:rPr>
              <a:t>V</a:t>
            </a:r>
            <a:r>
              <a:rPr lang="en"/>
              <a:t>, the end vertex</a:t>
            </a:r>
            <a:r>
              <a:rPr lang="en">
                <a:solidFill>
                  <a:srgbClr val="FF0000"/>
                </a:solidFill>
              </a:rPr>
              <a:t> </a:t>
            </a:r>
            <a:r>
              <a:rPr b="1" i="1" lang="en">
                <a:solidFill>
                  <a:srgbClr val="FF0000"/>
                </a:solidFill>
              </a:rPr>
              <a:t>E</a:t>
            </a:r>
            <a:r>
              <a:rPr lang="en"/>
              <a:t>, and a set of previously</a:t>
            </a:r>
            <a:r>
              <a:rPr lang="en">
                <a:solidFill>
                  <a:srgbClr val="FF0000"/>
                </a:solidFill>
              </a:rPr>
              <a:t> </a:t>
            </a:r>
            <a:r>
              <a:rPr b="1" i="1" lang="en">
                <a:solidFill>
                  <a:srgbClr val="FF0000"/>
                </a:solidFill>
              </a:rPr>
              <a:t>visited</a:t>
            </a:r>
            <a:r>
              <a:rPr lang="en"/>
              <a:t> vertices.</a:t>
            </a:r>
            <a:endParaRPr/>
          </a:p>
          <a:p>
            <a:pPr indent="-298450" lvl="1" marL="914400" rtl="0" algn="l">
              <a:lnSpc>
                <a:spcPct val="115000"/>
              </a:lnSpc>
              <a:spcBef>
                <a:spcPts val="0"/>
              </a:spcBef>
              <a:spcAft>
                <a:spcPts val="0"/>
              </a:spcAft>
              <a:buSzPts val="1100"/>
              <a:buChar char="○"/>
            </a:pPr>
            <a:r>
              <a:rPr lang="en"/>
              <a:t>If </a:t>
            </a:r>
            <a:r>
              <a:rPr b="1" i="1" lang="en">
                <a:solidFill>
                  <a:srgbClr val="FF0000"/>
                </a:solidFill>
              </a:rPr>
              <a:t>V is E</a:t>
            </a:r>
            <a:r>
              <a:rPr lang="en"/>
              <a:t>, we found a path! Return the path containing </a:t>
            </a:r>
            <a:r>
              <a:rPr b="1" i="1" lang="en">
                <a:solidFill>
                  <a:srgbClr val="FF0000"/>
                </a:solidFill>
              </a:rPr>
              <a:t>only E</a:t>
            </a:r>
            <a:r>
              <a:rPr lang="en"/>
              <a:t>.</a:t>
            </a:r>
            <a:endParaRPr/>
          </a:p>
          <a:p>
            <a:pPr indent="-298450" lvl="1" marL="914400" rtl="0" algn="l">
              <a:lnSpc>
                <a:spcPct val="115000"/>
              </a:lnSpc>
              <a:spcBef>
                <a:spcPts val="0"/>
              </a:spcBef>
              <a:spcAft>
                <a:spcPts val="0"/>
              </a:spcAft>
              <a:buSzPts val="1100"/>
              <a:buChar char="○"/>
            </a:pPr>
            <a:r>
              <a:rPr lang="en"/>
              <a:t>Otherise, for each neighbor </a:t>
            </a:r>
            <a:r>
              <a:rPr b="1" i="1" lang="en">
                <a:solidFill>
                  <a:srgbClr val="FF0000"/>
                </a:solidFill>
              </a:rPr>
              <a:t>N</a:t>
            </a:r>
            <a:r>
              <a:rPr lang="en"/>
              <a:t> of</a:t>
            </a:r>
            <a:r>
              <a:rPr lang="en">
                <a:solidFill>
                  <a:srgbClr val="FF0000"/>
                </a:solidFill>
              </a:rPr>
              <a:t> </a:t>
            </a:r>
            <a:r>
              <a:rPr b="1" i="1" lang="en">
                <a:solidFill>
                  <a:srgbClr val="FF0000"/>
                </a:solidFill>
              </a:rPr>
              <a:t>V</a:t>
            </a:r>
            <a:r>
              <a:rPr lang="en"/>
              <a:t> that is not in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b="1" i="1" lang="en">
                <a:solidFill>
                  <a:srgbClr val="FF0000"/>
                </a:solidFill>
              </a:rPr>
              <a:t>Add N</a:t>
            </a:r>
            <a:r>
              <a:rPr lang="en"/>
              <a:t> to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lang="en"/>
              <a:t>Make a </a:t>
            </a:r>
            <a:r>
              <a:rPr b="1" i="1" lang="en">
                <a:solidFill>
                  <a:srgbClr val="FF0000"/>
                </a:solidFill>
              </a:rPr>
              <a:t>recursive call</a:t>
            </a:r>
            <a:r>
              <a:rPr lang="en"/>
              <a:t> to the DFS path function with </a:t>
            </a:r>
            <a:r>
              <a:rPr b="1" i="1" lang="en">
                <a:solidFill>
                  <a:srgbClr val="FF0000"/>
                </a:solidFill>
              </a:rPr>
              <a:t>N</a:t>
            </a:r>
            <a:r>
              <a:rPr lang="en"/>
              <a:t>, </a:t>
            </a:r>
            <a:r>
              <a:rPr b="1" i="1" lang="en">
                <a:solidFill>
                  <a:srgbClr val="FF0000"/>
                </a:solidFill>
              </a:rPr>
              <a:t>E</a:t>
            </a:r>
            <a:r>
              <a:rPr lang="en"/>
              <a:t>, and </a:t>
            </a:r>
            <a:r>
              <a:rPr b="1" i="1" lang="en">
                <a:solidFill>
                  <a:srgbClr val="FF0000"/>
                </a:solidFill>
              </a:rPr>
              <a:t>visited</a:t>
            </a:r>
            <a:r>
              <a:rPr lang="en"/>
              <a:t>.</a:t>
            </a:r>
            <a:endParaRPr/>
          </a:p>
          <a:p>
            <a:pPr indent="-298450" lvl="2" marL="1371600" rtl="0" algn="l">
              <a:lnSpc>
                <a:spcPct val="115000"/>
              </a:lnSpc>
              <a:spcBef>
                <a:spcPts val="0"/>
              </a:spcBef>
              <a:spcAft>
                <a:spcPts val="0"/>
              </a:spcAft>
              <a:buSzPts val="1100"/>
              <a:buChar char="■"/>
            </a:pPr>
            <a:r>
              <a:rPr lang="en"/>
              <a:t>If the recursive call returns a </a:t>
            </a:r>
            <a:r>
              <a:rPr b="1" i="1" lang="en">
                <a:solidFill>
                  <a:srgbClr val="FF0000"/>
                </a:solidFill>
              </a:rPr>
              <a:t>path</a:t>
            </a:r>
            <a:r>
              <a:rPr lang="en"/>
              <a:t>, add </a:t>
            </a:r>
            <a:r>
              <a:rPr b="1" i="1" lang="en">
                <a:solidFill>
                  <a:srgbClr val="FF0000"/>
                </a:solidFill>
              </a:rPr>
              <a:t>V</a:t>
            </a:r>
            <a:r>
              <a:rPr lang="en"/>
              <a:t> to the front of the path and </a:t>
            </a:r>
            <a:r>
              <a:rPr b="1" i="1" lang="en">
                <a:solidFill>
                  <a:srgbClr val="FF0000"/>
                </a:solidFill>
              </a:rPr>
              <a:t>return it</a:t>
            </a:r>
            <a:r>
              <a:rPr lang="en"/>
              <a:t>.</a:t>
            </a:r>
            <a:endParaRPr/>
          </a:p>
          <a:p>
            <a:pPr indent="-298450" lvl="1" marL="914400" rtl="0" algn="l">
              <a:lnSpc>
                <a:spcPct val="115000"/>
              </a:lnSpc>
              <a:spcBef>
                <a:spcPts val="0"/>
              </a:spcBef>
              <a:spcAft>
                <a:spcPts val="0"/>
              </a:spcAft>
              <a:buSzPts val="1100"/>
              <a:buChar char="○"/>
            </a:pPr>
            <a:r>
              <a:rPr lang="en"/>
              <a:t>If </a:t>
            </a:r>
            <a:r>
              <a:rPr b="1" i="1" lang="en">
                <a:solidFill>
                  <a:srgbClr val="FF0000"/>
                </a:solidFill>
              </a:rPr>
              <a:t>none</a:t>
            </a:r>
            <a:r>
              <a:rPr lang="en">
                <a:solidFill>
                  <a:srgbClr val="FF0000"/>
                </a:solidFill>
              </a:rPr>
              <a:t> </a:t>
            </a:r>
            <a:r>
              <a:rPr lang="en"/>
              <a:t>of the neighbors returns a path, </a:t>
            </a:r>
            <a:r>
              <a:rPr b="1" i="1" lang="en">
                <a:solidFill>
                  <a:srgbClr val="FF0000"/>
                </a:solidFill>
              </a:rPr>
              <a:t>return </a:t>
            </a:r>
            <a:r>
              <a:rPr lang="en">
                <a:solidFill>
                  <a:srgbClr val="FF0000"/>
                </a:solidFill>
                <a:latin typeface="Courier New"/>
                <a:ea typeface="Courier New"/>
                <a:cs typeface="Courier New"/>
                <a:sym typeface="Courier New"/>
              </a:rPr>
              <a:t>null</a:t>
            </a:r>
            <a:r>
              <a:rPr lang="en"/>
              <a:t>.</a:t>
            </a:r>
            <a:endParaRPr/>
          </a:p>
          <a:p>
            <a:pPr indent="-311150" lvl="0" marL="457200" rtl="0" algn="l">
              <a:lnSpc>
                <a:spcPct val="115000"/>
              </a:lnSpc>
              <a:spcBef>
                <a:spcPts val="1000"/>
              </a:spcBef>
              <a:spcAft>
                <a:spcPts val="0"/>
              </a:spcAft>
              <a:buSzPts val="1300"/>
              <a:buChar char="●"/>
            </a:pPr>
            <a:r>
              <a:rPr lang="en"/>
              <a:t>Once again, the </a:t>
            </a:r>
            <a:r>
              <a:rPr b="1" i="1" lang="en">
                <a:solidFill>
                  <a:srgbClr val="FF0000"/>
                </a:solidFill>
              </a:rPr>
              <a:t>path</a:t>
            </a:r>
            <a:r>
              <a:rPr lang="en">
                <a:solidFill>
                  <a:srgbClr val="FF0000"/>
                </a:solidFill>
              </a:rPr>
              <a:t> </a:t>
            </a:r>
            <a:r>
              <a:rPr lang="en"/>
              <a:t>will be built </a:t>
            </a:r>
            <a:r>
              <a:rPr b="1" i="1" lang="en">
                <a:solidFill>
                  <a:srgbClr val="FF0000"/>
                </a:solidFill>
              </a:rPr>
              <a:t>in reverse</a:t>
            </a:r>
            <a:r>
              <a:rPr lang="en"/>
              <a:t> starting with the end value and working backwards.</a:t>
            </a:r>
            <a:endParaRPr b="1" i="1"/>
          </a:p>
        </p:txBody>
      </p:sp>
      <p:sp>
        <p:nvSpPr>
          <p:cNvPr id="2199" name="Google Shape;2199;p86"/>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2200" name="Google Shape;2200;p86"/>
          <p:cNvSpPr txBox="1"/>
          <p:nvPr>
            <p:ph idx="3" type="body"/>
          </p:nvPr>
        </p:nvSpPr>
        <p:spPr>
          <a:xfrm>
            <a:off x="315425" y="779175"/>
            <a:ext cx="3706500" cy="554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The DFS path algorithm does </a:t>
            </a:r>
            <a:r>
              <a:rPr b="1" i="1" lang="en">
                <a:solidFill>
                  <a:srgbClr val="FF0000"/>
                </a:solidFill>
              </a:rPr>
              <a:t>not</a:t>
            </a:r>
            <a:r>
              <a:rPr lang="en">
                <a:solidFill>
                  <a:srgbClr val="FF0000"/>
                </a:solidFill>
              </a:rPr>
              <a:t> </a:t>
            </a:r>
            <a:r>
              <a:rPr lang="en"/>
              <a:t>use a map to keep track of predecessors.</a:t>
            </a:r>
            <a:endParaRPr/>
          </a:p>
        </p:txBody>
      </p:sp>
      <p:sp>
        <p:nvSpPr>
          <p:cNvPr id="2201" name="Google Shape;2201;p86"/>
          <p:cNvSpPr txBox="1"/>
          <p:nvPr>
            <p:ph idx="3" type="body"/>
          </p:nvPr>
        </p:nvSpPr>
        <p:spPr>
          <a:xfrm>
            <a:off x="315425" y="1433475"/>
            <a:ext cx="3706500" cy="92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Instead, vertex </a:t>
            </a:r>
            <a:r>
              <a:rPr b="1" i="1" lang="en">
                <a:solidFill>
                  <a:srgbClr val="FF0000"/>
                </a:solidFill>
              </a:rPr>
              <a:t>V</a:t>
            </a:r>
            <a:r>
              <a:rPr b="1" i="1" lang="en"/>
              <a:t> </a:t>
            </a:r>
            <a:r>
              <a:rPr lang="en"/>
              <a:t>makes a </a:t>
            </a:r>
            <a:r>
              <a:rPr b="1" i="1" lang="en">
                <a:solidFill>
                  <a:srgbClr val="FF0000"/>
                </a:solidFill>
              </a:rPr>
              <a:t>recursive call</a:t>
            </a:r>
            <a:r>
              <a:rPr lang="en"/>
              <a:t> for each of is neighbors </a:t>
            </a:r>
            <a:r>
              <a:rPr b="1" i="1" lang="en">
                <a:solidFill>
                  <a:srgbClr val="FF0000"/>
                </a:solidFill>
              </a:rPr>
              <a:t>N</a:t>
            </a:r>
            <a:r>
              <a:rPr lang="en"/>
              <a:t>. If the recursive call returns </a:t>
            </a:r>
            <a:r>
              <a:rPr lang="en">
                <a:solidFill>
                  <a:srgbClr val="FF0000"/>
                </a:solidFill>
                <a:latin typeface="Courier New"/>
                <a:ea typeface="Courier New"/>
                <a:cs typeface="Courier New"/>
                <a:sym typeface="Courier New"/>
              </a:rPr>
              <a:t>null</a:t>
            </a:r>
            <a:r>
              <a:rPr lang="en"/>
              <a:t>, that means that there</a:t>
            </a:r>
            <a:r>
              <a:rPr lang="en">
                <a:solidFill>
                  <a:srgbClr val="FF0000"/>
                </a:solidFill>
              </a:rPr>
              <a:t> </a:t>
            </a:r>
            <a:r>
              <a:rPr b="1" i="1" lang="en">
                <a:solidFill>
                  <a:srgbClr val="FF0000"/>
                </a:solidFill>
              </a:rPr>
              <a:t>is no path</a:t>
            </a:r>
            <a:r>
              <a:rPr lang="en"/>
              <a:t> to </a:t>
            </a:r>
            <a:r>
              <a:rPr b="1" i="1" lang="en">
                <a:solidFill>
                  <a:srgbClr val="FF0000"/>
                </a:solidFill>
              </a:rPr>
              <a:t>E</a:t>
            </a:r>
            <a:r>
              <a:rPr lang="en"/>
              <a:t> that includes </a:t>
            </a:r>
            <a:r>
              <a:rPr b="1" i="1" lang="en">
                <a:solidFill>
                  <a:srgbClr val="FF0000"/>
                </a:solidFill>
              </a:rPr>
              <a:t>N</a:t>
            </a:r>
            <a:r>
              <a:rPr lang="en"/>
              <a:t>.</a:t>
            </a:r>
            <a:endParaRPr/>
          </a:p>
        </p:txBody>
      </p:sp>
      <p:sp>
        <p:nvSpPr>
          <p:cNvPr id="2202" name="Google Shape;2202;p86"/>
          <p:cNvSpPr txBox="1"/>
          <p:nvPr>
            <p:ph idx="3" type="body"/>
          </p:nvPr>
        </p:nvSpPr>
        <p:spPr>
          <a:xfrm>
            <a:off x="315425" y="245707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If the recursive call returns a</a:t>
            </a:r>
            <a:r>
              <a:rPr b="1" i="1" lang="en"/>
              <a:t> </a:t>
            </a:r>
            <a:r>
              <a:rPr b="1" i="1" lang="en">
                <a:solidFill>
                  <a:srgbClr val="FF0000"/>
                </a:solidFill>
              </a:rPr>
              <a:t>non-</a:t>
            </a:r>
            <a:r>
              <a:rPr lang="en">
                <a:solidFill>
                  <a:srgbClr val="FF0000"/>
                </a:solidFill>
                <a:latin typeface="Courier New"/>
                <a:ea typeface="Courier New"/>
                <a:cs typeface="Courier New"/>
                <a:sym typeface="Courier New"/>
              </a:rPr>
              <a:t>null</a:t>
            </a:r>
            <a:r>
              <a:rPr b="1" i="1" lang="en">
                <a:solidFill>
                  <a:srgbClr val="FF0000"/>
                </a:solidFill>
              </a:rPr>
              <a:t> path</a:t>
            </a:r>
            <a:r>
              <a:rPr lang="en"/>
              <a:t>, e.g. a </a:t>
            </a:r>
            <a:r>
              <a:rPr b="1" i="1" lang="en">
                <a:solidFill>
                  <a:srgbClr val="FF0000"/>
                </a:solidFill>
              </a:rPr>
              <a:t>list</a:t>
            </a:r>
            <a:r>
              <a:rPr lang="en">
                <a:solidFill>
                  <a:srgbClr val="FF0000"/>
                </a:solidFill>
              </a:rPr>
              <a:t> </a:t>
            </a:r>
            <a:r>
              <a:rPr lang="en"/>
              <a:t>with at least one other vertex in it, that means that a path to </a:t>
            </a:r>
            <a:r>
              <a:rPr b="1" i="1" lang="en">
                <a:solidFill>
                  <a:srgbClr val="FF0000"/>
                </a:solidFill>
              </a:rPr>
              <a:t>E</a:t>
            </a:r>
            <a:r>
              <a:rPr lang="en">
                <a:solidFill>
                  <a:srgbClr val="FF0000"/>
                </a:solidFill>
              </a:rPr>
              <a:t> </a:t>
            </a:r>
            <a:r>
              <a:rPr b="1" i="1" lang="en">
                <a:solidFill>
                  <a:srgbClr val="FF0000"/>
                </a:solidFill>
              </a:rPr>
              <a:t>exists</a:t>
            </a:r>
            <a:r>
              <a:rPr lang="en"/>
              <a:t>, and it includes </a:t>
            </a:r>
            <a:r>
              <a:rPr b="1" i="1" lang="en">
                <a:solidFill>
                  <a:srgbClr val="FF0000"/>
                </a:solidFill>
              </a:rPr>
              <a:t>N</a:t>
            </a:r>
            <a:r>
              <a:rPr lang="en"/>
              <a:t>.</a:t>
            </a:r>
            <a:endParaRPr/>
          </a:p>
        </p:txBody>
      </p:sp>
      <p:sp>
        <p:nvSpPr>
          <p:cNvPr id="2203" name="Google Shape;2203;p86"/>
          <p:cNvSpPr txBox="1"/>
          <p:nvPr>
            <p:ph idx="3" type="body"/>
          </p:nvPr>
        </p:nvSpPr>
        <p:spPr>
          <a:xfrm>
            <a:off x="311725" y="329617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Being that </a:t>
            </a:r>
            <a:r>
              <a:rPr b="1" i="1" lang="en">
                <a:solidFill>
                  <a:srgbClr val="FF0000"/>
                </a:solidFill>
              </a:rPr>
              <a:t>V</a:t>
            </a:r>
            <a:r>
              <a:rPr lang="en"/>
              <a:t> is the vertex through which </a:t>
            </a:r>
            <a:r>
              <a:rPr b="1" i="1" lang="en">
                <a:solidFill>
                  <a:srgbClr val="FF0000"/>
                </a:solidFill>
              </a:rPr>
              <a:t>N</a:t>
            </a:r>
            <a:r>
              <a:rPr lang="en"/>
              <a:t> was first discovered, then </a:t>
            </a:r>
            <a:r>
              <a:rPr b="1" i="1" lang="en">
                <a:solidFill>
                  <a:srgbClr val="FF0000"/>
                </a:solidFill>
              </a:rPr>
              <a:t>V</a:t>
            </a:r>
            <a:r>
              <a:rPr lang="en">
                <a:solidFill>
                  <a:srgbClr val="FF0000"/>
                </a:solidFill>
              </a:rPr>
              <a:t> </a:t>
            </a:r>
            <a:r>
              <a:rPr lang="en"/>
              <a:t>is also on the path, and so </a:t>
            </a:r>
            <a:r>
              <a:rPr b="1" i="1" lang="en">
                <a:solidFill>
                  <a:srgbClr val="FF0000"/>
                </a:solidFill>
              </a:rPr>
              <a:t>V</a:t>
            </a:r>
            <a:r>
              <a:rPr lang="en"/>
              <a:t> is </a:t>
            </a:r>
            <a:r>
              <a:rPr b="1" i="1" lang="en">
                <a:solidFill>
                  <a:srgbClr val="FF0000"/>
                </a:solidFill>
              </a:rPr>
              <a:t>added to the path</a:t>
            </a:r>
            <a:r>
              <a:rPr lang="en"/>
              <a:t> before it is returned.</a:t>
            </a:r>
            <a:endParaRPr/>
          </a:p>
        </p:txBody>
      </p:sp>
      <p:sp>
        <p:nvSpPr>
          <p:cNvPr id="2204" name="Google Shape;2204;p86"/>
          <p:cNvSpPr txBox="1"/>
          <p:nvPr>
            <p:ph idx="3" type="body"/>
          </p:nvPr>
        </p:nvSpPr>
        <p:spPr>
          <a:xfrm>
            <a:off x="315425" y="4135275"/>
            <a:ext cx="3706500" cy="73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p>
            <a:pPr indent="0" lvl="0" marL="0" rtl="0" algn="l">
              <a:lnSpc>
                <a:spcPct val="100000"/>
              </a:lnSpc>
              <a:spcBef>
                <a:spcPts val="0"/>
              </a:spcBef>
              <a:spcAft>
                <a:spcPts val="0"/>
              </a:spcAft>
              <a:buSzPts val="1200"/>
              <a:buNone/>
            </a:pPr>
            <a:r>
              <a:rPr lang="en"/>
              <a:t>If </a:t>
            </a:r>
            <a:r>
              <a:rPr b="1" i="1" lang="en">
                <a:solidFill>
                  <a:srgbClr val="FF0000"/>
                </a:solidFill>
              </a:rPr>
              <a:t>none</a:t>
            </a:r>
            <a:r>
              <a:rPr lang="en">
                <a:solidFill>
                  <a:srgbClr val="FF0000"/>
                </a:solidFill>
              </a:rPr>
              <a:t> </a:t>
            </a:r>
            <a:r>
              <a:rPr lang="en"/>
              <a:t>of </a:t>
            </a:r>
            <a:r>
              <a:rPr b="1" i="1" lang="en">
                <a:solidFill>
                  <a:srgbClr val="FF0000"/>
                </a:solidFill>
              </a:rPr>
              <a:t>V's</a:t>
            </a:r>
            <a:r>
              <a:rPr lang="en"/>
              <a:t> neighbors is on the path to </a:t>
            </a:r>
            <a:r>
              <a:rPr b="1" i="1" lang="en">
                <a:solidFill>
                  <a:srgbClr val="FF0000"/>
                </a:solidFill>
              </a:rPr>
              <a:t>E</a:t>
            </a:r>
            <a:r>
              <a:rPr lang="en"/>
              <a:t>, then that means that</a:t>
            </a:r>
            <a:r>
              <a:rPr lang="en">
                <a:solidFill>
                  <a:srgbClr val="FF0000"/>
                </a:solidFill>
              </a:rPr>
              <a:t> </a:t>
            </a:r>
            <a:r>
              <a:rPr b="1" i="1" lang="en">
                <a:solidFill>
                  <a:srgbClr val="FF0000"/>
                </a:solidFill>
              </a:rPr>
              <a:t>V</a:t>
            </a:r>
            <a:r>
              <a:rPr lang="en"/>
              <a:t> is not either, and so </a:t>
            </a:r>
            <a:r>
              <a:rPr lang="en">
                <a:latin typeface="Courier New"/>
                <a:ea typeface="Courier New"/>
                <a:cs typeface="Courier New"/>
                <a:sym typeface="Courier New"/>
              </a:rPr>
              <a:t>null</a:t>
            </a:r>
            <a:r>
              <a:rPr lang="en"/>
              <a:t> is returned (no path).</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98">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0"/>
                                        </p:tgtEl>
                                        <p:attrNameLst>
                                          <p:attrName>style.visibility</p:attrName>
                                        </p:attrNameLst>
                                      </p:cBhvr>
                                      <p:to>
                                        <p:strVal val="visible"/>
                                      </p:to>
                                    </p:set>
                                    <p:animEffect filter="fade" transition="in">
                                      <p:cBhvr>
                                        <p:cTn dur="1000"/>
                                        <p:tgtEl>
                                          <p:spTgt spid="2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1"/>
                                        </p:tgtEl>
                                        <p:attrNameLst>
                                          <p:attrName>style.visibility</p:attrName>
                                        </p:attrNameLst>
                                      </p:cBhvr>
                                      <p:to>
                                        <p:strVal val="visible"/>
                                      </p:to>
                                    </p:set>
                                    <p:animEffect filter="fade" transition="in">
                                      <p:cBhvr>
                                        <p:cTn dur="1000"/>
                                        <p:tgtEl>
                                          <p:spTgt spid="22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2"/>
                                        </p:tgtEl>
                                        <p:attrNameLst>
                                          <p:attrName>style.visibility</p:attrName>
                                        </p:attrNameLst>
                                      </p:cBhvr>
                                      <p:to>
                                        <p:strVal val="visible"/>
                                      </p:to>
                                    </p:set>
                                    <p:animEffect filter="fade" transition="in">
                                      <p:cBhvr>
                                        <p:cTn dur="1000"/>
                                        <p:tgtEl>
                                          <p:spTgt spid="220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3"/>
                                        </p:tgtEl>
                                        <p:attrNameLst>
                                          <p:attrName>style.visibility</p:attrName>
                                        </p:attrNameLst>
                                      </p:cBhvr>
                                      <p:to>
                                        <p:strVal val="visible"/>
                                      </p:to>
                                    </p:set>
                                    <p:animEffect filter="fade" transition="in">
                                      <p:cBhvr>
                                        <p:cTn dur="1000"/>
                                        <p:tgtEl>
                                          <p:spTgt spid="22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04"/>
                                        </p:tgtEl>
                                        <p:attrNameLst>
                                          <p:attrName>style.visibility</p:attrName>
                                        </p:attrNameLst>
                                      </p:cBhvr>
                                      <p:to>
                                        <p:strVal val="visible"/>
                                      </p:to>
                                    </p:set>
                                    <p:animEffect filter="fade" transition="in">
                                      <p:cBhvr>
                                        <p:cTn dur="1000"/>
                                        <p:tgtEl>
                                          <p:spTgt spid="22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8" name="Shape 2208"/>
        <p:cNvGrpSpPr/>
        <p:nvPr/>
      </p:nvGrpSpPr>
      <p:grpSpPr>
        <a:xfrm>
          <a:off x="0" y="0"/>
          <a:ext cx="0" cy="0"/>
          <a:chOff x="0" y="0"/>
          <a:chExt cx="0" cy="0"/>
        </a:xfrm>
      </p:grpSpPr>
      <p:sp>
        <p:nvSpPr>
          <p:cNvPr id="2209" name="Google Shape;2209;p8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Path Illustrated Example: Y to Z</a:t>
            </a:r>
            <a:endParaRPr/>
          </a:p>
        </p:txBody>
      </p:sp>
      <p:sp>
        <p:nvSpPr>
          <p:cNvPr id="2210" name="Google Shape;2210;p8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pSp>
        <p:nvGrpSpPr>
          <p:cNvPr id="2211" name="Google Shape;2211;p87"/>
          <p:cNvGrpSpPr/>
          <p:nvPr/>
        </p:nvGrpSpPr>
        <p:grpSpPr>
          <a:xfrm>
            <a:off x="3319866" y="2025381"/>
            <a:ext cx="2380778" cy="2101576"/>
            <a:chOff x="119466" y="1644381"/>
            <a:chExt cx="2380778" cy="2101576"/>
          </a:xfrm>
        </p:grpSpPr>
        <p:sp>
          <p:nvSpPr>
            <p:cNvPr id="2212" name="Google Shape;2212;p87"/>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213" name="Google Shape;2213;p87"/>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214" name="Google Shape;2214;p87"/>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215" name="Google Shape;2215;p87"/>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216" name="Google Shape;2216;p87"/>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217" name="Google Shape;2217;p87"/>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218" name="Google Shape;2218;p87"/>
            <p:cNvCxnSpPr>
              <a:stCxn id="2212" idx="2"/>
              <a:endCxn id="2214"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219" name="Google Shape;2219;p87"/>
            <p:cNvCxnSpPr>
              <a:stCxn id="2214" idx="5"/>
              <a:endCxn id="2216"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220" name="Google Shape;2220;p87"/>
            <p:cNvCxnSpPr>
              <a:stCxn id="2216" idx="3"/>
              <a:endCxn id="2215"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221" name="Google Shape;2221;p87"/>
            <p:cNvCxnSpPr>
              <a:stCxn id="2215" idx="6"/>
              <a:endCxn id="2217"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222" name="Google Shape;2222;p87"/>
            <p:cNvCxnSpPr>
              <a:stCxn id="2217" idx="0"/>
              <a:endCxn id="2216"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223" name="Google Shape;2223;p87"/>
            <p:cNvCxnSpPr>
              <a:stCxn id="2216" idx="7"/>
              <a:endCxn id="2213"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224" name="Google Shape;2224;p87"/>
            <p:cNvCxnSpPr>
              <a:stCxn id="2213" idx="4"/>
              <a:endCxn id="2217"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sp>
        <p:nvSpPr>
          <p:cNvPr id="2225" name="Google Shape;2225;p87"/>
          <p:cNvSpPr/>
          <p:nvPr/>
        </p:nvSpPr>
        <p:spPr>
          <a:xfrm>
            <a:off x="2018075" y="1553100"/>
            <a:ext cx="1433400" cy="760500"/>
          </a:xfrm>
          <a:prstGeom prst="wedgeRoundRectCallout">
            <a:avLst>
              <a:gd fmla="val 44000" name="adj1"/>
              <a:gd fmla="val 88024"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 will search my first neighbor alphabetically for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a:t>
            </a:r>
            <a:endParaRPr b="0" i="0" sz="1000" u="none" cap="none" strike="noStrike">
              <a:solidFill>
                <a:srgbClr val="000000"/>
              </a:solidFill>
              <a:latin typeface="Arial"/>
              <a:ea typeface="Arial"/>
              <a:cs typeface="Arial"/>
              <a:sym typeface="Arial"/>
            </a:endParaRPr>
          </a:p>
        </p:txBody>
      </p:sp>
      <p:cxnSp>
        <p:nvCxnSpPr>
          <p:cNvPr id="2226" name="Google Shape;2226;p87"/>
          <p:cNvCxnSpPr>
            <a:stCxn id="2214" idx="6"/>
            <a:endCxn id="2216" idx="0"/>
          </p:cNvCxnSpPr>
          <p:nvPr/>
        </p:nvCxnSpPr>
        <p:spPr>
          <a:xfrm>
            <a:off x="3733266" y="2796462"/>
            <a:ext cx="777000" cy="174000"/>
          </a:xfrm>
          <a:prstGeom prst="curvedConnector2">
            <a:avLst/>
          </a:prstGeom>
          <a:noFill/>
          <a:ln cap="flat" cmpd="sng" w="19050">
            <a:solidFill>
              <a:srgbClr val="FF0000"/>
            </a:solidFill>
            <a:prstDash val="solid"/>
            <a:round/>
            <a:headEnd len="sm" w="sm" type="none"/>
            <a:tailEnd len="med" w="med" type="triangle"/>
          </a:ln>
        </p:spPr>
      </p:cxnSp>
      <p:sp>
        <p:nvSpPr>
          <p:cNvPr id="2227" name="Google Shape;2227;p87"/>
          <p:cNvSpPr/>
          <p:nvPr/>
        </p:nvSpPr>
        <p:spPr>
          <a:xfrm>
            <a:off x="4816800" y="1747175"/>
            <a:ext cx="1589400" cy="577800"/>
          </a:xfrm>
          <a:prstGeom prst="wedgeRoundRectCallout">
            <a:avLst>
              <a:gd fmla="val -63894" name="adj1"/>
              <a:gd fmla="val 153448"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 am not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so let's search my first neighbor...</a:t>
            </a:r>
            <a:endParaRPr b="0" i="0" sz="1000" u="none" cap="none" strike="noStrike">
              <a:solidFill>
                <a:srgbClr val="000000"/>
              </a:solidFill>
              <a:latin typeface="Arial"/>
              <a:ea typeface="Arial"/>
              <a:cs typeface="Arial"/>
              <a:sym typeface="Arial"/>
            </a:endParaRPr>
          </a:p>
        </p:txBody>
      </p:sp>
      <p:cxnSp>
        <p:nvCxnSpPr>
          <p:cNvPr id="2228" name="Google Shape;2228;p87"/>
          <p:cNvCxnSpPr>
            <a:stCxn id="2216" idx="4"/>
            <a:endCxn id="2217" idx="2"/>
          </p:cNvCxnSpPr>
          <p:nvPr/>
        </p:nvCxnSpPr>
        <p:spPr>
          <a:xfrm flipH="1" rot="-5400000">
            <a:off x="4501479" y="3392667"/>
            <a:ext cx="536400" cy="518700"/>
          </a:xfrm>
          <a:prstGeom prst="curvedConnector2">
            <a:avLst/>
          </a:prstGeom>
          <a:noFill/>
          <a:ln cap="flat" cmpd="sng" w="19050">
            <a:solidFill>
              <a:srgbClr val="FF0000"/>
            </a:solidFill>
            <a:prstDash val="solid"/>
            <a:round/>
            <a:headEnd len="sm" w="sm" type="none"/>
            <a:tailEnd len="med" w="med" type="triangle"/>
          </a:ln>
        </p:spPr>
      </p:cxnSp>
      <p:sp>
        <p:nvSpPr>
          <p:cNvPr id="2229" name="Google Shape;2229;p87"/>
          <p:cNvSpPr/>
          <p:nvPr/>
        </p:nvSpPr>
        <p:spPr>
          <a:xfrm>
            <a:off x="5700650" y="3920225"/>
            <a:ext cx="1589400" cy="577800"/>
          </a:xfrm>
          <a:prstGeom prst="wedgeRoundRectCallout">
            <a:avLst>
              <a:gd fmla="val -58953" name="adj1"/>
              <a:gd fmla="val -3692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Still no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Let's check </a:t>
            </a:r>
            <a:r>
              <a:rPr b="1" i="1" lang="en" sz="1000" u="none" cap="none" strike="noStrike">
                <a:solidFill>
                  <a:srgbClr val="FF0000"/>
                </a:solidFill>
                <a:latin typeface="Arial"/>
                <a:ea typeface="Arial"/>
                <a:cs typeface="Arial"/>
                <a:sym typeface="Arial"/>
              </a:rPr>
              <a:t>my</a:t>
            </a:r>
            <a:r>
              <a:rPr b="0" i="0" lang="en" sz="1000" u="none" cap="none" strike="noStrike">
                <a:solidFill>
                  <a:srgbClr val="000000"/>
                </a:solidFill>
                <a:latin typeface="Arial"/>
                <a:ea typeface="Arial"/>
                <a:cs typeface="Arial"/>
                <a:sym typeface="Arial"/>
              </a:rPr>
              <a:t> first neighbor...</a:t>
            </a:r>
            <a:endParaRPr b="0" i="0" sz="1000" u="none" cap="none" strike="noStrike">
              <a:solidFill>
                <a:srgbClr val="000000"/>
              </a:solidFill>
              <a:latin typeface="Arial"/>
              <a:ea typeface="Arial"/>
              <a:cs typeface="Arial"/>
              <a:sym typeface="Arial"/>
            </a:endParaRPr>
          </a:p>
        </p:txBody>
      </p:sp>
      <p:cxnSp>
        <p:nvCxnSpPr>
          <p:cNvPr id="2230" name="Google Shape;2230;p87"/>
          <p:cNvCxnSpPr>
            <a:stCxn id="2217" idx="6"/>
            <a:endCxn id="2213" idx="6"/>
          </p:cNvCxnSpPr>
          <p:nvPr/>
        </p:nvCxnSpPr>
        <p:spPr>
          <a:xfrm flipH="1" rot="10800000">
            <a:off x="5442411" y="2796457"/>
            <a:ext cx="258300" cy="1123800"/>
          </a:xfrm>
          <a:prstGeom prst="curvedConnector3">
            <a:avLst>
              <a:gd fmla="val 192163" name="adj1"/>
            </a:avLst>
          </a:prstGeom>
          <a:noFill/>
          <a:ln cap="flat" cmpd="sng" w="19050">
            <a:solidFill>
              <a:srgbClr val="FF0000"/>
            </a:solidFill>
            <a:prstDash val="solid"/>
            <a:round/>
            <a:headEnd len="sm" w="sm" type="none"/>
            <a:tailEnd len="med" w="med" type="triangle"/>
          </a:ln>
        </p:spPr>
      </p:cxnSp>
      <p:sp>
        <p:nvSpPr>
          <p:cNvPr id="2231" name="Google Shape;2231;p87"/>
          <p:cNvSpPr/>
          <p:nvPr/>
        </p:nvSpPr>
        <p:spPr>
          <a:xfrm>
            <a:off x="6054147" y="2389795"/>
            <a:ext cx="1821000" cy="991800"/>
          </a:xfrm>
          <a:prstGeom prst="wedgeRoundRectCallout">
            <a:avLst>
              <a:gd fmla="val -67066" name="adj1"/>
              <a:gd fmla="val -14663"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Bad news, everyone. Not only am I </a:t>
            </a:r>
            <a:r>
              <a:rPr b="1" i="1" lang="en" sz="1000" u="none" cap="none" strike="noStrike">
                <a:solidFill>
                  <a:srgbClr val="FF0000"/>
                </a:solidFill>
                <a:latin typeface="Arial"/>
                <a:ea typeface="Arial"/>
                <a:cs typeface="Arial"/>
                <a:sym typeface="Arial"/>
              </a:rPr>
              <a:t>not</a:t>
            </a:r>
            <a:r>
              <a:rPr b="0" i="0" lang="en" sz="1000" u="none" cap="none" strike="noStrike">
                <a:solidFill>
                  <a:srgbClr val="FF0000"/>
                </a:solidFill>
                <a:latin typeface="Arial"/>
                <a:ea typeface="Arial"/>
                <a:cs typeface="Arial"/>
                <a:sym typeface="Arial"/>
              </a:rPr>
              <a:t>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I don't have any neighbors left to search. If there is a path, I'm not part of it. I'll </a:t>
            </a:r>
            <a:r>
              <a:rPr b="1" i="1" lang="en" sz="1000" u="none" cap="none" strike="noStrike">
                <a:solidFill>
                  <a:srgbClr val="FF9900"/>
                </a:solidFill>
                <a:latin typeface="Arial"/>
                <a:ea typeface="Arial"/>
                <a:cs typeface="Arial"/>
                <a:sym typeface="Arial"/>
              </a:rPr>
              <a:t>return</a:t>
            </a:r>
            <a:r>
              <a:rPr b="0" i="0" lang="en" sz="1000" u="none" cap="none" strike="noStrike">
                <a:solidFill>
                  <a:srgbClr val="FF9900"/>
                </a:solidFill>
                <a:latin typeface="Arial"/>
                <a:ea typeface="Arial"/>
                <a:cs typeface="Arial"/>
                <a:sym typeface="Arial"/>
              </a:rPr>
              <a:t> </a:t>
            </a:r>
            <a:r>
              <a:rPr b="0" i="0" lang="en" sz="1000" u="none" cap="none" strike="noStrike">
                <a:solidFill>
                  <a:srgbClr val="FF9900"/>
                </a:solidFill>
                <a:latin typeface="Courier New"/>
                <a:ea typeface="Courier New"/>
                <a:cs typeface="Courier New"/>
                <a:sym typeface="Courier New"/>
              </a:rPr>
              <a:t>null</a:t>
            </a:r>
            <a:r>
              <a:rPr b="0" i="0" lang="en"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grpSp>
        <p:nvGrpSpPr>
          <p:cNvPr id="2232" name="Google Shape;2232;p87"/>
          <p:cNvGrpSpPr/>
          <p:nvPr/>
        </p:nvGrpSpPr>
        <p:grpSpPr>
          <a:xfrm>
            <a:off x="4944590" y="2942672"/>
            <a:ext cx="695513" cy="771000"/>
            <a:chOff x="4944590" y="2942672"/>
            <a:chExt cx="695513" cy="771000"/>
          </a:xfrm>
        </p:grpSpPr>
        <p:cxnSp>
          <p:nvCxnSpPr>
            <p:cNvPr id="2233" name="Google Shape;2233;p87"/>
            <p:cNvCxnSpPr>
              <a:stCxn id="2213" idx="5"/>
              <a:endCxn id="2217" idx="0"/>
            </p:cNvCxnSpPr>
            <p:nvPr/>
          </p:nvCxnSpPr>
          <p:spPr>
            <a:xfrm rot="5400000">
              <a:off x="5052403" y="3125972"/>
              <a:ext cx="771000" cy="404400"/>
            </a:xfrm>
            <a:prstGeom prst="curvedConnector3">
              <a:avLst>
                <a:gd fmla="val 53919" name="adj1"/>
              </a:avLst>
            </a:prstGeom>
            <a:noFill/>
            <a:ln cap="flat" cmpd="sng" w="19050">
              <a:solidFill>
                <a:srgbClr val="FF9900"/>
              </a:solidFill>
              <a:prstDash val="solid"/>
              <a:round/>
              <a:headEnd len="sm" w="sm" type="none"/>
              <a:tailEnd len="med" w="med" type="triangle"/>
            </a:ln>
          </p:spPr>
        </p:cxnSp>
        <p:sp>
          <p:nvSpPr>
            <p:cNvPr id="2234" name="Google Shape;2234;p87"/>
            <p:cNvSpPr txBox="1"/>
            <p:nvPr/>
          </p:nvSpPr>
          <p:spPr>
            <a:xfrm>
              <a:off x="4944590" y="3234297"/>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cxnSp>
        <p:nvCxnSpPr>
          <p:cNvPr id="2235" name="Google Shape;2235;p87"/>
          <p:cNvCxnSpPr>
            <a:endCxn id="2214" idx="1"/>
          </p:cNvCxnSpPr>
          <p:nvPr/>
        </p:nvCxnSpPr>
        <p:spPr>
          <a:xfrm>
            <a:off x="2541007" y="2650303"/>
            <a:ext cx="839400" cy="0"/>
          </a:xfrm>
          <a:prstGeom prst="straightConnector1">
            <a:avLst/>
          </a:prstGeom>
          <a:noFill/>
          <a:ln cap="flat" cmpd="sng" w="19050">
            <a:solidFill>
              <a:srgbClr val="FF0000"/>
            </a:solidFill>
            <a:prstDash val="solid"/>
            <a:round/>
            <a:headEnd len="sm" w="sm" type="none"/>
            <a:tailEnd len="med" w="med" type="triangle"/>
          </a:ln>
        </p:spPr>
      </p:cxnSp>
      <p:pic>
        <p:nvPicPr>
          <p:cNvPr id="2236" name="Google Shape;2236;p87"/>
          <p:cNvPicPr preferRelativeResize="0"/>
          <p:nvPr/>
        </p:nvPicPr>
        <p:blipFill rotWithShape="1">
          <a:blip r:embed="rId3">
            <a:alphaModFix/>
          </a:blip>
          <a:srcRect b="0" l="0" r="0" t="0"/>
          <a:stretch/>
        </p:blipFill>
        <p:spPr>
          <a:xfrm>
            <a:off x="501799" y="2368250"/>
            <a:ext cx="1958226" cy="1919850"/>
          </a:xfrm>
          <a:prstGeom prst="rect">
            <a:avLst/>
          </a:prstGeom>
          <a:noFill/>
          <a:ln>
            <a:noFill/>
          </a:ln>
        </p:spPr>
      </p:pic>
      <p:sp>
        <p:nvSpPr>
          <p:cNvPr id="2237" name="Google Shape;2237;p87"/>
          <p:cNvSpPr/>
          <p:nvPr/>
        </p:nvSpPr>
        <p:spPr>
          <a:xfrm>
            <a:off x="111750" y="1539750"/>
            <a:ext cx="1433400" cy="623700"/>
          </a:xfrm>
          <a:prstGeom prst="wedgeRoundRectCallout">
            <a:avLst>
              <a:gd fmla="val 22052" name="adj1"/>
              <a:gd fmla="val 89024"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 wonder if there is a </a:t>
            </a:r>
            <a:r>
              <a:rPr b="1" i="1" lang="en" sz="1000" u="none" cap="none" strike="noStrike">
                <a:solidFill>
                  <a:srgbClr val="FF0000"/>
                </a:solidFill>
                <a:latin typeface="Arial"/>
                <a:ea typeface="Arial"/>
                <a:cs typeface="Arial"/>
                <a:sym typeface="Arial"/>
              </a:rPr>
              <a:t>path from Y to Z</a:t>
            </a:r>
            <a:r>
              <a:rPr b="0" i="0" lang="en" sz="1000" u="none" cap="none" strike="noStrike">
                <a:solidFill>
                  <a:srgbClr val="000000"/>
                </a:solidFill>
                <a:latin typeface="Arial"/>
                <a:ea typeface="Arial"/>
                <a:cs typeface="Arial"/>
                <a:sym typeface="Arial"/>
              </a:rPr>
              <a:t> in this graph?</a:t>
            </a:r>
            <a:endParaRPr b="0" i="0" sz="10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7"/>
                                        </p:tgtEl>
                                        <p:attrNameLst>
                                          <p:attrName>style.visibility</p:attrName>
                                        </p:attrNameLst>
                                      </p:cBhvr>
                                      <p:to>
                                        <p:strVal val="visible"/>
                                      </p:to>
                                    </p:set>
                                    <p:animEffect filter="fade" transition="in">
                                      <p:cBhvr>
                                        <p:cTn dur="1000"/>
                                        <p:tgtEl>
                                          <p:spTgt spid="22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35"/>
                                        </p:tgtEl>
                                        <p:attrNameLst>
                                          <p:attrName>style.visibility</p:attrName>
                                        </p:attrNameLst>
                                      </p:cBhvr>
                                      <p:to>
                                        <p:strVal val="visible"/>
                                      </p:to>
                                    </p:set>
                                    <p:animEffect filter="fade" transition="in">
                                      <p:cBhvr>
                                        <p:cTn dur="1000"/>
                                        <p:tgtEl>
                                          <p:spTgt spid="22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5"/>
                                        </p:tgtEl>
                                        <p:attrNameLst>
                                          <p:attrName>style.visibility</p:attrName>
                                        </p:attrNameLst>
                                      </p:cBhvr>
                                      <p:to>
                                        <p:strVal val="visible"/>
                                      </p:to>
                                    </p:set>
                                    <p:animEffect filter="fade" transition="in">
                                      <p:cBhvr>
                                        <p:cTn dur="1000"/>
                                        <p:tgtEl>
                                          <p:spTgt spid="22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6"/>
                                        </p:tgtEl>
                                        <p:attrNameLst>
                                          <p:attrName>style.visibility</p:attrName>
                                        </p:attrNameLst>
                                      </p:cBhvr>
                                      <p:to>
                                        <p:strVal val="visible"/>
                                      </p:to>
                                    </p:set>
                                    <p:animEffect filter="fade" transition="in">
                                      <p:cBhvr>
                                        <p:cTn dur="1000"/>
                                        <p:tgtEl>
                                          <p:spTgt spid="22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7"/>
                                        </p:tgtEl>
                                        <p:attrNameLst>
                                          <p:attrName>style.visibility</p:attrName>
                                        </p:attrNameLst>
                                      </p:cBhvr>
                                      <p:to>
                                        <p:strVal val="visible"/>
                                      </p:to>
                                    </p:set>
                                    <p:animEffect filter="fade" transition="in">
                                      <p:cBhvr>
                                        <p:cTn dur="1000"/>
                                        <p:tgtEl>
                                          <p:spTgt spid="222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28"/>
                                        </p:tgtEl>
                                        <p:attrNameLst>
                                          <p:attrName>style.visibility</p:attrName>
                                        </p:attrNameLst>
                                      </p:cBhvr>
                                      <p:to>
                                        <p:strVal val="visible"/>
                                      </p:to>
                                    </p:set>
                                    <p:animEffect filter="fade" transition="in">
                                      <p:cBhvr>
                                        <p:cTn dur="1000"/>
                                        <p:tgtEl>
                                          <p:spTgt spid="22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29"/>
                                        </p:tgtEl>
                                        <p:attrNameLst>
                                          <p:attrName>style.visibility</p:attrName>
                                        </p:attrNameLst>
                                      </p:cBhvr>
                                      <p:to>
                                        <p:strVal val="visible"/>
                                      </p:to>
                                    </p:set>
                                    <p:animEffect filter="fade" transition="in">
                                      <p:cBhvr>
                                        <p:cTn dur="1000"/>
                                        <p:tgtEl>
                                          <p:spTgt spid="22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30"/>
                                        </p:tgtEl>
                                        <p:attrNameLst>
                                          <p:attrName>style.visibility</p:attrName>
                                        </p:attrNameLst>
                                      </p:cBhvr>
                                      <p:to>
                                        <p:strVal val="visible"/>
                                      </p:to>
                                    </p:set>
                                    <p:animEffect filter="fade" transition="in">
                                      <p:cBhvr>
                                        <p:cTn dur="1000"/>
                                        <p:tgtEl>
                                          <p:spTgt spid="22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1"/>
                                        </p:tgtEl>
                                        <p:attrNameLst>
                                          <p:attrName>style.visibility</p:attrName>
                                        </p:attrNameLst>
                                      </p:cBhvr>
                                      <p:to>
                                        <p:strVal val="visible"/>
                                      </p:to>
                                    </p:set>
                                    <p:animEffect filter="fade" transition="in">
                                      <p:cBhvr>
                                        <p:cTn dur="1000"/>
                                        <p:tgtEl>
                                          <p:spTgt spid="22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32"/>
                                        </p:tgtEl>
                                        <p:attrNameLst>
                                          <p:attrName>style.visibility</p:attrName>
                                        </p:attrNameLst>
                                      </p:cBhvr>
                                      <p:to>
                                        <p:strVal val="visible"/>
                                      </p:to>
                                    </p:set>
                                    <p:animEffect filter="fade" transition="in">
                                      <p:cBhvr>
                                        <p:cTn dur="1000"/>
                                        <p:tgtEl>
                                          <p:spTgt spid="22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225"/>
                                        </p:tgtEl>
                                      </p:cBhvr>
                                    </p:animEffect>
                                    <p:set>
                                      <p:cBhvr>
                                        <p:cTn dur="1" fill="hold">
                                          <p:stCondLst>
                                            <p:cond delay="1000"/>
                                          </p:stCondLst>
                                        </p:cTn>
                                        <p:tgtEl>
                                          <p:spTgt spid="2225"/>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27"/>
                                        </p:tgtEl>
                                      </p:cBhvr>
                                    </p:animEffect>
                                    <p:set>
                                      <p:cBhvr>
                                        <p:cTn dur="1" fill="hold">
                                          <p:stCondLst>
                                            <p:cond delay="1000"/>
                                          </p:stCondLst>
                                        </p:cTn>
                                        <p:tgtEl>
                                          <p:spTgt spid="2227"/>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29"/>
                                        </p:tgtEl>
                                      </p:cBhvr>
                                    </p:animEffect>
                                    <p:set>
                                      <p:cBhvr>
                                        <p:cTn dur="1" fill="hold">
                                          <p:stCondLst>
                                            <p:cond delay="1000"/>
                                          </p:stCondLst>
                                        </p:cTn>
                                        <p:tgtEl>
                                          <p:spTgt spid="2229"/>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31"/>
                                        </p:tgtEl>
                                      </p:cBhvr>
                                    </p:animEffect>
                                    <p:set>
                                      <p:cBhvr>
                                        <p:cTn dur="1" fill="hold">
                                          <p:stCondLst>
                                            <p:cond delay="1000"/>
                                          </p:stCondLst>
                                        </p:cTn>
                                        <p:tgtEl>
                                          <p:spTgt spid="2231"/>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37"/>
                                        </p:tgtEl>
                                      </p:cBhvr>
                                    </p:animEffect>
                                    <p:set>
                                      <p:cBhvr>
                                        <p:cTn dur="1" fill="hold">
                                          <p:stCondLst>
                                            <p:cond delay="1000"/>
                                          </p:stCondLst>
                                        </p:cTn>
                                        <p:tgtEl>
                                          <p:spTgt spid="2237"/>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1" name="Shape 2241"/>
        <p:cNvGrpSpPr/>
        <p:nvPr/>
      </p:nvGrpSpPr>
      <p:grpSpPr>
        <a:xfrm>
          <a:off x="0" y="0"/>
          <a:ext cx="0" cy="0"/>
          <a:chOff x="0" y="0"/>
          <a:chExt cx="0" cy="0"/>
        </a:xfrm>
      </p:grpSpPr>
      <p:sp>
        <p:nvSpPr>
          <p:cNvPr id="2242" name="Google Shape;2242;p8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Path Illustrated Example: Y to Z</a:t>
            </a:r>
            <a:endParaRPr/>
          </a:p>
        </p:txBody>
      </p:sp>
      <p:sp>
        <p:nvSpPr>
          <p:cNvPr id="2243" name="Google Shape;2243;p8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pSp>
        <p:nvGrpSpPr>
          <p:cNvPr id="2244" name="Google Shape;2244;p88"/>
          <p:cNvGrpSpPr/>
          <p:nvPr/>
        </p:nvGrpSpPr>
        <p:grpSpPr>
          <a:xfrm>
            <a:off x="3319866" y="2025381"/>
            <a:ext cx="2380778" cy="2101576"/>
            <a:chOff x="119466" y="1644381"/>
            <a:chExt cx="2380778" cy="2101576"/>
          </a:xfrm>
        </p:grpSpPr>
        <p:sp>
          <p:nvSpPr>
            <p:cNvPr id="2245" name="Google Shape;2245;p88"/>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246" name="Google Shape;2246;p88"/>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247" name="Google Shape;2247;p88"/>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248" name="Google Shape;2248;p88"/>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249" name="Google Shape;2249;p88"/>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250" name="Google Shape;2250;p88"/>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251" name="Google Shape;2251;p88"/>
            <p:cNvCxnSpPr>
              <a:stCxn id="2245" idx="2"/>
              <a:endCxn id="2247"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252" name="Google Shape;2252;p88"/>
            <p:cNvCxnSpPr>
              <a:stCxn id="2247" idx="5"/>
              <a:endCxn id="2249"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253" name="Google Shape;2253;p88"/>
            <p:cNvCxnSpPr>
              <a:stCxn id="2249" idx="3"/>
              <a:endCxn id="2248"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254" name="Google Shape;2254;p88"/>
            <p:cNvCxnSpPr>
              <a:stCxn id="2248" idx="6"/>
              <a:endCxn id="2250"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255" name="Google Shape;2255;p88"/>
            <p:cNvCxnSpPr>
              <a:stCxn id="2250" idx="0"/>
              <a:endCxn id="2249"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256" name="Google Shape;2256;p88"/>
            <p:cNvCxnSpPr>
              <a:stCxn id="2249" idx="7"/>
              <a:endCxn id="2246"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257" name="Google Shape;2257;p88"/>
            <p:cNvCxnSpPr>
              <a:stCxn id="2246" idx="4"/>
              <a:endCxn id="2250"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cxnSp>
        <p:nvCxnSpPr>
          <p:cNvPr id="2258" name="Google Shape;2258;p88"/>
          <p:cNvCxnSpPr>
            <a:stCxn id="2247" idx="6"/>
            <a:endCxn id="2249" idx="0"/>
          </p:cNvCxnSpPr>
          <p:nvPr/>
        </p:nvCxnSpPr>
        <p:spPr>
          <a:xfrm>
            <a:off x="3733266" y="2796462"/>
            <a:ext cx="777000" cy="174000"/>
          </a:xfrm>
          <a:prstGeom prst="curvedConnector2">
            <a:avLst/>
          </a:prstGeom>
          <a:noFill/>
          <a:ln cap="flat" cmpd="sng" w="19050">
            <a:solidFill>
              <a:srgbClr val="FF0000"/>
            </a:solidFill>
            <a:prstDash val="solid"/>
            <a:round/>
            <a:headEnd len="sm" w="sm" type="none"/>
            <a:tailEnd len="med" w="med" type="triangle"/>
          </a:ln>
        </p:spPr>
      </p:cxnSp>
      <p:cxnSp>
        <p:nvCxnSpPr>
          <p:cNvPr id="2259" name="Google Shape;2259;p88"/>
          <p:cNvCxnSpPr>
            <a:stCxn id="2249" idx="4"/>
            <a:endCxn id="2250" idx="2"/>
          </p:cNvCxnSpPr>
          <p:nvPr/>
        </p:nvCxnSpPr>
        <p:spPr>
          <a:xfrm flipH="1" rot="-5400000">
            <a:off x="4501479" y="3392667"/>
            <a:ext cx="536400" cy="518700"/>
          </a:xfrm>
          <a:prstGeom prst="curvedConnector2">
            <a:avLst/>
          </a:prstGeom>
          <a:noFill/>
          <a:ln cap="flat" cmpd="sng" w="19050">
            <a:solidFill>
              <a:srgbClr val="FF0000"/>
            </a:solidFill>
            <a:prstDash val="solid"/>
            <a:round/>
            <a:headEnd len="sm" w="sm" type="none"/>
            <a:tailEnd len="med" w="med" type="triangle"/>
          </a:ln>
        </p:spPr>
      </p:cxnSp>
      <p:sp>
        <p:nvSpPr>
          <p:cNvPr id="2260" name="Google Shape;2260;p88"/>
          <p:cNvSpPr/>
          <p:nvPr/>
        </p:nvSpPr>
        <p:spPr>
          <a:xfrm>
            <a:off x="5700650" y="3920225"/>
            <a:ext cx="1589400" cy="577800"/>
          </a:xfrm>
          <a:prstGeom prst="wedgeRoundRectCallout">
            <a:avLst>
              <a:gd fmla="val -58953" name="adj1"/>
              <a:gd fmla="val -3692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OK, so there is no path through </a:t>
            </a:r>
            <a:r>
              <a:rPr b="1" i="1" lang="en" sz="1000" u="none" cap="none" strike="noStrike">
                <a:solidFill>
                  <a:srgbClr val="FF0000"/>
                </a:solidFill>
                <a:latin typeface="Arial"/>
                <a:ea typeface="Arial"/>
                <a:cs typeface="Arial"/>
                <a:sym typeface="Arial"/>
              </a:rPr>
              <a:t>W</a:t>
            </a:r>
            <a:r>
              <a:rPr b="0" i="0" lang="en" sz="1000" u="none" cap="none" strike="noStrike">
                <a:solidFill>
                  <a:srgbClr val="000000"/>
                </a:solidFill>
                <a:latin typeface="Arial"/>
                <a:ea typeface="Arial"/>
                <a:cs typeface="Arial"/>
                <a:sym typeface="Arial"/>
              </a:rPr>
              <a:t>. Let's try my next neighbor...</a:t>
            </a:r>
            <a:endParaRPr b="0" i="0" sz="1000" u="none" cap="none" strike="noStrike">
              <a:solidFill>
                <a:srgbClr val="000000"/>
              </a:solidFill>
              <a:latin typeface="Arial"/>
              <a:ea typeface="Arial"/>
              <a:cs typeface="Arial"/>
              <a:sym typeface="Arial"/>
            </a:endParaRPr>
          </a:p>
        </p:txBody>
      </p:sp>
      <p:cxnSp>
        <p:nvCxnSpPr>
          <p:cNvPr id="2261" name="Google Shape;2261;p88"/>
          <p:cNvCxnSpPr>
            <a:stCxn id="2250" idx="6"/>
            <a:endCxn id="2246" idx="6"/>
          </p:cNvCxnSpPr>
          <p:nvPr/>
        </p:nvCxnSpPr>
        <p:spPr>
          <a:xfrm flipH="1" rot="10800000">
            <a:off x="5442411" y="2796457"/>
            <a:ext cx="258300" cy="1123800"/>
          </a:xfrm>
          <a:prstGeom prst="curvedConnector3">
            <a:avLst>
              <a:gd fmla="val 192163" name="adj1"/>
            </a:avLst>
          </a:prstGeom>
          <a:noFill/>
          <a:ln cap="flat" cmpd="sng" w="19050">
            <a:solidFill>
              <a:srgbClr val="FF0000"/>
            </a:solidFill>
            <a:prstDash val="solid"/>
            <a:round/>
            <a:headEnd len="sm" w="sm" type="none"/>
            <a:tailEnd len="med" w="med" type="triangle"/>
          </a:ln>
        </p:spPr>
      </p:cxnSp>
      <p:grpSp>
        <p:nvGrpSpPr>
          <p:cNvPr id="2262" name="Google Shape;2262;p88"/>
          <p:cNvGrpSpPr/>
          <p:nvPr/>
        </p:nvGrpSpPr>
        <p:grpSpPr>
          <a:xfrm>
            <a:off x="5235703" y="2942672"/>
            <a:ext cx="714787" cy="771000"/>
            <a:chOff x="5235703" y="2942672"/>
            <a:chExt cx="714787" cy="771000"/>
          </a:xfrm>
        </p:grpSpPr>
        <p:cxnSp>
          <p:nvCxnSpPr>
            <p:cNvPr id="2263" name="Google Shape;2263;p88"/>
            <p:cNvCxnSpPr>
              <a:stCxn id="2246" idx="5"/>
              <a:endCxn id="2250" idx="0"/>
            </p:cNvCxnSpPr>
            <p:nvPr/>
          </p:nvCxnSpPr>
          <p:spPr>
            <a:xfrm rot="5400000">
              <a:off x="5052403" y="3125972"/>
              <a:ext cx="771000" cy="404400"/>
            </a:xfrm>
            <a:prstGeom prst="curvedConnector3">
              <a:avLst>
                <a:gd fmla="val 53919" name="adj1"/>
              </a:avLst>
            </a:prstGeom>
            <a:noFill/>
            <a:ln cap="flat" cmpd="sng" w="19050">
              <a:solidFill>
                <a:srgbClr val="FF9900"/>
              </a:solidFill>
              <a:prstDash val="solid"/>
              <a:round/>
              <a:headEnd len="sm" w="sm" type="none"/>
              <a:tailEnd len="med" w="med" type="triangle"/>
            </a:ln>
          </p:spPr>
        </p:cxnSp>
        <p:sp>
          <p:nvSpPr>
            <p:cNvPr id="2264" name="Google Shape;2264;p88"/>
            <p:cNvSpPr txBox="1"/>
            <p:nvPr/>
          </p:nvSpPr>
          <p:spPr>
            <a:xfrm>
              <a:off x="5401790" y="3214565"/>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cxnSp>
        <p:nvCxnSpPr>
          <p:cNvPr id="2265" name="Google Shape;2265;p88"/>
          <p:cNvCxnSpPr>
            <a:stCxn id="2250" idx="4"/>
            <a:endCxn id="2248" idx="4"/>
          </p:cNvCxnSpPr>
          <p:nvPr/>
        </p:nvCxnSpPr>
        <p:spPr>
          <a:xfrm rot="5400000">
            <a:off x="4614561" y="3506407"/>
            <a:ext cx="600" cy="1241700"/>
          </a:xfrm>
          <a:prstGeom prst="curvedConnector3">
            <a:avLst>
              <a:gd fmla="val 39687500" name="adj1"/>
            </a:avLst>
          </a:prstGeom>
          <a:noFill/>
          <a:ln cap="flat" cmpd="sng" w="19050">
            <a:solidFill>
              <a:srgbClr val="FF0000"/>
            </a:solidFill>
            <a:prstDash val="solid"/>
            <a:round/>
            <a:headEnd len="sm" w="sm" type="none"/>
            <a:tailEnd len="med" w="med" type="triangle"/>
          </a:ln>
        </p:spPr>
      </p:cxnSp>
      <p:sp>
        <p:nvSpPr>
          <p:cNvPr id="2266" name="Google Shape;2266;p88"/>
          <p:cNvSpPr/>
          <p:nvPr/>
        </p:nvSpPr>
        <p:spPr>
          <a:xfrm>
            <a:off x="1936650" y="4204824"/>
            <a:ext cx="1821000" cy="771000"/>
          </a:xfrm>
          <a:prstGeom prst="wedgeRoundRectCallout">
            <a:avLst>
              <a:gd fmla="val 48812" name="adj1"/>
              <a:gd fmla="val -83479"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Not it! And I don't have any neighbors left to search. I'll </a:t>
            </a:r>
            <a:r>
              <a:rPr b="1" i="1" lang="en" sz="1000" u="none" cap="none" strike="noStrike">
                <a:solidFill>
                  <a:srgbClr val="FF9900"/>
                </a:solidFill>
                <a:latin typeface="Arial"/>
                <a:ea typeface="Arial"/>
                <a:cs typeface="Arial"/>
                <a:sym typeface="Arial"/>
              </a:rPr>
              <a:t>return</a:t>
            </a:r>
            <a:r>
              <a:rPr b="0" i="0" lang="en" sz="1000" u="none" cap="none" strike="noStrike">
                <a:solidFill>
                  <a:srgbClr val="FF9900"/>
                </a:solidFill>
                <a:latin typeface="Arial"/>
                <a:ea typeface="Arial"/>
                <a:cs typeface="Arial"/>
                <a:sym typeface="Arial"/>
              </a:rPr>
              <a:t> </a:t>
            </a:r>
            <a:r>
              <a:rPr b="0" i="0" lang="en" sz="1000" u="none" cap="none" strike="noStrike">
                <a:solidFill>
                  <a:srgbClr val="FF9900"/>
                </a:solidFill>
                <a:latin typeface="Courier New"/>
                <a:ea typeface="Courier New"/>
                <a:cs typeface="Courier New"/>
                <a:sym typeface="Courier New"/>
              </a:rPr>
              <a:t>null</a:t>
            </a:r>
            <a:r>
              <a:rPr b="0" i="0" lang="en"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grpSp>
        <p:nvGrpSpPr>
          <p:cNvPr id="2267" name="Google Shape;2267;p88"/>
          <p:cNvGrpSpPr/>
          <p:nvPr/>
        </p:nvGrpSpPr>
        <p:grpSpPr>
          <a:xfrm>
            <a:off x="4140052" y="3774216"/>
            <a:ext cx="949500" cy="503319"/>
            <a:chOff x="4140052" y="3774216"/>
            <a:chExt cx="949500" cy="503319"/>
          </a:xfrm>
        </p:grpSpPr>
        <p:cxnSp>
          <p:nvCxnSpPr>
            <p:cNvPr id="2268" name="Google Shape;2268;p88"/>
            <p:cNvCxnSpPr>
              <a:endCxn id="2250" idx="3"/>
            </p:cNvCxnSpPr>
            <p:nvPr/>
          </p:nvCxnSpPr>
          <p:spPr>
            <a:xfrm>
              <a:off x="4140052" y="3774216"/>
              <a:ext cx="949500" cy="292200"/>
            </a:xfrm>
            <a:prstGeom prst="curvedConnector4">
              <a:avLst>
                <a:gd fmla="val 46812" name="adj1"/>
                <a:gd fmla="val 144442" name="adj2"/>
              </a:avLst>
            </a:prstGeom>
            <a:noFill/>
            <a:ln cap="flat" cmpd="sng" w="19050">
              <a:solidFill>
                <a:srgbClr val="FF9900"/>
              </a:solidFill>
              <a:prstDash val="solid"/>
              <a:round/>
              <a:headEnd len="sm" w="sm" type="none"/>
              <a:tailEnd len="med" w="med" type="triangle"/>
            </a:ln>
          </p:spPr>
        </p:cxnSp>
        <p:sp>
          <p:nvSpPr>
            <p:cNvPr id="2269" name="Google Shape;2269;p88"/>
            <p:cNvSpPr txBox="1"/>
            <p:nvPr/>
          </p:nvSpPr>
          <p:spPr>
            <a:xfrm>
              <a:off x="4258790" y="4041735"/>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cxnSp>
        <p:nvCxnSpPr>
          <p:cNvPr id="2270" name="Google Shape;2270;p88"/>
          <p:cNvCxnSpPr/>
          <p:nvPr/>
        </p:nvCxnSpPr>
        <p:spPr>
          <a:xfrm>
            <a:off x="2541050" y="2650300"/>
            <a:ext cx="839400" cy="0"/>
          </a:xfrm>
          <a:prstGeom prst="straightConnector1">
            <a:avLst/>
          </a:prstGeom>
          <a:noFill/>
          <a:ln cap="flat" cmpd="sng" w="19050">
            <a:solidFill>
              <a:srgbClr val="FF0000"/>
            </a:solidFill>
            <a:prstDash val="solid"/>
            <a:round/>
            <a:headEnd len="sm" w="sm" type="none"/>
            <a:tailEnd len="med" w="med" type="triangle"/>
          </a:ln>
        </p:spPr>
      </p:cxnSp>
      <p:pic>
        <p:nvPicPr>
          <p:cNvPr id="2271" name="Google Shape;2271;p88"/>
          <p:cNvPicPr preferRelativeResize="0"/>
          <p:nvPr/>
        </p:nvPicPr>
        <p:blipFill rotWithShape="1">
          <a:blip r:embed="rId3">
            <a:alphaModFix/>
          </a:blip>
          <a:srcRect b="0" l="0" r="0" t="0"/>
          <a:stretch/>
        </p:blipFill>
        <p:spPr>
          <a:xfrm>
            <a:off x="501799" y="2368250"/>
            <a:ext cx="1958226" cy="1919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60"/>
                                        </p:tgtEl>
                                        <p:attrNameLst>
                                          <p:attrName>style.visibility</p:attrName>
                                        </p:attrNameLst>
                                      </p:cBhvr>
                                      <p:to>
                                        <p:strVal val="visible"/>
                                      </p:to>
                                    </p:set>
                                    <p:animEffect filter="fade" transition="in">
                                      <p:cBhvr>
                                        <p:cTn dur="1000"/>
                                        <p:tgtEl>
                                          <p:spTgt spid="22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65"/>
                                        </p:tgtEl>
                                        <p:attrNameLst>
                                          <p:attrName>style.visibility</p:attrName>
                                        </p:attrNameLst>
                                      </p:cBhvr>
                                      <p:to>
                                        <p:strVal val="visible"/>
                                      </p:to>
                                    </p:set>
                                    <p:animEffect filter="fade" transition="in">
                                      <p:cBhvr>
                                        <p:cTn dur="1000"/>
                                        <p:tgtEl>
                                          <p:spTgt spid="22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6"/>
                                        </p:tgtEl>
                                        <p:attrNameLst>
                                          <p:attrName>style.visibility</p:attrName>
                                        </p:attrNameLst>
                                      </p:cBhvr>
                                      <p:to>
                                        <p:strVal val="visible"/>
                                      </p:to>
                                    </p:set>
                                    <p:animEffect filter="fade" transition="in">
                                      <p:cBhvr>
                                        <p:cTn dur="1000"/>
                                        <p:tgtEl>
                                          <p:spTgt spid="226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267"/>
                                        </p:tgtEl>
                                        <p:attrNameLst>
                                          <p:attrName>style.visibility</p:attrName>
                                        </p:attrNameLst>
                                      </p:cBhvr>
                                      <p:to>
                                        <p:strVal val="visible"/>
                                      </p:to>
                                    </p:set>
                                    <p:animEffect filter="fade" transition="in">
                                      <p:cBhvr>
                                        <p:cTn dur="1000"/>
                                        <p:tgtEl>
                                          <p:spTgt spid="22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260"/>
                                        </p:tgtEl>
                                      </p:cBhvr>
                                    </p:animEffect>
                                    <p:set>
                                      <p:cBhvr>
                                        <p:cTn dur="1" fill="hold">
                                          <p:stCondLst>
                                            <p:cond delay="1000"/>
                                          </p:stCondLst>
                                        </p:cTn>
                                        <p:tgtEl>
                                          <p:spTgt spid="226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66"/>
                                        </p:tgtEl>
                                      </p:cBhvr>
                                    </p:animEffect>
                                    <p:set>
                                      <p:cBhvr>
                                        <p:cTn dur="1" fill="hold">
                                          <p:stCondLst>
                                            <p:cond delay="1000"/>
                                          </p:stCondLst>
                                        </p:cTn>
                                        <p:tgtEl>
                                          <p:spTgt spid="2266"/>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8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Path Illustrated Example: Y to Z</a:t>
            </a:r>
            <a:endParaRPr/>
          </a:p>
        </p:txBody>
      </p:sp>
      <p:sp>
        <p:nvSpPr>
          <p:cNvPr id="2277" name="Google Shape;2277;p8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pSp>
        <p:nvGrpSpPr>
          <p:cNvPr id="2278" name="Google Shape;2278;p89"/>
          <p:cNvGrpSpPr/>
          <p:nvPr/>
        </p:nvGrpSpPr>
        <p:grpSpPr>
          <a:xfrm>
            <a:off x="3319866" y="2025381"/>
            <a:ext cx="2380778" cy="2101576"/>
            <a:chOff x="119466" y="1644381"/>
            <a:chExt cx="2380778" cy="2101576"/>
          </a:xfrm>
        </p:grpSpPr>
        <p:sp>
          <p:nvSpPr>
            <p:cNvPr id="2279" name="Google Shape;2279;p89"/>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280" name="Google Shape;2280;p89"/>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281" name="Google Shape;2281;p89"/>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282" name="Google Shape;2282;p89"/>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283" name="Google Shape;2283;p89"/>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284" name="Google Shape;2284;p89"/>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285" name="Google Shape;2285;p89"/>
            <p:cNvCxnSpPr>
              <a:stCxn id="2279" idx="2"/>
              <a:endCxn id="2281"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286" name="Google Shape;2286;p89"/>
            <p:cNvCxnSpPr>
              <a:stCxn id="2281" idx="5"/>
              <a:endCxn id="2283"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287" name="Google Shape;2287;p89"/>
            <p:cNvCxnSpPr>
              <a:stCxn id="2283" idx="3"/>
              <a:endCxn id="2282"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288" name="Google Shape;2288;p89"/>
            <p:cNvCxnSpPr>
              <a:stCxn id="2282" idx="6"/>
              <a:endCxn id="2284"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289" name="Google Shape;2289;p89"/>
            <p:cNvCxnSpPr>
              <a:stCxn id="2284" idx="0"/>
              <a:endCxn id="2283"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290" name="Google Shape;2290;p89"/>
            <p:cNvCxnSpPr>
              <a:stCxn id="2283" idx="7"/>
              <a:endCxn id="2280"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291" name="Google Shape;2291;p89"/>
            <p:cNvCxnSpPr>
              <a:stCxn id="2280" idx="4"/>
              <a:endCxn id="2284"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cxnSp>
        <p:nvCxnSpPr>
          <p:cNvPr id="2292" name="Google Shape;2292;p89"/>
          <p:cNvCxnSpPr>
            <a:stCxn id="2281" idx="6"/>
            <a:endCxn id="2283" idx="0"/>
          </p:cNvCxnSpPr>
          <p:nvPr/>
        </p:nvCxnSpPr>
        <p:spPr>
          <a:xfrm>
            <a:off x="3733266" y="2796462"/>
            <a:ext cx="777000" cy="174000"/>
          </a:xfrm>
          <a:prstGeom prst="curvedConnector2">
            <a:avLst/>
          </a:prstGeom>
          <a:noFill/>
          <a:ln cap="flat" cmpd="sng" w="19050">
            <a:solidFill>
              <a:srgbClr val="FF0000"/>
            </a:solidFill>
            <a:prstDash val="solid"/>
            <a:round/>
            <a:headEnd len="sm" w="sm" type="none"/>
            <a:tailEnd len="med" w="med" type="triangle"/>
          </a:ln>
        </p:spPr>
      </p:cxnSp>
      <p:cxnSp>
        <p:nvCxnSpPr>
          <p:cNvPr id="2293" name="Google Shape;2293;p89"/>
          <p:cNvCxnSpPr>
            <a:stCxn id="2283" idx="4"/>
            <a:endCxn id="2284" idx="2"/>
          </p:cNvCxnSpPr>
          <p:nvPr/>
        </p:nvCxnSpPr>
        <p:spPr>
          <a:xfrm flipH="1" rot="-5400000">
            <a:off x="4501479" y="3392667"/>
            <a:ext cx="536400" cy="518700"/>
          </a:xfrm>
          <a:prstGeom prst="curvedConnector2">
            <a:avLst/>
          </a:prstGeom>
          <a:noFill/>
          <a:ln cap="flat" cmpd="sng" w="19050">
            <a:solidFill>
              <a:srgbClr val="FF0000"/>
            </a:solidFill>
            <a:prstDash val="solid"/>
            <a:round/>
            <a:headEnd len="sm" w="sm" type="none"/>
            <a:tailEnd len="med" w="med" type="triangle"/>
          </a:ln>
        </p:spPr>
      </p:cxnSp>
      <p:cxnSp>
        <p:nvCxnSpPr>
          <p:cNvPr id="2294" name="Google Shape;2294;p89"/>
          <p:cNvCxnSpPr>
            <a:stCxn id="2284" idx="6"/>
            <a:endCxn id="2280" idx="6"/>
          </p:cNvCxnSpPr>
          <p:nvPr/>
        </p:nvCxnSpPr>
        <p:spPr>
          <a:xfrm flipH="1" rot="10800000">
            <a:off x="5442411" y="2796457"/>
            <a:ext cx="258300" cy="1123800"/>
          </a:xfrm>
          <a:prstGeom prst="curvedConnector3">
            <a:avLst>
              <a:gd fmla="val 192163" name="adj1"/>
            </a:avLst>
          </a:prstGeom>
          <a:noFill/>
          <a:ln cap="flat" cmpd="sng" w="19050">
            <a:solidFill>
              <a:srgbClr val="FF0000"/>
            </a:solidFill>
            <a:prstDash val="solid"/>
            <a:round/>
            <a:headEnd len="sm" w="sm" type="none"/>
            <a:tailEnd len="med" w="med" type="triangle"/>
          </a:ln>
        </p:spPr>
      </p:cxnSp>
      <p:grpSp>
        <p:nvGrpSpPr>
          <p:cNvPr id="2295" name="Google Shape;2295;p89"/>
          <p:cNvGrpSpPr/>
          <p:nvPr/>
        </p:nvGrpSpPr>
        <p:grpSpPr>
          <a:xfrm>
            <a:off x="5235703" y="2942672"/>
            <a:ext cx="714787" cy="771000"/>
            <a:chOff x="5235703" y="2942672"/>
            <a:chExt cx="714787" cy="771000"/>
          </a:xfrm>
        </p:grpSpPr>
        <p:cxnSp>
          <p:nvCxnSpPr>
            <p:cNvPr id="2296" name="Google Shape;2296;p89"/>
            <p:cNvCxnSpPr>
              <a:stCxn id="2280" idx="5"/>
              <a:endCxn id="2284" idx="0"/>
            </p:cNvCxnSpPr>
            <p:nvPr/>
          </p:nvCxnSpPr>
          <p:spPr>
            <a:xfrm rot="5400000">
              <a:off x="5052403" y="3125972"/>
              <a:ext cx="771000" cy="404400"/>
            </a:xfrm>
            <a:prstGeom prst="curvedConnector3">
              <a:avLst>
                <a:gd fmla="val 53919" name="adj1"/>
              </a:avLst>
            </a:prstGeom>
            <a:noFill/>
            <a:ln cap="flat" cmpd="sng" w="19050">
              <a:solidFill>
                <a:srgbClr val="FF9900"/>
              </a:solidFill>
              <a:prstDash val="solid"/>
              <a:round/>
              <a:headEnd len="sm" w="sm" type="none"/>
              <a:tailEnd len="med" w="med" type="triangle"/>
            </a:ln>
          </p:spPr>
        </p:cxnSp>
        <p:sp>
          <p:nvSpPr>
            <p:cNvPr id="2297" name="Google Shape;2297;p89"/>
            <p:cNvSpPr txBox="1"/>
            <p:nvPr/>
          </p:nvSpPr>
          <p:spPr>
            <a:xfrm>
              <a:off x="5401790" y="3215840"/>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cxnSp>
        <p:nvCxnSpPr>
          <p:cNvPr id="2298" name="Google Shape;2298;p89"/>
          <p:cNvCxnSpPr>
            <a:stCxn id="2284" idx="4"/>
            <a:endCxn id="2282" idx="4"/>
          </p:cNvCxnSpPr>
          <p:nvPr/>
        </p:nvCxnSpPr>
        <p:spPr>
          <a:xfrm rot="5400000">
            <a:off x="4614561" y="3506407"/>
            <a:ext cx="600" cy="1241700"/>
          </a:xfrm>
          <a:prstGeom prst="curvedConnector3">
            <a:avLst>
              <a:gd fmla="val 39687500" name="adj1"/>
            </a:avLst>
          </a:prstGeom>
          <a:noFill/>
          <a:ln cap="flat" cmpd="sng" w="19050">
            <a:solidFill>
              <a:srgbClr val="FF0000"/>
            </a:solidFill>
            <a:prstDash val="solid"/>
            <a:round/>
            <a:headEnd len="sm" w="sm" type="none"/>
            <a:tailEnd len="med" w="med" type="triangle"/>
          </a:ln>
        </p:spPr>
      </p:cxnSp>
      <p:sp>
        <p:nvSpPr>
          <p:cNvPr id="2299" name="Google Shape;2299;p89"/>
          <p:cNvSpPr/>
          <p:nvPr/>
        </p:nvSpPr>
        <p:spPr>
          <a:xfrm>
            <a:off x="5700650" y="4030649"/>
            <a:ext cx="1821000" cy="771000"/>
          </a:xfrm>
          <a:prstGeom prst="wedgeRoundRectCallout">
            <a:avLst>
              <a:gd fmla="val -65051" name="adj1"/>
              <a:gd fmla="val -5006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Welp, that's it for my neighbors. If there's a path to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it ain't through me. I'll </a:t>
            </a:r>
            <a:r>
              <a:rPr b="1" i="1" lang="en" sz="1000" u="none" cap="none" strike="noStrike">
                <a:solidFill>
                  <a:srgbClr val="FF9900"/>
                </a:solidFill>
                <a:latin typeface="Arial"/>
                <a:ea typeface="Arial"/>
                <a:cs typeface="Arial"/>
                <a:sym typeface="Arial"/>
              </a:rPr>
              <a:t>return</a:t>
            </a:r>
            <a:r>
              <a:rPr b="0" i="0" lang="en" sz="1000" u="none" cap="none" strike="noStrike">
                <a:solidFill>
                  <a:srgbClr val="FF9900"/>
                </a:solidFill>
                <a:latin typeface="Arial"/>
                <a:ea typeface="Arial"/>
                <a:cs typeface="Arial"/>
                <a:sym typeface="Arial"/>
              </a:rPr>
              <a:t> </a:t>
            </a:r>
            <a:r>
              <a:rPr b="0" i="0" lang="en" sz="1000" u="none" cap="none" strike="noStrike">
                <a:solidFill>
                  <a:srgbClr val="FF9900"/>
                </a:solidFill>
                <a:latin typeface="Courier New"/>
                <a:ea typeface="Courier New"/>
                <a:cs typeface="Courier New"/>
                <a:sym typeface="Courier New"/>
              </a:rPr>
              <a:t>null</a:t>
            </a:r>
            <a:r>
              <a:rPr b="0" i="0" lang="en" sz="1000" u="none" cap="none" strike="noStrike">
                <a:solidFill>
                  <a:srgbClr val="000000"/>
                </a:solidFill>
                <a:latin typeface="Arial"/>
                <a:ea typeface="Arial"/>
                <a:cs typeface="Arial"/>
                <a:sym typeface="Arial"/>
              </a:rPr>
              <a:t>.</a:t>
            </a:r>
            <a:endParaRPr b="0" i="0" sz="1000" u="none" cap="none" strike="noStrike">
              <a:solidFill>
                <a:srgbClr val="000000"/>
              </a:solidFill>
              <a:latin typeface="Arial"/>
              <a:ea typeface="Arial"/>
              <a:cs typeface="Arial"/>
              <a:sym typeface="Arial"/>
            </a:endParaRPr>
          </a:p>
        </p:txBody>
      </p:sp>
      <p:grpSp>
        <p:nvGrpSpPr>
          <p:cNvPr id="2300" name="Google Shape;2300;p89"/>
          <p:cNvGrpSpPr/>
          <p:nvPr/>
        </p:nvGrpSpPr>
        <p:grpSpPr>
          <a:xfrm>
            <a:off x="4140052" y="3774216"/>
            <a:ext cx="949500" cy="503319"/>
            <a:chOff x="4140052" y="3774216"/>
            <a:chExt cx="949500" cy="503319"/>
          </a:xfrm>
        </p:grpSpPr>
        <p:cxnSp>
          <p:nvCxnSpPr>
            <p:cNvPr id="2301" name="Google Shape;2301;p89"/>
            <p:cNvCxnSpPr>
              <a:endCxn id="2284" idx="3"/>
            </p:cNvCxnSpPr>
            <p:nvPr/>
          </p:nvCxnSpPr>
          <p:spPr>
            <a:xfrm>
              <a:off x="4140052" y="3774216"/>
              <a:ext cx="949500" cy="292200"/>
            </a:xfrm>
            <a:prstGeom prst="curvedConnector4">
              <a:avLst>
                <a:gd fmla="val 46812" name="adj1"/>
                <a:gd fmla="val 140233" name="adj2"/>
              </a:avLst>
            </a:prstGeom>
            <a:noFill/>
            <a:ln cap="flat" cmpd="sng" w="19050">
              <a:solidFill>
                <a:srgbClr val="FF9900"/>
              </a:solidFill>
              <a:prstDash val="solid"/>
              <a:round/>
              <a:headEnd len="sm" w="sm" type="none"/>
              <a:tailEnd len="med" w="med" type="triangle"/>
            </a:ln>
          </p:spPr>
        </p:cxnSp>
        <p:sp>
          <p:nvSpPr>
            <p:cNvPr id="2302" name="Google Shape;2302;p89"/>
            <p:cNvSpPr txBox="1"/>
            <p:nvPr/>
          </p:nvSpPr>
          <p:spPr>
            <a:xfrm>
              <a:off x="4258790" y="4041735"/>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grpSp>
        <p:nvGrpSpPr>
          <p:cNvPr id="2303" name="Google Shape;2303;p89"/>
          <p:cNvGrpSpPr/>
          <p:nvPr/>
        </p:nvGrpSpPr>
        <p:grpSpPr>
          <a:xfrm>
            <a:off x="4716952" y="3063440"/>
            <a:ext cx="623938" cy="710658"/>
            <a:chOff x="4716952" y="3063440"/>
            <a:chExt cx="623938" cy="710658"/>
          </a:xfrm>
        </p:grpSpPr>
        <p:cxnSp>
          <p:nvCxnSpPr>
            <p:cNvPr id="2304" name="Google Shape;2304;p89"/>
            <p:cNvCxnSpPr>
              <a:stCxn id="2284" idx="1"/>
              <a:endCxn id="2283" idx="6"/>
            </p:cNvCxnSpPr>
            <p:nvPr/>
          </p:nvCxnSpPr>
          <p:spPr>
            <a:xfrm flipH="1" rot="5400000">
              <a:off x="4604752" y="3289298"/>
              <a:ext cx="597000" cy="372600"/>
            </a:xfrm>
            <a:prstGeom prst="curvedConnector2">
              <a:avLst/>
            </a:prstGeom>
            <a:noFill/>
            <a:ln cap="flat" cmpd="sng" w="19050">
              <a:solidFill>
                <a:srgbClr val="FF9900"/>
              </a:solidFill>
              <a:prstDash val="solid"/>
              <a:round/>
              <a:headEnd len="sm" w="sm" type="none"/>
              <a:tailEnd len="med" w="med" type="triangle"/>
            </a:ln>
          </p:spPr>
        </p:cxnSp>
        <p:sp>
          <p:nvSpPr>
            <p:cNvPr id="2305" name="Google Shape;2305;p89"/>
            <p:cNvSpPr txBox="1"/>
            <p:nvPr/>
          </p:nvSpPr>
          <p:spPr>
            <a:xfrm>
              <a:off x="4792190" y="3063440"/>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sp>
        <p:nvSpPr>
          <p:cNvPr id="2306" name="Google Shape;2306;p89"/>
          <p:cNvSpPr/>
          <p:nvPr/>
        </p:nvSpPr>
        <p:spPr>
          <a:xfrm>
            <a:off x="4850200" y="2025375"/>
            <a:ext cx="902400" cy="430500"/>
          </a:xfrm>
          <a:prstGeom prst="wedgeRoundRectCallout">
            <a:avLst>
              <a:gd fmla="val -76809" name="adj1"/>
              <a:gd fmla="val 16987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Samesies.</a:t>
            </a:r>
            <a:endParaRPr b="0" i="0" sz="1000" u="none" cap="none" strike="noStrike">
              <a:solidFill>
                <a:srgbClr val="000000"/>
              </a:solidFill>
              <a:latin typeface="Arial"/>
              <a:ea typeface="Arial"/>
              <a:cs typeface="Arial"/>
              <a:sym typeface="Arial"/>
            </a:endParaRPr>
          </a:p>
        </p:txBody>
      </p:sp>
      <p:grpSp>
        <p:nvGrpSpPr>
          <p:cNvPr id="2307" name="Google Shape;2307;p89"/>
          <p:cNvGrpSpPr/>
          <p:nvPr/>
        </p:nvGrpSpPr>
        <p:grpSpPr>
          <a:xfrm>
            <a:off x="3526629" y="3003117"/>
            <a:ext cx="777000" cy="353865"/>
            <a:chOff x="3526629" y="3003117"/>
            <a:chExt cx="777000" cy="353865"/>
          </a:xfrm>
        </p:grpSpPr>
        <p:cxnSp>
          <p:nvCxnSpPr>
            <p:cNvPr id="2308" name="Google Shape;2308;p89"/>
            <p:cNvCxnSpPr>
              <a:stCxn id="2283" idx="2"/>
              <a:endCxn id="2281" idx="4"/>
            </p:cNvCxnSpPr>
            <p:nvPr/>
          </p:nvCxnSpPr>
          <p:spPr>
            <a:xfrm rot="10800000">
              <a:off x="3526629" y="3003117"/>
              <a:ext cx="777000" cy="174000"/>
            </a:xfrm>
            <a:prstGeom prst="curvedConnector2">
              <a:avLst/>
            </a:prstGeom>
            <a:noFill/>
            <a:ln cap="flat" cmpd="sng" w="19050">
              <a:solidFill>
                <a:srgbClr val="FF9900"/>
              </a:solidFill>
              <a:prstDash val="solid"/>
              <a:round/>
              <a:headEnd len="sm" w="sm" type="none"/>
              <a:tailEnd len="med" w="med" type="triangle"/>
            </a:ln>
          </p:spPr>
        </p:cxnSp>
        <p:sp>
          <p:nvSpPr>
            <p:cNvPr id="2309" name="Google Shape;2309;p89"/>
            <p:cNvSpPr txBox="1"/>
            <p:nvPr/>
          </p:nvSpPr>
          <p:spPr>
            <a:xfrm>
              <a:off x="3572990" y="3121182"/>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sp>
        <p:nvSpPr>
          <p:cNvPr id="2310" name="Google Shape;2310;p89"/>
          <p:cNvSpPr/>
          <p:nvPr/>
        </p:nvSpPr>
        <p:spPr>
          <a:xfrm>
            <a:off x="1513575" y="1568175"/>
            <a:ext cx="1452000" cy="710700"/>
          </a:xfrm>
          <a:prstGeom prst="wedgeRoundRectCallout">
            <a:avLst>
              <a:gd fmla="val 78600" name="adj1"/>
              <a:gd fmla="val 86622"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I guess I'll try my other unsearched neighbor....</a:t>
            </a:r>
            <a:endParaRPr b="0" i="0" sz="1000" u="none" cap="none" strike="noStrike">
              <a:solidFill>
                <a:srgbClr val="000000"/>
              </a:solidFill>
              <a:latin typeface="Arial"/>
              <a:ea typeface="Arial"/>
              <a:cs typeface="Arial"/>
              <a:sym typeface="Arial"/>
            </a:endParaRPr>
          </a:p>
        </p:txBody>
      </p:sp>
      <p:cxnSp>
        <p:nvCxnSpPr>
          <p:cNvPr id="2311" name="Google Shape;2311;p89"/>
          <p:cNvCxnSpPr>
            <a:stCxn id="2281" idx="0"/>
            <a:endCxn id="2279" idx="1"/>
          </p:cNvCxnSpPr>
          <p:nvPr/>
        </p:nvCxnSpPr>
        <p:spPr>
          <a:xfrm rot="-5400000">
            <a:off x="3693516" y="1919112"/>
            <a:ext cx="503700" cy="837600"/>
          </a:xfrm>
          <a:prstGeom prst="curvedConnector3">
            <a:avLst>
              <a:gd fmla="val 159322" name="adj1"/>
            </a:avLst>
          </a:prstGeom>
          <a:noFill/>
          <a:ln cap="flat" cmpd="sng" w="19050">
            <a:solidFill>
              <a:srgbClr val="FF0000"/>
            </a:solidFill>
            <a:prstDash val="solid"/>
            <a:round/>
            <a:headEnd len="sm" w="sm" type="none"/>
            <a:tailEnd len="med" w="med" type="triangle"/>
          </a:ln>
        </p:spPr>
      </p:cxnSp>
      <p:cxnSp>
        <p:nvCxnSpPr>
          <p:cNvPr id="2312" name="Google Shape;2312;p89"/>
          <p:cNvCxnSpPr/>
          <p:nvPr/>
        </p:nvCxnSpPr>
        <p:spPr>
          <a:xfrm>
            <a:off x="2541050" y="2650300"/>
            <a:ext cx="839400" cy="0"/>
          </a:xfrm>
          <a:prstGeom prst="straightConnector1">
            <a:avLst/>
          </a:prstGeom>
          <a:noFill/>
          <a:ln cap="flat" cmpd="sng" w="19050">
            <a:solidFill>
              <a:srgbClr val="FF0000"/>
            </a:solidFill>
            <a:prstDash val="solid"/>
            <a:round/>
            <a:headEnd len="sm" w="sm" type="none"/>
            <a:tailEnd len="med" w="med" type="triangle"/>
          </a:ln>
        </p:spPr>
      </p:cxnSp>
      <p:pic>
        <p:nvPicPr>
          <p:cNvPr id="2313" name="Google Shape;2313;p89"/>
          <p:cNvPicPr preferRelativeResize="0"/>
          <p:nvPr/>
        </p:nvPicPr>
        <p:blipFill rotWithShape="1">
          <a:blip r:embed="rId3">
            <a:alphaModFix/>
          </a:blip>
          <a:srcRect b="0" l="0" r="0" t="0"/>
          <a:stretch/>
        </p:blipFill>
        <p:spPr>
          <a:xfrm>
            <a:off x="501799" y="2368250"/>
            <a:ext cx="1958226" cy="19198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299"/>
                                        </p:tgtEl>
                                        <p:attrNameLst>
                                          <p:attrName>style.visibility</p:attrName>
                                        </p:attrNameLst>
                                      </p:cBhvr>
                                      <p:to>
                                        <p:strVal val="visible"/>
                                      </p:to>
                                    </p:set>
                                    <p:animEffect filter="fade" transition="in">
                                      <p:cBhvr>
                                        <p:cTn dur="1000"/>
                                        <p:tgtEl>
                                          <p:spTgt spid="22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3"/>
                                        </p:tgtEl>
                                        <p:attrNameLst>
                                          <p:attrName>style.visibility</p:attrName>
                                        </p:attrNameLst>
                                      </p:cBhvr>
                                      <p:to>
                                        <p:strVal val="visible"/>
                                      </p:to>
                                    </p:set>
                                    <p:animEffect filter="fade" transition="in">
                                      <p:cBhvr>
                                        <p:cTn dur="1000"/>
                                        <p:tgtEl>
                                          <p:spTgt spid="230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06"/>
                                        </p:tgtEl>
                                        <p:attrNameLst>
                                          <p:attrName>style.visibility</p:attrName>
                                        </p:attrNameLst>
                                      </p:cBhvr>
                                      <p:to>
                                        <p:strVal val="visible"/>
                                      </p:to>
                                    </p:set>
                                    <p:animEffect filter="fade" transition="in">
                                      <p:cBhvr>
                                        <p:cTn dur="1000"/>
                                        <p:tgtEl>
                                          <p:spTgt spid="23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07"/>
                                        </p:tgtEl>
                                        <p:attrNameLst>
                                          <p:attrName>style.visibility</p:attrName>
                                        </p:attrNameLst>
                                      </p:cBhvr>
                                      <p:to>
                                        <p:strVal val="visible"/>
                                      </p:to>
                                    </p:set>
                                    <p:animEffect filter="fade" transition="in">
                                      <p:cBhvr>
                                        <p:cTn dur="1000"/>
                                        <p:tgtEl>
                                          <p:spTgt spid="23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10"/>
                                        </p:tgtEl>
                                        <p:attrNameLst>
                                          <p:attrName>style.visibility</p:attrName>
                                        </p:attrNameLst>
                                      </p:cBhvr>
                                      <p:to>
                                        <p:strVal val="visible"/>
                                      </p:to>
                                    </p:set>
                                    <p:animEffect filter="fade" transition="in">
                                      <p:cBhvr>
                                        <p:cTn dur="1000"/>
                                        <p:tgtEl>
                                          <p:spTgt spid="231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11"/>
                                        </p:tgtEl>
                                        <p:attrNameLst>
                                          <p:attrName>style.visibility</p:attrName>
                                        </p:attrNameLst>
                                      </p:cBhvr>
                                      <p:to>
                                        <p:strVal val="visible"/>
                                      </p:to>
                                    </p:set>
                                    <p:animEffect filter="fade" transition="in">
                                      <p:cBhvr>
                                        <p:cTn dur="1000"/>
                                        <p:tgtEl>
                                          <p:spTgt spid="23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xit" presetID="10" presetSubtype="0">
                                  <p:stCondLst>
                                    <p:cond delay="0"/>
                                  </p:stCondLst>
                                  <p:childTnLst>
                                    <p:animEffect filter="fade" transition="out">
                                      <p:cBhvr>
                                        <p:cTn dur="1000"/>
                                        <p:tgtEl>
                                          <p:spTgt spid="2306"/>
                                        </p:tgtEl>
                                      </p:cBhvr>
                                    </p:animEffect>
                                    <p:set>
                                      <p:cBhvr>
                                        <p:cTn dur="1" fill="hold">
                                          <p:stCondLst>
                                            <p:cond delay="1000"/>
                                          </p:stCondLst>
                                        </p:cTn>
                                        <p:tgtEl>
                                          <p:spTgt spid="2306"/>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310"/>
                                        </p:tgtEl>
                                      </p:cBhvr>
                                    </p:animEffect>
                                    <p:set>
                                      <p:cBhvr>
                                        <p:cTn dur="1" fill="hold">
                                          <p:stCondLst>
                                            <p:cond delay="1000"/>
                                          </p:stCondLst>
                                        </p:cTn>
                                        <p:tgtEl>
                                          <p:spTgt spid="2310"/>
                                        </p:tgtEl>
                                        <p:attrNameLst>
                                          <p:attrName>style.visibility</p:attrName>
                                        </p:attrNameLst>
                                      </p:cBhvr>
                                      <p:to>
                                        <p:strVal val="hidden"/>
                                      </p:to>
                                    </p:set>
                                  </p:childTnLst>
                                </p:cTn>
                              </p:par>
                              <p:par>
                                <p:cTn fill="hold" nodeType="withEffect" presetClass="exit" presetID="10" presetSubtype="0">
                                  <p:stCondLst>
                                    <p:cond delay="0"/>
                                  </p:stCondLst>
                                  <p:childTnLst>
                                    <p:animEffect filter="fade" transition="out">
                                      <p:cBhvr>
                                        <p:cTn dur="1000"/>
                                        <p:tgtEl>
                                          <p:spTgt spid="2299"/>
                                        </p:tgtEl>
                                      </p:cBhvr>
                                    </p:animEffect>
                                    <p:set>
                                      <p:cBhvr>
                                        <p:cTn dur="1" fill="hold">
                                          <p:stCondLst>
                                            <p:cond delay="1000"/>
                                          </p:stCondLst>
                                        </p:cTn>
                                        <p:tgtEl>
                                          <p:spTgt spid="2299"/>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7" name="Shape 2317"/>
        <p:cNvGrpSpPr/>
        <p:nvPr/>
      </p:nvGrpSpPr>
      <p:grpSpPr>
        <a:xfrm>
          <a:off x="0" y="0"/>
          <a:ext cx="0" cy="0"/>
          <a:chOff x="0" y="0"/>
          <a:chExt cx="0" cy="0"/>
        </a:xfrm>
      </p:grpSpPr>
      <p:sp>
        <p:nvSpPr>
          <p:cNvPr id="2318" name="Google Shape;2318;p90"/>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DFS Path Illustrated Example: Y to Z</a:t>
            </a:r>
            <a:endParaRPr/>
          </a:p>
        </p:txBody>
      </p:sp>
      <p:sp>
        <p:nvSpPr>
          <p:cNvPr id="2319" name="Google Shape;2319;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cxnSp>
        <p:nvCxnSpPr>
          <p:cNvPr id="2320" name="Google Shape;2320;p90"/>
          <p:cNvCxnSpPr>
            <a:stCxn id="2321" idx="6"/>
            <a:endCxn id="2322" idx="0"/>
          </p:cNvCxnSpPr>
          <p:nvPr/>
        </p:nvCxnSpPr>
        <p:spPr>
          <a:xfrm>
            <a:off x="3733266" y="2796462"/>
            <a:ext cx="777000" cy="174000"/>
          </a:xfrm>
          <a:prstGeom prst="curvedConnector2">
            <a:avLst/>
          </a:prstGeom>
          <a:noFill/>
          <a:ln cap="flat" cmpd="sng" w="19050">
            <a:solidFill>
              <a:srgbClr val="FF0000"/>
            </a:solidFill>
            <a:prstDash val="solid"/>
            <a:round/>
            <a:headEnd len="sm" w="sm" type="none"/>
            <a:tailEnd len="med" w="med" type="triangle"/>
          </a:ln>
        </p:spPr>
      </p:cxnSp>
      <p:cxnSp>
        <p:nvCxnSpPr>
          <p:cNvPr id="2323" name="Google Shape;2323;p90"/>
          <p:cNvCxnSpPr>
            <a:stCxn id="2324" idx="6"/>
            <a:endCxn id="2325" idx="6"/>
          </p:cNvCxnSpPr>
          <p:nvPr/>
        </p:nvCxnSpPr>
        <p:spPr>
          <a:xfrm flipH="1" rot="10800000">
            <a:off x="5442411" y="2796457"/>
            <a:ext cx="258300" cy="1123800"/>
          </a:xfrm>
          <a:prstGeom prst="curvedConnector3">
            <a:avLst>
              <a:gd fmla="val 192163" name="adj1"/>
            </a:avLst>
          </a:prstGeom>
          <a:noFill/>
          <a:ln cap="flat" cmpd="sng" w="19050">
            <a:solidFill>
              <a:srgbClr val="FF0000"/>
            </a:solidFill>
            <a:prstDash val="solid"/>
            <a:round/>
            <a:headEnd len="sm" w="sm" type="none"/>
            <a:tailEnd len="med" w="med" type="triangle"/>
          </a:ln>
        </p:spPr>
      </p:cxnSp>
      <p:grpSp>
        <p:nvGrpSpPr>
          <p:cNvPr id="2326" name="Google Shape;2326;p90"/>
          <p:cNvGrpSpPr/>
          <p:nvPr/>
        </p:nvGrpSpPr>
        <p:grpSpPr>
          <a:xfrm>
            <a:off x="5235703" y="2942672"/>
            <a:ext cx="714787" cy="771000"/>
            <a:chOff x="5235703" y="2942672"/>
            <a:chExt cx="714787" cy="771000"/>
          </a:xfrm>
        </p:grpSpPr>
        <p:cxnSp>
          <p:nvCxnSpPr>
            <p:cNvPr id="2327" name="Google Shape;2327;p90"/>
            <p:cNvCxnSpPr>
              <a:stCxn id="2325" idx="5"/>
              <a:endCxn id="2324" idx="0"/>
            </p:cNvCxnSpPr>
            <p:nvPr/>
          </p:nvCxnSpPr>
          <p:spPr>
            <a:xfrm rot="5400000">
              <a:off x="5052403" y="3125972"/>
              <a:ext cx="771000" cy="404400"/>
            </a:xfrm>
            <a:prstGeom prst="curvedConnector3">
              <a:avLst>
                <a:gd fmla="val 53919" name="adj1"/>
              </a:avLst>
            </a:prstGeom>
            <a:noFill/>
            <a:ln cap="flat" cmpd="sng" w="19050">
              <a:solidFill>
                <a:srgbClr val="FF9900"/>
              </a:solidFill>
              <a:prstDash val="solid"/>
              <a:round/>
              <a:headEnd len="sm" w="sm" type="none"/>
              <a:tailEnd len="med" w="med" type="triangle"/>
            </a:ln>
          </p:spPr>
        </p:cxnSp>
        <p:sp>
          <p:nvSpPr>
            <p:cNvPr id="2328" name="Google Shape;2328;p90"/>
            <p:cNvSpPr txBox="1"/>
            <p:nvPr/>
          </p:nvSpPr>
          <p:spPr>
            <a:xfrm>
              <a:off x="5401790" y="3215840"/>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cxnSp>
        <p:nvCxnSpPr>
          <p:cNvPr id="2329" name="Google Shape;2329;p90"/>
          <p:cNvCxnSpPr>
            <a:stCxn id="2324" idx="4"/>
            <a:endCxn id="2330" idx="4"/>
          </p:cNvCxnSpPr>
          <p:nvPr/>
        </p:nvCxnSpPr>
        <p:spPr>
          <a:xfrm rot="5400000">
            <a:off x="4614561" y="3506407"/>
            <a:ext cx="600" cy="1241700"/>
          </a:xfrm>
          <a:prstGeom prst="curvedConnector3">
            <a:avLst>
              <a:gd fmla="val 39687500" name="adj1"/>
            </a:avLst>
          </a:prstGeom>
          <a:noFill/>
          <a:ln cap="flat" cmpd="sng" w="19050">
            <a:solidFill>
              <a:srgbClr val="FF0000"/>
            </a:solidFill>
            <a:prstDash val="solid"/>
            <a:round/>
            <a:headEnd len="sm" w="sm" type="none"/>
            <a:tailEnd len="med" w="med" type="triangle"/>
          </a:ln>
        </p:spPr>
      </p:cxnSp>
      <p:grpSp>
        <p:nvGrpSpPr>
          <p:cNvPr id="2331" name="Google Shape;2331;p90"/>
          <p:cNvGrpSpPr/>
          <p:nvPr/>
        </p:nvGrpSpPr>
        <p:grpSpPr>
          <a:xfrm>
            <a:off x="4140052" y="3774216"/>
            <a:ext cx="949500" cy="503319"/>
            <a:chOff x="4140052" y="3774216"/>
            <a:chExt cx="949500" cy="503319"/>
          </a:xfrm>
        </p:grpSpPr>
        <p:cxnSp>
          <p:nvCxnSpPr>
            <p:cNvPr id="2332" name="Google Shape;2332;p90"/>
            <p:cNvCxnSpPr>
              <a:endCxn id="2324" idx="3"/>
            </p:cNvCxnSpPr>
            <p:nvPr/>
          </p:nvCxnSpPr>
          <p:spPr>
            <a:xfrm>
              <a:off x="4140052" y="3774216"/>
              <a:ext cx="949500" cy="292200"/>
            </a:xfrm>
            <a:prstGeom prst="curvedConnector4">
              <a:avLst>
                <a:gd fmla="val 46812" name="adj1"/>
                <a:gd fmla="val 150765" name="adj2"/>
              </a:avLst>
            </a:prstGeom>
            <a:noFill/>
            <a:ln cap="flat" cmpd="sng" w="19050">
              <a:solidFill>
                <a:srgbClr val="FF9900"/>
              </a:solidFill>
              <a:prstDash val="solid"/>
              <a:round/>
              <a:headEnd len="sm" w="sm" type="none"/>
              <a:tailEnd len="med" w="med" type="triangle"/>
            </a:ln>
          </p:spPr>
        </p:cxnSp>
        <p:sp>
          <p:nvSpPr>
            <p:cNvPr id="2333" name="Google Shape;2333;p90"/>
            <p:cNvSpPr txBox="1"/>
            <p:nvPr/>
          </p:nvSpPr>
          <p:spPr>
            <a:xfrm>
              <a:off x="4258790" y="4041735"/>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grpSp>
        <p:nvGrpSpPr>
          <p:cNvPr id="2334" name="Google Shape;2334;p90"/>
          <p:cNvGrpSpPr/>
          <p:nvPr/>
        </p:nvGrpSpPr>
        <p:grpSpPr>
          <a:xfrm>
            <a:off x="4716952" y="3063440"/>
            <a:ext cx="623938" cy="710658"/>
            <a:chOff x="4716952" y="3063440"/>
            <a:chExt cx="623938" cy="710658"/>
          </a:xfrm>
        </p:grpSpPr>
        <p:cxnSp>
          <p:nvCxnSpPr>
            <p:cNvPr id="2335" name="Google Shape;2335;p90"/>
            <p:cNvCxnSpPr>
              <a:stCxn id="2324" idx="1"/>
              <a:endCxn id="2322" idx="6"/>
            </p:cNvCxnSpPr>
            <p:nvPr/>
          </p:nvCxnSpPr>
          <p:spPr>
            <a:xfrm flipH="1" rot="5400000">
              <a:off x="4604752" y="3289298"/>
              <a:ext cx="597000" cy="372600"/>
            </a:xfrm>
            <a:prstGeom prst="curvedConnector2">
              <a:avLst/>
            </a:prstGeom>
            <a:noFill/>
            <a:ln cap="flat" cmpd="sng" w="19050">
              <a:solidFill>
                <a:srgbClr val="FF9900"/>
              </a:solidFill>
              <a:prstDash val="solid"/>
              <a:round/>
              <a:headEnd len="sm" w="sm" type="none"/>
              <a:tailEnd len="med" w="med" type="triangle"/>
            </a:ln>
          </p:spPr>
        </p:cxnSp>
        <p:sp>
          <p:nvSpPr>
            <p:cNvPr id="2336" name="Google Shape;2336;p90"/>
            <p:cNvSpPr txBox="1"/>
            <p:nvPr/>
          </p:nvSpPr>
          <p:spPr>
            <a:xfrm>
              <a:off x="4792190" y="3063440"/>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grpSp>
        <p:nvGrpSpPr>
          <p:cNvPr id="2337" name="Google Shape;2337;p90"/>
          <p:cNvGrpSpPr/>
          <p:nvPr/>
        </p:nvGrpSpPr>
        <p:grpSpPr>
          <a:xfrm>
            <a:off x="3526629" y="3003117"/>
            <a:ext cx="777000" cy="353865"/>
            <a:chOff x="3526629" y="3003117"/>
            <a:chExt cx="777000" cy="353865"/>
          </a:xfrm>
        </p:grpSpPr>
        <p:cxnSp>
          <p:nvCxnSpPr>
            <p:cNvPr id="2338" name="Google Shape;2338;p90"/>
            <p:cNvCxnSpPr>
              <a:stCxn id="2322" idx="2"/>
              <a:endCxn id="2321" idx="4"/>
            </p:cNvCxnSpPr>
            <p:nvPr/>
          </p:nvCxnSpPr>
          <p:spPr>
            <a:xfrm rot="10800000">
              <a:off x="3526629" y="3003117"/>
              <a:ext cx="777000" cy="174000"/>
            </a:xfrm>
            <a:prstGeom prst="curvedConnector2">
              <a:avLst/>
            </a:prstGeom>
            <a:noFill/>
            <a:ln cap="flat" cmpd="sng" w="19050">
              <a:solidFill>
                <a:srgbClr val="FF9900"/>
              </a:solidFill>
              <a:prstDash val="solid"/>
              <a:round/>
              <a:headEnd len="sm" w="sm" type="none"/>
              <a:tailEnd len="med" w="med" type="triangle"/>
            </a:ln>
          </p:spPr>
        </p:cxnSp>
        <p:sp>
          <p:nvSpPr>
            <p:cNvPr id="2339" name="Google Shape;2339;p90"/>
            <p:cNvSpPr txBox="1"/>
            <p:nvPr/>
          </p:nvSpPr>
          <p:spPr>
            <a:xfrm>
              <a:off x="3572990" y="3121182"/>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null</a:t>
              </a:r>
              <a:endParaRPr b="0" i="0" sz="1400" u="none" cap="none" strike="noStrike">
                <a:solidFill>
                  <a:srgbClr val="000000"/>
                </a:solidFill>
                <a:latin typeface="Arial"/>
                <a:ea typeface="Arial"/>
                <a:cs typeface="Arial"/>
                <a:sym typeface="Arial"/>
              </a:endParaRPr>
            </a:p>
          </p:txBody>
        </p:sp>
      </p:grpSp>
      <p:sp>
        <p:nvSpPr>
          <p:cNvPr id="2340" name="Google Shape;2340;p90"/>
          <p:cNvSpPr/>
          <p:nvPr/>
        </p:nvSpPr>
        <p:spPr>
          <a:xfrm>
            <a:off x="4863850" y="1474275"/>
            <a:ext cx="1746300" cy="710700"/>
          </a:xfrm>
          <a:prstGeom prst="wedgeRoundRectCallout">
            <a:avLst>
              <a:gd fmla="val -58540" name="adj1"/>
              <a:gd fmla="val 34670"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1" i="1" lang="en" sz="1000" u="none" cap="none" strike="noStrike">
                <a:solidFill>
                  <a:srgbClr val="FF0000"/>
                </a:solidFill>
                <a:latin typeface="Arial"/>
                <a:ea typeface="Arial"/>
                <a:cs typeface="Arial"/>
                <a:sym typeface="Arial"/>
              </a:rPr>
              <a:t>Hello? Is it Z you're looking for?</a:t>
            </a:r>
            <a:r>
              <a:rPr b="0" i="0" lang="en" sz="1000" u="none" cap="none" strike="noStrike">
                <a:solidFill>
                  <a:srgbClr val="000000"/>
                </a:solidFill>
                <a:latin typeface="Arial"/>
                <a:ea typeface="Arial"/>
                <a:cs typeface="Arial"/>
                <a:sym typeface="Arial"/>
              </a:rPr>
              <a:t> I guess I'll make a path with </a:t>
            </a:r>
            <a:r>
              <a:rPr b="1" i="1" lang="en" sz="1000" u="none" cap="none" strike="noStrike">
                <a:solidFill>
                  <a:srgbClr val="FF0000"/>
                </a:solidFill>
                <a:latin typeface="Arial"/>
                <a:ea typeface="Arial"/>
                <a:cs typeface="Arial"/>
                <a:sym typeface="Arial"/>
              </a:rPr>
              <a:t>just my value</a:t>
            </a:r>
            <a:r>
              <a:rPr b="0" i="0" lang="en" sz="1000" u="none" cap="none" strike="noStrike">
                <a:solidFill>
                  <a:srgbClr val="000000"/>
                </a:solidFill>
                <a:latin typeface="Arial"/>
                <a:ea typeface="Arial"/>
                <a:cs typeface="Arial"/>
                <a:sym typeface="Arial"/>
              </a:rPr>
              <a:t> and return it...</a:t>
            </a:r>
            <a:endParaRPr b="0" i="0" sz="1000" u="none" cap="none" strike="noStrike">
              <a:solidFill>
                <a:srgbClr val="000000"/>
              </a:solidFill>
              <a:latin typeface="Arial"/>
              <a:ea typeface="Arial"/>
              <a:cs typeface="Arial"/>
              <a:sym typeface="Arial"/>
            </a:endParaRPr>
          </a:p>
        </p:txBody>
      </p:sp>
      <p:cxnSp>
        <p:nvCxnSpPr>
          <p:cNvPr id="2341" name="Google Shape;2341;p90"/>
          <p:cNvCxnSpPr/>
          <p:nvPr/>
        </p:nvCxnSpPr>
        <p:spPr>
          <a:xfrm flipH="1" rot="10800000">
            <a:off x="3526566" y="2086062"/>
            <a:ext cx="837600" cy="503700"/>
          </a:xfrm>
          <a:prstGeom prst="curvedConnector3">
            <a:avLst>
              <a:gd fmla="val 0" name="adj1"/>
            </a:avLst>
          </a:prstGeom>
          <a:noFill/>
          <a:ln cap="flat" cmpd="sng" w="19050">
            <a:solidFill>
              <a:srgbClr val="FF0000"/>
            </a:solidFill>
            <a:prstDash val="solid"/>
            <a:round/>
            <a:headEnd len="sm" w="sm" type="none"/>
            <a:tailEnd len="med" w="med" type="triangle"/>
          </a:ln>
        </p:spPr>
      </p:cxnSp>
      <p:grpSp>
        <p:nvGrpSpPr>
          <p:cNvPr id="2342" name="Google Shape;2342;p90"/>
          <p:cNvGrpSpPr/>
          <p:nvPr/>
        </p:nvGrpSpPr>
        <p:grpSpPr>
          <a:xfrm>
            <a:off x="3319866" y="2025381"/>
            <a:ext cx="2380778" cy="2101576"/>
            <a:chOff x="119466" y="1644381"/>
            <a:chExt cx="2380778" cy="2101576"/>
          </a:xfrm>
        </p:grpSpPr>
        <p:sp>
          <p:nvSpPr>
            <p:cNvPr id="2343" name="Google Shape;2343;p90"/>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325" name="Google Shape;2325;p90"/>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321" name="Google Shape;2321;p90"/>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330" name="Google Shape;2330;p90"/>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322" name="Google Shape;2322;p90"/>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324" name="Google Shape;2324;p90"/>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344" name="Google Shape;2344;p90"/>
            <p:cNvCxnSpPr>
              <a:stCxn id="2343" idx="2"/>
              <a:endCxn id="2321"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345" name="Google Shape;2345;p90"/>
            <p:cNvCxnSpPr>
              <a:stCxn id="2321" idx="5"/>
              <a:endCxn id="2322"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346" name="Google Shape;2346;p90"/>
            <p:cNvCxnSpPr>
              <a:stCxn id="2322" idx="3"/>
              <a:endCxn id="2330"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347" name="Google Shape;2347;p90"/>
            <p:cNvCxnSpPr>
              <a:stCxn id="2330" idx="6"/>
              <a:endCxn id="2324"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348" name="Google Shape;2348;p90"/>
            <p:cNvCxnSpPr>
              <a:stCxn id="2324" idx="0"/>
              <a:endCxn id="2322"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349" name="Google Shape;2349;p90"/>
            <p:cNvCxnSpPr>
              <a:stCxn id="2322" idx="7"/>
              <a:endCxn id="2325"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350" name="Google Shape;2350;p90"/>
            <p:cNvCxnSpPr>
              <a:stCxn id="2325" idx="4"/>
              <a:endCxn id="2324"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grpSp>
        <p:nvGrpSpPr>
          <p:cNvPr id="2351" name="Google Shape;2351;p90"/>
          <p:cNvGrpSpPr/>
          <p:nvPr/>
        </p:nvGrpSpPr>
        <p:grpSpPr>
          <a:xfrm>
            <a:off x="3733197" y="2378240"/>
            <a:ext cx="934198" cy="418200"/>
            <a:chOff x="3733197" y="2378240"/>
            <a:chExt cx="934198" cy="418200"/>
          </a:xfrm>
        </p:grpSpPr>
        <p:cxnSp>
          <p:nvCxnSpPr>
            <p:cNvPr id="2352" name="Google Shape;2352;p90"/>
            <p:cNvCxnSpPr>
              <a:stCxn id="2343" idx="3"/>
              <a:endCxn id="2321" idx="6"/>
            </p:cNvCxnSpPr>
            <p:nvPr/>
          </p:nvCxnSpPr>
          <p:spPr>
            <a:xfrm rot="5400000">
              <a:off x="3839547" y="2271890"/>
              <a:ext cx="418200" cy="630900"/>
            </a:xfrm>
            <a:prstGeom prst="curvedConnector2">
              <a:avLst/>
            </a:prstGeom>
            <a:noFill/>
            <a:ln cap="flat" cmpd="sng" w="19050">
              <a:solidFill>
                <a:srgbClr val="FF9900"/>
              </a:solidFill>
              <a:prstDash val="solid"/>
              <a:round/>
              <a:headEnd len="sm" w="sm" type="none"/>
              <a:tailEnd len="med" w="med" type="triangle"/>
            </a:ln>
          </p:spPr>
        </p:cxnSp>
        <p:sp>
          <p:nvSpPr>
            <p:cNvPr id="2353" name="Google Shape;2353;p90"/>
            <p:cNvSpPr txBox="1"/>
            <p:nvPr/>
          </p:nvSpPr>
          <p:spPr>
            <a:xfrm>
              <a:off x="4118695" y="2505430"/>
              <a:ext cx="5487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[Z]</a:t>
              </a:r>
              <a:endParaRPr b="0" i="0" sz="1400" u="none" cap="none" strike="noStrike">
                <a:solidFill>
                  <a:srgbClr val="000000"/>
                </a:solidFill>
                <a:latin typeface="Arial"/>
                <a:ea typeface="Arial"/>
                <a:cs typeface="Arial"/>
                <a:sym typeface="Arial"/>
              </a:endParaRPr>
            </a:p>
          </p:txBody>
        </p:sp>
      </p:grpSp>
      <p:sp>
        <p:nvSpPr>
          <p:cNvPr id="2354" name="Google Shape;2354;p90"/>
          <p:cNvSpPr/>
          <p:nvPr/>
        </p:nvSpPr>
        <p:spPr>
          <a:xfrm>
            <a:off x="1696250" y="1401860"/>
            <a:ext cx="1746300" cy="710700"/>
          </a:xfrm>
          <a:prstGeom prst="wedgeRoundRectCallout">
            <a:avLst>
              <a:gd fmla="val 48351" name="adj1"/>
              <a:gd fmla="val 111874"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Hey! Look at that! I found a path to </a:t>
            </a:r>
            <a:r>
              <a:rPr b="1" i="1" lang="en" sz="1000" u="none" cap="none" strike="noStrike">
                <a:solidFill>
                  <a:srgbClr val="FF0000"/>
                </a:solidFill>
                <a:latin typeface="Arial"/>
                <a:ea typeface="Arial"/>
                <a:cs typeface="Arial"/>
                <a:sym typeface="Arial"/>
              </a:rPr>
              <a:t>Z</a:t>
            </a:r>
            <a:r>
              <a:rPr b="0" i="0" lang="en" sz="1000" u="none" cap="none" strike="noStrike">
                <a:solidFill>
                  <a:srgbClr val="000000"/>
                </a:solidFill>
                <a:latin typeface="Arial"/>
                <a:ea typeface="Arial"/>
                <a:cs typeface="Arial"/>
                <a:sym typeface="Arial"/>
              </a:rPr>
              <a:t>! I'll add </a:t>
            </a:r>
            <a:r>
              <a:rPr b="1" i="1" lang="en" sz="1000" u="none" cap="none" strike="noStrike">
                <a:solidFill>
                  <a:srgbClr val="FF0000"/>
                </a:solidFill>
                <a:latin typeface="Arial"/>
                <a:ea typeface="Arial"/>
                <a:cs typeface="Arial"/>
                <a:sym typeface="Arial"/>
              </a:rPr>
              <a:t>my value</a:t>
            </a:r>
            <a:r>
              <a:rPr b="1" i="1" lang="en" sz="1000" u="none" cap="none" strike="noStrike">
                <a:solidFill>
                  <a:srgbClr val="000000"/>
                </a:solidFill>
                <a:latin typeface="Arial"/>
                <a:ea typeface="Arial"/>
                <a:cs typeface="Arial"/>
                <a:sym typeface="Arial"/>
              </a:rPr>
              <a:t> </a:t>
            </a:r>
            <a:r>
              <a:rPr b="0" i="0" lang="en" sz="1000" u="none" cap="none" strike="noStrike">
                <a:solidFill>
                  <a:srgbClr val="000000"/>
                </a:solidFill>
                <a:latin typeface="Arial"/>
                <a:ea typeface="Arial"/>
                <a:cs typeface="Arial"/>
                <a:sym typeface="Arial"/>
              </a:rPr>
              <a:t>to the front and return the path...</a:t>
            </a:r>
            <a:endParaRPr b="0" i="0" sz="1000" u="none" cap="none" strike="noStrike">
              <a:solidFill>
                <a:srgbClr val="000000"/>
              </a:solidFill>
              <a:latin typeface="Arial"/>
              <a:ea typeface="Arial"/>
              <a:cs typeface="Arial"/>
              <a:sym typeface="Arial"/>
            </a:endParaRPr>
          </a:p>
        </p:txBody>
      </p:sp>
      <p:cxnSp>
        <p:nvCxnSpPr>
          <p:cNvPr id="2355" name="Google Shape;2355;p90"/>
          <p:cNvCxnSpPr/>
          <p:nvPr/>
        </p:nvCxnSpPr>
        <p:spPr>
          <a:xfrm>
            <a:off x="2541050" y="2650300"/>
            <a:ext cx="839400" cy="0"/>
          </a:xfrm>
          <a:prstGeom prst="straightConnector1">
            <a:avLst/>
          </a:prstGeom>
          <a:noFill/>
          <a:ln cap="flat" cmpd="sng" w="19050">
            <a:solidFill>
              <a:srgbClr val="FF0000"/>
            </a:solidFill>
            <a:prstDash val="solid"/>
            <a:round/>
            <a:headEnd len="sm" w="sm" type="none"/>
            <a:tailEnd len="med" w="med" type="triangle"/>
          </a:ln>
        </p:spPr>
      </p:cxnSp>
      <p:grpSp>
        <p:nvGrpSpPr>
          <p:cNvPr id="2356" name="Google Shape;2356;p90"/>
          <p:cNvGrpSpPr/>
          <p:nvPr/>
        </p:nvGrpSpPr>
        <p:grpSpPr>
          <a:xfrm>
            <a:off x="2565607" y="2907250"/>
            <a:ext cx="814800" cy="235800"/>
            <a:chOff x="2565607" y="2907250"/>
            <a:chExt cx="814800" cy="235800"/>
          </a:xfrm>
        </p:grpSpPr>
        <p:cxnSp>
          <p:nvCxnSpPr>
            <p:cNvPr id="2357" name="Google Shape;2357;p90"/>
            <p:cNvCxnSpPr>
              <a:stCxn id="2321" idx="3"/>
            </p:cNvCxnSpPr>
            <p:nvPr/>
          </p:nvCxnSpPr>
          <p:spPr>
            <a:xfrm rot="10800000">
              <a:off x="2565607" y="2942621"/>
              <a:ext cx="814800" cy="0"/>
            </a:xfrm>
            <a:prstGeom prst="straightConnector1">
              <a:avLst/>
            </a:prstGeom>
            <a:noFill/>
            <a:ln cap="flat" cmpd="sng" w="19050">
              <a:solidFill>
                <a:srgbClr val="FF9900"/>
              </a:solidFill>
              <a:prstDash val="solid"/>
              <a:round/>
              <a:headEnd len="sm" w="sm" type="none"/>
              <a:tailEnd len="med" w="med" type="triangle"/>
            </a:ln>
          </p:spPr>
        </p:cxnSp>
        <p:sp>
          <p:nvSpPr>
            <p:cNvPr id="2358" name="Google Shape;2358;p90"/>
            <p:cNvSpPr txBox="1"/>
            <p:nvPr/>
          </p:nvSpPr>
          <p:spPr>
            <a:xfrm>
              <a:off x="2671850" y="2907250"/>
              <a:ext cx="675300" cy="2358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9900"/>
                  </a:solidFill>
                  <a:latin typeface="Courier New"/>
                  <a:ea typeface="Courier New"/>
                  <a:cs typeface="Courier New"/>
                  <a:sym typeface="Courier New"/>
                </a:rPr>
                <a:t>[Y, Z]</a:t>
              </a:r>
              <a:endParaRPr b="0" i="0" sz="1400" u="none" cap="none" strike="noStrike">
                <a:solidFill>
                  <a:srgbClr val="000000"/>
                </a:solidFill>
                <a:latin typeface="Arial"/>
                <a:ea typeface="Arial"/>
                <a:cs typeface="Arial"/>
                <a:sym typeface="Arial"/>
              </a:endParaRPr>
            </a:p>
          </p:txBody>
        </p:sp>
      </p:grpSp>
      <p:pic>
        <p:nvPicPr>
          <p:cNvPr id="2359" name="Google Shape;2359;p90"/>
          <p:cNvPicPr preferRelativeResize="0"/>
          <p:nvPr/>
        </p:nvPicPr>
        <p:blipFill rotWithShape="1">
          <a:blip r:embed="rId3">
            <a:alphaModFix/>
          </a:blip>
          <a:srcRect b="0" l="0" r="0" t="0"/>
          <a:stretch/>
        </p:blipFill>
        <p:spPr>
          <a:xfrm>
            <a:off x="501799" y="2368250"/>
            <a:ext cx="1958226" cy="1919850"/>
          </a:xfrm>
          <a:prstGeom prst="rect">
            <a:avLst/>
          </a:prstGeom>
          <a:noFill/>
          <a:ln>
            <a:noFill/>
          </a:ln>
        </p:spPr>
      </p:pic>
      <p:cxnSp>
        <p:nvCxnSpPr>
          <p:cNvPr id="2360" name="Google Shape;2360;p90"/>
          <p:cNvCxnSpPr>
            <a:stCxn id="2322" idx="4"/>
            <a:endCxn id="2324" idx="2"/>
          </p:cNvCxnSpPr>
          <p:nvPr/>
        </p:nvCxnSpPr>
        <p:spPr>
          <a:xfrm flipH="1" rot="-5400000">
            <a:off x="4501479" y="3392667"/>
            <a:ext cx="536400" cy="518700"/>
          </a:xfrm>
          <a:prstGeom prst="curvedConnector2">
            <a:avLst/>
          </a:prstGeom>
          <a:noFill/>
          <a:ln cap="flat" cmpd="sng" w="19050">
            <a:solidFill>
              <a:srgbClr val="FF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340"/>
                                        </p:tgtEl>
                                        <p:attrNameLst>
                                          <p:attrName>style.visibility</p:attrName>
                                        </p:attrNameLst>
                                      </p:cBhvr>
                                      <p:to>
                                        <p:strVal val="visible"/>
                                      </p:to>
                                    </p:set>
                                    <p:animEffect filter="fade" transition="in">
                                      <p:cBhvr>
                                        <p:cTn dur="1000"/>
                                        <p:tgtEl>
                                          <p:spTgt spid="23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1"/>
                                        </p:tgtEl>
                                        <p:attrNameLst>
                                          <p:attrName>style.visibility</p:attrName>
                                        </p:attrNameLst>
                                      </p:cBhvr>
                                      <p:to>
                                        <p:strVal val="visible"/>
                                      </p:to>
                                    </p:set>
                                    <p:animEffect filter="fade" transition="in">
                                      <p:cBhvr>
                                        <p:cTn dur="1000"/>
                                        <p:tgtEl>
                                          <p:spTgt spid="23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54"/>
                                        </p:tgtEl>
                                        <p:attrNameLst>
                                          <p:attrName>style.visibility</p:attrName>
                                        </p:attrNameLst>
                                      </p:cBhvr>
                                      <p:to>
                                        <p:strVal val="visible"/>
                                      </p:to>
                                    </p:set>
                                    <p:animEffect filter="fade" transition="in">
                                      <p:cBhvr>
                                        <p:cTn dur="1000"/>
                                        <p:tgtEl>
                                          <p:spTgt spid="235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2356"/>
                                        </p:tgtEl>
                                        <p:attrNameLst>
                                          <p:attrName>style.visibility</p:attrName>
                                        </p:attrNameLst>
                                      </p:cBhvr>
                                      <p:to>
                                        <p:strVal val="visible"/>
                                      </p:to>
                                    </p:set>
                                    <p:animEffect filter="fade" transition="in">
                                      <p:cBhvr>
                                        <p:cTn dur="1000"/>
                                        <p:tgtEl>
                                          <p:spTgt spid="235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4" name="Shape 2364"/>
        <p:cNvGrpSpPr/>
        <p:nvPr/>
      </p:nvGrpSpPr>
      <p:grpSpPr>
        <a:xfrm>
          <a:off x="0" y="0"/>
          <a:ext cx="0" cy="0"/>
          <a:chOff x="0" y="0"/>
          <a:chExt cx="0" cy="0"/>
        </a:xfrm>
      </p:grpSpPr>
      <p:sp>
        <p:nvSpPr>
          <p:cNvPr id="2365" name="Google Shape;2365;p9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66" name="Google Shape;2366;p91"/>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24</a:t>
            </a:r>
            <a:endParaRPr/>
          </a:p>
        </p:txBody>
      </p:sp>
      <p:sp>
        <p:nvSpPr>
          <p:cNvPr id="2367" name="Google Shape;2367;p91"/>
          <p:cNvSpPr txBox="1"/>
          <p:nvPr/>
        </p:nvSpPr>
        <p:spPr>
          <a:xfrm>
            <a:off x="2985400" y="1731300"/>
            <a:ext cx="5970600" cy="28074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rgbClr val="666666"/>
              </a:buClr>
              <a:buSzPts val="1600"/>
              <a:buFont typeface="Roboto"/>
              <a:buChar char="●"/>
            </a:pPr>
            <a:r>
              <a:rPr b="0" i="0" lang="en" sz="1600" u="none" cap="none" strike="noStrike">
                <a:solidFill>
                  <a:srgbClr val="666666"/>
                </a:solidFill>
                <a:latin typeface="Roboto"/>
                <a:ea typeface="Roboto"/>
                <a:cs typeface="Roboto"/>
                <a:sym typeface="Roboto"/>
              </a:rPr>
              <a:t>Open the </a:t>
            </a:r>
            <a:r>
              <a:rPr b="0" i="0" lang="en" sz="1600" u="none" cap="none" strike="noStrike">
                <a:solidFill>
                  <a:srgbClr val="FF0000"/>
                </a:solidFill>
                <a:latin typeface="Courier New"/>
                <a:ea typeface="Courier New"/>
                <a:cs typeface="Courier New"/>
                <a:sym typeface="Courier New"/>
              </a:rPr>
              <a:t>Graph</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interface and define a new </a:t>
            </a:r>
            <a:r>
              <a:rPr b="0" i="0" lang="en" sz="1600" u="none" cap="none" strike="noStrike">
                <a:solidFill>
                  <a:srgbClr val="FF0000"/>
                </a:solidFill>
                <a:latin typeface="Courier New"/>
                <a:ea typeface="Courier New"/>
                <a:cs typeface="Courier New"/>
                <a:sym typeface="Courier New"/>
              </a:rPr>
              <a:t>default</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method named </a:t>
            </a:r>
            <a:r>
              <a:rPr b="0" i="0" lang="en" sz="1600" u="none" cap="none" strike="noStrike">
                <a:solidFill>
                  <a:srgbClr val="FF0000"/>
                </a:solidFill>
                <a:latin typeface="Courier New"/>
                <a:ea typeface="Courier New"/>
                <a:cs typeface="Courier New"/>
                <a:sym typeface="Courier New"/>
              </a:rPr>
              <a:t>dfPath</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that declares </a:t>
            </a:r>
            <a:r>
              <a:rPr b="1" i="1" lang="en" sz="1600" u="none" cap="none" strike="noStrike">
                <a:solidFill>
                  <a:srgbClr val="FF0000"/>
                </a:solidFill>
                <a:latin typeface="Roboto"/>
                <a:ea typeface="Roboto"/>
                <a:cs typeface="Roboto"/>
                <a:sym typeface="Roboto"/>
              </a:rPr>
              <a:t>parameters</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for </a:t>
            </a:r>
            <a:r>
              <a:rPr b="0" i="0" lang="en" sz="1600" u="none" cap="none" strike="noStrike">
                <a:solidFill>
                  <a:srgbClr val="FF0000"/>
                </a:solidFill>
                <a:latin typeface="Courier New"/>
                <a:ea typeface="Courier New"/>
                <a:cs typeface="Courier New"/>
                <a:sym typeface="Courier New"/>
              </a:rPr>
              <a:t>start</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and </a:t>
            </a:r>
            <a:r>
              <a:rPr b="0" i="0" lang="en" sz="1600" u="none" cap="none" strike="noStrike">
                <a:solidFill>
                  <a:srgbClr val="FF0000"/>
                </a:solidFill>
                <a:latin typeface="Courier New"/>
                <a:ea typeface="Courier New"/>
                <a:cs typeface="Courier New"/>
                <a:sym typeface="Courier New"/>
              </a:rPr>
              <a:t>end</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values and </a:t>
            </a:r>
            <a:r>
              <a:rPr b="1" i="1" lang="en" sz="1600" u="none" cap="none" strike="noStrike">
                <a:solidFill>
                  <a:srgbClr val="FF0000"/>
                </a:solidFill>
                <a:latin typeface="Roboto"/>
                <a:ea typeface="Roboto"/>
                <a:cs typeface="Roboto"/>
                <a:sym typeface="Roboto"/>
              </a:rPr>
              <a:t>returns </a:t>
            </a:r>
            <a:r>
              <a:rPr b="0" i="0" lang="en" sz="1600" u="none" cap="none" strike="noStrike">
                <a:solidFill>
                  <a:srgbClr val="666666"/>
                </a:solidFill>
                <a:latin typeface="Roboto"/>
                <a:ea typeface="Roboto"/>
                <a:cs typeface="Roboto"/>
                <a:sym typeface="Roboto"/>
              </a:rPr>
              <a:t>a </a:t>
            </a:r>
            <a:r>
              <a:rPr b="0" i="0" lang="en" sz="1600" u="none" cap="none" strike="noStrike">
                <a:solidFill>
                  <a:srgbClr val="FF0000"/>
                </a:solidFill>
                <a:latin typeface="Courier New"/>
                <a:ea typeface="Courier New"/>
                <a:cs typeface="Courier New"/>
                <a:sym typeface="Courier New"/>
              </a:rPr>
              <a:t>java.util.List&lt;E&gt;</a:t>
            </a:r>
            <a:r>
              <a:rPr b="0" i="0" lang="en" sz="1600" u="none" cap="none" strike="noStrike">
                <a:solidFill>
                  <a:srgbClr val="666666"/>
                </a:solidFill>
                <a:latin typeface="Roboto"/>
                <a:ea typeface="Roboto"/>
                <a:cs typeface="Roboto"/>
                <a:sym typeface="Roboto"/>
              </a:rPr>
              <a:t>.</a:t>
            </a:r>
            <a:endParaRPr b="0" i="0" sz="160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Use the provided UML as a guide for your method signature.</a:t>
            </a:r>
            <a:endParaRPr b="0" i="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Throw an </a:t>
            </a:r>
            <a:r>
              <a:rPr b="0" i="0" lang="en" u="none" cap="none" strike="noStrike">
                <a:solidFill>
                  <a:srgbClr val="FF0000"/>
                </a:solidFill>
                <a:latin typeface="Courier New"/>
                <a:ea typeface="Courier New"/>
                <a:cs typeface="Courier New"/>
                <a:sym typeface="Courier New"/>
              </a:rPr>
              <a:t>UnsupportedOperationException</a:t>
            </a:r>
            <a:r>
              <a:rPr b="0" i="0" lang="en" u="none" cap="none" strike="noStrike">
                <a:solidFill>
                  <a:srgbClr val="FF0000"/>
                </a:solidFill>
                <a:latin typeface="Roboto"/>
                <a:ea typeface="Roboto"/>
                <a:cs typeface="Roboto"/>
                <a:sym typeface="Roboto"/>
              </a:rPr>
              <a:t> </a:t>
            </a:r>
            <a:r>
              <a:rPr b="0" i="0" lang="en" u="none" cap="none" strike="noStrike">
                <a:solidFill>
                  <a:srgbClr val="666666"/>
                </a:solidFill>
                <a:latin typeface="Roboto"/>
                <a:ea typeface="Roboto"/>
                <a:cs typeface="Roboto"/>
                <a:sym typeface="Roboto"/>
              </a:rPr>
              <a:t>from this default implementation.</a:t>
            </a:r>
            <a:endParaRPr b="0" i="0" u="none" cap="none" strike="noStrike">
              <a:solidFill>
                <a:srgbClr val="666666"/>
              </a:solidFill>
              <a:latin typeface="Roboto"/>
              <a:ea typeface="Roboto"/>
              <a:cs typeface="Roboto"/>
              <a:sym typeface="Roboto"/>
            </a:endParaRPr>
          </a:p>
          <a:p>
            <a:pPr indent="-330200" lvl="0" marL="457200" marR="0" rtl="0" algn="l">
              <a:lnSpc>
                <a:spcPct val="115000"/>
              </a:lnSpc>
              <a:spcBef>
                <a:spcPts val="0"/>
              </a:spcBef>
              <a:spcAft>
                <a:spcPts val="0"/>
              </a:spcAft>
              <a:buClr>
                <a:srgbClr val="666666"/>
              </a:buClr>
              <a:buSzPts val="1600"/>
              <a:buFont typeface="Roboto"/>
              <a:buChar char="●"/>
            </a:pPr>
            <a:r>
              <a:rPr b="1" i="1" lang="en" sz="1600" u="none" cap="none" strike="noStrike">
                <a:solidFill>
                  <a:srgbClr val="FF0000"/>
                </a:solidFill>
                <a:latin typeface="Roboto"/>
                <a:ea typeface="Roboto"/>
                <a:cs typeface="Roboto"/>
                <a:sym typeface="Roboto"/>
              </a:rPr>
              <a:t>Run</a:t>
            </a:r>
            <a:r>
              <a:rPr b="0" i="0" lang="en" sz="1600" u="none" cap="none" strike="noStrike">
                <a:solidFill>
                  <a:srgbClr val="FF0000"/>
                </a:solidFill>
                <a:latin typeface="Roboto"/>
                <a:ea typeface="Roboto"/>
                <a:cs typeface="Roboto"/>
                <a:sym typeface="Roboto"/>
              </a:rPr>
              <a:t> </a:t>
            </a:r>
            <a:r>
              <a:rPr b="0" i="0" lang="en" sz="1600" u="none" cap="none" strike="noStrike">
                <a:solidFill>
                  <a:srgbClr val="666666"/>
                </a:solidFill>
                <a:latin typeface="Roboto"/>
                <a:ea typeface="Roboto"/>
                <a:cs typeface="Roboto"/>
                <a:sym typeface="Roboto"/>
              </a:rPr>
              <a:t>the provided </a:t>
            </a:r>
            <a:r>
              <a:rPr b="0" i="0" lang="en" sz="1600" u="none" cap="none" strike="noStrike">
                <a:solidFill>
                  <a:srgbClr val="FF0000"/>
                </a:solidFill>
                <a:latin typeface="Courier New"/>
                <a:ea typeface="Courier New"/>
                <a:cs typeface="Courier New"/>
                <a:sym typeface="Courier New"/>
              </a:rPr>
              <a:t>DFPathTest</a:t>
            </a:r>
            <a:r>
              <a:rPr b="0" i="0" lang="en" sz="1600" u="none" cap="none" strike="noStrike">
                <a:solidFill>
                  <a:srgbClr val="666666"/>
                </a:solidFill>
                <a:latin typeface="Roboto"/>
                <a:ea typeface="Roboto"/>
                <a:cs typeface="Roboto"/>
                <a:sym typeface="Roboto"/>
              </a:rPr>
              <a:t> JUnit test.</a:t>
            </a:r>
            <a:endParaRPr b="0" i="0" sz="1600" u="none" cap="none" strike="noStrike">
              <a:solidFill>
                <a:srgbClr val="666666"/>
              </a:solidFill>
              <a:latin typeface="Roboto"/>
              <a:ea typeface="Roboto"/>
              <a:cs typeface="Roboto"/>
              <a:sym typeface="Roboto"/>
            </a:endParaRPr>
          </a:p>
          <a:p>
            <a:pPr indent="-317500" lvl="1" marL="914400" marR="0" rtl="0" algn="l">
              <a:lnSpc>
                <a:spcPct val="115000"/>
              </a:lnSpc>
              <a:spcBef>
                <a:spcPts val="0"/>
              </a:spcBef>
              <a:spcAft>
                <a:spcPts val="0"/>
              </a:spcAft>
              <a:buClr>
                <a:srgbClr val="666666"/>
              </a:buClr>
              <a:buSzPts val="1400"/>
              <a:buFont typeface="Roboto"/>
              <a:buChar char="○"/>
            </a:pPr>
            <a:r>
              <a:rPr b="0" i="0" lang="en" u="none" cap="none" strike="noStrike">
                <a:solidFill>
                  <a:srgbClr val="666666"/>
                </a:solidFill>
                <a:latin typeface="Roboto"/>
                <a:ea typeface="Roboto"/>
                <a:cs typeface="Roboto"/>
                <a:sym typeface="Roboto"/>
              </a:rPr>
              <a:t>The tests should </a:t>
            </a:r>
            <a:r>
              <a:rPr b="1" i="1" lang="en" u="none" cap="none" strike="noStrike">
                <a:solidFill>
                  <a:srgbClr val="FF0000"/>
                </a:solidFill>
                <a:latin typeface="Roboto"/>
                <a:ea typeface="Roboto"/>
                <a:cs typeface="Roboto"/>
                <a:sym typeface="Roboto"/>
              </a:rPr>
              <a:t>run</a:t>
            </a:r>
            <a:r>
              <a:rPr b="0" i="0" lang="en" u="none" cap="none" strike="noStrike">
                <a:solidFill>
                  <a:srgbClr val="666666"/>
                </a:solidFill>
                <a:latin typeface="Roboto"/>
                <a:ea typeface="Roboto"/>
                <a:cs typeface="Roboto"/>
                <a:sym typeface="Roboto"/>
              </a:rPr>
              <a:t>, but will </a:t>
            </a:r>
            <a:r>
              <a:rPr b="1" i="1" lang="en" u="none" cap="none" strike="noStrike">
                <a:solidFill>
                  <a:srgbClr val="FF0000"/>
                </a:solidFill>
                <a:latin typeface="Roboto"/>
                <a:ea typeface="Roboto"/>
                <a:cs typeface="Roboto"/>
                <a:sym typeface="Roboto"/>
              </a:rPr>
              <a:t>fail</a:t>
            </a:r>
            <a:r>
              <a:rPr b="0" i="0" lang="en" u="none" cap="none" strike="noStrike">
                <a:solidFill>
                  <a:srgbClr val="FF0000"/>
                </a:solidFill>
                <a:latin typeface="Roboto"/>
                <a:ea typeface="Roboto"/>
                <a:cs typeface="Roboto"/>
                <a:sym typeface="Roboto"/>
              </a:rPr>
              <a:t> </a:t>
            </a:r>
            <a:r>
              <a:rPr b="0" i="0" lang="en" u="none" cap="none" strike="noStrike">
                <a:solidFill>
                  <a:srgbClr val="666666"/>
                </a:solidFill>
                <a:latin typeface="Roboto"/>
                <a:ea typeface="Roboto"/>
                <a:cs typeface="Roboto"/>
                <a:sym typeface="Roboto"/>
              </a:rPr>
              <a:t>when the exception is thrown.</a:t>
            </a:r>
            <a:endParaRPr b="0" i="0" u="none" cap="none" strike="noStrike">
              <a:solidFill>
                <a:srgbClr val="666666"/>
              </a:solidFill>
              <a:latin typeface="Roboto"/>
              <a:ea typeface="Roboto"/>
              <a:cs typeface="Roboto"/>
              <a:sym typeface="Roboto"/>
            </a:endParaRPr>
          </a:p>
        </p:txBody>
      </p:sp>
      <p:graphicFrame>
        <p:nvGraphicFramePr>
          <p:cNvPr id="2368" name="Google Shape;2368;p91"/>
          <p:cNvGraphicFramePr/>
          <p:nvPr/>
        </p:nvGraphicFramePr>
        <p:xfrm>
          <a:off x="174250" y="1847850"/>
          <a:ext cx="3000000" cy="3000000"/>
        </p:xfrm>
        <a:graphic>
          <a:graphicData uri="http://schemas.openxmlformats.org/drawingml/2006/table">
            <a:tbl>
              <a:tblPr>
                <a:noFill/>
                <a:tableStyleId>{F61E8307-4E6B-4154-8BF4-D3231BAD3CED}</a:tableStyleId>
              </a:tblPr>
              <a:tblGrid>
                <a:gridCol w="2805850"/>
              </a:tblGrid>
              <a:tr h="257275">
                <a:tc>
                  <a:txBody>
                    <a:bodyPr/>
                    <a:lstStyle/>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&lt;&lt;interface&gt;&gt;</a:t>
                      </a:r>
                      <a:endParaRPr i="1" sz="10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Graph&lt;E&gt;</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0">
                <a:tc>
                  <a:txBody>
                    <a:bodyPr/>
                    <a:lstStyle/>
                    <a:p>
                      <a:pPr indent="0" lvl="0" marL="0" marR="0" rtl="0" algn="l">
                        <a:lnSpc>
                          <a:spcPct val="100000"/>
                        </a:lnSpc>
                        <a:spcBef>
                          <a:spcPts val="0"/>
                        </a:spcBef>
                        <a:spcAft>
                          <a:spcPts val="0"/>
                        </a:spcAft>
                        <a:buClr>
                          <a:srgbClr val="000000"/>
                        </a:buClr>
                        <a:buSzPts val="1000"/>
                        <a:buFont typeface="Arial"/>
                        <a:buNone/>
                      </a:pPr>
                      <a:r>
                        <a:t/>
                      </a:r>
                      <a:endParaRPr i="1"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578850">
                <a:tc>
                  <a:txBody>
                    <a:bodyPr/>
                    <a:lstStyle/>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add(value: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contains(value: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size(): int</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connectUndirected(a: E, b: E)</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000" u="none" cap="none" strike="noStrike">
                          <a:latin typeface="Consolas"/>
                          <a:ea typeface="Consolas"/>
                          <a:cs typeface="Consolas"/>
                          <a:sym typeface="Consolas"/>
                        </a:rPr>
                        <a:t>+ connected(a: E, b: E): boolean</a:t>
                      </a:r>
                      <a:endParaRPr i="1"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bfSearch(start: E, end: E): boolean</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bfPath(start: E, end: E): List&lt;E&gt;</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dfSearch(start: E, end: E): boolean</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dfPath(start: E, end: E): List&lt;E&gt;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369" name="Google Shape;2369;p9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Our current DFS implementation will return true if a path </a:t>
            </a:r>
            <a:r>
              <a:rPr i="1" lang="en"/>
              <a:t>exists</a:t>
            </a:r>
            <a:r>
              <a:rPr lang="en"/>
              <a:t>, but like the initial BFS implementation it doesn't tell us what the path </a:t>
            </a:r>
            <a:r>
              <a:rPr i="1" lang="en"/>
              <a:t>is</a:t>
            </a:r>
            <a:r>
              <a:rPr lang="en"/>
              <a:t>. Let's add a default method to the Graph interface that we can override to return the values along a DFS-path (if it exists).</a:t>
            </a:r>
            <a:endParaRPr/>
          </a:p>
        </p:txBody>
      </p:sp>
      <p:sp>
        <p:nvSpPr>
          <p:cNvPr id="2370" name="Google Shape;2370;p9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One More Update to </a:t>
            </a:r>
            <a:r>
              <a:rPr lang="en">
                <a:latin typeface="Courier New"/>
                <a:ea typeface="Courier New"/>
                <a:cs typeface="Courier New"/>
                <a:sym typeface="Courier New"/>
              </a:rPr>
              <a:t>Graph</a:t>
            </a:r>
            <a:endParaRPr>
              <a:latin typeface="Courier New"/>
              <a:ea typeface="Courier New"/>
              <a:cs typeface="Courier New"/>
              <a:sym typeface="Courier New"/>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4" name="Shape 2374"/>
        <p:cNvGrpSpPr/>
        <p:nvPr/>
      </p:nvGrpSpPr>
      <p:grpSpPr>
        <a:xfrm>
          <a:off x="0" y="0"/>
          <a:ext cx="0" cy="0"/>
          <a:chOff x="0" y="0"/>
          <a:chExt cx="0" cy="0"/>
        </a:xfrm>
      </p:grpSpPr>
      <p:sp>
        <p:nvSpPr>
          <p:cNvPr id="2375" name="Google Shape;2375;p92"/>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Beginning Depth-First Path</a:t>
            </a:r>
            <a:endParaRPr/>
          </a:p>
        </p:txBody>
      </p:sp>
      <p:sp>
        <p:nvSpPr>
          <p:cNvPr id="2376" name="Google Shape;2376;p92"/>
          <p:cNvSpPr txBox="1"/>
          <p:nvPr>
            <p:ph idx="1" type="body"/>
          </p:nvPr>
        </p:nvSpPr>
        <p:spPr>
          <a:xfrm>
            <a:off x="65250" y="731625"/>
            <a:ext cx="8955900" cy="11466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1600"/>
              </a:spcAft>
              <a:buSzPts val="1600"/>
              <a:buNone/>
            </a:pPr>
            <a:r>
              <a:rPr lang="en"/>
              <a:t>As with the numerous algorithms that we have implemented so far in this unit, we will begin implementing the DFS-Path algorithm by retrieving the start and end vertices and creating the necessary data structures.</a:t>
            </a:r>
            <a:endParaRPr/>
          </a:p>
        </p:txBody>
      </p:sp>
      <p:sp>
        <p:nvSpPr>
          <p:cNvPr id="2377" name="Google Shape;2377;p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378" name="Google Shape;2378;p92"/>
          <p:cNvSpPr txBox="1"/>
          <p:nvPr>
            <p:ph idx="2" type="body"/>
          </p:nvPr>
        </p:nvSpPr>
        <p:spPr>
          <a:xfrm>
            <a:off x="2800100" y="1774625"/>
            <a:ext cx="6066000" cy="2828700"/>
          </a:xfrm>
          <a:prstGeom prst="rect">
            <a:avLst/>
          </a:prstGeom>
          <a:noFill/>
          <a:ln>
            <a:noFill/>
          </a:ln>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sz="1400"/>
              <a:t>Open the </a:t>
            </a:r>
            <a:r>
              <a:rPr lang="en" sz="1400">
                <a:solidFill>
                  <a:srgbClr val="FF0000"/>
                </a:solidFill>
                <a:latin typeface="Courier New"/>
                <a:ea typeface="Courier New"/>
                <a:cs typeface="Courier New"/>
                <a:sym typeface="Courier New"/>
              </a:rPr>
              <a:t>AdjacencyGraph</a:t>
            </a:r>
            <a:r>
              <a:rPr lang="en" sz="1400">
                <a:solidFill>
                  <a:srgbClr val="FF0000"/>
                </a:solidFill>
              </a:rPr>
              <a:t> </a:t>
            </a:r>
            <a:r>
              <a:rPr lang="en" sz="1400"/>
              <a:t>class and </a:t>
            </a:r>
            <a:r>
              <a:rPr b="1" i="1" lang="en" sz="1400">
                <a:solidFill>
                  <a:srgbClr val="FF0000"/>
                </a:solidFill>
              </a:rPr>
              <a:t>override</a:t>
            </a:r>
            <a:r>
              <a:rPr lang="en" sz="1400">
                <a:solidFill>
                  <a:srgbClr val="FF0000"/>
                </a:solidFill>
              </a:rPr>
              <a:t> </a:t>
            </a:r>
            <a:r>
              <a:rPr lang="en" sz="1400"/>
              <a:t>the default implementation of </a:t>
            </a:r>
            <a:r>
              <a:rPr lang="en" sz="1400">
                <a:solidFill>
                  <a:srgbClr val="FF0000"/>
                </a:solidFill>
                <a:latin typeface="Courier New"/>
                <a:ea typeface="Courier New"/>
                <a:cs typeface="Courier New"/>
                <a:sym typeface="Courier New"/>
              </a:rPr>
              <a:t>dfPath</a:t>
            </a:r>
            <a:r>
              <a:rPr lang="en" sz="1400">
                <a:solidFill>
                  <a:srgbClr val="FF0000"/>
                </a:solidFill>
              </a:rPr>
              <a:t> </a:t>
            </a:r>
            <a:r>
              <a:rPr lang="en" sz="1400"/>
              <a:t>inherited from the </a:t>
            </a:r>
            <a:r>
              <a:rPr lang="en" sz="1400">
                <a:latin typeface="Courier New"/>
                <a:ea typeface="Courier New"/>
                <a:cs typeface="Courier New"/>
                <a:sym typeface="Courier New"/>
              </a:rPr>
              <a:t>Graph</a:t>
            </a:r>
            <a:r>
              <a:rPr lang="en" sz="1400"/>
              <a:t> interface.</a:t>
            </a:r>
            <a:endParaRPr sz="1400"/>
          </a:p>
          <a:p>
            <a:pPr indent="-317500" lvl="0" marL="457200" rtl="0" algn="l">
              <a:lnSpc>
                <a:spcPct val="115000"/>
              </a:lnSpc>
              <a:spcBef>
                <a:spcPts val="0"/>
              </a:spcBef>
              <a:spcAft>
                <a:spcPts val="0"/>
              </a:spcAft>
              <a:buSzPts val="1400"/>
              <a:buChar char="●"/>
            </a:pPr>
            <a:r>
              <a:rPr lang="en" sz="1400"/>
              <a:t>Focus on the setup for the algorithm.</a:t>
            </a:r>
            <a:endParaRPr sz="1400"/>
          </a:p>
          <a:p>
            <a:pPr indent="-304800" lvl="1" marL="914400" rtl="0" algn="l">
              <a:lnSpc>
                <a:spcPct val="115000"/>
              </a:lnSpc>
              <a:spcBef>
                <a:spcPts val="0"/>
              </a:spcBef>
              <a:spcAft>
                <a:spcPts val="0"/>
              </a:spcAft>
              <a:buSzPts val="1200"/>
              <a:buChar char="○"/>
            </a:pPr>
            <a:r>
              <a:rPr lang="en" sz="1200"/>
              <a:t>Get the vertices corresponding to the </a:t>
            </a:r>
            <a:r>
              <a:rPr lang="en" sz="1200">
                <a:solidFill>
                  <a:srgbClr val="FF0000"/>
                </a:solidFill>
                <a:latin typeface="Courier New"/>
                <a:ea typeface="Courier New"/>
                <a:cs typeface="Courier New"/>
                <a:sym typeface="Courier New"/>
              </a:rPr>
              <a:t>start</a:t>
            </a:r>
            <a:r>
              <a:rPr lang="en" sz="1200">
                <a:solidFill>
                  <a:srgbClr val="FF0000"/>
                </a:solidFill>
              </a:rPr>
              <a:t> </a:t>
            </a:r>
            <a:r>
              <a:rPr lang="en" sz="1200"/>
              <a:t>and </a:t>
            </a:r>
            <a:r>
              <a:rPr lang="en" sz="1200">
                <a:solidFill>
                  <a:srgbClr val="FF0000"/>
                </a:solidFill>
                <a:latin typeface="Courier New"/>
                <a:ea typeface="Courier New"/>
                <a:cs typeface="Courier New"/>
                <a:sym typeface="Courier New"/>
              </a:rPr>
              <a:t>end</a:t>
            </a:r>
            <a:r>
              <a:rPr lang="en" sz="1200">
                <a:solidFill>
                  <a:srgbClr val="FF0000"/>
                </a:solidFill>
              </a:rPr>
              <a:t> </a:t>
            </a:r>
            <a:r>
              <a:rPr lang="en" sz="1200"/>
              <a:t>values from the graph's map of </a:t>
            </a:r>
            <a:r>
              <a:rPr lang="en" sz="1200">
                <a:solidFill>
                  <a:srgbClr val="FF0000"/>
                </a:solidFill>
                <a:latin typeface="Courier New"/>
                <a:ea typeface="Courier New"/>
                <a:cs typeface="Courier New"/>
                <a:sym typeface="Courier New"/>
              </a:rPr>
              <a:t>vertices</a:t>
            </a:r>
            <a:r>
              <a:rPr lang="en" sz="1200"/>
              <a:t>.</a:t>
            </a:r>
            <a:endParaRPr sz="1200"/>
          </a:p>
          <a:p>
            <a:pPr indent="-304800" lvl="1" marL="914400" rtl="0" algn="l">
              <a:lnSpc>
                <a:spcPct val="115000"/>
              </a:lnSpc>
              <a:spcBef>
                <a:spcPts val="0"/>
              </a:spcBef>
              <a:spcAft>
                <a:spcPts val="0"/>
              </a:spcAft>
              <a:buSzPts val="1200"/>
              <a:buChar char="○"/>
            </a:pPr>
            <a:r>
              <a:rPr lang="en" sz="1200"/>
              <a:t>Create the </a:t>
            </a:r>
            <a:r>
              <a:rPr b="1" i="1" lang="en" sz="1200">
                <a:solidFill>
                  <a:srgbClr val="FF0000"/>
                </a:solidFill>
              </a:rPr>
              <a:t>set</a:t>
            </a:r>
            <a:r>
              <a:rPr lang="en" sz="1200">
                <a:solidFill>
                  <a:srgbClr val="FF0000"/>
                </a:solidFill>
              </a:rPr>
              <a:t> </a:t>
            </a:r>
            <a:r>
              <a:rPr lang="en" sz="1200"/>
              <a:t>of previously </a:t>
            </a:r>
            <a:r>
              <a:rPr b="1" i="1" lang="en" sz="1200">
                <a:solidFill>
                  <a:srgbClr val="FF0000"/>
                </a:solidFill>
              </a:rPr>
              <a:t>visited</a:t>
            </a:r>
            <a:r>
              <a:rPr lang="en" sz="1200">
                <a:solidFill>
                  <a:srgbClr val="FF0000"/>
                </a:solidFill>
              </a:rPr>
              <a:t> </a:t>
            </a:r>
            <a:r>
              <a:rPr lang="en" sz="1200"/>
              <a:t>vertices</a:t>
            </a:r>
            <a:r>
              <a:rPr b="1" i="1" lang="en" sz="1200">
                <a:solidFill>
                  <a:srgbClr val="FF0000"/>
                </a:solidFill>
              </a:rPr>
              <a:t> </a:t>
            </a:r>
            <a:r>
              <a:rPr lang="en" sz="1200"/>
              <a:t>(</a:t>
            </a:r>
            <a:r>
              <a:rPr lang="en" sz="1200">
                <a:solidFill>
                  <a:srgbClr val="FF0000"/>
                </a:solidFill>
                <a:latin typeface="Courier New"/>
                <a:ea typeface="Courier New"/>
                <a:cs typeface="Courier New"/>
                <a:sym typeface="Courier New"/>
              </a:rPr>
              <a:t>java.util.HashSet</a:t>
            </a:r>
            <a:r>
              <a:rPr lang="en" sz="1200"/>
              <a:t>) and add the starting vertex.</a:t>
            </a:r>
            <a:endParaRPr sz="1200"/>
          </a:p>
          <a:p>
            <a:pPr indent="-304800" lvl="2" marL="1371600" rtl="0" algn="l">
              <a:lnSpc>
                <a:spcPct val="115000"/>
              </a:lnSpc>
              <a:spcBef>
                <a:spcPts val="0"/>
              </a:spcBef>
              <a:spcAft>
                <a:spcPts val="0"/>
              </a:spcAft>
              <a:buSzPts val="1200"/>
              <a:buChar char="■"/>
            </a:pPr>
            <a:r>
              <a:rPr b="1" i="1" lang="en" sz="1200">
                <a:solidFill>
                  <a:srgbClr val="FF0000"/>
                </a:solidFill>
              </a:rPr>
              <a:t>Hint</a:t>
            </a:r>
            <a:r>
              <a:rPr lang="en" sz="1200"/>
              <a:t>: copy/paste your code from </a:t>
            </a:r>
            <a:r>
              <a:rPr lang="en" sz="1200">
                <a:latin typeface="Courier New"/>
                <a:ea typeface="Courier New"/>
                <a:cs typeface="Courier New"/>
                <a:sym typeface="Courier New"/>
              </a:rPr>
              <a:t>dfSearch</a:t>
            </a:r>
            <a:r>
              <a:rPr lang="en" sz="1200"/>
              <a:t>.</a:t>
            </a:r>
            <a:endParaRPr sz="1200"/>
          </a:p>
          <a:p>
            <a:pPr indent="-317500" lvl="0" marL="457200" rtl="0" algn="l">
              <a:lnSpc>
                <a:spcPct val="115000"/>
              </a:lnSpc>
              <a:spcBef>
                <a:spcPts val="0"/>
              </a:spcBef>
              <a:spcAft>
                <a:spcPts val="0"/>
              </a:spcAft>
              <a:buSzPts val="1400"/>
              <a:buChar char="●"/>
            </a:pPr>
            <a:r>
              <a:rPr lang="en" sz="1400"/>
              <a:t>For now, just </a:t>
            </a:r>
            <a:r>
              <a:rPr b="1" i="1" lang="en" sz="1400">
                <a:solidFill>
                  <a:srgbClr val="FF0000"/>
                </a:solidFill>
              </a:rPr>
              <a:t>return </a:t>
            </a:r>
            <a:r>
              <a:rPr lang="en" sz="1400">
                <a:solidFill>
                  <a:srgbClr val="FF0000"/>
                </a:solidFill>
                <a:latin typeface="Courier New"/>
                <a:ea typeface="Courier New"/>
                <a:cs typeface="Courier New"/>
                <a:sym typeface="Courier New"/>
              </a:rPr>
              <a:t>null</a:t>
            </a:r>
            <a:r>
              <a:rPr lang="en" sz="1400"/>
              <a:t>.</a:t>
            </a:r>
            <a:endParaRPr sz="1400"/>
          </a:p>
          <a:p>
            <a:pPr indent="-317500" lvl="0" marL="457200" rtl="0" algn="l">
              <a:lnSpc>
                <a:spcPct val="115000"/>
              </a:lnSpc>
              <a:spcBef>
                <a:spcPts val="0"/>
              </a:spcBef>
              <a:spcAft>
                <a:spcPts val="0"/>
              </a:spcAft>
              <a:buSzPts val="1400"/>
              <a:buChar char="●"/>
            </a:pPr>
            <a:r>
              <a:rPr b="1" i="1" lang="en" sz="1400">
                <a:solidFill>
                  <a:srgbClr val="FF0000"/>
                </a:solidFill>
              </a:rPr>
              <a:t>Test</a:t>
            </a:r>
            <a:r>
              <a:rPr lang="en" sz="1400">
                <a:solidFill>
                  <a:srgbClr val="FF0000"/>
                </a:solidFill>
              </a:rPr>
              <a:t> </a:t>
            </a:r>
            <a:r>
              <a:rPr lang="en" sz="1400"/>
              <a:t>your partially implemented algorithm using the provided </a:t>
            </a:r>
            <a:r>
              <a:rPr lang="en" sz="1400">
                <a:solidFill>
                  <a:srgbClr val="FF0000"/>
                </a:solidFill>
                <a:latin typeface="Courier New"/>
                <a:ea typeface="Courier New"/>
                <a:cs typeface="Courier New"/>
                <a:sym typeface="Courier New"/>
              </a:rPr>
              <a:t>DFPathTest</a:t>
            </a:r>
            <a:r>
              <a:rPr lang="en" sz="1400"/>
              <a:t>.</a:t>
            </a:r>
            <a:endParaRPr sz="1400"/>
          </a:p>
          <a:p>
            <a:pPr indent="-304800" lvl="1" marL="914400" rtl="0" algn="l">
              <a:lnSpc>
                <a:spcPct val="115000"/>
              </a:lnSpc>
              <a:spcBef>
                <a:spcPts val="0"/>
              </a:spcBef>
              <a:spcAft>
                <a:spcPts val="0"/>
              </a:spcAft>
              <a:buSzPts val="1200"/>
              <a:buChar char="○"/>
            </a:pPr>
            <a:r>
              <a:rPr b="1" i="1" lang="en" sz="1200">
                <a:solidFill>
                  <a:srgbClr val="FF0000"/>
                </a:solidFill>
              </a:rPr>
              <a:t>Some </a:t>
            </a:r>
            <a:r>
              <a:rPr lang="en" sz="1200"/>
              <a:t>of the tests should now </a:t>
            </a:r>
            <a:r>
              <a:rPr b="1" i="1" lang="en" sz="1200">
                <a:solidFill>
                  <a:srgbClr val="FF0000"/>
                </a:solidFill>
              </a:rPr>
              <a:t>pass</a:t>
            </a:r>
            <a:r>
              <a:rPr lang="en" sz="1200"/>
              <a:t>.</a:t>
            </a:r>
            <a:endParaRPr sz="1200"/>
          </a:p>
        </p:txBody>
      </p:sp>
      <p:sp>
        <p:nvSpPr>
          <p:cNvPr id="2379" name="Google Shape;2379;p92"/>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25</a:t>
            </a:r>
            <a:endParaRPr/>
          </a:p>
        </p:txBody>
      </p:sp>
      <p:grpSp>
        <p:nvGrpSpPr>
          <p:cNvPr id="2380" name="Google Shape;2380;p92"/>
          <p:cNvGrpSpPr/>
          <p:nvPr/>
        </p:nvGrpSpPr>
        <p:grpSpPr>
          <a:xfrm>
            <a:off x="119466" y="1949181"/>
            <a:ext cx="2380778" cy="2101576"/>
            <a:chOff x="119466" y="1644381"/>
            <a:chExt cx="2380778" cy="2101576"/>
          </a:xfrm>
        </p:grpSpPr>
        <p:sp>
          <p:nvSpPr>
            <p:cNvPr id="2381" name="Google Shape;2381;p92"/>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382" name="Google Shape;2382;p92"/>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383" name="Google Shape;2383;p92"/>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384" name="Google Shape;2384;p92"/>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385" name="Google Shape;2385;p92"/>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386" name="Google Shape;2386;p92"/>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387" name="Google Shape;2387;p92"/>
            <p:cNvCxnSpPr>
              <a:stCxn id="2381" idx="2"/>
              <a:endCxn id="2383"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388" name="Google Shape;2388;p92"/>
            <p:cNvCxnSpPr>
              <a:stCxn id="2383" idx="5"/>
              <a:endCxn id="2385"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389" name="Google Shape;2389;p92"/>
            <p:cNvCxnSpPr>
              <a:stCxn id="2385" idx="3"/>
              <a:endCxn id="2384"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390" name="Google Shape;2390;p92"/>
            <p:cNvCxnSpPr>
              <a:stCxn id="2384" idx="6"/>
              <a:endCxn id="2386"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391" name="Google Shape;2391;p92"/>
            <p:cNvCxnSpPr>
              <a:stCxn id="2386" idx="0"/>
              <a:endCxn id="2385"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392" name="Google Shape;2392;p92"/>
            <p:cNvCxnSpPr>
              <a:stCxn id="2385" idx="7"/>
              <a:endCxn id="2382"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393" name="Google Shape;2393;p92"/>
            <p:cNvCxnSpPr>
              <a:stCxn id="2382" idx="4"/>
              <a:endCxn id="2386"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7" name="Shape 2397"/>
        <p:cNvGrpSpPr/>
        <p:nvPr/>
      </p:nvGrpSpPr>
      <p:grpSpPr>
        <a:xfrm>
          <a:off x="0" y="0"/>
          <a:ext cx="0" cy="0"/>
          <a:chOff x="0" y="0"/>
          <a:chExt cx="0" cy="0"/>
        </a:xfrm>
      </p:grpSpPr>
      <p:sp>
        <p:nvSpPr>
          <p:cNvPr id="2398" name="Google Shape;2398;p93"/>
          <p:cNvSpPr txBox="1"/>
          <p:nvPr>
            <p:ph type="title"/>
          </p:nvPr>
        </p:nvSpPr>
        <p:spPr>
          <a:xfrm>
            <a:off x="1436850" y="100"/>
            <a:ext cx="7642500" cy="596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Complete Depth-First Path</a:t>
            </a:r>
            <a:endParaRPr/>
          </a:p>
        </p:txBody>
      </p:sp>
      <p:sp>
        <p:nvSpPr>
          <p:cNvPr id="2399" name="Google Shape;2399;p93"/>
          <p:cNvSpPr txBox="1"/>
          <p:nvPr>
            <p:ph idx="1" type="body"/>
          </p:nvPr>
        </p:nvSpPr>
        <p:spPr>
          <a:xfrm>
            <a:off x="65250" y="731625"/>
            <a:ext cx="8955900" cy="997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1600"/>
              </a:spcAft>
              <a:buSzPts val="1600"/>
              <a:buNone/>
            </a:pPr>
            <a:r>
              <a:rPr lang="en"/>
              <a:t>Once again, we will be using recursion to implement the DFS-Path algorithm. As with our implementation of DFS, most of the work will be done by a helper function. Let's complete the algorithm now!</a:t>
            </a:r>
            <a:endParaRPr/>
          </a:p>
        </p:txBody>
      </p:sp>
      <p:sp>
        <p:nvSpPr>
          <p:cNvPr id="2400" name="Google Shape;2400;p9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2401" name="Google Shape;2401;p93"/>
          <p:cNvSpPr txBox="1"/>
          <p:nvPr>
            <p:ph idx="2" type="body"/>
          </p:nvPr>
        </p:nvSpPr>
        <p:spPr>
          <a:xfrm>
            <a:off x="2822575" y="1504025"/>
            <a:ext cx="6028800" cy="30978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Like the DFS algorithm, most of the work done by DFS-Path is handled by a helper function. Open </a:t>
            </a:r>
            <a:r>
              <a:rPr lang="en">
                <a:solidFill>
                  <a:srgbClr val="FF0000"/>
                </a:solidFill>
                <a:latin typeface="Courier New"/>
                <a:ea typeface="Courier New"/>
                <a:cs typeface="Courier New"/>
                <a:sym typeface="Courier New"/>
              </a:rPr>
              <a:t>AdjacencyGraph</a:t>
            </a:r>
            <a:r>
              <a:rPr lang="en">
                <a:solidFill>
                  <a:srgbClr val="FF0000"/>
                </a:solidFill>
              </a:rPr>
              <a:t> </a:t>
            </a:r>
            <a:r>
              <a:rPr lang="en"/>
              <a:t>and define a new method called "</a:t>
            </a:r>
            <a:r>
              <a:rPr lang="en">
                <a:solidFill>
                  <a:srgbClr val="FF0000"/>
                </a:solidFill>
                <a:latin typeface="Courier New"/>
                <a:ea typeface="Courier New"/>
                <a:cs typeface="Courier New"/>
                <a:sym typeface="Courier New"/>
              </a:rPr>
              <a:t>visitDFPath</a:t>
            </a:r>
            <a:r>
              <a:rPr lang="en"/>
              <a:t>" that declares parameters for vertices </a:t>
            </a:r>
            <a:r>
              <a:rPr b="1" i="1" lang="en">
                <a:solidFill>
                  <a:srgbClr val="FF0000"/>
                </a:solidFill>
              </a:rPr>
              <a:t>V</a:t>
            </a:r>
            <a:r>
              <a:rPr lang="en">
                <a:solidFill>
                  <a:srgbClr val="FF0000"/>
                </a:solidFill>
              </a:rPr>
              <a:t> &amp; </a:t>
            </a:r>
            <a:r>
              <a:rPr b="1" i="1" lang="en">
                <a:solidFill>
                  <a:srgbClr val="FF0000"/>
                </a:solidFill>
              </a:rPr>
              <a:t>E</a:t>
            </a:r>
            <a:r>
              <a:rPr lang="en"/>
              <a:t>, and a set of previously </a:t>
            </a:r>
            <a:r>
              <a:rPr b="1" i="1" lang="en">
                <a:solidFill>
                  <a:srgbClr val="FF0000"/>
                </a:solidFill>
              </a:rPr>
              <a:t>visited</a:t>
            </a:r>
            <a:r>
              <a:rPr lang="en">
                <a:solidFill>
                  <a:srgbClr val="FF0000"/>
                </a:solidFill>
              </a:rPr>
              <a:t> </a:t>
            </a:r>
            <a:r>
              <a:rPr lang="en"/>
              <a:t>vertices and returns a </a:t>
            </a:r>
            <a:r>
              <a:rPr lang="en">
                <a:solidFill>
                  <a:srgbClr val="FF0000"/>
                </a:solidFill>
                <a:latin typeface="Courier New"/>
                <a:ea typeface="Courier New"/>
                <a:cs typeface="Courier New"/>
                <a:sym typeface="Courier New"/>
              </a:rPr>
              <a:t>java.util.List&lt;E&gt;</a:t>
            </a:r>
            <a:r>
              <a:rPr lang="en"/>
              <a:t>.</a:t>
            </a:r>
            <a:endParaRPr/>
          </a:p>
          <a:p>
            <a:pPr indent="-298450" lvl="1" marL="914400" rtl="0" algn="l">
              <a:lnSpc>
                <a:spcPct val="115000"/>
              </a:lnSpc>
              <a:spcBef>
                <a:spcPts val="0"/>
              </a:spcBef>
              <a:spcAft>
                <a:spcPts val="0"/>
              </a:spcAft>
              <a:buSzPts val="1100"/>
              <a:buChar char="○"/>
            </a:pPr>
            <a:r>
              <a:rPr lang="en"/>
              <a:t>If </a:t>
            </a:r>
            <a:r>
              <a:rPr b="1" i="1" lang="en">
                <a:solidFill>
                  <a:srgbClr val="FF0000"/>
                </a:solidFill>
              </a:rPr>
              <a:t>V is E</a:t>
            </a:r>
            <a:r>
              <a:rPr lang="en"/>
              <a:t>, return a new </a:t>
            </a:r>
            <a:r>
              <a:rPr lang="en">
                <a:solidFill>
                  <a:srgbClr val="FF0000"/>
                </a:solidFill>
                <a:latin typeface="Courier New"/>
                <a:ea typeface="Courier New"/>
                <a:cs typeface="Courier New"/>
                <a:sym typeface="Courier New"/>
              </a:rPr>
              <a:t>LinkedList</a:t>
            </a:r>
            <a:r>
              <a:rPr lang="en">
                <a:solidFill>
                  <a:srgbClr val="FF0000"/>
                </a:solidFill>
              </a:rPr>
              <a:t> </a:t>
            </a:r>
            <a:r>
              <a:rPr lang="en"/>
              <a:t>containing </a:t>
            </a:r>
            <a:r>
              <a:rPr b="1" i="1" lang="en">
                <a:solidFill>
                  <a:srgbClr val="FF0000"/>
                </a:solidFill>
              </a:rPr>
              <a:t>only E's </a:t>
            </a:r>
            <a:r>
              <a:rPr b="1" i="1" lang="en" u="sng">
                <a:solidFill>
                  <a:srgbClr val="FF0000"/>
                </a:solidFill>
              </a:rPr>
              <a:t>value</a:t>
            </a:r>
            <a:r>
              <a:rPr lang="en"/>
              <a:t>.</a:t>
            </a:r>
            <a:endParaRPr/>
          </a:p>
          <a:p>
            <a:pPr indent="-298450" lvl="1" marL="914400" rtl="0" algn="l">
              <a:lnSpc>
                <a:spcPct val="115000"/>
              </a:lnSpc>
              <a:spcBef>
                <a:spcPts val="0"/>
              </a:spcBef>
              <a:spcAft>
                <a:spcPts val="0"/>
              </a:spcAft>
              <a:buSzPts val="1100"/>
              <a:buChar char="○"/>
            </a:pPr>
            <a:r>
              <a:rPr lang="en"/>
              <a:t>Otherwise, for each neighbor</a:t>
            </a:r>
            <a:r>
              <a:rPr lang="en">
                <a:solidFill>
                  <a:srgbClr val="FF0000"/>
                </a:solidFill>
              </a:rPr>
              <a:t> </a:t>
            </a:r>
            <a:r>
              <a:rPr b="1" i="1" lang="en">
                <a:solidFill>
                  <a:srgbClr val="FF0000"/>
                </a:solidFill>
              </a:rPr>
              <a:t>N</a:t>
            </a:r>
            <a:r>
              <a:rPr lang="en"/>
              <a:t> of </a:t>
            </a:r>
            <a:r>
              <a:rPr b="1" i="1" lang="en">
                <a:solidFill>
                  <a:srgbClr val="FF0000"/>
                </a:solidFill>
              </a:rPr>
              <a:t>V</a:t>
            </a:r>
            <a:r>
              <a:rPr lang="en"/>
              <a:t> that is not already in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lang="en"/>
              <a:t>Add </a:t>
            </a:r>
            <a:r>
              <a:rPr b="1" i="1" lang="en">
                <a:solidFill>
                  <a:srgbClr val="FF0000"/>
                </a:solidFill>
              </a:rPr>
              <a:t>N</a:t>
            </a:r>
            <a:r>
              <a:rPr lang="en"/>
              <a:t> to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lang="en"/>
              <a:t>Make a </a:t>
            </a:r>
            <a:r>
              <a:rPr b="1" i="1" lang="en">
                <a:solidFill>
                  <a:srgbClr val="FF0000"/>
                </a:solidFill>
              </a:rPr>
              <a:t>recursive call</a:t>
            </a:r>
            <a:r>
              <a:rPr lang="en"/>
              <a:t> with the neighbor </a:t>
            </a:r>
            <a:r>
              <a:rPr b="1" i="1" lang="en">
                <a:solidFill>
                  <a:srgbClr val="FF0000"/>
                </a:solidFill>
              </a:rPr>
              <a:t>N</a:t>
            </a:r>
            <a:r>
              <a:rPr lang="en"/>
              <a:t>, </a:t>
            </a:r>
            <a:r>
              <a:rPr b="1" i="1" lang="en">
                <a:solidFill>
                  <a:srgbClr val="FF0000"/>
                </a:solidFill>
              </a:rPr>
              <a:t>E</a:t>
            </a:r>
            <a:r>
              <a:rPr lang="en"/>
              <a:t>, and the </a:t>
            </a:r>
            <a:r>
              <a:rPr b="1" i="1" lang="en">
                <a:solidFill>
                  <a:srgbClr val="FF0000"/>
                </a:solidFill>
              </a:rPr>
              <a:t>visited</a:t>
            </a:r>
            <a:r>
              <a:rPr lang="en">
                <a:solidFill>
                  <a:srgbClr val="FF0000"/>
                </a:solidFill>
              </a:rPr>
              <a:t> </a:t>
            </a:r>
            <a:r>
              <a:rPr lang="en"/>
              <a:t>set.</a:t>
            </a:r>
            <a:endParaRPr/>
          </a:p>
          <a:p>
            <a:pPr indent="-298450" lvl="2" marL="1371600" rtl="0" algn="l">
              <a:lnSpc>
                <a:spcPct val="115000"/>
              </a:lnSpc>
              <a:spcBef>
                <a:spcPts val="0"/>
              </a:spcBef>
              <a:spcAft>
                <a:spcPts val="0"/>
              </a:spcAft>
              <a:buSzPts val="1100"/>
              <a:buChar char="■"/>
            </a:pPr>
            <a:r>
              <a:rPr lang="en"/>
              <a:t>If the recursive call returns a </a:t>
            </a:r>
            <a:r>
              <a:rPr b="1" i="1" lang="en">
                <a:solidFill>
                  <a:srgbClr val="FF0000"/>
                </a:solidFill>
              </a:rPr>
              <a:t>non-</a:t>
            </a:r>
            <a:r>
              <a:rPr lang="en">
                <a:solidFill>
                  <a:srgbClr val="FF0000"/>
                </a:solidFill>
                <a:latin typeface="Courier New"/>
                <a:ea typeface="Courier New"/>
                <a:cs typeface="Courier New"/>
                <a:sym typeface="Courier New"/>
              </a:rPr>
              <a:t>null</a:t>
            </a:r>
            <a:r>
              <a:rPr lang="en">
                <a:solidFill>
                  <a:srgbClr val="FF0000"/>
                </a:solidFill>
              </a:rPr>
              <a:t> </a:t>
            </a:r>
            <a:r>
              <a:rPr b="1" i="1" lang="en">
                <a:solidFill>
                  <a:srgbClr val="FF0000"/>
                </a:solidFill>
              </a:rPr>
              <a:t>path</a:t>
            </a:r>
            <a:r>
              <a:rPr lang="en"/>
              <a:t>:</a:t>
            </a:r>
            <a:endParaRPr/>
          </a:p>
          <a:p>
            <a:pPr indent="-298450" lvl="3" marL="1828800" rtl="0" algn="l">
              <a:lnSpc>
                <a:spcPct val="115000"/>
              </a:lnSpc>
              <a:spcBef>
                <a:spcPts val="0"/>
              </a:spcBef>
              <a:spcAft>
                <a:spcPts val="0"/>
              </a:spcAft>
              <a:buSzPts val="1100"/>
              <a:buChar char="●"/>
            </a:pPr>
            <a:r>
              <a:rPr lang="en"/>
              <a:t>Add </a:t>
            </a:r>
            <a:r>
              <a:rPr b="1" i="1" lang="en">
                <a:solidFill>
                  <a:srgbClr val="FF0000"/>
                </a:solidFill>
              </a:rPr>
              <a:t>V's </a:t>
            </a:r>
            <a:r>
              <a:rPr b="1" i="1" lang="en" u="sng">
                <a:solidFill>
                  <a:srgbClr val="FF0000"/>
                </a:solidFill>
              </a:rPr>
              <a:t>value</a:t>
            </a:r>
            <a:r>
              <a:rPr lang="en"/>
              <a:t> to the </a:t>
            </a:r>
            <a:r>
              <a:rPr b="1" i="1" lang="en">
                <a:solidFill>
                  <a:srgbClr val="FF0000"/>
                </a:solidFill>
              </a:rPr>
              <a:t>front</a:t>
            </a:r>
            <a:r>
              <a:rPr lang="en">
                <a:solidFill>
                  <a:srgbClr val="FF0000"/>
                </a:solidFill>
              </a:rPr>
              <a:t> </a:t>
            </a:r>
            <a:r>
              <a:rPr lang="en"/>
              <a:t>of the path and return it.</a:t>
            </a:r>
            <a:endParaRPr/>
          </a:p>
          <a:p>
            <a:pPr indent="-298450" lvl="1" marL="914400" rtl="0" algn="l">
              <a:lnSpc>
                <a:spcPct val="115000"/>
              </a:lnSpc>
              <a:spcBef>
                <a:spcPts val="0"/>
              </a:spcBef>
              <a:spcAft>
                <a:spcPts val="0"/>
              </a:spcAft>
              <a:buSzPts val="1100"/>
              <a:buChar char="○"/>
            </a:pPr>
            <a:r>
              <a:rPr lang="en"/>
              <a:t>If </a:t>
            </a:r>
            <a:r>
              <a:rPr b="1" i="1" lang="en">
                <a:solidFill>
                  <a:srgbClr val="FF0000"/>
                </a:solidFill>
              </a:rPr>
              <a:t>none</a:t>
            </a:r>
            <a:r>
              <a:rPr lang="en">
                <a:solidFill>
                  <a:srgbClr val="FF0000"/>
                </a:solidFill>
              </a:rPr>
              <a:t> </a:t>
            </a:r>
            <a:r>
              <a:rPr lang="en"/>
              <a:t>of </a:t>
            </a:r>
            <a:r>
              <a:rPr b="1" i="1" lang="en">
                <a:solidFill>
                  <a:srgbClr val="FF0000"/>
                </a:solidFill>
              </a:rPr>
              <a:t>V</a:t>
            </a:r>
            <a:r>
              <a:rPr lang="en"/>
              <a:t>'s neighbors returns a path, then </a:t>
            </a:r>
            <a:r>
              <a:rPr b="1" i="1" lang="en">
                <a:solidFill>
                  <a:srgbClr val="FF0000"/>
                </a:solidFill>
              </a:rPr>
              <a:t>V</a:t>
            </a:r>
            <a:r>
              <a:rPr lang="en"/>
              <a:t> is not on the path. Return </a:t>
            </a:r>
            <a:r>
              <a:rPr lang="en">
                <a:solidFill>
                  <a:srgbClr val="FF0000"/>
                </a:solidFill>
                <a:latin typeface="Courier New"/>
                <a:ea typeface="Courier New"/>
                <a:cs typeface="Courier New"/>
                <a:sym typeface="Courier New"/>
              </a:rPr>
              <a:t>null</a:t>
            </a:r>
            <a:r>
              <a:rPr lang="en"/>
              <a:t>.</a:t>
            </a:r>
            <a:endParaRPr/>
          </a:p>
          <a:p>
            <a:pPr indent="-311150" lvl="0" marL="457200" rtl="0" algn="l">
              <a:lnSpc>
                <a:spcPct val="115000"/>
              </a:lnSpc>
              <a:spcBef>
                <a:spcPts val="0"/>
              </a:spcBef>
              <a:spcAft>
                <a:spcPts val="0"/>
              </a:spcAft>
              <a:buSzPts val="1300"/>
              <a:buChar char="●"/>
            </a:pPr>
            <a:r>
              <a:rPr b="1" i="1" lang="en">
                <a:solidFill>
                  <a:srgbClr val="FF0000"/>
                </a:solidFill>
              </a:rPr>
              <a:t>Update </a:t>
            </a:r>
            <a:r>
              <a:rPr lang="en">
                <a:latin typeface="Courier New"/>
                <a:ea typeface="Courier New"/>
                <a:cs typeface="Courier New"/>
                <a:sym typeface="Courier New"/>
              </a:rPr>
              <a:t>dfPath</a:t>
            </a:r>
            <a:r>
              <a:rPr lang="en"/>
              <a:t> to call </a:t>
            </a:r>
            <a:r>
              <a:rPr lang="en">
                <a:latin typeface="Courier New"/>
                <a:ea typeface="Courier New"/>
                <a:cs typeface="Courier New"/>
                <a:sym typeface="Courier New"/>
              </a:rPr>
              <a:t>visitDFPath</a:t>
            </a:r>
            <a:r>
              <a:rPr lang="en"/>
              <a:t> and </a:t>
            </a:r>
            <a:r>
              <a:rPr b="1" i="1" lang="en">
                <a:solidFill>
                  <a:srgbClr val="FF0000"/>
                </a:solidFill>
              </a:rPr>
              <a:t>return the result</a:t>
            </a:r>
            <a:r>
              <a:rPr lang="en"/>
              <a:t>.</a:t>
            </a:r>
            <a:endParaRPr/>
          </a:p>
          <a:p>
            <a:pPr indent="-311150" lvl="0" marL="457200" rtl="0" algn="l">
              <a:lnSpc>
                <a:spcPct val="115000"/>
              </a:lnSpc>
              <a:spcBef>
                <a:spcPts val="0"/>
              </a:spcBef>
              <a:spcAft>
                <a:spcPts val="0"/>
              </a:spcAft>
              <a:buSzPts val="1300"/>
              <a:buChar char="●"/>
            </a:pPr>
            <a:r>
              <a:rPr b="1" i="1" lang="en">
                <a:solidFill>
                  <a:srgbClr val="FF0000"/>
                </a:solidFill>
              </a:rPr>
              <a:t>Test</a:t>
            </a:r>
            <a:r>
              <a:rPr lang="en">
                <a:solidFill>
                  <a:srgbClr val="FF0000"/>
                </a:solidFill>
              </a:rPr>
              <a:t> </a:t>
            </a:r>
            <a:r>
              <a:rPr lang="en"/>
              <a:t>your algorithm using the provided </a:t>
            </a:r>
            <a:r>
              <a:rPr lang="en">
                <a:solidFill>
                  <a:srgbClr val="FF0000"/>
                </a:solidFill>
                <a:latin typeface="Courier New"/>
                <a:ea typeface="Courier New"/>
                <a:cs typeface="Courier New"/>
                <a:sym typeface="Courier New"/>
              </a:rPr>
              <a:t>DFPathTest</a:t>
            </a:r>
            <a:r>
              <a:rPr lang="en"/>
              <a:t>.</a:t>
            </a:r>
            <a:endParaRPr/>
          </a:p>
          <a:p>
            <a:pPr indent="-298450" lvl="1" marL="914400" rtl="0" algn="l">
              <a:lnSpc>
                <a:spcPct val="115000"/>
              </a:lnSpc>
              <a:spcBef>
                <a:spcPts val="0"/>
              </a:spcBef>
              <a:spcAft>
                <a:spcPts val="0"/>
              </a:spcAft>
              <a:buSzPts val="1100"/>
              <a:buChar char="○"/>
            </a:pPr>
            <a:r>
              <a:rPr b="1" i="1" lang="en">
                <a:solidFill>
                  <a:srgbClr val="FF0000"/>
                </a:solidFill>
              </a:rPr>
              <a:t>All </a:t>
            </a:r>
            <a:r>
              <a:rPr lang="en"/>
              <a:t>of the tests should now </a:t>
            </a:r>
            <a:r>
              <a:rPr b="1" i="1" lang="en">
                <a:solidFill>
                  <a:srgbClr val="FF0000"/>
                </a:solidFill>
              </a:rPr>
              <a:t>pass</a:t>
            </a:r>
            <a:r>
              <a:rPr lang="en"/>
              <a:t>.</a:t>
            </a:r>
            <a:endParaRPr/>
          </a:p>
        </p:txBody>
      </p:sp>
      <p:sp>
        <p:nvSpPr>
          <p:cNvPr id="2402" name="Google Shape;2402;p93"/>
          <p:cNvSpPr txBox="1"/>
          <p:nvPr>
            <p:ph idx="3" type="title"/>
          </p:nvPr>
        </p:nvSpPr>
        <p:spPr>
          <a:xfrm>
            <a:off x="65250" y="100"/>
            <a:ext cx="1253700" cy="596700"/>
          </a:xfrm>
          <a:prstGeom prst="rect">
            <a:avLst/>
          </a:prstGeom>
          <a:noFill/>
          <a:ln>
            <a:noFill/>
          </a:ln>
        </p:spPr>
        <p:txBody>
          <a:bodyPr anchorCtr="0" anchor="ctr" bIns="91425" lIns="91425" spcFirstLastPara="1" rIns="91425" wrap="square" tIns="91425">
            <a:noAutofit/>
          </a:bodyPr>
          <a:lstStyle/>
          <a:p>
            <a:pPr indent="0" lvl="0" marL="0" rtl="0" algn="ctr">
              <a:lnSpc>
                <a:spcPct val="100000"/>
              </a:lnSpc>
              <a:spcBef>
                <a:spcPts val="0"/>
              </a:spcBef>
              <a:spcAft>
                <a:spcPts val="0"/>
              </a:spcAft>
              <a:buSzPts val="2800"/>
              <a:buNone/>
            </a:pPr>
            <a:r>
              <a:rPr lang="en"/>
              <a:t>12</a:t>
            </a:r>
            <a:r>
              <a:rPr lang="en"/>
              <a:t>.</a:t>
            </a:r>
            <a:r>
              <a:rPr lang="en"/>
              <a:t>26</a:t>
            </a:r>
            <a:endParaRPr/>
          </a:p>
        </p:txBody>
      </p:sp>
      <p:grpSp>
        <p:nvGrpSpPr>
          <p:cNvPr id="2403" name="Google Shape;2403;p93"/>
          <p:cNvGrpSpPr/>
          <p:nvPr/>
        </p:nvGrpSpPr>
        <p:grpSpPr>
          <a:xfrm>
            <a:off x="119466" y="1796781"/>
            <a:ext cx="2380778" cy="2101576"/>
            <a:chOff x="119466" y="1644381"/>
            <a:chExt cx="2380778" cy="2101576"/>
          </a:xfrm>
        </p:grpSpPr>
        <p:sp>
          <p:nvSpPr>
            <p:cNvPr id="2404" name="Google Shape;2404;p93"/>
            <p:cNvSpPr/>
            <p:nvPr/>
          </p:nvSpPr>
          <p:spPr>
            <a:xfrm>
              <a:off x="1103156" y="1644381"/>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Z</a:t>
              </a:r>
              <a:endParaRPr b="0" i="0" sz="1400" u="none" cap="none" strike="noStrike">
                <a:solidFill>
                  <a:srgbClr val="FFFFFF"/>
                </a:solidFill>
                <a:latin typeface="Arial"/>
                <a:ea typeface="Arial"/>
                <a:cs typeface="Arial"/>
                <a:sym typeface="Arial"/>
              </a:endParaRPr>
            </a:p>
          </p:txBody>
        </p:sp>
        <p:sp>
          <p:nvSpPr>
            <p:cNvPr id="2405" name="Google Shape;2405;p93"/>
            <p:cNvSpPr/>
            <p:nvPr/>
          </p:nvSpPr>
          <p:spPr>
            <a:xfrm>
              <a:off x="2086844" y="2208813"/>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W</a:t>
              </a:r>
              <a:endParaRPr b="0" i="0" sz="1400" u="none" cap="none" strike="noStrike">
                <a:solidFill>
                  <a:srgbClr val="FFFFFF"/>
                </a:solidFill>
                <a:latin typeface="Arial"/>
                <a:ea typeface="Arial"/>
                <a:cs typeface="Arial"/>
                <a:sym typeface="Arial"/>
              </a:endParaRPr>
            </a:p>
          </p:txBody>
        </p:sp>
        <p:sp>
          <p:nvSpPr>
            <p:cNvPr id="2406" name="Google Shape;2406;p93"/>
            <p:cNvSpPr/>
            <p:nvPr/>
          </p:nvSpPr>
          <p:spPr>
            <a:xfrm>
              <a:off x="119466" y="2208762"/>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Y</a:t>
              </a:r>
              <a:endParaRPr b="0" i="0" sz="1400" u="none" cap="none" strike="noStrike">
                <a:solidFill>
                  <a:srgbClr val="FFFFFF"/>
                </a:solidFill>
                <a:latin typeface="Arial"/>
                <a:ea typeface="Arial"/>
                <a:cs typeface="Arial"/>
                <a:sym typeface="Arial"/>
              </a:endParaRPr>
            </a:p>
          </p:txBody>
        </p:sp>
        <p:sp>
          <p:nvSpPr>
            <p:cNvPr id="2407" name="Google Shape;2407;p93"/>
            <p:cNvSpPr/>
            <p:nvPr/>
          </p:nvSpPr>
          <p:spPr>
            <a:xfrm>
              <a:off x="586897" y="3332555"/>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X</a:t>
              </a:r>
              <a:endParaRPr b="0" i="0" sz="1400" u="none" cap="none" strike="noStrike">
                <a:solidFill>
                  <a:srgbClr val="FFFFFF"/>
                </a:solidFill>
                <a:latin typeface="Arial"/>
                <a:ea typeface="Arial"/>
                <a:cs typeface="Arial"/>
                <a:sym typeface="Arial"/>
              </a:endParaRPr>
            </a:p>
          </p:txBody>
        </p:sp>
        <p:sp>
          <p:nvSpPr>
            <p:cNvPr id="2408" name="Google Shape;2408;p93"/>
            <p:cNvSpPr/>
            <p:nvPr/>
          </p:nvSpPr>
          <p:spPr>
            <a:xfrm>
              <a:off x="1103229" y="258941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U</a:t>
              </a:r>
              <a:endParaRPr b="0" i="0" sz="1400" u="none" cap="none" strike="noStrike">
                <a:solidFill>
                  <a:srgbClr val="FFFFFF"/>
                </a:solidFill>
                <a:latin typeface="Arial"/>
                <a:ea typeface="Arial"/>
                <a:cs typeface="Arial"/>
                <a:sym typeface="Arial"/>
              </a:endParaRPr>
            </a:p>
          </p:txBody>
        </p:sp>
        <p:sp>
          <p:nvSpPr>
            <p:cNvPr id="2409" name="Google Shape;2409;p93"/>
            <p:cNvSpPr/>
            <p:nvPr/>
          </p:nvSpPr>
          <p:spPr>
            <a:xfrm>
              <a:off x="1828611" y="3332557"/>
              <a:ext cx="413400" cy="413400"/>
            </a:xfrm>
            <a:prstGeom prst="ellipse">
              <a:avLst/>
            </a:prstGeom>
            <a:solidFill>
              <a:srgbClr val="4A86E8"/>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Arial"/>
                  <a:ea typeface="Arial"/>
                  <a:cs typeface="Arial"/>
                  <a:sym typeface="Arial"/>
                </a:rPr>
                <a:t>V</a:t>
              </a:r>
              <a:endParaRPr b="0" i="0" sz="1400" u="none" cap="none" strike="noStrike">
                <a:solidFill>
                  <a:srgbClr val="FFFFFF"/>
                </a:solidFill>
                <a:latin typeface="Arial"/>
                <a:ea typeface="Arial"/>
                <a:cs typeface="Arial"/>
                <a:sym typeface="Arial"/>
              </a:endParaRPr>
            </a:p>
          </p:txBody>
        </p:sp>
        <p:cxnSp>
          <p:nvCxnSpPr>
            <p:cNvPr id="2410" name="Google Shape;2410;p93"/>
            <p:cNvCxnSpPr>
              <a:stCxn id="2404" idx="2"/>
              <a:endCxn id="2406" idx="7"/>
            </p:cNvCxnSpPr>
            <p:nvPr/>
          </p:nvCxnSpPr>
          <p:spPr>
            <a:xfrm flipH="1">
              <a:off x="472256" y="1851081"/>
              <a:ext cx="630900" cy="418200"/>
            </a:xfrm>
            <a:prstGeom prst="straightConnector1">
              <a:avLst/>
            </a:prstGeom>
            <a:noFill/>
            <a:ln cap="flat" cmpd="sng" w="19050">
              <a:solidFill>
                <a:srgbClr val="000000"/>
              </a:solidFill>
              <a:prstDash val="solid"/>
              <a:round/>
              <a:headEnd len="sm" w="sm" type="none"/>
              <a:tailEnd len="sm" w="sm" type="none"/>
            </a:ln>
          </p:spPr>
        </p:cxnSp>
        <p:cxnSp>
          <p:nvCxnSpPr>
            <p:cNvPr id="2411" name="Google Shape;2411;p93"/>
            <p:cNvCxnSpPr>
              <a:stCxn id="2406" idx="5"/>
              <a:endCxn id="2408" idx="2"/>
            </p:cNvCxnSpPr>
            <p:nvPr/>
          </p:nvCxnSpPr>
          <p:spPr>
            <a:xfrm>
              <a:off x="472325" y="2561621"/>
              <a:ext cx="630900" cy="234600"/>
            </a:xfrm>
            <a:prstGeom prst="straightConnector1">
              <a:avLst/>
            </a:prstGeom>
            <a:noFill/>
            <a:ln cap="flat" cmpd="sng" w="19050">
              <a:solidFill>
                <a:srgbClr val="000000"/>
              </a:solidFill>
              <a:prstDash val="solid"/>
              <a:round/>
              <a:headEnd len="sm" w="sm" type="none"/>
              <a:tailEnd len="sm" w="sm" type="none"/>
            </a:ln>
          </p:spPr>
        </p:cxnSp>
        <p:cxnSp>
          <p:nvCxnSpPr>
            <p:cNvPr id="2412" name="Google Shape;2412;p93"/>
            <p:cNvCxnSpPr>
              <a:stCxn id="2408" idx="3"/>
              <a:endCxn id="2407" idx="0"/>
            </p:cNvCxnSpPr>
            <p:nvPr/>
          </p:nvCxnSpPr>
          <p:spPr>
            <a:xfrm flipH="1">
              <a:off x="793570" y="2942276"/>
              <a:ext cx="370200" cy="390300"/>
            </a:xfrm>
            <a:prstGeom prst="straightConnector1">
              <a:avLst/>
            </a:prstGeom>
            <a:noFill/>
            <a:ln cap="flat" cmpd="sng" w="19050">
              <a:solidFill>
                <a:srgbClr val="000000"/>
              </a:solidFill>
              <a:prstDash val="solid"/>
              <a:round/>
              <a:headEnd len="sm" w="sm" type="none"/>
              <a:tailEnd len="sm" w="sm" type="none"/>
            </a:ln>
          </p:spPr>
        </p:cxnSp>
        <p:cxnSp>
          <p:nvCxnSpPr>
            <p:cNvPr id="2413" name="Google Shape;2413;p93"/>
            <p:cNvCxnSpPr>
              <a:stCxn id="2407" idx="6"/>
              <a:endCxn id="2409" idx="2"/>
            </p:cNvCxnSpPr>
            <p:nvPr/>
          </p:nvCxnSpPr>
          <p:spPr>
            <a:xfrm>
              <a:off x="1000297" y="3539255"/>
              <a:ext cx="828300" cy="0"/>
            </a:xfrm>
            <a:prstGeom prst="straightConnector1">
              <a:avLst/>
            </a:prstGeom>
            <a:noFill/>
            <a:ln cap="flat" cmpd="sng" w="19050">
              <a:solidFill>
                <a:srgbClr val="000000"/>
              </a:solidFill>
              <a:prstDash val="solid"/>
              <a:round/>
              <a:headEnd len="sm" w="sm" type="none"/>
              <a:tailEnd len="sm" w="sm" type="none"/>
            </a:ln>
          </p:spPr>
        </p:cxnSp>
        <p:cxnSp>
          <p:nvCxnSpPr>
            <p:cNvPr id="2414" name="Google Shape;2414;p93"/>
            <p:cNvCxnSpPr>
              <a:stCxn id="2409" idx="0"/>
              <a:endCxn id="2408" idx="5"/>
            </p:cNvCxnSpPr>
            <p:nvPr/>
          </p:nvCxnSpPr>
          <p:spPr>
            <a:xfrm rot="10800000">
              <a:off x="1456011" y="2942257"/>
              <a:ext cx="579300" cy="390300"/>
            </a:xfrm>
            <a:prstGeom prst="straightConnector1">
              <a:avLst/>
            </a:prstGeom>
            <a:noFill/>
            <a:ln cap="flat" cmpd="sng" w="19050">
              <a:solidFill>
                <a:srgbClr val="000000"/>
              </a:solidFill>
              <a:prstDash val="solid"/>
              <a:round/>
              <a:headEnd len="sm" w="sm" type="none"/>
              <a:tailEnd len="sm" w="sm" type="none"/>
            </a:ln>
          </p:spPr>
        </p:cxnSp>
        <p:cxnSp>
          <p:nvCxnSpPr>
            <p:cNvPr id="2415" name="Google Shape;2415;p93"/>
            <p:cNvCxnSpPr>
              <a:stCxn id="2408" idx="7"/>
              <a:endCxn id="2405" idx="2"/>
            </p:cNvCxnSpPr>
            <p:nvPr/>
          </p:nvCxnSpPr>
          <p:spPr>
            <a:xfrm flipH="1" rot="10800000">
              <a:off x="1456088" y="2415658"/>
              <a:ext cx="630900" cy="234300"/>
            </a:xfrm>
            <a:prstGeom prst="straightConnector1">
              <a:avLst/>
            </a:prstGeom>
            <a:noFill/>
            <a:ln cap="flat" cmpd="sng" w="19050">
              <a:solidFill>
                <a:srgbClr val="000000"/>
              </a:solidFill>
              <a:prstDash val="solid"/>
              <a:round/>
              <a:headEnd len="sm" w="sm" type="none"/>
              <a:tailEnd len="sm" w="sm" type="none"/>
            </a:ln>
          </p:spPr>
        </p:cxnSp>
        <p:cxnSp>
          <p:nvCxnSpPr>
            <p:cNvPr id="2416" name="Google Shape;2416;p93"/>
            <p:cNvCxnSpPr>
              <a:stCxn id="2405" idx="4"/>
              <a:endCxn id="2409" idx="7"/>
            </p:cNvCxnSpPr>
            <p:nvPr/>
          </p:nvCxnSpPr>
          <p:spPr>
            <a:xfrm flipH="1">
              <a:off x="2181344" y="2622213"/>
              <a:ext cx="112200" cy="771000"/>
            </a:xfrm>
            <a:prstGeom prst="straightConnector1">
              <a:avLst/>
            </a:prstGeom>
            <a:noFill/>
            <a:ln cap="flat" cmpd="sng" w="19050">
              <a:solidFill>
                <a:srgbClr val="000000"/>
              </a:solidFill>
              <a:prstDash val="solid"/>
              <a:round/>
              <a:headEnd len="sm" w="sm" type="none"/>
              <a:tailEnd len="sm" w="sm" type="none"/>
            </a:ln>
          </p:spPr>
        </p:cxnSp>
      </p:grpSp>
      <p:sp>
        <p:nvSpPr>
          <p:cNvPr id="2417" name="Google Shape;2417;p93"/>
          <p:cNvSpPr txBox="1"/>
          <p:nvPr/>
        </p:nvSpPr>
        <p:spPr>
          <a:xfrm>
            <a:off x="119475" y="4110325"/>
            <a:ext cx="2380800" cy="641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If a path is found through one of </a:t>
            </a:r>
            <a:r>
              <a:rPr b="1" i="1" lang="en" sz="1200" u="none" cap="none" strike="noStrike">
                <a:solidFill>
                  <a:srgbClr val="FF0000"/>
                </a:solidFill>
                <a:latin typeface="Arial"/>
                <a:ea typeface="Arial"/>
                <a:cs typeface="Arial"/>
                <a:sym typeface="Arial"/>
              </a:rPr>
              <a:t>V</a:t>
            </a:r>
            <a:r>
              <a:rPr b="0" i="0" lang="en" sz="1200" u="none" cap="none" strike="noStrike">
                <a:solidFill>
                  <a:srgbClr val="000000"/>
                </a:solidFill>
                <a:latin typeface="Arial"/>
                <a:ea typeface="Arial"/>
                <a:cs typeface="Arial"/>
                <a:sym typeface="Arial"/>
              </a:rPr>
              <a:t>'s neighbors, </a:t>
            </a:r>
            <a:r>
              <a:rPr b="1" i="1" lang="en" sz="1200" u="none" cap="none" strike="noStrike">
                <a:solidFill>
                  <a:srgbClr val="FF0000"/>
                </a:solidFill>
                <a:latin typeface="Arial"/>
                <a:ea typeface="Arial"/>
                <a:cs typeface="Arial"/>
                <a:sym typeface="Arial"/>
              </a:rPr>
              <a:t>V</a:t>
            </a:r>
            <a:r>
              <a:rPr b="0" i="0" lang="en" sz="1200" u="none" cap="none" strike="noStrike">
                <a:solidFill>
                  <a:srgbClr val="000000"/>
                </a:solidFill>
                <a:latin typeface="Arial"/>
                <a:ea typeface="Arial"/>
                <a:cs typeface="Arial"/>
                <a:sym typeface="Arial"/>
              </a:rPr>
              <a:t> is added to the path before it is returned.</a:t>
            </a:r>
            <a:endParaRPr b="0" i="0" sz="1200" u="none" cap="none" strike="noStrike">
              <a:solidFill>
                <a:srgbClr val="000000"/>
              </a:solidFill>
              <a:latin typeface="Arial"/>
              <a:ea typeface="Arial"/>
              <a:cs typeface="Arial"/>
              <a:sym typeface="Aria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1" name="Shape 2421"/>
        <p:cNvGrpSpPr/>
        <p:nvPr/>
      </p:nvGrpSpPr>
      <p:grpSpPr>
        <a:xfrm>
          <a:off x="0" y="0"/>
          <a:ext cx="0" cy="0"/>
          <a:chOff x="0" y="0"/>
          <a:chExt cx="0" cy="0"/>
        </a:xfrm>
      </p:grpSpPr>
      <p:sp>
        <p:nvSpPr>
          <p:cNvPr id="2422" name="Google Shape;2422;p94"/>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BFS vs. DFS</a:t>
            </a:r>
            <a:endParaRPr/>
          </a:p>
        </p:txBody>
      </p:sp>
      <p:sp>
        <p:nvSpPr>
          <p:cNvPr id="2423" name="Google Shape;2423;p9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graphicFrame>
        <p:nvGraphicFramePr>
          <p:cNvPr id="2424" name="Google Shape;2424;p94"/>
          <p:cNvGraphicFramePr/>
          <p:nvPr/>
        </p:nvGraphicFramePr>
        <p:xfrm>
          <a:off x="431375" y="1356675"/>
          <a:ext cx="3000000" cy="3000000"/>
        </p:xfrm>
        <a:graphic>
          <a:graphicData uri="http://schemas.openxmlformats.org/drawingml/2006/table">
            <a:tbl>
              <a:tblPr>
                <a:noFill/>
                <a:tableStyleId>{F61E8307-4E6B-4154-8BF4-D3231BAD3CED}</a:tableStyleId>
              </a:tblPr>
              <a:tblGrid>
                <a:gridCol w="2404650"/>
                <a:gridCol w="3195950"/>
                <a:gridCol w="2800300"/>
              </a:tblGrid>
              <a:tr h="654100">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rgbClr val="FFFFFF"/>
                          </a:solidFill>
                        </a:rPr>
                        <a:t>Breadth-First Search (BFS)</a:t>
                      </a:r>
                      <a:endParaRPr sz="16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ctr">
                        <a:lnSpc>
                          <a:spcPct val="100000"/>
                        </a:lnSpc>
                        <a:spcBef>
                          <a:spcPts val="0"/>
                        </a:spcBef>
                        <a:spcAft>
                          <a:spcPts val="0"/>
                        </a:spcAft>
                        <a:buClr>
                          <a:srgbClr val="000000"/>
                        </a:buClr>
                        <a:buSzPts val="1600"/>
                        <a:buFont typeface="Arial"/>
                        <a:buNone/>
                      </a:pPr>
                      <a:r>
                        <a:rPr lang="en" sz="1600" u="none" cap="none" strike="noStrike">
                          <a:solidFill>
                            <a:srgbClr val="FFFFFF"/>
                          </a:solidFill>
                        </a:rPr>
                        <a:t>Depth-First Search (DFS)</a:t>
                      </a:r>
                      <a:endParaRPr sz="1600" u="none" cap="none" strike="noStrike">
                        <a:solidFill>
                          <a:srgbClr val="FFFFFF"/>
                        </a:solidFill>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r>
              <a:tr h="654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Order of Visits</a:t>
                      </a:r>
                      <a:endParaRPr sz="14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4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Data Structures Used</a:t>
                      </a:r>
                      <a:endParaRPr sz="14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4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Guarantees Shortest Path</a:t>
                      </a:r>
                      <a:endParaRPr sz="1400" u="none" cap="none" strike="noStrike"/>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54100">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t>Time Complexity</a:t>
                      </a:r>
                      <a:endParaRPr sz="1400" u="none" cap="none" strike="noStrike"/>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2425" name="Google Shape;2425;p94"/>
          <p:cNvSpPr txBox="1"/>
          <p:nvPr/>
        </p:nvSpPr>
        <p:spPr>
          <a:xfrm>
            <a:off x="2952075" y="2064325"/>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ALL NEIGHBORS FIRST</a:t>
            </a:r>
            <a:endParaRPr b="0" i="0" sz="2400" u="none" cap="none" strike="noStrike">
              <a:solidFill>
                <a:srgbClr val="FF0000"/>
              </a:solidFill>
              <a:latin typeface="Shadows Into Light"/>
              <a:ea typeface="Shadows Into Light"/>
              <a:cs typeface="Shadows Into Light"/>
              <a:sym typeface="Shadows Into Light"/>
            </a:endParaRPr>
          </a:p>
        </p:txBody>
      </p:sp>
      <p:sp>
        <p:nvSpPr>
          <p:cNvPr id="2426" name="Google Shape;2426;p94"/>
          <p:cNvSpPr txBox="1"/>
          <p:nvPr/>
        </p:nvSpPr>
        <p:spPr>
          <a:xfrm>
            <a:off x="5923875" y="2064325"/>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ONE NEIGHBOR, THEN NEIGHBOR-OF-NEIGHBOR, ETC.</a:t>
            </a:r>
            <a:endParaRPr b="0" i="0" sz="1800" u="none" cap="none" strike="noStrike">
              <a:solidFill>
                <a:srgbClr val="FF0000"/>
              </a:solidFill>
              <a:latin typeface="Shadows Into Light"/>
              <a:ea typeface="Shadows Into Light"/>
              <a:cs typeface="Shadows Into Light"/>
              <a:sym typeface="Shadows Into Light"/>
            </a:endParaRPr>
          </a:p>
        </p:txBody>
      </p:sp>
      <p:sp>
        <p:nvSpPr>
          <p:cNvPr id="2427" name="Google Shape;2427;p94"/>
          <p:cNvSpPr txBox="1"/>
          <p:nvPr/>
        </p:nvSpPr>
        <p:spPr>
          <a:xfrm>
            <a:off x="2952075" y="2736391"/>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QUEUE, MAP</a:t>
            </a:r>
            <a:endParaRPr b="0" i="0" sz="2400" u="none" cap="none" strike="noStrike">
              <a:solidFill>
                <a:srgbClr val="FF0000"/>
              </a:solidFill>
              <a:latin typeface="Shadows Into Light"/>
              <a:ea typeface="Shadows Into Light"/>
              <a:cs typeface="Shadows Into Light"/>
              <a:sym typeface="Shadows Into Light"/>
            </a:endParaRPr>
          </a:p>
        </p:txBody>
      </p:sp>
      <p:sp>
        <p:nvSpPr>
          <p:cNvPr id="2428" name="Google Shape;2428;p94"/>
          <p:cNvSpPr txBox="1"/>
          <p:nvPr/>
        </p:nvSpPr>
        <p:spPr>
          <a:xfrm>
            <a:off x="5944476" y="2715789"/>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STACK (RECURSION)</a:t>
            </a:r>
            <a:endParaRPr b="0" i="0" sz="2400" u="none" cap="none" strike="noStrike">
              <a:solidFill>
                <a:srgbClr val="FF0000"/>
              </a:solidFill>
              <a:latin typeface="Shadows Into Light"/>
              <a:ea typeface="Shadows Into Light"/>
              <a:cs typeface="Shadows Into Light"/>
              <a:sym typeface="Shadows Into Light"/>
            </a:endParaRPr>
          </a:p>
        </p:txBody>
      </p:sp>
      <p:sp>
        <p:nvSpPr>
          <p:cNvPr id="2429" name="Google Shape;2429;p94"/>
          <p:cNvSpPr txBox="1"/>
          <p:nvPr/>
        </p:nvSpPr>
        <p:spPr>
          <a:xfrm>
            <a:off x="3048876" y="3374121"/>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YES (FEWEST EDGES)</a:t>
            </a:r>
            <a:endParaRPr b="0" i="0" sz="2400" u="none" cap="none" strike="noStrike">
              <a:solidFill>
                <a:srgbClr val="FF0000"/>
              </a:solidFill>
              <a:latin typeface="Shadows Into Light"/>
              <a:ea typeface="Shadows Into Light"/>
              <a:cs typeface="Shadows Into Light"/>
              <a:sym typeface="Shadows Into Light"/>
            </a:endParaRPr>
          </a:p>
        </p:txBody>
      </p:sp>
      <p:sp>
        <p:nvSpPr>
          <p:cNvPr id="2430" name="Google Shape;2430;p94"/>
          <p:cNvSpPr txBox="1"/>
          <p:nvPr/>
        </p:nvSpPr>
        <p:spPr>
          <a:xfrm>
            <a:off x="5944476" y="3374121"/>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NO</a:t>
            </a:r>
            <a:endParaRPr b="0" i="0" sz="2400" u="none" cap="none" strike="noStrike">
              <a:solidFill>
                <a:srgbClr val="FF0000"/>
              </a:solidFill>
              <a:latin typeface="Shadows Into Light"/>
              <a:ea typeface="Shadows Into Light"/>
              <a:cs typeface="Shadows Into Light"/>
              <a:sym typeface="Shadows Into Light"/>
            </a:endParaRPr>
          </a:p>
        </p:txBody>
      </p:sp>
      <p:sp>
        <p:nvSpPr>
          <p:cNvPr id="2431" name="Google Shape;2431;p94"/>
          <p:cNvSpPr txBox="1"/>
          <p:nvPr/>
        </p:nvSpPr>
        <p:spPr>
          <a:xfrm>
            <a:off x="2903344" y="3997455"/>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O(V + E)</a:t>
            </a:r>
            <a:endParaRPr b="0" i="0" sz="2400" u="none" cap="none" strike="noStrike">
              <a:solidFill>
                <a:srgbClr val="FF0000"/>
              </a:solidFill>
              <a:latin typeface="Shadows Into Light"/>
              <a:ea typeface="Shadows Into Light"/>
              <a:cs typeface="Shadows Into Light"/>
              <a:sym typeface="Shadows Into Light"/>
            </a:endParaRPr>
          </a:p>
        </p:txBody>
      </p:sp>
      <p:sp>
        <p:nvSpPr>
          <p:cNvPr id="2432" name="Google Shape;2432;p94"/>
          <p:cNvSpPr txBox="1"/>
          <p:nvPr/>
        </p:nvSpPr>
        <p:spPr>
          <a:xfrm>
            <a:off x="5972606" y="4004322"/>
            <a:ext cx="2925300" cy="572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0" lang="en" sz="2400" u="none" cap="none" strike="noStrike">
                <a:solidFill>
                  <a:srgbClr val="FF0000"/>
                </a:solidFill>
                <a:latin typeface="Shadows Into Light"/>
                <a:ea typeface="Shadows Into Light"/>
                <a:cs typeface="Shadows Into Light"/>
                <a:sym typeface="Shadows Into Light"/>
              </a:rPr>
              <a:t>O(V + E)</a:t>
            </a:r>
            <a:endParaRPr b="0" i="0" sz="24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5"/>
                                        </p:tgtEl>
                                        <p:attrNameLst>
                                          <p:attrName>style.visibility</p:attrName>
                                        </p:attrNameLst>
                                      </p:cBhvr>
                                      <p:to>
                                        <p:strVal val="visible"/>
                                      </p:to>
                                    </p:set>
                                    <p:animEffect filter="fade" transition="in">
                                      <p:cBhvr>
                                        <p:cTn dur="1000"/>
                                        <p:tgtEl>
                                          <p:spTgt spid="242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7"/>
                                        </p:tgtEl>
                                        <p:attrNameLst>
                                          <p:attrName>style.visibility</p:attrName>
                                        </p:attrNameLst>
                                      </p:cBhvr>
                                      <p:to>
                                        <p:strVal val="visible"/>
                                      </p:to>
                                    </p:set>
                                    <p:animEffect filter="fade" transition="in">
                                      <p:cBhvr>
                                        <p:cTn dur="1000"/>
                                        <p:tgtEl>
                                          <p:spTgt spid="24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9"/>
                                        </p:tgtEl>
                                        <p:attrNameLst>
                                          <p:attrName>style.visibility</p:attrName>
                                        </p:attrNameLst>
                                      </p:cBhvr>
                                      <p:to>
                                        <p:strVal val="visible"/>
                                      </p:to>
                                    </p:set>
                                    <p:animEffect filter="fade" transition="in">
                                      <p:cBhvr>
                                        <p:cTn dur="1000"/>
                                        <p:tgtEl>
                                          <p:spTgt spid="242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1"/>
                                        </p:tgtEl>
                                        <p:attrNameLst>
                                          <p:attrName>style.visibility</p:attrName>
                                        </p:attrNameLst>
                                      </p:cBhvr>
                                      <p:to>
                                        <p:strVal val="visible"/>
                                      </p:to>
                                    </p:set>
                                    <p:animEffect filter="fade" transition="in">
                                      <p:cBhvr>
                                        <p:cTn dur="1000"/>
                                        <p:tgtEl>
                                          <p:spTgt spid="24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6"/>
                                        </p:tgtEl>
                                        <p:attrNameLst>
                                          <p:attrName>style.visibility</p:attrName>
                                        </p:attrNameLst>
                                      </p:cBhvr>
                                      <p:to>
                                        <p:strVal val="visible"/>
                                      </p:to>
                                    </p:set>
                                    <p:animEffect filter="fade" transition="in">
                                      <p:cBhvr>
                                        <p:cTn dur="1000"/>
                                        <p:tgtEl>
                                          <p:spTgt spid="242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28"/>
                                        </p:tgtEl>
                                        <p:attrNameLst>
                                          <p:attrName>style.visibility</p:attrName>
                                        </p:attrNameLst>
                                      </p:cBhvr>
                                      <p:to>
                                        <p:strVal val="visible"/>
                                      </p:to>
                                    </p:set>
                                    <p:animEffect filter="fade" transition="in">
                                      <p:cBhvr>
                                        <p:cTn dur="1000"/>
                                        <p:tgtEl>
                                          <p:spTgt spid="242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0"/>
                                        </p:tgtEl>
                                        <p:attrNameLst>
                                          <p:attrName>style.visibility</p:attrName>
                                        </p:attrNameLst>
                                      </p:cBhvr>
                                      <p:to>
                                        <p:strVal val="visible"/>
                                      </p:to>
                                    </p:set>
                                    <p:animEffect filter="fade" transition="in">
                                      <p:cBhvr>
                                        <p:cTn dur="1000"/>
                                        <p:tgtEl>
                                          <p:spTgt spid="243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32"/>
                                        </p:tgtEl>
                                        <p:attrNameLst>
                                          <p:attrName>style.visibility</p:attrName>
                                        </p:attrNameLst>
                                      </p:cBhvr>
                                      <p:to>
                                        <p:strVal val="visible"/>
                                      </p:to>
                                    </p:set>
                                    <p:animEffect filter="fade" transition="in">
                                      <p:cBhvr>
                                        <p:cTn dur="1000"/>
                                        <p:tgtEl>
                                          <p:spTgt spid="243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6" name="Shape 2436"/>
        <p:cNvGrpSpPr/>
        <p:nvPr/>
      </p:nvGrpSpPr>
      <p:grpSpPr>
        <a:xfrm>
          <a:off x="0" y="0"/>
          <a:ext cx="0" cy="0"/>
          <a:chOff x="0" y="0"/>
          <a:chExt cx="0" cy="0"/>
        </a:xfrm>
      </p:grpSpPr>
      <p:sp>
        <p:nvSpPr>
          <p:cNvPr id="2437" name="Google Shape;2437;p95"/>
          <p:cNvSpPr txBox="1"/>
          <p:nvPr>
            <p:ph type="title"/>
          </p:nvPr>
        </p:nvSpPr>
        <p:spPr>
          <a:xfrm>
            <a:off x="311725" y="196125"/>
            <a:ext cx="8520600" cy="623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3900"/>
              <a:t>Summary &amp; Reflection</a:t>
            </a:r>
            <a:endParaRPr sz="3900"/>
          </a:p>
        </p:txBody>
      </p:sp>
      <p:sp>
        <p:nvSpPr>
          <p:cNvPr id="2438" name="Google Shape;2438;p95"/>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What is one new thing that you learned today?</a:t>
            </a:r>
            <a:endParaRPr b="0" i="0" sz="1200" u="none" cap="none" strike="noStrike">
              <a:solidFill>
                <a:srgbClr val="000000"/>
              </a:solidFill>
              <a:latin typeface="Arial"/>
              <a:ea typeface="Arial"/>
              <a:cs typeface="Arial"/>
              <a:sym typeface="Arial"/>
            </a:endParaRPr>
          </a:p>
        </p:txBody>
      </p:sp>
      <p:pic>
        <p:nvPicPr>
          <p:cNvPr id="2439" name="Google Shape;2439;p95"/>
          <p:cNvPicPr preferRelativeResize="0"/>
          <p:nvPr/>
        </p:nvPicPr>
        <p:blipFill rotWithShape="1">
          <a:blip r:embed="rId3">
            <a:alphaModFix/>
          </a:blip>
          <a:srcRect b="0" l="0" r="0" t="0"/>
          <a:stretch/>
        </p:blipFill>
        <p:spPr>
          <a:xfrm>
            <a:off x="5651400" y="3077250"/>
            <a:ext cx="1504525" cy="1504525"/>
          </a:xfrm>
          <a:prstGeom prst="rect">
            <a:avLst/>
          </a:prstGeom>
          <a:noFill/>
          <a:ln>
            <a:noFill/>
          </a:ln>
        </p:spPr>
      </p:pic>
      <p:sp>
        <p:nvSpPr>
          <p:cNvPr id="2440" name="Google Shape;2440;p95"/>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What is one thing that you wish you knew more about as we move forward?</a:t>
            </a:r>
            <a:endParaRPr b="0" i="0" sz="1000" u="none" cap="none" strike="noStrike">
              <a:solidFill>
                <a:srgbClr val="000000"/>
              </a:solidFill>
              <a:latin typeface="Arial"/>
              <a:ea typeface="Arial"/>
              <a:cs typeface="Arial"/>
              <a:sym typeface="Arial"/>
            </a:endParaRPr>
          </a:p>
        </p:txBody>
      </p:sp>
      <p:sp>
        <p:nvSpPr>
          <p:cNvPr id="2441" name="Google Shape;2441;p95"/>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What one question do you have about today’s class?</a:t>
            </a:r>
            <a:endParaRPr b="0" i="0" sz="1200" u="none" cap="none" strike="noStrike">
              <a:solidFill>
                <a:srgbClr val="000000"/>
              </a:solidFill>
              <a:latin typeface="Arial"/>
              <a:ea typeface="Arial"/>
              <a:cs typeface="Arial"/>
              <a:sym typeface="Arial"/>
            </a:endParaRPr>
          </a:p>
        </p:txBody>
      </p:sp>
      <p:sp>
        <p:nvSpPr>
          <p:cNvPr id="2442" name="Google Shape;2442;p95"/>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Please answer the questions above in your notes for today.</a:t>
            </a:r>
            <a:endParaRPr b="0" i="0" sz="1200" u="none" cap="none" strike="noStrike">
              <a:solidFill>
                <a:schemeClr val="dk2"/>
              </a:solidFill>
              <a:latin typeface="Roboto"/>
              <a:ea typeface="Roboto"/>
              <a:cs typeface="Roboto"/>
              <a:sym typeface="Roboto"/>
            </a:endParaRPr>
          </a:p>
        </p:txBody>
      </p:sp>
      <p:pic>
        <p:nvPicPr>
          <p:cNvPr id="2443" name="Google Shape;2443;p95"/>
          <p:cNvPicPr preferRelativeResize="0"/>
          <p:nvPr/>
        </p:nvPicPr>
        <p:blipFill rotWithShape="1">
          <a:blip r:embed="rId4">
            <a:alphaModFix/>
          </a:blip>
          <a:srcRect b="0" l="0" r="0" t="0"/>
          <a:stretch/>
        </p:blipFill>
        <p:spPr>
          <a:xfrm rot="-1172163">
            <a:off x="798432" y="944685"/>
            <a:ext cx="2945835" cy="3808755"/>
          </a:xfrm>
          <a:prstGeom prst="rect">
            <a:avLst/>
          </a:prstGeom>
          <a:noFill/>
          <a:ln>
            <a:noFill/>
          </a:ln>
        </p:spPr>
      </p:pic>
      <p:sp>
        <p:nvSpPr>
          <p:cNvPr id="2444" name="Google Shape;2444;p95"/>
          <p:cNvSpPr txBox="1"/>
          <p:nvPr>
            <p:ph idx="1" type="body"/>
          </p:nvPr>
        </p:nvSpPr>
        <p:spPr>
          <a:xfrm rot="-1168295">
            <a:off x="1011720" y="1531327"/>
            <a:ext cx="2569455" cy="2930016"/>
          </a:xfrm>
          <a:prstGeom prst="rect">
            <a:avLst/>
          </a:prstGeom>
          <a:noFill/>
          <a:ln>
            <a:noFill/>
          </a:ln>
        </p:spPr>
        <p:txBody>
          <a:bodyPr anchorCtr="0" anchor="ctr" bIns="91425" lIns="91425" spcFirstLastPara="1" rIns="91425" wrap="square" tIns="91425">
            <a:noAutofit/>
          </a:bodyPr>
          <a:lstStyle/>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Graphs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Vertices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Edges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Adjacency Lists</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Searches</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Breadth-First</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Depth-First</a:t>
            </a:r>
            <a:endParaRPr sz="1600">
              <a:solidFill>
                <a:srgbClr val="FF0000"/>
              </a:solidFill>
              <a:latin typeface="Shadows Into Light"/>
              <a:ea typeface="Shadows Into Light"/>
              <a:cs typeface="Shadows Into Light"/>
              <a:sym typeface="Shadows Into Light"/>
            </a:endParaRPr>
          </a:p>
          <a:p>
            <a:pPr indent="-330200" lvl="0" marL="4572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Path-Building</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Breadth-First</a:t>
            </a:r>
            <a:endParaRPr sz="1600">
              <a:solidFill>
                <a:srgbClr val="FF0000"/>
              </a:solidFill>
              <a:latin typeface="Shadows Into Light"/>
              <a:ea typeface="Shadows Into Light"/>
              <a:cs typeface="Shadows Into Light"/>
              <a:sym typeface="Shadows Into Light"/>
            </a:endParaRPr>
          </a:p>
          <a:p>
            <a:pPr indent="-330200" lvl="1" marL="914400" rtl="0" algn="l">
              <a:lnSpc>
                <a:spcPct val="100000"/>
              </a:lnSpc>
              <a:spcBef>
                <a:spcPts val="0"/>
              </a:spcBef>
              <a:spcAft>
                <a:spcPts val="0"/>
              </a:spcAft>
              <a:buClr>
                <a:srgbClr val="FF0000"/>
              </a:buClr>
              <a:buSzPts val="1600"/>
              <a:buFont typeface="Shadows Into Light"/>
              <a:buChar char="○"/>
            </a:pPr>
            <a:r>
              <a:rPr lang="en" sz="1600">
                <a:solidFill>
                  <a:srgbClr val="FF0000"/>
                </a:solidFill>
                <a:latin typeface="Shadows Into Light"/>
                <a:ea typeface="Shadows Into Light"/>
                <a:cs typeface="Shadows Into Light"/>
                <a:sym typeface="Shadows Into Light"/>
              </a:rPr>
              <a:t>Depth-First</a:t>
            </a:r>
            <a:endParaRPr sz="1600">
              <a:solidFill>
                <a:srgbClr val="FF0000"/>
              </a:solidFill>
              <a:latin typeface="Shadows Into Light"/>
              <a:ea typeface="Shadows Into Light"/>
              <a:cs typeface="Shadows Into Light"/>
              <a:sym typeface="Shadows Into Light"/>
            </a:endParaRPr>
          </a:p>
        </p:txBody>
      </p:sp>
      <p:sp>
        <p:nvSpPr>
          <p:cNvPr id="2445" name="Google Shape;2445;p9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