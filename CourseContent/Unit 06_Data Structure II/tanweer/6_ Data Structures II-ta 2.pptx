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10" r:id="rId1"/>
    <p:sldMasterId id="2147483711" r:id="rId2"/>
    <p:sldMasterId id="2147483712" r:id="rId3"/>
    <p:sldMasterId id="2147483713" r:id="rId4"/>
  </p:sldMasterIdLst>
  <p:notesMasterIdLst>
    <p:notesMasterId r:id="rId6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4C44263-8FF7-4D16-B4B7-C5B571B8A48A}">
  <a:tblStyle styleId="{24C44263-8FF7-4D16-B4B7-C5B571B8A4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732" autoAdjust="0"/>
  </p:normalViewPr>
  <p:slideViewPr>
    <p:cSldViewPr snapToGrid="0">
      <p:cViewPr varScale="1">
        <p:scale>
          <a:sx n="95" d="100"/>
          <a:sy n="95" d="100"/>
        </p:scale>
        <p:origin x="102" y="115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b9a8ac45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g2b9a8ac45a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2b9a8ac45a0_0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6" name="Google Shape;386;g2b9a8ac45a0_0_1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2b9a8ac45a0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2b9a8ac45a0_0_2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b9a8ac45a0_0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b9a8ac45a0_0_2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t>Complexity of maintaining</a:t>
            </a:r>
          </a:p>
          <a:p>
            <a:pPr marL="0" lvl="0" indent="0" algn="l" rtl="0">
              <a:spcBef>
                <a:spcPts val="0"/>
              </a:spcBef>
              <a:spcAft>
                <a:spcPts val="0"/>
              </a:spcAft>
              <a:buNone/>
            </a:pPr>
            <a:r>
              <a:rPr lang="en-US" dirty="0"/>
              <a:t>For N </a:t>
            </a:r>
            <a:r>
              <a:rPr lang="en-US" dirty="0" err="1"/>
              <a:t>pokeman</a:t>
            </a:r>
            <a:r>
              <a:rPr lang="en-US" dirty="0"/>
              <a:t>, for each you have to search N times. For N it becomes N2</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2b9a8ac45a0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2b9a8ac45a0_0_3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2b9a8ac45a0_0_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2b9a8ac45a0_0_3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2b9a8ac45a0_0_3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2b9a8ac45a0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2b9a8ac45a0_0_3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2b9a8ac45a0_0_3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b9a8ac45a0_0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b9a8ac45a0_0_3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2b9a8ac45a0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2b9a8ac45a0_0_4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2b9a8ac45a0_0_4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2b9a8ac45a0_0_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2b9a8ac45a0_0_4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2b9a8ac45a0_0_4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2b9a8ac45a0_0_4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2b9a8ac45a0_0_4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2d955c4f19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2d955c4f19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b9a8ac45a0_0_4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b9a8ac45a0_0_4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2b9a8ac45a0_0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2b9a8ac45a0_0_5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2b9a8ac45a0_0_5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2b9a8ac45a0_0_5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don’t know how many nodes are there. So a recursive search is good approach.</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b9a8ac45a0_0_5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4" name="Google Shape;724;g2b9a8ac45a0_0_5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b9a8ac45a0_0_5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2b9a8ac45a0_0_5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b9a8ac45a0_0_6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8" name="Google Shape;778;g2b9a8ac45a0_0_6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endParaRPr sz="11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b9a8ac45a0_0_7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4" name="Google Shape;834;g2b9a8ac45a0_0_7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2b9a8ac45a0_0_8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5" name="Google Shape;845;g2b9a8ac45a0_0_8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2b9a8ac45a0_0_8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2b9a8ac45a0_0_8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d955c4f197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4" name="Google Shape;864;g2d955c4f197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b9a8ac45a0_0_8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3" name="Google Shape;913;g2b9a8ac45a0_0_8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b9a8ac45a0_0_8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3" name="Google Shape;943;g2b9a8ac45a0_0_8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b9a8ac45a0_0_8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2b9a8ac45a0_0_8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2b9a8ac45a0_0_10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4" name="Google Shape;1094;g2b9a8ac45a0_0_10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b9a8ac45a0_0_1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4" name="Google Shape;1104;g2b9a8ac45a0_0_10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3"/>
        <p:cNvGrpSpPr/>
        <p:nvPr/>
      </p:nvGrpSpPr>
      <p:grpSpPr>
        <a:xfrm>
          <a:off x="0" y="0"/>
          <a:ext cx="0" cy="0"/>
          <a:chOff x="0" y="0"/>
          <a:chExt cx="0" cy="0"/>
        </a:xfrm>
      </p:grpSpPr>
      <p:sp>
        <p:nvSpPr>
          <p:cNvPr id="1114" name="Google Shape;1114;g2d955c4f197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5" name="Google Shape;1115;g2d955c4f197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2d955c4f197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9" name="Google Shape;1149;g2d955c4f197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7"/>
        <p:cNvGrpSpPr/>
        <p:nvPr/>
      </p:nvGrpSpPr>
      <p:grpSpPr>
        <a:xfrm>
          <a:off x="0" y="0"/>
          <a:ext cx="0" cy="0"/>
          <a:chOff x="0" y="0"/>
          <a:chExt cx="0" cy="0"/>
        </a:xfrm>
      </p:grpSpPr>
      <p:sp>
        <p:nvSpPr>
          <p:cNvPr id="1188" name="Google Shape;1188;g2b9a8ac45a0_0_10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9" name="Google Shape;1189;g2b9a8ac45a0_0_10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p:cNvGrpSpPr/>
        <p:nvPr/>
      </p:nvGrpSpPr>
      <p:grpSpPr>
        <a:xfrm>
          <a:off x="0" y="0"/>
          <a:ext cx="0" cy="0"/>
          <a:chOff x="0" y="0"/>
          <a:chExt cx="0" cy="0"/>
        </a:xfrm>
      </p:grpSpPr>
      <p:sp>
        <p:nvSpPr>
          <p:cNvPr id="1212" name="Google Shape;1212;g2b9a8ac45a0_0_10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2b9a8ac45a0_0_10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2b9a8ac45a0_0_10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2b9a8ac45a0_0_10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2"/>
        <p:cNvGrpSpPr/>
        <p:nvPr/>
      </p:nvGrpSpPr>
      <p:grpSpPr>
        <a:xfrm>
          <a:off x="0" y="0"/>
          <a:ext cx="0" cy="0"/>
          <a:chOff x="0" y="0"/>
          <a:chExt cx="0" cy="0"/>
        </a:xfrm>
      </p:grpSpPr>
      <p:sp>
        <p:nvSpPr>
          <p:cNvPr id="1273" name="Google Shape;1273;g2b9a8ac45a0_0_1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4" name="Google Shape;1274;g2b9a8ac45a0_0_1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7"/>
        <p:cNvGrpSpPr/>
        <p:nvPr/>
      </p:nvGrpSpPr>
      <p:grpSpPr>
        <a:xfrm>
          <a:off x="0" y="0"/>
          <a:ext cx="0" cy="0"/>
          <a:chOff x="0" y="0"/>
          <a:chExt cx="0" cy="0"/>
        </a:xfrm>
      </p:grpSpPr>
      <p:sp>
        <p:nvSpPr>
          <p:cNvPr id="1308" name="Google Shape;1308;g2b9a8ac45a0_0_14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9" name="Google Shape;1309;g2b9a8ac45a0_0_14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Default implementation </a:t>
            </a:r>
            <a:r>
              <a:rPr lang="en-US" dirty="0">
                <a:sym typeface="Wingdings" panose="05000000000000000000" pitchFamily="2" charset="2"/>
              </a:rPr>
              <a:t> Reference to memory location</a:t>
            </a:r>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5"/>
        <p:cNvGrpSpPr/>
        <p:nvPr/>
      </p:nvGrpSpPr>
      <p:grpSpPr>
        <a:xfrm>
          <a:off x="0" y="0"/>
          <a:ext cx="0" cy="0"/>
          <a:chOff x="0" y="0"/>
          <a:chExt cx="0" cy="0"/>
        </a:xfrm>
      </p:grpSpPr>
      <p:sp>
        <p:nvSpPr>
          <p:cNvPr id="1326" name="Google Shape;1326;g2b9a8ac45a0_0_14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7" name="Google Shape;1327;g2b9a8ac45a0_0_14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Without Comparable, we will get run time error.</a:t>
            </a: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1"/>
        <p:cNvGrpSpPr/>
        <p:nvPr/>
      </p:nvGrpSpPr>
      <p:grpSpPr>
        <a:xfrm>
          <a:off x="0" y="0"/>
          <a:ext cx="0" cy="0"/>
          <a:chOff x="0" y="0"/>
          <a:chExt cx="0" cy="0"/>
        </a:xfrm>
      </p:grpSpPr>
      <p:sp>
        <p:nvSpPr>
          <p:cNvPr id="1342" name="Google Shape;1342;g2b9a8ac45a0_0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3" name="Google Shape;1343;g2b9a8ac45a0_0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g2b9a8ac45a0_0_15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7" name="Google Shape;1357;g2b9a8ac45a0_0_15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Google Shape;1368;g2b9a8ac45a0_0_1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9" name="Google Shape;1369;g2b9a8ac45a0_0_1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Or want it sorting in different order.</a:t>
            </a: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3"/>
        <p:cNvGrpSpPr/>
        <p:nvPr/>
      </p:nvGrpSpPr>
      <p:grpSpPr>
        <a:xfrm>
          <a:off x="0" y="0"/>
          <a:ext cx="0" cy="0"/>
          <a:chOff x="0" y="0"/>
          <a:chExt cx="0" cy="0"/>
        </a:xfrm>
      </p:grpSpPr>
      <p:sp>
        <p:nvSpPr>
          <p:cNvPr id="1384" name="Google Shape;1384;g2b9a8ac45a0_0_15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5" name="Google Shape;1385;g2b9a8ac45a0_0_1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0"/>
        <p:cNvGrpSpPr/>
        <p:nvPr/>
      </p:nvGrpSpPr>
      <p:grpSpPr>
        <a:xfrm>
          <a:off x="0" y="0"/>
          <a:ext cx="0" cy="0"/>
          <a:chOff x="0" y="0"/>
          <a:chExt cx="0" cy="0"/>
        </a:xfrm>
      </p:grpSpPr>
      <p:sp>
        <p:nvSpPr>
          <p:cNvPr id="1401" name="Google Shape;1401;g2b9a8ac45a0_0_15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2" name="Google Shape;1402;g2b9a8ac45a0_0_1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Also, talk about </a:t>
            </a:r>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1"/>
        <p:cNvGrpSpPr/>
        <p:nvPr/>
      </p:nvGrpSpPr>
      <p:grpSpPr>
        <a:xfrm>
          <a:off x="0" y="0"/>
          <a:ext cx="0" cy="0"/>
          <a:chOff x="0" y="0"/>
          <a:chExt cx="0" cy="0"/>
        </a:xfrm>
      </p:grpSpPr>
      <p:sp>
        <p:nvSpPr>
          <p:cNvPr id="1412" name="Google Shape;1412;g2b9a8ac45a0_0_15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3" name="Google Shape;1413;g2b9a8ac45a0_0_15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Comparable </a:t>
            </a:r>
            <a:r>
              <a:rPr lang="en-US" dirty="0">
                <a:sym typeface="Wingdings" panose="05000000000000000000" pitchFamily="2" charset="2"/>
              </a:rPr>
              <a:t> Used to define a natural sorting for class.</a:t>
            </a:r>
          </a:p>
          <a:p>
            <a:pPr marL="0" lvl="0" indent="0" algn="l" rtl="0">
              <a:spcBef>
                <a:spcPts val="0"/>
              </a:spcBef>
              <a:spcAft>
                <a:spcPts val="0"/>
              </a:spcAft>
              <a:buNone/>
            </a:pPr>
            <a:r>
              <a:rPr lang="en-US" dirty="0" err="1">
                <a:sym typeface="Wingdings" panose="05000000000000000000" pitchFamily="2" charset="2"/>
              </a:rPr>
              <a:t>Comprator</a:t>
            </a:r>
            <a:r>
              <a:rPr lang="en-US" dirty="0">
                <a:sym typeface="Wingdings" panose="05000000000000000000" pitchFamily="2" charset="2"/>
              </a:rPr>
              <a:t>  If you can’t modify the class definition or need alternate sorting use this.</a:t>
            </a:r>
            <a:endParaRPr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1dd56d1ca8e_0_35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9" name="Google Shape;1429;g1dd56d1ca8e_0_35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g1dd56d1ca8e_0_35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1dd56d1ca8e_0_3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9"/>
        <p:cNvGrpSpPr/>
        <p:nvPr/>
      </p:nvGrpSpPr>
      <p:grpSpPr>
        <a:xfrm>
          <a:off x="0" y="0"/>
          <a:ext cx="0" cy="0"/>
          <a:chOff x="0" y="0"/>
          <a:chExt cx="0" cy="0"/>
        </a:xfrm>
      </p:grpSpPr>
      <p:sp>
        <p:nvSpPr>
          <p:cNvPr id="1450" name="Google Shape;1450;g1dd56d1ca8e_0_24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1" name="Google Shape;1451;g1dd56d1ca8e_0_24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Min-heap </a:t>
            </a:r>
            <a:r>
              <a:rPr lang="en-US" dirty="0">
                <a:sym typeface="Wingdings" panose="05000000000000000000" pitchFamily="2" charset="2"/>
              </a:rPr>
              <a:t> lower value has higher priority</a:t>
            </a:r>
          </a:p>
          <a:p>
            <a:pPr marL="0" lvl="0" indent="0" algn="l" rtl="0">
              <a:spcBef>
                <a:spcPts val="0"/>
              </a:spcBef>
              <a:spcAft>
                <a:spcPts val="0"/>
              </a:spcAft>
              <a:buNone/>
            </a:pPr>
            <a:r>
              <a:rPr lang="en-US" dirty="0">
                <a:sym typeface="Wingdings" panose="05000000000000000000" pitchFamily="2" charset="2"/>
              </a:rPr>
              <a:t>Max-heap  high value has higher priority.</a:t>
            </a:r>
          </a:p>
          <a:p>
            <a:pPr marL="0" lvl="0" indent="0" algn="l" rtl="0">
              <a:spcBef>
                <a:spcPts val="0"/>
              </a:spcBef>
              <a:spcAft>
                <a:spcPts val="0"/>
              </a:spcAft>
              <a:buNone/>
            </a:pPr>
            <a:endParaRPr lang="en-US" dirty="0">
              <a:sym typeface="Wingdings" panose="05000000000000000000" pitchFamily="2" charset="2"/>
            </a:endParaRPr>
          </a:p>
          <a:p>
            <a:pPr marL="0" lvl="0" indent="0" algn="l" rtl="0">
              <a:spcBef>
                <a:spcPts val="0"/>
              </a:spcBef>
              <a:spcAft>
                <a:spcPts val="0"/>
              </a:spcAft>
              <a:buNone/>
            </a:pPr>
            <a:r>
              <a:rPr lang="en-US" dirty="0">
                <a:sym typeface="Wingdings" panose="05000000000000000000" pitchFamily="2" charset="2"/>
              </a:rPr>
              <a:t>We are going to be working on creating min heap.</a:t>
            </a:r>
            <a:endParaRPr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6"/>
        <p:cNvGrpSpPr/>
        <p:nvPr/>
      </p:nvGrpSpPr>
      <p:grpSpPr>
        <a:xfrm>
          <a:off x="0" y="0"/>
          <a:ext cx="0" cy="0"/>
          <a:chOff x="0" y="0"/>
          <a:chExt cx="0" cy="0"/>
        </a:xfrm>
      </p:grpSpPr>
      <p:sp>
        <p:nvSpPr>
          <p:cNvPr id="1487" name="Google Shape;1487;g2b9a8ac45a0_0_26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8" name="Google Shape;1488;g2b9a8ac45a0_0_26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7"/>
        <p:cNvGrpSpPr/>
        <p:nvPr/>
      </p:nvGrpSpPr>
      <p:grpSpPr>
        <a:xfrm>
          <a:off x="0" y="0"/>
          <a:ext cx="0" cy="0"/>
          <a:chOff x="0" y="0"/>
          <a:chExt cx="0" cy="0"/>
        </a:xfrm>
      </p:grpSpPr>
      <p:sp>
        <p:nvSpPr>
          <p:cNvPr id="1498" name="Google Shape;1498;g2b9a8ac45a0_0_26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9" name="Google Shape;1499;g2b9a8ac45a0_0_26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0"/>
        <p:cNvGrpSpPr/>
        <p:nvPr/>
      </p:nvGrpSpPr>
      <p:grpSpPr>
        <a:xfrm>
          <a:off x="0" y="0"/>
          <a:ext cx="0" cy="0"/>
          <a:chOff x="0" y="0"/>
          <a:chExt cx="0" cy="0"/>
        </a:xfrm>
      </p:grpSpPr>
      <p:sp>
        <p:nvSpPr>
          <p:cNvPr id="1551" name="Google Shape;1551;g2b9a8ac45a0_0_26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2" name="Google Shape;1552;g2b9a8ac45a0_0_26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3"/>
        <p:cNvGrpSpPr/>
        <p:nvPr/>
      </p:nvGrpSpPr>
      <p:grpSpPr>
        <a:xfrm>
          <a:off x="0" y="0"/>
          <a:ext cx="0" cy="0"/>
          <a:chOff x="0" y="0"/>
          <a:chExt cx="0" cy="0"/>
        </a:xfrm>
      </p:grpSpPr>
      <p:sp>
        <p:nvSpPr>
          <p:cNvPr id="1634" name="Google Shape;1634;g2b9a8ac45a0_0_27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5" name="Google Shape;1635;g2b9a8ac45a0_0_2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3"/>
        <p:cNvGrpSpPr/>
        <p:nvPr/>
      </p:nvGrpSpPr>
      <p:grpSpPr>
        <a:xfrm>
          <a:off x="0" y="0"/>
          <a:ext cx="0" cy="0"/>
          <a:chOff x="0" y="0"/>
          <a:chExt cx="0" cy="0"/>
        </a:xfrm>
      </p:grpSpPr>
      <p:sp>
        <p:nvSpPr>
          <p:cNvPr id="1644" name="Google Shape;1644;g2b9a8ac45a0_0_27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5" name="Google Shape;1645;g2b9a8ac45a0_0_27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Min heap</a:t>
            </a:r>
            <a:endParaRPr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0"/>
        <p:cNvGrpSpPr/>
        <p:nvPr/>
      </p:nvGrpSpPr>
      <p:grpSpPr>
        <a:xfrm>
          <a:off x="0" y="0"/>
          <a:ext cx="0" cy="0"/>
          <a:chOff x="0" y="0"/>
          <a:chExt cx="0" cy="0"/>
        </a:xfrm>
      </p:grpSpPr>
      <p:sp>
        <p:nvSpPr>
          <p:cNvPr id="1781" name="Google Shape;1781;g2b9a8ac45a0_0_29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2" name="Google Shape;1782;g2b9a8ac45a0_0_29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4"/>
        <p:cNvGrpSpPr/>
        <p:nvPr/>
      </p:nvGrpSpPr>
      <p:grpSpPr>
        <a:xfrm>
          <a:off x="0" y="0"/>
          <a:ext cx="0" cy="0"/>
          <a:chOff x="0" y="0"/>
          <a:chExt cx="0" cy="0"/>
        </a:xfrm>
      </p:grpSpPr>
      <p:sp>
        <p:nvSpPr>
          <p:cNvPr id="1795" name="Google Shape;1795;g2b9a8ac45a0_0_29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6" name="Google Shape;1796;g2b9a8ac45a0_0_29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Loop done</a:t>
            </a:r>
          </a:p>
          <a:p>
            <a:pPr marL="0" lvl="0" indent="0" algn="l" rtl="0">
              <a:spcBef>
                <a:spcPts val="0"/>
              </a:spcBef>
              <a:spcAft>
                <a:spcPts val="0"/>
              </a:spcAft>
              <a:buNone/>
            </a:pPr>
            <a:r>
              <a:rPr lang="en-US" dirty="0"/>
              <a:t>Before swap: [5, 4, 0, 0, 0]</a:t>
            </a:r>
          </a:p>
          <a:p>
            <a:pPr marL="0" lvl="0" indent="0" algn="l" rtl="0">
              <a:spcBef>
                <a:spcPts val="0"/>
              </a:spcBef>
              <a:spcAft>
                <a:spcPts val="0"/>
              </a:spcAft>
              <a:buNone/>
            </a:pPr>
            <a:r>
              <a:rPr lang="en-US" dirty="0"/>
              <a:t>After swap: [4, 5, 0, 0, 0]</a:t>
            </a:r>
          </a:p>
          <a:p>
            <a:pPr marL="0" lvl="0" indent="0" algn="l" rtl="0">
              <a:spcBef>
                <a:spcPts val="0"/>
              </a:spcBef>
              <a:spcAft>
                <a:spcPts val="0"/>
              </a:spcAft>
              <a:buNone/>
            </a:pPr>
            <a:r>
              <a:rPr lang="en-US" dirty="0"/>
              <a:t>Loop done</a:t>
            </a:r>
          </a:p>
          <a:p>
            <a:pPr marL="0" lvl="0" indent="0" algn="l" rtl="0">
              <a:spcBef>
                <a:spcPts val="0"/>
              </a:spcBef>
              <a:spcAft>
                <a:spcPts val="0"/>
              </a:spcAft>
              <a:buNone/>
            </a:pPr>
            <a:r>
              <a:rPr lang="en-US" dirty="0"/>
              <a:t>Before swap: [4, 5, 3, 0, 0]</a:t>
            </a:r>
          </a:p>
          <a:p>
            <a:pPr marL="0" lvl="0" indent="0" algn="l" rtl="0">
              <a:spcBef>
                <a:spcPts val="0"/>
              </a:spcBef>
              <a:spcAft>
                <a:spcPts val="0"/>
              </a:spcAft>
              <a:buNone/>
            </a:pPr>
            <a:r>
              <a:rPr lang="en-US" dirty="0"/>
              <a:t>After swap: [3, 5, 4, 0, 0]</a:t>
            </a:r>
          </a:p>
          <a:p>
            <a:pPr marL="0" lvl="0" indent="0" algn="l" rtl="0">
              <a:spcBef>
                <a:spcPts val="0"/>
              </a:spcBef>
              <a:spcAft>
                <a:spcPts val="0"/>
              </a:spcAft>
              <a:buNone/>
            </a:pPr>
            <a:r>
              <a:rPr lang="en-US" dirty="0"/>
              <a:t>Loop done</a:t>
            </a:r>
          </a:p>
          <a:p>
            <a:pPr marL="0" lvl="0" indent="0" algn="l" rtl="0">
              <a:spcBef>
                <a:spcPts val="0"/>
              </a:spcBef>
              <a:spcAft>
                <a:spcPts val="0"/>
              </a:spcAft>
              <a:buNone/>
            </a:pPr>
            <a:r>
              <a:rPr lang="en-US" dirty="0"/>
              <a:t>Before swap: [3, 5, 4, 2, 0]</a:t>
            </a:r>
          </a:p>
          <a:p>
            <a:pPr marL="0" lvl="0" indent="0" algn="l" rtl="0">
              <a:spcBef>
                <a:spcPts val="0"/>
              </a:spcBef>
              <a:spcAft>
                <a:spcPts val="0"/>
              </a:spcAft>
              <a:buNone/>
            </a:pPr>
            <a:r>
              <a:rPr lang="en-US" dirty="0"/>
              <a:t>After swap: [3, 2, 4, 5, 0]</a:t>
            </a:r>
          </a:p>
          <a:p>
            <a:pPr marL="0" lvl="0" indent="0" algn="l" rtl="0">
              <a:spcBef>
                <a:spcPts val="0"/>
              </a:spcBef>
              <a:spcAft>
                <a:spcPts val="0"/>
              </a:spcAft>
              <a:buNone/>
            </a:pPr>
            <a:r>
              <a:rPr lang="en-US" dirty="0"/>
              <a:t>Before swap: [3, 2, 4, 5, 0]</a:t>
            </a:r>
          </a:p>
          <a:p>
            <a:pPr marL="0" lvl="0" indent="0" algn="l" rtl="0">
              <a:spcBef>
                <a:spcPts val="0"/>
              </a:spcBef>
              <a:spcAft>
                <a:spcPts val="0"/>
              </a:spcAft>
              <a:buNone/>
            </a:pPr>
            <a:r>
              <a:rPr lang="en-US" dirty="0"/>
              <a:t>After swap: [2, 3, 4, 5, 0]</a:t>
            </a:r>
          </a:p>
          <a:p>
            <a:pPr marL="0" lvl="0" indent="0" algn="l" rtl="0">
              <a:spcBef>
                <a:spcPts val="0"/>
              </a:spcBef>
              <a:spcAft>
                <a:spcPts val="0"/>
              </a:spcAft>
              <a:buNone/>
            </a:pPr>
            <a:r>
              <a:rPr lang="en-US" dirty="0"/>
              <a:t>Loop done</a:t>
            </a:r>
          </a:p>
          <a:p>
            <a:pPr marL="0" lvl="0" indent="0" algn="l" rtl="0">
              <a:spcBef>
                <a:spcPts val="0"/>
              </a:spcBef>
              <a:spcAft>
                <a:spcPts val="0"/>
              </a:spcAft>
              <a:buNone/>
            </a:pPr>
            <a:r>
              <a:rPr lang="en-US" dirty="0"/>
              <a:t>Before swap: [2, 3, 4, 5, 1]</a:t>
            </a:r>
          </a:p>
          <a:p>
            <a:pPr marL="0" lvl="0" indent="0" algn="l" rtl="0">
              <a:spcBef>
                <a:spcPts val="0"/>
              </a:spcBef>
              <a:spcAft>
                <a:spcPts val="0"/>
              </a:spcAft>
              <a:buNone/>
            </a:pPr>
            <a:r>
              <a:rPr lang="en-US" dirty="0"/>
              <a:t>After swap: [2, 1, 4, 5, 3]</a:t>
            </a:r>
          </a:p>
          <a:p>
            <a:pPr marL="0" lvl="0" indent="0" algn="l" rtl="0">
              <a:spcBef>
                <a:spcPts val="0"/>
              </a:spcBef>
              <a:spcAft>
                <a:spcPts val="0"/>
              </a:spcAft>
              <a:buNone/>
            </a:pPr>
            <a:r>
              <a:rPr lang="en-US" dirty="0"/>
              <a:t>Before swap: [2, 1, 4, 5, 3]</a:t>
            </a:r>
          </a:p>
          <a:p>
            <a:pPr marL="0" lvl="0" indent="0" algn="l" rtl="0">
              <a:spcBef>
                <a:spcPts val="0"/>
              </a:spcBef>
              <a:spcAft>
                <a:spcPts val="0"/>
              </a:spcAft>
              <a:buNone/>
            </a:pPr>
            <a:r>
              <a:rPr lang="en-US" dirty="0"/>
              <a:t>After swap: [1, 2, 4, 5, 3]</a:t>
            </a:r>
          </a:p>
          <a:p>
            <a:pPr marL="0" lvl="0" indent="0" algn="l" rtl="0">
              <a:spcBef>
                <a:spcPts val="0"/>
              </a:spcBef>
              <a:spcAft>
                <a:spcPts val="0"/>
              </a:spcAft>
              <a:buNone/>
            </a:pPr>
            <a:r>
              <a:rPr lang="en-US" dirty="0"/>
              <a:t>Loop done</a:t>
            </a:r>
          </a:p>
          <a:p>
            <a:pPr marL="0" lvl="0" indent="0" algn="l" rtl="0">
              <a:spcBef>
                <a:spcPts val="0"/>
              </a:spcBef>
              <a:spcAft>
                <a:spcPts val="0"/>
              </a:spcAft>
              <a:buNone/>
            </a:pPr>
            <a:r>
              <a:rPr lang="en-US" dirty="0"/>
              <a:t>output: 5, [1, 2, 4, 5, 3]</a:t>
            </a:r>
            <a:endParaRPr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0"/>
        <p:cNvGrpSpPr/>
        <p:nvPr/>
      </p:nvGrpSpPr>
      <p:grpSpPr>
        <a:xfrm>
          <a:off x="0" y="0"/>
          <a:ext cx="0" cy="0"/>
          <a:chOff x="0" y="0"/>
          <a:chExt cx="0" cy="0"/>
        </a:xfrm>
      </p:grpSpPr>
      <p:sp>
        <p:nvSpPr>
          <p:cNvPr id="1861" name="Google Shape;1861;g2b9a8ac45a0_0_29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2" name="Google Shape;1862;g2b9a8ac45a0_0_29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3"/>
        <p:cNvGrpSpPr/>
        <p:nvPr/>
      </p:nvGrpSpPr>
      <p:grpSpPr>
        <a:xfrm>
          <a:off x="0" y="0"/>
          <a:ext cx="0" cy="0"/>
          <a:chOff x="0" y="0"/>
          <a:chExt cx="0" cy="0"/>
        </a:xfrm>
      </p:grpSpPr>
      <p:sp>
        <p:nvSpPr>
          <p:cNvPr id="1954" name="Google Shape;1954;g2b9a8ac45a0_0_30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5" name="Google Shape;1955;g2b9a8ac45a0_0_30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2"/>
        <p:cNvGrpSpPr/>
        <p:nvPr/>
      </p:nvGrpSpPr>
      <p:grpSpPr>
        <a:xfrm>
          <a:off x="0" y="0"/>
          <a:ext cx="0" cy="0"/>
          <a:chOff x="0" y="0"/>
          <a:chExt cx="0" cy="0"/>
        </a:xfrm>
      </p:grpSpPr>
      <p:sp>
        <p:nvSpPr>
          <p:cNvPr id="1993" name="Google Shape;1993;g2b9a8ac45a0_0_3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4" name="Google Shape;1994;g2b9a8ac45a0_0_3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5"/>
        <p:cNvGrpSpPr/>
        <p:nvPr/>
      </p:nvGrpSpPr>
      <p:grpSpPr>
        <a:xfrm>
          <a:off x="0" y="0"/>
          <a:ext cx="0" cy="0"/>
          <a:chOff x="0" y="0"/>
          <a:chExt cx="0" cy="0"/>
        </a:xfrm>
      </p:grpSpPr>
      <p:sp>
        <p:nvSpPr>
          <p:cNvPr id="2076" name="Google Shape;2076;g2b9a8ac45a0_0_3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7" name="Google Shape;2077;g2b9a8ac45a0_0_3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9"/>
        <p:cNvGrpSpPr/>
        <p:nvPr/>
      </p:nvGrpSpPr>
      <p:grpSpPr>
        <a:xfrm>
          <a:off x="0" y="0"/>
          <a:ext cx="0" cy="0"/>
          <a:chOff x="0" y="0"/>
          <a:chExt cx="0" cy="0"/>
        </a:xfrm>
      </p:grpSpPr>
      <p:sp>
        <p:nvSpPr>
          <p:cNvPr id="2110" name="Google Shape;2110;g2b9a8ac45a0_0_32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1" name="Google Shape;2111;g2b9a8ac45a0_0_3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3"/>
        <p:cNvGrpSpPr/>
        <p:nvPr/>
      </p:nvGrpSpPr>
      <p:grpSpPr>
        <a:xfrm>
          <a:off x="0" y="0"/>
          <a:ext cx="0" cy="0"/>
          <a:chOff x="0" y="0"/>
          <a:chExt cx="0" cy="0"/>
        </a:xfrm>
      </p:grpSpPr>
      <p:sp>
        <p:nvSpPr>
          <p:cNvPr id="2124" name="Google Shape;2124;g2dcb86e307a_69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5" name="Google Shape;2125;g2dcb86e307a_69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9"/>
        <p:cNvGrpSpPr/>
        <p:nvPr/>
      </p:nvGrpSpPr>
      <p:grpSpPr>
        <a:xfrm>
          <a:off x="0" y="0"/>
          <a:ext cx="0" cy="0"/>
          <a:chOff x="0" y="0"/>
          <a:chExt cx="0" cy="0"/>
        </a:xfrm>
      </p:grpSpPr>
      <p:sp>
        <p:nvSpPr>
          <p:cNvPr id="2130" name="Google Shape;2130;g1dd56d1ca8e_0_3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1" name="Google Shape;2131;g1dd56d1ca8e_0_3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8" name="Google Shape;6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2" name="Google Shape;7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73"/>
        <p:cNvGrpSpPr/>
        <p:nvPr/>
      </p:nvGrpSpPr>
      <p:grpSpPr>
        <a:xfrm>
          <a:off x="0" y="0"/>
          <a:ext cx="0" cy="0"/>
          <a:chOff x="0" y="0"/>
          <a:chExt cx="0" cy="0"/>
        </a:xfrm>
      </p:grpSpPr>
      <p:cxnSp>
        <p:nvCxnSpPr>
          <p:cNvPr id="74" name="Google Shape;74;p1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75" name="Google Shape;75;p15"/>
          <p:cNvSpPr txBox="1">
            <a:spLocks noGrp="1"/>
          </p:cNvSpPr>
          <p:nvPr>
            <p:ph type="title"/>
          </p:nvPr>
        </p:nvSpPr>
        <p:spPr>
          <a:xfrm>
            <a:off x="387900" y="458025"/>
            <a:ext cx="8368200" cy="686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 name="Google Shape;76;p15"/>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7" name="Google Shape;7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4">
  <p:cSld name="TITLE_AND_BODY_4">
    <p:spTree>
      <p:nvGrpSpPr>
        <p:cNvPr id="1" name="Shape 78"/>
        <p:cNvGrpSpPr/>
        <p:nvPr/>
      </p:nvGrpSpPr>
      <p:grpSpPr>
        <a:xfrm>
          <a:off x="0" y="0"/>
          <a:ext cx="0" cy="0"/>
          <a:chOff x="0" y="0"/>
          <a:chExt cx="0" cy="0"/>
        </a:xfrm>
      </p:grpSpPr>
      <p:sp>
        <p:nvSpPr>
          <p:cNvPr id="79" name="Google Shape;79;p1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6"/>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2" name="Google Shape;82;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83"/>
        <p:cNvGrpSpPr/>
        <p:nvPr/>
      </p:nvGrpSpPr>
      <p:grpSpPr>
        <a:xfrm>
          <a:off x="0" y="0"/>
          <a:ext cx="0" cy="0"/>
          <a:chOff x="0" y="0"/>
          <a:chExt cx="0" cy="0"/>
        </a:xfrm>
      </p:grpSpPr>
      <p:sp>
        <p:nvSpPr>
          <p:cNvPr id="84" name="Google Shape;84;p17"/>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7"/>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86" name="Google Shape;86;p17"/>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87" name="Google Shape;87;p17"/>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8" name="Google Shape;88;p17"/>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7"/>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0" name="Google Shape;90;p17"/>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7"/>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2" name="Google Shape;92;p17"/>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93"/>
        <p:cNvGrpSpPr/>
        <p:nvPr/>
      </p:nvGrpSpPr>
      <p:grpSpPr>
        <a:xfrm>
          <a:off x="0" y="0"/>
          <a:ext cx="0" cy="0"/>
          <a:chOff x="0" y="0"/>
          <a:chExt cx="0" cy="0"/>
        </a:xfrm>
      </p:grpSpPr>
      <p:sp>
        <p:nvSpPr>
          <p:cNvPr id="94" name="Google Shape;94;p18"/>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8"/>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96" name="Google Shape;96;p18"/>
          <p:cNvSpPr txBox="1">
            <a:spLocks noGrp="1"/>
          </p:cNvSpPr>
          <p:nvPr>
            <p:ph type="sldNum" idx="12"/>
          </p:nvPr>
        </p:nvSpPr>
        <p:spPr>
          <a:xfrm>
            <a:off x="0" y="4946700"/>
            <a:ext cx="422100" cy="196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97" name="Google Shape;97;p18"/>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98" name="Google Shape;98;p18"/>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rtl="0">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99" name="Google Shape;99;p18"/>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600"/>
              </a:spcBef>
              <a:spcAft>
                <a:spcPts val="0"/>
              </a:spcAft>
              <a:buSzPts val="1100"/>
              <a:buChar char="○"/>
              <a:defRPr sz="1200"/>
            </a:lvl2pPr>
            <a:lvl3pPr marL="1371600" lvl="2" indent="-298450" algn="l" rtl="0">
              <a:lnSpc>
                <a:spcPct val="115000"/>
              </a:lnSpc>
              <a:spcBef>
                <a:spcPts val="600"/>
              </a:spcBef>
              <a:spcAft>
                <a:spcPts val="0"/>
              </a:spcAft>
              <a:buSzPts val="1100"/>
              <a:buChar char="■"/>
              <a:defRPr/>
            </a:lvl3pPr>
            <a:lvl4pPr marL="1828800" lvl="3" indent="-298450" algn="l" rtl="0">
              <a:lnSpc>
                <a:spcPct val="115000"/>
              </a:lnSpc>
              <a:spcBef>
                <a:spcPts val="600"/>
              </a:spcBef>
              <a:spcAft>
                <a:spcPts val="0"/>
              </a:spcAft>
              <a:buSzPts val="1100"/>
              <a:buChar char="●"/>
              <a:defRPr/>
            </a:lvl4pPr>
            <a:lvl5pPr marL="2286000" lvl="4" indent="-298450" algn="l" rtl="0">
              <a:lnSpc>
                <a:spcPct val="115000"/>
              </a:lnSpc>
              <a:spcBef>
                <a:spcPts val="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00" name="Google Shape;100;p18"/>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lt1"/>
              </a:buClr>
              <a:buSzPts val="1300"/>
              <a:buChar char="●"/>
              <a:defRPr>
                <a:solidFill>
                  <a:schemeClr val="lt1"/>
                </a:solidFill>
              </a:defRPr>
            </a:lvl1pPr>
            <a:lvl2pPr marL="914400" lvl="1" indent="-298450" algn="l" rtl="0">
              <a:lnSpc>
                <a:spcPct val="115000"/>
              </a:lnSpc>
              <a:spcBef>
                <a:spcPts val="0"/>
              </a:spcBef>
              <a:spcAft>
                <a:spcPts val="0"/>
              </a:spcAft>
              <a:buClr>
                <a:schemeClr val="lt1"/>
              </a:buClr>
              <a:buSzPts val="1100"/>
              <a:buChar char="○"/>
              <a:defRPr sz="1200">
                <a:solidFill>
                  <a:schemeClr val="lt1"/>
                </a:solidFill>
              </a:defRPr>
            </a:lvl2pPr>
            <a:lvl3pPr marL="1371600" lvl="2" indent="-298450" algn="l" rtl="0">
              <a:lnSpc>
                <a:spcPct val="115000"/>
              </a:lnSpc>
              <a:spcBef>
                <a:spcPts val="0"/>
              </a:spcBef>
              <a:spcAft>
                <a:spcPts val="0"/>
              </a:spcAft>
              <a:buClr>
                <a:schemeClr val="lt1"/>
              </a:buClr>
              <a:buSzPts val="1100"/>
              <a:buChar char="■"/>
              <a:defRPr>
                <a:solidFill>
                  <a:schemeClr val="lt1"/>
                </a:solidFill>
              </a:defRPr>
            </a:lvl3pPr>
            <a:lvl4pPr marL="1828800" lvl="3" indent="-298450" algn="l" rtl="0">
              <a:lnSpc>
                <a:spcPct val="115000"/>
              </a:lnSpc>
              <a:spcBef>
                <a:spcPts val="0"/>
              </a:spcBef>
              <a:spcAft>
                <a:spcPts val="0"/>
              </a:spcAft>
              <a:buClr>
                <a:schemeClr val="lt1"/>
              </a:buClr>
              <a:buSzPts val="1100"/>
              <a:buChar char="●"/>
              <a:defRPr>
                <a:solidFill>
                  <a:schemeClr val="lt1"/>
                </a:solidFill>
              </a:defRPr>
            </a:lvl4pPr>
            <a:lvl5pPr marL="2286000" lvl="4" indent="-298450" algn="l" rtl="0">
              <a:lnSpc>
                <a:spcPct val="115000"/>
              </a:lnSpc>
              <a:spcBef>
                <a:spcPts val="0"/>
              </a:spcBef>
              <a:spcAft>
                <a:spcPts val="0"/>
              </a:spcAft>
              <a:buClr>
                <a:schemeClr val="lt1"/>
              </a:buClr>
              <a:buSzPts val="1100"/>
              <a:buChar char="○"/>
              <a:defRPr>
                <a:solidFill>
                  <a:schemeClr val="lt1"/>
                </a:solidFill>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p:cSld name="Activity">
    <p:bg>
      <p:bgPr>
        <a:solidFill>
          <a:srgbClr val="FFFFFF"/>
        </a:solidFill>
        <a:effectLst/>
      </p:bgPr>
    </p:bg>
    <p:spTree>
      <p:nvGrpSpPr>
        <p:cNvPr id="1" name="Shape 101"/>
        <p:cNvGrpSpPr/>
        <p:nvPr/>
      </p:nvGrpSpPr>
      <p:grpSpPr>
        <a:xfrm>
          <a:off x="0" y="0"/>
          <a:ext cx="0" cy="0"/>
          <a:chOff x="0" y="0"/>
          <a:chExt cx="0" cy="0"/>
        </a:xfrm>
      </p:grpSpPr>
      <p:sp>
        <p:nvSpPr>
          <p:cNvPr id="102" name="Google Shape;102;p19"/>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9"/>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9"/>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9"/>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9"/>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07" name="Google Shape;107;p19"/>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08" name="Google Shape;10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09" name="Google Shape;109;p19"/>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0" name="Google Shape;110;p19"/>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1" name="Google Shape;111;p19"/>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Tow Collumns">
    <p:spTree>
      <p:nvGrpSpPr>
        <p:cNvPr id="1" name="Shape 112"/>
        <p:cNvGrpSpPr/>
        <p:nvPr/>
      </p:nvGrpSpPr>
      <p:grpSpPr>
        <a:xfrm>
          <a:off x="0" y="0"/>
          <a:ext cx="0" cy="0"/>
          <a:chOff x="0" y="0"/>
          <a:chExt cx="0" cy="0"/>
        </a:xfrm>
      </p:grpSpPr>
      <p:sp>
        <p:nvSpPr>
          <p:cNvPr id="113" name="Google Shape;113;p20"/>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20"/>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15" name="Google Shape;115;p20"/>
          <p:cNvSpPr txBox="1">
            <a:spLocks noGrp="1"/>
          </p:cNvSpPr>
          <p:nvPr>
            <p:ph type="sldNum" idx="12"/>
          </p:nvPr>
        </p:nvSpPr>
        <p:spPr>
          <a:xfrm>
            <a:off x="8622145" y="4922423"/>
            <a:ext cx="486900" cy="207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16" name="Google Shape;116;p20"/>
          <p:cNvSpPr txBox="1">
            <a:spLocks noGrp="1"/>
          </p:cNvSpPr>
          <p:nvPr>
            <p:ph type="body" idx="1"/>
          </p:nvPr>
        </p:nvSpPr>
        <p:spPr>
          <a:xfrm>
            <a:off x="311675" y="1316038"/>
            <a:ext cx="4141800" cy="36624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7" name="Google Shape;117;p20"/>
          <p:cNvSpPr txBox="1">
            <a:spLocks noGrp="1"/>
          </p:cNvSpPr>
          <p:nvPr>
            <p:ph type="body" idx="2"/>
          </p:nvPr>
        </p:nvSpPr>
        <p:spPr>
          <a:xfrm>
            <a:off x="4690538" y="1320512"/>
            <a:ext cx="4141800" cy="36624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22"/>
        <p:cNvGrpSpPr/>
        <p:nvPr/>
      </p:nvGrpSpPr>
      <p:grpSpPr>
        <a:xfrm>
          <a:off x="0" y="0"/>
          <a:ext cx="0" cy="0"/>
          <a:chOff x="0" y="0"/>
          <a:chExt cx="0" cy="0"/>
        </a:xfrm>
      </p:grpSpPr>
      <p:sp>
        <p:nvSpPr>
          <p:cNvPr id="123" name="Google Shape;123;p2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24" name="Google Shape;124;p2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25" name="Google Shape;125;p2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26" name="Google Shape;126;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27"/>
        <p:cNvGrpSpPr/>
        <p:nvPr/>
      </p:nvGrpSpPr>
      <p:grpSpPr>
        <a:xfrm>
          <a:off x="0" y="0"/>
          <a:ext cx="0" cy="0"/>
          <a:chOff x="0" y="0"/>
          <a:chExt cx="0" cy="0"/>
        </a:xfrm>
      </p:grpSpPr>
      <p:sp>
        <p:nvSpPr>
          <p:cNvPr id="128" name="Google Shape;128;p2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29" name="Google Shape;129;p2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30" name="Google Shape;130;p2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31" name="Google Shape;131;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2"/>
        <p:cNvGrpSpPr/>
        <p:nvPr/>
      </p:nvGrpSpPr>
      <p:grpSpPr>
        <a:xfrm>
          <a:off x="0" y="0"/>
          <a:ext cx="0" cy="0"/>
          <a:chOff x="0" y="0"/>
          <a:chExt cx="0" cy="0"/>
        </a:xfrm>
      </p:grpSpPr>
      <p:sp>
        <p:nvSpPr>
          <p:cNvPr id="133" name="Google Shape;133;p2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134" name="Google Shape;134;p2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36" name="Google Shape;136;p2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37" name="Google Shape;137;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8" name="Google Shape;138;p2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39" name="Google Shape;139;p2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0"/>
        <p:cNvGrpSpPr/>
        <p:nvPr/>
      </p:nvGrpSpPr>
      <p:grpSpPr>
        <a:xfrm>
          <a:off x="0" y="0"/>
          <a:ext cx="0" cy="0"/>
          <a:chOff x="0" y="0"/>
          <a:chExt cx="0" cy="0"/>
        </a:xfrm>
      </p:grpSpPr>
      <p:sp>
        <p:nvSpPr>
          <p:cNvPr id="141" name="Google Shape;141;p2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3" name="Google Shape;143;p2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4" name="Google Shape;144;p2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5" name="Google Shape;14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6"/>
        <p:cNvGrpSpPr/>
        <p:nvPr/>
      </p:nvGrpSpPr>
      <p:grpSpPr>
        <a:xfrm>
          <a:off x="0" y="0"/>
          <a:ext cx="0" cy="0"/>
          <a:chOff x="0" y="0"/>
          <a:chExt cx="0" cy="0"/>
        </a:xfrm>
      </p:grpSpPr>
      <p:sp>
        <p:nvSpPr>
          <p:cNvPr id="147" name="Google Shape;147;p2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9" name="Google Shape;14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0"/>
        <p:cNvGrpSpPr/>
        <p:nvPr/>
      </p:nvGrpSpPr>
      <p:grpSpPr>
        <a:xfrm>
          <a:off x="0" y="0"/>
          <a:ext cx="0" cy="0"/>
          <a:chOff x="0" y="0"/>
          <a:chExt cx="0" cy="0"/>
        </a:xfrm>
      </p:grpSpPr>
      <p:sp>
        <p:nvSpPr>
          <p:cNvPr id="151" name="Google Shape;151;p2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153" name="Google Shape;153;p2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54" name="Google Shape;154;p2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55" name="Google Shape;155;p2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56" name="Google Shape;156;p2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57" name="Google Shape;157;p2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60" name="Google Shape;160;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1"/>
        <p:cNvGrpSpPr/>
        <p:nvPr/>
      </p:nvGrpSpPr>
      <p:grpSpPr>
        <a:xfrm>
          <a:off x="0" y="0"/>
          <a:ext cx="0" cy="0"/>
          <a:chOff x="0" y="0"/>
          <a:chExt cx="0" cy="0"/>
        </a:xfrm>
      </p:grpSpPr>
      <p:sp>
        <p:nvSpPr>
          <p:cNvPr id="162" name="Google Shape;162;p2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64" name="Google Shape;164;p2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165" name="Google Shape;165;p2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66" name="Google Shape;166;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7"/>
        <p:cNvGrpSpPr/>
        <p:nvPr/>
      </p:nvGrpSpPr>
      <p:grpSpPr>
        <a:xfrm>
          <a:off x="0" y="0"/>
          <a:ext cx="0" cy="0"/>
          <a:chOff x="0" y="0"/>
          <a:chExt cx="0" cy="0"/>
        </a:xfrm>
      </p:grpSpPr>
      <p:sp>
        <p:nvSpPr>
          <p:cNvPr id="168" name="Google Shape;168;p3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170" name="Google Shape;170;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71"/>
        <p:cNvGrpSpPr/>
        <p:nvPr/>
      </p:nvGrpSpPr>
      <p:grpSpPr>
        <a:xfrm>
          <a:off x="0" y="0"/>
          <a:ext cx="0" cy="0"/>
          <a:chOff x="0" y="0"/>
          <a:chExt cx="0" cy="0"/>
        </a:xfrm>
      </p:grpSpPr>
      <p:sp>
        <p:nvSpPr>
          <p:cNvPr id="172" name="Google Shape;172;p3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73" name="Google Shape;173;p3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174" name="Google Shape;174;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5"/>
        <p:cNvGrpSpPr/>
        <p:nvPr/>
      </p:nvGrpSpPr>
      <p:grpSpPr>
        <a:xfrm>
          <a:off x="0" y="0"/>
          <a:ext cx="0" cy="0"/>
          <a:chOff x="0" y="0"/>
          <a:chExt cx="0" cy="0"/>
        </a:xfrm>
      </p:grpSpPr>
      <p:sp>
        <p:nvSpPr>
          <p:cNvPr id="176" name="Google Shape;17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77"/>
        <p:cNvGrpSpPr/>
        <p:nvPr/>
      </p:nvGrpSpPr>
      <p:grpSpPr>
        <a:xfrm>
          <a:off x="0" y="0"/>
          <a:ext cx="0" cy="0"/>
          <a:chOff x="0" y="0"/>
          <a:chExt cx="0" cy="0"/>
        </a:xfrm>
      </p:grpSpPr>
      <p:cxnSp>
        <p:nvCxnSpPr>
          <p:cNvPr id="178" name="Google Shape;178;p33"/>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179" name="Google Shape;179;p33"/>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180" name="Google Shape;180;p33"/>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181" name="Google Shape;181;p33"/>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2" name="Google Shape;182;p33"/>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83" name="Google Shape;183;p3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184"/>
        <p:cNvGrpSpPr/>
        <p:nvPr/>
      </p:nvGrpSpPr>
      <p:grpSpPr>
        <a:xfrm>
          <a:off x="0" y="0"/>
          <a:ext cx="0" cy="0"/>
          <a:chOff x="0" y="0"/>
          <a:chExt cx="0" cy="0"/>
        </a:xfrm>
      </p:grpSpPr>
      <p:sp>
        <p:nvSpPr>
          <p:cNvPr id="185" name="Google Shape;185;p34"/>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34"/>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87" name="Google Shape;187;p34"/>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88" name="Google Shape;188;p34"/>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89" name="Google Shape;189;p34"/>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rtl="0">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190" name="Google Shape;190;p34"/>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0"/>
              </a:spcBef>
              <a:spcAft>
                <a:spcPts val="0"/>
              </a:spcAft>
              <a:buSzPts val="1100"/>
              <a:buChar char="○"/>
              <a:defRPr/>
            </a:lvl2pPr>
            <a:lvl3pPr marL="1371600" lvl="2" indent="-298450" algn="l" rtl="0">
              <a:lnSpc>
                <a:spcPct val="115000"/>
              </a:lnSpc>
              <a:spcBef>
                <a:spcPts val="0"/>
              </a:spcBef>
              <a:spcAft>
                <a:spcPts val="0"/>
              </a:spcAft>
              <a:buSzPts val="1100"/>
              <a:buChar char="■"/>
              <a:defRPr/>
            </a:lvl3pPr>
            <a:lvl4pPr marL="1828800" lvl="3" indent="-298450" algn="l" rtl="0">
              <a:lnSpc>
                <a:spcPct val="115000"/>
              </a:lnSpc>
              <a:spcBef>
                <a:spcPts val="0"/>
              </a:spcBef>
              <a:spcAft>
                <a:spcPts val="0"/>
              </a:spcAft>
              <a:buSzPts val="1100"/>
              <a:buChar char="●"/>
              <a:defRPr/>
            </a:lvl4pPr>
            <a:lvl5pPr marL="2286000" lvl="4" indent="-298450" algn="l" rtl="0">
              <a:lnSpc>
                <a:spcPct val="115000"/>
              </a:lnSpc>
              <a:spcBef>
                <a:spcPts val="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91" name="Google Shape;191;p34"/>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lt1"/>
              </a:buClr>
              <a:buSzPts val="1300"/>
              <a:buChar char="●"/>
              <a:defRPr>
                <a:solidFill>
                  <a:schemeClr val="lt1"/>
                </a:solidFill>
              </a:defRPr>
            </a:lvl1pPr>
            <a:lvl2pPr marL="914400" lvl="1" indent="-298450" algn="l" rtl="0">
              <a:lnSpc>
                <a:spcPct val="115000"/>
              </a:lnSpc>
              <a:spcBef>
                <a:spcPts val="0"/>
              </a:spcBef>
              <a:spcAft>
                <a:spcPts val="0"/>
              </a:spcAft>
              <a:buClr>
                <a:schemeClr val="lt1"/>
              </a:buClr>
              <a:buSzPts val="1100"/>
              <a:buChar char="○"/>
              <a:defRPr>
                <a:solidFill>
                  <a:schemeClr val="lt1"/>
                </a:solidFill>
              </a:defRPr>
            </a:lvl2pPr>
            <a:lvl3pPr marL="1371600" lvl="2" indent="-298450" algn="l" rtl="0">
              <a:lnSpc>
                <a:spcPct val="115000"/>
              </a:lnSpc>
              <a:spcBef>
                <a:spcPts val="0"/>
              </a:spcBef>
              <a:spcAft>
                <a:spcPts val="0"/>
              </a:spcAft>
              <a:buClr>
                <a:schemeClr val="lt1"/>
              </a:buClr>
              <a:buSzPts val="1100"/>
              <a:buChar char="■"/>
              <a:defRPr>
                <a:solidFill>
                  <a:schemeClr val="lt1"/>
                </a:solidFill>
              </a:defRPr>
            </a:lvl3pPr>
            <a:lvl4pPr marL="1828800" lvl="3" indent="-298450" algn="l" rtl="0">
              <a:lnSpc>
                <a:spcPct val="115000"/>
              </a:lnSpc>
              <a:spcBef>
                <a:spcPts val="0"/>
              </a:spcBef>
              <a:spcAft>
                <a:spcPts val="0"/>
              </a:spcAft>
              <a:buClr>
                <a:schemeClr val="lt1"/>
              </a:buClr>
              <a:buSzPts val="1100"/>
              <a:buChar char="●"/>
              <a:defRPr>
                <a:solidFill>
                  <a:schemeClr val="lt1"/>
                </a:solidFill>
              </a:defRPr>
            </a:lvl4pPr>
            <a:lvl5pPr marL="2286000" lvl="4" indent="-298450" algn="l" rtl="0">
              <a:lnSpc>
                <a:spcPct val="115000"/>
              </a:lnSpc>
              <a:spcBef>
                <a:spcPts val="0"/>
              </a:spcBef>
              <a:spcAft>
                <a:spcPts val="0"/>
              </a:spcAft>
              <a:buClr>
                <a:schemeClr val="lt1"/>
              </a:buClr>
              <a:buSzPts val="1100"/>
              <a:buChar char="○"/>
              <a:defRPr>
                <a:solidFill>
                  <a:schemeClr val="lt1"/>
                </a:solidFill>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ustom layout">
  <p:cSld name="AUTOLAYOUT_2">
    <p:bg>
      <p:bgPr>
        <a:solidFill>
          <a:srgbClr val="FFFFFF"/>
        </a:solidFill>
        <a:effectLst/>
      </p:bgPr>
    </p:bg>
    <p:spTree>
      <p:nvGrpSpPr>
        <p:cNvPr id="1" name="Shape 192"/>
        <p:cNvGrpSpPr/>
        <p:nvPr/>
      </p:nvGrpSpPr>
      <p:grpSpPr>
        <a:xfrm>
          <a:off x="0" y="0"/>
          <a:ext cx="0" cy="0"/>
          <a:chOff x="0" y="0"/>
          <a:chExt cx="0" cy="0"/>
        </a:xfrm>
      </p:grpSpPr>
      <p:sp>
        <p:nvSpPr>
          <p:cNvPr id="193" name="Google Shape;193;p35"/>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35"/>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35"/>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35"/>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35"/>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98" name="Google Shape;198;p35"/>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99" name="Google Shape;199;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00" name="Google Shape;200;p35"/>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201" name="Google Shape;201;p35"/>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202" name="Google Shape;202;p35"/>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203"/>
        <p:cNvGrpSpPr/>
        <p:nvPr/>
      </p:nvGrpSpPr>
      <p:grpSpPr>
        <a:xfrm>
          <a:off x="0" y="0"/>
          <a:ext cx="0" cy="0"/>
          <a:chOff x="0" y="0"/>
          <a:chExt cx="0" cy="0"/>
        </a:xfrm>
      </p:grpSpPr>
      <p:sp>
        <p:nvSpPr>
          <p:cNvPr id="204" name="Google Shape;204;p36"/>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6"/>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206" name="Google Shape;206;p36"/>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207" name="Google Shape;207;p36"/>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08" name="Google Shape;208;p36"/>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6"/>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10" name="Google Shape;210;p36"/>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6"/>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12" name="Google Shape;212;p36"/>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217"/>
        <p:cNvGrpSpPr/>
        <p:nvPr/>
      </p:nvGrpSpPr>
      <p:grpSpPr>
        <a:xfrm>
          <a:off x="0" y="0"/>
          <a:ext cx="0" cy="0"/>
          <a:chOff x="0" y="0"/>
          <a:chExt cx="0" cy="0"/>
        </a:xfrm>
      </p:grpSpPr>
      <p:sp>
        <p:nvSpPr>
          <p:cNvPr id="218" name="Google Shape;218;p38"/>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19" name="Google Shape;219;p38"/>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20" name="Google Shape;220;p38"/>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221" name="Google Shape;221;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222"/>
        <p:cNvGrpSpPr/>
        <p:nvPr/>
      </p:nvGrpSpPr>
      <p:grpSpPr>
        <a:xfrm>
          <a:off x="0" y="0"/>
          <a:ext cx="0" cy="0"/>
          <a:chOff x="0" y="0"/>
          <a:chExt cx="0" cy="0"/>
        </a:xfrm>
      </p:grpSpPr>
      <p:sp>
        <p:nvSpPr>
          <p:cNvPr id="223" name="Google Shape;223;p39"/>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24" name="Google Shape;224;p39"/>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225" name="Google Shape;225;p39"/>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26" name="Google Shape;226;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7"/>
        <p:cNvGrpSpPr/>
        <p:nvPr/>
      </p:nvGrpSpPr>
      <p:grpSpPr>
        <a:xfrm>
          <a:off x="0" y="0"/>
          <a:ext cx="0" cy="0"/>
          <a:chOff x="0" y="0"/>
          <a:chExt cx="0" cy="0"/>
        </a:xfrm>
      </p:grpSpPr>
      <p:sp>
        <p:nvSpPr>
          <p:cNvPr id="228" name="Google Shape;228;p40"/>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29" name="Google Shape;229;p40"/>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40"/>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31" name="Google Shape;231;p40"/>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32" name="Google Shape;232;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33" name="Google Shape;233;p40"/>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234" name="Google Shape;234;p40"/>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5"/>
        <p:cNvGrpSpPr/>
        <p:nvPr/>
      </p:nvGrpSpPr>
      <p:grpSpPr>
        <a:xfrm>
          <a:off x="0" y="0"/>
          <a:ext cx="0" cy="0"/>
          <a:chOff x="0" y="0"/>
          <a:chExt cx="0" cy="0"/>
        </a:xfrm>
      </p:grpSpPr>
      <p:sp>
        <p:nvSpPr>
          <p:cNvPr id="236" name="Google Shape;236;p41"/>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38" name="Google Shape;238;p41"/>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39" name="Google Shape;239;p41"/>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40" name="Google Shape;240;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1"/>
        <p:cNvGrpSpPr/>
        <p:nvPr/>
      </p:nvGrpSpPr>
      <p:grpSpPr>
        <a:xfrm>
          <a:off x="0" y="0"/>
          <a:ext cx="0" cy="0"/>
          <a:chOff x="0" y="0"/>
          <a:chExt cx="0" cy="0"/>
        </a:xfrm>
      </p:grpSpPr>
      <p:sp>
        <p:nvSpPr>
          <p:cNvPr id="242" name="Google Shape;242;p4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2"/>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44" name="Google Shape;24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45"/>
        <p:cNvGrpSpPr/>
        <p:nvPr/>
      </p:nvGrpSpPr>
      <p:grpSpPr>
        <a:xfrm>
          <a:off x="0" y="0"/>
          <a:ext cx="0" cy="0"/>
          <a:chOff x="0" y="0"/>
          <a:chExt cx="0" cy="0"/>
        </a:xfrm>
      </p:grpSpPr>
      <p:sp>
        <p:nvSpPr>
          <p:cNvPr id="246" name="Google Shape;246;p43"/>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3"/>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48" name="Google Shape;248;p43"/>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49" name="Google Shape;249;p43"/>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50" name="Google Shape;250;p43"/>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51" name="Google Shape;251;p43"/>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252" name="Google Shape;252;p43"/>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253"/>
        <p:cNvGrpSpPr/>
        <p:nvPr/>
      </p:nvGrpSpPr>
      <p:grpSpPr>
        <a:xfrm>
          <a:off x="0" y="0"/>
          <a:ext cx="0" cy="0"/>
          <a:chOff x="0" y="0"/>
          <a:chExt cx="0" cy="0"/>
        </a:xfrm>
      </p:grpSpPr>
      <p:sp>
        <p:nvSpPr>
          <p:cNvPr id="254" name="Google Shape;254;p44"/>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55" name="Google Shape;255;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56"/>
        <p:cNvGrpSpPr/>
        <p:nvPr/>
      </p:nvGrpSpPr>
      <p:grpSpPr>
        <a:xfrm>
          <a:off x="0" y="0"/>
          <a:ext cx="0" cy="0"/>
          <a:chOff x="0" y="0"/>
          <a:chExt cx="0" cy="0"/>
        </a:xfrm>
      </p:grpSpPr>
      <p:sp>
        <p:nvSpPr>
          <p:cNvPr id="257" name="Google Shape;257;p45"/>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5"/>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59" name="Google Shape;259;p45"/>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60" name="Google Shape;260;p45"/>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61" name="Google Shape;261;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2"/>
        <p:cNvGrpSpPr/>
        <p:nvPr/>
      </p:nvGrpSpPr>
      <p:grpSpPr>
        <a:xfrm>
          <a:off x="0" y="0"/>
          <a:ext cx="0" cy="0"/>
          <a:chOff x="0" y="0"/>
          <a:chExt cx="0" cy="0"/>
        </a:xfrm>
      </p:grpSpPr>
      <p:sp>
        <p:nvSpPr>
          <p:cNvPr id="263" name="Google Shape;263;p46"/>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6"/>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65" name="Google Shape;265;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66"/>
        <p:cNvGrpSpPr/>
        <p:nvPr/>
      </p:nvGrpSpPr>
      <p:grpSpPr>
        <a:xfrm>
          <a:off x="0" y="0"/>
          <a:ext cx="0" cy="0"/>
          <a:chOff x="0" y="0"/>
          <a:chExt cx="0" cy="0"/>
        </a:xfrm>
      </p:grpSpPr>
      <p:sp>
        <p:nvSpPr>
          <p:cNvPr id="267" name="Google Shape;267;p47"/>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268" name="Google Shape;268;p47"/>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269" name="Google Shape;269;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0"/>
        <p:cNvGrpSpPr/>
        <p:nvPr/>
      </p:nvGrpSpPr>
      <p:grpSpPr>
        <a:xfrm>
          <a:off x="0" y="0"/>
          <a:ext cx="0" cy="0"/>
          <a:chOff x="0" y="0"/>
          <a:chExt cx="0" cy="0"/>
        </a:xfrm>
      </p:grpSpPr>
      <p:sp>
        <p:nvSpPr>
          <p:cNvPr id="271" name="Google Shape;271;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72"/>
        <p:cNvGrpSpPr/>
        <p:nvPr/>
      </p:nvGrpSpPr>
      <p:grpSpPr>
        <a:xfrm>
          <a:off x="0" y="0"/>
          <a:ext cx="0" cy="0"/>
          <a:chOff x="0" y="0"/>
          <a:chExt cx="0" cy="0"/>
        </a:xfrm>
      </p:grpSpPr>
      <p:sp>
        <p:nvSpPr>
          <p:cNvPr id="273" name="Google Shape;273;p49"/>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9"/>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5" name="Google Shape;275;p49"/>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76" name="Google Shape;276;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77"/>
        <p:cNvGrpSpPr/>
        <p:nvPr/>
      </p:nvGrpSpPr>
      <p:grpSpPr>
        <a:xfrm>
          <a:off x="0" y="0"/>
          <a:ext cx="0" cy="0"/>
          <a:chOff x="0" y="0"/>
          <a:chExt cx="0" cy="0"/>
        </a:xfrm>
      </p:grpSpPr>
      <p:sp>
        <p:nvSpPr>
          <p:cNvPr id="278" name="Google Shape;278;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9" name="Google Shape;279;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80" name="Google Shape;280;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281"/>
        <p:cNvGrpSpPr/>
        <p:nvPr/>
      </p:nvGrpSpPr>
      <p:grpSpPr>
        <a:xfrm>
          <a:off x="0" y="0"/>
          <a:ext cx="0" cy="0"/>
          <a:chOff x="0" y="0"/>
          <a:chExt cx="0" cy="0"/>
        </a:xfrm>
      </p:grpSpPr>
      <p:cxnSp>
        <p:nvCxnSpPr>
          <p:cNvPr id="282" name="Google Shape;282;p51"/>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83" name="Google Shape;283;p51"/>
          <p:cNvSpPr txBox="1">
            <a:spLocks noGrp="1"/>
          </p:cNvSpPr>
          <p:nvPr>
            <p:ph type="title"/>
          </p:nvPr>
        </p:nvSpPr>
        <p:spPr>
          <a:xfrm>
            <a:off x="387900" y="458025"/>
            <a:ext cx="8368200" cy="686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4" name="Google Shape;284;p51"/>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85" name="Google Shape;285;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body 4">
  <p:cSld name="TITLE_AND_BODY_4">
    <p:spTree>
      <p:nvGrpSpPr>
        <p:cNvPr id="1" name="Shape 286"/>
        <p:cNvGrpSpPr/>
        <p:nvPr/>
      </p:nvGrpSpPr>
      <p:grpSpPr>
        <a:xfrm>
          <a:off x="0" y="0"/>
          <a:ext cx="0" cy="0"/>
          <a:chOff x="0" y="0"/>
          <a:chExt cx="0" cy="0"/>
        </a:xfrm>
      </p:grpSpPr>
      <p:sp>
        <p:nvSpPr>
          <p:cNvPr id="287" name="Google Shape;287;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8" name="Google Shape;288;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89" name="Google Shape;289;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294"/>
        <p:cNvGrpSpPr/>
        <p:nvPr/>
      </p:nvGrpSpPr>
      <p:grpSpPr>
        <a:xfrm>
          <a:off x="0" y="0"/>
          <a:ext cx="0" cy="0"/>
          <a:chOff x="0" y="0"/>
          <a:chExt cx="0" cy="0"/>
        </a:xfrm>
      </p:grpSpPr>
      <p:sp>
        <p:nvSpPr>
          <p:cNvPr id="295" name="Google Shape;295;p54"/>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96" name="Google Shape;296;p54"/>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97" name="Google Shape;297;p54"/>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298" name="Google Shape;298;p5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299"/>
        <p:cNvGrpSpPr/>
        <p:nvPr/>
      </p:nvGrpSpPr>
      <p:grpSpPr>
        <a:xfrm>
          <a:off x="0" y="0"/>
          <a:ext cx="0" cy="0"/>
          <a:chOff x="0" y="0"/>
          <a:chExt cx="0" cy="0"/>
        </a:xfrm>
      </p:grpSpPr>
      <p:sp>
        <p:nvSpPr>
          <p:cNvPr id="300" name="Google Shape;300;p55"/>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301" name="Google Shape;301;p55"/>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302" name="Google Shape;302;p55"/>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303" name="Google Shape;303;p5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4"/>
        <p:cNvGrpSpPr/>
        <p:nvPr/>
      </p:nvGrpSpPr>
      <p:grpSpPr>
        <a:xfrm>
          <a:off x="0" y="0"/>
          <a:ext cx="0" cy="0"/>
          <a:chOff x="0" y="0"/>
          <a:chExt cx="0" cy="0"/>
        </a:xfrm>
      </p:grpSpPr>
      <p:sp>
        <p:nvSpPr>
          <p:cNvPr id="305" name="Google Shape;305;p56"/>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306" name="Google Shape;306;p56"/>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56"/>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8" name="Google Shape;308;p56"/>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09" name="Google Shape;309;p5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10" name="Google Shape;310;p56"/>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311" name="Google Shape;311;p56"/>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2"/>
        <p:cNvGrpSpPr/>
        <p:nvPr/>
      </p:nvGrpSpPr>
      <p:grpSpPr>
        <a:xfrm>
          <a:off x="0" y="0"/>
          <a:ext cx="0" cy="0"/>
          <a:chOff x="0" y="0"/>
          <a:chExt cx="0" cy="0"/>
        </a:xfrm>
      </p:grpSpPr>
      <p:sp>
        <p:nvSpPr>
          <p:cNvPr id="313" name="Google Shape;313;p57"/>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5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15" name="Google Shape;315;p57"/>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6" name="Google Shape;316;p57"/>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7" name="Google Shape;317;p5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8"/>
        <p:cNvGrpSpPr/>
        <p:nvPr/>
      </p:nvGrpSpPr>
      <p:grpSpPr>
        <a:xfrm>
          <a:off x="0" y="0"/>
          <a:ext cx="0" cy="0"/>
          <a:chOff x="0" y="0"/>
          <a:chExt cx="0" cy="0"/>
        </a:xfrm>
      </p:grpSpPr>
      <p:sp>
        <p:nvSpPr>
          <p:cNvPr id="319" name="Google Shape;319;p58"/>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58"/>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21" name="Google Shape;321;p5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2"/>
        <p:cNvGrpSpPr/>
        <p:nvPr/>
      </p:nvGrpSpPr>
      <p:grpSpPr>
        <a:xfrm>
          <a:off x="0" y="0"/>
          <a:ext cx="0" cy="0"/>
          <a:chOff x="0" y="0"/>
          <a:chExt cx="0" cy="0"/>
        </a:xfrm>
      </p:grpSpPr>
      <p:sp>
        <p:nvSpPr>
          <p:cNvPr id="323" name="Google Shape;323;p59"/>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59"/>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325" name="Google Shape;325;p59"/>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26" name="Google Shape;326;p59"/>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27" name="Google Shape;327;p59"/>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8" name="Google Shape;328;p59"/>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329" name="Google Shape;329;p59"/>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330"/>
        <p:cNvGrpSpPr/>
        <p:nvPr/>
      </p:nvGrpSpPr>
      <p:grpSpPr>
        <a:xfrm>
          <a:off x="0" y="0"/>
          <a:ext cx="0" cy="0"/>
          <a:chOff x="0" y="0"/>
          <a:chExt cx="0" cy="0"/>
        </a:xfrm>
      </p:grpSpPr>
      <p:sp>
        <p:nvSpPr>
          <p:cNvPr id="331" name="Google Shape;331;p60"/>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332" name="Google Shape;332;p6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3"/>
        <p:cNvGrpSpPr/>
        <p:nvPr/>
      </p:nvGrpSpPr>
      <p:grpSpPr>
        <a:xfrm>
          <a:off x="0" y="0"/>
          <a:ext cx="0" cy="0"/>
          <a:chOff x="0" y="0"/>
          <a:chExt cx="0" cy="0"/>
        </a:xfrm>
      </p:grpSpPr>
      <p:sp>
        <p:nvSpPr>
          <p:cNvPr id="334" name="Google Shape;334;p61"/>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61"/>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36" name="Google Shape;336;p61"/>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337" name="Google Shape;337;p61"/>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38" name="Google Shape;338;p6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39"/>
        <p:cNvGrpSpPr/>
        <p:nvPr/>
      </p:nvGrpSpPr>
      <p:grpSpPr>
        <a:xfrm>
          <a:off x="0" y="0"/>
          <a:ext cx="0" cy="0"/>
          <a:chOff x="0" y="0"/>
          <a:chExt cx="0" cy="0"/>
        </a:xfrm>
      </p:grpSpPr>
      <p:sp>
        <p:nvSpPr>
          <p:cNvPr id="340" name="Google Shape;340;p62"/>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62"/>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342" name="Google Shape;342;p6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343"/>
        <p:cNvGrpSpPr/>
        <p:nvPr/>
      </p:nvGrpSpPr>
      <p:grpSpPr>
        <a:xfrm>
          <a:off x="0" y="0"/>
          <a:ext cx="0" cy="0"/>
          <a:chOff x="0" y="0"/>
          <a:chExt cx="0" cy="0"/>
        </a:xfrm>
      </p:grpSpPr>
      <p:sp>
        <p:nvSpPr>
          <p:cNvPr id="344" name="Google Shape;344;p63"/>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345" name="Google Shape;345;p63"/>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346" name="Google Shape;346;p6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7"/>
        <p:cNvGrpSpPr/>
        <p:nvPr/>
      </p:nvGrpSpPr>
      <p:grpSpPr>
        <a:xfrm>
          <a:off x="0" y="0"/>
          <a:ext cx="0" cy="0"/>
          <a:chOff x="0" y="0"/>
          <a:chExt cx="0" cy="0"/>
        </a:xfrm>
      </p:grpSpPr>
      <p:sp>
        <p:nvSpPr>
          <p:cNvPr id="348" name="Google Shape;348;p6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349"/>
        <p:cNvGrpSpPr/>
        <p:nvPr/>
      </p:nvGrpSpPr>
      <p:grpSpPr>
        <a:xfrm>
          <a:off x="0" y="0"/>
          <a:ext cx="0" cy="0"/>
          <a:chOff x="0" y="0"/>
          <a:chExt cx="0" cy="0"/>
        </a:xfrm>
      </p:grpSpPr>
      <p:sp>
        <p:nvSpPr>
          <p:cNvPr id="350" name="Google Shape;350;p6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65"/>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2" name="Google Shape;352;p65"/>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53" name="Google Shape;353;p6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354"/>
        <p:cNvGrpSpPr/>
        <p:nvPr/>
      </p:nvGrpSpPr>
      <p:grpSpPr>
        <a:xfrm>
          <a:off x="0" y="0"/>
          <a:ext cx="0" cy="0"/>
          <a:chOff x="0" y="0"/>
          <a:chExt cx="0" cy="0"/>
        </a:xfrm>
      </p:grpSpPr>
      <p:sp>
        <p:nvSpPr>
          <p:cNvPr id="355" name="Google Shape;355;p6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6" name="Google Shape;356;p6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57" name="Google Shape;357;p6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6"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6" Type="http://schemas.openxmlformats.org/officeDocument/2006/relationships/theme" Target="../theme/theme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20" name="Google Shape;120;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21" name="Google Shape;121;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213"/>
        <p:cNvGrpSpPr/>
        <p:nvPr/>
      </p:nvGrpSpPr>
      <p:grpSpPr>
        <a:xfrm>
          <a:off x="0" y="0"/>
          <a:ext cx="0" cy="0"/>
          <a:chOff x="0" y="0"/>
          <a:chExt cx="0" cy="0"/>
        </a:xfrm>
      </p:grpSpPr>
      <p:sp>
        <p:nvSpPr>
          <p:cNvPr id="214" name="Google Shape;214;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215" name="Google Shape;215;p3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216" name="Google Shape;216;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290"/>
        <p:cNvGrpSpPr/>
        <p:nvPr/>
      </p:nvGrpSpPr>
      <p:grpSpPr>
        <a:xfrm>
          <a:off x="0" y="0"/>
          <a:ext cx="0" cy="0"/>
          <a:chOff x="0" y="0"/>
          <a:chExt cx="0" cy="0"/>
        </a:xfrm>
      </p:grpSpPr>
      <p:sp>
        <p:nvSpPr>
          <p:cNvPr id="291" name="Google Shape;291;p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292" name="Google Shape;292;p5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293" name="Google Shape;293;p53"/>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37.png"/><Relationship Id="rId39" Type="http://schemas.openxmlformats.org/officeDocument/2006/relationships/image" Target="../media/image50.png"/><Relationship Id="rId21" Type="http://schemas.openxmlformats.org/officeDocument/2006/relationships/image" Target="../media/image32.png"/><Relationship Id="rId34" Type="http://schemas.openxmlformats.org/officeDocument/2006/relationships/image" Target="../media/image45.png"/><Relationship Id="rId42" Type="http://schemas.openxmlformats.org/officeDocument/2006/relationships/image" Target="../media/image53.png"/><Relationship Id="rId47" Type="http://schemas.openxmlformats.org/officeDocument/2006/relationships/image" Target="../media/image58.png"/><Relationship Id="rId50" Type="http://schemas.openxmlformats.org/officeDocument/2006/relationships/image" Target="../media/image61.png"/><Relationship Id="rId55" Type="http://schemas.openxmlformats.org/officeDocument/2006/relationships/image" Target="../media/image66.png"/><Relationship Id="rId7" Type="http://schemas.openxmlformats.org/officeDocument/2006/relationships/image" Target="../media/image18.png"/><Relationship Id="rId2" Type="http://schemas.openxmlformats.org/officeDocument/2006/relationships/notesSlide" Target="../notesSlides/notesSlide28.xml"/><Relationship Id="rId16" Type="http://schemas.openxmlformats.org/officeDocument/2006/relationships/image" Target="../media/image27.png"/><Relationship Id="rId29" Type="http://schemas.openxmlformats.org/officeDocument/2006/relationships/image" Target="../media/image40.png"/><Relationship Id="rId11" Type="http://schemas.openxmlformats.org/officeDocument/2006/relationships/image" Target="../media/image22.png"/><Relationship Id="rId24" Type="http://schemas.openxmlformats.org/officeDocument/2006/relationships/image" Target="../media/image35.png"/><Relationship Id="rId32" Type="http://schemas.openxmlformats.org/officeDocument/2006/relationships/image" Target="../media/image43.png"/><Relationship Id="rId37" Type="http://schemas.openxmlformats.org/officeDocument/2006/relationships/image" Target="../media/image48.png"/><Relationship Id="rId40" Type="http://schemas.openxmlformats.org/officeDocument/2006/relationships/image" Target="../media/image51.png"/><Relationship Id="rId45" Type="http://schemas.openxmlformats.org/officeDocument/2006/relationships/image" Target="../media/image56.png"/><Relationship Id="rId53" Type="http://schemas.openxmlformats.org/officeDocument/2006/relationships/image" Target="../media/image64.png"/><Relationship Id="rId58" Type="http://schemas.openxmlformats.org/officeDocument/2006/relationships/image" Target="../media/image69.png"/><Relationship Id="rId5" Type="http://schemas.openxmlformats.org/officeDocument/2006/relationships/image" Target="../media/image16.png"/><Relationship Id="rId61" Type="http://schemas.openxmlformats.org/officeDocument/2006/relationships/image" Target="../media/image72.png"/><Relationship Id="rId19" Type="http://schemas.openxmlformats.org/officeDocument/2006/relationships/image" Target="../media/image30.pn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38.png"/><Relationship Id="rId30" Type="http://schemas.openxmlformats.org/officeDocument/2006/relationships/image" Target="../media/image41.png"/><Relationship Id="rId35" Type="http://schemas.openxmlformats.org/officeDocument/2006/relationships/image" Target="../media/image46.png"/><Relationship Id="rId43" Type="http://schemas.openxmlformats.org/officeDocument/2006/relationships/image" Target="../media/image54.png"/><Relationship Id="rId48" Type="http://schemas.openxmlformats.org/officeDocument/2006/relationships/image" Target="../media/image59.png"/><Relationship Id="rId56" Type="http://schemas.openxmlformats.org/officeDocument/2006/relationships/image" Target="../media/image67.png"/><Relationship Id="rId8" Type="http://schemas.openxmlformats.org/officeDocument/2006/relationships/image" Target="../media/image19.png"/><Relationship Id="rId51" Type="http://schemas.openxmlformats.org/officeDocument/2006/relationships/image" Target="../media/image62.png"/><Relationship Id="rId3" Type="http://schemas.openxmlformats.org/officeDocument/2006/relationships/image" Target="../media/image14.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33" Type="http://schemas.openxmlformats.org/officeDocument/2006/relationships/image" Target="../media/image44.png"/><Relationship Id="rId38" Type="http://schemas.openxmlformats.org/officeDocument/2006/relationships/image" Target="../media/image49.png"/><Relationship Id="rId46" Type="http://schemas.openxmlformats.org/officeDocument/2006/relationships/image" Target="../media/image57.png"/><Relationship Id="rId59" Type="http://schemas.openxmlformats.org/officeDocument/2006/relationships/image" Target="../media/image70.png"/><Relationship Id="rId20" Type="http://schemas.openxmlformats.org/officeDocument/2006/relationships/image" Target="../media/image31.png"/><Relationship Id="rId41" Type="http://schemas.openxmlformats.org/officeDocument/2006/relationships/image" Target="../media/image52.png"/><Relationship Id="rId54" Type="http://schemas.openxmlformats.org/officeDocument/2006/relationships/image" Target="../media/image65.png"/><Relationship Id="rId62" Type="http://schemas.openxmlformats.org/officeDocument/2006/relationships/image" Target="../media/image73.png"/><Relationship Id="rId1" Type="http://schemas.openxmlformats.org/officeDocument/2006/relationships/slideLayout" Target="../slideLayouts/slideLayout24.xml"/><Relationship Id="rId6" Type="http://schemas.openxmlformats.org/officeDocument/2006/relationships/image" Target="../media/image17.png"/><Relationship Id="rId15" Type="http://schemas.openxmlformats.org/officeDocument/2006/relationships/image" Target="../media/image26.png"/><Relationship Id="rId23" Type="http://schemas.openxmlformats.org/officeDocument/2006/relationships/image" Target="../media/image34.png"/><Relationship Id="rId28" Type="http://schemas.openxmlformats.org/officeDocument/2006/relationships/image" Target="../media/image39.png"/><Relationship Id="rId36" Type="http://schemas.openxmlformats.org/officeDocument/2006/relationships/image" Target="../media/image47.png"/><Relationship Id="rId49" Type="http://schemas.openxmlformats.org/officeDocument/2006/relationships/image" Target="../media/image60.png"/><Relationship Id="rId57" Type="http://schemas.openxmlformats.org/officeDocument/2006/relationships/image" Target="../media/image68.png"/><Relationship Id="rId10" Type="http://schemas.openxmlformats.org/officeDocument/2006/relationships/image" Target="../media/image21.png"/><Relationship Id="rId31" Type="http://schemas.openxmlformats.org/officeDocument/2006/relationships/image" Target="../media/image42.png"/><Relationship Id="rId44" Type="http://schemas.openxmlformats.org/officeDocument/2006/relationships/image" Target="../media/image55.png"/><Relationship Id="rId52" Type="http://schemas.openxmlformats.org/officeDocument/2006/relationships/image" Target="../media/image63.png"/><Relationship Id="rId60" Type="http://schemas.openxmlformats.org/officeDocument/2006/relationships/image" Target="../media/image71.png"/><Relationship Id="rId4" Type="http://schemas.openxmlformats.org/officeDocument/2006/relationships/image" Target="../media/image15.png"/><Relationship Id="rId9" Type="http://schemas.openxmlformats.org/officeDocument/2006/relationships/image" Target="../media/image2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81.png"/></Relationships>
</file>

<file path=ppt/slides/_rels/slide3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8.xml"/><Relationship Id="rId1" Type="http://schemas.openxmlformats.org/officeDocument/2006/relationships/slideLayout" Target="../slideLayouts/slideLayout6.xml"/><Relationship Id="rId5" Type="http://schemas.openxmlformats.org/officeDocument/2006/relationships/image" Target="../media/image82.png"/><Relationship Id="rId4" Type="http://schemas.openxmlformats.org/officeDocument/2006/relationships/image" Target="../media/image8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hyperlink" Target="https://docs.oracle.com/en/java/javase/15/docs/api/java.base/java/util/Collections.html#sort(java.util.List)" TargetMode="External"/><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1.xml"/><Relationship Id="rId1" Type="http://schemas.openxmlformats.org/officeDocument/2006/relationships/slideLayout" Target="../slideLayouts/slideLayout3.xml"/><Relationship Id="rId6" Type="http://schemas.openxmlformats.org/officeDocument/2006/relationships/image" Target="../media/image83.png"/><Relationship Id="rId5" Type="http://schemas.openxmlformats.org/officeDocument/2006/relationships/image" Target="../media/image80.png"/><Relationship Id="rId4" Type="http://schemas.openxmlformats.org/officeDocument/2006/relationships/image" Target="../media/image7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hyperlink" Target="https://docs.oracle.com/en/java/javase/15/docs/api/java.base/java/util/Collections.html#sort(java.util.List,java.util.Comparator)" TargetMode="External"/><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5.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8.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9.xml"/></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1.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9.xml"/></Relationships>
</file>

<file path=ppt/slides/_rels/slide60.xml.rels><?xml version="1.0" encoding="UTF-8" standalone="yes"?>
<Relationships xmlns="http://schemas.openxmlformats.org/package/2006/relationships"><Relationship Id="rId3" Type="http://schemas.openxmlformats.org/officeDocument/2006/relationships/hyperlink" Target="https://docs.google.com/presentation/d/1zvTaX7Z3Lb9pimeq_IS5wZqLtjRRiFpG1aiKJ4aKLRE/edit#slide=id.g2b9a8ac45a0_0_1494" TargetMode="External"/><Relationship Id="rId2" Type="http://schemas.openxmlformats.org/officeDocument/2006/relationships/notesSlide" Target="../notesSlides/notesSlide60.xml"/><Relationship Id="rId1" Type="http://schemas.openxmlformats.org/officeDocument/2006/relationships/slideLayout" Target="../slideLayouts/slideLayout60.xml"/><Relationship Id="rId4" Type="http://schemas.openxmlformats.org/officeDocument/2006/relationships/hyperlink" Target="https://docs.google.com/presentation/d/1zvTaX7Z3Lb9pimeq_IS5wZqLtjRRiFpG1aiKJ4aKLRE/edit#slide=id.g2b9a8ac45a0_0_1533"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1.xml"/><Relationship Id="rId1" Type="http://schemas.openxmlformats.org/officeDocument/2006/relationships/slideLayout" Target="../slideLayouts/slideLayout38.xml"/><Relationship Id="rId4"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67"/>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363" name="Google Shape;363;p67"/>
          <p:cNvSpPr txBox="1">
            <a:spLocks noGrp="1"/>
          </p:cNvSpPr>
          <p:nvPr>
            <p:ph type="subTitle" idx="1"/>
          </p:nvPr>
        </p:nvSpPr>
        <p:spPr>
          <a:xfrm>
            <a:off x="311700" y="1878550"/>
            <a:ext cx="4491300" cy="7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6: Data Structures II</a:t>
            </a:r>
            <a:endParaRPr sz="2600" i="1"/>
          </a:p>
        </p:txBody>
      </p:sp>
      <p:grpSp>
        <p:nvGrpSpPr>
          <p:cNvPr id="364" name="Google Shape;364;p67"/>
          <p:cNvGrpSpPr/>
          <p:nvPr/>
        </p:nvGrpSpPr>
        <p:grpSpPr>
          <a:xfrm>
            <a:off x="5001999" y="4264475"/>
            <a:ext cx="3908400" cy="738300"/>
            <a:chOff x="5001999" y="4264475"/>
            <a:chExt cx="3908400" cy="738300"/>
          </a:xfrm>
        </p:grpSpPr>
        <p:sp>
          <p:nvSpPr>
            <p:cNvPr id="365" name="Google Shape;365;p67"/>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6" name="Google Shape;366;p67"/>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68"/>
          <p:cNvSpPr txBox="1">
            <a:spLocks noGrp="1"/>
          </p:cNvSpPr>
          <p:nvPr>
            <p:ph type="title"/>
          </p:nvPr>
        </p:nvSpPr>
        <p:spPr>
          <a:xfrm>
            <a:off x="311725" y="2723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Data Structures II</a:t>
            </a:r>
            <a:endParaRPr/>
          </a:p>
        </p:txBody>
      </p:sp>
      <p:sp>
        <p:nvSpPr>
          <p:cNvPr id="372" name="Google Shape;372;p68"/>
          <p:cNvSpPr txBox="1">
            <a:spLocks noGrp="1"/>
          </p:cNvSpPr>
          <p:nvPr>
            <p:ph type="body" idx="1"/>
          </p:nvPr>
        </p:nvSpPr>
        <p:spPr>
          <a:xfrm>
            <a:off x="4644675" y="272325"/>
            <a:ext cx="4166400" cy="45774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SzPts val="1300"/>
              <a:buChar char="●"/>
            </a:pPr>
            <a:r>
              <a:rPr lang="en" dirty="0"/>
              <a:t>In this unit we will continue exploring </a:t>
            </a:r>
            <a:r>
              <a:rPr lang="en" b="1" i="1" dirty="0">
                <a:solidFill>
                  <a:srgbClr val="FF0000"/>
                </a:solidFill>
                <a:highlight>
                  <a:srgbClr val="FFFF00"/>
                </a:highlight>
              </a:rPr>
              <a:t>abstract data types</a:t>
            </a:r>
            <a:r>
              <a:rPr lang="en" dirty="0">
                <a:highlight>
                  <a:srgbClr val="FFFF00"/>
                </a:highlight>
              </a:rPr>
              <a:t> and </a:t>
            </a:r>
            <a:r>
              <a:rPr lang="en" b="1" i="1" dirty="0">
                <a:solidFill>
                  <a:srgbClr val="FF0000"/>
                </a:solidFill>
                <a:highlight>
                  <a:srgbClr val="FFFF00"/>
                </a:highlight>
              </a:rPr>
              <a:t>data structures</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t>An abstract data type describes the </a:t>
            </a:r>
            <a:r>
              <a:rPr lang="en" dirty="0">
                <a:highlight>
                  <a:srgbClr val="FFFF00"/>
                </a:highlight>
              </a:rPr>
              <a:t>behavior of a data structure </a:t>
            </a:r>
            <a:r>
              <a:rPr lang="en" dirty="0"/>
              <a:t>from the perspective of its user without providing any implementation details.</a:t>
            </a:r>
            <a:endParaRPr dirty="0"/>
          </a:p>
          <a:p>
            <a:pPr marL="914400" lvl="1" indent="-298450" algn="l" rtl="0">
              <a:lnSpc>
                <a:spcPct val="115000"/>
              </a:lnSpc>
              <a:spcBef>
                <a:spcPts val="0"/>
              </a:spcBef>
              <a:spcAft>
                <a:spcPts val="0"/>
              </a:spcAft>
              <a:buSzPts val="1100"/>
              <a:buChar char="○"/>
            </a:pPr>
            <a:r>
              <a:rPr lang="en" dirty="0"/>
              <a:t>Every abstract data type (ADT) may be implemented in </a:t>
            </a:r>
            <a:r>
              <a:rPr lang="en" dirty="0">
                <a:highlight>
                  <a:srgbClr val="FFFF00"/>
                </a:highlight>
              </a:rPr>
              <a:t>more than one way.</a:t>
            </a:r>
            <a:endParaRPr dirty="0">
              <a:highlight>
                <a:srgbClr val="FFFF00"/>
              </a:highlight>
            </a:endParaRPr>
          </a:p>
          <a:p>
            <a:pPr marL="914400" lvl="1" indent="-298450" algn="l" rtl="0">
              <a:lnSpc>
                <a:spcPct val="115000"/>
              </a:lnSpc>
              <a:spcBef>
                <a:spcPts val="0"/>
              </a:spcBef>
              <a:spcAft>
                <a:spcPts val="0"/>
              </a:spcAft>
              <a:buSzPts val="1100"/>
              <a:buChar char="○"/>
            </a:pPr>
            <a:r>
              <a:rPr lang="en" dirty="0"/>
              <a:t>When solving a new problem, choosing the most </a:t>
            </a:r>
            <a:r>
              <a:rPr lang="en" dirty="0">
                <a:highlight>
                  <a:srgbClr val="FFFF00"/>
                </a:highlight>
              </a:rPr>
              <a:t>efficient implementatio</a:t>
            </a:r>
            <a:r>
              <a:rPr lang="en" dirty="0"/>
              <a:t>n is just as important as choosing the correct data structure.</a:t>
            </a:r>
            <a:endParaRPr dirty="0"/>
          </a:p>
          <a:p>
            <a:pPr marL="457200" lvl="0" indent="-311150" algn="l" rtl="0">
              <a:lnSpc>
                <a:spcPct val="115000"/>
              </a:lnSpc>
              <a:spcBef>
                <a:spcPts val="1000"/>
              </a:spcBef>
              <a:spcAft>
                <a:spcPts val="0"/>
              </a:spcAft>
              <a:buSzPts val="1300"/>
              <a:buChar char="●"/>
            </a:pPr>
            <a:r>
              <a:rPr lang="en" dirty="0"/>
              <a:t>We will examine several different abstract data types and implement each of them in at least one way including:</a:t>
            </a:r>
            <a:endParaRPr dirty="0"/>
          </a:p>
          <a:p>
            <a:pPr marL="914400" lvl="1" indent="-298450" algn="l" rtl="0">
              <a:lnSpc>
                <a:spcPct val="115000"/>
              </a:lnSpc>
              <a:spcBef>
                <a:spcPts val="0"/>
              </a:spcBef>
              <a:spcAft>
                <a:spcPts val="0"/>
              </a:spcAft>
              <a:buSzPts val="1100"/>
              <a:buChar char="○"/>
            </a:pPr>
            <a:r>
              <a:rPr lang="en" dirty="0">
                <a:highlight>
                  <a:srgbClr val="FFFF00"/>
                </a:highlight>
              </a:rPr>
              <a:t>Binary Trees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Binary Search Trees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Heaps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Comparable/Comparators</a:t>
            </a:r>
            <a:endParaRPr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Tree Sets &amp; Tree Maps</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We will begin by focusing on a new data structure: the </a:t>
            </a:r>
            <a:r>
              <a:rPr lang="en" b="1" i="1" dirty="0">
                <a:solidFill>
                  <a:srgbClr val="FF0000"/>
                </a:solidFill>
              </a:rPr>
              <a:t>binary tree</a:t>
            </a:r>
            <a:r>
              <a:rPr lang="en" dirty="0"/>
              <a:t>.</a:t>
            </a:r>
            <a:endParaRPr dirty="0"/>
          </a:p>
        </p:txBody>
      </p:sp>
      <p:sp>
        <p:nvSpPr>
          <p:cNvPr id="373" name="Google Shape;373;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374" name="Google Shape;374;p68"/>
          <p:cNvSpPr txBox="1">
            <a:spLocks noGrp="1"/>
          </p:cNvSpPr>
          <p:nvPr>
            <p:ph type="body" idx="3"/>
          </p:nvPr>
        </p:nvSpPr>
        <p:spPr>
          <a:xfrm>
            <a:off x="260425" y="2420675"/>
            <a:ext cx="3706500" cy="71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You are already familiar with many data structures </a:t>
            </a:r>
            <a:r>
              <a:rPr lang="en" sz="1200" b="1" i="1">
                <a:solidFill>
                  <a:srgbClr val="FF0000"/>
                </a:solidFill>
              </a:rPr>
              <a:t>from the perspective of a user</a:t>
            </a:r>
            <a:r>
              <a:rPr lang="en" sz="1200"/>
              <a:t> including arrays, queues, stacks, lists, sets, and dictionaries.</a:t>
            </a:r>
            <a:endParaRPr sz="1200"/>
          </a:p>
        </p:txBody>
      </p:sp>
      <p:grpSp>
        <p:nvGrpSpPr>
          <p:cNvPr id="375" name="Google Shape;375;p68"/>
          <p:cNvGrpSpPr/>
          <p:nvPr/>
        </p:nvGrpSpPr>
        <p:grpSpPr>
          <a:xfrm>
            <a:off x="206414" y="1108047"/>
            <a:ext cx="3814500" cy="1197789"/>
            <a:chOff x="260414" y="1960022"/>
            <a:chExt cx="3814500" cy="1197789"/>
          </a:xfrm>
        </p:grpSpPr>
        <p:cxnSp>
          <p:nvCxnSpPr>
            <p:cNvPr id="376" name="Google Shape;376;p68"/>
            <p:cNvCxnSpPr/>
            <p:nvPr/>
          </p:nvCxnSpPr>
          <p:spPr>
            <a:xfrm rot="10800000">
              <a:off x="260414" y="2581000"/>
              <a:ext cx="3814500" cy="0"/>
            </a:xfrm>
            <a:prstGeom prst="straightConnector1">
              <a:avLst/>
            </a:prstGeom>
            <a:noFill/>
            <a:ln w="76200" cap="flat" cmpd="sng">
              <a:solidFill>
                <a:srgbClr val="FF9900"/>
              </a:solidFill>
              <a:prstDash val="solid"/>
              <a:round/>
              <a:headEnd type="none" w="sm" len="sm"/>
              <a:tailEnd type="triangle" w="med" len="med"/>
            </a:ln>
          </p:spPr>
        </p:cxnSp>
        <p:pic>
          <p:nvPicPr>
            <p:cNvPr id="377" name="Google Shape;377;p68"/>
            <p:cNvPicPr preferRelativeResize="0"/>
            <p:nvPr/>
          </p:nvPicPr>
          <p:blipFill rotWithShape="1">
            <a:blip r:embed="rId3">
              <a:alphaModFix/>
            </a:blip>
            <a:srcRect/>
            <a:stretch/>
          </p:blipFill>
          <p:spPr>
            <a:xfrm>
              <a:off x="3261013" y="1960036"/>
              <a:ext cx="685875" cy="1197764"/>
            </a:xfrm>
            <a:prstGeom prst="rect">
              <a:avLst/>
            </a:prstGeom>
            <a:noFill/>
            <a:ln>
              <a:noFill/>
            </a:ln>
          </p:spPr>
        </p:pic>
        <p:pic>
          <p:nvPicPr>
            <p:cNvPr id="378" name="Google Shape;378;p68"/>
            <p:cNvPicPr preferRelativeResize="0"/>
            <p:nvPr/>
          </p:nvPicPr>
          <p:blipFill rotWithShape="1">
            <a:blip r:embed="rId4">
              <a:alphaModFix/>
            </a:blip>
            <a:srcRect/>
            <a:stretch/>
          </p:blipFill>
          <p:spPr>
            <a:xfrm>
              <a:off x="1020294" y="1960028"/>
              <a:ext cx="685878" cy="1197775"/>
            </a:xfrm>
            <a:prstGeom prst="rect">
              <a:avLst/>
            </a:prstGeom>
            <a:noFill/>
            <a:ln>
              <a:noFill/>
            </a:ln>
          </p:spPr>
        </p:pic>
        <p:pic>
          <p:nvPicPr>
            <p:cNvPr id="379" name="Google Shape;379;p68"/>
            <p:cNvPicPr preferRelativeResize="0"/>
            <p:nvPr/>
          </p:nvPicPr>
          <p:blipFill rotWithShape="1">
            <a:blip r:embed="rId5">
              <a:alphaModFix/>
            </a:blip>
            <a:srcRect/>
            <a:stretch/>
          </p:blipFill>
          <p:spPr>
            <a:xfrm>
              <a:off x="443331" y="1960037"/>
              <a:ext cx="456704" cy="1197774"/>
            </a:xfrm>
            <a:prstGeom prst="rect">
              <a:avLst/>
            </a:prstGeom>
            <a:noFill/>
            <a:ln>
              <a:noFill/>
            </a:ln>
          </p:spPr>
        </p:pic>
        <p:pic>
          <p:nvPicPr>
            <p:cNvPr id="380" name="Google Shape;380;p68"/>
            <p:cNvPicPr preferRelativeResize="0"/>
            <p:nvPr/>
          </p:nvPicPr>
          <p:blipFill rotWithShape="1">
            <a:blip r:embed="rId6">
              <a:alphaModFix/>
            </a:blip>
            <a:srcRect/>
            <a:stretch/>
          </p:blipFill>
          <p:spPr>
            <a:xfrm>
              <a:off x="1805777" y="1960025"/>
              <a:ext cx="570161" cy="1197774"/>
            </a:xfrm>
            <a:prstGeom prst="rect">
              <a:avLst/>
            </a:prstGeom>
            <a:noFill/>
            <a:ln>
              <a:noFill/>
            </a:ln>
          </p:spPr>
        </p:pic>
        <p:pic>
          <p:nvPicPr>
            <p:cNvPr id="381" name="Google Shape;381;p68"/>
            <p:cNvPicPr preferRelativeResize="0"/>
            <p:nvPr/>
          </p:nvPicPr>
          <p:blipFill rotWithShape="1">
            <a:blip r:embed="rId7">
              <a:alphaModFix/>
            </a:blip>
            <a:srcRect/>
            <a:stretch/>
          </p:blipFill>
          <p:spPr>
            <a:xfrm>
              <a:off x="2418495" y="1960022"/>
              <a:ext cx="799949" cy="1197774"/>
            </a:xfrm>
            <a:prstGeom prst="rect">
              <a:avLst/>
            </a:prstGeom>
            <a:noFill/>
            <a:ln>
              <a:noFill/>
            </a:ln>
          </p:spPr>
        </p:pic>
      </p:grpSp>
      <p:sp>
        <p:nvSpPr>
          <p:cNvPr id="382" name="Google Shape;382;p68"/>
          <p:cNvSpPr txBox="1">
            <a:spLocks noGrp="1"/>
          </p:cNvSpPr>
          <p:nvPr>
            <p:ph type="body" idx="3"/>
          </p:nvPr>
        </p:nvSpPr>
        <p:spPr>
          <a:xfrm>
            <a:off x="260425" y="3245104"/>
            <a:ext cx="3706500" cy="71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In this unit we will learn how </a:t>
            </a:r>
            <a:r>
              <a:rPr lang="en" sz="1200" b="1" i="1">
                <a:solidFill>
                  <a:srgbClr val="FF0000"/>
                </a:solidFill>
              </a:rPr>
              <a:t>different implementations</a:t>
            </a:r>
            <a:r>
              <a:rPr lang="en" sz="1200"/>
              <a:t> of many of these data structures work.</a:t>
            </a:r>
            <a:endParaRPr sz="1200"/>
          </a:p>
        </p:txBody>
      </p:sp>
      <p:sp>
        <p:nvSpPr>
          <p:cNvPr id="383" name="Google Shape;383;p68"/>
          <p:cNvSpPr txBox="1">
            <a:spLocks noGrp="1"/>
          </p:cNvSpPr>
          <p:nvPr>
            <p:ph type="body" idx="3"/>
          </p:nvPr>
        </p:nvSpPr>
        <p:spPr>
          <a:xfrm>
            <a:off x="260425" y="4069533"/>
            <a:ext cx="3706500" cy="71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We will also examine the situational </a:t>
            </a:r>
            <a:r>
              <a:rPr lang="en" sz="1200" b="1" i="1">
                <a:solidFill>
                  <a:srgbClr val="FF0000"/>
                </a:solidFill>
              </a:rPr>
              <a:t>strengths and weaknesses</a:t>
            </a:r>
            <a:r>
              <a:rPr lang="en" sz="1200"/>
              <a:t> of each implementation in terms of </a:t>
            </a:r>
            <a:r>
              <a:rPr lang="en" sz="1200" b="1" i="1">
                <a:solidFill>
                  <a:srgbClr val="FF0000"/>
                </a:solidFill>
              </a:rPr>
              <a:t>complexity</a:t>
            </a:r>
            <a:r>
              <a:rPr lang="en" sz="1200">
                <a:solidFill>
                  <a:srgbClr val="FF0000"/>
                </a:solidFill>
              </a:rPr>
              <a:t> </a:t>
            </a:r>
            <a:r>
              <a:rPr lang="en" sz="1200"/>
              <a:t>(both space and time).</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74"/>
                                        </p:tgtEl>
                                        <p:attrNameLst>
                                          <p:attrName>style.visibility</p:attrName>
                                        </p:attrNameLst>
                                      </p:cBhvr>
                                      <p:to>
                                        <p:strVal val="visible"/>
                                      </p:to>
                                    </p:set>
                                    <p:animEffect transition="in" filter="fade">
                                      <p:cBhvr>
                                        <p:cTn id="51" dur="1000"/>
                                        <p:tgtEl>
                                          <p:spTgt spid="37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82"/>
                                        </p:tgtEl>
                                        <p:attrNameLst>
                                          <p:attrName>style.visibility</p:attrName>
                                        </p:attrNameLst>
                                      </p:cBhvr>
                                      <p:to>
                                        <p:strVal val="visible"/>
                                      </p:to>
                                    </p:set>
                                    <p:animEffect transition="in" filter="fade">
                                      <p:cBhvr>
                                        <p:cTn id="56" dur="1000"/>
                                        <p:tgtEl>
                                          <p:spTgt spid="38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83"/>
                                        </p:tgtEl>
                                        <p:attrNameLst>
                                          <p:attrName>style.visibility</p:attrName>
                                        </p:attrNameLst>
                                      </p:cBhvr>
                                      <p:to>
                                        <p:strVal val="visible"/>
                                      </p:to>
                                    </p:set>
                                    <p:animEffect transition="in" filter="fade">
                                      <p:cBhvr>
                                        <p:cTn id="61" dur="1000"/>
                                        <p:tgtEl>
                                          <p:spTgt spid="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69"/>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Review: Abstract Data Types</a:t>
            </a:r>
            <a:endParaRPr/>
          </a:p>
        </p:txBody>
      </p:sp>
      <p:sp>
        <p:nvSpPr>
          <p:cNvPr id="389" name="Google Shape;389;p69"/>
          <p:cNvSpPr txBox="1">
            <a:spLocks noGrp="1"/>
          </p:cNvSpPr>
          <p:nvPr>
            <p:ph type="body" idx="1"/>
          </p:nvPr>
        </p:nvSpPr>
        <p:spPr>
          <a:xfrm>
            <a:off x="124125" y="1429500"/>
            <a:ext cx="4406400" cy="3524700"/>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a:t>A </a:t>
            </a:r>
            <a:r>
              <a:rPr lang="en" b="1" i="1">
                <a:solidFill>
                  <a:srgbClr val="FF0000"/>
                </a:solidFill>
              </a:rPr>
              <a:t>data structure </a:t>
            </a:r>
            <a:r>
              <a:rPr lang="en"/>
              <a:t>is a grouping of related data.</a:t>
            </a:r>
            <a:endParaRPr/>
          </a:p>
          <a:p>
            <a:pPr marL="914400" lvl="1" indent="-298450" algn="l" rtl="0">
              <a:lnSpc>
                <a:spcPct val="100000"/>
              </a:lnSpc>
              <a:spcBef>
                <a:spcPts val="0"/>
              </a:spcBef>
              <a:spcAft>
                <a:spcPts val="0"/>
              </a:spcAft>
              <a:buSzPts val="1100"/>
              <a:buChar char="○"/>
            </a:pPr>
            <a:r>
              <a:rPr lang="en"/>
              <a:t>We refer to the data as </a:t>
            </a:r>
            <a:r>
              <a:rPr lang="en" b="1" i="1">
                <a:solidFill>
                  <a:srgbClr val="FF0000"/>
                </a:solidFill>
              </a:rPr>
              <a:t>elements</a:t>
            </a:r>
            <a:r>
              <a:rPr lang="en"/>
              <a:t>.</a:t>
            </a:r>
            <a:endParaRPr/>
          </a:p>
          <a:p>
            <a:pPr marL="457200" lvl="0" indent="-311150" algn="l" rtl="0">
              <a:lnSpc>
                <a:spcPct val="100000"/>
              </a:lnSpc>
              <a:spcBef>
                <a:spcPts val="1000"/>
              </a:spcBef>
              <a:spcAft>
                <a:spcPts val="0"/>
              </a:spcAft>
              <a:buSzPts val="1300"/>
              <a:buChar char="●"/>
            </a:pPr>
            <a:r>
              <a:rPr lang="en"/>
              <a:t>Most data structures provide some common operations including </a:t>
            </a:r>
            <a:r>
              <a:rPr lang="en" b="1" i="1">
                <a:solidFill>
                  <a:srgbClr val="FF0000"/>
                </a:solidFill>
              </a:rPr>
              <a:t>store</a:t>
            </a:r>
            <a:r>
              <a:rPr lang="en"/>
              <a:t>, </a:t>
            </a:r>
            <a:r>
              <a:rPr lang="en" b="1" i="1">
                <a:solidFill>
                  <a:srgbClr val="FF0000"/>
                </a:solidFill>
              </a:rPr>
              <a:t>retrieve</a:t>
            </a:r>
            <a:r>
              <a:rPr lang="en"/>
              <a:t>, </a:t>
            </a:r>
            <a:r>
              <a:rPr lang="en" b="1" i="1">
                <a:solidFill>
                  <a:srgbClr val="FF0000"/>
                </a:solidFill>
              </a:rPr>
              <a:t>remove</a:t>
            </a:r>
            <a:r>
              <a:rPr lang="en"/>
              <a:t>, and </a:t>
            </a:r>
            <a:r>
              <a:rPr lang="en" b="1" i="1">
                <a:solidFill>
                  <a:srgbClr val="FF0000"/>
                </a:solidFill>
              </a:rPr>
              <a:t>size</a:t>
            </a:r>
            <a:r>
              <a:rPr lang="en"/>
              <a:t>.</a:t>
            </a:r>
            <a:endParaRPr/>
          </a:p>
          <a:p>
            <a:pPr marL="457200" lvl="0" indent="-311150" algn="l" rtl="0">
              <a:lnSpc>
                <a:spcPct val="100000"/>
              </a:lnSpc>
              <a:spcBef>
                <a:spcPts val="1000"/>
              </a:spcBef>
              <a:spcAft>
                <a:spcPts val="0"/>
              </a:spcAft>
              <a:buSzPts val="1300"/>
              <a:buChar char="●"/>
            </a:pPr>
            <a:r>
              <a:rPr lang="en"/>
              <a:t>An </a:t>
            </a:r>
            <a:r>
              <a:rPr lang="en" b="1" i="1">
                <a:solidFill>
                  <a:srgbClr val="FF0000"/>
                </a:solidFill>
              </a:rPr>
              <a:t>abstract data type</a:t>
            </a:r>
            <a:r>
              <a:rPr lang="en"/>
              <a:t> (</a:t>
            </a:r>
            <a:r>
              <a:rPr lang="en" b="1" i="1">
                <a:solidFill>
                  <a:srgbClr val="FF0000"/>
                </a:solidFill>
              </a:rPr>
              <a:t>ADT</a:t>
            </a:r>
            <a:r>
              <a:rPr lang="en"/>
              <a:t>) defines the behavior of a data structure from the point of view of its </a:t>
            </a:r>
            <a:r>
              <a:rPr lang="en" b="1" i="1">
                <a:solidFill>
                  <a:srgbClr val="FF0000"/>
                </a:solidFill>
              </a:rPr>
              <a:t>user</a:t>
            </a:r>
            <a:r>
              <a:rPr lang="en"/>
              <a:t>.</a:t>
            </a:r>
            <a:endParaRPr/>
          </a:p>
          <a:p>
            <a:pPr marL="914400" lvl="1" indent="-298450" algn="l" rtl="0">
              <a:lnSpc>
                <a:spcPct val="100000"/>
              </a:lnSpc>
              <a:spcBef>
                <a:spcPts val="0"/>
              </a:spcBef>
              <a:spcAft>
                <a:spcPts val="0"/>
              </a:spcAft>
              <a:buSzPts val="1100"/>
              <a:buChar char="○"/>
            </a:pPr>
            <a:r>
              <a:rPr lang="en"/>
              <a:t>This includes the possible values and the operations available.</a:t>
            </a:r>
            <a:endParaRPr/>
          </a:p>
          <a:p>
            <a:pPr marL="457200" lvl="0" indent="-311150" algn="l" rtl="0">
              <a:lnSpc>
                <a:spcPct val="100000"/>
              </a:lnSpc>
              <a:spcBef>
                <a:spcPts val="1000"/>
              </a:spcBef>
              <a:spcAft>
                <a:spcPts val="0"/>
              </a:spcAft>
              <a:buSzPts val="1300"/>
              <a:buChar char="●"/>
            </a:pPr>
            <a:r>
              <a:rPr lang="en"/>
              <a:t>Choosing the ADT that provides operations suitable for solving a problem usually isn't enough.</a:t>
            </a:r>
            <a:endParaRPr/>
          </a:p>
          <a:p>
            <a:pPr marL="914400" lvl="1" indent="-298450" algn="l" rtl="0">
              <a:lnSpc>
                <a:spcPct val="100000"/>
              </a:lnSpc>
              <a:spcBef>
                <a:spcPts val="0"/>
              </a:spcBef>
              <a:spcAft>
                <a:spcPts val="0"/>
              </a:spcAft>
              <a:buSzPts val="1100"/>
              <a:buChar char="○"/>
            </a:pPr>
            <a:r>
              <a:rPr lang="en"/>
              <a:t>Each ADT may be implemented in </a:t>
            </a:r>
            <a:r>
              <a:rPr lang="en" b="1" i="1">
                <a:solidFill>
                  <a:srgbClr val="FF0000"/>
                </a:solidFill>
              </a:rPr>
              <a:t>multiple ways</a:t>
            </a:r>
            <a:r>
              <a:rPr lang="en"/>
              <a:t>.</a:t>
            </a:r>
            <a:endParaRPr/>
          </a:p>
          <a:p>
            <a:pPr marL="914400" lvl="1" indent="-298450" algn="l" rtl="0">
              <a:lnSpc>
                <a:spcPct val="100000"/>
              </a:lnSpc>
              <a:spcBef>
                <a:spcPts val="0"/>
              </a:spcBef>
              <a:spcAft>
                <a:spcPts val="0"/>
              </a:spcAft>
              <a:buSzPts val="1100"/>
              <a:buChar char="○"/>
            </a:pPr>
            <a:r>
              <a:rPr lang="en"/>
              <a:t>Choosing the </a:t>
            </a:r>
            <a:r>
              <a:rPr lang="en" b="1" i="1">
                <a:solidFill>
                  <a:srgbClr val="FF0000"/>
                </a:solidFill>
              </a:rPr>
              <a:t>correct implementation</a:t>
            </a:r>
            <a:r>
              <a:rPr lang="en"/>
              <a:t> is also important.</a:t>
            </a:r>
            <a:endParaRPr/>
          </a:p>
          <a:p>
            <a:pPr marL="914400" lvl="1" indent="-298450" algn="l" rtl="0">
              <a:lnSpc>
                <a:spcPct val="100000"/>
              </a:lnSpc>
              <a:spcBef>
                <a:spcPts val="0"/>
              </a:spcBef>
              <a:spcAft>
                <a:spcPts val="0"/>
              </a:spcAft>
              <a:buSzPts val="1100"/>
              <a:buChar char="○"/>
            </a:pPr>
            <a:r>
              <a:rPr lang="en"/>
              <a:t>This requires understanding the </a:t>
            </a:r>
            <a:r>
              <a:rPr lang="en" b="1" i="1">
                <a:solidFill>
                  <a:srgbClr val="FF0000"/>
                </a:solidFill>
              </a:rPr>
              <a:t>complexity</a:t>
            </a:r>
            <a:r>
              <a:rPr lang="en">
                <a:solidFill>
                  <a:srgbClr val="FF0000"/>
                </a:solidFill>
              </a:rPr>
              <a:t> </a:t>
            </a:r>
            <a:r>
              <a:rPr lang="en"/>
              <a:t>of each operation under different circumstances. </a:t>
            </a:r>
            <a:endParaRPr/>
          </a:p>
        </p:txBody>
      </p:sp>
      <p:sp>
        <p:nvSpPr>
          <p:cNvPr id="390" name="Google Shape;390;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391" name="Google Shape;391;p69"/>
          <p:cNvSpPr txBox="1">
            <a:spLocks noGrp="1"/>
          </p:cNvSpPr>
          <p:nvPr>
            <p:ph type="body" idx="2"/>
          </p:nvPr>
        </p:nvSpPr>
        <p:spPr>
          <a:xfrm>
            <a:off x="4680000" y="3372124"/>
            <a:ext cx="39999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Choosing the correct </a:t>
            </a:r>
            <a:r>
              <a:rPr lang="en" sz="1200" b="1" i="1">
                <a:solidFill>
                  <a:srgbClr val="FF0000"/>
                </a:solidFill>
                <a:latin typeface="Arial"/>
                <a:ea typeface="Arial"/>
                <a:cs typeface="Arial"/>
                <a:sym typeface="Arial"/>
              </a:rPr>
              <a:t>abstract data type</a:t>
            </a:r>
            <a:r>
              <a:rPr lang="en" sz="1200">
                <a:solidFill>
                  <a:srgbClr val="000000"/>
                </a:solidFill>
                <a:latin typeface="Arial"/>
                <a:ea typeface="Arial"/>
                <a:cs typeface="Arial"/>
                <a:sym typeface="Arial"/>
              </a:rPr>
              <a:t> involves understanding the nature and constraints of the problem being solved.</a:t>
            </a:r>
            <a:endParaRPr sz="1200">
              <a:solidFill>
                <a:srgbClr val="000000"/>
              </a:solidFill>
              <a:latin typeface="Arial"/>
              <a:ea typeface="Arial"/>
              <a:cs typeface="Arial"/>
              <a:sym typeface="Arial"/>
            </a:endParaRPr>
          </a:p>
        </p:txBody>
      </p:sp>
      <p:sp>
        <p:nvSpPr>
          <p:cNvPr id="392" name="Google Shape;392;p69"/>
          <p:cNvSpPr txBox="1">
            <a:spLocks noGrp="1"/>
          </p:cNvSpPr>
          <p:nvPr>
            <p:ph type="body" idx="2"/>
          </p:nvPr>
        </p:nvSpPr>
        <p:spPr>
          <a:xfrm>
            <a:off x="4680000" y="4119000"/>
            <a:ext cx="3999900" cy="861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Choosing the correct </a:t>
            </a:r>
            <a:r>
              <a:rPr lang="en" sz="1200" b="1" i="1">
                <a:solidFill>
                  <a:srgbClr val="FF0000"/>
                </a:solidFill>
                <a:latin typeface="Arial"/>
                <a:ea typeface="Arial"/>
                <a:cs typeface="Arial"/>
                <a:sym typeface="Arial"/>
              </a:rPr>
              <a:t>implementation</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involves understanding which </a:t>
            </a:r>
            <a:r>
              <a:rPr lang="en" sz="1200" b="1" i="1">
                <a:solidFill>
                  <a:srgbClr val="FF0000"/>
                </a:solidFill>
                <a:latin typeface="Arial"/>
                <a:ea typeface="Arial"/>
                <a:cs typeface="Arial"/>
                <a:sym typeface="Arial"/>
              </a:rPr>
              <a:t>operations </a:t>
            </a:r>
            <a:r>
              <a:rPr lang="en" sz="1200">
                <a:solidFill>
                  <a:srgbClr val="000000"/>
                </a:solidFill>
                <a:latin typeface="Arial"/>
                <a:ea typeface="Arial"/>
                <a:cs typeface="Arial"/>
                <a:sym typeface="Arial"/>
              </a:rPr>
              <a:t>will be used the most and which of the available options provides the</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most efficient implementation</a:t>
            </a:r>
            <a:r>
              <a:rPr lang="en" sz="1200">
                <a:solidFill>
                  <a:srgbClr val="000000"/>
                </a:solidFill>
                <a:latin typeface="Arial"/>
                <a:ea typeface="Arial"/>
                <a:cs typeface="Arial"/>
                <a:sym typeface="Arial"/>
              </a:rPr>
              <a:t> of those operations. </a:t>
            </a:r>
            <a:endParaRPr sz="1200">
              <a:solidFill>
                <a:srgbClr val="000000"/>
              </a:solidFill>
              <a:latin typeface="Arial"/>
              <a:ea typeface="Arial"/>
              <a:cs typeface="Arial"/>
              <a:sym typeface="Arial"/>
            </a:endParaRPr>
          </a:p>
        </p:txBody>
      </p:sp>
      <p:pic>
        <p:nvPicPr>
          <p:cNvPr id="393" name="Google Shape;393;p69" descr="queue.jpg"/>
          <p:cNvPicPr preferRelativeResize="0"/>
          <p:nvPr/>
        </p:nvPicPr>
        <p:blipFill rotWithShape="1">
          <a:blip r:embed="rId3">
            <a:alphaModFix/>
          </a:blip>
          <a:srcRect/>
          <a:stretch/>
        </p:blipFill>
        <p:spPr>
          <a:xfrm>
            <a:off x="6542443" y="1356875"/>
            <a:ext cx="1985057" cy="1928375"/>
          </a:xfrm>
          <a:prstGeom prst="rect">
            <a:avLst/>
          </a:prstGeom>
          <a:noFill/>
          <a:ln>
            <a:noFill/>
          </a:ln>
        </p:spPr>
      </p:pic>
      <p:pic>
        <p:nvPicPr>
          <p:cNvPr id="394" name="Google Shape;394;p69"/>
          <p:cNvPicPr preferRelativeResize="0"/>
          <p:nvPr/>
        </p:nvPicPr>
        <p:blipFill rotWithShape="1">
          <a:blip r:embed="rId4">
            <a:alphaModFix/>
          </a:blip>
          <a:srcRect t="6379" b="7413"/>
          <a:stretch/>
        </p:blipFill>
        <p:spPr>
          <a:xfrm>
            <a:off x="4832400" y="1356875"/>
            <a:ext cx="1865175" cy="1966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8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8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91"/>
                                        </p:tgtEl>
                                        <p:attrNameLst>
                                          <p:attrName>style.visibility</p:attrName>
                                        </p:attrNameLst>
                                      </p:cBhvr>
                                      <p:to>
                                        <p:strVal val="visible"/>
                                      </p:to>
                                    </p:set>
                                    <p:animEffect transition="in" filter="fade">
                                      <p:cBhvr>
                                        <p:cTn id="43" dur="1000"/>
                                        <p:tgtEl>
                                          <p:spTgt spid="39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92"/>
                                        </p:tgtEl>
                                        <p:attrNameLst>
                                          <p:attrName>style.visibility</p:attrName>
                                        </p:attrNameLst>
                                      </p:cBhvr>
                                      <p:to>
                                        <p:strVal val="visible"/>
                                      </p:to>
                                    </p:set>
                                    <p:animEffect transition="in" filter="fade">
                                      <p:cBhvr>
                                        <p:cTn id="48" dur="1000"/>
                                        <p:tgtEl>
                                          <p:spTgt spid="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70"/>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Gotta Catch 'em All!</a:t>
            </a:r>
            <a:endParaRPr/>
          </a:p>
        </p:txBody>
      </p:sp>
      <p:sp>
        <p:nvSpPr>
          <p:cNvPr id="400" name="Google Shape;400;p70"/>
          <p:cNvSpPr txBox="1">
            <a:spLocks noGrp="1"/>
          </p:cNvSpPr>
          <p:nvPr>
            <p:ph type="body" idx="1"/>
          </p:nvPr>
        </p:nvSpPr>
        <p:spPr>
          <a:xfrm>
            <a:off x="365650" y="84800"/>
            <a:ext cx="4166400" cy="4871700"/>
          </a:xfrm>
          <a:prstGeom prst="rect">
            <a:avLst/>
          </a:prstGeom>
        </p:spPr>
        <p:txBody>
          <a:bodyPr spcFirstLastPara="1" wrap="square" lIns="91425" tIns="91425" rIns="91425" bIns="91425" anchor="ctr" anchorCtr="0">
            <a:spAutoFit/>
          </a:bodyPr>
          <a:lstStyle/>
          <a:p>
            <a:pPr marL="457200" lvl="0" indent="-323850" algn="l" rtl="0">
              <a:spcBef>
                <a:spcPts val="0"/>
              </a:spcBef>
              <a:spcAft>
                <a:spcPts val="0"/>
              </a:spcAft>
              <a:buSzPts val="1500"/>
              <a:buChar char="●"/>
            </a:pPr>
            <a:r>
              <a:rPr lang="en" sz="1500" dirty="0"/>
              <a:t>Pokémon trainers use a Pokédex to keep track of the Pokémon that they have captured.</a:t>
            </a:r>
            <a:endParaRPr sz="1500" dirty="0"/>
          </a:p>
          <a:p>
            <a:pPr marL="457200" lvl="0" indent="-323850" algn="l" rtl="0">
              <a:spcBef>
                <a:spcPts val="1000"/>
              </a:spcBef>
              <a:spcAft>
                <a:spcPts val="0"/>
              </a:spcAft>
              <a:buSzPts val="1500"/>
              <a:buChar char="●"/>
            </a:pPr>
            <a:r>
              <a:rPr lang="en" sz="1500" dirty="0"/>
              <a:t>When encountering a Pokémon in the wild, </a:t>
            </a:r>
            <a:r>
              <a:rPr lang="en" sz="1500" dirty="0">
                <a:highlight>
                  <a:srgbClr val="FFFF00"/>
                </a:highlight>
              </a:rPr>
              <a:t>it’s important for a trainer to know whether or not they have already captured that species.</a:t>
            </a:r>
            <a:endParaRPr sz="1500" dirty="0">
              <a:highlight>
                <a:srgbClr val="FFFF00"/>
              </a:highlight>
            </a:endParaRPr>
          </a:p>
          <a:p>
            <a:pPr marL="457200" lvl="0" indent="-323850" algn="l" rtl="0">
              <a:spcBef>
                <a:spcPts val="1000"/>
              </a:spcBef>
              <a:spcAft>
                <a:spcPts val="0"/>
              </a:spcAft>
              <a:buSzPts val="1500"/>
              <a:buChar char="●"/>
            </a:pPr>
            <a:r>
              <a:rPr lang="en" sz="1500" dirty="0"/>
              <a:t>In order to implement the Pokédex, we will need a data structure that meets the following requirements:</a:t>
            </a:r>
            <a:endParaRPr sz="1500" dirty="0"/>
          </a:p>
          <a:p>
            <a:pPr marL="914400" lvl="1" indent="-311150" algn="l" rtl="0">
              <a:spcBef>
                <a:spcPts val="0"/>
              </a:spcBef>
              <a:spcAft>
                <a:spcPts val="0"/>
              </a:spcAft>
              <a:buSzPts val="1300"/>
              <a:buChar char="○"/>
            </a:pPr>
            <a:r>
              <a:rPr lang="en" sz="1300" b="1" i="1" dirty="0">
                <a:solidFill>
                  <a:srgbClr val="FF0000"/>
                </a:solidFill>
                <a:highlight>
                  <a:srgbClr val="FFFF00"/>
                </a:highlight>
              </a:rPr>
              <a:t>Quickly search</a:t>
            </a:r>
            <a:r>
              <a:rPr lang="en" sz="1300" dirty="0">
                <a:highlight>
                  <a:srgbClr val="FFFF00"/>
                </a:highlight>
              </a:rPr>
              <a:t> </a:t>
            </a:r>
            <a:r>
              <a:rPr lang="en" sz="1300" dirty="0"/>
              <a:t>to determine whether or not a specific Pokémon is already in the collection.</a:t>
            </a:r>
            <a:endParaRPr sz="1300" dirty="0"/>
          </a:p>
          <a:p>
            <a:pPr marL="914400" lvl="1" indent="-311150" algn="l" rtl="0">
              <a:spcBef>
                <a:spcPts val="0"/>
              </a:spcBef>
              <a:spcAft>
                <a:spcPts val="0"/>
              </a:spcAft>
              <a:buSzPts val="1300"/>
              <a:buChar char="○"/>
            </a:pPr>
            <a:r>
              <a:rPr lang="en" sz="1300" b="1" i="1" dirty="0">
                <a:solidFill>
                  <a:srgbClr val="FF0000"/>
                </a:solidFill>
              </a:rPr>
              <a:t>Print </a:t>
            </a:r>
            <a:r>
              <a:rPr lang="en" sz="1300" dirty="0"/>
              <a:t>all of the Pokémon in our Pokédex </a:t>
            </a:r>
            <a:r>
              <a:rPr lang="en" sz="1300" b="1" i="1" dirty="0">
                <a:solidFill>
                  <a:srgbClr val="FF0000"/>
                </a:solidFill>
                <a:highlight>
                  <a:srgbClr val="FFFF00"/>
                </a:highlight>
              </a:rPr>
              <a:t>in order by number</a:t>
            </a:r>
            <a:r>
              <a:rPr lang="en" sz="1300" dirty="0">
                <a:highlight>
                  <a:srgbClr val="FFFF00"/>
                </a:highlight>
              </a:rPr>
              <a:t>.</a:t>
            </a:r>
            <a:endParaRPr sz="1300" dirty="0">
              <a:highlight>
                <a:srgbClr val="FFFF00"/>
              </a:highlight>
            </a:endParaRPr>
          </a:p>
          <a:p>
            <a:pPr marL="457200" lvl="0" indent="-323850" algn="l" rtl="0">
              <a:spcBef>
                <a:spcPts val="1000"/>
              </a:spcBef>
              <a:spcAft>
                <a:spcPts val="0"/>
              </a:spcAft>
              <a:buSzPts val="1500"/>
              <a:buChar char="●"/>
            </a:pPr>
            <a:r>
              <a:rPr lang="en" sz="1500" dirty="0"/>
              <a:t>What is the best data structure to use that meets both of those requirements?</a:t>
            </a:r>
            <a:endParaRPr sz="1500" dirty="0"/>
          </a:p>
        </p:txBody>
      </p:sp>
      <p:pic>
        <p:nvPicPr>
          <p:cNvPr id="401" name="Google Shape;401;p70"/>
          <p:cNvPicPr preferRelativeResize="0"/>
          <p:nvPr/>
        </p:nvPicPr>
        <p:blipFill>
          <a:blip r:embed="rId3">
            <a:alphaModFix/>
          </a:blip>
          <a:stretch>
            <a:fillRect/>
          </a:stretch>
        </p:blipFill>
        <p:spPr>
          <a:xfrm>
            <a:off x="5283213" y="1618900"/>
            <a:ext cx="1747725" cy="3314224"/>
          </a:xfrm>
          <a:prstGeom prst="rect">
            <a:avLst/>
          </a:prstGeom>
          <a:noFill/>
          <a:ln>
            <a:noFill/>
          </a:ln>
        </p:spPr>
      </p:pic>
      <p:sp>
        <p:nvSpPr>
          <p:cNvPr id="402" name="Google Shape;402;p70"/>
          <p:cNvSpPr/>
          <p:nvPr/>
        </p:nvSpPr>
        <p:spPr>
          <a:xfrm>
            <a:off x="7134175" y="1208650"/>
            <a:ext cx="1786200" cy="939600"/>
          </a:xfrm>
          <a:prstGeom prst="wedgeRoundRectCallout">
            <a:avLst>
              <a:gd name="adj1" fmla="val -53296"/>
              <a:gd name="adj2" fmla="val 6943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t>I need to know if it’s worth using my last Razz Berry and an Ultra Ball or not.</a:t>
            </a:r>
            <a:endParaRPr sz="1300"/>
          </a:p>
        </p:txBody>
      </p:sp>
      <p:sp>
        <p:nvSpPr>
          <p:cNvPr id="403" name="Google Shape;403;p70"/>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pic>
        <p:nvPicPr>
          <p:cNvPr id="408" name="Google Shape;408;p71"/>
          <p:cNvPicPr preferRelativeResize="0"/>
          <p:nvPr/>
        </p:nvPicPr>
        <p:blipFill>
          <a:blip r:embed="rId3">
            <a:alphaModFix/>
          </a:blip>
          <a:stretch>
            <a:fillRect/>
          </a:stretch>
        </p:blipFill>
        <p:spPr>
          <a:xfrm>
            <a:off x="364450" y="1229081"/>
            <a:ext cx="3706500" cy="3068637"/>
          </a:xfrm>
          <a:prstGeom prst="rect">
            <a:avLst/>
          </a:prstGeom>
          <a:noFill/>
          <a:ln w="19050" cap="flat" cmpd="sng">
            <a:solidFill>
              <a:srgbClr val="000000"/>
            </a:solidFill>
            <a:prstDash val="solid"/>
            <a:round/>
            <a:headEnd type="none" w="sm" len="sm"/>
            <a:tailEnd type="none" w="sm" len="sm"/>
          </a:ln>
        </p:spPr>
      </p:pic>
      <p:sp>
        <p:nvSpPr>
          <p:cNvPr id="409" name="Google Shape;409;p71"/>
          <p:cNvSpPr txBox="1">
            <a:spLocks noGrp="1"/>
          </p:cNvSpPr>
          <p:nvPr>
            <p:ph type="title"/>
          </p:nvPr>
        </p:nvSpPr>
        <p:spPr>
          <a:xfrm>
            <a:off x="311725" y="196125"/>
            <a:ext cx="3706500" cy="1046700"/>
          </a:xfrm>
          <a:prstGeom prst="rect">
            <a:avLst/>
          </a:prstGeom>
          <a:noFill/>
        </p:spPr>
        <p:txBody>
          <a:bodyPr spcFirstLastPara="1" wrap="square" lIns="91425" tIns="91425" rIns="91425" bIns="91425" anchor="ctr" anchorCtr="0">
            <a:spAutoFit/>
          </a:bodyPr>
          <a:lstStyle/>
          <a:p>
            <a:pPr marL="0" lvl="0" indent="0" algn="l" rtl="0">
              <a:spcBef>
                <a:spcPts val="0"/>
              </a:spcBef>
              <a:spcAft>
                <a:spcPts val="0"/>
              </a:spcAft>
              <a:buNone/>
            </a:pPr>
            <a:r>
              <a:rPr lang="en"/>
              <a:t>The Pokédex as a List</a:t>
            </a:r>
            <a:endParaRPr b="0">
              <a:solidFill>
                <a:srgbClr val="FF00FF"/>
              </a:solidFill>
              <a:latin typeface="Courier New"/>
              <a:ea typeface="Courier New"/>
              <a:cs typeface="Courier New"/>
              <a:sym typeface="Courier New"/>
            </a:endParaRPr>
          </a:p>
        </p:txBody>
      </p:sp>
      <p:sp>
        <p:nvSpPr>
          <p:cNvPr id="410" name="Google Shape;410;p71"/>
          <p:cNvSpPr txBox="1">
            <a:spLocks noGrp="1"/>
          </p:cNvSpPr>
          <p:nvPr>
            <p:ph type="body" idx="1"/>
          </p:nvPr>
        </p:nvSpPr>
        <p:spPr>
          <a:xfrm>
            <a:off x="4568475" y="147425"/>
            <a:ext cx="4166400" cy="4807500"/>
          </a:xfrm>
          <a:prstGeom prst="rect">
            <a:avLst/>
          </a:prstGeom>
        </p:spPr>
        <p:txBody>
          <a:bodyPr spcFirstLastPara="1" wrap="square" lIns="91425" tIns="91425" rIns="91425" bIns="91425" anchor="ctr" anchorCtr="0">
            <a:spAutoFit/>
          </a:bodyPr>
          <a:lstStyle/>
          <a:p>
            <a:pPr marL="457200" lvl="0" indent="-317500" algn="l" rtl="0">
              <a:spcBef>
                <a:spcPts val="0"/>
              </a:spcBef>
              <a:spcAft>
                <a:spcPts val="0"/>
              </a:spcAft>
              <a:buSzPts val="1400"/>
              <a:buChar char="●"/>
            </a:pPr>
            <a:r>
              <a:rPr lang="en" sz="1400" dirty="0"/>
              <a:t>Simply add each Pokémon to the end of the list as it is captured.</a:t>
            </a:r>
            <a:endParaRPr sz="1400" dirty="0"/>
          </a:p>
          <a:p>
            <a:pPr marL="914400" lvl="1" indent="-304800" algn="l" rtl="0">
              <a:spcBef>
                <a:spcPts val="0"/>
              </a:spcBef>
              <a:spcAft>
                <a:spcPts val="0"/>
              </a:spcAft>
              <a:buSzPts val="1200"/>
              <a:buChar char="○"/>
            </a:pPr>
            <a:r>
              <a:rPr lang="en" sz="1200" dirty="0"/>
              <a:t>This is a </a:t>
            </a:r>
            <a:r>
              <a:rPr lang="en" sz="1200" b="1" i="1" dirty="0">
                <a:solidFill>
                  <a:srgbClr val="FF0000"/>
                </a:solidFill>
              </a:rPr>
              <a:t>constant time</a:t>
            </a:r>
            <a:r>
              <a:rPr lang="en" sz="1200" dirty="0"/>
              <a:t> (</a:t>
            </a:r>
            <a:r>
              <a:rPr lang="en" sz="1200" b="1" dirty="0"/>
              <a:t>O(1)</a:t>
            </a:r>
            <a:r>
              <a:rPr lang="en" sz="1200" dirty="0"/>
              <a:t>) operation.</a:t>
            </a:r>
            <a:endParaRPr sz="1200" dirty="0"/>
          </a:p>
          <a:p>
            <a:pPr marL="457200" lvl="0" indent="-317500" algn="l" rtl="0">
              <a:spcBef>
                <a:spcPts val="1000"/>
              </a:spcBef>
              <a:spcAft>
                <a:spcPts val="0"/>
              </a:spcAft>
              <a:buSzPts val="1400"/>
              <a:buChar char="●"/>
            </a:pPr>
            <a:r>
              <a:rPr lang="en" sz="1400" dirty="0"/>
              <a:t>How will you determine whether or not you have captured a specific Pokémon when you encounter it in the wild?</a:t>
            </a:r>
            <a:endParaRPr sz="1400" dirty="0"/>
          </a:p>
          <a:p>
            <a:pPr marL="914400" lvl="1" indent="-304800" algn="l" rtl="0">
              <a:spcBef>
                <a:spcPts val="0"/>
              </a:spcBef>
              <a:spcAft>
                <a:spcPts val="0"/>
              </a:spcAft>
              <a:buSzPts val="1200"/>
              <a:buChar char="○"/>
            </a:pPr>
            <a:r>
              <a:rPr lang="en" sz="1200" dirty="0"/>
              <a:t>Perform a </a:t>
            </a:r>
            <a:r>
              <a:rPr lang="en" sz="1200" b="1" i="1" dirty="0">
                <a:solidFill>
                  <a:srgbClr val="FF0000"/>
                </a:solidFill>
                <a:highlight>
                  <a:srgbClr val="FFFF00"/>
                </a:highlight>
              </a:rPr>
              <a:t>linear search</a:t>
            </a:r>
            <a:r>
              <a:rPr lang="en" sz="1200" dirty="0">
                <a:highlight>
                  <a:srgbClr val="FFFF00"/>
                </a:highlight>
              </a:rPr>
              <a:t>; an </a:t>
            </a:r>
            <a:r>
              <a:rPr lang="en" sz="1200" b="1" dirty="0">
                <a:solidFill>
                  <a:srgbClr val="FF0000"/>
                </a:solidFill>
                <a:highlight>
                  <a:srgbClr val="FFFF00"/>
                </a:highlight>
              </a:rPr>
              <a:t>O(N)</a:t>
            </a:r>
            <a:r>
              <a:rPr lang="en" sz="1200" dirty="0">
                <a:highlight>
                  <a:srgbClr val="FFFF00"/>
                </a:highlight>
              </a:rPr>
              <a:t> </a:t>
            </a:r>
            <a:r>
              <a:rPr lang="en" sz="1200" dirty="0"/>
              <a:t>operation.</a:t>
            </a:r>
            <a:endParaRPr sz="1200" dirty="0"/>
          </a:p>
          <a:p>
            <a:pPr marL="457200" lvl="0" indent="-317500" algn="l" rtl="0">
              <a:spcBef>
                <a:spcPts val="1000"/>
              </a:spcBef>
              <a:spcAft>
                <a:spcPts val="0"/>
              </a:spcAft>
              <a:buSzPts val="1400"/>
              <a:buChar char="●"/>
            </a:pPr>
            <a:r>
              <a:rPr lang="en" sz="1400" dirty="0"/>
              <a:t>What is the complexity of maintaining the Pokédex over time?</a:t>
            </a:r>
            <a:endParaRPr sz="1400" dirty="0"/>
          </a:p>
          <a:p>
            <a:pPr marL="914400" lvl="1" indent="-304800" algn="l" rtl="0">
              <a:spcBef>
                <a:spcPts val="0"/>
              </a:spcBef>
              <a:spcAft>
                <a:spcPts val="0"/>
              </a:spcAft>
              <a:buSzPts val="1200"/>
              <a:buChar char="○"/>
            </a:pPr>
            <a:r>
              <a:rPr lang="en" sz="1200" dirty="0"/>
              <a:t>Each time you encounter a Pokémon, you will perform a linear search </a:t>
            </a:r>
            <a:r>
              <a:rPr lang="en" sz="1200" dirty="0">
                <a:highlight>
                  <a:srgbClr val="FFFF00"/>
                </a:highlight>
              </a:rPr>
              <a:t>(</a:t>
            </a:r>
            <a:r>
              <a:rPr lang="en" sz="1200" b="1" dirty="0">
                <a:solidFill>
                  <a:srgbClr val="FF0000"/>
                </a:solidFill>
                <a:highlight>
                  <a:srgbClr val="FFFF00"/>
                </a:highlight>
              </a:rPr>
              <a:t>O(N)</a:t>
            </a:r>
            <a:r>
              <a:rPr lang="en" sz="1200" dirty="0">
                <a:highlight>
                  <a:srgbClr val="FFFF00"/>
                </a:highlight>
              </a:rPr>
              <a:t>).</a:t>
            </a:r>
            <a:endParaRPr sz="1200" dirty="0">
              <a:highlight>
                <a:srgbClr val="FFFF00"/>
              </a:highlight>
            </a:endParaRPr>
          </a:p>
          <a:p>
            <a:pPr marL="914400" lvl="1" indent="-304800" algn="l" rtl="0">
              <a:spcBef>
                <a:spcPts val="0"/>
              </a:spcBef>
              <a:spcAft>
                <a:spcPts val="0"/>
              </a:spcAft>
              <a:buSzPts val="1200"/>
              <a:buChar char="○"/>
            </a:pPr>
            <a:r>
              <a:rPr lang="en" sz="1200" dirty="0"/>
              <a:t>The complexity over time will be </a:t>
            </a:r>
            <a:r>
              <a:rPr lang="en" sz="1200" b="1" dirty="0">
                <a:solidFill>
                  <a:srgbClr val="FF0000"/>
                </a:solidFill>
                <a:highlight>
                  <a:srgbClr val="FFFF00"/>
                </a:highlight>
              </a:rPr>
              <a:t>O(N</a:t>
            </a:r>
            <a:r>
              <a:rPr lang="en" sz="1200" b="1" baseline="30000" dirty="0">
                <a:solidFill>
                  <a:srgbClr val="FF0000"/>
                </a:solidFill>
                <a:highlight>
                  <a:srgbClr val="FFFF00"/>
                </a:highlight>
              </a:rPr>
              <a:t>2</a:t>
            </a:r>
            <a:r>
              <a:rPr lang="en" sz="1200" b="1" dirty="0">
                <a:solidFill>
                  <a:srgbClr val="FF0000"/>
                </a:solidFill>
                <a:highlight>
                  <a:srgbClr val="FFFF00"/>
                </a:highlight>
              </a:rPr>
              <a:t>)</a:t>
            </a:r>
            <a:r>
              <a:rPr lang="en" sz="1200" dirty="0">
                <a:highlight>
                  <a:srgbClr val="FFFF00"/>
                </a:highlight>
              </a:rPr>
              <a:t>.</a:t>
            </a:r>
            <a:endParaRPr sz="1200" dirty="0">
              <a:highlight>
                <a:srgbClr val="FFFF00"/>
              </a:highlight>
            </a:endParaRPr>
          </a:p>
          <a:p>
            <a:pPr marL="457200" lvl="0" indent="-317500" algn="l" rtl="0">
              <a:spcBef>
                <a:spcPts val="1000"/>
              </a:spcBef>
              <a:spcAft>
                <a:spcPts val="0"/>
              </a:spcAft>
              <a:buSzPts val="1400"/>
              <a:buChar char="●"/>
            </a:pPr>
            <a:r>
              <a:rPr lang="en" sz="1400" dirty="0"/>
              <a:t>How will you print the Pokémon in order?</a:t>
            </a:r>
            <a:endParaRPr sz="1400" dirty="0"/>
          </a:p>
          <a:p>
            <a:pPr marL="914400" lvl="1" indent="-304800" algn="l" rtl="0">
              <a:spcBef>
                <a:spcPts val="0"/>
              </a:spcBef>
              <a:spcAft>
                <a:spcPts val="0"/>
              </a:spcAft>
              <a:buSzPts val="1200"/>
              <a:buChar char="○"/>
            </a:pPr>
            <a:r>
              <a:rPr lang="en" sz="1200" dirty="0"/>
              <a:t>Search the list for the Pokémon with the next smallest number.</a:t>
            </a:r>
            <a:endParaRPr sz="1200" dirty="0"/>
          </a:p>
          <a:p>
            <a:pPr marL="914400" lvl="1" indent="-304800" algn="l" rtl="0">
              <a:spcBef>
                <a:spcPts val="0"/>
              </a:spcBef>
              <a:spcAft>
                <a:spcPts val="0"/>
              </a:spcAft>
              <a:buSzPts val="1200"/>
              <a:buChar char="○"/>
            </a:pPr>
            <a:r>
              <a:rPr lang="en" sz="1200" dirty="0"/>
              <a:t>To print N Pokémon, you will need to perform N linear searches; again </a:t>
            </a:r>
            <a:r>
              <a:rPr lang="en" sz="1200" b="1" dirty="0">
                <a:solidFill>
                  <a:srgbClr val="FF0000"/>
                </a:solidFill>
                <a:highlight>
                  <a:srgbClr val="FFFF00"/>
                </a:highlight>
              </a:rPr>
              <a:t>O(N</a:t>
            </a:r>
            <a:r>
              <a:rPr lang="en" sz="1200" b="1" baseline="30000" dirty="0">
                <a:solidFill>
                  <a:srgbClr val="FF0000"/>
                </a:solidFill>
                <a:highlight>
                  <a:srgbClr val="FFFF00"/>
                </a:highlight>
              </a:rPr>
              <a:t>2</a:t>
            </a:r>
            <a:r>
              <a:rPr lang="en" sz="1200" b="1" dirty="0">
                <a:solidFill>
                  <a:srgbClr val="FF0000"/>
                </a:solidFill>
                <a:highlight>
                  <a:srgbClr val="FFFF00"/>
                </a:highlight>
              </a:rPr>
              <a:t>)</a:t>
            </a:r>
            <a:r>
              <a:rPr lang="en" sz="1200" dirty="0">
                <a:highlight>
                  <a:srgbClr val="FFFF00"/>
                </a:highlight>
              </a:rPr>
              <a:t>.</a:t>
            </a:r>
            <a:endParaRPr sz="1200" dirty="0">
              <a:highlight>
                <a:srgbClr val="FFFF00"/>
              </a:highlight>
            </a:endParaRPr>
          </a:p>
          <a:p>
            <a:pPr marL="457200" lvl="0" indent="-317500" algn="l" rtl="0">
              <a:spcBef>
                <a:spcPts val="1000"/>
              </a:spcBef>
              <a:spcAft>
                <a:spcPts val="0"/>
              </a:spcAft>
              <a:buSzPts val="1400"/>
              <a:buChar char="●"/>
            </a:pPr>
            <a:r>
              <a:rPr lang="en" sz="1400" dirty="0"/>
              <a:t>There is probably a better way.</a:t>
            </a:r>
            <a:endParaRPr sz="1400" dirty="0"/>
          </a:p>
        </p:txBody>
      </p:sp>
      <p:sp>
        <p:nvSpPr>
          <p:cNvPr id="411" name="Google Shape;411;p71"/>
          <p:cNvSpPr txBox="1"/>
          <p:nvPr/>
        </p:nvSpPr>
        <p:spPr>
          <a:xfrm>
            <a:off x="364450" y="4429575"/>
            <a:ext cx="37065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What if we try to keep the list in sorted order?</a:t>
            </a:r>
            <a:endParaRPr sz="1200"/>
          </a:p>
        </p:txBody>
      </p:sp>
      <p:sp>
        <p:nvSpPr>
          <p:cNvPr id="412" name="Google Shape;412;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1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11"/>
                                        </p:tgtEl>
                                        <p:attrNameLst>
                                          <p:attrName>style.visibility</p:attrName>
                                        </p:attrNameLst>
                                      </p:cBhvr>
                                      <p:to>
                                        <p:strVal val="visible"/>
                                      </p:to>
                                    </p:set>
                                    <p:animEffect transition="in" filter="fade">
                                      <p:cBhvr>
                                        <p:cTn id="51" dur="1000"/>
                                        <p:tgtEl>
                                          <p:spTgt spid="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72"/>
          <p:cNvSpPr txBox="1">
            <a:spLocks noGrp="1"/>
          </p:cNvSpPr>
          <p:nvPr>
            <p:ph type="title"/>
          </p:nvPr>
        </p:nvSpPr>
        <p:spPr>
          <a:xfrm>
            <a:off x="5264725" y="102800"/>
            <a:ext cx="3706500" cy="1046700"/>
          </a:xfrm>
          <a:prstGeom prst="rect">
            <a:avLst/>
          </a:prstGeom>
          <a:noFill/>
        </p:spPr>
        <p:txBody>
          <a:bodyPr spcFirstLastPara="1" wrap="square" lIns="91425" tIns="91425" rIns="91425" bIns="91425" anchor="t" anchorCtr="0">
            <a:spAutoFit/>
          </a:bodyPr>
          <a:lstStyle/>
          <a:p>
            <a:pPr marL="0" lvl="0" indent="0" algn="l" rtl="0">
              <a:spcBef>
                <a:spcPts val="0"/>
              </a:spcBef>
              <a:spcAft>
                <a:spcPts val="0"/>
              </a:spcAft>
              <a:buNone/>
            </a:pPr>
            <a:r>
              <a:rPr lang="en"/>
              <a:t>The Pokédex as a </a:t>
            </a:r>
            <a:r>
              <a:rPr lang="en" i="1"/>
              <a:t>Sorted </a:t>
            </a:r>
            <a:r>
              <a:rPr lang="en"/>
              <a:t>List</a:t>
            </a:r>
            <a:endParaRPr b="0">
              <a:solidFill>
                <a:srgbClr val="FF00FF"/>
              </a:solidFill>
              <a:latin typeface="Courier New"/>
              <a:ea typeface="Courier New"/>
              <a:cs typeface="Courier New"/>
              <a:sym typeface="Courier New"/>
            </a:endParaRPr>
          </a:p>
        </p:txBody>
      </p:sp>
      <p:sp>
        <p:nvSpPr>
          <p:cNvPr id="418" name="Google Shape;418;p72"/>
          <p:cNvSpPr txBox="1">
            <a:spLocks noGrp="1"/>
          </p:cNvSpPr>
          <p:nvPr>
            <p:ph type="body" idx="1"/>
          </p:nvPr>
        </p:nvSpPr>
        <p:spPr>
          <a:xfrm>
            <a:off x="271538" y="-9559"/>
            <a:ext cx="4499700" cy="5115000"/>
          </a:xfrm>
          <a:prstGeom prst="rect">
            <a:avLst/>
          </a:prstGeom>
        </p:spPr>
        <p:txBody>
          <a:bodyPr spcFirstLastPara="1" wrap="square" lIns="91425" tIns="91425" rIns="91425" bIns="91425" anchor="ctr" anchorCtr="0">
            <a:spAutoFit/>
          </a:bodyPr>
          <a:lstStyle/>
          <a:p>
            <a:pPr marL="457200" marR="0" lvl="0" indent="-311150" algn="l" rtl="0">
              <a:lnSpc>
                <a:spcPct val="115000"/>
              </a:lnSpc>
              <a:spcBef>
                <a:spcPts val="0"/>
              </a:spcBef>
              <a:spcAft>
                <a:spcPts val="0"/>
              </a:spcAft>
              <a:buSzPts val="1300"/>
              <a:buChar char="●"/>
            </a:pPr>
            <a:r>
              <a:rPr lang="en" dirty="0"/>
              <a:t>Keep the list in </a:t>
            </a:r>
            <a:r>
              <a:rPr lang="en" b="1" i="1" dirty="0">
                <a:solidFill>
                  <a:srgbClr val="FF0000"/>
                </a:solidFill>
                <a:highlight>
                  <a:srgbClr val="FFFF00"/>
                </a:highlight>
              </a:rPr>
              <a:t>sorted order</a:t>
            </a:r>
            <a:r>
              <a:rPr lang="en" i="1" dirty="0">
                <a:highlight>
                  <a:srgbClr val="FFFF00"/>
                </a:highlight>
              </a:rPr>
              <a:t>.</a:t>
            </a:r>
            <a:r>
              <a:rPr lang="en" dirty="0">
                <a:highlight>
                  <a:srgbClr val="FFFF00"/>
                </a:highlight>
              </a:rPr>
              <a:t> </a:t>
            </a:r>
            <a:endParaRPr dirty="0">
              <a:highlight>
                <a:srgbClr val="FFFF00"/>
              </a:highlight>
            </a:endParaRPr>
          </a:p>
          <a:p>
            <a:pPr marL="914400" marR="0" lvl="1" indent="-298450" algn="l" rtl="0">
              <a:lnSpc>
                <a:spcPct val="115000"/>
              </a:lnSpc>
              <a:spcBef>
                <a:spcPts val="0"/>
              </a:spcBef>
              <a:spcAft>
                <a:spcPts val="0"/>
              </a:spcAft>
              <a:buSzPts val="1100"/>
              <a:buChar char="○"/>
            </a:pPr>
            <a:r>
              <a:rPr lang="en" dirty="0"/>
              <a:t>Each time a new Pokémon is added, insert it into the correct position in the list.</a:t>
            </a:r>
            <a:endParaRPr dirty="0"/>
          </a:p>
          <a:p>
            <a:pPr marL="457200" marR="0" lvl="0" indent="-311150" algn="l" rtl="0">
              <a:lnSpc>
                <a:spcPct val="115000"/>
              </a:lnSpc>
              <a:spcBef>
                <a:spcPts val="1000"/>
              </a:spcBef>
              <a:spcAft>
                <a:spcPts val="0"/>
              </a:spcAft>
              <a:buSzPts val="1300"/>
              <a:buChar char="●"/>
            </a:pPr>
            <a:r>
              <a:rPr lang="en" dirty="0"/>
              <a:t>This will allow you to perform a </a:t>
            </a:r>
            <a:r>
              <a:rPr lang="en" b="1" i="1" dirty="0">
                <a:solidFill>
                  <a:srgbClr val="FF0000"/>
                </a:solidFill>
                <a:highlight>
                  <a:srgbClr val="FFFF00"/>
                </a:highlight>
              </a:rPr>
              <a:t>binary search</a:t>
            </a:r>
            <a:r>
              <a:rPr lang="en" dirty="0">
                <a:highlight>
                  <a:srgbClr val="FFFF00"/>
                </a:highlight>
              </a:rPr>
              <a:t> </a:t>
            </a:r>
            <a:r>
              <a:rPr lang="en" dirty="0"/>
              <a:t>to determine whether or not you have already captured a Pokémon.</a:t>
            </a:r>
            <a:endParaRPr dirty="0"/>
          </a:p>
          <a:p>
            <a:pPr marL="914400" marR="0" lvl="1" indent="-311150" algn="l" rtl="0">
              <a:lnSpc>
                <a:spcPct val="115000"/>
              </a:lnSpc>
              <a:spcBef>
                <a:spcPts val="0"/>
              </a:spcBef>
              <a:spcAft>
                <a:spcPts val="0"/>
              </a:spcAft>
              <a:buSzPts val="1300"/>
              <a:buChar char="○"/>
            </a:pPr>
            <a:r>
              <a:rPr lang="en" sz="1300" dirty="0"/>
              <a:t>This is an </a:t>
            </a:r>
            <a:r>
              <a:rPr lang="en" sz="1300" b="1" dirty="0">
                <a:solidFill>
                  <a:srgbClr val="FF0000"/>
                </a:solidFill>
                <a:highlight>
                  <a:srgbClr val="FFFF00"/>
                </a:highlight>
              </a:rPr>
              <a:t>O(log</a:t>
            </a:r>
            <a:r>
              <a:rPr lang="en" sz="1300" b="1" baseline="-25000" dirty="0">
                <a:solidFill>
                  <a:srgbClr val="FF0000"/>
                </a:solidFill>
                <a:highlight>
                  <a:srgbClr val="FFFF00"/>
                </a:highlight>
              </a:rPr>
              <a:t>2</a:t>
            </a:r>
            <a:r>
              <a:rPr lang="en" sz="1300" b="1" dirty="0">
                <a:solidFill>
                  <a:srgbClr val="FF0000"/>
                </a:solidFill>
                <a:highlight>
                  <a:srgbClr val="FFFF00"/>
                </a:highlight>
              </a:rPr>
              <a:t>N)</a:t>
            </a:r>
            <a:r>
              <a:rPr lang="en" sz="1300" dirty="0">
                <a:highlight>
                  <a:srgbClr val="FFFF00"/>
                </a:highlight>
              </a:rPr>
              <a:t> </a:t>
            </a:r>
            <a:r>
              <a:rPr lang="en" sz="1300" dirty="0"/>
              <a:t>operation.</a:t>
            </a:r>
            <a:endParaRPr sz="1300" dirty="0"/>
          </a:p>
          <a:p>
            <a:pPr marL="457200" lvl="0" indent="-311150" algn="l" rtl="0">
              <a:spcBef>
                <a:spcPts val="1000"/>
              </a:spcBef>
              <a:spcAft>
                <a:spcPts val="0"/>
              </a:spcAft>
              <a:buSzPts val="1300"/>
              <a:buChar char="●"/>
            </a:pPr>
            <a:r>
              <a:rPr lang="en" dirty="0"/>
              <a:t>What is the complexity of searching the Pokédex over time?</a:t>
            </a:r>
            <a:endParaRPr dirty="0"/>
          </a:p>
          <a:p>
            <a:pPr marL="914400" lvl="1" indent="-298450" algn="l" rtl="0">
              <a:spcBef>
                <a:spcPts val="0"/>
              </a:spcBef>
              <a:spcAft>
                <a:spcPts val="0"/>
              </a:spcAft>
              <a:buSzPts val="1100"/>
              <a:buChar char="○"/>
            </a:pPr>
            <a:r>
              <a:rPr lang="en" dirty="0"/>
              <a:t>Each time you encounter a Pokémon, you will perform a </a:t>
            </a:r>
            <a:r>
              <a:rPr lang="en" b="1" i="1" dirty="0">
                <a:solidFill>
                  <a:srgbClr val="FF0000"/>
                </a:solidFill>
              </a:rPr>
              <a:t>binary search</a:t>
            </a:r>
            <a:r>
              <a:rPr lang="en" dirty="0"/>
              <a:t>.</a:t>
            </a:r>
            <a:endParaRPr dirty="0"/>
          </a:p>
          <a:p>
            <a:pPr marL="914400" lvl="1" indent="-298450" algn="l" rtl="0">
              <a:spcBef>
                <a:spcPts val="0"/>
              </a:spcBef>
              <a:spcAft>
                <a:spcPts val="0"/>
              </a:spcAft>
              <a:buSzPts val="1100"/>
              <a:buChar char="○"/>
            </a:pPr>
            <a:r>
              <a:rPr lang="en" dirty="0"/>
              <a:t>The complexity over time will be </a:t>
            </a:r>
            <a:r>
              <a:rPr lang="en" b="1" dirty="0">
                <a:solidFill>
                  <a:srgbClr val="FF0000"/>
                </a:solidFill>
              </a:rPr>
              <a:t>O</a:t>
            </a:r>
            <a:r>
              <a:rPr lang="en" b="1" dirty="0">
                <a:solidFill>
                  <a:srgbClr val="FF0000"/>
                </a:solidFill>
                <a:highlight>
                  <a:srgbClr val="FFFF00"/>
                </a:highlight>
              </a:rPr>
              <a:t>(Nlog</a:t>
            </a:r>
            <a:r>
              <a:rPr lang="en" b="1" baseline="-25000" dirty="0">
                <a:solidFill>
                  <a:srgbClr val="FF0000"/>
                </a:solidFill>
                <a:highlight>
                  <a:srgbClr val="FFFF00"/>
                </a:highlight>
              </a:rPr>
              <a:t>2</a:t>
            </a:r>
            <a:r>
              <a:rPr lang="en" b="1" dirty="0">
                <a:solidFill>
                  <a:srgbClr val="FF0000"/>
                </a:solidFill>
                <a:highlight>
                  <a:srgbClr val="FFFF00"/>
                </a:highlight>
              </a:rPr>
              <a:t>N)</a:t>
            </a:r>
            <a:r>
              <a:rPr lang="en" dirty="0">
                <a:highlight>
                  <a:srgbClr val="FFFF00"/>
                </a:highlight>
              </a:rPr>
              <a:t>. </a:t>
            </a:r>
            <a:r>
              <a:rPr lang="en" dirty="0"/>
              <a:t>Much improved!</a:t>
            </a:r>
            <a:endParaRPr dirty="0"/>
          </a:p>
          <a:p>
            <a:pPr marL="457200" lvl="0" indent="-298450" algn="l" rtl="0">
              <a:spcBef>
                <a:spcPts val="1000"/>
              </a:spcBef>
              <a:spcAft>
                <a:spcPts val="0"/>
              </a:spcAft>
              <a:buSzPts val="1100"/>
              <a:buChar char="●"/>
            </a:pPr>
            <a:r>
              <a:rPr lang="en" dirty="0"/>
              <a:t>Printing the Pokemon in order is as simple as </a:t>
            </a:r>
            <a:r>
              <a:rPr lang="en" b="1" i="1" dirty="0">
                <a:solidFill>
                  <a:srgbClr val="FF0000"/>
                </a:solidFill>
              </a:rPr>
              <a:t>iterating over the list</a:t>
            </a:r>
            <a:r>
              <a:rPr lang="en" dirty="0"/>
              <a:t>, an </a:t>
            </a:r>
            <a:r>
              <a:rPr lang="en" b="1" dirty="0">
                <a:solidFill>
                  <a:srgbClr val="FF0000"/>
                </a:solidFill>
                <a:highlight>
                  <a:srgbClr val="FFFF00"/>
                </a:highlight>
              </a:rPr>
              <a:t>O(N)</a:t>
            </a:r>
            <a:r>
              <a:rPr lang="en" dirty="0">
                <a:highlight>
                  <a:srgbClr val="FFFF00"/>
                </a:highlight>
              </a:rPr>
              <a:t> </a:t>
            </a:r>
            <a:r>
              <a:rPr lang="en" dirty="0"/>
              <a:t>operation! Another big improvement!</a:t>
            </a:r>
            <a:endParaRPr sz="1100" dirty="0"/>
          </a:p>
          <a:p>
            <a:pPr marL="457200" lvl="0" indent="-311150" algn="l" rtl="0">
              <a:spcBef>
                <a:spcPts val="1000"/>
              </a:spcBef>
              <a:spcAft>
                <a:spcPts val="0"/>
              </a:spcAft>
              <a:buSzPts val="1300"/>
              <a:buChar char="●"/>
            </a:pPr>
            <a:r>
              <a:rPr lang="en" dirty="0"/>
              <a:t>But what is the complexity of keeping the list </a:t>
            </a:r>
            <a:r>
              <a:rPr lang="en" b="1" i="1" dirty="0">
                <a:solidFill>
                  <a:srgbClr val="FF0000"/>
                </a:solidFill>
              </a:rPr>
              <a:t>sorted</a:t>
            </a:r>
            <a:r>
              <a:rPr lang="en" dirty="0"/>
              <a:t>?</a:t>
            </a:r>
            <a:endParaRPr dirty="0"/>
          </a:p>
          <a:p>
            <a:pPr marL="914400" lvl="1" indent="-298450" algn="l" rtl="0">
              <a:spcBef>
                <a:spcPts val="0"/>
              </a:spcBef>
              <a:spcAft>
                <a:spcPts val="0"/>
              </a:spcAft>
              <a:buSzPts val="1100"/>
              <a:buChar char="○"/>
            </a:pPr>
            <a:r>
              <a:rPr lang="en" dirty="0"/>
              <a:t>Each </a:t>
            </a:r>
            <a:r>
              <a:rPr lang="en" b="1" i="1" dirty="0">
                <a:solidFill>
                  <a:srgbClr val="FF0000"/>
                </a:solidFill>
              </a:rPr>
              <a:t>insert</a:t>
            </a:r>
            <a:r>
              <a:rPr lang="en" dirty="0">
                <a:solidFill>
                  <a:srgbClr val="E06666"/>
                </a:solidFill>
              </a:rPr>
              <a:t> </a:t>
            </a:r>
            <a:r>
              <a:rPr lang="en" dirty="0"/>
              <a:t>is an </a:t>
            </a:r>
            <a:r>
              <a:rPr lang="en" b="1" dirty="0">
                <a:solidFill>
                  <a:srgbClr val="FF0000"/>
                </a:solidFill>
              </a:rPr>
              <a:t>O(N)</a:t>
            </a:r>
            <a:r>
              <a:rPr lang="en" dirty="0"/>
              <a:t> operation.</a:t>
            </a:r>
            <a:endParaRPr dirty="0"/>
          </a:p>
          <a:p>
            <a:pPr marL="914400" lvl="1" indent="-298450" algn="l" rtl="0">
              <a:spcBef>
                <a:spcPts val="0"/>
              </a:spcBef>
              <a:spcAft>
                <a:spcPts val="0"/>
              </a:spcAft>
              <a:buSzPts val="1100"/>
              <a:buChar char="○"/>
            </a:pPr>
            <a:r>
              <a:rPr lang="en" dirty="0"/>
              <a:t>You will perform an </a:t>
            </a:r>
            <a:r>
              <a:rPr lang="en" b="1" i="1" dirty="0">
                <a:solidFill>
                  <a:srgbClr val="FF0000"/>
                </a:solidFill>
              </a:rPr>
              <a:t>insert</a:t>
            </a:r>
            <a:r>
              <a:rPr lang="en" b="1" i="1" dirty="0">
                <a:solidFill>
                  <a:srgbClr val="E06666"/>
                </a:solidFill>
              </a:rPr>
              <a:t> </a:t>
            </a:r>
            <a:r>
              <a:rPr lang="en" dirty="0"/>
              <a:t>N times; </a:t>
            </a:r>
            <a:r>
              <a:rPr lang="en" b="1" dirty="0">
                <a:solidFill>
                  <a:srgbClr val="FF0000"/>
                </a:solidFill>
                <a:highlight>
                  <a:srgbClr val="FFFF00"/>
                </a:highlight>
              </a:rPr>
              <a:t>O(N</a:t>
            </a:r>
            <a:r>
              <a:rPr lang="en" b="1" baseline="30000" dirty="0">
                <a:solidFill>
                  <a:srgbClr val="FF0000"/>
                </a:solidFill>
                <a:highlight>
                  <a:srgbClr val="FFFF00"/>
                </a:highlight>
              </a:rPr>
              <a:t>2</a:t>
            </a:r>
            <a:r>
              <a:rPr lang="en" b="1" dirty="0">
                <a:solidFill>
                  <a:srgbClr val="FF0000"/>
                </a:solidFill>
                <a:highlight>
                  <a:srgbClr val="FFFF00"/>
                </a:highlight>
              </a:rPr>
              <a:t>)</a:t>
            </a:r>
            <a:r>
              <a:rPr lang="en" dirty="0">
                <a:highlight>
                  <a:srgbClr val="FFFF00"/>
                </a:highlight>
              </a:rPr>
              <a:t>. </a:t>
            </a:r>
            <a:r>
              <a:rPr lang="en" dirty="0"/>
              <a:t>Ugh.</a:t>
            </a:r>
            <a:endParaRPr dirty="0"/>
          </a:p>
          <a:p>
            <a:pPr marL="457200" lvl="0" indent="-311150" algn="l" rtl="0">
              <a:spcBef>
                <a:spcPts val="1000"/>
              </a:spcBef>
              <a:spcAft>
                <a:spcPts val="0"/>
              </a:spcAft>
              <a:buSzPts val="1300"/>
              <a:buChar char="●"/>
            </a:pPr>
            <a:r>
              <a:rPr lang="en" dirty="0"/>
              <a:t>Next!</a:t>
            </a:r>
            <a:endParaRPr dirty="0"/>
          </a:p>
        </p:txBody>
      </p:sp>
      <p:sp>
        <p:nvSpPr>
          <p:cNvPr id="419" name="Google Shape;419;p72"/>
          <p:cNvSpPr txBox="1"/>
          <p:nvPr/>
        </p:nvSpPr>
        <p:spPr>
          <a:xfrm>
            <a:off x="5293350" y="4383550"/>
            <a:ext cx="3706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What if we used a fast data structure like a Python dictionary?</a:t>
            </a:r>
            <a:endParaRPr sz="1200"/>
          </a:p>
        </p:txBody>
      </p:sp>
      <p:sp>
        <p:nvSpPr>
          <p:cNvPr id="420" name="Google Shape;420;p7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a:t>
            </a:fld>
            <a:endParaRPr/>
          </a:p>
        </p:txBody>
      </p:sp>
      <p:pic>
        <p:nvPicPr>
          <p:cNvPr id="421" name="Google Shape;421;p72"/>
          <p:cNvPicPr preferRelativeResize="0"/>
          <p:nvPr/>
        </p:nvPicPr>
        <p:blipFill>
          <a:blip r:embed="rId3">
            <a:alphaModFix/>
          </a:blip>
          <a:stretch>
            <a:fillRect/>
          </a:stretch>
        </p:blipFill>
        <p:spPr>
          <a:xfrm>
            <a:off x="5293350" y="1229081"/>
            <a:ext cx="3706500" cy="3068637"/>
          </a:xfrm>
          <a:prstGeom prst="rect">
            <a:avLst/>
          </a:prstGeom>
          <a:noFill/>
          <a:ln w="19050" cap="flat" cmpd="sng">
            <a:solidFill>
              <a:srgbClr val="000000"/>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1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18">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19"/>
                                        </p:tgtEl>
                                        <p:attrNameLst>
                                          <p:attrName>style.visibility</p:attrName>
                                        </p:attrNameLst>
                                      </p:cBhvr>
                                      <p:to>
                                        <p:strVal val="visible"/>
                                      </p:to>
                                    </p:set>
                                    <p:animEffect transition="in" filter="fade">
                                      <p:cBhvr>
                                        <p:cTn id="55" dur="1000"/>
                                        <p:tgtEl>
                                          <p:spTgt spid="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pic>
        <p:nvPicPr>
          <p:cNvPr id="426" name="Google Shape;426;p73"/>
          <p:cNvPicPr preferRelativeResize="0"/>
          <p:nvPr/>
        </p:nvPicPr>
        <p:blipFill>
          <a:blip r:embed="rId3">
            <a:alphaModFix/>
          </a:blip>
          <a:stretch>
            <a:fillRect/>
          </a:stretch>
        </p:blipFill>
        <p:spPr>
          <a:xfrm>
            <a:off x="311725" y="1090431"/>
            <a:ext cx="3706500" cy="3068637"/>
          </a:xfrm>
          <a:prstGeom prst="rect">
            <a:avLst/>
          </a:prstGeom>
          <a:noFill/>
          <a:ln w="19050" cap="flat" cmpd="sng">
            <a:solidFill>
              <a:srgbClr val="000000"/>
            </a:solidFill>
            <a:prstDash val="solid"/>
            <a:round/>
            <a:headEnd type="none" w="sm" len="sm"/>
            <a:tailEnd type="none" w="sm" len="sm"/>
          </a:ln>
        </p:spPr>
      </p:pic>
      <p:sp>
        <p:nvSpPr>
          <p:cNvPr id="427" name="Google Shape;427;p73"/>
          <p:cNvSpPr txBox="1">
            <a:spLocks noGrp="1"/>
          </p:cNvSpPr>
          <p:nvPr>
            <p:ph type="title"/>
          </p:nvPr>
        </p:nvSpPr>
        <p:spPr>
          <a:xfrm>
            <a:off x="311725" y="43725"/>
            <a:ext cx="3706500" cy="1046700"/>
          </a:xfrm>
          <a:prstGeom prst="rect">
            <a:avLst/>
          </a:prstGeom>
          <a:noFill/>
        </p:spPr>
        <p:txBody>
          <a:bodyPr spcFirstLastPara="1" wrap="square" lIns="91425" tIns="91425" rIns="91425" bIns="91425" anchor="t" anchorCtr="0">
            <a:spAutoFit/>
          </a:bodyPr>
          <a:lstStyle/>
          <a:p>
            <a:pPr marL="0" lvl="0" indent="0" algn="l" rtl="0">
              <a:spcBef>
                <a:spcPts val="0"/>
              </a:spcBef>
              <a:spcAft>
                <a:spcPts val="0"/>
              </a:spcAft>
              <a:buNone/>
            </a:pPr>
            <a:r>
              <a:rPr lang="en"/>
              <a:t>The Pokédex as a Dictionary</a:t>
            </a:r>
            <a:endParaRPr b="0">
              <a:solidFill>
                <a:srgbClr val="FF00FF"/>
              </a:solidFill>
              <a:latin typeface="Courier New"/>
              <a:ea typeface="Courier New"/>
              <a:cs typeface="Courier New"/>
              <a:sym typeface="Courier New"/>
            </a:endParaRPr>
          </a:p>
        </p:txBody>
      </p:sp>
      <p:sp>
        <p:nvSpPr>
          <p:cNvPr id="428" name="Google Shape;428;p73"/>
          <p:cNvSpPr txBox="1">
            <a:spLocks noGrp="1"/>
          </p:cNvSpPr>
          <p:nvPr>
            <p:ph type="body" idx="1"/>
          </p:nvPr>
        </p:nvSpPr>
        <p:spPr>
          <a:xfrm>
            <a:off x="4568475" y="122825"/>
            <a:ext cx="4166400" cy="4854600"/>
          </a:xfrm>
          <a:prstGeom prst="rect">
            <a:avLst/>
          </a:prstGeom>
        </p:spPr>
        <p:txBody>
          <a:bodyPr spcFirstLastPara="1" wrap="square" lIns="91425" tIns="91425" rIns="91425" bIns="91425" anchor="ctr" anchorCtr="0">
            <a:spAutoFit/>
          </a:bodyPr>
          <a:lstStyle/>
          <a:p>
            <a:pPr marL="457200" marR="0" lvl="0" indent="-311150" algn="l" rtl="0">
              <a:lnSpc>
                <a:spcPct val="120000"/>
              </a:lnSpc>
              <a:spcBef>
                <a:spcPts val="0"/>
              </a:spcBef>
              <a:spcAft>
                <a:spcPts val="0"/>
              </a:spcAft>
              <a:buSzPts val="1300"/>
              <a:buChar char="●"/>
            </a:pPr>
            <a:r>
              <a:rPr lang="en" dirty="0"/>
              <a:t>Why not use a </a:t>
            </a:r>
            <a:r>
              <a:rPr lang="en" b="1" i="1" dirty="0">
                <a:solidFill>
                  <a:srgbClr val="FF0000"/>
                </a:solidFill>
              </a:rPr>
              <a:t>dictionary</a:t>
            </a:r>
            <a:r>
              <a:rPr lang="en" dirty="0"/>
              <a:t> to keep track of your captured Pokémon?</a:t>
            </a:r>
            <a:endParaRPr dirty="0"/>
          </a:p>
          <a:p>
            <a:pPr marL="914400" marR="0" lvl="1" indent="-304800" algn="l" rtl="0">
              <a:lnSpc>
                <a:spcPct val="120000"/>
              </a:lnSpc>
              <a:spcBef>
                <a:spcPts val="0"/>
              </a:spcBef>
              <a:spcAft>
                <a:spcPts val="0"/>
              </a:spcAft>
              <a:buSzPts val="1200"/>
              <a:buChar char="○"/>
            </a:pPr>
            <a:r>
              <a:rPr lang="en" sz="1200" dirty="0"/>
              <a:t>Use the Pokémon’s </a:t>
            </a:r>
            <a:r>
              <a:rPr lang="en" sz="1200" b="1" i="1" dirty="0">
                <a:solidFill>
                  <a:srgbClr val="FF0000"/>
                </a:solidFill>
              </a:rPr>
              <a:t>number</a:t>
            </a:r>
            <a:r>
              <a:rPr lang="en" sz="1200" dirty="0">
                <a:solidFill>
                  <a:srgbClr val="FF0000"/>
                </a:solidFill>
              </a:rPr>
              <a:t> </a:t>
            </a:r>
            <a:r>
              <a:rPr lang="en" sz="1200" dirty="0"/>
              <a:t>as the </a:t>
            </a:r>
            <a:r>
              <a:rPr lang="en" sz="1200" b="1" i="1" dirty="0">
                <a:solidFill>
                  <a:srgbClr val="FF0000"/>
                </a:solidFill>
              </a:rPr>
              <a:t>key</a:t>
            </a:r>
            <a:r>
              <a:rPr lang="en" sz="1200" dirty="0"/>
              <a:t>.</a:t>
            </a:r>
            <a:endParaRPr sz="1200" dirty="0"/>
          </a:p>
          <a:p>
            <a:pPr marL="457200" lvl="0" indent="-311150" algn="l" rtl="0">
              <a:lnSpc>
                <a:spcPct val="120000"/>
              </a:lnSpc>
              <a:spcBef>
                <a:spcPts val="1000"/>
              </a:spcBef>
              <a:spcAft>
                <a:spcPts val="0"/>
              </a:spcAft>
              <a:buSzPts val="1300"/>
              <a:buChar char="●"/>
            </a:pPr>
            <a:r>
              <a:rPr lang="en" dirty="0"/>
              <a:t>Adding a new Pokémon is a </a:t>
            </a:r>
            <a:r>
              <a:rPr lang="en" b="1" i="1" dirty="0">
                <a:solidFill>
                  <a:srgbClr val="FF0000"/>
                </a:solidFill>
                <a:highlight>
                  <a:srgbClr val="FFFF00"/>
                </a:highlight>
              </a:rPr>
              <a:t>constant time</a:t>
            </a:r>
            <a:r>
              <a:rPr lang="en" dirty="0">
                <a:highlight>
                  <a:srgbClr val="FFFF00"/>
                </a:highlight>
              </a:rPr>
              <a:t> (</a:t>
            </a:r>
            <a:r>
              <a:rPr lang="en" b="1" dirty="0">
                <a:highlight>
                  <a:srgbClr val="FFFF00"/>
                </a:highlight>
              </a:rPr>
              <a:t>O(1)</a:t>
            </a:r>
            <a:r>
              <a:rPr lang="en" dirty="0">
                <a:highlight>
                  <a:srgbClr val="FFFF00"/>
                </a:highlight>
              </a:rPr>
              <a:t>) operation.</a:t>
            </a:r>
            <a:endParaRPr dirty="0">
              <a:highlight>
                <a:srgbClr val="FFFF00"/>
              </a:highlight>
            </a:endParaRPr>
          </a:p>
          <a:p>
            <a:pPr marL="457200" lvl="0" indent="-311150" algn="l" rtl="0">
              <a:lnSpc>
                <a:spcPct val="120000"/>
              </a:lnSpc>
              <a:spcBef>
                <a:spcPts val="1000"/>
              </a:spcBef>
              <a:spcAft>
                <a:spcPts val="0"/>
              </a:spcAft>
              <a:buSzPts val="1300"/>
              <a:buChar char="●"/>
            </a:pPr>
            <a:r>
              <a:rPr lang="en" dirty="0"/>
              <a:t>Searching for a Pokémon is also a </a:t>
            </a:r>
            <a:r>
              <a:rPr lang="en" b="1" i="1" dirty="0">
                <a:solidFill>
                  <a:srgbClr val="FF0000"/>
                </a:solidFill>
                <a:highlight>
                  <a:srgbClr val="FFFF00"/>
                </a:highlight>
              </a:rPr>
              <a:t>constant time</a:t>
            </a:r>
            <a:r>
              <a:rPr lang="en" dirty="0">
                <a:highlight>
                  <a:srgbClr val="FFFF00"/>
                </a:highlight>
              </a:rPr>
              <a:t> (</a:t>
            </a:r>
            <a:r>
              <a:rPr lang="en" b="1" dirty="0">
                <a:highlight>
                  <a:srgbClr val="FFFF00"/>
                </a:highlight>
              </a:rPr>
              <a:t>O(1)</a:t>
            </a:r>
            <a:r>
              <a:rPr lang="en" dirty="0">
                <a:highlight>
                  <a:srgbClr val="FFFF00"/>
                </a:highlight>
              </a:rPr>
              <a:t>) operation.</a:t>
            </a:r>
            <a:endParaRPr dirty="0">
              <a:highlight>
                <a:srgbClr val="FFFF00"/>
              </a:highlight>
            </a:endParaRPr>
          </a:p>
          <a:p>
            <a:pPr marL="457200" lvl="0" indent="-311150" algn="l" rtl="0">
              <a:lnSpc>
                <a:spcPct val="120000"/>
              </a:lnSpc>
              <a:spcBef>
                <a:spcPts val="1000"/>
              </a:spcBef>
              <a:spcAft>
                <a:spcPts val="0"/>
              </a:spcAft>
              <a:buSzPts val="1300"/>
              <a:buChar char="●"/>
            </a:pPr>
            <a:r>
              <a:rPr lang="en" dirty="0"/>
              <a:t>But what about printing the Pokémon in order by number?</a:t>
            </a:r>
            <a:endParaRPr dirty="0"/>
          </a:p>
          <a:p>
            <a:pPr marL="914400" lvl="1" indent="-304800" algn="l" rtl="0">
              <a:lnSpc>
                <a:spcPct val="120000"/>
              </a:lnSpc>
              <a:spcBef>
                <a:spcPts val="0"/>
              </a:spcBef>
              <a:spcAft>
                <a:spcPts val="0"/>
              </a:spcAft>
              <a:buSzPts val="1200"/>
              <a:buChar char="○"/>
            </a:pPr>
            <a:r>
              <a:rPr lang="en" sz="1200" dirty="0"/>
              <a:t>Dictionaries do not maintain the keys in a predictable order.</a:t>
            </a:r>
            <a:endParaRPr sz="1200" dirty="0"/>
          </a:p>
          <a:p>
            <a:pPr marL="914400" lvl="1" indent="-304800" algn="l" rtl="0">
              <a:lnSpc>
                <a:spcPct val="120000"/>
              </a:lnSpc>
              <a:spcBef>
                <a:spcPts val="0"/>
              </a:spcBef>
              <a:spcAft>
                <a:spcPts val="0"/>
              </a:spcAft>
              <a:buSzPts val="1200"/>
              <a:buChar char="○"/>
            </a:pPr>
            <a:r>
              <a:rPr lang="en" sz="1200" dirty="0"/>
              <a:t>This means that you’d have to </a:t>
            </a:r>
            <a:r>
              <a:rPr lang="en" sz="1200" b="1" i="1" dirty="0">
                <a:solidFill>
                  <a:srgbClr val="FF0000"/>
                </a:solidFill>
              </a:rPr>
              <a:t>iterate</a:t>
            </a:r>
            <a:r>
              <a:rPr lang="en" sz="1200" dirty="0">
                <a:solidFill>
                  <a:srgbClr val="FF0000"/>
                </a:solidFill>
              </a:rPr>
              <a:t> </a:t>
            </a:r>
            <a:r>
              <a:rPr lang="en" sz="1200" dirty="0"/>
              <a:t>over the keys looking for the Pokémon with the next smallest number; a </a:t>
            </a:r>
            <a:r>
              <a:rPr lang="en" sz="1200" b="1" dirty="0">
                <a:solidFill>
                  <a:srgbClr val="FF0000"/>
                </a:solidFill>
                <a:highlight>
                  <a:srgbClr val="FFFF00"/>
                </a:highlight>
              </a:rPr>
              <a:t>O(N)</a:t>
            </a:r>
            <a:r>
              <a:rPr lang="en" sz="1200" dirty="0">
                <a:highlight>
                  <a:srgbClr val="FFFF00"/>
                </a:highlight>
              </a:rPr>
              <a:t> </a:t>
            </a:r>
            <a:r>
              <a:rPr lang="en" sz="1200" dirty="0"/>
              <a:t>operation.</a:t>
            </a:r>
            <a:endParaRPr sz="1200" dirty="0"/>
          </a:p>
          <a:p>
            <a:pPr marL="1371600" lvl="2" indent="-298450" algn="l" rtl="0">
              <a:lnSpc>
                <a:spcPct val="120000"/>
              </a:lnSpc>
              <a:spcBef>
                <a:spcPts val="0"/>
              </a:spcBef>
              <a:spcAft>
                <a:spcPts val="0"/>
              </a:spcAft>
              <a:buSzPts val="1100"/>
              <a:buChar char="■"/>
            </a:pPr>
            <a:r>
              <a:rPr lang="en" dirty="0"/>
              <a:t>And to print N Pokémon, you’d have to do the linear search </a:t>
            </a:r>
            <a:r>
              <a:rPr lang="en" b="1" i="1" dirty="0">
                <a:solidFill>
                  <a:srgbClr val="FF0000"/>
                </a:solidFill>
              </a:rPr>
              <a:t>N times</a:t>
            </a:r>
            <a:r>
              <a:rPr lang="en" dirty="0"/>
              <a:t>; </a:t>
            </a:r>
            <a:r>
              <a:rPr lang="en" b="1" dirty="0">
                <a:solidFill>
                  <a:srgbClr val="FF0000"/>
                </a:solidFill>
                <a:highlight>
                  <a:srgbClr val="FFFF00"/>
                </a:highlight>
              </a:rPr>
              <a:t>O(N</a:t>
            </a:r>
            <a:r>
              <a:rPr lang="en" b="1" baseline="30000" dirty="0">
                <a:solidFill>
                  <a:srgbClr val="FF0000"/>
                </a:solidFill>
                <a:highlight>
                  <a:srgbClr val="FFFF00"/>
                </a:highlight>
              </a:rPr>
              <a:t>2</a:t>
            </a:r>
            <a:r>
              <a:rPr lang="en" b="1" dirty="0">
                <a:solidFill>
                  <a:srgbClr val="E06666"/>
                </a:solidFill>
                <a:highlight>
                  <a:srgbClr val="FFFF00"/>
                </a:highlight>
              </a:rPr>
              <a:t>)</a:t>
            </a:r>
            <a:r>
              <a:rPr lang="en" dirty="0">
                <a:highlight>
                  <a:srgbClr val="FFFF00"/>
                </a:highlight>
              </a:rPr>
              <a:t>. </a:t>
            </a:r>
            <a:r>
              <a:rPr lang="en" dirty="0"/>
              <a:t>Gross.</a:t>
            </a:r>
            <a:endParaRPr dirty="0"/>
          </a:p>
          <a:p>
            <a:pPr marL="914400" lvl="1" indent="-304800" algn="l" rtl="0">
              <a:lnSpc>
                <a:spcPct val="120000"/>
              </a:lnSpc>
              <a:spcBef>
                <a:spcPts val="0"/>
              </a:spcBef>
              <a:spcAft>
                <a:spcPts val="0"/>
              </a:spcAft>
              <a:buSzPts val="1200"/>
              <a:buChar char="○"/>
            </a:pPr>
            <a:r>
              <a:rPr lang="en" sz="1200" dirty="0"/>
              <a:t>Alternatively, you could </a:t>
            </a:r>
            <a:r>
              <a:rPr lang="en" sz="1200" b="1" i="1" dirty="0">
                <a:solidFill>
                  <a:srgbClr val="FF0000"/>
                </a:solidFill>
              </a:rPr>
              <a:t>copy </a:t>
            </a:r>
            <a:r>
              <a:rPr lang="en" sz="1200" dirty="0"/>
              <a:t>all of the Pokémon into a list and </a:t>
            </a:r>
            <a:r>
              <a:rPr lang="en" sz="1200" b="1" i="1" dirty="0">
                <a:solidFill>
                  <a:srgbClr val="FF0000"/>
                </a:solidFill>
              </a:rPr>
              <a:t>sort </a:t>
            </a:r>
            <a:r>
              <a:rPr lang="en" sz="1200" dirty="0"/>
              <a:t>them: </a:t>
            </a:r>
            <a:r>
              <a:rPr lang="en" sz="1200" b="1" dirty="0">
                <a:solidFill>
                  <a:srgbClr val="FF0000"/>
                </a:solidFill>
                <a:highlight>
                  <a:srgbClr val="FFFF00"/>
                </a:highlight>
              </a:rPr>
              <a:t>O(N+Nlog</a:t>
            </a:r>
            <a:r>
              <a:rPr lang="en" sz="1200" b="1" baseline="-25000" dirty="0">
                <a:solidFill>
                  <a:srgbClr val="FF0000"/>
                </a:solidFill>
                <a:highlight>
                  <a:srgbClr val="FFFF00"/>
                </a:highlight>
              </a:rPr>
              <a:t>2</a:t>
            </a:r>
            <a:r>
              <a:rPr lang="en" sz="1200" b="1" dirty="0">
                <a:solidFill>
                  <a:srgbClr val="FF0000"/>
                </a:solidFill>
                <a:highlight>
                  <a:srgbClr val="FFFF00"/>
                </a:highlight>
              </a:rPr>
              <a:t>N)</a:t>
            </a:r>
            <a:r>
              <a:rPr lang="en" sz="1200" dirty="0">
                <a:highlight>
                  <a:srgbClr val="FFFF00"/>
                </a:highlight>
              </a:rPr>
              <a:t>. </a:t>
            </a:r>
            <a:r>
              <a:rPr lang="en" sz="1200" dirty="0"/>
              <a:t>Better, but not great.</a:t>
            </a:r>
            <a:endParaRPr sz="1200" dirty="0"/>
          </a:p>
        </p:txBody>
      </p:sp>
      <p:sp>
        <p:nvSpPr>
          <p:cNvPr id="429" name="Google Shape;429;p73"/>
          <p:cNvSpPr txBox="1"/>
          <p:nvPr/>
        </p:nvSpPr>
        <p:spPr>
          <a:xfrm>
            <a:off x="311725" y="4274785"/>
            <a:ext cx="3706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we want to avoid a lot of slow operations, it seems like we’ll need a new data structure to solve this problem.</a:t>
            </a:r>
            <a:endParaRPr sz="1200"/>
          </a:p>
        </p:txBody>
      </p:sp>
      <p:sp>
        <p:nvSpPr>
          <p:cNvPr id="430" name="Google Shape;430;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2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29"/>
                                        </p:tgtEl>
                                        <p:attrNameLst>
                                          <p:attrName>style.visibility</p:attrName>
                                        </p:attrNameLst>
                                      </p:cBhvr>
                                      <p:to>
                                        <p:strVal val="visible"/>
                                      </p:to>
                                    </p:set>
                                    <p:animEffect transition="in" filter="fade">
                                      <p:cBhvr>
                                        <p:cTn id="43" dur="1000"/>
                                        <p:tgtEl>
                                          <p:spTgt spid="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Google Shape;435;p74"/>
          <p:cNvPicPr preferRelativeResize="0"/>
          <p:nvPr/>
        </p:nvPicPr>
        <p:blipFill>
          <a:blip r:embed="rId3">
            <a:alphaModFix/>
          </a:blip>
          <a:stretch>
            <a:fillRect/>
          </a:stretch>
        </p:blipFill>
        <p:spPr>
          <a:xfrm>
            <a:off x="5140950" y="1000481"/>
            <a:ext cx="3706500" cy="3068637"/>
          </a:xfrm>
          <a:prstGeom prst="rect">
            <a:avLst/>
          </a:prstGeom>
          <a:noFill/>
          <a:ln w="19050" cap="flat" cmpd="sng">
            <a:solidFill>
              <a:srgbClr val="000000"/>
            </a:solidFill>
            <a:prstDash val="solid"/>
            <a:round/>
            <a:headEnd type="none" w="sm" len="sm"/>
            <a:tailEnd type="none" w="sm" len="sm"/>
          </a:ln>
        </p:spPr>
      </p:pic>
      <p:sp>
        <p:nvSpPr>
          <p:cNvPr id="436" name="Google Shape;436;p74"/>
          <p:cNvSpPr txBox="1">
            <a:spLocks noGrp="1"/>
          </p:cNvSpPr>
          <p:nvPr>
            <p:ph type="title"/>
          </p:nvPr>
        </p:nvSpPr>
        <p:spPr>
          <a:xfrm>
            <a:off x="5140950" y="2723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Pokédex Options</a:t>
            </a:r>
            <a:endParaRPr/>
          </a:p>
        </p:txBody>
      </p:sp>
      <p:sp>
        <p:nvSpPr>
          <p:cNvPr id="437" name="Google Shape;437;p74"/>
          <p:cNvSpPr txBox="1">
            <a:spLocks noGrp="1"/>
          </p:cNvSpPr>
          <p:nvPr>
            <p:ph type="body" idx="1"/>
          </p:nvPr>
        </p:nvSpPr>
        <p:spPr>
          <a:xfrm>
            <a:off x="301275" y="500925"/>
            <a:ext cx="4166400" cy="2015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1400" dirty="0"/>
              <a:t>Let's look at the data structures we already know and consider the complexity to:</a:t>
            </a:r>
            <a:endParaRPr sz="1400" dirty="0"/>
          </a:p>
          <a:p>
            <a:pPr marL="457200" lvl="0" indent="-317500" algn="l" rtl="0">
              <a:spcBef>
                <a:spcPts val="1000"/>
              </a:spcBef>
              <a:spcAft>
                <a:spcPts val="0"/>
              </a:spcAft>
              <a:buSzPts val="1400"/>
              <a:buChar char="●"/>
            </a:pPr>
            <a:r>
              <a:rPr lang="en" sz="1400" dirty="0"/>
              <a:t>Add a Pokémon to the Pokédex.</a:t>
            </a:r>
            <a:endParaRPr sz="1400" dirty="0"/>
          </a:p>
          <a:p>
            <a:pPr marL="457200" lvl="0" indent="-304800" algn="l" rtl="0">
              <a:spcBef>
                <a:spcPts val="0"/>
              </a:spcBef>
              <a:spcAft>
                <a:spcPts val="0"/>
              </a:spcAft>
              <a:buSzPts val="1200"/>
              <a:buChar char="●"/>
            </a:pPr>
            <a:r>
              <a:rPr lang="en" sz="1400" dirty="0"/>
              <a:t>Determine if a Pokémon is already in the Pokédex.</a:t>
            </a:r>
            <a:endParaRPr sz="1400" dirty="0"/>
          </a:p>
          <a:p>
            <a:pPr marL="457200" lvl="0" indent="-304800" algn="l" rtl="0">
              <a:spcBef>
                <a:spcPts val="0"/>
              </a:spcBef>
              <a:spcAft>
                <a:spcPts val="0"/>
              </a:spcAft>
              <a:buSzPts val="1200"/>
              <a:buChar char="●"/>
            </a:pPr>
            <a:r>
              <a:rPr lang="en" sz="1400" dirty="0"/>
              <a:t>Add N Pokémon to the Pokédex.</a:t>
            </a:r>
            <a:endParaRPr sz="1200" dirty="0"/>
          </a:p>
          <a:p>
            <a:pPr marL="457200" lvl="0" indent="-317500" algn="l" rtl="0">
              <a:spcBef>
                <a:spcPts val="0"/>
              </a:spcBef>
              <a:spcAft>
                <a:spcPts val="0"/>
              </a:spcAft>
              <a:buSzPts val="1400"/>
              <a:buChar char="●"/>
            </a:pPr>
            <a:r>
              <a:rPr lang="en" sz="1400" dirty="0"/>
              <a:t>Print the Pokédex in order</a:t>
            </a:r>
            <a:endParaRPr dirty="0"/>
          </a:p>
        </p:txBody>
      </p:sp>
      <p:sp>
        <p:nvSpPr>
          <p:cNvPr id="438" name="Google Shape;438;p7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439" name="Google Shape;439;p74"/>
          <p:cNvSpPr txBox="1"/>
          <p:nvPr/>
        </p:nvSpPr>
        <p:spPr>
          <a:xfrm>
            <a:off x="5140950" y="4159175"/>
            <a:ext cx="3706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We have learned several options for storing data but none of them are great for this problem.</a:t>
            </a:r>
            <a:endParaRPr sz="1200"/>
          </a:p>
        </p:txBody>
      </p:sp>
      <p:grpSp>
        <p:nvGrpSpPr>
          <p:cNvPr id="440" name="Google Shape;440;p74"/>
          <p:cNvGrpSpPr/>
          <p:nvPr/>
        </p:nvGrpSpPr>
        <p:grpSpPr>
          <a:xfrm>
            <a:off x="304800" y="2540975"/>
            <a:ext cx="4224300" cy="2001000"/>
            <a:chOff x="304800" y="2540975"/>
            <a:chExt cx="4224300" cy="2001000"/>
          </a:xfrm>
        </p:grpSpPr>
        <p:sp>
          <p:nvSpPr>
            <p:cNvPr id="441" name="Google Shape;441;p74"/>
            <p:cNvSpPr txBox="1"/>
            <p:nvPr/>
          </p:nvSpPr>
          <p:spPr>
            <a:xfrm>
              <a:off x="1152300" y="25409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List</a:t>
              </a:r>
              <a:endParaRPr>
                <a:latin typeface="Roboto"/>
                <a:ea typeface="Roboto"/>
                <a:cs typeface="Roboto"/>
                <a:sym typeface="Roboto"/>
              </a:endParaRPr>
            </a:p>
          </p:txBody>
        </p:sp>
        <p:sp>
          <p:nvSpPr>
            <p:cNvPr id="442" name="Google Shape;442;p74"/>
            <p:cNvSpPr txBox="1"/>
            <p:nvPr/>
          </p:nvSpPr>
          <p:spPr>
            <a:xfrm>
              <a:off x="2277900" y="25409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Sorted List</a:t>
              </a:r>
              <a:endParaRPr>
                <a:latin typeface="Roboto"/>
                <a:ea typeface="Roboto"/>
                <a:cs typeface="Roboto"/>
                <a:sym typeface="Roboto"/>
              </a:endParaRPr>
            </a:p>
          </p:txBody>
        </p:sp>
        <p:sp>
          <p:nvSpPr>
            <p:cNvPr id="443" name="Google Shape;443;p74"/>
            <p:cNvSpPr txBox="1"/>
            <p:nvPr/>
          </p:nvSpPr>
          <p:spPr>
            <a:xfrm>
              <a:off x="3403500" y="25409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Dictionary</a:t>
              </a:r>
              <a:endParaRPr>
                <a:latin typeface="Roboto"/>
                <a:ea typeface="Roboto"/>
                <a:cs typeface="Roboto"/>
                <a:sym typeface="Roboto"/>
              </a:endParaRPr>
            </a:p>
          </p:txBody>
        </p:sp>
        <p:sp>
          <p:nvSpPr>
            <p:cNvPr id="444" name="Google Shape;444;p74"/>
            <p:cNvSpPr txBox="1"/>
            <p:nvPr/>
          </p:nvSpPr>
          <p:spPr>
            <a:xfrm>
              <a:off x="304800" y="2941175"/>
              <a:ext cx="8475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oboto"/>
                  <a:ea typeface="Roboto"/>
                  <a:cs typeface="Roboto"/>
                  <a:sym typeface="Roboto"/>
                </a:rPr>
                <a:t>Add</a:t>
              </a:r>
              <a:endParaRPr>
                <a:latin typeface="Roboto"/>
                <a:ea typeface="Roboto"/>
                <a:cs typeface="Roboto"/>
                <a:sym typeface="Roboto"/>
              </a:endParaRPr>
            </a:p>
          </p:txBody>
        </p:sp>
        <p:sp>
          <p:nvSpPr>
            <p:cNvPr id="445" name="Google Shape;445;p74"/>
            <p:cNvSpPr txBox="1"/>
            <p:nvPr/>
          </p:nvSpPr>
          <p:spPr>
            <a:xfrm>
              <a:off x="304800" y="3341375"/>
              <a:ext cx="8475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oboto"/>
                  <a:ea typeface="Roboto"/>
                  <a:cs typeface="Roboto"/>
                  <a:sym typeface="Roboto"/>
                </a:rPr>
                <a:t>Find</a:t>
              </a:r>
              <a:endParaRPr>
                <a:latin typeface="Roboto"/>
                <a:ea typeface="Roboto"/>
                <a:cs typeface="Roboto"/>
                <a:sym typeface="Roboto"/>
              </a:endParaRPr>
            </a:p>
          </p:txBody>
        </p:sp>
        <p:sp>
          <p:nvSpPr>
            <p:cNvPr id="446" name="Google Shape;446;p74"/>
            <p:cNvSpPr txBox="1"/>
            <p:nvPr/>
          </p:nvSpPr>
          <p:spPr>
            <a:xfrm>
              <a:off x="304800" y="3741575"/>
              <a:ext cx="8475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oboto"/>
                  <a:ea typeface="Roboto"/>
                  <a:cs typeface="Roboto"/>
                  <a:sym typeface="Roboto"/>
                </a:rPr>
                <a:t>Add N</a:t>
              </a:r>
              <a:endParaRPr>
                <a:latin typeface="Roboto"/>
                <a:ea typeface="Roboto"/>
                <a:cs typeface="Roboto"/>
                <a:sym typeface="Roboto"/>
              </a:endParaRPr>
            </a:p>
          </p:txBody>
        </p:sp>
        <p:sp>
          <p:nvSpPr>
            <p:cNvPr id="447" name="Google Shape;447;p74"/>
            <p:cNvSpPr txBox="1"/>
            <p:nvPr/>
          </p:nvSpPr>
          <p:spPr>
            <a:xfrm>
              <a:off x="304800" y="4141775"/>
              <a:ext cx="8475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oboto"/>
                  <a:ea typeface="Roboto"/>
                  <a:cs typeface="Roboto"/>
                  <a:sym typeface="Roboto"/>
                </a:rPr>
                <a:t>Print</a:t>
              </a:r>
              <a:endParaRPr>
                <a:latin typeface="Roboto"/>
                <a:ea typeface="Roboto"/>
                <a:cs typeface="Roboto"/>
                <a:sym typeface="Roboto"/>
              </a:endParaRPr>
            </a:p>
          </p:txBody>
        </p:sp>
        <p:sp>
          <p:nvSpPr>
            <p:cNvPr id="448" name="Google Shape;448;p74"/>
            <p:cNvSpPr txBox="1"/>
            <p:nvPr/>
          </p:nvSpPr>
          <p:spPr>
            <a:xfrm>
              <a:off x="1152300" y="29411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O(1)</a:t>
              </a:r>
              <a:endParaRPr>
                <a:latin typeface="Roboto"/>
                <a:ea typeface="Roboto"/>
                <a:cs typeface="Roboto"/>
                <a:sym typeface="Roboto"/>
              </a:endParaRPr>
            </a:p>
          </p:txBody>
        </p:sp>
        <p:sp>
          <p:nvSpPr>
            <p:cNvPr id="449" name="Google Shape;449;p74"/>
            <p:cNvSpPr txBox="1"/>
            <p:nvPr/>
          </p:nvSpPr>
          <p:spPr>
            <a:xfrm>
              <a:off x="1152300" y="33413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0" name="Google Shape;450;p74"/>
            <p:cNvSpPr txBox="1"/>
            <p:nvPr/>
          </p:nvSpPr>
          <p:spPr>
            <a:xfrm>
              <a:off x="1152300" y="37415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1" name="Google Shape;451;p74"/>
            <p:cNvSpPr txBox="1"/>
            <p:nvPr/>
          </p:nvSpPr>
          <p:spPr>
            <a:xfrm>
              <a:off x="1152300" y="41417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r>
                <a:rPr lang="en" baseline="30000">
                  <a:latin typeface="Roboto"/>
                  <a:ea typeface="Roboto"/>
                  <a:cs typeface="Roboto"/>
                  <a:sym typeface="Roboto"/>
                </a:rPr>
                <a:t>2</a:t>
              </a:r>
              <a:r>
                <a:rPr lang="en">
                  <a:latin typeface="Roboto"/>
                  <a:ea typeface="Roboto"/>
                  <a:cs typeface="Roboto"/>
                  <a:sym typeface="Roboto"/>
                </a:rPr>
                <a:t>)</a:t>
              </a:r>
              <a:endParaRPr>
                <a:latin typeface="Roboto"/>
                <a:ea typeface="Roboto"/>
                <a:cs typeface="Roboto"/>
                <a:sym typeface="Roboto"/>
              </a:endParaRPr>
            </a:p>
          </p:txBody>
        </p:sp>
        <p:sp>
          <p:nvSpPr>
            <p:cNvPr id="452" name="Google Shape;452;p74"/>
            <p:cNvSpPr txBox="1"/>
            <p:nvPr/>
          </p:nvSpPr>
          <p:spPr>
            <a:xfrm>
              <a:off x="2277900" y="29411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3" name="Google Shape;453;p74"/>
            <p:cNvSpPr txBox="1"/>
            <p:nvPr/>
          </p:nvSpPr>
          <p:spPr>
            <a:xfrm>
              <a:off x="2277900" y="33413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O(log</a:t>
              </a:r>
              <a:r>
                <a:rPr lang="en" baseline="-25000">
                  <a:latin typeface="Roboto"/>
                  <a:ea typeface="Roboto"/>
                  <a:cs typeface="Roboto"/>
                  <a:sym typeface="Roboto"/>
                </a:rPr>
                <a:t>2</a:t>
              </a:r>
              <a:r>
                <a:rPr lang="en">
                  <a:latin typeface="Roboto"/>
                  <a:ea typeface="Roboto"/>
                  <a:cs typeface="Roboto"/>
                  <a:sym typeface="Roboto"/>
                </a:rPr>
                <a:t>N)</a:t>
              </a:r>
              <a:endParaRPr>
                <a:latin typeface="Roboto"/>
                <a:ea typeface="Roboto"/>
                <a:cs typeface="Roboto"/>
                <a:sym typeface="Roboto"/>
              </a:endParaRPr>
            </a:p>
          </p:txBody>
        </p:sp>
        <p:sp>
          <p:nvSpPr>
            <p:cNvPr id="454" name="Google Shape;454;p74"/>
            <p:cNvSpPr txBox="1"/>
            <p:nvPr/>
          </p:nvSpPr>
          <p:spPr>
            <a:xfrm>
              <a:off x="2277900" y="37415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r>
                <a:rPr lang="en" baseline="30000">
                  <a:latin typeface="Roboto"/>
                  <a:ea typeface="Roboto"/>
                  <a:cs typeface="Roboto"/>
                  <a:sym typeface="Roboto"/>
                </a:rPr>
                <a:t>2</a:t>
              </a:r>
              <a:r>
                <a:rPr lang="en">
                  <a:latin typeface="Roboto"/>
                  <a:ea typeface="Roboto"/>
                  <a:cs typeface="Roboto"/>
                  <a:sym typeface="Roboto"/>
                </a:rPr>
                <a:t>)</a:t>
              </a:r>
              <a:endParaRPr>
                <a:latin typeface="Roboto"/>
                <a:ea typeface="Roboto"/>
                <a:cs typeface="Roboto"/>
                <a:sym typeface="Roboto"/>
              </a:endParaRPr>
            </a:p>
          </p:txBody>
        </p:sp>
        <p:sp>
          <p:nvSpPr>
            <p:cNvPr id="455" name="Google Shape;455;p74"/>
            <p:cNvSpPr txBox="1"/>
            <p:nvPr/>
          </p:nvSpPr>
          <p:spPr>
            <a:xfrm>
              <a:off x="2277900" y="41417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6" name="Google Shape;456;p74"/>
            <p:cNvSpPr txBox="1"/>
            <p:nvPr/>
          </p:nvSpPr>
          <p:spPr>
            <a:xfrm>
              <a:off x="3403500" y="29411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O(1)</a:t>
              </a:r>
              <a:endParaRPr>
                <a:latin typeface="Roboto"/>
                <a:ea typeface="Roboto"/>
                <a:cs typeface="Roboto"/>
                <a:sym typeface="Roboto"/>
              </a:endParaRPr>
            </a:p>
          </p:txBody>
        </p:sp>
        <p:sp>
          <p:nvSpPr>
            <p:cNvPr id="457" name="Google Shape;457;p74"/>
            <p:cNvSpPr txBox="1"/>
            <p:nvPr/>
          </p:nvSpPr>
          <p:spPr>
            <a:xfrm>
              <a:off x="3403500" y="33413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O(1)</a:t>
              </a:r>
              <a:endParaRPr>
                <a:latin typeface="Roboto"/>
                <a:ea typeface="Roboto"/>
                <a:cs typeface="Roboto"/>
                <a:sym typeface="Roboto"/>
              </a:endParaRPr>
            </a:p>
          </p:txBody>
        </p:sp>
        <p:sp>
          <p:nvSpPr>
            <p:cNvPr id="458" name="Google Shape;458;p74"/>
            <p:cNvSpPr txBox="1"/>
            <p:nvPr/>
          </p:nvSpPr>
          <p:spPr>
            <a:xfrm>
              <a:off x="3403500" y="37415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Roboto"/>
                  <a:ea typeface="Roboto"/>
                  <a:cs typeface="Roboto"/>
                  <a:sym typeface="Roboto"/>
                </a:rPr>
                <a:t>O(N)</a:t>
              </a:r>
              <a:endParaRPr>
                <a:latin typeface="Roboto"/>
                <a:ea typeface="Roboto"/>
                <a:cs typeface="Roboto"/>
                <a:sym typeface="Roboto"/>
              </a:endParaRPr>
            </a:p>
          </p:txBody>
        </p:sp>
        <p:sp>
          <p:nvSpPr>
            <p:cNvPr id="459" name="Google Shape;459;p74"/>
            <p:cNvSpPr txBox="1"/>
            <p:nvPr/>
          </p:nvSpPr>
          <p:spPr>
            <a:xfrm>
              <a:off x="3403500" y="4141775"/>
              <a:ext cx="1125600" cy="400200"/>
            </a:xfrm>
            <a:prstGeom prst="rect">
              <a:avLst/>
            </a:prstGeom>
            <a:noFill/>
            <a:ln w="19050" cap="flat" cmpd="sng">
              <a:solidFill>
                <a:srgbClr val="000000"/>
              </a:solidFill>
              <a:prstDash val="solid"/>
              <a:round/>
              <a:headEnd type="none" w="sm" len="sm"/>
              <a:tailEnd type="none" w="sm" len="sm"/>
            </a:ln>
          </p:spPr>
          <p:txBody>
            <a:bodyPr spcFirstLastPara="1" wrap="square" lIns="0" tIns="91425" rIns="0" bIns="91425" anchor="t" anchorCtr="0">
              <a:spAutoFit/>
            </a:bodyPr>
            <a:lstStyle/>
            <a:p>
              <a:pPr marL="0" lvl="0" indent="0" algn="ctr" rtl="0">
                <a:spcBef>
                  <a:spcPts val="0"/>
                </a:spcBef>
                <a:spcAft>
                  <a:spcPts val="0"/>
                </a:spcAft>
                <a:buNone/>
              </a:pPr>
              <a:r>
                <a:rPr lang="en" dirty="0">
                  <a:latin typeface="Roboto"/>
                  <a:ea typeface="Roboto"/>
                  <a:cs typeface="Roboto"/>
                  <a:sym typeface="Roboto"/>
                </a:rPr>
                <a:t>O(N+Nlog</a:t>
              </a:r>
              <a:r>
                <a:rPr lang="en" baseline="-25000" dirty="0">
                  <a:latin typeface="Roboto"/>
                  <a:ea typeface="Roboto"/>
                  <a:cs typeface="Roboto"/>
                  <a:sym typeface="Roboto"/>
                </a:rPr>
                <a:t>2</a:t>
              </a:r>
              <a:r>
                <a:rPr lang="en" dirty="0">
                  <a:latin typeface="Roboto"/>
                  <a:ea typeface="Roboto"/>
                  <a:cs typeface="Roboto"/>
                  <a:sym typeface="Roboto"/>
                </a:rPr>
                <a:t>N)</a:t>
              </a:r>
              <a:endParaRPr dirty="0">
                <a:latin typeface="Roboto"/>
                <a:ea typeface="Roboto"/>
                <a:cs typeface="Roboto"/>
                <a:sym typeface="Robo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40"/>
                                        </p:tgtEl>
                                        <p:attrNameLst>
                                          <p:attrName>style.visibility</p:attrName>
                                        </p:attrNameLst>
                                      </p:cBhvr>
                                      <p:to>
                                        <p:strVal val="visible"/>
                                      </p:to>
                                    </p:set>
                                    <p:animEffect transition="in" filter="fade">
                                      <p:cBhvr>
                                        <p:cTn id="27" dur="1000"/>
                                        <p:tgtEl>
                                          <p:spTgt spid="44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39"/>
                                        </p:tgtEl>
                                        <p:attrNameLst>
                                          <p:attrName>style.visibility</p:attrName>
                                        </p:attrNameLst>
                                      </p:cBhvr>
                                      <p:to>
                                        <p:strVal val="visible"/>
                                      </p:to>
                                    </p:set>
                                    <p:animEffect transition="in" filter="fade">
                                      <p:cBhvr>
                                        <p:cTn id="32" dur="1000"/>
                                        <p:tgtEl>
                                          <p:spTgt spid="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75"/>
          <p:cNvSpPr txBox="1"/>
          <p:nvPr/>
        </p:nvSpPr>
        <p:spPr>
          <a:xfrm>
            <a:off x="2829425" y="1364925"/>
            <a:ext cx="2944200" cy="434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An </a:t>
            </a:r>
            <a:r>
              <a:rPr lang="en" b="1" i="1">
                <a:solidFill>
                  <a:srgbClr val="FF0000"/>
                </a:solidFill>
              </a:rPr>
              <a:t>empty tree</a:t>
            </a:r>
            <a:r>
              <a:rPr lang="en"/>
              <a:t>...</a:t>
            </a:r>
            <a:endParaRPr/>
          </a:p>
        </p:txBody>
      </p:sp>
      <p:sp>
        <p:nvSpPr>
          <p:cNvPr id="465" name="Google Shape;465;p75"/>
          <p:cNvSpPr txBox="1"/>
          <p:nvPr/>
        </p:nvSpPr>
        <p:spPr>
          <a:xfrm>
            <a:off x="2829425" y="3008875"/>
            <a:ext cx="2944200" cy="509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Can you see it?  It’s right there...</a:t>
            </a:r>
            <a:endParaRPr dirty="0"/>
          </a:p>
        </p:txBody>
      </p:sp>
      <p:sp>
        <p:nvSpPr>
          <p:cNvPr id="466" name="Google Shape;466;p75"/>
          <p:cNvSpPr txBox="1"/>
          <p:nvPr/>
        </p:nvSpPr>
        <p:spPr>
          <a:xfrm>
            <a:off x="2829425" y="3625207"/>
            <a:ext cx="29442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The empty tree is a tree with no data, and no sub-trees.</a:t>
            </a:r>
            <a:endParaRPr/>
          </a:p>
        </p:txBody>
      </p:sp>
      <p:sp>
        <p:nvSpPr>
          <p:cNvPr id="467" name="Google Shape;467;p75"/>
          <p:cNvSpPr txBox="1"/>
          <p:nvPr/>
        </p:nvSpPr>
        <p:spPr>
          <a:xfrm>
            <a:off x="2829425" y="4315925"/>
            <a:ext cx="2944200" cy="655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The empty tree is represented using </a:t>
            </a:r>
            <a:r>
              <a:rPr lang="en">
                <a:solidFill>
                  <a:srgbClr val="FF0000"/>
                </a:solidFill>
                <a:latin typeface="Consolas"/>
                <a:ea typeface="Consolas"/>
                <a:cs typeface="Consolas"/>
                <a:sym typeface="Consolas"/>
              </a:rPr>
              <a:t>null</a:t>
            </a:r>
            <a:r>
              <a:rPr lang="en"/>
              <a:t>.</a:t>
            </a:r>
            <a:endParaRPr/>
          </a:p>
        </p:txBody>
      </p:sp>
      <p:sp>
        <p:nvSpPr>
          <p:cNvPr id="468" name="Google Shape;468;p75"/>
          <p:cNvSpPr txBox="1"/>
          <p:nvPr/>
        </p:nvSpPr>
        <p:spPr>
          <a:xfrm>
            <a:off x="6216075" y="1364931"/>
            <a:ext cx="2533200" cy="434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A </a:t>
            </a:r>
            <a:r>
              <a:rPr lang="en" b="1" i="1">
                <a:solidFill>
                  <a:srgbClr val="FF0000"/>
                </a:solidFill>
              </a:rPr>
              <a:t>non-empty tree</a:t>
            </a:r>
            <a:r>
              <a:rPr lang="en" b="1" i="1"/>
              <a:t>...</a:t>
            </a:r>
            <a:endParaRPr/>
          </a:p>
        </p:txBody>
      </p:sp>
      <p:sp>
        <p:nvSpPr>
          <p:cNvPr id="469" name="Google Shape;469;p75"/>
          <p:cNvSpPr txBox="1"/>
          <p:nvPr/>
        </p:nvSpPr>
        <p:spPr>
          <a:xfrm>
            <a:off x="6214375" y="3457550"/>
            <a:ext cx="2533200" cy="1079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dirty="0"/>
              <a:t>A non-empty tree includes </a:t>
            </a:r>
            <a:r>
              <a:rPr lang="en" b="1" i="1" dirty="0">
                <a:solidFill>
                  <a:srgbClr val="FF0000"/>
                </a:solidFill>
              </a:rPr>
              <a:t>a value</a:t>
            </a:r>
            <a:r>
              <a:rPr lang="en" dirty="0"/>
              <a:t> and a </a:t>
            </a:r>
            <a:r>
              <a:rPr lang="en" b="1" i="1" dirty="0">
                <a:solidFill>
                  <a:srgbClr val="FF0000"/>
                </a:solidFill>
              </a:rPr>
              <a:t>left subtree</a:t>
            </a:r>
            <a:r>
              <a:rPr lang="en" dirty="0"/>
              <a:t> and a </a:t>
            </a:r>
            <a:r>
              <a:rPr lang="en" b="1" i="1" dirty="0">
                <a:solidFill>
                  <a:srgbClr val="FF0000"/>
                </a:solidFill>
              </a:rPr>
              <a:t>right subtree</a:t>
            </a:r>
            <a:r>
              <a:rPr lang="en" dirty="0"/>
              <a:t>, either or both of which may be empty.</a:t>
            </a:r>
            <a:endParaRPr dirty="0"/>
          </a:p>
        </p:txBody>
      </p:sp>
      <p:sp>
        <p:nvSpPr>
          <p:cNvPr id="470" name="Google Shape;470;p75"/>
          <p:cNvSpPr txBox="1"/>
          <p:nvPr/>
        </p:nvSpPr>
        <p:spPr>
          <a:xfrm>
            <a:off x="225725" y="1364925"/>
            <a:ext cx="2464500" cy="655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 </a:t>
            </a:r>
            <a:r>
              <a:rPr lang="en" b="1" i="1">
                <a:solidFill>
                  <a:srgbClr val="FF0000"/>
                </a:solidFill>
              </a:rPr>
              <a:t>binary tree</a:t>
            </a:r>
            <a:r>
              <a:rPr lang="en"/>
              <a:t> is one of two things... </a:t>
            </a:r>
            <a:endParaRPr/>
          </a:p>
        </p:txBody>
      </p:sp>
      <p:sp>
        <p:nvSpPr>
          <p:cNvPr id="471" name="Google Shape;471;p7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Binary Trees… What Are They Even?</a:t>
            </a:r>
            <a:endParaRPr/>
          </a:p>
        </p:txBody>
      </p:sp>
      <p:grpSp>
        <p:nvGrpSpPr>
          <p:cNvPr id="472" name="Google Shape;472;p75"/>
          <p:cNvGrpSpPr/>
          <p:nvPr/>
        </p:nvGrpSpPr>
        <p:grpSpPr>
          <a:xfrm>
            <a:off x="3315275" y="1968650"/>
            <a:ext cx="1972500" cy="870900"/>
            <a:chOff x="3439875" y="2050300"/>
            <a:chExt cx="1972500" cy="870900"/>
          </a:xfrm>
        </p:grpSpPr>
        <p:cxnSp>
          <p:nvCxnSpPr>
            <p:cNvPr id="473" name="Google Shape;473;p75"/>
            <p:cNvCxnSpPr/>
            <p:nvPr/>
          </p:nvCxnSpPr>
          <p:spPr>
            <a:xfrm>
              <a:off x="3439875" y="2050300"/>
              <a:ext cx="600900" cy="261300"/>
            </a:xfrm>
            <a:prstGeom prst="straightConnector1">
              <a:avLst/>
            </a:prstGeom>
            <a:noFill/>
            <a:ln w="38100" cap="flat" cmpd="sng">
              <a:solidFill>
                <a:srgbClr val="FFFFFF"/>
              </a:solidFill>
              <a:prstDash val="solid"/>
              <a:round/>
              <a:headEnd type="none" w="med" len="med"/>
              <a:tailEnd type="triangle" w="med" len="med"/>
            </a:ln>
          </p:spPr>
        </p:cxnSp>
        <p:cxnSp>
          <p:nvCxnSpPr>
            <p:cNvPr id="474" name="Google Shape;474;p75"/>
            <p:cNvCxnSpPr/>
            <p:nvPr/>
          </p:nvCxnSpPr>
          <p:spPr>
            <a:xfrm rot="10800000" flipH="1">
              <a:off x="3439875" y="2659900"/>
              <a:ext cx="600900" cy="261300"/>
            </a:xfrm>
            <a:prstGeom prst="straightConnector1">
              <a:avLst/>
            </a:prstGeom>
            <a:noFill/>
            <a:ln w="38100" cap="flat" cmpd="sng">
              <a:solidFill>
                <a:srgbClr val="FFFFFF"/>
              </a:solidFill>
              <a:prstDash val="solid"/>
              <a:round/>
              <a:headEnd type="none" w="med" len="med"/>
              <a:tailEnd type="triangle" w="med" len="med"/>
            </a:ln>
          </p:spPr>
        </p:cxnSp>
        <p:cxnSp>
          <p:nvCxnSpPr>
            <p:cNvPr id="475" name="Google Shape;475;p75"/>
            <p:cNvCxnSpPr/>
            <p:nvPr/>
          </p:nvCxnSpPr>
          <p:spPr>
            <a:xfrm flipH="1">
              <a:off x="4811475" y="2050300"/>
              <a:ext cx="600900" cy="261300"/>
            </a:xfrm>
            <a:prstGeom prst="straightConnector1">
              <a:avLst/>
            </a:prstGeom>
            <a:noFill/>
            <a:ln w="38100" cap="flat" cmpd="sng">
              <a:solidFill>
                <a:srgbClr val="FFFFFF"/>
              </a:solidFill>
              <a:prstDash val="solid"/>
              <a:round/>
              <a:headEnd type="none" w="med" len="med"/>
              <a:tailEnd type="triangle" w="med" len="med"/>
            </a:ln>
          </p:spPr>
        </p:cxnSp>
        <p:cxnSp>
          <p:nvCxnSpPr>
            <p:cNvPr id="476" name="Google Shape;476;p75"/>
            <p:cNvCxnSpPr/>
            <p:nvPr/>
          </p:nvCxnSpPr>
          <p:spPr>
            <a:xfrm rot="10800000">
              <a:off x="4811475" y="2659900"/>
              <a:ext cx="600900" cy="261300"/>
            </a:xfrm>
            <a:prstGeom prst="straightConnector1">
              <a:avLst/>
            </a:prstGeom>
            <a:noFill/>
            <a:ln w="38100" cap="flat" cmpd="sng">
              <a:solidFill>
                <a:srgbClr val="FFFFFF"/>
              </a:solidFill>
              <a:prstDash val="solid"/>
              <a:round/>
              <a:headEnd type="none" w="med" len="med"/>
              <a:tailEnd type="triangle" w="med" len="med"/>
            </a:ln>
          </p:spPr>
        </p:cxnSp>
      </p:grpSp>
      <p:grpSp>
        <p:nvGrpSpPr>
          <p:cNvPr id="477" name="Google Shape;477;p75"/>
          <p:cNvGrpSpPr/>
          <p:nvPr/>
        </p:nvGrpSpPr>
        <p:grpSpPr>
          <a:xfrm>
            <a:off x="6492250" y="1987950"/>
            <a:ext cx="1965900" cy="1217959"/>
            <a:chOff x="6492250" y="1987950"/>
            <a:chExt cx="1965900" cy="1217959"/>
          </a:xfrm>
        </p:grpSpPr>
        <p:grpSp>
          <p:nvGrpSpPr>
            <p:cNvPr id="478" name="Google Shape;478;p75"/>
            <p:cNvGrpSpPr/>
            <p:nvPr/>
          </p:nvGrpSpPr>
          <p:grpSpPr>
            <a:xfrm>
              <a:off x="6835362" y="1987950"/>
              <a:ext cx="1277400" cy="937504"/>
              <a:chOff x="6835362" y="1987950"/>
              <a:chExt cx="1277400" cy="937504"/>
            </a:xfrm>
          </p:grpSpPr>
          <p:cxnSp>
            <p:nvCxnSpPr>
              <p:cNvPr id="479" name="Google Shape;479;p75"/>
              <p:cNvCxnSpPr>
                <a:stCxn id="480" idx="3"/>
              </p:cNvCxnSpPr>
              <p:nvPr/>
            </p:nvCxnSpPr>
            <p:spPr>
              <a:xfrm flipH="1">
                <a:off x="6835362" y="2486254"/>
                <a:ext cx="439200" cy="439200"/>
              </a:xfrm>
              <a:prstGeom prst="straightConnector1">
                <a:avLst/>
              </a:prstGeom>
              <a:noFill/>
              <a:ln w="28575" cap="flat" cmpd="sng">
                <a:solidFill>
                  <a:srgbClr val="000000"/>
                </a:solidFill>
                <a:prstDash val="solid"/>
                <a:round/>
                <a:headEnd type="none" w="med" len="med"/>
                <a:tailEnd type="triangle" w="med" len="med"/>
              </a:ln>
            </p:spPr>
          </p:cxnSp>
          <p:cxnSp>
            <p:nvCxnSpPr>
              <p:cNvPr id="481" name="Google Shape;481;p75"/>
              <p:cNvCxnSpPr/>
              <p:nvPr/>
            </p:nvCxnSpPr>
            <p:spPr>
              <a:xfrm>
                <a:off x="7673562" y="2486254"/>
                <a:ext cx="439200" cy="439200"/>
              </a:xfrm>
              <a:prstGeom prst="straightConnector1">
                <a:avLst/>
              </a:prstGeom>
              <a:noFill/>
              <a:ln w="28575" cap="flat" cmpd="sng">
                <a:solidFill>
                  <a:srgbClr val="000000"/>
                </a:solidFill>
                <a:prstDash val="solid"/>
                <a:round/>
                <a:headEnd type="none" w="med" len="med"/>
                <a:tailEnd type="triangle" w="med" len="med"/>
              </a:ln>
            </p:spPr>
          </p:cxnSp>
          <p:sp>
            <p:nvSpPr>
              <p:cNvPr id="480" name="Google Shape;480;p75"/>
              <p:cNvSpPr/>
              <p:nvPr/>
            </p:nvSpPr>
            <p:spPr>
              <a:xfrm>
                <a:off x="7189066" y="1987950"/>
                <a:ext cx="583800" cy="5838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12</a:t>
                </a:r>
                <a:endParaRPr/>
              </a:p>
            </p:txBody>
          </p:sp>
        </p:grpSp>
        <p:sp>
          <p:nvSpPr>
            <p:cNvPr id="482" name="Google Shape;482;p75"/>
            <p:cNvSpPr txBox="1"/>
            <p:nvPr/>
          </p:nvSpPr>
          <p:spPr>
            <a:xfrm>
              <a:off x="6492250" y="2771509"/>
              <a:ext cx="365700" cy="434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sp>
          <p:nvSpPr>
            <p:cNvPr id="483" name="Google Shape;483;p75"/>
            <p:cNvSpPr txBox="1"/>
            <p:nvPr/>
          </p:nvSpPr>
          <p:spPr>
            <a:xfrm>
              <a:off x="8092450" y="2771509"/>
              <a:ext cx="365700" cy="434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grpSp>
      <p:sp>
        <p:nvSpPr>
          <p:cNvPr id="484" name="Google Shape;484;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0"/>
                                        </p:tgtEl>
                                        <p:attrNameLst>
                                          <p:attrName>style.visibility</p:attrName>
                                        </p:attrNameLst>
                                      </p:cBhvr>
                                      <p:to>
                                        <p:strVal val="visible"/>
                                      </p:to>
                                    </p:set>
                                    <p:animEffect transition="in" filter="fade">
                                      <p:cBhvr>
                                        <p:cTn id="7" dur="1000"/>
                                        <p:tgtEl>
                                          <p:spTgt spid="4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4"/>
                                        </p:tgtEl>
                                        <p:attrNameLst>
                                          <p:attrName>style.visibility</p:attrName>
                                        </p:attrNameLst>
                                      </p:cBhvr>
                                      <p:to>
                                        <p:strVal val="visible"/>
                                      </p:to>
                                    </p:set>
                                    <p:animEffect transition="in" filter="fade">
                                      <p:cBhvr>
                                        <p:cTn id="12" dur="1000"/>
                                        <p:tgtEl>
                                          <p:spTgt spid="46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5"/>
                                        </p:tgtEl>
                                        <p:attrNameLst>
                                          <p:attrName>style.visibility</p:attrName>
                                        </p:attrNameLst>
                                      </p:cBhvr>
                                      <p:to>
                                        <p:strVal val="visible"/>
                                      </p:to>
                                    </p:set>
                                    <p:animEffect transition="in" filter="fade">
                                      <p:cBhvr>
                                        <p:cTn id="17" dur="1000"/>
                                        <p:tgtEl>
                                          <p:spTgt spid="465"/>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472"/>
                                        </p:tgtEl>
                                        <p:attrNameLst>
                                          <p:attrName>style.visibility</p:attrName>
                                        </p:attrNameLst>
                                      </p:cBhvr>
                                      <p:to>
                                        <p:strVal val="visible"/>
                                      </p:to>
                                    </p:set>
                                    <p:animEffect transition="in" filter="fade">
                                      <p:cBhvr>
                                        <p:cTn id="21" dur="1000"/>
                                        <p:tgtEl>
                                          <p:spTgt spid="47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66"/>
                                        </p:tgtEl>
                                        <p:attrNameLst>
                                          <p:attrName>style.visibility</p:attrName>
                                        </p:attrNameLst>
                                      </p:cBhvr>
                                      <p:to>
                                        <p:strVal val="visible"/>
                                      </p:to>
                                    </p:set>
                                    <p:animEffect transition="in" filter="fade">
                                      <p:cBhvr>
                                        <p:cTn id="26" dur="1000"/>
                                        <p:tgtEl>
                                          <p:spTgt spid="46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67"/>
                                        </p:tgtEl>
                                        <p:attrNameLst>
                                          <p:attrName>style.visibility</p:attrName>
                                        </p:attrNameLst>
                                      </p:cBhvr>
                                      <p:to>
                                        <p:strVal val="visible"/>
                                      </p:to>
                                    </p:set>
                                    <p:animEffect transition="in" filter="fade">
                                      <p:cBhvr>
                                        <p:cTn id="31" dur="1000"/>
                                        <p:tgtEl>
                                          <p:spTgt spid="46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68"/>
                                        </p:tgtEl>
                                        <p:attrNameLst>
                                          <p:attrName>style.visibility</p:attrName>
                                        </p:attrNameLst>
                                      </p:cBhvr>
                                      <p:to>
                                        <p:strVal val="visible"/>
                                      </p:to>
                                    </p:set>
                                    <p:animEffect transition="in" filter="fade">
                                      <p:cBhvr>
                                        <p:cTn id="36" dur="1000"/>
                                        <p:tgtEl>
                                          <p:spTgt spid="468"/>
                                        </p:tgtEl>
                                      </p:cBhvr>
                                    </p:animEffect>
                                  </p:childTnLst>
                                </p:cTn>
                              </p:par>
                            </p:childTnLst>
                          </p:cTn>
                        </p:par>
                        <p:par>
                          <p:cTn id="37" fill="hold">
                            <p:stCondLst>
                              <p:cond delay="1000"/>
                            </p:stCondLst>
                            <p:childTnLst>
                              <p:par>
                                <p:cTn id="38" presetID="10" presetClass="entr" presetSubtype="0" fill="hold" nodeType="afterEffect">
                                  <p:stCondLst>
                                    <p:cond delay="0"/>
                                  </p:stCondLst>
                                  <p:childTnLst>
                                    <p:set>
                                      <p:cBhvr>
                                        <p:cTn id="39" dur="1" fill="hold">
                                          <p:stCondLst>
                                            <p:cond delay="0"/>
                                          </p:stCondLst>
                                        </p:cTn>
                                        <p:tgtEl>
                                          <p:spTgt spid="477"/>
                                        </p:tgtEl>
                                        <p:attrNameLst>
                                          <p:attrName>style.visibility</p:attrName>
                                        </p:attrNameLst>
                                      </p:cBhvr>
                                      <p:to>
                                        <p:strVal val="visible"/>
                                      </p:to>
                                    </p:set>
                                    <p:animEffect transition="in" filter="fade">
                                      <p:cBhvr>
                                        <p:cTn id="40" dur="1000"/>
                                        <p:tgtEl>
                                          <p:spTgt spid="47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69"/>
                                        </p:tgtEl>
                                        <p:attrNameLst>
                                          <p:attrName>style.visibility</p:attrName>
                                        </p:attrNameLst>
                                      </p:cBhvr>
                                      <p:to>
                                        <p:strVal val="visible"/>
                                      </p:to>
                                    </p:set>
                                    <p:animEffect transition="in" filter="fade">
                                      <p:cBhvr>
                                        <p:cTn id="45" dur="10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grpSp>
        <p:nvGrpSpPr>
          <p:cNvPr id="489" name="Google Shape;489;p76"/>
          <p:cNvGrpSpPr/>
          <p:nvPr/>
        </p:nvGrpSpPr>
        <p:grpSpPr>
          <a:xfrm>
            <a:off x="1044825" y="2603875"/>
            <a:ext cx="1197643" cy="226200"/>
            <a:chOff x="1044825" y="2603875"/>
            <a:chExt cx="1197643" cy="226200"/>
          </a:xfrm>
        </p:grpSpPr>
        <p:cxnSp>
          <p:nvCxnSpPr>
            <p:cNvPr id="490" name="Google Shape;490;p76"/>
            <p:cNvCxnSpPr/>
            <p:nvPr/>
          </p:nvCxnSpPr>
          <p:spPr>
            <a:xfrm flipH="1">
              <a:off x="1044825" y="2603875"/>
              <a:ext cx="392100" cy="226200"/>
            </a:xfrm>
            <a:prstGeom prst="straightConnector1">
              <a:avLst/>
            </a:prstGeom>
            <a:noFill/>
            <a:ln w="28575" cap="flat" cmpd="sng">
              <a:solidFill>
                <a:srgbClr val="FFFFFF"/>
              </a:solidFill>
              <a:prstDash val="solid"/>
              <a:round/>
              <a:headEnd type="none" w="med" len="med"/>
              <a:tailEnd type="triangle" w="med" len="med"/>
            </a:ln>
          </p:spPr>
        </p:cxnSp>
        <p:cxnSp>
          <p:nvCxnSpPr>
            <p:cNvPr id="491" name="Google Shape;491;p76"/>
            <p:cNvCxnSpPr/>
            <p:nvPr/>
          </p:nvCxnSpPr>
          <p:spPr>
            <a:xfrm>
              <a:off x="1850368" y="2603875"/>
              <a:ext cx="392100" cy="226200"/>
            </a:xfrm>
            <a:prstGeom prst="straightConnector1">
              <a:avLst/>
            </a:prstGeom>
            <a:noFill/>
            <a:ln w="28575" cap="flat" cmpd="sng">
              <a:solidFill>
                <a:srgbClr val="FFFFFF"/>
              </a:solidFill>
              <a:prstDash val="solid"/>
              <a:round/>
              <a:headEnd type="none" w="med" len="med"/>
              <a:tailEnd type="triangle" w="med" len="med"/>
            </a:ln>
          </p:spPr>
        </p:cxnSp>
      </p:grpSp>
      <p:sp>
        <p:nvSpPr>
          <p:cNvPr id="492" name="Google Shape;492;p76"/>
          <p:cNvSpPr txBox="1"/>
          <p:nvPr/>
        </p:nvSpPr>
        <p:spPr>
          <a:xfrm>
            <a:off x="3312475" y="1390025"/>
            <a:ext cx="26427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A </a:t>
            </a:r>
            <a:r>
              <a:rPr lang="en" b="1" i="1">
                <a:solidFill>
                  <a:srgbClr val="FF0000"/>
                </a:solidFill>
              </a:rPr>
              <a:t>leaf</a:t>
            </a:r>
            <a:r>
              <a:rPr lang="en">
                <a:solidFill>
                  <a:srgbClr val="FF0000"/>
                </a:solidFill>
              </a:rPr>
              <a:t> </a:t>
            </a:r>
            <a:r>
              <a:rPr lang="en"/>
              <a:t>is a node whose left and right subtrees are both empty.</a:t>
            </a:r>
            <a:endParaRPr/>
          </a:p>
        </p:txBody>
      </p:sp>
      <p:sp>
        <p:nvSpPr>
          <p:cNvPr id="493" name="Google Shape;493;p76"/>
          <p:cNvSpPr txBox="1"/>
          <p:nvPr/>
        </p:nvSpPr>
        <p:spPr>
          <a:xfrm>
            <a:off x="6241925" y="1390025"/>
            <a:ext cx="25332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An </a:t>
            </a:r>
            <a:r>
              <a:rPr lang="en" b="1" i="1">
                <a:solidFill>
                  <a:srgbClr val="FF0000"/>
                </a:solidFill>
              </a:rPr>
              <a:t>internal node</a:t>
            </a:r>
            <a:r>
              <a:rPr lang="en">
                <a:solidFill>
                  <a:srgbClr val="FF0000"/>
                </a:solidFill>
              </a:rPr>
              <a:t> </a:t>
            </a:r>
            <a:r>
              <a:rPr lang="en"/>
              <a:t>is a node that is not a leaf.</a:t>
            </a:r>
            <a:endParaRPr/>
          </a:p>
        </p:txBody>
      </p:sp>
      <p:sp>
        <p:nvSpPr>
          <p:cNvPr id="494" name="Google Shape;494;p76"/>
          <p:cNvSpPr txBox="1"/>
          <p:nvPr/>
        </p:nvSpPr>
        <p:spPr>
          <a:xfrm>
            <a:off x="6235961" y="3648837"/>
            <a:ext cx="2533200" cy="831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That is to say that </a:t>
            </a:r>
            <a:r>
              <a:rPr lang="en" b="1"/>
              <a:t>one</a:t>
            </a:r>
            <a:r>
              <a:rPr lang="en"/>
              <a:t> or </a:t>
            </a:r>
            <a:r>
              <a:rPr lang="en" b="1"/>
              <a:t>both</a:t>
            </a:r>
            <a:r>
              <a:rPr lang="en"/>
              <a:t> of its subtrees is not an empty tree.</a:t>
            </a:r>
            <a:endParaRPr/>
          </a:p>
        </p:txBody>
      </p:sp>
      <p:sp>
        <p:nvSpPr>
          <p:cNvPr id="495" name="Google Shape;495;p76"/>
          <p:cNvSpPr txBox="1"/>
          <p:nvPr/>
        </p:nvSpPr>
        <p:spPr>
          <a:xfrm>
            <a:off x="327774" y="1390037"/>
            <a:ext cx="26427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A non-empty tree comprises at least one </a:t>
            </a:r>
            <a:r>
              <a:rPr lang="en" b="1" i="1" dirty="0">
                <a:solidFill>
                  <a:srgbClr val="FF0000"/>
                </a:solidFill>
              </a:rPr>
              <a:t>node</a:t>
            </a:r>
            <a:r>
              <a:rPr lang="en" dirty="0"/>
              <a:t>.</a:t>
            </a:r>
            <a:endParaRPr dirty="0"/>
          </a:p>
        </p:txBody>
      </p:sp>
      <p:sp>
        <p:nvSpPr>
          <p:cNvPr id="496" name="Google Shape;496;p76"/>
          <p:cNvSpPr txBox="1"/>
          <p:nvPr/>
        </p:nvSpPr>
        <p:spPr>
          <a:xfrm>
            <a:off x="327786" y="3158233"/>
            <a:ext cx="26427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In diagrams, a node is represented as a circle.</a:t>
            </a:r>
            <a:endParaRPr/>
          </a:p>
        </p:txBody>
      </p:sp>
      <p:sp>
        <p:nvSpPr>
          <p:cNvPr id="497" name="Google Shape;497;p76"/>
          <p:cNvSpPr txBox="1"/>
          <p:nvPr/>
        </p:nvSpPr>
        <p:spPr>
          <a:xfrm>
            <a:off x="327774" y="3803533"/>
            <a:ext cx="26427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The </a:t>
            </a:r>
            <a:r>
              <a:rPr lang="en" b="1" i="1">
                <a:solidFill>
                  <a:srgbClr val="FF0000"/>
                </a:solidFill>
              </a:rPr>
              <a:t>value</a:t>
            </a:r>
            <a:r>
              <a:rPr lang="en">
                <a:solidFill>
                  <a:srgbClr val="FF0000"/>
                </a:solidFill>
              </a:rPr>
              <a:t> </a:t>
            </a:r>
            <a:r>
              <a:rPr lang="en"/>
              <a:t>is written inside the circle.</a:t>
            </a:r>
            <a:endParaRPr/>
          </a:p>
        </p:txBody>
      </p:sp>
      <p:sp>
        <p:nvSpPr>
          <p:cNvPr id="498" name="Google Shape;498;p76"/>
          <p:cNvSpPr txBox="1"/>
          <p:nvPr/>
        </p:nvSpPr>
        <p:spPr>
          <a:xfrm>
            <a:off x="327786" y="4448833"/>
            <a:ext cx="26427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The</a:t>
            </a:r>
            <a:r>
              <a:rPr lang="en" b="1" i="1"/>
              <a:t> </a:t>
            </a:r>
            <a:r>
              <a:rPr lang="en" b="1" i="1">
                <a:solidFill>
                  <a:srgbClr val="FF0000"/>
                </a:solidFill>
              </a:rPr>
              <a:t>subtrees</a:t>
            </a:r>
            <a:r>
              <a:rPr lang="en">
                <a:solidFill>
                  <a:srgbClr val="FF0000"/>
                </a:solidFill>
              </a:rPr>
              <a:t> </a:t>
            </a:r>
            <a:r>
              <a:rPr lang="en"/>
              <a:t>are indicated using arrows.</a:t>
            </a:r>
            <a:endParaRPr/>
          </a:p>
        </p:txBody>
      </p:sp>
      <p:sp>
        <p:nvSpPr>
          <p:cNvPr id="499" name="Google Shape;499;p76"/>
          <p:cNvSpPr txBox="1"/>
          <p:nvPr/>
        </p:nvSpPr>
        <p:spPr>
          <a:xfrm>
            <a:off x="3312474" y="3158233"/>
            <a:ext cx="2642700" cy="583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The arrows are not drawn for empty subtrees.</a:t>
            </a:r>
            <a:endParaRPr/>
          </a:p>
        </p:txBody>
      </p:sp>
      <p:sp>
        <p:nvSpPr>
          <p:cNvPr id="500" name="Google Shape;500;p76"/>
          <p:cNvSpPr txBox="1"/>
          <p:nvPr/>
        </p:nvSpPr>
        <p:spPr>
          <a:xfrm>
            <a:off x="3312475" y="3828670"/>
            <a:ext cx="2642700" cy="997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These subtrees may also be referred to as </a:t>
            </a:r>
            <a:r>
              <a:rPr lang="en" b="1" i="1">
                <a:solidFill>
                  <a:srgbClr val="FF0000"/>
                </a:solidFill>
              </a:rPr>
              <a:t>empty nodes</a:t>
            </a:r>
            <a:r>
              <a:rPr lang="en">
                <a:solidFill>
                  <a:srgbClr val="FF0000"/>
                </a:solidFill>
              </a:rPr>
              <a:t> </a:t>
            </a:r>
            <a:r>
              <a:rPr lang="en"/>
              <a:t>and are represented using </a:t>
            </a:r>
            <a:r>
              <a:rPr lang="en">
                <a:solidFill>
                  <a:srgbClr val="FF0000"/>
                </a:solidFill>
                <a:latin typeface="Consolas"/>
                <a:ea typeface="Consolas"/>
                <a:cs typeface="Consolas"/>
                <a:sym typeface="Consolas"/>
              </a:rPr>
              <a:t>null</a:t>
            </a:r>
            <a:r>
              <a:rPr lang="en"/>
              <a:t>.</a:t>
            </a:r>
            <a:endParaRPr/>
          </a:p>
        </p:txBody>
      </p:sp>
      <p:sp>
        <p:nvSpPr>
          <p:cNvPr id="501" name="Google Shape;501;p7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Parts of a Binary Tree</a:t>
            </a:r>
            <a:endParaRPr/>
          </a:p>
        </p:txBody>
      </p:sp>
      <p:sp>
        <p:nvSpPr>
          <p:cNvPr id="502" name="Google Shape;502;p76"/>
          <p:cNvSpPr/>
          <p:nvPr/>
        </p:nvSpPr>
        <p:spPr>
          <a:xfrm>
            <a:off x="1357216" y="2110075"/>
            <a:ext cx="583800" cy="5838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 name="Google Shape;503;p76"/>
          <p:cNvSpPr txBox="1"/>
          <p:nvPr/>
        </p:nvSpPr>
        <p:spPr>
          <a:xfrm>
            <a:off x="1357375" y="2110200"/>
            <a:ext cx="583800" cy="58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12</a:t>
            </a:r>
            <a:endParaRPr>
              <a:latin typeface="Roboto"/>
              <a:ea typeface="Roboto"/>
              <a:cs typeface="Roboto"/>
              <a:sym typeface="Roboto"/>
            </a:endParaRPr>
          </a:p>
        </p:txBody>
      </p:sp>
      <p:grpSp>
        <p:nvGrpSpPr>
          <p:cNvPr id="504" name="Google Shape;504;p76"/>
          <p:cNvGrpSpPr/>
          <p:nvPr/>
        </p:nvGrpSpPr>
        <p:grpSpPr>
          <a:xfrm>
            <a:off x="4280016" y="2110075"/>
            <a:ext cx="583959" cy="583925"/>
            <a:chOff x="4280016" y="2110075"/>
            <a:chExt cx="583959" cy="583925"/>
          </a:xfrm>
        </p:grpSpPr>
        <p:sp>
          <p:nvSpPr>
            <p:cNvPr id="505" name="Google Shape;505;p76"/>
            <p:cNvSpPr/>
            <p:nvPr/>
          </p:nvSpPr>
          <p:spPr>
            <a:xfrm>
              <a:off x="4280016" y="2110075"/>
              <a:ext cx="583800" cy="5838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6" name="Google Shape;506;p76"/>
            <p:cNvSpPr txBox="1"/>
            <p:nvPr/>
          </p:nvSpPr>
          <p:spPr>
            <a:xfrm>
              <a:off x="4280175" y="2110200"/>
              <a:ext cx="583800" cy="58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12</a:t>
              </a:r>
              <a:endParaRPr>
                <a:latin typeface="Roboto"/>
                <a:ea typeface="Roboto"/>
                <a:cs typeface="Roboto"/>
                <a:sym typeface="Roboto"/>
              </a:endParaRPr>
            </a:p>
          </p:txBody>
        </p:sp>
      </p:grpSp>
      <p:grpSp>
        <p:nvGrpSpPr>
          <p:cNvPr id="507" name="Google Shape;507;p76"/>
          <p:cNvGrpSpPr/>
          <p:nvPr/>
        </p:nvGrpSpPr>
        <p:grpSpPr>
          <a:xfrm>
            <a:off x="6355791" y="2110075"/>
            <a:ext cx="2305450" cy="1167600"/>
            <a:chOff x="6440141" y="2091300"/>
            <a:chExt cx="2305450" cy="1167600"/>
          </a:xfrm>
        </p:grpSpPr>
        <p:sp>
          <p:nvSpPr>
            <p:cNvPr id="508" name="Google Shape;508;p76"/>
            <p:cNvSpPr/>
            <p:nvPr/>
          </p:nvSpPr>
          <p:spPr>
            <a:xfrm>
              <a:off x="6440141" y="2675100"/>
              <a:ext cx="583800" cy="5838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15</a:t>
              </a:r>
              <a:endParaRPr/>
            </a:p>
          </p:txBody>
        </p:sp>
        <p:grpSp>
          <p:nvGrpSpPr>
            <p:cNvPr id="509" name="Google Shape;509;p76"/>
            <p:cNvGrpSpPr/>
            <p:nvPr/>
          </p:nvGrpSpPr>
          <p:grpSpPr>
            <a:xfrm>
              <a:off x="6988425" y="2585100"/>
              <a:ext cx="1197643" cy="226200"/>
              <a:chOff x="1044825" y="2603875"/>
              <a:chExt cx="1197643" cy="226200"/>
            </a:xfrm>
          </p:grpSpPr>
          <p:cxnSp>
            <p:nvCxnSpPr>
              <p:cNvPr id="510" name="Google Shape;510;p76"/>
              <p:cNvCxnSpPr/>
              <p:nvPr/>
            </p:nvCxnSpPr>
            <p:spPr>
              <a:xfrm flipH="1">
                <a:off x="1044825" y="2603875"/>
                <a:ext cx="392100" cy="226200"/>
              </a:xfrm>
              <a:prstGeom prst="straightConnector1">
                <a:avLst/>
              </a:prstGeom>
              <a:noFill/>
              <a:ln w="28575" cap="flat" cmpd="sng">
                <a:solidFill>
                  <a:srgbClr val="000000"/>
                </a:solidFill>
                <a:prstDash val="solid"/>
                <a:round/>
                <a:headEnd type="none" w="med" len="med"/>
                <a:tailEnd type="triangle" w="med" len="med"/>
              </a:ln>
            </p:spPr>
          </p:cxnSp>
          <p:cxnSp>
            <p:nvCxnSpPr>
              <p:cNvPr id="511" name="Google Shape;511;p76"/>
              <p:cNvCxnSpPr/>
              <p:nvPr/>
            </p:nvCxnSpPr>
            <p:spPr>
              <a:xfrm>
                <a:off x="1850368" y="2603875"/>
                <a:ext cx="392100" cy="226200"/>
              </a:xfrm>
              <a:prstGeom prst="straightConnector1">
                <a:avLst/>
              </a:prstGeom>
              <a:noFill/>
              <a:ln w="28575" cap="flat" cmpd="sng">
                <a:solidFill>
                  <a:srgbClr val="000000"/>
                </a:solidFill>
                <a:prstDash val="solid"/>
                <a:round/>
                <a:headEnd type="none" w="med" len="med"/>
                <a:tailEnd type="triangle" w="med" len="med"/>
              </a:ln>
            </p:spPr>
          </p:cxnSp>
        </p:grpSp>
        <p:sp>
          <p:nvSpPr>
            <p:cNvPr id="512" name="Google Shape;512;p76"/>
            <p:cNvSpPr/>
            <p:nvPr/>
          </p:nvSpPr>
          <p:spPr>
            <a:xfrm>
              <a:off x="7300816" y="2091300"/>
              <a:ext cx="583800" cy="5838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 name="Google Shape;513;p76"/>
            <p:cNvSpPr txBox="1"/>
            <p:nvPr/>
          </p:nvSpPr>
          <p:spPr>
            <a:xfrm>
              <a:off x="7300975" y="2091425"/>
              <a:ext cx="583800" cy="583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12</a:t>
              </a:r>
              <a:endParaRPr>
                <a:latin typeface="Roboto"/>
                <a:ea typeface="Roboto"/>
                <a:cs typeface="Roboto"/>
                <a:sym typeface="Roboto"/>
              </a:endParaRPr>
            </a:p>
          </p:txBody>
        </p:sp>
        <p:sp>
          <p:nvSpPr>
            <p:cNvPr id="514" name="Google Shape;514;p76"/>
            <p:cNvSpPr/>
            <p:nvPr/>
          </p:nvSpPr>
          <p:spPr>
            <a:xfrm>
              <a:off x="8161791" y="2675100"/>
              <a:ext cx="583800" cy="5838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11</a:t>
              </a:r>
              <a:endParaRPr/>
            </a:p>
          </p:txBody>
        </p:sp>
      </p:grpSp>
      <p:sp>
        <p:nvSpPr>
          <p:cNvPr id="515" name="Google Shape;515;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5"/>
                                        </p:tgtEl>
                                        <p:attrNameLst>
                                          <p:attrName>style.visibility</p:attrName>
                                        </p:attrNameLst>
                                      </p:cBhvr>
                                      <p:to>
                                        <p:strVal val="visible"/>
                                      </p:to>
                                    </p:set>
                                    <p:animEffect transition="in" filter="fade">
                                      <p:cBhvr>
                                        <p:cTn id="7" dur="1000"/>
                                        <p:tgtEl>
                                          <p:spTgt spid="4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6"/>
                                        </p:tgtEl>
                                        <p:attrNameLst>
                                          <p:attrName>style.visibility</p:attrName>
                                        </p:attrNameLst>
                                      </p:cBhvr>
                                      <p:to>
                                        <p:strVal val="visible"/>
                                      </p:to>
                                    </p:set>
                                    <p:animEffect transition="in" filter="fade">
                                      <p:cBhvr>
                                        <p:cTn id="12" dur="1000"/>
                                        <p:tgtEl>
                                          <p:spTgt spid="496"/>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502"/>
                                        </p:tgtEl>
                                        <p:attrNameLst>
                                          <p:attrName>style.visibility</p:attrName>
                                        </p:attrNameLst>
                                      </p:cBhvr>
                                      <p:to>
                                        <p:strVal val="visible"/>
                                      </p:to>
                                    </p:set>
                                    <p:animEffect transition="in" filter="fade">
                                      <p:cBhvr>
                                        <p:cTn id="16" dur="1000"/>
                                        <p:tgtEl>
                                          <p:spTgt spid="50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97"/>
                                        </p:tgtEl>
                                        <p:attrNameLst>
                                          <p:attrName>style.visibility</p:attrName>
                                        </p:attrNameLst>
                                      </p:cBhvr>
                                      <p:to>
                                        <p:strVal val="visible"/>
                                      </p:to>
                                    </p:set>
                                    <p:animEffect transition="in" filter="fade">
                                      <p:cBhvr>
                                        <p:cTn id="21" dur="1000"/>
                                        <p:tgtEl>
                                          <p:spTgt spid="497"/>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503"/>
                                        </p:tgtEl>
                                        <p:attrNameLst>
                                          <p:attrName>style.visibility</p:attrName>
                                        </p:attrNameLst>
                                      </p:cBhvr>
                                      <p:to>
                                        <p:strVal val="visible"/>
                                      </p:to>
                                    </p:set>
                                    <p:animEffect transition="in" filter="fade">
                                      <p:cBhvr>
                                        <p:cTn id="25" dur="1000"/>
                                        <p:tgtEl>
                                          <p:spTgt spid="50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98"/>
                                        </p:tgtEl>
                                        <p:attrNameLst>
                                          <p:attrName>style.visibility</p:attrName>
                                        </p:attrNameLst>
                                      </p:cBhvr>
                                      <p:to>
                                        <p:strVal val="visible"/>
                                      </p:to>
                                    </p:set>
                                    <p:animEffect transition="in" filter="fade">
                                      <p:cBhvr>
                                        <p:cTn id="30" dur="1000"/>
                                        <p:tgtEl>
                                          <p:spTgt spid="498"/>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489"/>
                                        </p:tgtEl>
                                        <p:attrNameLst>
                                          <p:attrName>style.visibility</p:attrName>
                                        </p:attrNameLst>
                                      </p:cBhvr>
                                      <p:to>
                                        <p:strVal val="visible"/>
                                      </p:to>
                                    </p:set>
                                    <p:animEffect transition="in" filter="fade">
                                      <p:cBhvr>
                                        <p:cTn id="34" dur="1000"/>
                                        <p:tgtEl>
                                          <p:spTgt spid="48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92"/>
                                        </p:tgtEl>
                                        <p:attrNameLst>
                                          <p:attrName>style.visibility</p:attrName>
                                        </p:attrNameLst>
                                      </p:cBhvr>
                                      <p:to>
                                        <p:strVal val="visible"/>
                                      </p:to>
                                    </p:set>
                                    <p:animEffect transition="in" filter="fade">
                                      <p:cBhvr>
                                        <p:cTn id="39" dur="1000"/>
                                        <p:tgtEl>
                                          <p:spTgt spid="492"/>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504"/>
                                        </p:tgtEl>
                                        <p:attrNameLst>
                                          <p:attrName>style.visibility</p:attrName>
                                        </p:attrNameLst>
                                      </p:cBhvr>
                                      <p:to>
                                        <p:strVal val="visible"/>
                                      </p:to>
                                    </p:set>
                                    <p:animEffect transition="in" filter="fade">
                                      <p:cBhvr>
                                        <p:cTn id="43" dur="1000"/>
                                        <p:tgtEl>
                                          <p:spTgt spid="50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499"/>
                                        </p:tgtEl>
                                        <p:attrNameLst>
                                          <p:attrName>style.visibility</p:attrName>
                                        </p:attrNameLst>
                                      </p:cBhvr>
                                      <p:to>
                                        <p:strVal val="visible"/>
                                      </p:to>
                                    </p:set>
                                    <p:animEffect transition="in" filter="fade">
                                      <p:cBhvr>
                                        <p:cTn id="48" dur="1000"/>
                                        <p:tgtEl>
                                          <p:spTgt spid="49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500"/>
                                        </p:tgtEl>
                                        <p:attrNameLst>
                                          <p:attrName>style.visibility</p:attrName>
                                        </p:attrNameLst>
                                      </p:cBhvr>
                                      <p:to>
                                        <p:strVal val="visible"/>
                                      </p:to>
                                    </p:set>
                                    <p:animEffect transition="in" filter="fade">
                                      <p:cBhvr>
                                        <p:cTn id="53" dur="1000"/>
                                        <p:tgtEl>
                                          <p:spTgt spid="50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93"/>
                                        </p:tgtEl>
                                        <p:attrNameLst>
                                          <p:attrName>style.visibility</p:attrName>
                                        </p:attrNameLst>
                                      </p:cBhvr>
                                      <p:to>
                                        <p:strVal val="visible"/>
                                      </p:to>
                                    </p:set>
                                    <p:animEffect transition="in" filter="fade">
                                      <p:cBhvr>
                                        <p:cTn id="58" dur="1000"/>
                                        <p:tgtEl>
                                          <p:spTgt spid="493"/>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507"/>
                                        </p:tgtEl>
                                        <p:attrNameLst>
                                          <p:attrName>style.visibility</p:attrName>
                                        </p:attrNameLst>
                                      </p:cBhvr>
                                      <p:to>
                                        <p:strVal val="visible"/>
                                      </p:to>
                                    </p:set>
                                    <p:animEffect transition="in" filter="fade">
                                      <p:cBhvr>
                                        <p:cTn id="62" dur="1000"/>
                                        <p:tgtEl>
                                          <p:spTgt spid="50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94"/>
                                        </p:tgtEl>
                                        <p:attrNameLst>
                                          <p:attrName>style.visibility</p:attrName>
                                        </p:attrNameLst>
                                      </p:cBhvr>
                                      <p:to>
                                        <p:strVal val="visible"/>
                                      </p:to>
                                    </p:set>
                                    <p:animEffect transition="in" filter="fade">
                                      <p:cBhvr>
                                        <p:cTn id="67" dur="1000"/>
                                        <p:tgtEl>
                                          <p:spTgt spid="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77"/>
          <p:cNvSpPr txBox="1"/>
          <p:nvPr/>
        </p:nvSpPr>
        <p:spPr>
          <a:xfrm>
            <a:off x="149525" y="1356077"/>
            <a:ext cx="2824500" cy="96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A node </a:t>
            </a:r>
            <a:r>
              <a:rPr lang="en" b="1" i="1" dirty="0"/>
              <a:t>c </a:t>
            </a:r>
            <a:r>
              <a:rPr lang="en" dirty="0"/>
              <a:t>is a </a:t>
            </a:r>
            <a:r>
              <a:rPr lang="en" b="1" i="1" dirty="0">
                <a:solidFill>
                  <a:srgbClr val="FF0000"/>
                </a:solidFill>
              </a:rPr>
              <a:t>child</a:t>
            </a:r>
            <a:r>
              <a:rPr lang="en" dirty="0">
                <a:solidFill>
                  <a:srgbClr val="FF0000"/>
                </a:solidFill>
              </a:rPr>
              <a:t> </a:t>
            </a:r>
            <a:r>
              <a:rPr lang="en" dirty="0"/>
              <a:t>of another node </a:t>
            </a:r>
            <a:r>
              <a:rPr lang="en" b="1" i="1" dirty="0"/>
              <a:t>p</a:t>
            </a:r>
            <a:r>
              <a:rPr lang="en" b="1" i="1" baseline="-25000" dirty="0"/>
              <a:t> </a:t>
            </a:r>
            <a:r>
              <a:rPr lang="en" dirty="0"/>
              <a:t>if it is the left or right subtree of </a:t>
            </a:r>
            <a:r>
              <a:rPr lang="en" b="1" i="1" dirty="0"/>
              <a:t>p</a:t>
            </a:r>
            <a:r>
              <a:rPr lang="en" dirty="0"/>
              <a:t>.</a:t>
            </a:r>
            <a:endParaRPr dirty="0"/>
          </a:p>
        </p:txBody>
      </p:sp>
      <p:sp>
        <p:nvSpPr>
          <p:cNvPr id="521" name="Google Shape;521;p77"/>
          <p:cNvSpPr txBox="1"/>
          <p:nvPr/>
        </p:nvSpPr>
        <p:spPr>
          <a:xfrm>
            <a:off x="149525" y="3453550"/>
            <a:ext cx="2824500" cy="704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In this example, </a:t>
            </a:r>
            <a:r>
              <a:rPr lang="en" b="1"/>
              <a:t>6</a:t>
            </a:r>
            <a:r>
              <a:rPr lang="en"/>
              <a:t> is a child of </a:t>
            </a:r>
            <a:r>
              <a:rPr lang="en" b="1"/>
              <a:t>7</a:t>
            </a:r>
            <a:r>
              <a:rPr lang="en"/>
              <a:t> because </a:t>
            </a:r>
            <a:r>
              <a:rPr lang="en" b="1"/>
              <a:t>6</a:t>
            </a:r>
            <a:r>
              <a:rPr lang="en"/>
              <a:t> is the </a:t>
            </a:r>
            <a:r>
              <a:rPr lang="en" i="1"/>
              <a:t>left subtree</a:t>
            </a:r>
            <a:r>
              <a:rPr lang="en"/>
              <a:t>.</a:t>
            </a:r>
            <a:endParaRPr/>
          </a:p>
        </p:txBody>
      </p:sp>
      <p:sp>
        <p:nvSpPr>
          <p:cNvPr id="522" name="Google Shape;522;p77"/>
          <p:cNvSpPr txBox="1"/>
          <p:nvPr/>
        </p:nvSpPr>
        <p:spPr>
          <a:xfrm>
            <a:off x="149525" y="4339575"/>
            <a:ext cx="2824500" cy="655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t>9</a:t>
            </a:r>
            <a:r>
              <a:rPr lang="en"/>
              <a:t> is also a child of </a:t>
            </a:r>
            <a:r>
              <a:rPr lang="en" b="1"/>
              <a:t>7</a:t>
            </a:r>
            <a:r>
              <a:rPr lang="en"/>
              <a:t> because </a:t>
            </a:r>
            <a:r>
              <a:rPr lang="en" b="1"/>
              <a:t>9</a:t>
            </a:r>
            <a:r>
              <a:rPr lang="en"/>
              <a:t> is the </a:t>
            </a:r>
            <a:r>
              <a:rPr lang="en" i="1"/>
              <a:t>right subtree</a:t>
            </a:r>
            <a:r>
              <a:rPr lang="en"/>
              <a:t> of </a:t>
            </a:r>
            <a:r>
              <a:rPr lang="en" b="1"/>
              <a:t>7</a:t>
            </a:r>
            <a:r>
              <a:rPr lang="en"/>
              <a:t>. </a:t>
            </a:r>
            <a:endParaRPr/>
          </a:p>
        </p:txBody>
      </p:sp>
      <p:sp>
        <p:nvSpPr>
          <p:cNvPr id="523" name="Google Shape;523;p77"/>
          <p:cNvSpPr txBox="1"/>
          <p:nvPr/>
        </p:nvSpPr>
        <p:spPr>
          <a:xfrm>
            <a:off x="3157550" y="1356075"/>
            <a:ext cx="2824500" cy="96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A node </a:t>
            </a:r>
            <a:r>
              <a:rPr lang="en" b="1" i="1"/>
              <a:t>p</a:t>
            </a:r>
            <a:r>
              <a:rPr lang="en"/>
              <a:t> is a </a:t>
            </a:r>
            <a:r>
              <a:rPr lang="en" b="1" i="1">
                <a:solidFill>
                  <a:srgbClr val="FF0000"/>
                </a:solidFill>
              </a:rPr>
              <a:t>parent</a:t>
            </a:r>
            <a:r>
              <a:rPr lang="en">
                <a:solidFill>
                  <a:srgbClr val="FF0000"/>
                </a:solidFill>
              </a:rPr>
              <a:t> </a:t>
            </a:r>
            <a:r>
              <a:rPr lang="en"/>
              <a:t>of another node </a:t>
            </a:r>
            <a:r>
              <a:rPr lang="en" b="1"/>
              <a:t>c</a:t>
            </a:r>
            <a:r>
              <a:rPr lang="en"/>
              <a:t> if </a:t>
            </a:r>
            <a:r>
              <a:rPr lang="en" b="1"/>
              <a:t>c</a:t>
            </a:r>
            <a:r>
              <a:rPr lang="en"/>
              <a:t> is one of its subtrees.</a:t>
            </a:r>
            <a:endParaRPr/>
          </a:p>
        </p:txBody>
      </p:sp>
      <p:sp>
        <p:nvSpPr>
          <p:cNvPr id="524" name="Google Shape;524;p77"/>
          <p:cNvSpPr txBox="1"/>
          <p:nvPr/>
        </p:nvSpPr>
        <p:spPr>
          <a:xfrm>
            <a:off x="3157550" y="3440275"/>
            <a:ext cx="2824500" cy="81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In this example, </a:t>
            </a:r>
            <a:r>
              <a:rPr lang="en" b="1" dirty="0"/>
              <a:t>5</a:t>
            </a:r>
            <a:r>
              <a:rPr lang="en" dirty="0"/>
              <a:t> is the parent of </a:t>
            </a:r>
            <a:r>
              <a:rPr lang="en" b="1" dirty="0"/>
              <a:t>7</a:t>
            </a:r>
            <a:r>
              <a:rPr lang="en" dirty="0"/>
              <a:t> because </a:t>
            </a:r>
            <a:r>
              <a:rPr lang="en" b="1" dirty="0"/>
              <a:t>7</a:t>
            </a:r>
            <a:r>
              <a:rPr lang="en" dirty="0"/>
              <a:t> is the </a:t>
            </a:r>
            <a:r>
              <a:rPr lang="en" i="1" dirty="0"/>
              <a:t>right subtree</a:t>
            </a:r>
            <a:r>
              <a:rPr lang="en" dirty="0"/>
              <a:t> of </a:t>
            </a:r>
            <a:r>
              <a:rPr lang="en" b="1" dirty="0"/>
              <a:t>5</a:t>
            </a:r>
            <a:r>
              <a:rPr lang="en" dirty="0"/>
              <a:t>.</a:t>
            </a:r>
            <a:endParaRPr dirty="0"/>
          </a:p>
        </p:txBody>
      </p:sp>
      <p:sp>
        <p:nvSpPr>
          <p:cNvPr id="525" name="Google Shape;525;p77"/>
          <p:cNvSpPr txBox="1"/>
          <p:nvPr/>
        </p:nvSpPr>
        <p:spPr>
          <a:xfrm>
            <a:off x="3158225" y="4339575"/>
            <a:ext cx="2824500" cy="655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b="1"/>
              <a:t>5</a:t>
            </a:r>
            <a:r>
              <a:rPr lang="en"/>
              <a:t> is also the parent of </a:t>
            </a:r>
            <a:r>
              <a:rPr lang="en" b="1"/>
              <a:t>3</a:t>
            </a:r>
            <a:r>
              <a:rPr lang="en"/>
              <a:t> because </a:t>
            </a:r>
            <a:r>
              <a:rPr lang="en" b="1"/>
              <a:t>3</a:t>
            </a:r>
            <a:r>
              <a:rPr lang="en"/>
              <a:t> is its </a:t>
            </a:r>
            <a:r>
              <a:rPr lang="en" i="1"/>
              <a:t>left subtree</a:t>
            </a:r>
            <a:r>
              <a:rPr lang="en"/>
              <a:t>.</a:t>
            </a:r>
            <a:endParaRPr/>
          </a:p>
        </p:txBody>
      </p:sp>
      <p:sp>
        <p:nvSpPr>
          <p:cNvPr id="526" name="Google Shape;526;p77"/>
          <p:cNvSpPr txBox="1"/>
          <p:nvPr/>
        </p:nvSpPr>
        <p:spPr>
          <a:xfrm>
            <a:off x="6165575" y="1358325"/>
            <a:ext cx="2824500" cy="543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The </a:t>
            </a:r>
            <a:r>
              <a:rPr lang="en" b="1" i="1" dirty="0">
                <a:solidFill>
                  <a:srgbClr val="FF0000"/>
                </a:solidFill>
              </a:rPr>
              <a:t>root node</a:t>
            </a:r>
            <a:r>
              <a:rPr lang="en" dirty="0"/>
              <a:t> is a node that has no parent.</a:t>
            </a:r>
            <a:endParaRPr dirty="0"/>
          </a:p>
        </p:txBody>
      </p:sp>
      <p:sp>
        <p:nvSpPr>
          <p:cNvPr id="527" name="Google Shape;527;p77"/>
          <p:cNvSpPr txBox="1"/>
          <p:nvPr/>
        </p:nvSpPr>
        <p:spPr>
          <a:xfrm>
            <a:off x="6165575" y="3521575"/>
            <a:ext cx="2824500" cy="636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In this example, </a:t>
            </a:r>
            <a:r>
              <a:rPr lang="en" b="1"/>
              <a:t>5</a:t>
            </a:r>
            <a:r>
              <a:rPr lang="en"/>
              <a:t> is the root node because it has no parent.</a:t>
            </a:r>
            <a:endParaRPr/>
          </a:p>
        </p:txBody>
      </p:sp>
      <p:sp>
        <p:nvSpPr>
          <p:cNvPr id="528" name="Google Shape;528;p77"/>
          <p:cNvSpPr txBox="1"/>
          <p:nvPr/>
        </p:nvSpPr>
        <p:spPr>
          <a:xfrm>
            <a:off x="6166925" y="4339575"/>
            <a:ext cx="2824500" cy="655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There is only </a:t>
            </a:r>
            <a:r>
              <a:rPr lang="en" i="1"/>
              <a:t>one </a:t>
            </a:r>
            <a:r>
              <a:rPr lang="en"/>
              <a:t>root node in a binary tree.</a:t>
            </a:r>
            <a:endParaRPr/>
          </a:p>
        </p:txBody>
      </p:sp>
      <p:grpSp>
        <p:nvGrpSpPr>
          <p:cNvPr id="529" name="Google Shape;529;p77"/>
          <p:cNvGrpSpPr/>
          <p:nvPr/>
        </p:nvGrpSpPr>
        <p:grpSpPr>
          <a:xfrm>
            <a:off x="6580413" y="2054577"/>
            <a:ext cx="1994834" cy="1307508"/>
            <a:chOff x="4446813" y="1496675"/>
            <a:chExt cx="1994834" cy="1307508"/>
          </a:xfrm>
        </p:grpSpPr>
        <p:sp>
          <p:nvSpPr>
            <p:cNvPr id="530" name="Google Shape;530;p77"/>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531" name="Google Shape;531;p77"/>
            <p:cNvSpPr/>
            <p:nvPr/>
          </p:nvSpPr>
          <p:spPr>
            <a:xfrm>
              <a:off x="5724092"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532" name="Google Shape;532;p77"/>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533" name="Google Shape;533;p77"/>
            <p:cNvSpPr/>
            <p:nvPr/>
          </p:nvSpPr>
          <p:spPr>
            <a:xfrm>
              <a:off x="52276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534" name="Google Shape;534;p77"/>
            <p:cNvCxnSpPr>
              <a:stCxn id="533" idx="3"/>
              <a:endCxn id="530" idx="0"/>
            </p:cNvCxnSpPr>
            <p:nvPr/>
          </p:nvCxnSpPr>
          <p:spPr>
            <a:xfrm flipH="1">
              <a:off x="4960106" y="1782189"/>
              <a:ext cx="316500" cy="187800"/>
            </a:xfrm>
            <a:prstGeom prst="straightConnector1">
              <a:avLst/>
            </a:prstGeom>
            <a:noFill/>
            <a:ln w="9525" cap="flat" cmpd="sng">
              <a:solidFill>
                <a:schemeClr val="dk1"/>
              </a:solidFill>
              <a:prstDash val="solid"/>
              <a:round/>
              <a:headEnd type="none" w="med" len="med"/>
              <a:tailEnd type="triangle" w="med" len="med"/>
            </a:ln>
          </p:spPr>
        </p:cxnSp>
        <p:cxnSp>
          <p:nvCxnSpPr>
            <p:cNvPr id="535" name="Google Shape;535;p77"/>
            <p:cNvCxnSpPr>
              <a:stCxn id="533" idx="5"/>
              <a:endCxn id="531" idx="0"/>
            </p:cNvCxnSpPr>
            <p:nvPr/>
          </p:nvCxnSpPr>
          <p:spPr>
            <a:xfrm>
              <a:off x="5513133" y="1782189"/>
              <a:ext cx="378300" cy="187800"/>
            </a:xfrm>
            <a:prstGeom prst="straightConnector1">
              <a:avLst/>
            </a:prstGeom>
            <a:noFill/>
            <a:ln w="9525" cap="flat" cmpd="sng">
              <a:solidFill>
                <a:schemeClr val="dk1"/>
              </a:solidFill>
              <a:prstDash val="solid"/>
              <a:round/>
              <a:headEnd type="none" w="med" len="med"/>
              <a:tailEnd type="triangle" w="med" len="med"/>
            </a:ln>
          </p:spPr>
        </p:cxnSp>
        <p:sp>
          <p:nvSpPr>
            <p:cNvPr id="536" name="Google Shape;536;p77"/>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537" name="Google Shape;537;p77"/>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538" name="Google Shape;538;p77"/>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cxnSp>
          <p:nvCxnSpPr>
            <p:cNvPr id="539" name="Google Shape;539;p77"/>
            <p:cNvCxnSpPr>
              <a:stCxn id="530" idx="3"/>
              <a:endCxn id="532" idx="7"/>
            </p:cNvCxnSpPr>
            <p:nvPr/>
          </p:nvCxnSpPr>
          <p:spPr>
            <a:xfrm flipH="1">
              <a:off x="4732451" y="2255570"/>
              <a:ext cx="109500" cy="263100"/>
            </a:xfrm>
            <a:prstGeom prst="straightConnector1">
              <a:avLst/>
            </a:prstGeom>
            <a:noFill/>
            <a:ln w="9525" cap="flat" cmpd="sng">
              <a:solidFill>
                <a:schemeClr val="dk1"/>
              </a:solidFill>
              <a:prstDash val="solid"/>
              <a:round/>
              <a:headEnd type="none" w="med" len="med"/>
              <a:tailEnd type="triangle" w="med" len="med"/>
            </a:ln>
          </p:spPr>
        </p:cxnSp>
        <p:cxnSp>
          <p:nvCxnSpPr>
            <p:cNvPr id="540" name="Google Shape;540;p77"/>
            <p:cNvCxnSpPr>
              <a:stCxn id="530" idx="5"/>
              <a:endCxn id="536" idx="0"/>
            </p:cNvCxnSpPr>
            <p:nvPr/>
          </p:nvCxnSpPr>
          <p:spPr>
            <a:xfrm>
              <a:off x="5078479" y="2255570"/>
              <a:ext cx="185700" cy="214200"/>
            </a:xfrm>
            <a:prstGeom prst="straightConnector1">
              <a:avLst/>
            </a:prstGeom>
            <a:noFill/>
            <a:ln w="9525" cap="flat" cmpd="sng">
              <a:solidFill>
                <a:schemeClr val="dk1"/>
              </a:solidFill>
              <a:prstDash val="solid"/>
              <a:round/>
              <a:headEnd type="none" w="med" len="med"/>
              <a:tailEnd type="triangle" w="med" len="med"/>
            </a:ln>
          </p:spPr>
        </p:cxnSp>
        <p:cxnSp>
          <p:nvCxnSpPr>
            <p:cNvPr id="541" name="Google Shape;541;p77"/>
            <p:cNvCxnSpPr>
              <a:stCxn id="531" idx="3"/>
              <a:endCxn id="537" idx="0"/>
            </p:cNvCxnSpPr>
            <p:nvPr/>
          </p:nvCxnSpPr>
          <p:spPr>
            <a:xfrm flipH="1">
              <a:off x="5636879" y="2255570"/>
              <a:ext cx="136200" cy="214200"/>
            </a:xfrm>
            <a:prstGeom prst="straightConnector1">
              <a:avLst/>
            </a:prstGeom>
            <a:noFill/>
            <a:ln w="9525" cap="flat" cmpd="sng">
              <a:solidFill>
                <a:schemeClr val="dk1"/>
              </a:solidFill>
              <a:prstDash val="solid"/>
              <a:round/>
              <a:headEnd type="none" w="med" len="med"/>
              <a:tailEnd type="triangle" w="med" len="med"/>
            </a:ln>
          </p:spPr>
        </p:cxnSp>
        <p:cxnSp>
          <p:nvCxnSpPr>
            <p:cNvPr id="542" name="Google Shape;542;p77"/>
            <p:cNvCxnSpPr>
              <a:stCxn id="531" idx="5"/>
              <a:endCxn id="538" idx="1"/>
            </p:cNvCxnSpPr>
            <p:nvPr/>
          </p:nvCxnSpPr>
          <p:spPr>
            <a:xfrm>
              <a:off x="6009606" y="2255570"/>
              <a:ext cx="146400" cy="263100"/>
            </a:xfrm>
            <a:prstGeom prst="straightConnector1">
              <a:avLst/>
            </a:prstGeom>
            <a:noFill/>
            <a:ln w="9525" cap="flat" cmpd="sng">
              <a:solidFill>
                <a:schemeClr val="dk1"/>
              </a:solidFill>
              <a:prstDash val="solid"/>
              <a:round/>
              <a:headEnd type="none" w="med" len="med"/>
              <a:tailEnd type="triangle" w="med" len="med"/>
            </a:ln>
          </p:spPr>
        </p:cxnSp>
      </p:grpSp>
      <p:sp>
        <p:nvSpPr>
          <p:cNvPr id="543" name="Google Shape;543;p77"/>
          <p:cNvSpPr/>
          <p:nvPr/>
        </p:nvSpPr>
        <p:spPr>
          <a:xfrm>
            <a:off x="7261382" y="2006777"/>
            <a:ext cx="541200" cy="4329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7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Parts of a Binary Tree</a:t>
            </a:r>
            <a:endParaRPr/>
          </a:p>
        </p:txBody>
      </p:sp>
      <p:grpSp>
        <p:nvGrpSpPr>
          <p:cNvPr id="545" name="Google Shape;545;p77"/>
          <p:cNvGrpSpPr/>
          <p:nvPr/>
        </p:nvGrpSpPr>
        <p:grpSpPr>
          <a:xfrm>
            <a:off x="633085" y="2417180"/>
            <a:ext cx="1161569" cy="938934"/>
            <a:chOff x="633085" y="2417180"/>
            <a:chExt cx="1161569" cy="938934"/>
          </a:xfrm>
        </p:grpSpPr>
        <p:sp>
          <p:nvSpPr>
            <p:cNvPr id="546" name="Google Shape;546;p77"/>
            <p:cNvSpPr/>
            <p:nvPr/>
          </p:nvSpPr>
          <p:spPr>
            <a:xfrm>
              <a:off x="633085" y="2886613"/>
              <a:ext cx="469500" cy="469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a:t>
              </a:r>
              <a:endParaRPr/>
            </a:p>
          </p:txBody>
        </p:sp>
        <p:cxnSp>
          <p:nvCxnSpPr>
            <p:cNvPr id="547" name="Google Shape;547;p77"/>
            <p:cNvCxnSpPr/>
            <p:nvPr/>
          </p:nvCxnSpPr>
          <p:spPr>
            <a:xfrm flipH="1">
              <a:off x="1073947" y="2814244"/>
              <a:ext cx="315300" cy="181800"/>
            </a:xfrm>
            <a:prstGeom prst="straightConnector1">
              <a:avLst/>
            </a:prstGeom>
            <a:noFill/>
            <a:ln w="28575" cap="flat" cmpd="sng">
              <a:solidFill>
                <a:srgbClr val="000000"/>
              </a:solidFill>
              <a:prstDash val="solid"/>
              <a:round/>
              <a:headEnd type="none" w="med" len="med"/>
              <a:tailEnd type="triangle" w="med" len="med"/>
            </a:ln>
          </p:spPr>
        </p:cxnSp>
        <p:sp>
          <p:nvSpPr>
            <p:cNvPr id="548" name="Google Shape;548;p77"/>
            <p:cNvSpPr/>
            <p:nvPr/>
          </p:nvSpPr>
          <p:spPr>
            <a:xfrm>
              <a:off x="1325154" y="2417180"/>
              <a:ext cx="469500" cy="469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a:t>
              </a:r>
              <a:endParaRPr/>
            </a:p>
          </p:txBody>
        </p:sp>
      </p:grpSp>
      <p:grpSp>
        <p:nvGrpSpPr>
          <p:cNvPr id="549" name="Google Shape;549;p77"/>
          <p:cNvGrpSpPr/>
          <p:nvPr/>
        </p:nvGrpSpPr>
        <p:grpSpPr>
          <a:xfrm>
            <a:off x="1721697" y="2814244"/>
            <a:ext cx="765267" cy="541869"/>
            <a:chOff x="1721697" y="2814244"/>
            <a:chExt cx="765267" cy="541869"/>
          </a:xfrm>
        </p:grpSpPr>
        <p:cxnSp>
          <p:nvCxnSpPr>
            <p:cNvPr id="550" name="Google Shape;550;p77"/>
            <p:cNvCxnSpPr/>
            <p:nvPr/>
          </p:nvCxnSpPr>
          <p:spPr>
            <a:xfrm>
              <a:off x="1721697" y="2814244"/>
              <a:ext cx="315300" cy="181800"/>
            </a:xfrm>
            <a:prstGeom prst="straightConnector1">
              <a:avLst/>
            </a:prstGeom>
            <a:noFill/>
            <a:ln w="28575" cap="flat" cmpd="sng">
              <a:solidFill>
                <a:srgbClr val="000000"/>
              </a:solidFill>
              <a:prstDash val="solid"/>
              <a:round/>
              <a:headEnd type="none" w="med" len="med"/>
              <a:tailEnd type="triangle" w="med" len="med"/>
            </a:ln>
          </p:spPr>
        </p:cxnSp>
        <p:sp>
          <p:nvSpPr>
            <p:cNvPr id="551" name="Google Shape;551;p77"/>
            <p:cNvSpPr/>
            <p:nvPr/>
          </p:nvSpPr>
          <p:spPr>
            <a:xfrm>
              <a:off x="2017464" y="2886613"/>
              <a:ext cx="469500" cy="469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a:t>
              </a:r>
              <a:endParaRPr/>
            </a:p>
          </p:txBody>
        </p:sp>
      </p:grpSp>
      <p:grpSp>
        <p:nvGrpSpPr>
          <p:cNvPr id="552" name="Google Shape;552;p77"/>
          <p:cNvGrpSpPr/>
          <p:nvPr/>
        </p:nvGrpSpPr>
        <p:grpSpPr>
          <a:xfrm>
            <a:off x="3604885" y="2814244"/>
            <a:ext cx="756162" cy="541869"/>
            <a:chOff x="3604885" y="2814244"/>
            <a:chExt cx="756162" cy="541869"/>
          </a:xfrm>
        </p:grpSpPr>
        <p:sp>
          <p:nvSpPr>
            <p:cNvPr id="553" name="Google Shape;553;p77"/>
            <p:cNvSpPr/>
            <p:nvPr/>
          </p:nvSpPr>
          <p:spPr>
            <a:xfrm>
              <a:off x="3604885" y="2886613"/>
              <a:ext cx="469500" cy="469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cxnSp>
          <p:nvCxnSpPr>
            <p:cNvPr id="554" name="Google Shape;554;p77"/>
            <p:cNvCxnSpPr/>
            <p:nvPr/>
          </p:nvCxnSpPr>
          <p:spPr>
            <a:xfrm flipH="1">
              <a:off x="4045747" y="2814244"/>
              <a:ext cx="315300" cy="181800"/>
            </a:xfrm>
            <a:prstGeom prst="straightConnector1">
              <a:avLst/>
            </a:prstGeom>
            <a:noFill/>
            <a:ln w="28575" cap="flat" cmpd="sng">
              <a:solidFill>
                <a:srgbClr val="000000"/>
              </a:solidFill>
              <a:prstDash val="solid"/>
              <a:round/>
              <a:headEnd type="none" w="med" len="med"/>
              <a:tailEnd type="triangle" w="med" len="med"/>
            </a:ln>
          </p:spPr>
        </p:cxnSp>
      </p:grpSp>
      <p:grpSp>
        <p:nvGrpSpPr>
          <p:cNvPr id="555" name="Google Shape;555;p77"/>
          <p:cNvGrpSpPr/>
          <p:nvPr/>
        </p:nvGrpSpPr>
        <p:grpSpPr>
          <a:xfrm>
            <a:off x="4296954" y="2417180"/>
            <a:ext cx="1161810" cy="938934"/>
            <a:chOff x="4296954" y="2417180"/>
            <a:chExt cx="1161810" cy="938934"/>
          </a:xfrm>
        </p:grpSpPr>
        <p:cxnSp>
          <p:nvCxnSpPr>
            <p:cNvPr id="556" name="Google Shape;556;p77"/>
            <p:cNvCxnSpPr/>
            <p:nvPr/>
          </p:nvCxnSpPr>
          <p:spPr>
            <a:xfrm>
              <a:off x="4693497" y="2814244"/>
              <a:ext cx="315300" cy="181800"/>
            </a:xfrm>
            <a:prstGeom prst="straightConnector1">
              <a:avLst/>
            </a:prstGeom>
            <a:noFill/>
            <a:ln w="28575" cap="flat" cmpd="sng">
              <a:solidFill>
                <a:srgbClr val="000000"/>
              </a:solidFill>
              <a:prstDash val="solid"/>
              <a:round/>
              <a:headEnd type="none" w="med" len="med"/>
              <a:tailEnd type="triangle" w="med" len="med"/>
            </a:ln>
          </p:spPr>
        </p:cxnSp>
        <p:sp>
          <p:nvSpPr>
            <p:cNvPr id="557" name="Google Shape;557;p77"/>
            <p:cNvSpPr/>
            <p:nvPr/>
          </p:nvSpPr>
          <p:spPr>
            <a:xfrm>
              <a:off x="4296954" y="2417180"/>
              <a:ext cx="469500" cy="469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a:t>
              </a:r>
              <a:endParaRPr/>
            </a:p>
          </p:txBody>
        </p:sp>
        <p:sp>
          <p:nvSpPr>
            <p:cNvPr id="558" name="Google Shape;558;p77"/>
            <p:cNvSpPr/>
            <p:nvPr/>
          </p:nvSpPr>
          <p:spPr>
            <a:xfrm>
              <a:off x="4989264" y="2886613"/>
              <a:ext cx="469500" cy="469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0"/>
                                        </p:tgtEl>
                                        <p:attrNameLst>
                                          <p:attrName>style.visibility</p:attrName>
                                        </p:attrNameLst>
                                      </p:cBhvr>
                                      <p:to>
                                        <p:strVal val="visible"/>
                                      </p:to>
                                    </p:set>
                                    <p:animEffect transition="in" filter="fade">
                                      <p:cBhvr>
                                        <p:cTn id="7" dur="1000"/>
                                        <p:tgtEl>
                                          <p:spTgt spid="5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1"/>
                                        </p:tgtEl>
                                        <p:attrNameLst>
                                          <p:attrName>style.visibility</p:attrName>
                                        </p:attrNameLst>
                                      </p:cBhvr>
                                      <p:to>
                                        <p:strVal val="visible"/>
                                      </p:to>
                                    </p:set>
                                    <p:animEffect transition="in" filter="fade">
                                      <p:cBhvr>
                                        <p:cTn id="12" dur="1000"/>
                                        <p:tgtEl>
                                          <p:spTgt spid="521"/>
                                        </p:tgtEl>
                                      </p:cBhvr>
                                    </p:animEffect>
                                  </p:childTnLst>
                                </p:cTn>
                              </p:par>
                              <p:par>
                                <p:cTn id="13" presetID="10" presetClass="entr" presetSubtype="0" fill="hold" nodeType="withEffect">
                                  <p:stCondLst>
                                    <p:cond delay="0"/>
                                  </p:stCondLst>
                                  <p:childTnLst>
                                    <p:set>
                                      <p:cBhvr>
                                        <p:cTn id="14" dur="1" fill="hold">
                                          <p:stCondLst>
                                            <p:cond delay="0"/>
                                          </p:stCondLst>
                                        </p:cTn>
                                        <p:tgtEl>
                                          <p:spTgt spid="545"/>
                                        </p:tgtEl>
                                        <p:attrNameLst>
                                          <p:attrName>style.visibility</p:attrName>
                                        </p:attrNameLst>
                                      </p:cBhvr>
                                      <p:to>
                                        <p:strVal val="visible"/>
                                      </p:to>
                                    </p:set>
                                    <p:animEffect transition="in" filter="fade">
                                      <p:cBhvr>
                                        <p:cTn id="15" dur="1000"/>
                                        <p:tgtEl>
                                          <p:spTgt spid="54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22"/>
                                        </p:tgtEl>
                                        <p:attrNameLst>
                                          <p:attrName>style.visibility</p:attrName>
                                        </p:attrNameLst>
                                      </p:cBhvr>
                                      <p:to>
                                        <p:strVal val="visible"/>
                                      </p:to>
                                    </p:set>
                                    <p:animEffect transition="in" filter="fade">
                                      <p:cBhvr>
                                        <p:cTn id="20" dur="1000"/>
                                        <p:tgtEl>
                                          <p:spTgt spid="522"/>
                                        </p:tgtEl>
                                      </p:cBhvr>
                                    </p:animEffect>
                                  </p:childTnLst>
                                </p:cTn>
                              </p:par>
                              <p:par>
                                <p:cTn id="21" presetID="10" presetClass="entr" presetSubtype="0" fill="hold" nodeType="withEffect">
                                  <p:stCondLst>
                                    <p:cond delay="0"/>
                                  </p:stCondLst>
                                  <p:childTnLst>
                                    <p:set>
                                      <p:cBhvr>
                                        <p:cTn id="22" dur="1" fill="hold">
                                          <p:stCondLst>
                                            <p:cond delay="0"/>
                                          </p:stCondLst>
                                        </p:cTn>
                                        <p:tgtEl>
                                          <p:spTgt spid="549"/>
                                        </p:tgtEl>
                                        <p:attrNameLst>
                                          <p:attrName>style.visibility</p:attrName>
                                        </p:attrNameLst>
                                      </p:cBhvr>
                                      <p:to>
                                        <p:strVal val="visible"/>
                                      </p:to>
                                    </p:set>
                                    <p:animEffect transition="in" filter="fade">
                                      <p:cBhvr>
                                        <p:cTn id="23" dur="1000"/>
                                        <p:tgtEl>
                                          <p:spTgt spid="54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23"/>
                                        </p:tgtEl>
                                        <p:attrNameLst>
                                          <p:attrName>style.visibility</p:attrName>
                                        </p:attrNameLst>
                                      </p:cBhvr>
                                      <p:to>
                                        <p:strVal val="visible"/>
                                      </p:to>
                                    </p:set>
                                    <p:animEffect transition="in" filter="fade">
                                      <p:cBhvr>
                                        <p:cTn id="28" dur="1000"/>
                                        <p:tgtEl>
                                          <p:spTgt spid="52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24"/>
                                        </p:tgtEl>
                                        <p:attrNameLst>
                                          <p:attrName>style.visibility</p:attrName>
                                        </p:attrNameLst>
                                      </p:cBhvr>
                                      <p:to>
                                        <p:strVal val="visible"/>
                                      </p:to>
                                    </p:set>
                                    <p:animEffect transition="in" filter="fade">
                                      <p:cBhvr>
                                        <p:cTn id="33" dur="1000"/>
                                        <p:tgtEl>
                                          <p:spTgt spid="524"/>
                                        </p:tgtEl>
                                      </p:cBhvr>
                                    </p:animEffect>
                                  </p:childTnLst>
                                </p:cTn>
                              </p:par>
                              <p:par>
                                <p:cTn id="34" presetID="10" presetClass="entr" presetSubtype="0" fill="hold" nodeType="withEffect">
                                  <p:stCondLst>
                                    <p:cond delay="0"/>
                                  </p:stCondLst>
                                  <p:childTnLst>
                                    <p:set>
                                      <p:cBhvr>
                                        <p:cTn id="35" dur="1" fill="hold">
                                          <p:stCondLst>
                                            <p:cond delay="0"/>
                                          </p:stCondLst>
                                        </p:cTn>
                                        <p:tgtEl>
                                          <p:spTgt spid="555"/>
                                        </p:tgtEl>
                                        <p:attrNameLst>
                                          <p:attrName>style.visibility</p:attrName>
                                        </p:attrNameLst>
                                      </p:cBhvr>
                                      <p:to>
                                        <p:strVal val="visible"/>
                                      </p:to>
                                    </p:set>
                                    <p:animEffect transition="in" filter="fade">
                                      <p:cBhvr>
                                        <p:cTn id="36" dur="1000"/>
                                        <p:tgtEl>
                                          <p:spTgt spid="55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25"/>
                                        </p:tgtEl>
                                        <p:attrNameLst>
                                          <p:attrName>style.visibility</p:attrName>
                                        </p:attrNameLst>
                                      </p:cBhvr>
                                      <p:to>
                                        <p:strVal val="visible"/>
                                      </p:to>
                                    </p:set>
                                    <p:animEffect transition="in" filter="fade">
                                      <p:cBhvr>
                                        <p:cTn id="41" dur="1000"/>
                                        <p:tgtEl>
                                          <p:spTgt spid="525"/>
                                        </p:tgtEl>
                                      </p:cBhvr>
                                    </p:animEffect>
                                  </p:childTnLst>
                                </p:cTn>
                              </p:par>
                              <p:par>
                                <p:cTn id="42" presetID="10" presetClass="entr" presetSubtype="0" fill="hold" nodeType="withEffect">
                                  <p:stCondLst>
                                    <p:cond delay="0"/>
                                  </p:stCondLst>
                                  <p:childTnLst>
                                    <p:set>
                                      <p:cBhvr>
                                        <p:cTn id="43" dur="1" fill="hold">
                                          <p:stCondLst>
                                            <p:cond delay="0"/>
                                          </p:stCondLst>
                                        </p:cTn>
                                        <p:tgtEl>
                                          <p:spTgt spid="552"/>
                                        </p:tgtEl>
                                        <p:attrNameLst>
                                          <p:attrName>style.visibility</p:attrName>
                                        </p:attrNameLst>
                                      </p:cBhvr>
                                      <p:to>
                                        <p:strVal val="visible"/>
                                      </p:to>
                                    </p:set>
                                    <p:animEffect transition="in" filter="fade">
                                      <p:cBhvr>
                                        <p:cTn id="44" dur="1000"/>
                                        <p:tgtEl>
                                          <p:spTgt spid="55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26"/>
                                        </p:tgtEl>
                                        <p:attrNameLst>
                                          <p:attrName>style.visibility</p:attrName>
                                        </p:attrNameLst>
                                      </p:cBhvr>
                                      <p:to>
                                        <p:strVal val="visible"/>
                                      </p:to>
                                    </p:set>
                                    <p:animEffect transition="in" filter="fade">
                                      <p:cBhvr>
                                        <p:cTn id="49" dur="1000"/>
                                        <p:tgtEl>
                                          <p:spTgt spid="52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527"/>
                                        </p:tgtEl>
                                        <p:attrNameLst>
                                          <p:attrName>style.visibility</p:attrName>
                                        </p:attrNameLst>
                                      </p:cBhvr>
                                      <p:to>
                                        <p:strVal val="visible"/>
                                      </p:to>
                                    </p:set>
                                    <p:animEffect transition="in" filter="fade">
                                      <p:cBhvr>
                                        <p:cTn id="54" dur="1000"/>
                                        <p:tgtEl>
                                          <p:spTgt spid="527"/>
                                        </p:tgtEl>
                                      </p:cBhvr>
                                    </p:animEffect>
                                  </p:childTnLst>
                                </p:cTn>
                              </p:par>
                              <p:par>
                                <p:cTn id="55" presetID="10" presetClass="entr" presetSubtype="0" fill="hold" nodeType="withEffect">
                                  <p:stCondLst>
                                    <p:cond delay="0"/>
                                  </p:stCondLst>
                                  <p:childTnLst>
                                    <p:set>
                                      <p:cBhvr>
                                        <p:cTn id="56" dur="1" fill="hold">
                                          <p:stCondLst>
                                            <p:cond delay="0"/>
                                          </p:stCondLst>
                                        </p:cTn>
                                        <p:tgtEl>
                                          <p:spTgt spid="529"/>
                                        </p:tgtEl>
                                        <p:attrNameLst>
                                          <p:attrName>style.visibility</p:attrName>
                                        </p:attrNameLst>
                                      </p:cBhvr>
                                      <p:to>
                                        <p:strVal val="visible"/>
                                      </p:to>
                                    </p:set>
                                    <p:animEffect transition="in" filter="fade">
                                      <p:cBhvr>
                                        <p:cTn id="57" dur="1000"/>
                                        <p:tgtEl>
                                          <p:spTgt spid="529"/>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543"/>
                                        </p:tgtEl>
                                        <p:attrNameLst>
                                          <p:attrName>style.visibility</p:attrName>
                                        </p:attrNameLst>
                                      </p:cBhvr>
                                      <p:to>
                                        <p:strVal val="visible"/>
                                      </p:to>
                                    </p:set>
                                    <p:animEffect transition="in" filter="fade">
                                      <p:cBhvr>
                                        <p:cTn id="61" dur="1000"/>
                                        <p:tgtEl>
                                          <p:spTgt spid="54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528"/>
                                        </p:tgtEl>
                                        <p:attrNameLst>
                                          <p:attrName>style.visibility</p:attrName>
                                        </p:attrNameLst>
                                      </p:cBhvr>
                                      <p:to>
                                        <p:strVal val="visible"/>
                                      </p:to>
                                    </p:set>
                                    <p:animEffect transition="in" filter="fade">
                                      <p:cBhvr>
                                        <p:cTn id="66" dur="1000"/>
                                        <p:tgtEl>
                                          <p:spTgt spid="5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78"/>
          <p:cNvSpPr txBox="1">
            <a:spLocks noGrp="1"/>
          </p:cNvSpPr>
          <p:nvPr>
            <p:ph type="body" idx="1"/>
          </p:nvPr>
        </p:nvSpPr>
        <p:spPr>
          <a:xfrm>
            <a:off x="65250" y="7316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1000"/>
              </a:spcBef>
              <a:spcAft>
                <a:spcPts val="0"/>
              </a:spcAft>
              <a:buNone/>
            </a:pPr>
            <a:r>
              <a:rPr lang="en" dirty="0">
                <a:solidFill>
                  <a:schemeClr val="dk1"/>
                </a:solidFill>
                <a:latin typeface="Lato"/>
                <a:ea typeface="Lato"/>
                <a:cs typeface="Lato"/>
                <a:sym typeface="Lato"/>
              </a:rPr>
              <a:t>You should remember the </a:t>
            </a:r>
            <a:r>
              <a:rPr lang="en" dirty="0">
                <a:solidFill>
                  <a:schemeClr val="dk1"/>
                </a:solidFill>
                <a:latin typeface="Courier New"/>
                <a:ea typeface="Courier New"/>
                <a:cs typeface="Courier New"/>
                <a:sym typeface="Courier New"/>
              </a:rPr>
              <a:t>Node</a:t>
            </a:r>
            <a:r>
              <a:rPr lang="en" dirty="0">
                <a:solidFill>
                  <a:schemeClr val="dk1"/>
                </a:solidFill>
                <a:latin typeface="Lato"/>
                <a:ea typeface="Lato"/>
                <a:cs typeface="Lato"/>
                <a:sym typeface="Lato"/>
              </a:rPr>
              <a:t> class that we wrote and used to implement the </a:t>
            </a:r>
            <a:r>
              <a:rPr lang="en" dirty="0">
                <a:solidFill>
                  <a:schemeClr val="dk1"/>
                </a:solidFill>
                <a:latin typeface="Courier New"/>
                <a:ea typeface="Courier New"/>
                <a:cs typeface="Courier New"/>
                <a:sym typeface="Courier New"/>
              </a:rPr>
              <a:t>NodeStack</a:t>
            </a:r>
            <a:r>
              <a:rPr lang="en" dirty="0">
                <a:solidFill>
                  <a:schemeClr val="dk1"/>
                </a:solidFill>
                <a:latin typeface="Lato"/>
                <a:ea typeface="Lato"/>
                <a:cs typeface="Lato"/>
                <a:sym typeface="Lato"/>
              </a:rPr>
              <a:t> and </a:t>
            </a:r>
            <a:r>
              <a:rPr lang="en" dirty="0">
                <a:solidFill>
                  <a:schemeClr val="dk1"/>
                </a:solidFill>
                <a:latin typeface="Courier New"/>
                <a:ea typeface="Courier New"/>
                <a:cs typeface="Courier New"/>
                <a:sym typeface="Courier New"/>
              </a:rPr>
              <a:t>NodeQueue</a:t>
            </a:r>
            <a:r>
              <a:rPr lang="en" dirty="0">
                <a:solidFill>
                  <a:schemeClr val="dk1"/>
                </a:solidFill>
                <a:latin typeface="Lato"/>
                <a:ea typeface="Lato"/>
                <a:cs typeface="Lato"/>
                <a:sym typeface="Lato"/>
              </a:rPr>
              <a:t>. Now we’re going to create a similar </a:t>
            </a:r>
            <a:r>
              <a:rPr lang="en" dirty="0">
                <a:solidFill>
                  <a:srgbClr val="FF0000"/>
                </a:solidFill>
                <a:latin typeface="Courier New"/>
                <a:ea typeface="Courier New"/>
                <a:cs typeface="Courier New"/>
                <a:sym typeface="Courier New"/>
              </a:rPr>
              <a:t>class</a:t>
            </a:r>
            <a:r>
              <a:rPr lang="en" dirty="0">
                <a:solidFill>
                  <a:schemeClr val="dk1"/>
                </a:solidFill>
                <a:latin typeface="Lato"/>
                <a:ea typeface="Lato"/>
                <a:cs typeface="Lato"/>
                <a:sym typeface="Lato"/>
              </a:rPr>
              <a:t> to represent a node in a binary tree: </a:t>
            </a:r>
            <a:r>
              <a:rPr lang="en" dirty="0">
                <a:solidFill>
                  <a:schemeClr val="dk1"/>
                </a:solidFill>
                <a:latin typeface="Courier New"/>
                <a:ea typeface="Courier New"/>
                <a:cs typeface="Courier New"/>
                <a:sym typeface="Courier New"/>
              </a:rPr>
              <a:t>BinaryNode</a:t>
            </a:r>
            <a:r>
              <a:rPr lang="en" dirty="0">
                <a:solidFill>
                  <a:schemeClr val="dk1"/>
                </a:solidFill>
                <a:latin typeface="Lato"/>
                <a:ea typeface="Lato"/>
                <a:cs typeface="Lato"/>
                <a:sym typeface="Lato"/>
              </a:rPr>
              <a:t>.</a:t>
            </a:r>
            <a:endParaRPr dirty="0"/>
          </a:p>
        </p:txBody>
      </p:sp>
      <p:sp>
        <p:nvSpPr>
          <p:cNvPr id="564" name="Google Shape;564;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565" name="Google Shape;565;p78"/>
          <p:cNvSpPr txBox="1">
            <a:spLocks noGrp="1"/>
          </p:cNvSpPr>
          <p:nvPr>
            <p:ph type="body" idx="2"/>
          </p:nvPr>
        </p:nvSpPr>
        <p:spPr>
          <a:xfrm>
            <a:off x="3122025" y="1708325"/>
            <a:ext cx="5819100" cy="2914200"/>
          </a:xfrm>
          <a:prstGeom prst="rect">
            <a:avLst/>
          </a:prstGeom>
        </p:spPr>
        <p:txBody>
          <a:bodyPr spcFirstLastPara="1" wrap="square" lIns="91425" tIns="91425" rIns="91425" bIns="91425" anchor="t" anchorCtr="0">
            <a:spAutoFit/>
          </a:bodyPr>
          <a:lstStyle/>
          <a:p>
            <a:pPr marL="457200" lvl="0" indent="-330200" algn="l" rtl="0">
              <a:lnSpc>
                <a:spcPct val="100000"/>
              </a:lnSpc>
              <a:spcBef>
                <a:spcPts val="1000"/>
              </a:spcBef>
              <a:spcAft>
                <a:spcPts val="0"/>
              </a:spcAft>
              <a:buClr>
                <a:schemeClr val="dk1"/>
              </a:buClr>
              <a:buSzPts val="1600"/>
              <a:buFont typeface="Lato"/>
              <a:buChar char="●"/>
            </a:pPr>
            <a:r>
              <a:rPr lang="en" sz="1600" dirty="0">
                <a:solidFill>
                  <a:schemeClr val="dk1"/>
                </a:solidFill>
                <a:latin typeface="Lato"/>
                <a:ea typeface="Lato"/>
                <a:cs typeface="Lato"/>
                <a:sym typeface="Lato"/>
              </a:rPr>
              <a:t>Create a new </a:t>
            </a:r>
            <a:r>
              <a:rPr lang="en" sz="1600" dirty="0">
                <a:solidFill>
                  <a:srgbClr val="FF0000"/>
                </a:solidFill>
                <a:latin typeface="Courier New"/>
                <a:ea typeface="Courier New"/>
                <a:cs typeface="Courier New"/>
                <a:sym typeface="Courier New"/>
              </a:rPr>
              <a:t>class</a:t>
            </a:r>
            <a:r>
              <a:rPr lang="en" sz="1600" dirty="0">
                <a:solidFill>
                  <a:schemeClr val="dk1"/>
                </a:solidFill>
                <a:latin typeface="Lato"/>
                <a:ea typeface="Lato"/>
                <a:cs typeface="Lato"/>
                <a:sym typeface="Lato"/>
              </a:rPr>
              <a:t> called </a:t>
            </a:r>
            <a:r>
              <a:rPr lang="en" sz="1600" dirty="0">
                <a:solidFill>
                  <a:schemeClr val="dk1"/>
                </a:solidFill>
                <a:latin typeface="Courier New"/>
                <a:ea typeface="Courier New"/>
                <a:cs typeface="Courier New"/>
                <a:sym typeface="Courier New"/>
              </a:rPr>
              <a:t>BinaryNode</a:t>
            </a:r>
            <a:r>
              <a:rPr lang="en" sz="1600" dirty="0">
                <a:solidFill>
                  <a:schemeClr val="dk1"/>
                </a:solidFill>
                <a:latin typeface="Lato"/>
                <a:ea typeface="Lato"/>
                <a:cs typeface="Lato"/>
                <a:sym typeface="Lato"/>
              </a:rPr>
              <a:t>.</a:t>
            </a:r>
            <a:endParaRPr sz="1600" dirty="0">
              <a:solidFill>
                <a:schemeClr val="dk1"/>
              </a:solidFill>
              <a:latin typeface="Lato"/>
              <a:ea typeface="Lato"/>
              <a:cs typeface="Lato"/>
              <a:sym typeface="Lato"/>
            </a:endParaRPr>
          </a:p>
          <a:p>
            <a:pPr marL="457200" lvl="0" indent="-330200" algn="l" rtl="0">
              <a:lnSpc>
                <a:spcPct val="100000"/>
              </a:lnSpc>
              <a:spcBef>
                <a:spcPts val="1000"/>
              </a:spcBef>
              <a:spcAft>
                <a:spcPts val="0"/>
              </a:spcAft>
              <a:buClr>
                <a:schemeClr val="dk1"/>
              </a:buClr>
              <a:buSzPts val="1600"/>
              <a:buFont typeface="Lato"/>
              <a:buChar char="●"/>
            </a:pPr>
            <a:r>
              <a:rPr lang="en" sz="1600" dirty="0">
                <a:solidFill>
                  <a:schemeClr val="dk1"/>
                </a:solidFill>
                <a:latin typeface="Lato"/>
                <a:ea typeface="Lato"/>
                <a:cs typeface="Lato"/>
                <a:sym typeface="Lato"/>
              </a:rPr>
              <a:t>The </a:t>
            </a:r>
            <a:r>
              <a:rPr lang="en" sz="1600" dirty="0">
                <a:solidFill>
                  <a:srgbClr val="FF0000"/>
                </a:solidFill>
                <a:latin typeface="Courier New"/>
                <a:ea typeface="Courier New"/>
                <a:cs typeface="Courier New"/>
                <a:sym typeface="Courier New"/>
              </a:rPr>
              <a:t>class</a:t>
            </a:r>
            <a:r>
              <a:rPr lang="en" sz="1600" dirty="0">
                <a:solidFill>
                  <a:schemeClr val="dk1"/>
                </a:solidFill>
                <a:latin typeface="Lato"/>
                <a:ea typeface="Lato"/>
                <a:cs typeface="Lato"/>
                <a:sym typeface="Lato"/>
              </a:rPr>
              <a:t> should have the following methods:</a:t>
            </a:r>
            <a:endParaRPr sz="1600" dirty="0">
              <a:solidFill>
                <a:schemeClr val="dk1"/>
              </a:solidFill>
              <a:latin typeface="Lato"/>
              <a:ea typeface="Lato"/>
              <a:cs typeface="Lato"/>
              <a:sym typeface="Lato"/>
            </a:endParaRPr>
          </a:p>
          <a:p>
            <a:pPr marL="914400" lvl="1" indent="-323850" algn="l" rtl="0">
              <a:lnSpc>
                <a:spcPct val="100000"/>
              </a:lnSpc>
              <a:spcBef>
                <a:spcPts val="0"/>
              </a:spcBef>
              <a:spcAft>
                <a:spcPts val="0"/>
              </a:spcAft>
              <a:buClr>
                <a:schemeClr val="dk1"/>
              </a:buClr>
              <a:buSzPts val="1500"/>
              <a:buFont typeface="Lato"/>
              <a:buChar char="○"/>
            </a:pPr>
            <a:r>
              <a:rPr lang="en" sz="1500" b="1" i="1" dirty="0">
                <a:solidFill>
                  <a:schemeClr val="dk1"/>
                </a:solidFill>
                <a:latin typeface="Lato"/>
                <a:ea typeface="Lato"/>
                <a:cs typeface="Lato"/>
                <a:sym typeface="Lato"/>
              </a:rPr>
              <a:t>A least</a:t>
            </a:r>
            <a:r>
              <a:rPr lang="en" sz="1500" dirty="0">
                <a:solidFill>
                  <a:schemeClr val="dk1"/>
                </a:solidFill>
                <a:latin typeface="Lato"/>
                <a:ea typeface="Lato"/>
                <a:cs typeface="Lato"/>
                <a:sym typeface="Lato"/>
              </a:rPr>
              <a:t> </a:t>
            </a:r>
            <a:r>
              <a:rPr lang="en" sz="1500" b="1" i="1" dirty="0">
                <a:solidFill>
                  <a:schemeClr val="dk1"/>
                </a:solidFill>
                <a:latin typeface="Lato"/>
                <a:ea typeface="Lato"/>
                <a:cs typeface="Lato"/>
                <a:sym typeface="Lato"/>
              </a:rPr>
              <a:t>one </a:t>
            </a:r>
            <a:r>
              <a:rPr lang="en" sz="1500" dirty="0">
                <a:solidFill>
                  <a:schemeClr val="dk1"/>
                </a:solidFill>
                <a:latin typeface="Lato"/>
                <a:ea typeface="Lato"/>
                <a:cs typeface="Lato"/>
                <a:sym typeface="Lato"/>
              </a:rPr>
              <a:t>constructor that takes an </a:t>
            </a:r>
            <a:r>
              <a:rPr lang="en" sz="1500" dirty="0">
                <a:solidFill>
                  <a:srgbClr val="FF0000"/>
                </a:solidFill>
                <a:latin typeface="Courier New"/>
                <a:ea typeface="Courier New"/>
                <a:cs typeface="Courier New"/>
                <a:sym typeface="Courier New"/>
              </a:rPr>
              <a:t>int</a:t>
            </a:r>
            <a:r>
              <a:rPr lang="en" sz="1500" dirty="0">
                <a:solidFill>
                  <a:schemeClr val="dk1"/>
                </a:solidFill>
                <a:latin typeface="Lato"/>
                <a:ea typeface="Lato"/>
                <a:cs typeface="Lato"/>
                <a:sym typeface="Lato"/>
              </a:rPr>
              <a:t> value.</a:t>
            </a:r>
            <a:endParaRPr sz="1500" dirty="0">
              <a:solidFill>
                <a:schemeClr val="dk1"/>
              </a:solidFill>
              <a:latin typeface="Lato"/>
              <a:ea typeface="Lato"/>
              <a:cs typeface="Lato"/>
              <a:sym typeface="Lato"/>
            </a:endParaRPr>
          </a:p>
          <a:p>
            <a:pPr marL="914400" lvl="1" indent="-323850" algn="l" rtl="0">
              <a:lnSpc>
                <a:spcPct val="100000"/>
              </a:lnSpc>
              <a:spcBef>
                <a:spcPts val="0"/>
              </a:spcBef>
              <a:spcAft>
                <a:spcPts val="0"/>
              </a:spcAft>
              <a:buClr>
                <a:schemeClr val="dk1"/>
              </a:buClr>
              <a:buSzPts val="1500"/>
              <a:buFont typeface="Lato"/>
              <a:buChar char="○"/>
            </a:pPr>
            <a:r>
              <a:rPr lang="en" sz="1500" dirty="0">
                <a:solidFill>
                  <a:schemeClr val="dk1"/>
                </a:solidFill>
                <a:latin typeface="Lato"/>
                <a:ea typeface="Lato"/>
                <a:cs typeface="Lato"/>
                <a:sym typeface="Lato"/>
              </a:rPr>
              <a:t>A getter/setter for its </a:t>
            </a:r>
            <a:r>
              <a:rPr lang="en" sz="1500" dirty="0">
                <a:solidFill>
                  <a:srgbClr val="FF0000"/>
                </a:solidFill>
                <a:latin typeface="Courier New"/>
                <a:ea typeface="Courier New"/>
                <a:cs typeface="Courier New"/>
                <a:sym typeface="Courier New"/>
              </a:rPr>
              <a:t>int</a:t>
            </a:r>
            <a:r>
              <a:rPr lang="en" sz="1500" dirty="0">
                <a:solidFill>
                  <a:schemeClr val="dk1"/>
                </a:solidFill>
                <a:latin typeface="Lato"/>
                <a:ea typeface="Lato"/>
                <a:cs typeface="Lato"/>
                <a:sym typeface="Lato"/>
              </a:rPr>
              <a:t> value.</a:t>
            </a:r>
            <a:endParaRPr sz="1500" dirty="0">
              <a:solidFill>
                <a:schemeClr val="dk1"/>
              </a:solidFill>
              <a:latin typeface="Lato"/>
              <a:ea typeface="Lato"/>
              <a:cs typeface="Lato"/>
              <a:sym typeface="Lato"/>
            </a:endParaRPr>
          </a:p>
          <a:p>
            <a:pPr marL="914400" lvl="1" indent="-323850" algn="l" rtl="0">
              <a:lnSpc>
                <a:spcPct val="100000"/>
              </a:lnSpc>
              <a:spcBef>
                <a:spcPts val="0"/>
              </a:spcBef>
              <a:spcAft>
                <a:spcPts val="0"/>
              </a:spcAft>
              <a:buClr>
                <a:schemeClr val="dk1"/>
              </a:buClr>
              <a:buSzPts val="1500"/>
              <a:buFont typeface="Lato"/>
              <a:buChar char="○"/>
            </a:pPr>
            <a:r>
              <a:rPr lang="en" sz="1500" dirty="0">
                <a:solidFill>
                  <a:schemeClr val="dk1"/>
                </a:solidFill>
                <a:latin typeface="Lato"/>
                <a:ea typeface="Lato"/>
                <a:cs typeface="Lato"/>
                <a:sym typeface="Lato"/>
              </a:rPr>
              <a:t>A getter/setter for its left subtree (a </a:t>
            </a:r>
            <a:r>
              <a:rPr lang="en" sz="1500" dirty="0">
                <a:solidFill>
                  <a:schemeClr val="dk1"/>
                </a:solidFill>
                <a:latin typeface="Courier New"/>
                <a:ea typeface="Courier New"/>
                <a:cs typeface="Courier New"/>
                <a:sym typeface="Courier New"/>
              </a:rPr>
              <a:t>BinaryNode</a:t>
            </a:r>
            <a:r>
              <a:rPr lang="en" sz="1500" dirty="0">
                <a:solidFill>
                  <a:schemeClr val="dk1"/>
                </a:solidFill>
                <a:latin typeface="Lato"/>
                <a:ea typeface="Lato"/>
                <a:cs typeface="Lato"/>
                <a:sym typeface="Lato"/>
              </a:rPr>
              <a:t>).</a:t>
            </a:r>
            <a:endParaRPr sz="1500" dirty="0">
              <a:solidFill>
                <a:schemeClr val="dk1"/>
              </a:solidFill>
              <a:latin typeface="Lato"/>
              <a:ea typeface="Lato"/>
              <a:cs typeface="Lato"/>
              <a:sym typeface="Lato"/>
            </a:endParaRPr>
          </a:p>
          <a:p>
            <a:pPr marL="914400" lvl="1" indent="-323850" algn="l" rtl="0">
              <a:lnSpc>
                <a:spcPct val="100000"/>
              </a:lnSpc>
              <a:spcBef>
                <a:spcPts val="0"/>
              </a:spcBef>
              <a:spcAft>
                <a:spcPts val="0"/>
              </a:spcAft>
              <a:buClr>
                <a:schemeClr val="dk1"/>
              </a:buClr>
              <a:buSzPts val="1500"/>
              <a:buFont typeface="Lato"/>
              <a:buChar char="○"/>
            </a:pPr>
            <a:r>
              <a:rPr lang="en" sz="1500" dirty="0">
                <a:solidFill>
                  <a:schemeClr val="dk1"/>
                </a:solidFill>
                <a:latin typeface="Lato"/>
                <a:ea typeface="Lato"/>
                <a:cs typeface="Lato"/>
                <a:sym typeface="Lato"/>
              </a:rPr>
              <a:t>A getter/setter for its right subtree (a </a:t>
            </a:r>
            <a:r>
              <a:rPr lang="en" sz="1500" dirty="0">
                <a:solidFill>
                  <a:schemeClr val="dk1"/>
                </a:solidFill>
                <a:latin typeface="Courier New"/>
                <a:ea typeface="Courier New"/>
                <a:cs typeface="Courier New"/>
                <a:sym typeface="Courier New"/>
              </a:rPr>
              <a:t>BinaryNode</a:t>
            </a:r>
            <a:r>
              <a:rPr lang="en" sz="1500" dirty="0">
                <a:solidFill>
                  <a:schemeClr val="dk1"/>
                </a:solidFill>
                <a:latin typeface="Lato"/>
                <a:ea typeface="Lato"/>
                <a:cs typeface="Lato"/>
                <a:sym typeface="Lato"/>
              </a:rPr>
              <a:t>).</a:t>
            </a:r>
            <a:endParaRPr sz="1500" dirty="0">
              <a:solidFill>
                <a:schemeClr val="dk1"/>
              </a:solidFill>
              <a:latin typeface="Lato"/>
              <a:ea typeface="Lato"/>
              <a:cs typeface="Lato"/>
              <a:sym typeface="Lato"/>
            </a:endParaRPr>
          </a:p>
          <a:p>
            <a:pPr marL="914400" lvl="1" indent="-323850" algn="l" rtl="0">
              <a:lnSpc>
                <a:spcPct val="100000"/>
              </a:lnSpc>
              <a:spcBef>
                <a:spcPts val="0"/>
              </a:spcBef>
              <a:spcAft>
                <a:spcPts val="0"/>
              </a:spcAft>
              <a:buClr>
                <a:schemeClr val="dk1"/>
              </a:buClr>
              <a:buSzPts val="1500"/>
              <a:buFont typeface="Lato"/>
              <a:buChar char="○"/>
            </a:pPr>
            <a:r>
              <a:rPr lang="en" sz="1500" dirty="0">
                <a:solidFill>
                  <a:schemeClr val="dk1"/>
                </a:solidFill>
                <a:latin typeface="Lato"/>
                <a:ea typeface="Lato"/>
                <a:cs typeface="Lato"/>
                <a:sym typeface="Lato"/>
              </a:rPr>
              <a:t>A </a:t>
            </a:r>
            <a:r>
              <a:rPr lang="en" sz="1500" dirty="0">
                <a:solidFill>
                  <a:srgbClr val="FF0000"/>
                </a:solidFill>
                <a:latin typeface="Courier New"/>
                <a:ea typeface="Courier New"/>
                <a:cs typeface="Courier New"/>
                <a:sym typeface="Courier New"/>
              </a:rPr>
              <a:t>toString()</a:t>
            </a:r>
            <a:r>
              <a:rPr lang="en" sz="1500" dirty="0">
                <a:solidFill>
                  <a:schemeClr val="dk1"/>
                </a:solidFill>
                <a:latin typeface="Lato"/>
                <a:ea typeface="Lato"/>
                <a:cs typeface="Lato"/>
                <a:sym typeface="Lato"/>
              </a:rPr>
              <a:t> that returns a String in the format: </a:t>
            </a:r>
            <a:r>
              <a:rPr lang="en" sz="1500" dirty="0">
                <a:solidFill>
                  <a:srgbClr val="FF0000"/>
                </a:solidFill>
                <a:latin typeface="Courier New"/>
                <a:ea typeface="Courier New"/>
                <a:cs typeface="Courier New"/>
                <a:sym typeface="Courier New"/>
              </a:rPr>
              <a:t>"BinaryNode{value=&lt;value&gt;, left=&lt;left&gt;, right=&lt;right&gt;}"</a:t>
            </a:r>
            <a:endParaRPr sz="1500" dirty="0">
              <a:solidFill>
                <a:srgbClr val="FF0000"/>
              </a:solidFill>
              <a:latin typeface="Courier New"/>
              <a:ea typeface="Courier New"/>
              <a:cs typeface="Courier New"/>
              <a:sym typeface="Courier New"/>
            </a:endParaRPr>
          </a:p>
          <a:p>
            <a:pPr marL="457200" lvl="0" indent="-330200" algn="l" rtl="0">
              <a:lnSpc>
                <a:spcPct val="100000"/>
              </a:lnSpc>
              <a:spcBef>
                <a:spcPts val="0"/>
              </a:spcBef>
              <a:spcAft>
                <a:spcPts val="0"/>
              </a:spcAft>
              <a:buClr>
                <a:schemeClr val="dk1"/>
              </a:buClr>
              <a:buSzPts val="1600"/>
              <a:buFont typeface="Lato"/>
              <a:buChar char="●"/>
            </a:pPr>
            <a:r>
              <a:rPr lang="en" sz="1600" dirty="0">
                <a:solidFill>
                  <a:schemeClr val="dk1"/>
                </a:solidFill>
                <a:latin typeface="Lato"/>
                <a:ea typeface="Lato"/>
                <a:cs typeface="Lato"/>
                <a:sym typeface="Lato"/>
              </a:rPr>
              <a:t>Add a </a:t>
            </a:r>
            <a:r>
              <a:rPr lang="en" sz="1600" dirty="0">
                <a:solidFill>
                  <a:schemeClr val="dk1"/>
                </a:solidFill>
                <a:latin typeface="Courier New"/>
                <a:ea typeface="Courier New"/>
                <a:cs typeface="Courier New"/>
                <a:sym typeface="Courier New"/>
              </a:rPr>
              <a:t>main</a:t>
            </a:r>
            <a:r>
              <a:rPr lang="en" sz="1600" dirty="0">
                <a:solidFill>
                  <a:schemeClr val="dk1"/>
                </a:solidFill>
                <a:latin typeface="Lato"/>
                <a:ea typeface="Lato"/>
                <a:cs typeface="Lato"/>
                <a:sym typeface="Lato"/>
              </a:rPr>
              <a:t> method and build the binary tree shown on the left. Print it to standard output.</a:t>
            </a:r>
            <a:endParaRPr b="1" dirty="0"/>
          </a:p>
        </p:txBody>
      </p:sp>
      <p:sp>
        <p:nvSpPr>
          <p:cNvPr id="566" name="Google Shape;566;p7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Binary Node</a:t>
            </a:r>
            <a:endParaRPr/>
          </a:p>
        </p:txBody>
      </p:sp>
      <p:sp>
        <p:nvSpPr>
          <p:cNvPr id="567" name="Google Shape;567;p7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a:t>
            </a:r>
            <a:endParaRPr/>
          </a:p>
        </p:txBody>
      </p:sp>
      <p:grpSp>
        <p:nvGrpSpPr>
          <p:cNvPr id="568" name="Google Shape;568;p78"/>
          <p:cNvGrpSpPr/>
          <p:nvPr/>
        </p:nvGrpSpPr>
        <p:grpSpPr>
          <a:xfrm>
            <a:off x="253115" y="1807405"/>
            <a:ext cx="2729332" cy="1788932"/>
            <a:chOff x="4446813" y="1496675"/>
            <a:chExt cx="1994834" cy="1307508"/>
          </a:xfrm>
        </p:grpSpPr>
        <p:sp>
          <p:nvSpPr>
            <p:cNvPr id="569" name="Google Shape;569;p78"/>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570" name="Google Shape;570;p78"/>
            <p:cNvSpPr/>
            <p:nvPr/>
          </p:nvSpPr>
          <p:spPr>
            <a:xfrm>
              <a:off x="5724092"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571" name="Google Shape;571;p78"/>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sp>
          <p:nvSpPr>
            <p:cNvPr id="572" name="Google Shape;572;p78"/>
            <p:cNvSpPr/>
            <p:nvPr/>
          </p:nvSpPr>
          <p:spPr>
            <a:xfrm>
              <a:off x="52276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a:t>
              </a:r>
              <a:endParaRPr sz="1000"/>
            </a:p>
          </p:txBody>
        </p:sp>
        <p:cxnSp>
          <p:nvCxnSpPr>
            <p:cNvPr id="573" name="Google Shape;573;p78"/>
            <p:cNvCxnSpPr>
              <a:stCxn id="572" idx="3"/>
              <a:endCxn id="569" idx="0"/>
            </p:cNvCxnSpPr>
            <p:nvPr/>
          </p:nvCxnSpPr>
          <p:spPr>
            <a:xfrm flipH="1">
              <a:off x="4960106" y="1782189"/>
              <a:ext cx="316500" cy="187800"/>
            </a:xfrm>
            <a:prstGeom prst="straightConnector1">
              <a:avLst/>
            </a:prstGeom>
            <a:noFill/>
            <a:ln w="9525" cap="flat" cmpd="sng">
              <a:solidFill>
                <a:schemeClr val="dk1"/>
              </a:solidFill>
              <a:prstDash val="solid"/>
              <a:round/>
              <a:headEnd type="none" w="med" len="med"/>
              <a:tailEnd type="triangle" w="med" len="med"/>
            </a:ln>
          </p:spPr>
        </p:cxnSp>
        <p:cxnSp>
          <p:nvCxnSpPr>
            <p:cNvPr id="574" name="Google Shape;574;p78"/>
            <p:cNvCxnSpPr>
              <a:stCxn id="572" idx="5"/>
              <a:endCxn id="570" idx="0"/>
            </p:cNvCxnSpPr>
            <p:nvPr/>
          </p:nvCxnSpPr>
          <p:spPr>
            <a:xfrm>
              <a:off x="5513133" y="1782189"/>
              <a:ext cx="378300" cy="187800"/>
            </a:xfrm>
            <a:prstGeom prst="straightConnector1">
              <a:avLst/>
            </a:prstGeom>
            <a:noFill/>
            <a:ln w="9525" cap="flat" cmpd="sng">
              <a:solidFill>
                <a:schemeClr val="dk1"/>
              </a:solidFill>
              <a:prstDash val="solid"/>
              <a:round/>
              <a:headEnd type="none" w="med" len="med"/>
              <a:tailEnd type="triangle" w="med" len="med"/>
            </a:ln>
          </p:spPr>
        </p:cxnSp>
        <p:sp>
          <p:nvSpPr>
            <p:cNvPr id="575" name="Google Shape;575;p78"/>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576" name="Google Shape;576;p78"/>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577" name="Google Shape;577;p78"/>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cxnSp>
          <p:nvCxnSpPr>
            <p:cNvPr id="578" name="Google Shape;578;p78"/>
            <p:cNvCxnSpPr>
              <a:stCxn id="569" idx="3"/>
              <a:endCxn id="571" idx="7"/>
            </p:cNvCxnSpPr>
            <p:nvPr/>
          </p:nvCxnSpPr>
          <p:spPr>
            <a:xfrm flipH="1">
              <a:off x="4732451" y="2255570"/>
              <a:ext cx="109500" cy="263100"/>
            </a:xfrm>
            <a:prstGeom prst="straightConnector1">
              <a:avLst/>
            </a:prstGeom>
            <a:noFill/>
            <a:ln w="9525" cap="flat" cmpd="sng">
              <a:solidFill>
                <a:schemeClr val="dk1"/>
              </a:solidFill>
              <a:prstDash val="solid"/>
              <a:round/>
              <a:headEnd type="none" w="med" len="med"/>
              <a:tailEnd type="triangle" w="med" len="med"/>
            </a:ln>
          </p:spPr>
        </p:cxnSp>
        <p:cxnSp>
          <p:nvCxnSpPr>
            <p:cNvPr id="579" name="Google Shape;579;p78"/>
            <p:cNvCxnSpPr>
              <a:stCxn id="569" idx="5"/>
              <a:endCxn id="575" idx="0"/>
            </p:cNvCxnSpPr>
            <p:nvPr/>
          </p:nvCxnSpPr>
          <p:spPr>
            <a:xfrm>
              <a:off x="5078479" y="2255570"/>
              <a:ext cx="185700" cy="214200"/>
            </a:xfrm>
            <a:prstGeom prst="straightConnector1">
              <a:avLst/>
            </a:prstGeom>
            <a:noFill/>
            <a:ln w="9525" cap="flat" cmpd="sng">
              <a:solidFill>
                <a:schemeClr val="dk1"/>
              </a:solidFill>
              <a:prstDash val="solid"/>
              <a:round/>
              <a:headEnd type="none" w="med" len="med"/>
              <a:tailEnd type="triangle" w="med" len="med"/>
            </a:ln>
          </p:spPr>
        </p:cxnSp>
        <p:cxnSp>
          <p:nvCxnSpPr>
            <p:cNvPr id="580" name="Google Shape;580;p78"/>
            <p:cNvCxnSpPr>
              <a:stCxn id="570" idx="3"/>
              <a:endCxn id="576" idx="0"/>
            </p:cNvCxnSpPr>
            <p:nvPr/>
          </p:nvCxnSpPr>
          <p:spPr>
            <a:xfrm flipH="1">
              <a:off x="5636879" y="2255570"/>
              <a:ext cx="136200" cy="214200"/>
            </a:xfrm>
            <a:prstGeom prst="straightConnector1">
              <a:avLst/>
            </a:prstGeom>
            <a:noFill/>
            <a:ln w="9525" cap="flat" cmpd="sng">
              <a:solidFill>
                <a:schemeClr val="dk1"/>
              </a:solidFill>
              <a:prstDash val="solid"/>
              <a:round/>
              <a:headEnd type="none" w="med" len="med"/>
              <a:tailEnd type="triangle" w="med" len="med"/>
            </a:ln>
          </p:spPr>
        </p:cxnSp>
        <p:cxnSp>
          <p:nvCxnSpPr>
            <p:cNvPr id="581" name="Google Shape;581;p78"/>
            <p:cNvCxnSpPr>
              <a:stCxn id="570" idx="5"/>
              <a:endCxn id="577" idx="1"/>
            </p:cNvCxnSpPr>
            <p:nvPr/>
          </p:nvCxnSpPr>
          <p:spPr>
            <a:xfrm>
              <a:off x="6009606" y="2255570"/>
              <a:ext cx="146400" cy="263100"/>
            </a:xfrm>
            <a:prstGeom prst="straightConnector1">
              <a:avLst/>
            </a:prstGeom>
            <a:noFill/>
            <a:ln w="9525" cap="flat" cmpd="sng">
              <a:solidFill>
                <a:schemeClr val="dk1"/>
              </a:solidFill>
              <a:prstDash val="solid"/>
              <a:round/>
              <a:headEnd type="none" w="med" len="med"/>
              <a:tailEnd type="triangle" w="med" len="med"/>
            </a:ln>
          </p:spPr>
        </p:cxn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79"/>
          <p:cNvSpPr txBox="1">
            <a:spLocks noGrp="1"/>
          </p:cNvSpPr>
          <p:nvPr>
            <p:ph type="body" idx="1"/>
          </p:nvPr>
        </p:nvSpPr>
        <p:spPr>
          <a:xfrm>
            <a:off x="297975" y="138575"/>
            <a:ext cx="4357800" cy="4854000"/>
          </a:xfrm>
          <a:prstGeom prst="rect">
            <a:avLst/>
          </a:prstGeom>
          <a:noFill/>
        </p:spPr>
        <p:txBody>
          <a:bodyPr spcFirstLastPara="1" wrap="square" lIns="91425" tIns="91425" rIns="91425" bIns="91425" anchor="ctr" anchorCtr="0">
            <a:spAutoFit/>
          </a:bodyPr>
          <a:lstStyle/>
          <a:p>
            <a:pPr marL="457200" marR="0" lvl="0" indent="-349250" algn="l" rtl="0">
              <a:lnSpc>
                <a:spcPct val="115000"/>
              </a:lnSpc>
              <a:spcBef>
                <a:spcPts val="0"/>
              </a:spcBef>
              <a:spcAft>
                <a:spcPts val="0"/>
              </a:spcAft>
              <a:buSzPts val="1900"/>
              <a:buChar char="●"/>
            </a:pPr>
            <a:r>
              <a:rPr lang="en" sz="1500" dirty="0"/>
              <a:t>The next part of the Pokédex problem is to print all of the Pokémon in the Pokédex in order by number.</a:t>
            </a:r>
            <a:endParaRPr sz="1500" dirty="0"/>
          </a:p>
          <a:p>
            <a:pPr marL="457200" marR="0" lvl="0" indent="-323850" algn="l" rtl="0">
              <a:lnSpc>
                <a:spcPct val="115000"/>
              </a:lnSpc>
              <a:spcBef>
                <a:spcPts val="1000"/>
              </a:spcBef>
              <a:spcAft>
                <a:spcPts val="0"/>
              </a:spcAft>
              <a:buSzPts val="1500"/>
              <a:buChar char="●"/>
            </a:pPr>
            <a:r>
              <a:rPr lang="en" sz="1500" dirty="0"/>
              <a:t>This will require us to </a:t>
            </a:r>
            <a:r>
              <a:rPr lang="en" sz="1500" b="1" i="1" dirty="0">
                <a:solidFill>
                  <a:srgbClr val="FF0000"/>
                </a:solidFill>
                <a:highlight>
                  <a:srgbClr val="FFFF00"/>
                </a:highlight>
              </a:rPr>
              <a:t>stringify</a:t>
            </a:r>
            <a:r>
              <a:rPr lang="en" sz="1500" dirty="0">
                <a:solidFill>
                  <a:srgbClr val="FF0000"/>
                </a:solidFill>
              </a:rPr>
              <a:t> </a:t>
            </a:r>
            <a:r>
              <a:rPr lang="en" sz="1500" dirty="0"/>
              <a:t>the binary tree that implements our Pokédex.</a:t>
            </a:r>
            <a:endParaRPr sz="1500" dirty="0"/>
          </a:p>
          <a:p>
            <a:pPr marL="914400" marR="0" lvl="1" indent="-323850" algn="l" rtl="0">
              <a:lnSpc>
                <a:spcPct val="115000"/>
              </a:lnSpc>
              <a:spcBef>
                <a:spcPts val="0"/>
              </a:spcBef>
              <a:spcAft>
                <a:spcPts val="0"/>
              </a:spcAft>
              <a:buSzPts val="1500"/>
              <a:buChar char="○"/>
            </a:pPr>
            <a:r>
              <a:rPr lang="en" sz="1500" dirty="0">
                <a:solidFill>
                  <a:srgbClr val="FF0000"/>
                </a:solidFill>
              </a:rPr>
              <a:t>“Stringify”</a:t>
            </a:r>
            <a:r>
              <a:rPr lang="en" sz="1500" dirty="0"/>
              <a:t> is a technical term that I totally did not just make up that refers to making a string from the values in the tree.</a:t>
            </a:r>
            <a:endParaRPr sz="1500" dirty="0"/>
          </a:p>
          <a:p>
            <a:pPr marL="457200" marR="0" lvl="0" indent="-323850" algn="l" rtl="0">
              <a:lnSpc>
                <a:spcPct val="115000"/>
              </a:lnSpc>
              <a:spcBef>
                <a:spcPts val="1000"/>
              </a:spcBef>
              <a:spcAft>
                <a:spcPts val="0"/>
              </a:spcAft>
              <a:buSzPts val="1500"/>
              <a:buChar char="●"/>
            </a:pPr>
            <a:r>
              <a:rPr lang="en" sz="1500" dirty="0"/>
              <a:t>Converting a binary tree into a string requires that we:</a:t>
            </a:r>
            <a:endParaRPr sz="1500" dirty="0"/>
          </a:p>
          <a:p>
            <a:pPr marL="914400" marR="0" lvl="1" indent="-323850" algn="l" rtl="0">
              <a:lnSpc>
                <a:spcPct val="115000"/>
              </a:lnSpc>
              <a:spcBef>
                <a:spcPts val="0"/>
              </a:spcBef>
              <a:spcAft>
                <a:spcPts val="0"/>
              </a:spcAft>
              <a:buSzPts val="1500"/>
              <a:buChar char="○"/>
            </a:pPr>
            <a:r>
              <a:rPr lang="en" sz="1500" b="1" i="1" dirty="0">
                <a:solidFill>
                  <a:srgbClr val="FF0000"/>
                </a:solidFill>
              </a:rPr>
              <a:t>Visit </a:t>
            </a:r>
            <a:r>
              <a:rPr lang="en" sz="1500" dirty="0"/>
              <a:t>each node in the tree.</a:t>
            </a:r>
            <a:endParaRPr sz="1500" dirty="0"/>
          </a:p>
          <a:p>
            <a:pPr marL="914400" marR="0" lvl="1" indent="-323850" algn="l" rtl="0">
              <a:lnSpc>
                <a:spcPct val="115000"/>
              </a:lnSpc>
              <a:spcBef>
                <a:spcPts val="0"/>
              </a:spcBef>
              <a:spcAft>
                <a:spcPts val="0"/>
              </a:spcAft>
              <a:buSzPts val="1500"/>
              <a:buChar char="○"/>
            </a:pPr>
            <a:r>
              <a:rPr lang="en" sz="1500" dirty="0"/>
              <a:t>Add its value to a string using </a:t>
            </a:r>
            <a:r>
              <a:rPr lang="en" sz="1500" b="1" i="1" dirty="0">
                <a:solidFill>
                  <a:srgbClr val="FF0000"/>
                </a:solidFill>
              </a:rPr>
              <a:t>concatenation</a:t>
            </a:r>
            <a:r>
              <a:rPr lang="en" sz="1500" dirty="0"/>
              <a:t>.</a:t>
            </a:r>
            <a:endParaRPr sz="1500" dirty="0"/>
          </a:p>
          <a:p>
            <a:pPr marL="457200" marR="0" lvl="0" indent="-323850" algn="l" rtl="0">
              <a:lnSpc>
                <a:spcPct val="115000"/>
              </a:lnSpc>
              <a:spcBef>
                <a:spcPts val="1000"/>
              </a:spcBef>
              <a:spcAft>
                <a:spcPts val="0"/>
              </a:spcAft>
              <a:buSzPts val="1500"/>
              <a:buChar char="●"/>
            </a:pPr>
            <a:r>
              <a:rPr lang="en" sz="1500" dirty="0"/>
              <a:t>The process of visiting each node in a tree is also referred to as </a:t>
            </a:r>
            <a:r>
              <a:rPr lang="en" sz="1500" b="1" i="1" dirty="0">
                <a:solidFill>
                  <a:srgbClr val="FF0000"/>
                </a:solidFill>
                <a:highlight>
                  <a:srgbClr val="FFFF00"/>
                </a:highlight>
              </a:rPr>
              <a:t>traversing</a:t>
            </a:r>
            <a:r>
              <a:rPr lang="en" sz="1500" b="1" i="1" dirty="0">
                <a:solidFill>
                  <a:srgbClr val="FF0000"/>
                </a:solidFill>
              </a:rPr>
              <a:t> </a:t>
            </a:r>
            <a:r>
              <a:rPr lang="en" sz="1500" dirty="0"/>
              <a:t>the tree.</a:t>
            </a:r>
            <a:endParaRPr sz="1500" dirty="0"/>
          </a:p>
        </p:txBody>
      </p:sp>
      <p:sp>
        <p:nvSpPr>
          <p:cNvPr id="587" name="Google Shape;587;p79"/>
          <p:cNvSpPr txBox="1">
            <a:spLocks noGrp="1"/>
          </p:cNvSpPr>
          <p:nvPr>
            <p:ph type="title"/>
          </p:nvPr>
        </p:nvSpPr>
        <p:spPr>
          <a:xfrm>
            <a:off x="5264725" y="258025"/>
            <a:ext cx="3706500" cy="8811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t>Printing the Pokédex</a:t>
            </a:r>
            <a:endParaRPr/>
          </a:p>
        </p:txBody>
      </p:sp>
      <p:sp>
        <p:nvSpPr>
          <p:cNvPr id="588" name="Google Shape;588;p79"/>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pic>
        <p:nvPicPr>
          <p:cNvPr id="589" name="Google Shape;589;p79"/>
          <p:cNvPicPr preferRelativeResize="0"/>
          <p:nvPr/>
        </p:nvPicPr>
        <p:blipFill>
          <a:blip r:embed="rId3">
            <a:alphaModFix/>
          </a:blip>
          <a:stretch>
            <a:fillRect/>
          </a:stretch>
        </p:blipFill>
        <p:spPr>
          <a:xfrm>
            <a:off x="5320813" y="1650500"/>
            <a:ext cx="2217673" cy="3282624"/>
          </a:xfrm>
          <a:prstGeom prst="rect">
            <a:avLst/>
          </a:prstGeom>
          <a:noFill/>
          <a:ln>
            <a:noFill/>
          </a:ln>
        </p:spPr>
      </p:pic>
      <p:sp>
        <p:nvSpPr>
          <p:cNvPr id="590" name="Google Shape;590;p79"/>
          <p:cNvSpPr/>
          <p:nvPr/>
        </p:nvSpPr>
        <p:spPr>
          <a:xfrm>
            <a:off x="7300473" y="1408071"/>
            <a:ext cx="1786200" cy="939600"/>
          </a:xfrm>
          <a:prstGeom prst="wedgeRoundRectCallout">
            <a:avLst>
              <a:gd name="adj1" fmla="val -58155"/>
              <a:gd name="adj2" fmla="val 79343"/>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t>I’d like to brag about all of the Pokémon that I’ve captured!</a:t>
            </a:r>
            <a:endParaRPr sz="13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8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80"/>
          <p:cNvSpPr txBox="1">
            <a:spLocks noGrp="1"/>
          </p:cNvSpPr>
          <p:nvPr>
            <p:ph type="title"/>
          </p:nvPr>
        </p:nvSpPr>
        <p:spPr>
          <a:xfrm>
            <a:off x="311713" y="65900"/>
            <a:ext cx="3706500" cy="1046700"/>
          </a:xfrm>
          <a:prstGeom prst="rect">
            <a:avLst/>
          </a:prstGeom>
          <a:noFill/>
        </p:spPr>
        <p:txBody>
          <a:bodyPr spcFirstLastPara="1" wrap="square" lIns="91425" tIns="91425" rIns="91425" bIns="91425" anchor="t" anchorCtr="0">
            <a:spAutoFit/>
          </a:bodyPr>
          <a:lstStyle/>
          <a:p>
            <a:pPr marL="0" lvl="0" indent="0" algn="l" rtl="0">
              <a:spcBef>
                <a:spcPts val="0"/>
              </a:spcBef>
              <a:spcAft>
                <a:spcPts val="0"/>
              </a:spcAft>
              <a:buNone/>
            </a:pPr>
            <a:r>
              <a:rPr lang="en"/>
              <a:t>Infix (in-order ) Traversal</a:t>
            </a:r>
            <a:endParaRPr/>
          </a:p>
        </p:txBody>
      </p:sp>
      <p:sp>
        <p:nvSpPr>
          <p:cNvPr id="596" name="Google Shape;596;p80"/>
          <p:cNvSpPr txBox="1">
            <a:spLocks noGrp="1"/>
          </p:cNvSpPr>
          <p:nvPr>
            <p:ph type="body" idx="1"/>
          </p:nvPr>
        </p:nvSpPr>
        <p:spPr>
          <a:xfrm>
            <a:off x="4644675" y="272325"/>
            <a:ext cx="4166400" cy="4389300"/>
          </a:xfrm>
          <a:prstGeom prst="rect">
            <a:avLst/>
          </a:prstGeom>
          <a:noFill/>
        </p:spPr>
        <p:txBody>
          <a:bodyPr spcFirstLastPara="1" wrap="square" lIns="91425" tIns="91425" rIns="91425" bIns="91425" anchor="ctr" anchorCtr="0">
            <a:spAutoFit/>
          </a:bodyPr>
          <a:lstStyle/>
          <a:p>
            <a:pPr marL="457200" lvl="0" indent="-323850" algn="l" rtl="0">
              <a:spcBef>
                <a:spcPts val="0"/>
              </a:spcBef>
              <a:spcAft>
                <a:spcPts val="0"/>
              </a:spcAft>
              <a:buSzPts val="1500"/>
              <a:buChar char="●"/>
            </a:pPr>
            <a:r>
              <a:rPr lang="en" sz="1500" dirty="0"/>
              <a:t>There is more than one way in which to traverse a binary tree; the order in which the nodes are </a:t>
            </a:r>
            <a:r>
              <a:rPr lang="en" sz="1500" b="1" i="1" dirty="0">
                <a:solidFill>
                  <a:srgbClr val="FF0000"/>
                </a:solidFill>
              </a:rPr>
              <a:t>visited</a:t>
            </a:r>
            <a:r>
              <a:rPr lang="en" sz="1500" dirty="0"/>
              <a:t>, and therefore the results, may change.</a:t>
            </a:r>
            <a:endParaRPr sz="1500" dirty="0"/>
          </a:p>
          <a:p>
            <a:pPr marL="457200" lvl="0" indent="-323850" algn="l" rtl="0">
              <a:spcBef>
                <a:spcPts val="1000"/>
              </a:spcBef>
              <a:spcAft>
                <a:spcPts val="0"/>
              </a:spcAft>
              <a:buSzPts val="1500"/>
              <a:buChar char="●"/>
            </a:pPr>
            <a:r>
              <a:rPr lang="en" sz="1500" dirty="0"/>
              <a:t>Consider the </a:t>
            </a:r>
            <a:r>
              <a:rPr lang="en" sz="1500" dirty="0">
                <a:highlight>
                  <a:srgbClr val="FFFF00"/>
                </a:highlight>
              </a:rPr>
              <a:t>binary tree to the left. </a:t>
            </a:r>
            <a:r>
              <a:rPr lang="en" sz="1500" dirty="0"/>
              <a:t>If you wanted to print all of the node values in increasing numerical order, in which order would you need to visit each node?</a:t>
            </a:r>
            <a:endParaRPr sz="1500" dirty="0"/>
          </a:p>
          <a:p>
            <a:pPr marL="914400" lvl="1" indent="-323850" algn="l" rtl="0">
              <a:spcBef>
                <a:spcPts val="0"/>
              </a:spcBef>
              <a:spcAft>
                <a:spcPts val="0"/>
              </a:spcAft>
              <a:buSzPts val="1500"/>
              <a:buChar char="○"/>
            </a:pPr>
            <a:r>
              <a:rPr lang="en" sz="1500" dirty="0"/>
              <a:t>First, visit the </a:t>
            </a:r>
            <a:r>
              <a:rPr lang="en" sz="1500" b="1" i="1" dirty="0">
                <a:solidFill>
                  <a:srgbClr val="FF0000"/>
                </a:solidFill>
              </a:rPr>
              <a:t>left subtree</a:t>
            </a:r>
            <a:r>
              <a:rPr lang="en" sz="1500" dirty="0"/>
              <a:t>.</a:t>
            </a:r>
            <a:endParaRPr sz="1500" dirty="0"/>
          </a:p>
          <a:p>
            <a:pPr marL="914400" lvl="1" indent="-323850" algn="l" rtl="0">
              <a:spcBef>
                <a:spcPts val="0"/>
              </a:spcBef>
              <a:spcAft>
                <a:spcPts val="0"/>
              </a:spcAft>
              <a:buSzPts val="1500"/>
              <a:buChar char="○"/>
            </a:pPr>
            <a:r>
              <a:rPr lang="en" sz="1500" dirty="0"/>
              <a:t>Then, visit the </a:t>
            </a:r>
            <a:r>
              <a:rPr lang="en" sz="1500" b="1" i="1" dirty="0">
                <a:solidFill>
                  <a:srgbClr val="FF0000"/>
                </a:solidFill>
              </a:rPr>
              <a:t>middle node</a:t>
            </a:r>
            <a:r>
              <a:rPr lang="en" sz="1500" dirty="0"/>
              <a:t>.</a:t>
            </a:r>
            <a:endParaRPr sz="1500" dirty="0"/>
          </a:p>
          <a:p>
            <a:pPr marL="914400" lvl="1" indent="-323850" algn="l" rtl="0">
              <a:spcBef>
                <a:spcPts val="0"/>
              </a:spcBef>
              <a:spcAft>
                <a:spcPts val="0"/>
              </a:spcAft>
              <a:buSzPts val="1500"/>
              <a:buChar char="○"/>
            </a:pPr>
            <a:r>
              <a:rPr lang="en" sz="1500" dirty="0"/>
              <a:t>Finally, visit the </a:t>
            </a:r>
            <a:r>
              <a:rPr lang="en" sz="1500" b="1" i="1" dirty="0">
                <a:solidFill>
                  <a:srgbClr val="FF0000"/>
                </a:solidFill>
              </a:rPr>
              <a:t>right subtree</a:t>
            </a:r>
            <a:r>
              <a:rPr lang="en" sz="1500" dirty="0"/>
              <a:t>.</a:t>
            </a:r>
            <a:endParaRPr sz="1500" dirty="0"/>
          </a:p>
          <a:p>
            <a:pPr marL="457200" lvl="0" indent="-323850" algn="l" rtl="0">
              <a:spcBef>
                <a:spcPts val="1000"/>
              </a:spcBef>
              <a:spcAft>
                <a:spcPts val="0"/>
              </a:spcAft>
              <a:buSzPts val="1500"/>
              <a:buChar char="●"/>
            </a:pPr>
            <a:r>
              <a:rPr lang="en" sz="1500" dirty="0"/>
              <a:t>This is called an </a:t>
            </a:r>
            <a:r>
              <a:rPr lang="en" sz="1500" b="1" i="1" dirty="0">
                <a:solidFill>
                  <a:srgbClr val="FF0000"/>
                </a:solidFill>
              </a:rPr>
              <a:t>infix traversal</a:t>
            </a:r>
            <a:r>
              <a:rPr lang="en" sz="1500" dirty="0"/>
              <a:t> or sometimes an </a:t>
            </a:r>
            <a:r>
              <a:rPr lang="en" sz="1500" b="1" i="1" dirty="0">
                <a:solidFill>
                  <a:srgbClr val="FF0000"/>
                </a:solidFill>
              </a:rPr>
              <a:t>in order traversal</a:t>
            </a:r>
            <a:r>
              <a:rPr lang="en" sz="1500" dirty="0"/>
              <a:t>.</a:t>
            </a:r>
            <a:endParaRPr sz="1500" dirty="0"/>
          </a:p>
          <a:p>
            <a:pPr marL="914400" lvl="1" indent="-323850" algn="l" rtl="0">
              <a:spcBef>
                <a:spcPts val="0"/>
              </a:spcBef>
              <a:spcAft>
                <a:spcPts val="0"/>
              </a:spcAft>
              <a:buSzPts val="1500"/>
              <a:buChar char="○"/>
            </a:pPr>
            <a:r>
              <a:rPr lang="en" sz="1500" dirty="0"/>
              <a:t>The nodes are always visited in the order: </a:t>
            </a:r>
            <a:r>
              <a:rPr lang="en" sz="1500" b="1" i="1" dirty="0">
                <a:solidFill>
                  <a:srgbClr val="FF0000"/>
                </a:solidFill>
              </a:rPr>
              <a:t>left-middle-right</a:t>
            </a:r>
            <a:r>
              <a:rPr lang="en" sz="1500" dirty="0"/>
              <a:t>.</a:t>
            </a:r>
            <a:endParaRPr sz="1500" dirty="0"/>
          </a:p>
        </p:txBody>
      </p:sp>
      <p:grpSp>
        <p:nvGrpSpPr>
          <p:cNvPr id="597" name="Google Shape;597;p80"/>
          <p:cNvGrpSpPr/>
          <p:nvPr/>
        </p:nvGrpSpPr>
        <p:grpSpPr>
          <a:xfrm>
            <a:off x="464741" y="1112666"/>
            <a:ext cx="3259360" cy="2187984"/>
            <a:chOff x="4446813" y="1496675"/>
            <a:chExt cx="1994834" cy="1307508"/>
          </a:xfrm>
        </p:grpSpPr>
        <p:sp>
          <p:nvSpPr>
            <p:cNvPr id="598" name="Google Shape;598;p80"/>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599" name="Google Shape;599;p80"/>
            <p:cNvSpPr/>
            <p:nvPr/>
          </p:nvSpPr>
          <p:spPr>
            <a:xfrm>
              <a:off x="5784858"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600" name="Google Shape;600;p80"/>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601" name="Google Shape;601;p80"/>
            <p:cNvSpPr/>
            <p:nvPr/>
          </p:nvSpPr>
          <p:spPr>
            <a:xfrm>
              <a:off x="5288385"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602" name="Google Shape;602;p80"/>
            <p:cNvCxnSpPr>
              <a:stCxn id="601" idx="3"/>
              <a:endCxn id="598" idx="0"/>
            </p:cNvCxnSpPr>
            <p:nvPr/>
          </p:nvCxnSpPr>
          <p:spPr>
            <a:xfrm flipH="1">
              <a:off x="4960271" y="1782189"/>
              <a:ext cx="377100" cy="187800"/>
            </a:xfrm>
            <a:prstGeom prst="straightConnector1">
              <a:avLst/>
            </a:prstGeom>
            <a:noFill/>
            <a:ln w="9525" cap="flat" cmpd="sng">
              <a:solidFill>
                <a:srgbClr val="FFFFFF"/>
              </a:solidFill>
              <a:prstDash val="solid"/>
              <a:round/>
              <a:headEnd type="none" w="med" len="med"/>
              <a:tailEnd type="triangle" w="med" len="med"/>
            </a:ln>
          </p:spPr>
        </p:cxnSp>
        <p:cxnSp>
          <p:nvCxnSpPr>
            <p:cNvPr id="603" name="Google Shape;603;p80"/>
            <p:cNvCxnSpPr>
              <a:stCxn id="601" idx="5"/>
              <a:endCxn id="599" idx="0"/>
            </p:cNvCxnSpPr>
            <p:nvPr/>
          </p:nvCxnSpPr>
          <p:spPr>
            <a:xfrm>
              <a:off x="5573898" y="1782189"/>
              <a:ext cx="378300" cy="187800"/>
            </a:xfrm>
            <a:prstGeom prst="straightConnector1">
              <a:avLst/>
            </a:prstGeom>
            <a:noFill/>
            <a:ln w="9525" cap="flat" cmpd="sng">
              <a:solidFill>
                <a:srgbClr val="FFFFFF"/>
              </a:solidFill>
              <a:prstDash val="solid"/>
              <a:round/>
              <a:headEnd type="none" w="med" len="med"/>
              <a:tailEnd type="triangle" w="med" len="med"/>
            </a:ln>
          </p:spPr>
        </p:cxnSp>
        <p:sp>
          <p:nvSpPr>
            <p:cNvPr id="604" name="Google Shape;604;p80"/>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605" name="Google Shape;605;p80"/>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606" name="Google Shape;606;p80"/>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cxnSp>
          <p:nvCxnSpPr>
            <p:cNvPr id="607" name="Google Shape;607;p80"/>
            <p:cNvCxnSpPr>
              <a:stCxn id="598" idx="3"/>
              <a:endCxn id="600" idx="0"/>
            </p:cNvCxnSpPr>
            <p:nvPr/>
          </p:nvCxnSpPr>
          <p:spPr>
            <a:xfrm flipH="1">
              <a:off x="4613951" y="2255570"/>
              <a:ext cx="228000" cy="214200"/>
            </a:xfrm>
            <a:prstGeom prst="straightConnector1">
              <a:avLst/>
            </a:prstGeom>
            <a:noFill/>
            <a:ln w="9525" cap="flat" cmpd="sng">
              <a:solidFill>
                <a:srgbClr val="FFFFFF"/>
              </a:solidFill>
              <a:prstDash val="solid"/>
              <a:round/>
              <a:headEnd type="none" w="med" len="med"/>
              <a:tailEnd type="triangle" w="med" len="med"/>
            </a:ln>
          </p:spPr>
        </p:cxnSp>
        <p:cxnSp>
          <p:nvCxnSpPr>
            <p:cNvPr id="608" name="Google Shape;608;p80"/>
            <p:cNvCxnSpPr>
              <a:stCxn id="598" idx="5"/>
              <a:endCxn id="604" idx="0"/>
            </p:cNvCxnSpPr>
            <p:nvPr/>
          </p:nvCxnSpPr>
          <p:spPr>
            <a:xfrm>
              <a:off x="5078479" y="2255570"/>
              <a:ext cx="185700" cy="214200"/>
            </a:xfrm>
            <a:prstGeom prst="straightConnector1">
              <a:avLst/>
            </a:prstGeom>
            <a:noFill/>
            <a:ln w="9525" cap="flat" cmpd="sng">
              <a:solidFill>
                <a:srgbClr val="FFFFFF"/>
              </a:solidFill>
              <a:prstDash val="solid"/>
              <a:round/>
              <a:headEnd type="none" w="med" len="med"/>
              <a:tailEnd type="triangle" w="med" len="med"/>
            </a:ln>
          </p:spPr>
        </p:cxnSp>
        <p:cxnSp>
          <p:nvCxnSpPr>
            <p:cNvPr id="609" name="Google Shape;609;p80"/>
            <p:cNvCxnSpPr>
              <a:stCxn id="599" idx="3"/>
              <a:endCxn id="605" idx="0"/>
            </p:cNvCxnSpPr>
            <p:nvPr/>
          </p:nvCxnSpPr>
          <p:spPr>
            <a:xfrm flipH="1">
              <a:off x="5636744" y="2255570"/>
              <a:ext cx="197100" cy="214200"/>
            </a:xfrm>
            <a:prstGeom prst="straightConnector1">
              <a:avLst/>
            </a:prstGeom>
            <a:noFill/>
            <a:ln w="9525" cap="flat" cmpd="sng">
              <a:solidFill>
                <a:srgbClr val="FFFFFF"/>
              </a:solidFill>
              <a:prstDash val="solid"/>
              <a:round/>
              <a:headEnd type="none" w="med" len="med"/>
              <a:tailEnd type="triangle" w="med" len="med"/>
            </a:ln>
          </p:spPr>
        </p:cxnSp>
        <p:cxnSp>
          <p:nvCxnSpPr>
            <p:cNvPr id="610" name="Google Shape;610;p80"/>
            <p:cNvCxnSpPr>
              <a:stCxn id="599" idx="5"/>
              <a:endCxn id="606" idx="0"/>
            </p:cNvCxnSpPr>
            <p:nvPr/>
          </p:nvCxnSpPr>
          <p:spPr>
            <a:xfrm>
              <a:off x="6070371" y="2255570"/>
              <a:ext cx="204000" cy="214200"/>
            </a:xfrm>
            <a:prstGeom prst="straightConnector1">
              <a:avLst/>
            </a:prstGeom>
            <a:noFill/>
            <a:ln w="9525" cap="flat" cmpd="sng">
              <a:solidFill>
                <a:srgbClr val="FFFFFF"/>
              </a:solidFill>
              <a:prstDash val="solid"/>
              <a:round/>
              <a:headEnd type="none" w="med" len="med"/>
              <a:tailEnd type="triangle" w="med" len="med"/>
            </a:ln>
          </p:spPr>
        </p:cxnSp>
      </p:grpSp>
      <p:sp>
        <p:nvSpPr>
          <p:cNvPr id="611" name="Google Shape;611;p80"/>
          <p:cNvSpPr txBox="1"/>
          <p:nvPr/>
        </p:nvSpPr>
        <p:spPr>
          <a:xfrm>
            <a:off x="464900" y="3452925"/>
            <a:ext cx="3259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Consider how changing the order in which the nodes are visited would change the string we are building.</a:t>
            </a:r>
            <a:endParaRPr sz="1200"/>
          </a:p>
        </p:txBody>
      </p:sp>
      <p:sp>
        <p:nvSpPr>
          <p:cNvPr id="612" name="Google Shape;612;p80"/>
          <p:cNvSpPr txBox="1"/>
          <p:nvPr/>
        </p:nvSpPr>
        <p:spPr>
          <a:xfrm>
            <a:off x="464900" y="4288152"/>
            <a:ext cx="3259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There are other kinds of traversal that change the order in which the middle node is visited.</a:t>
            </a:r>
            <a:endParaRPr sz="1200"/>
          </a:p>
        </p:txBody>
      </p:sp>
      <p:sp>
        <p:nvSpPr>
          <p:cNvPr id="613" name="Google Shape;613;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9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11"/>
                                        </p:tgtEl>
                                        <p:attrNameLst>
                                          <p:attrName>style.visibility</p:attrName>
                                        </p:attrNameLst>
                                      </p:cBhvr>
                                      <p:to>
                                        <p:strVal val="visible"/>
                                      </p:to>
                                    </p:set>
                                    <p:animEffect transition="in" filter="fade">
                                      <p:cBhvr>
                                        <p:cTn id="35" dur="1000"/>
                                        <p:tgtEl>
                                          <p:spTgt spid="6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12"/>
                                        </p:tgtEl>
                                        <p:attrNameLst>
                                          <p:attrName>style.visibility</p:attrName>
                                        </p:attrNameLst>
                                      </p:cBhvr>
                                      <p:to>
                                        <p:strVal val="visible"/>
                                      </p:to>
                                    </p:set>
                                    <p:animEffect transition="in" filter="fade">
                                      <p:cBhvr>
                                        <p:cTn id="40" dur="1000"/>
                                        <p:tgtEl>
                                          <p:spTgt spid="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8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Infix Traversals</a:t>
            </a:r>
            <a:endParaRPr/>
          </a:p>
        </p:txBody>
      </p:sp>
      <p:sp>
        <p:nvSpPr>
          <p:cNvPr id="619" name="Google Shape;619;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grpSp>
        <p:nvGrpSpPr>
          <p:cNvPr id="620" name="Google Shape;620;p81"/>
          <p:cNvGrpSpPr/>
          <p:nvPr/>
        </p:nvGrpSpPr>
        <p:grpSpPr>
          <a:xfrm>
            <a:off x="4627016" y="2483878"/>
            <a:ext cx="3259360" cy="2187984"/>
            <a:chOff x="4446813" y="1496675"/>
            <a:chExt cx="1994834" cy="1307508"/>
          </a:xfrm>
        </p:grpSpPr>
        <p:sp>
          <p:nvSpPr>
            <p:cNvPr id="621" name="Google Shape;621;p81"/>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622" name="Google Shape;622;p81"/>
            <p:cNvSpPr/>
            <p:nvPr/>
          </p:nvSpPr>
          <p:spPr>
            <a:xfrm>
              <a:off x="5784858"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623" name="Google Shape;623;p81"/>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624" name="Google Shape;624;p81"/>
            <p:cNvSpPr/>
            <p:nvPr/>
          </p:nvSpPr>
          <p:spPr>
            <a:xfrm>
              <a:off x="5288385"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625" name="Google Shape;625;p81"/>
            <p:cNvCxnSpPr>
              <a:stCxn id="624" idx="3"/>
              <a:endCxn id="621" idx="0"/>
            </p:cNvCxnSpPr>
            <p:nvPr/>
          </p:nvCxnSpPr>
          <p:spPr>
            <a:xfrm flipH="1">
              <a:off x="4960271" y="1782189"/>
              <a:ext cx="377100" cy="187800"/>
            </a:xfrm>
            <a:prstGeom prst="straightConnector1">
              <a:avLst/>
            </a:prstGeom>
            <a:noFill/>
            <a:ln w="9525" cap="flat" cmpd="sng">
              <a:solidFill>
                <a:srgbClr val="000000"/>
              </a:solidFill>
              <a:prstDash val="solid"/>
              <a:round/>
              <a:headEnd type="none" w="med" len="med"/>
              <a:tailEnd type="triangle" w="med" len="med"/>
            </a:ln>
          </p:spPr>
        </p:cxnSp>
        <p:cxnSp>
          <p:nvCxnSpPr>
            <p:cNvPr id="626" name="Google Shape;626;p81"/>
            <p:cNvCxnSpPr>
              <a:stCxn id="624" idx="5"/>
              <a:endCxn id="622" idx="0"/>
            </p:cNvCxnSpPr>
            <p:nvPr/>
          </p:nvCxnSpPr>
          <p:spPr>
            <a:xfrm>
              <a:off x="5573898" y="1782189"/>
              <a:ext cx="378300" cy="187800"/>
            </a:xfrm>
            <a:prstGeom prst="straightConnector1">
              <a:avLst/>
            </a:prstGeom>
            <a:noFill/>
            <a:ln w="9525" cap="flat" cmpd="sng">
              <a:solidFill>
                <a:srgbClr val="000000"/>
              </a:solidFill>
              <a:prstDash val="solid"/>
              <a:round/>
              <a:headEnd type="none" w="med" len="med"/>
              <a:tailEnd type="triangle" w="med" len="med"/>
            </a:ln>
          </p:spPr>
        </p:cxnSp>
        <p:sp>
          <p:nvSpPr>
            <p:cNvPr id="627" name="Google Shape;627;p81"/>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628" name="Google Shape;628;p81"/>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629" name="Google Shape;629;p81"/>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cxnSp>
          <p:nvCxnSpPr>
            <p:cNvPr id="630" name="Google Shape;630;p81"/>
            <p:cNvCxnSpPr>
              <a:stCxn id="621" idx="3"/>
              <a:endCxn id="623" idx="0"/>
            </p:cNvCxnSpPr>
            <p:nvPr/>
          </p:nvCxnSpPr>
          <p:spPr>
            <a:xfrm flipH="1">
              <a:off x="4613951" y="2255570"/>
              <a:ext cx="228000" cy="214200"/>
            </a:xfrm>
            <a:prstGeom prst="straightConnector1">
              <a:avLst/>
            </a:prstGeom>
            <a:noFill/>
            <a:ln w="9525" cap="flat" cmpd="sng">
              <a:solidFill>
                <a:srgbClr val="000000"/>
              </a:solidFill>
              <a:prstDash val="solid"/>
              <a:round/>
              <a:headEnd type="none" w="med" len="med"/>
              <a:tailEnd type="triangle" w="med" len="med"/>
            </a:ln>
          </p:spPr>
        </p:cxnSp>
        <p:cxnSp>
          <p:nvCxnSpPr>
            <p:cNvPr id="631" name="Google Shape;631;p81"/>
            <p:cNvCxnSpPr>
              <a:stCxn id="621" idx="5"/>
              <a:endCxn id="627" idx="0"/>
            </p:cNvCxnSpPr>
            <p:nvPr/>
          </p:nvCxnSpPr>
          <p:spPr>
            <a:xfrm>
              <a:off x="5078479" y="2255570"/>
              <a:ext cx="185700" cy="214200"/>
            </a:xfrm>
            <a:prstGeom prst="straightConnector1">
              <a:avLst/>
            </a:prstGeom>
            <a:noFill/>
            <a:ln w="9525" cap="flat" cmpd="sng">
              <a:solidFill>
                <a:srgbClr val="000000"/>
              </a:solidFill>
              <a:prstDash val="solid"/>
              <a:round/>
              <a:headEnd type="none" w="med" len="med"/>
              <a:tailEnd type="triangle" w="med" len="med"/>
            </a:ln>
          </p:spPr>
        </p:cxnSp>
        <p:cxnSp>
          <p:nvCxnSpPr>
            <p:cNvPr id="632" name="Google Shape;632;p81"/>
            <p:cNvCxnSpPr>
              <a:stCxn id="622" idx="3"/>
              <a:endCxn id="628" idx="0"/>
            </p:cNvCxnSpPr>
            <p:nvPr/>
          </p:nvCxnSpPr>
          <p:spPr>
            <a:xfrm flipH="1">
              <a:off x="5636744" y="2255570"/>
              <a:ext cx="197100" cy="214200"/>
            </a:xfrm>
            <a:prstGeom prst="straightConnector1">
              <a:avLst/>
            </a:prstGeom>
            <a:noFill/>
            <a:ln w="9525" cap="flat" cmpd="sng">
              <a:solidFill>
                <a:srgbClr val="000000"/>
              </a:solidFill>
              <a:prstDash val="solid"/>
              <a:round/>
              <a:headEnd type="none" w="med" len="med"/>
              <a:tailEnd type="triangle" w="med" len="med"/>
            </a:ln>
          </p:spPr>
        </p:cxnSp>
        <p:cxnSp>
          <p:nvCxnSpPr>
            <p:cNvPr id="633" name="Google Shape;633;p81"/>
            <p:cNvCxnSpPr>
              <a:stCxn id="622" idx="5"/>
              <a:endCxn id="629" idx="0"/>
            </p:cNvCxnSpPr>
            <p:nvPr/>
          </p:nvCxnSpPr>
          <p:spPr>
            <a:xfrm>
              <a:off x="6070371" y="2255570"/>
              <a:ext cx="204000" cy="214200"/>
            </a:xfrm>
            <a:prstGeom prst="straightConnector1">
              <a:avLst/>
            </a:prstGeom>
            <a:noFill/>
            <a:ln w="9525" cap="flat" cmpd="sng">
              <a:solidFill>
                <a:srgbClr val="000000"/>
              </a:solidFill>
              <a:prstDash val="solid"/>
              <a:round/>
              <a:headEnd type="none" w="med" len="med"/>
              <a:tailEnd type="triangle" w="med" len="med"/>
            </a:ln>
          </p:spPr>
        </p:cxnSp>
      </p:grpSp>
      <p:sp>
        <p:nvSpPr>
          <p:cNvPr id="634" name="Google Shape;634;p81"/>
          <p:cNvSpPr txBox="1"/>
          <p:nvPr/>
        </p:nvSpPr>
        <p:spPr>
          <a:xfrm>
            <a:off x="239925" y="1378075"/>
            <a:ext cx="28245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Traversing a tree refers to </a:t>
            </a:r>
            <a:r>
              <a:rPr lang="en" sz="1200" b="1" i="1">
                <a:solidFill>
                  <a:srgbClr val="FF0000"/>
                </a:solidFill>
              </a:rPr>
              <a:t>visiting</a:t>
            </a:r>
            <a:r>
              <a:rPr lang="en" sz="1200"/>
              <a:t> each of the nodes in the tree, i.e. doing something with the value in each node such as appending it to a string or adding it to a sum.</a:t>
            </a:r>
            <a:endParaRPr sz="1200"/>
          </a:p>
        </p:txBody>
      </p:sp>
      <p:sp>
        <p:nvSpPr>
          <p:cNvPr id="635" name="Google Shape;635;p81"/>
          <p:cNvSpPr txBox="1"/>
          <p:nvPr/>
        </p:nvSpPr>
        <p:spPr>
          <a:xfrm>
            <a:off x="239925" y="2610500"/>
            <a:ext cx="2824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type of traversal determines the order in which the nodes are visited.</a:t>
            </a:r>
            <a:endParaRPr sz="1200"/>
          </a:p>
        </p:txBody>
      </p:sp>
      <p:sp>
        <p:nvSpPr>
          <p:cNvPr id="636" name="Google Shape;636;p81"/>
          <p:cNvSpPr txBox="1"/>
          <p:nvPr/>
        </p:nvSpPr>
        <p:spPr>
          <a:xfrm>
            <a:off x="239925" y="4151950"/>
            <a:ext cx="282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 </a:t>
            </a:r>
            <a:r>
              <a:rPr lang="en" sz="1200" b="1" i="1">
                <a:solidFill>
                  <a:srgbClr val="FF0000"/>
                </a:solidFill>
              </a:rPr>
              <a:t>infix traversal</a:t>
            </a:r>
            <a:r>
              <a:rPr lang="en" sz="1200"/>
              <a:t> always visits the </a:t>
            </a:r>
            <a:r>
              <a:rPr lang="en" sz="1200" b="1" i="1">
                <a:solidFill>
                  <a:srgbClr val="FF0000"/>
                </a:solidFill>
              </a:rPr>
              <a:t>left subtree first</a:t>
            </a:r>
            <a:r>
              <a:rPr lang="en" sz="1200"/>
              <a:t>, then the middle node, then the </a:t>
            </a:r>
            <a:r>
              <a:rPr lang="en" sz="1200" b="1" i="1">
                <a:solidFill>
                  <a:srgbClr val="FF0000"/>
                </a:solidFill>
              </a:rPr>
              <a:t>right subtree last</a:t>
            </a:r>
            <a:r>
              <a:rPr lang="en" sz="1200"/>
              <a:t>.</a:t>
            </a:r>
            <a:endParaRPr/>
          </a:p>
        </p:txBody>
      </p:sp>
      <p:sp>
        <p:nvSpPr>
          <p:cNvPr id="637" name="Google Shape;637;p81"/>
          <p:cNvSpPr txBox="1"/>
          <p:nvPr/>
        </p:nvSpPr>
        <p:spPr>
          <a:xfrm>
            <a:off x="239925" y="3288825"/>
            <a:ext cx="282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traversal always starts at the root, but doesn't necessarily </a:t>
            </a:r>
            <a:r>
              <a:rPr lang="en" sz="1200" i="1"/>
              <a:t>visit</a:t>
            </a:r>
            <a:r>
              <a:rPr lang="en" sz="1200"/>
              <a:t> the root first.</a:t>
            </a:r>
            <a:endParaRPr/>
          </a:p>
        </p:txBody>
      </p:sp>
      <p:sp>
        <p:nvSpPr>
          <p:cNvPr id="638" name="Google Shape;638;p81"/>
          <p:cNvSpPr/>
          <p:nvPr/>
        </p:nvSpPr>
        <p:spPr>
          <a:xfrm>
            <a:off x="5251250" y="1465650"/>
            <a:ext cx="1939500" cy="623700"/>
          </a:xfrm>
          <a:prstGeom prst="wedgeRectCallout">
            <a:avLst>
              <a:gd name="adj1" fmla="val 5599"/>
              <a:gd name="adj2" fmla="val 103672"/>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An infix traversal starts at the root, but visits the </a:t>
            </a:r>
            <a:r>
              <a:rPr lang="en" sz="1200" b="1" i="1">
                <a:solidFill>
                  <a:srgbClr val="FF0000"/>
                </a:solidFill>
                <a:latin typeface="Roboto"/>
                <a:ea typeface="Roboto"/>
                <a:cs typeface="Roboto"/>
                <a:sym typeface="Roboto"/>
              </a:rPr>
              <a:t>left subtree first</a:t>
            </a:r>
            <a:r>
              <a:rPr lang="en" sz="1200">
                <a:latin typeface="Roboto"/>
                <a:ea typeface="Roboto"/>
                <a:cs typeface="Roboto"/>
                <a:sym typeface="Roboto"/>
              </a:rPr>
              <a:t>.</a:t>
            </a:r>
            <a:endParaRPr sz="1200">
              <a:latin typeface="Roboto"/>
              <a:ea typeface="Roboto"/>
              <a:cs typeface="Roboto"/>
              <a:sym typeface="Roboto"/>
            </a:endParaRPr>
          </a:p>
        </p:txBody>
      </p:sp>
      <p:sp>
        <p:nvSpPr>
          <p:cNvPr id="639" name="Google Shape;639;p81"/>
          <p:cNvSpPr/>
          <p:nvPr/>
        </p:nvSpPr>
        <p:spPr>
          <a:xfrm>
            <a:off x="3704650" y="2213850"/>
            <a:ext cx="1939500" cy="789300"/>
          </a:xfrm>
          <a:prstGeom prst="wedgeRectCallout">
            <a:avLst>
              <a:gd name="adj1" fmla="val 33342"/>
              <a:gd name="adj2" fmla="val 81455"/>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The same is true of any node that has subtrees… the left subtree is visited first.</a:t>
            </a:r>
            <a:endParaRPr sz="1200">
              <a:latin typeface="Roboto"/>
              <a:ea typeface="Roboto"/>
              <a:cs typeface="Roboto"/>
              <a:sym typeface="Roboto"/>
            </a:endParaRPr>
          </a:p>
        </p:txBody>
      </p:sp>
      <p:sp>
        <p:nvSpPr>
          <p:cNvPr id="640" name="Google Shape;640;p81"/>
          <p:cNvSpPr/>
          <p:nvPr/>
        </p:nvSpPr>
        <p:spPr>
          <a:xfrm>
            <a:off x="3221250" y="3348825"/>
            <a:ext cx="1704300" cy="623700"/>
          </a:xfrm>
          <a:prstGeom prst="wedgeRectCallout">
            <a:avLst>
              <a:gd name="adj1" fmla="val 36791"/>
              <a:gd name="adj2" fmla="val 77429"/>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That means that I am the very first node to be visited!</a:t>
            </a:r>
            <a:endParaRPr sz="1200">
              <a:latin typeface="Roboto"/>
              <a:ea typeface="Roboto"/>
              <a:cs typeface="Roboto"/>
              <a:sym typeface="Roboto"/>
            </a:endParaRPr>
          </a:p>
        </p:txBody>
      </p:sp>
      <p:sp>
        <p:nvSpPr>
          <p:cNvPr id="641" name="Google Shape;641;p81"/>
          <p:cNvSpPr/>
          <p:nvPr/>
        </p:nvSpPr>
        <p:spPr>
          <a:xfrm>
            <a:off x="7462250" y="2948009"/>
            <a:ext cx="1558800" cy="835200"/>
          </a:xfrm>
          <a:prstGeom prst="wedgeRectCallout">
            <a:avLst>
              <a:gd name="adj1" fmla="val -30375"/>
              <a:gd name="adj2" fmla="val 88401"/>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And I'll be very last because the right subtree is visited last.</a:t>
            </a:r>
            <a:endParaRPr sz="1200">
              <a:latin typeface="Roboto"/>
              <a:ea typeface="Roboto"/>
              <a:cs typeface="Roboto"/>
              <a:sym typeface="Roboto"/>
            </a:endParaRPr>
          </a:p>
        </p:txBody>
      </p:sp>
      <p:sp>
        <p:nvSpPr>
          <p:cNvPr id="642" name="Google Shape;642;p81"/>
          <p:cNvSpPr txBox="1"/>
          <p:nvPr/>
        </p:nvSpPr>
        <p:spPr>
          <a:xfrm>
            <a:off x="4685058" y="4595100"/>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1</a:t>
            </a:r>
            <a:endParaRPr sz="1300" b="1" i="1">
              <a:solidFill>
                <a:srgbClr val="38761D"/>
              </a:solidFill>
              <a:latin typeface="Roboto"/>
              <a:ea typeface="Roboto"/>
              <a:cs typeface="Roboto"/>
              <a:sym typeface="Roboto"/>
            </a:endParaRPr>
          </a:p>
        </p:txBody>
      </p:sp>
      <p:sp>
        <p:nvSpPr>
          <p:cNvPr id="643" name="Google Shape;643;p81"/>
          <p:cNvSpPr txBox="1"/>
          <p:nvPr/>
        </p:nvSpPr>
        <p:spPr>
          <a:xfrm>
            <a:off x="5251250" y="3738032"/>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2</a:t>
            </a:r>
            <a:endParaRPr sz="1300" b="1" i="1">
              <a:solidFill>
                <a:srgbClr val="38761D"/>
              </a:solidFill>
              <a:latin typeface="Roboto"/>
              <a:ea typeface="Roboto"/>
              <a:cs typeface="Roboto"/>
              <a:sym typeface="Roboto"/>
            </a:endParaRPr>
          </a:p>
        </p:txBody>
      </p:sp>
      <p:sp>
        <p:nvSpPr>
          <p:cNvPr id="644" name="Google Shape;644;p81"/>
          <p:cNvSpPr txBox="1"/>
          <p:nvPr/>
        </p:nvSpPr>
        <p:spPr>
          <a:xfrm>
            <a:off x="5751359" y="4595099"/>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3</a:t>
            </a:r>
            <a:endParaRPr sz="1300" b="1" i="1">
              <a:solidFill>
                <a:srgbClr val="38761D"/>
              </a:solidFill>
              <a:latin typeface="Roboto"/>
              <a:ea typeface="Roboto"/>
              <a:cs typeface="Roboto"/>
              <a:sym typeface="Roboto"/>
            </a:endParaRPr>
          </a:p>
        </p:txBody>
      </p:sp>
      <p:sp>
        <p:nvSpPr>
          <p:cNvPr id="645" name="Google Shape;645;p81"/>
          <p:cNvSpPr txBox="1"/>
          <p:nvPr/>
        </p:nvSpPr>
        <p:spPr>
          <a:xfrm>
            <a:off x="6070842" y="3003157"/>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4</a:t>
            </a:r>
            <a:endParaRPr sz="1300" b="1" i="1">
              <a:solidFill>
                <a:srgbClr val="38761D"/>
              </a:solidFill>
              <a:latin typeface="Roboto"/>
              <a:ea typeface="Roboto"/>
              <a:cs typeface="Roboto"/>
              <a:sym typeface="Roboto"/>
            </a:endParaRPr>
          </a:p>
        </p:txBody>
      </p:sp>
      <p:sp>
        <p:nvSpPr>
          <p:cNvPr id="646" name="Google Shape;646;p81"/>
          <p:cNvSpPr txBox="1"/>
          <p:nvPr/>
        </p:nvSpPr>
        <p:spPr>
          <a:xfrm>
            <a:off x="6341323" y="4595107"/>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5</a:t>
            </a:r>
            <a:endParaRPr sz="1300" b="1" i="1">
              <a:solidFill>
                <a:srgbClr val="38761D"/>
              </a:solidFill>
              <a:latin typeface="Roboto"/>
              <a:ea typeface="Roboto"/>
              <a:cs typeface="Roboto"/>
              <a:sym typeface="Roboto"/>
            </a:endParaRPr>
          </a:p>
        </p:txBody>
      </p:sp>
      <p:sp>
        <p:nvSpPr>
          <p:cNvPr id="647" name="Google Shape;647;p81"/>
          <p:cNvSpPr txBox="1"/>
          <p:nvPr/>
        </p:nvSpPr>
        <p:spPr>
          <a:xfrm>
            <a:off x="6874724" y="3783200"/>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6</a:t>
            </a:r>
            <a:endParaRPr sz="1300" b="1" i="1">
              <a:solidFill>
                <a:srgbClr val="38761D"/>
              </a:solidFill>
              <a:latin typeface="Roboto"/>
              <a:ea typeface="Roboto"/>
              <a:cs typeface="Roboto"/>
              <a:sym typeface="Roboto"/>
            </a:endParaRPr>
          </a:p>
        </p:txBody>
      </p:sp>
      <p:sp>
        <p:nvSpPr>
          <p:cNvPr id="648" name="Google Shape;648;p81"/>
          <p:cNvSpPr txBox="1"/>
          <p:nvPr/>
        </p:nvSpPr>
        <p:spPr>
          <a:xfrm>
            <a:off x="7371590" y="4595107"/>
            <a:ext cx="432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i="1">
                <a:solidFill>
                  <a:srgbClr val="38761D"/>
                </a:solidFill>
                <a:latin typeface="Roboto"/>
                <a:ea typeface="Roboto"/>
                <a:cs typeface="Roboto"/>
                <a:sym typeface="Roboto"/>
              </a:rPr>
              <a:t># 7</a:t>
            </a:r>
            <a:endParaRPr sz="1300" b="1" i="1">
              <a:solidFill>
                <a:srgbClr val="38761D"/>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4"/>
                                        </p:tgtEl>
                                        <p:attrNameLst>
                                          <p:attrName>style.visibility</p:attrName>
                                        </p:attrNameLst>
                                      </p:cBhvr>
                                      <p:to>
                                        <p:strVal val="visible"/>
                                      </p:to>
                                    </p:set>
                                    <p:animEffect transition="in" filter="fade">
                                      <p:cBhvr>
                                        <p:cTn id="7" dur="1000"/>
                                        <p:tgtEl>
                                          <p:spTgt spid="6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5"/>
                                        </p:tgtEl>
                                        <p:attrNameLst>
                                          <p:attrName>style.visibility</p:attrName>
                                        </p:attrNameLst>
                                      </p:cBhvr>
                                      <p:to>
                                        <p:strVal val="visible"/>
                                      </p:to>
                                    </p:set>
                                    <p:animEffect transition="in" filter="fade">
                                      <p:cBhvr>
                                        <p:cTn id="12" dur="1000"/>
                                        <p:tgtEl>
                                          <p:spTgt spid="6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37"/>
                                        </p:tgtEl>
                                        <p:attrNameLst>
                                          <p:attrName>style.visibility</p:attrName>
                                        </p:attrNameLst>
                                      </p:cBhvr>
                                      <p:to>
                                        <p:strVal val="visible"/>
                                      </p:to>
                                    </p:set>
                                    <p:animEffect transition="in" filter="fade">
                                      <p:cBhvr>
                                        <p:cTn id="17" dur="1000"/>
                                        <p:tgtEl>
                                          <p:spTgt spid="6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36"/>
                                        </p:tgtEl>
                                        <p:attrNameLst>
                                          <p:attrName>style.visibility</p:attrName>
                                        </p:attrNameLst>
                                      </p:cBhvr>
                                      <p:to>
                                        <p:strVal val="visible"/>
                                      </p:to>
                                    </p:set>
                                    <p:animEffect transition="in" filter="fade">
                                      <p:cBhvr>
                                        <p:cTn id="22" dur="1000"/>
                                        <p:tgtEl>
                                          <p:spTgt spid="6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38"/>
                                        </p:tgtEl>
                                        <p:attrNameLst>
                                          <p:attrName>style.visibility</p:attrName>
                                        </p:attrNameLst>
                                      </p:cBhvr>
                                      <p:to>
                                        <p:strVal val="visible"/>
                                      </p:to>
                                    </p:set>
                                    <p:animEffect transition="in" filter="fade">
                                      <p:cBhvr>
                                        <p:cTn id="27" dur="1000"/>
                                        <p:tgtEl>
                                          <p:spTgt spid="63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39"/>
                                        </p:tgtEl>
                                        <p:attrNameLst>
                                          <p:attrName>style.visibility</p:attrName>
                                        </p:attrNameLst>
                                      </p:cBhvr>
                                      <p:to>
                                        <p:strVal val="visible"/>
                                      </p:to>
                                    </p:set>
                                    <p:animEffect transition="in" filter="fade">
                                      <p:cBhvr>
                                        <p:cTn id="32" dur="1000"/>
                                        <p:tgtEl>
                                          <p:spTgt spid="63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40"/>
                                        </p:tgtEl>
                                        <p:attrNameLst>
                                          <p:attrName>style.visibility</p:attrName>
                                        </p:attrNameLst>
                                      </p:cBhvr>
                                      <p:to>
                                        <p:strVal val="visible"/>
                                      </p:to>
                                    </p:set>
                                    <p:animEffect transition="in" filter="fade">
                                      <p:cBhvr>
                                        <p:cTn id="37" dur="1000"/>
                                        <p:tgtEl>
                                          <p:spTgt spid="640"/>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642"/>
                                        </p:tgtEl>
                                        <p:attrNameLst>
                                          <p:attrName>style.visibility</p:attrName>
                                        </p:attrNameLst>
                                      </p:cBhvr>
                                      <p:to>
                                        <p:strVal val="visible"/>
                                      </p:to>
                                    </p:set>
                                    <p:animEffect transition="in" filter="fade">
                                      <p:cBhvr>
                                        <p:cTn id="41" dur="1000"/>
                                        <p:tgtEl>
                                          <p:spTgt spid="64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43"/>
                                        </p:tgtEl>
                                        <p:attrNameLst>
                                          <p:attrName>style.visibility</p:attrName>
                                        </p:attrNameLst>
                                      </p:cBhvr>
                                      <p:to>
                                        <p:strVal val="visible"/>
                                      </p:to>
                                    </p:set>
                                    <p:animEffect transition="in" filter="fade">
                                      <p:cBhvr>
                                        <p:cTn id="46" dur="1000"/>
                                        <p:tgtEl>
                                          <p:spTgt spid="64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44"/>
                                        </p:tgtEl>
                                        <p:attrNameLst>
                                          <p:attrName>style.visibility</p:attrName>
                                        </p:attrNameLst>
                                      </p:cBhvr>
                                      <p:to>
                                        <p:strVal val="visible"/>
                                      </p:to>
                                    </p:set>
                                    <p:animEffect transition="in" filter="fade">
                                      <p:cBhvr>
                                        <p:cTn id="51" dur="1000"/>
                                        <p:tgtEl>
                                          <p:spTgt spid="64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45"/>
                                        </p:tgtEl>
                                        <p:attrNameLst>
                                          <p:attrName>style.visibility</p:attrName>
                                        </p:attrNameLst>
                                      </p:cBhvr>
                                      <p:to>
                                        <p:strVal val="visible"/>
                                      </p:to>
                                    </p:set>
                                    <p:animEffect transition="in" filter="fade">
                                      <p:cBhvr>
                                        <p:cTn id="56" dur="1000"/>
                                        <p:tgtEl>
                                          <p:spTgt spid="64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46"/>
                                        </p:tgtEl>
                                        <p:attrNameLst>
                                          <p:attrName>style.visibility</p:attrName>
                                        </p:attrNameLst>
                                      </p:cBhvr>
                                      <p:to>
                                        <p:strVal val="visible"/>
                                      </p:to>
                                    </p:set>
                                    <p:animEffect transition="in" filter="fade">
                                      <p:cBhvr>
                                        <p:cTn id="61" dur="1000"/>
                                        <p:tgtEl>
                                          <p:spTgt spid="64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647"/>
                                        </p:tgtEl>
                                        <p:attrNameLst>
                                          <p:attrName>style.visibility</p:attrName>
                                        </p:attrNameLst>
                                      </p:cBhvr>
                                      <p:to>
                                        <p:strVal val="visible"/>
                                      </p:to>
                                    </p:set>
                                    <p:animEffect transition="in" filter="fade">
                                      <p:cBhvr>
                                        <p:cTn id="66" dur="1000"/>
                                        <p:tgtEl>
                                          <p:spTgt spid="647"/>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641"/>
                                        </p:tgtEl>
                                        <p:attrNameLst>
                                          <p:attrName>style.visibility</p:attrName>
                                        </p:attrNameLst>
                                      </p:cBhvr>
                                      <p:to>
                                        <p:strVal val="visible"/>
                                      </p:to>
                                    </p:set>
                                    <p:animEffect transition="in" filter="fade">
                                      <p:cBhvr>
                                        <p:cTn id="71" dur="1000"/>
                                        <p:tgtEl>
                                          <p:spTgt spid="641"/>
                                        </p:tgtEl>
                                      </p:cBhvr>
                                    </p:animEffect>
                                  </p:childTnLst>
                                </p:cTn>
                              </p:par>
                            </p:childTnLst>
                          </p:cTn>
                        </p:par>
                        <p:par>
                          <p:cTn id="72" fill="hold">
                            <p:stCondLst>
                              <p:cond delay="1000"/>
                            </p:stCondLst>
                            <p:childTnLst>
                              <p:par>
                                <p:cTn id="73" presetID="10" presetClass="entr" presetSubtype="0" fill="hold" nodeType="afterEffect">
                                  <p:stCondLst>
                                    <p:cond delay="0"/>
                                  </p:stCondLst>
                                  <p:childTnLst>
                                    <p:set>
                                      <p:cBhvr>
                                        <p:cTn id="74" dur="1" fill="hold">
                                          <p:stCondLst>
                                            <p:cond delay="0"/>
                                          </p:stCondLst>
                                        </p:cTn>
                                        <p:tgtEl>
                                          <p:spTgt spid="648"/>
                                        </p:tgtEl>
                                        <p:attrNameLst>
                                          <p:attrName>style.visibility</p:attrName>
                                        </p:attrNameLst>
                                      </p:cBhvr>
                                      <p:to>
                                        <p:strVal val="visible"/>
                                      </p:to>
                                    </p:set>
                                    <p:animEffect transition="in" filter="fade">
                                      <p:cBhvr>
                                        <p:cTn id="75" dur="1000"/>
                                        <p:tgtEl>
                                          <p:spTgt spid="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8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1000"/>
              </a:spcBef>
              <a:spcAft>
                <a:spcPts val="0"/>
              </a:spcAft>
              <a:buNone/>
            </a:pPr>
            <a:r>
              <a:rPr lang="en">
                <a:solidFill>
                  <a:schemeClr val="dk1"/>
                </a:solidFill>
                <a:latin typeface="Lato"/>
                <a:ea typeface="Lato"/>
                <a:cs typeface="Lato"/>
                <a:sym typeface="Lato"/>
              </a:rPr>
              <a:t>It's important that we be able to convert a Binary Tree into string that we can read and understand so that we can examine the contents of the tree as we manipulate it. Let's implement a method to perform an infix traversal of the tree and returns it as a string.</a:t>
            </a:r>
            <a:endParaRPr>
              <a:latin typeface="Lato"/>
              <a:ea typeface="Lato"/>
              <a:cs typeface="Lato"/>
              <a:sym typeface="Lato"/>
            </a:endParaRPr>
          </a:p>
        </p:txBody>
      </p:sp>
      <p:sp>
        <p:nvSpPr>
          <p:cNvPr id="654" name="Google Shape;654;p8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655" name="Google Shape;655;p82"/>
          <p:cNvSpPr txBox="1">
            <a:spLocks noGrp="1"/>
          </p:cNvSpPr>
          <p:nvPr>
            <p:ph type="body" idx="2"/>
          </p:nvPr>
        </p:nvSpPr>
        <p:spPr>
          <a:xfrm>
            <a:off x="2853575" y="1640100"/>
            <a:ext cx="6042600" cy="3314400"/>
          </a:xfrm>
          <a:prstGeom prst="rect">
            <a:avLst/>
          </a:prstGeom>
        </p:spPr>
        <p:txBody>
          <a:bodyPr spcFirstLastPara="1" wrap="square" lIns="91425" tIns="91425" rIns="91425" bIns="91425" anchor="t" anchorCtr="0">
            <a:spAutoFit/>
          </a:bodyPr>
          <a:lstStyle/>
          <a:p>
            <a:pPr marL="457200" lvl="0" indent="-323850" algn="l" rtl="0">
              <a:lnSpc>
                <a:spcPct val="100000"/>
              </a:lnSpc>
              <a:spcBef>
                <a:spcPts val="1000"/>
              </a:spcBef>
              <a:spcAft>
                <a:spcPts val="0"/>
              </a:spcAft>
              <a:buClr>
                <a:schemeClr val="dk1"/>
              </a:buClr>
              <a:buSzPts val="1500"/>
              <a:buChar char="●"/>
            </a:pPr>
            <a:r>
              <a:rPr lang="en" sz="1500" dirty="0">
                <a:solidFill>
                  <a:schemeClr val="dk1"/>
                </a:solidFill>
                <a:latin typeface="Lato"/>
                <a:ea typeface="Lato"/>
                <a:cs typeface="Lato"/>
                <a:sym typeface="Lato"/>
              </a:rPr>
              <a:t>Open the </a:t>
            </a:r>
            <a:r>
              <a:rPr lang="en" sz="1500" dirty="0">
                <a:solidFill>
                  <a:schemeClr val="dk1"/>
                </a:solidFill>
                <a:latin typeface="Courier New"/>
                <a:ea typeface="Courier New"/>
                <a:cs typeface="Courier New"/>
                <a:sym typeface="Courier New"/>
              </a:rPr>
              <a:t>BinaryNode</a:t>
            </a:r>
            <a:r>
              <a:rPr lang="en" sz="1500" dirty="0">
                <a:solidFill>
                  <a:schemeClr val="dk1"/>
                </a:solidFill>
                <a:latin typeface="Lato"/>
                <a:ea typeface="Lato"/>
                <a:cs typeface="Lato"/>
                <a:sym typeface="Lato"/>
              </a:rPr>
              <a:t> class and define a method named </a:t>
            </a:r>
            <a:r>
              <a:rPr lang="en" sz="1500" dirty="0">
                <a:solidFill>
                  <a:srgbClr val="000000"/>
                </a:solidFill>
                <a:latin typeface="Courier New"/>
                <a:ea typeface="Courier New"/>
                <a:cs typeface="Courier New"/>
                <a:sym typeface="Courier New"/>
              </a:rPr>
              <a:t>"infixTraversal"</a:t>
            </a:r>
            <a:r>
              <a:rPr lang="en" sz="1500" dirty="0">
                <a:solidFill>
                  <a:schemeClr val="dk1"/>
                </a:solidFill>
                <a:latin typeface="Lato"/>
                <a:ea typeface="Lato"/>
                <a:cs typeface="Lato"/>
                <a:sym typeface="Lato"/>
              </a:rPr>
              <a:t> that returns a </a:t>
            </a:r>
            <a:r>
              <a:rPr lang="en" sz="1500" dirty="0">
                <a:solidFill>
                  <a:schemeClr val="dk1"/>
                </a:solidFill>
                <a:latin typeface="Courier New"/>
                <a:ea typeface="Courier New"/>
                <a:cs typeface="Courier New"/>
                <a:sym typeface="Courier New"/>
              </a:rPr>
              <a:t>String</a:t>
            </a:r>
            <a:r>
              <a:rPr lang="en" sz="1500" dirty="0">
                <a:solidFill>
                  <a:schemeClr val="dk1"/>
                </a:solidFill>
                <a:latin typeface="Lato"/>
                <a:ea typeface="Lato"/>
                <a:cs typeface="Lato"/>
                <a:sym typeface="Lato"/>
              </a:rPr>
              <a:t>.</a:t>
            </a:r>
            <a:endParaRPr sz="1500" dirty="0">
              <a:solidFill>
                <a:schemeClr val="dk1"/>
              </a:solidFill>
              <a:latin typeface="Lato"/>
              <a:ea typeface="Lato"/>
              <a:cs typeface="Lato"/>
              <a:sym typeface="Lato"/>
            </a:endParaRPr>
          </a:p>
          <a:p>
            <a:pPr marL="914400" lvl="1" indent="-311150" algn="l" rtl="0">
              <a:lnSpc>
                <a:spcPct val="100000"/>
              </a:lnSpc>
              <a:spcBef>
                <a:spcPts val="0"/>
              </a:spcBef>
              <a:spcAft>
                <a:spcPts val="0"/>
              </a:spcAft>
              <a:buClr>
                <a:schemeClr val="dk1"/>
              </a:buClr>
              <a:buSzPts val="1300"/>
              <a:buFont typeface="Lato"/>
              <a:buChar char="○"/>
            </a:pPr>
            <a:r>
              <a:rPr lang="en" sz="1300" dirty="0">
                <a:solidFill>
                  <a:schemeClr val="dk1"/>
                </a:solidFill>
                <a:latin typeface="Lato"/>
                <a:ea typeface="Lato"/>
                <a:cs typeface="Lato"/>
                <a:sym typeface="Lato"/>
              </a:rPr>
              <a:t>Create an empty </a:t>
            </a:r>
            <a:r>
              <a:rPr lang="en" sz="1300" dirty="0">
                <a:solidFill>
                  <a:schemeClr val="dk1"/>
                </a:solidFill>
                <a:latin typeface="Courier New"/>
                <a:ea typeface="Courier New"/>
                <a:cs typeface="Courier New"/>
                <a:sym typeface="Courier New"/>
              </a:rPr>
              <a:t>String</a:t>
            </a:r>
            <a:r>
              <a:rPr lang="en" sz="1300" dirty="0">
                <a:solidFill>
                  <a:schemeClr val="dk1"/>
                </a:solidFill>
                <a:latin typeface="Lato"/>
                <a:ea typeface="Lato"/>
                <a:cs typeface="Lato"/>
                <a:sym typeface="Lato"/>
              </a:rPr>
              <a:t>.</a:t>
            </a:r>
            <a:endParaRPr sz="1300" dirty="0">
              <a:solidFill>
                <a:schemeClr val="dk1"/>
              </a:solidFill>
              <a:latin typeface="Lato"/>
              <a:ea typeface="Lato"/>
              <a:cs typeface="Lato"/>
              <a:sym typeface="Lato"/>
            </a:endParaRPr>
          </a:p>
          <a:p>
            <a:pPr marL="914400" lvl="1" indent="-311150" algn="l" rtl="0">
              <a:lnSpc>
                <a:spcPct val="100000"/>
              </a:lnSpc>
              <a:spcBef>
                <a:spcPts val="0"/>
              </a:spcBef>
              <a:spcAft>
                <a:spcPts val="0"/>
              </a:spcAft>
              <a:buClr>
                <a:schemeClr val="dk1"/>
              </a:buClr>
              <a:buSzPts val="1300"/>
              <a:buFont typeface="Lato"/>
              <a:buChar char="○"/>
            </a:pPr>
            <a:r>
              <a:rPr lang="en" sz="1300" dirty="0">
                <a:solidFill>
                  <a:schemeClr val="dk1"/>
                </a:solidFill>
                <a:latin typeface="Lato"/>
                <a:ea typeface="Lato"/>
                <a:cs typeface="Lato"/>
                <a:sym typeface="Lato"/>
              </a:rPr>
              <a:t>If the </a:t>
            </a:r>
            <a:r>
              <a:rPr lang="en" sz="1300" b="1" i="1" dirty="0">
                <a:solidFill>
                  <a:srgbClr val="FF0000"/>
                </a:solidFill>
                <a:latin typeface="Lato"/>
                <a:ea typeface="Lato"/>
                <a:cs typeface="Lato"/>
                <a:sym typeface="Lato"/>
              </a:rPr>
              <a:t>left subtree</a:t>
            </a:r>
            <a:r>
              <a:rPr lang="en" sz="1300" dirty="0">
                <a:solidFill>
                  <a:schemeClr val="dk1"/>
                </a:solidFill>
                <a:latin typeface="Lato"/>
                <a:ea typeface="Lato"/>
                <a:cs typeface="Lato"/>
                <a:sym typeface="Lato"/>
              </a:rPr>
              <a:t> is not </a:t>
            </a:r>
            <a:r>
              <a:rPr lang="en" sz="1300" dirty="0">
                <a:solidFill>
                  <a:srgbClr val="FF0000"/>
                </a:solidFill>
                <a:latin typeface="Courier New"/>
                <a:ea typeface="Courier New"/>
                <a:cs typeface="Courier New"/>
                <a:sym typeface="Courier New"/>
              </a:rPr>
              <a:t>null</a:t>
            </a:r>
            <a:r>
              <a:rPr lang="en" sz="1300" dirty="0">
                <a:solidFill>
                  <a:schemeClr val="dk1"/>
                </a:solidFill>
                <a:latin typeface="Lato"/>
                <a:ea typeface="Lato"/>
                <a:cs typeface="Lato"/>
                <a:sym typeface="Lato"/>
              </a:rPr>
              <a:t>, call its </a:t>
            </a:r>
            <a:r>
              <a:rPr lang="en" sz="1300" dirty="0">
                <a:solidFill>
                  <a:schemeClr val="dk1"/>
                </a:solidFill>
                <a:latin typeface="Courier New"/>
                <a:ea typeface="Courier New"/>
                <a:cs typeface="Courier New"/>
                <a:sym typeface="Courier New"/>
              </a:rPr>
              <a:t>infixTraversal</a:t>
            </a:r>
            <a:r>
              <a:rPr lang="en" sz="1300" dirty="0">
                <a:solidFill>
                  <a:schemeClr val="dk1"/>
                </a:solidFill>
                <a:latin typeface="Lato"/>
                <a:ea typeface="Lato"/>
                <a:cs typeface="Lato"/>
                <a:sym typeface="Lato"/>
              </a:rPr>
              <a:t> method and add the return value to the string.</a:t>
            </a:r>
            <a:endParaRPr sz="1300" dirty="0">
              <a:solidFill>
                <a:schemeClr val="dk1"/>
              </a:solidFill>
              <a:latin typeface="Lato"/>
              <a:ea typeface="Lato"/>
              <a:cs typeface="Lato"/>
              <a:sym typeface="Lato"/>
            </a:endParaRPr>
          </a:p>
          <a:p>
            <a:pPr marL="914400" lvl="1" indent="-311150" algn="l" rtl="0">
              <a:lnSpc>
                <a:spcPct val="100000"/>
              </a:lnSpc>
              <a:spcBef>
                <a:spcPts val="0"/>
              </a:spcBef>
              <a:spcAft>
                <a:spcPts val="0"/>
              </a:spcAft>
              <a:buClr>
                <a:schemeClr val="dk1"/>
              </a:buClr>
              <a:buSzPts val="1300"/>
              <a:buFont typeface="Lato"/>
              <a:buChar char="○"/>
            </a:pPr>
            <a:r>
              <a:rPr lang="en" sz="1300" dirty="0">
                <a:solidFill>
                  <a:schemeClr val="dk1"/>
                </a:solidFill>
                <a:latin typeface="Lato"/>
                <a:ea typeface="Lato"/>
                <a:cs typeface="Lato"/>
                <a:sym typeface="Lato"/>
              </a:rPr>
              <a:t>Then the node should visit </a:t>
            </a:r>
            <a:r>
              <a:rPr lang="en" sz="1300" b="1" i="1" dirty="0">
                <a:solidFill>
                  <a:srgbClr val="FF0000"/>
                </a:solidFill>
                <a:latin typeface="Lato"/>
                <a:ea typeface="Lato"/>
                <a:cs typeface="Lato"/>
                <a:sym typeface="Lato"/>
              </a:rPr>
              <a:t>itself</a:t>
            </a:r>
            <a:r>
              <a:rPr lang="en" sz="1300" dirty="0">
                <a:solidFill>
                  <a:schemeClr val="dk1"/>
                </a:solidFill>
                <a:latin typeface="Lato"/>
                <a:ea typeface="Lato"/>
                <a:cs typeface="Lato"/>
                <a:sym typeface="Lato"/>
              </a:rPr>
              <a:t> - add the </a:t>
            </a:r>
            <a:r>
              <a:rPr lang="en" sz="1300" dirty="0">
                <a:solidFill>
                  <a:schemeClr val="dk1"/>
                </a:solidFill>
                <a:latin typeface="Courier New"/>
                <a:ea typeface="Courier New"/>
                <a:cs typeface="Courier New"/>
                <a:sym typeface="Courier New"/>
              </a:rPr>
              <a:t>value</a:t>
            </a:r>
            <a:r>
              <a:rPr lang="en" sz="1300" dirty="0">
                <a:solidFill>
                  <a:schemeClr val="dk1"/>
                </a:solidFill>
                <a:latin typeface="Lato"/>
                <a:ea typeface="Lato"/>
                <a:cs typeface="Lato"/>
                <a:sym typeface="Lato"/>
              </a:rPr>
              <a:t> to the string followed by a space, e.g. </a:t>
            </a:r>
            <a:r>
              <a:rPr lang="en" sz="1300" dirty="0">
                <a:solidFill>
                  <a:schemeClr val="dk1"/>
                </a:solidFill>
                <a:latin typeface="Courier New"/>
                <a:ea typeface="Courier New"/>
                <a:cs typeface="Courier New"/>
                <a:sym typeface="Courier New"/>
              </a:rPr>
              <a:t>"5 "</a:t>
            </a:r>
            <a:r>
              <a:rPr lang="en" sz="1300" dirty="0">
                <a:solidFill>
                  <a:schemeClr val="dk1"/>
                </a:solidFill>
                <a:latin typeface="Lato"/>
                <a:ea typeface="Lato"/>
                <a:cs typeface="Lato"/>
                <a:sym typeface="Lato"/>
              </a:rPr>
              <a:t>.</a:t>
            </a:r>
            <a:endParaRPr sz="1300" dirty="0">
              <a:solidFill>
                <a:schemeClr val="dk1"/>
              </a:solidFill>
              <a:latin typeface="Lato"/>
              <a:ea typeface="Lato"/>
              <a:cs typeface="Lato"/>
              <a:sym typeface="Lato"/>
            </a:endParaRPr>
          </a:p>
          <a:p>
            <a:pPr marL="914400" lvl="1" indent="-311150" algn="l" rtl="0">
              <a:lnSpc>
                <a:spcPct val="100000"/>
              </a:lnSpc>
              <a:spcBef>
                <a:spcPts val="0"/>
              </a:spcBef>
              <a:spcAft>
                <a:spcPts val="0"/>
              </a:spcAft>
              <a:buClr>
                <a:schemeClr val="dk1"/>
              </a:buClr>
              <a:buSzPts val="1300"/>
              <a:buFont typeface="Lato"/>
              <a:buChar char="○"/>
            </a:pPr>
            <a:r>
              <a:rPr lang="en" sz="1300" dirty="0">
                <a:solidFill>
                  <a:schemeClr val="dk1"/>
                </a:solidFill>
                <a:latin typeface="Lato"/>
                <a:ea typeface="Lato"/>
                <a:cs typeface="Lato"/>
                <a:sym typeface="Lato"/>
              </a:rPr>
              <a:t>If the </a:t>
            </a:r>
            <a:r>
              <a:rPr lang="en" sz="1300" b="1" i="1" dirty="0">
                <a:solidFill>
                  <a:srgbClr val="FF0000"/>
                </a:solidFill>
                <a:latin typeface="Lato"/>
                <a:ea typeface="Lato"/>
                <a:cs typeface="Lato"/>
                <a:sym typeface="Lato"/>
              </a:rPr>
              <a:t>right subtree</a:t>
            </a:r>
            <a:r>
              <a:rPr lang="en" sz="1300" dirty="0">
                <a:solidFill>
                  <a:schemeClr val="dk1"/>
                </a:solidFill>
                <a:latin typeface="Lato"/>
                <a:ea typeface="Lato"/>
                <a:cs typeface="Lato"/>
                <a:sym typeface="Lato"/>
              </a:rPr>
              <a:t> is not </a:t>
            </a:r>
            <a:r>
              <a:rPr lang="en" sz="1300" dirty="0">
                <a:solidFill>
                  <a:srgbClr val="FF0000"/>
                </a:solidFill>
                <a:latin typeface="Courier New"/>
                <a:ea typeface="Courier New"/>
                <a:cs typeface="Courier New"/>
                <a:sym typeface="Courier New"/>
              </a:rPr>
              <a:t>null</a:t>
            </a:r>
            <a:r>
              <a:rPr lang="en" sz="1300" dirty="0">
                <a:solidFill>
                  <a:schemeClr val="dk1"/>
                </a:solidFill>
                <a:latin typeface="Lato"/>
                <a:ea typeface="Lato"/>
                <a:cs typeface="Lato"/>
                <a:sym typeface="Lato"/>
              </a:rPr>
              <a:t>, call its </a:t>
            </a:r>
            <a:r>
              <a:rPr lang="en" sz="1300" dirty="0">
                <a:solidFill>
                  <a:schemeClr val="dk1"/>
                </a:solidFill>
                <a:latin typeface="Courier New"/>
                <a:ea typeface="Courier New"/>
                <a:cs typeface="Courier New"/>
                <a:sym typeface="Courier New"/>
              </a:rPr>
              <a:t>infixTraversal</a:t>
            </a:r>
            <a:r>
              <a:rPr lang="en" sz="1300" dirty="0">
                <a:solidFill>
                  <a:schemeClr val="dk1"/>
                </a:solidFill>
                <a:latin typeface="Lato"/>
                <a:ea typeface="Lato"/>
                <a:cs typeface="Lato"/>
                <a:sym typeface="Lato"/>
              </a:rPr>
              <a:t> method and add the return value to the string.</a:t>
            </a:r>
            <a:endParaRPr sz="1300" dirty="0">
              <a:solidFill>
                <a:schemeClr val="dk1"/>
              </a:solidFill>
              <a:latin typeface="Lato"/>
              <a:ea typeface="Lato"/>
              <a:cs typeface="Lato"/>
              <a:sym typeface="Lato"/>
            </a:endParaRPr>
          </a:p>
          <a:p>
            <a:pPr marL="914400" lvl="1" indent="-311150" algn="l" rtl="0">
              <a:lnSpc>
                <a:spcPct val="100000"/>
              </a:lnSpc>
              <a:spcBef>
                <a:spcPts val="0"/>
              </a:spcBef>
              <a:spcAft>
                <a:spcPts val="0"/>
              </a:spcAft>
              <a:buClr>
                <a:schemeClr val="dk1"/>
              </a:buClr>
              <a:buSzPts val="1300"/>
              <a:buFont typeface="Lato"/>
              <a:buChar char="○"/>
            </a:pPr>
            <a:r>
              <a:rPr lang="en" sz="1300" dirty="0">
                <a:solidFill>
                  <a:schemeClr val="dk1"/>
                </a:solidFill>
                <a:latin typeface="Lato"/>
                <a:ea typeface="Lato"/>
                <a:cs typeface="Lato"/>
                <a:sym typeface="Lato"/>
              </a:rPr>
              <a:t>Return the string!</a:t>
            </a:r>
            <a:endParaRPr sz="1300" dirty="0">
              <a:solidFill>
                <a:schemeClr val="dk1"/>
              </a:solidFill>
              <a:latin typeface="Lato"/>
              <a:ea typeface="Lato"/>
              <a:cs typeface="Lato"/>
              <a:sym typeface="Lato"/>
            </a:endParaRPr>
          </a:p>
          <a:p>
            <a:pPr marL="457200" lvl="0" indent="-311150" algn="l" rtl="0">
              <a:lnSpc>
                <a:spcPct val="100000"/>
              </a:lnSpc>
              <a:spcBef>
                <a:spcPts val="1000"/>
              </a:spcBef>
              <a:spcAft>
                <a:spcPts val="0"/>
              </a:spcAft>
              <a:buClr>
                <a:schemeClr val="dk1"/>
              </a:buClr>
              <a:buSzPts val="1300"/>
              <a:buFont typeface="Lato"/>
              <a:buChar char="●"/>
            </a:pPr>
            <a:r>
              <a:rPr lang="en" sz="1600" dirty="0">
                <a:solidFill>
                  <a:schemeClr val="dk1"/>
                </a:solidFill>
                <a:latin typeface="Lato"/>
                <a:ea typeface="Lato"/>
                <a:cs typeface="Lato"/>
                <a:sym typeface="Lato"/>
              </a:rPr>
              <a:t>Update the </a:t>
            </a:r>
            <a:r>
              <a:rPr lang="en" sz="1600" dirty="0">
                <a:solidFill>
                  <a:schemeClr val="dk1"/>
                </a:solidFill>
                <a:latin typeface="Courier New"/>
                <a:ea typeface="Courier New"/>
                <a:cs typeface="Courier New"/>
                <a:sym typeface="Courier New"/>
              </a:rPr>
              <a:t>main</a:t>
            </a:r>
            <a:r>
              <a:rPr lang="en" sz="1600" dirty="0">
                <a:solidFill>
                  <a:schemeClr val="dk1"/>
                </a:solidFill>
                <a:latin typeface="Lato"/>
                <a:ea typeface="Lato"/>
                <a:cs typeface="Lato"/>
                <a:sym typeface="Lato"/>
              </a:rPr>
              <a:t> method in your </a:t>
            </a:r>
            <a:r>
              <a:rPr lang="en" sz="1600" dirty="0">
                <a:solidFill>
                  <a:schemeClr val="dk1"/>
                </a:solidFill>
                <a:latin typeface="Courier New"/>
                <a:ea typeface="Courier New"/>
                <a:cs typeface="Courier New"/>
                <a:sym typeface="Courier New"/>
              </a:rPr>
              <a:t>BinaryNode</a:t>
            </a:r>
            <a:r>
              <a:rPr lang="en" sz="1600" dirty="0">
                <a:solidFill>
                  <a:schemeClr val="dk1"/>
                </a:solidFill>
                <a:latin typeface="Lato"/>
                <a:ea typeface="Lato"/>
                <a:cs typeface="Lato"/>
                <a:sym typeface="Lato"/>
              </a:rPr>
              <a:t> to call the </a:t>
            </a:r>
            <a:r>
              <a:rPr lang="en" sz="1600" dirty="0">
                <a:solidFill>
                  <a:schemeClr val="dk1"/>
                </a:solidFill>
                <a:latin typeface="Courier New"/>
                <a:ea typeface="Courier New"/>
                <a:cs typeface="Courier New"/>
                <a:sym typeface="Courier New"/>
              </a:rPr>
              <a:t>infixTraversal</a:t>
            </a:r>
            <a:r>
              <a:rPr lang="en" sz="1600" dirty="0">
                <a:solidFill>
                  <a:schemeClr val="dk1"/>
                </a:solidFill>
                <a:latin typeface="Lato"/>
                <a:ea typeface="Lato"/>
                <a:cs typeface="Lato"/>
                <a:sym typeface="Lato"/>
              </a:rPr>
              <a:t> method on the root of the tree that you built previously. Print the resulting string.</a:t>
            </a:r>
            <a:endParaRPr sz="1600" dirty="0">
              <a:solidFill>
                <a:schemeClr val="dk1"/>
              </a:solidFill>
              <a:latin typeface="Lato"/>
              <a:ea typeface="Lato"/>
              <a:cs typeface="Lato"/>
              <a:sym typeface="Lato"/>
            </a:endParaRPr>
          </a:p>
          <a:p>
            <a:pPr marL="914400" lvl="0" indent="-311150" algn="l" rtl="0">
              <a:lnSpc>
                <a:spcPct val="100000"/>
              </a:lnSpc>
              <a:spcBef>
                <a:spcPts val="0"/>
              </a:spcBef>
              <a:spcAft>
                <a:spcPts val="0"/>
              </a:spcAft>
              <a:buClr>
                <a:schemeClr val="dk1"/>
              </a:buClr>
              <a:buSzPts val="1300"/>
              <a:buFont typeface="Lato"/>
              <a:buChar char="●"/>
            </a:pPr>
            <a:r>
              <a:rPr lang="en" dirty="0">
                <a:solidFill>
                  <a:schemeClr val="dk1"/>
                </a:solidFill>
                <a:latin typeface="Lato"/>
                <a:ea typeface="Lato"/>
                <a:cs typeface="Lato"/>
                <a:sym typeface="Lato"/>
              </a:rPr>
              <a:t>It should print the string: </a:t>
            </a:r>
            <a:r>
              <a:rPr lang="en" dirty="0">
                <a:solidFill>
                  <a:srgbClr val="FF0000"/>
                </a:solidFill>
                <a:latin typeface="Courier New"/>
                <a:ea typeface="Courier New"/>
                <a:cs typeface="Courier New"/>
                <a:sym typeface="Courier New"/>
              </a:rPr>
              <a:t>9 3 4 2 1 7 6</a:t>
            </a:r>
            <a:endParaRPr sz="1100" b="1" dirty="0">
              <a:latin typeface="Courier New"/>
              <a:ea typeface="Courier New"/>
              <a:cs typeface="Courier New"/>
              <a:sym typeface="Courier New"/>
            </a:endParaRPr>
          </a:p>
        </p:txBody>
      </p:sp>
      <p:sp>
        <p:nvSpPr>
          <p:cNvPr id="656" name="Google Shape;656;p8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Infix (in-order) Traversal</a:t>
            </a:r>
            <a:endParaRPr/>
          </a:p>
        </p:txBody>
      </p:sp>
      <p:sp>
        <p:nvSpPr>
          <p:cNvPr id="657" name="Google Shape;657;p8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6.2</a:t>
            </a:r>
            <a:endParaRPr/>
          </a:p>
        </p:txBody>
      </p:sp>
      <p:grpSp>
        <p:nvGrpSpPr>
          <p:cNvPr id="658" name="Google Shape;658;p82"/>
          <p:cNvGrpSpPr/>
          <p:nvPr/>
        </p:nvGrpSpPr>
        <p:grpSpPr>
          <a:xfrm>
            <a:off x="233366" y="1742782"/>
            <a:ext cx="2620215" cy="1717412"/>
            <a:chOff x="4446813" y="1496675"/>
            <a:chExt cx="1994834" cy="1307508"/>
          </a:xfrm>
        </p:grpSpPr>
        <p:sp>
          <p:nvSpPr>
            <p:cNvPr id="659" name="Google Shape;659;p82"/>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660" name="Google Shape;660;p82"/>
            <p:cNvSpPr/>
            <p:nvPr/>
          </p:nvSpPr>
          <p:spPr>
            <a:xfrm>
              <a:off x="5724092"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661" name="Google Shape;661;p82"/>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sp>
          <p:nvSpPr>
            <p:cNvPr id="662" name="Google Shape;662;p82"/>
            <p:cNvSpPr/>
            <p:nvPr/>
          </p:nvSpPr>
          <p:spPr>
            <a:xfrm>
              <a:off x="52276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a:t>
              </a:r>
              <a:endParaRPr sz="1000"/>
            </a:p>
          </p:txBody>
        </p:sp>
        <p:cxnSp>
          <p:nvCxnSpPr>
            <p:cNvPr id="663" name="Google Shape;663;p82"/>
            <p:cNvCxnSpPr>
              <a:stCxn id="662" idx="3"/>
              <a:endCxn id="659" idx="0"/>
            </p:cNvCxnSpPr>
            <p:nvPr/>
          </p:nvCxnSpPr>
          <p:spPr>
            <a:xfrm flipH="1">
              <a:off x="4960106" y="1782189"/>
              <a:ext cx="316500" cy="187800"/>
            </a:xfrm>
            <a:prstGeom prst="straightConnector1">
              <a:avLst/>
            </a:prstGeom>
            <a:noFill/>
            <a:ln w="9525" cap="flat" cmpd="sng">
              <a:solidFill>
                <a:schemeClr val="dk1"/>
              </a:solidFill>
              <a:prstDash val="solid"/>
              <a:round/>
              <a:headEnd type="none" w="med" len="med"/>
              <a:tailEnd type="triangle" w="med" len="med"/>
            </a:ln>
          </p:spPr>
        </p:cxnSp>
        <p:cxnSp>
          <p:nvCxnSpPr>
            <p:cNvPr id="664" name="Google Shape;664;p82"/>
            <p:cNvCxnSpPr>
              <a:stCxn id="662" idx="5"/>
              <a:endCxn id="660" idx="0"/>
            </p:cNvCxnSpPr>
            <p:nvPr/>
          </p:nvCxnSpPr>
          <p:spPr>
            <a:xfrm>
              <a:off x="5513133" y="1782189"/>
              <a:ext cx="378300" cy="187800"/>
            </a:xfrm>
            <a:prstGeom prst="straightConnector1">
              <a:avLst/>
            </a:prstGeom>
            <a:noFill/>
            <a:ln w="9525" cap="flat" cmpd="sng">
              <a:solidFill>
                <a:schemeClr val="dk1"/>
              </a:solidFill>
              <a:prstDash val="solid"/>
              <a:round/>
              <a:headEnd type="none" w="med" len="med"/>
              <a:tailEnd type="triangle" w="med" len="med"/>
            </a:ln>
          </p:spPr>
        </p:cxnSp>
        <p:sp>
          <p:nvSpPr>
            <p:cNvPr id="665" name="Google Shape;665;p82"/>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666" name="Google Shape;666;p82"/>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667" name="Google Shape;667;p82"/>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cxnSp>
          <p:nvCxnSpPr>
            <p:cNvPr id="668" name="Google Shape;668;p82"/>
            <p:cNvCxnSpPr>
              <a:stCxn id="659" idx="3"/>
              <a:endCxn id="661" idx="7"/>
            </p:cNvCxnSpPr>
            <p:nvPr/>
          </p:nvCxnSpPr>
          <p:spPr>
            <a:xfrm flipH="1">
              <a:off x="4732451" y="2255570"/>
              <a:ext cx="109500" cy="263100"/>
            </a:xfrm>
            <a:prstGeom prst="straightConnector1">
              <a:avLst/>
            </a:prstGeom>
            <a:noFill/>
            <a:ln w="9525" cap="flat" cmpd="sng">
              <a:solidFill>
                <a:schemeClr val="dk1"/>
              </a:solidFill>
              <a:prstDash val="solid"/>
              <a:round/>
              <a:headEnd type="none" w="med" len="med"/>
              <a:tailEnd type="triangle" w="med" len="med"/>
            </a:ln>
          </p:spPr>
        </p:cxnSp>
        <p:cxnSp>
          <p:nvCxnSpPr>
            <p:cNvPr id="669" name="Google Shape;669;p82"/>
            <p:cNvCxnSpPr>
              <a:stCxn id="659" idx="5"/>
              <a:endCxn id="665" idx="0"/>
            </p:cNvCxnSpPr>
            <p:nvPr/>
          </p:nvCxnSpPr>
          <p:spPr>
            <a:xfrm>
              <a:off x="5078479" y="2255570"/>
              <a:ext cx="185700" cy="214200"/>
            </a:xfrm>
            <a:prstGeom prst="straightConnector1">
              <a:avLst/>
            </a:prstGeom>
            <a:noFill/>
            <a:ln w="9525" cap="flat" cmpd="sng">
              <a:solidFill>
                <a:schemeClr val="dk1"/>
              </a:solidFill>
              <a:prstDash val="solid"/>
              <a:round/>
              <a:headEnd type="none" w="med" len="med"/>
              <a:tailEnd type="triangle" w="med" len="med"/>
            </a:ln>
          </p:spPr>
        </p:cxnSp>
        <p:cxnSp>
          <p:nvCxnSpPr>
            <p:cNvPr id="670" name="Google Shape;670;p82"/>
            <p:cNvCxnSpPr>
              <a:stCxn id="660" idx="3"/>
              <a:endCxn id="666" idx="0"/>
            </p:cNvCxnSpPr>
            <p:nvPr/>
          </p:nvCxnSpPr>
          <p:spPr>
            <a:xfrm flipH="1">
              <a:off x="5636879" y="2255570"/>
              <a:ext cx="136200" cy="214200"/>
            </a:xfrm>
            <a:prstGeom prst="straightConnector1">
              <a:avLst/>
            </a:prstGeom>
            <a:noFill/>
            <a:ln w="9525" cap="flat" cmpd="sng">
              <a:solidFill>
                <a:schemeClr val="dk1"/>
              </a:solidFill>
              <a:prstDash val="solid"/>
              <a:round/>
              <a:headEnd type="none" w="med" len="med"/>
              <a:tailEnd type="triangle" w="med" len="med"/>
            </a:ln>
          </p:spPr>
        </p:cxnSp>
        <p:cxnSp>
          <p:nvCxnSpPr>
            <p:cNvPr id="671" name="Google Shape;671;p82"/>
            <p:cNvCxnSpPr>
              <a:stCxn id="660" idx="5"/>
              <a:endCxn id="667" idx="1"/>
            </p:cNvCxnSpPr>
            <p:nvPr/>
          </p:nvCxnSpPr>
          <p:spPr>
            <a:xfrm>
              <a:off x="6009606" y="2255570"/>
              <a:ext cx="146400" cy="263100"/>
            </a:xfrm>
            <a:prstGeom prst="straightConnector1">
              <a:avLst/>
            </a:prstGeom>
            <a:noFill/>
            <a:ln w="9525" cap="flat" cmpd="sng">
              <a:solidFill>
                <a:schemeClr val="dk1"/>
              </a:solidFill>
              <a:prstDash val="solid"/>
              <a:round/>
              <a:headEnd type="none" w="med" len="med"/>
              <a:tailEnd type="triangle" w="med" len="med"/>
            </a:ln>
          </p:spPr>
        </p:cxnSp>
      </p:grpSp>
      <p:sp>
        <p:nvSpPr>
          <p:cNvPr id="672" name="Google Shape;672;p82"/>
          <p:cNvSpPr txBox="1"/>
          <p:nvPr/>
        </p:nvSpPr>
        <p:spPr>
          <a:xfrm>
            <a:off x="233425" y="3593775"/>
            <a:ext cx="2620200" cy="798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The order is all wrong! How do we make sure that the nodes print in the correct order?</a:t>
            </a:r>
            <a:endParaRPr sz="1200"/>
          </a:p>
        </p:txBody>
      </p:sp>
      <p:sp>
        <p:nvSpPr>
          <p:cNvPr id="673" name="Google Shape;673;p82"/>
          <p:cNvSpPr txBox="1"/>
          <p:nvPr/>
        </p:nvSpPr>
        <p:spPr>
          <a:xfrm>
            <a:off x="233425" y="4508175"/>
            <a:ext cx="2620200" cy="39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We will discuss that soon!</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83"/>
          <p:cNvSpPr txBox="1">
            <a:spLocks noGrp="1"/>
          </p:cNvSpPr>
          <p:nvPr>
            <p:ph type="title"/>
          </p:nvPr>
        </p:nvSpPr>
        <p:spPr>
          <a:xfrm>
            <a:off x="5255775" y="98400"/>
            <a:ext cx="3706500" cy="6381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t>Searching a Binary Tree</a:t>
            </a:r>
            <a:endParaRPr/>
          </a:p>
        </p:txBody>
      </p:sp>
      <p:sp>
        <p:nvSpPr>
          <p:cNvPr id="679" name="Google Shape;679;p83"/>
          <p:cNvSpPr txBox="1">
            <a:spLocks noGrp="1"/>
          </p:cNvSpPr>
          <p:nvPr>
            <p:ph type="body" idx="1"/>
          </p:nvPr>
        </p:nvSpPr>
        <p:spPr>
          <a:xfrm>
            <a:off x="377475" y="272325"/>
            <a:ext cx="4166400" cy="4245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Once the values are added to a binary tree, how would we </a:t>
            </a:r>
            <a:r>
              <a:rPr lang="en" sz="1400" b="1" i="1" dirty="0">
                <a:solidFill>
                  <a:srgbClr val="FF0000"/>
                </a:solidFill>
              </a:rPr>
              <a:t>search</a:t>
            </a:r>
            <a:r>
              <a:rPr lang="en" sz="1400" dirty="0">
                <a:solidFill>
                  <a:srgbClr val="E06666"/>
                </a:solidFill>
              </a:rPr>
              <a:t> </a:t>
            </a:r>
            <a:r>
              <a:rPr lang="en" sz="1400" dirty="0"/>
              <a:t>the tree to determine whether or not it contains a specific value?</a:t>
            </a:r>
            <a:endParaRPr sz="1400" dirty="0"/>
          </a:p>
          <a:p>
            <a:pPr marL="457200" lvl="0" indent="-317500" algn="l" rtl="0">
              <a:spcBef>
                <a:spcPts val="1000"/>
              </a:spcBef>
              <a:spcAft>
                <a:spcPts val="0"/>
              </a:spcAft>
              <a:buSzPts val="1400"/>
              <a:buChar char="●"/>
            </a:pPr>
            <a:r>
              <a:rPr lang="en" sz="1400" dirty="0"/>
              <a:t>Binary trees are a </a:t>
            </a:r>
            <a:r>
              <a:rPr lang="en" sz="1400" b="1" i="1" dirty="0">
                <a:solidFill>
                  <a:srgbClr val="FF0000"/>
                </a:solidFill>
              </a:rPr>
              <a:t>recursive</a:t>
            </a:r>
            <a:r>
              <a:rPr lang="en" sz="1400" dirty="0">
                <a:solidFill>
                  <a:srgbClr val="E06666"/>
                </a:solidFill>
              </a:rPr>
              <a:t> </a:t>
            </a:r>
            <a:r>
              <a:rPr lang="en" sz="1400" dirty="0"/>
              <a:t>data structure, so it should come as no surprise that a recursive algorithm can be used to search a binary tree beginning with the root node.</a:t>
            </a:r>
            <a:endParaRPr sz="1400" dirty="0"/>
          </a:p>
          <a:p>
            <a:pPr marL="914400" lvl="1" indent="-317500" algn="l" rtl="0">
              <a:spcBef>
                <a:spcPts val="0"/>
              </a:spcBef>
              <a:spcAft>
                <a:spcPts val="0"/>
              </a:spcAft>
              <a:buSzPts val="1400"/>
              <a:buChar char="○"/>
            </a:pPr>
            <a:r>
              <a:rPr lang="en" sz="1400" dirty="0">
                <a:highlight>
                  <a:srgbClr val="FFFF00"/>
                </a:highlight>
              </a:rPr>
              <a:t>If the node's </a:t>
            </a:r>
            <a:r>
              <a:rPr lang="en" sz="1400" dirty="0">
                <a:solidFill>
                  <a:srgbClr val="FF0000"/>
                </a:solidFill>
                <a:highlight>
                  <a:srgbClr val="FFFF00"/>
                </a:highlight>
                <a:latin typeface="Courier New"/>
                <a:ea typeface="Courier New"/>
                <a:cs typeface="Courier New"/>
                <a:sym typeface="Courier New"/>
              </a:rPr>
              <a:t>value</a:t>
            </a:r>
            <a:r>
              <a:rPr lang="en" sz="1400" dirty="0">
                <a:highlight>
                  <a:srgbClr val="FFFF00"/>
                </a:highlight>
              </a:rPr>
              <a:t> matches the target, return </a:t>
            </a:r>
            <a:r>
              <a:rPr lang="en" sz="1400" dirty="0">
                <a:solidFill>
                  <a:srgbClr val="FF0000"/>
                </a:solidFill>
                <a:highlight>
                  <a:srgbClr val="FFFF00"/>
                </a:highlight>
                <a:latin typeface="Courier New"/>
                <a:ea typeface="Courier New"/>
                <a:cs typeface="Courier New"/>
                <a:sym typeface="Courier New"/>
              </a:rPr>
              <a:t>true</a:t>
            </a:r>
            <a:r>
              <a:rPr lang="en" sz="1400" dirty="0">
                <a:highlight>
                  <a:srgbClr val="FFFF00"/>
                </a:highlight>
              </a:rPr>
              <a:t>.</a:t>
            </a:r>
            <a:endParaRPr sz="1400" dirty="0">
              <a:highlight>
                <a:srgbClr val="FFFF00"/>
              </a:highlight>
            </a:endParaRPr>
          </a:p>
          <a:p>
            <a:pPr marL="914400" lvl="1" indent="-317500" algn="l" rtl="0">
              <a:spcBef>
                <a:spcPts val="0"/>
              </a:spcBef>
              <a:spcAft>
                <a:spcPts val="0"/>
              </a:spcAft>
              <a:buSzPts val="1400"/>
              <a:buChar char="○"/>
            </a:pPr>
            <a:r>
              <a:rPr lang="en" sz="1400" dirty="0">
                <a:highlight>
                  <a:srgbClr val="FFFF00"/>
                </a:highlight>
              </a:rPr>
              <a:t>Otherwise, if the </a:t>
            </a:r>
            <a:r>
              <a:rPr lang="en" sz="1400" b="1" i="1" dirty="0">
                <a:solidFill>
                  <a:srgbClr val="FF0000"/>
                </a:solidFill>
                <a:highlight>
                  <a:srgbClr val="FFFF00"/>
                </a:highlight>
              </a:rPr>
              <a:t>left subtree</a:t>
            </a:r>
            <a:r>
              <a:rPr lang="en" sz="1400" dirty="0">
                <a:highlight>
                  <a:srgbClr val="FFFF00"/>
                </a:highlight>
              </a:rPr>
              <a:t> is not </a:t>
            </a:r>
            <a:r>
              <a:rPr lang="en" sz="1400" dirty="0">
                <a:solidFill>
                  <a:srgbClr val="FF0000"/>
                </a:solidFill>
                <a:highlight>
                  <a:srgbClr val="FFFF00"/>
                </a:highlight>
                <a:latin typeface="Courier New"/>
                <a:ea typeface="Courier New"/>
                <a:cs typeface="Courier New"/>
                <a:sym typeface="Courier New"/>
              </a:rPr>
              <a:t>null</a:t>
            </a:r>
            <a:r>
              <a:rPr lang="en" sz="1400" dirty="0">
                <a:highlight>
                  <a:srgbClr val="FFFF00"/>
                </a:highlight>
              </a:rPr>
              <a:t>, search it. If the target is found, return </a:t>
            </a:r>
            <a:r>
              <a:rPr lang="en" sz="1400" dirty="0">
                <a:solidFill>
                  <a:srgbClr val="FF0000"/>
                </a:solidFill>
                <a:highlight>
                  <a:srgbClr val="FFFF00"/>
                </a:highlight>
                <a:latin typeface="Courier New"/>
                <a:ea typeface="Courier New"/>
                <a:cs typeface="Courier New"/>
                <a:sym typeface="Courier New"/>
              </a:rPr>
              <a:t>true</a:t>
            </a:r>
            <a:r>
              <a:rPr lang="en" sz="1400" dirty="0">
                <a:highlight>
                  <a:srgbClr val="FFFF00"/>
                </a:highlight>
              </a:rPr>
              <a:t>.</a:t>
            </a:r>
            <a:endParaRPr sz="1400" dirty="0">
              <a:highlight>
                <a:srgbClr val="FFFF00"/>
              </a:highlight>
            </a:endParaRPr>
          </a:p>
          <a:p>
            <a:pPr marL="914400" lvl="1" indent="-317500" algn="l" rtl="0">
              <a:spcBef>
                <a:spcPts val="0"/>
              </a:spcBef>
              <a:spcAft>
                <a:spcPts val="0"/>
              </a:spcAft>
              <a:buSzPts val="1400"/>
              <a:buChar char="○"/>
            </a:pPr>
            <a:r>
              <a:rPr lang="en" sz="1400" dirty="0">
                <a:highlight>
                  <a:srgbClr val="FFFF00"/>
                </a:highlight>
              </a:rPr>
              <a:t>Otherwise, if the </a:t>
            </a:r>
            <a:r>
              <a:rPr lang="en" sz="1400" b="1" i="1" dirty="0">
                <a:solidFill>
                  <a:srgbClr val="FF0000"/>
                </a:solidFill>
                <a:highlight>
                  <a:srgbClr val="FFFF00"/>
                </a:highlight>
              </a:rPr>
              <a:t>right subtree</a:t>
            </a:r>
            <a:r>
              <a:rPr lang="en" sz="1400" dirty="0">
                <a:highlight>
                  <a:srgbClr val="FFFF00"/>
                </a:highlight>
              </a:rPr>
              <a:t> is not </a:t>
            </a:r>
            <a:r>
              <a:rPr lang="en" sz="1400" dirty="0">
                <a:solidFill>
                  <a:srgbClr val="FF0000"/>
                </a:solidFill>
                <a:highlight>
                  <a:srgbClr val="FFFF00"/>
                </a:highlight>
                <a:latin typeface="Courier New"/>
                <a:ea typeface="Courier New"/>
                <a:cs typeface="Courier New"/>
                <a:sym typeface="Courier New"/>
              </a:rPr>
              <a:t>null</a:t>
            </a:r>
            <a:r>
              <a:rPr lang="en" sz="1400" dirty="0">
                <a:highlight>
                  <a:srgbClr val="FFFF00"/>
                </a:highlight>
              </a:rPr>
              <a:t>, search it. If the target is found, return </a:t>
            </a:r>
            <a:r>
              <a:rPr lang="en" sz="1400" dirty="0">
                <a:solidFill>
                  <a:srgbClr val="FF0000"/>
                </a:solidFill>
                <a:highlight>
                  <a:srgbClr val="FFFF00"/>
                </a:highlight>
                <a:latin typeface="Courier New"/>
                <a:ea typeface="Courier New"/>
                <a:cs typeface="Courier New"/>
                <a:sym typeface="Courier New"/>
              </a:rPr>
              <a:t>true</a:t>
            </a:r>
            <a:r>
              <a:rPr lang="en" sz="1400" dirty="0">
                <a:highlight>
                  <a:srgbClr val="FFFF00"/>
                </a:highlight>
              </a:rPr>
              <a:t>.</a:t>
            </a:r>
            <a:endParaRPr sz="1400" dirty="0">
              <a:highlight>
                <a:srgbClr val="FFFF00"/>
              </a:highlight>
            </a:endParaRPr>
          </a:p>
          <a:p>
            <a:pPr marL="914400" lvl="1" indent="-317500" algn="l" rtl="0">
              <a:spcBef>
                <a:spcPts val="0"/>
              </a:spcBef>
              <a:spcAft>
                <a:spcPts val="0"/>
              </a:spcAft>
              <a:buSzPts val="1400"/>
              <a:buChar char="○"/>
            </a:pPr>
            <a:r>
              <a:rPr lang="en" sz="1400" dirty="0">
                <a:highlight>
                  <a:srgbClr val="FFFF00"/>
                </a:highlight>
              </a:rPr>
              <a:t>Otherwise, return </a:t>
            </a:r>
            <a:r>
              <a:rPr lang="en" sz="1400" dirty="0">
                <a:solidFill>
                  <a:srgbClr val="FF0000"/>
                </a:solidFill>
                <a:highlight>
                  <a:srgbClr val="FFFF00"/>
                </a:highlight>
                <a:latin typeface="Courier New"/>
                <a:ea typeface="Courier New"/>
                <a:cs typeface="Courier New"/>
                <a:sym typeface="Courier New"/>
              </a:rPr>
              <a:t>false</a:t>
            </a:r>
            <a:r>
              <a:rPr lang="en" sz="1400" dirty="0">
                <a:highlight>
                  <a:srgbClr val="FFFF00"/>
                </a:highlight>
              </a:rPr>
              <a:t>.</a:t>
            </a:r>
            <a:endParaRPr sz="1400" dirty="0">
              <a:highlight>
                <a:srgbClr val="FFFF00"/>
              </a:highlight>
            </a:endParaRPr>
          </a:p>
        </p:txBody>
      </p:sp>
      <p:grpSp>
        <p:nvGrpSpPr>
          <p:cNvPr id="680" name="Google Shape;680;p83"/>
          <p:cNvGrpSpPr/>
          <p:nvPr/>
        </p:nvGrpSpPr>
        <p:grpSpPr>
          <a:xfrm>
            <a:off x="5971352" y="1884754"/>
            <a:ext cx="2486344" cy="1629678"/>
            <a:chOff x="2404821" y="1622025"/>
            <a:chExt cx="2946254" cy="1931127"/>
          </a:xfrm>
        </p:grpSpPr>
        <p:sp>
          <p:nvSpPr>
            <p:cNvPr id="681" name="Google Shape;681;p83"/>
            <p:cNvSpPr/>
            <p:nvPr/>
          </p:nvSpPr>
          <p:spPr>
            <a:xfrm>
              <a:off x="2916055" y="2321158"/>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682" name="Google Shape;682;p83"/>
            <p:cNvSpPr/>
            <p:nvPr/>
          </p:nvSpPr>
          <p:spPr>
            <a:xfrm>
              <a:off x="4291241" y="2321158"/>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Q</a:t>
              </a:r>
              <a:endParaRPr/>
            </a:p>
          </p:txBody>
        </p:sp>
        <p:sp>
          <p:nvSpPr>
            <p:cNvPr id="683" name="Google Shape;683;p83"/>
            <p:cNvSpPr/>
            <p:nvPr/>
          </p:nvSpPr>
          <p:spPr>
            <a:xfrm>
              <a:off x="2404821"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a:t>
              </a:r>
              <a:endParaRPr/>
            </a:p>
          </p:txBody>
        </p:sp>
        <p:sp>
          <p:nvSpPr>
            <p:cNvPr id="684" name="Google Shape;684;p83"/>
            <p:cNvSpPr/>
            <p:nvPr/>
          </p:nvSpPr>
          <p:spPr>
            <a:xfrm>
              <a:off x="3557998" y="1622025"/>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cxnSp>
          <p:nvCxnSpPr>
            <p:cNvPr id="685" name="Google Shape;685;p83"/>
            <p:cNvCxnSpPr>
              <a:stCxn id="684" idx="3"/>
              <a:endCxn id="681" idx="0"/>
            </p:cNvCxnSpPr>
            <p:nvPr/>
          </p:nvCxnSpPr>
          <p:spPr>
            <a:xfrm flipH="1">
              <a:off x="3162957" y="2043766"/>
              <a:ext cx="467400" cy="277500"/>
            </a:xfrm>
            <a:prstGeom prst="straightConnector1">
              <a:avLst/>
            </a:prstGeom>
            <a:noFill/>
            <a:ln w="9525" cap="flat" cmpd="sng">
              <a:solidFill>
                <a:srgbClr val="FFFFFF"/>
              </a:solidFill>
              <a:prstDash val="solid"/>
              <a:round/>
              <a:headEnd type="none" w="med" len="med"/>
              <a:tailEnd type="triangle" w="med" len="med"/>
            </a:ln>
          </p:spPr>
        </p:cxnSp>
        <p:cxnSp>
          <p:nvCxnSpPr>
            <p:cNvPr id="686" name="Google Shape;686;p83"/>
            <p:cNvCxnSpPr>
              <a:stCxn id="684" idx="5"/>
              <a:endCxn id="682" idx="0"/>
            </p:cNvCxnSpPr>
            <p:nvPr/>
          </p:nvCxnSpPr>
          <p:spPr>
            <a:xfrm>
              <a:off x="3979739" y="2043766"/>
              <a:ext cx="558600" cy="277500"/>
            </a:xfrm>
            <a:prstGeom prst="straightConnector1">
              <a:avLst/>
            </a:prstGeom>
            <a:noFill/>
            <a:ln w="9525" cap="flat" cmpd="sng">
              <a:solidFill>
                <a:srgbClr val="FFFFFF"/>
              </a:solidFill>
              <a:prstDash val="solid"/>
              <a:round/>
              <a:headEnd type="none" w="med" len="med"/>
              <a:tailEnd type="triangle" w="med" len="med"/>
            </a:ln>
          </p:spPr>
        </p:cxnSp>
        <p:sp>
          <p:nvSpPr>
            <p:cNvPr id="687" name="Google Shape;687;p83"/>
            <p:cNvSpPr/>
            <p:nvPr/>
          </p:nvSpPr>
          <p:spPr>
            <a:xfrm>
              <a:off x="3364760"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sp>
          <p:nvSpPr>
            <p:cNvPr id="688" name="Google Shape;688;p83"/>
            <p:cNvSpPr/>
            <p:nvPr/>
          </p:nvSpPr>
          <p:spPr>
            <a:xfrm>
              <a:off x="3915337"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Q</a:t>
              </a:r>
              <a:endParaRPr/>
            </a:p>
          </p:txBody>
        </p:sp>
        <p:sp>
          <p:nvSpPr>
            <p:cNvPr id="689" name="Google Shape;689;p83"/>
            <p:cNvSpPr/>
            <p:nvPr/>
          </p:nvSpPr>
          <p:spPr>
            <a:xfrm>
              <a:off x="4856976"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cxnSp>
          <p:nvCxnSpPr>
            <p:cNvPr id="690" name="Google Shape;690;p83"/>
            <p:cNvCxnSpPr>
              <a:stCxn id="681" idx="3"/>
              <a:endCxn id="683" idx="7"/>
            </p:cNvCxnSpPr>
            <p:nvPr/>
          </p:nvCxnSpPr>
          <p:spPr>
            <a:xfrm flipH="1">
              <a:off x="2826415" y="2742899"/>
              <a:ext cx="162000" cy="388500"/>
            </a:xfrm>
            <a:prstGeom prst="straightConnector1">
              <a:avLst/>
            </a:prstGeom>
            <a:noFill/>
            <a:ln w="9525" cap="flat" cmpd="sng">
              <a:solidFill>
                <a:srgbClr val="FFFFFF"/>
              </a:solidFill>
              <a:prstDash val="solid"/>
              <a:round/>
              <a:headEnd type="none" w="med" len="med"/>
              <a:tailEnd type="triangle" w="med" len="med"/>
            </a:ln>
          </p:spPr>
        </p:cxnSp>
        <p:cxnSp>
          <p:nvCxnSpPr>
            <p:cNvPr id="691" name="Google Shape;691;p83"/>
            <p:cNvCxnSpPr>
              <a:stCxn id="681" idx="5"/>
              <a:endCxn id="687" idx="0"/>
            </p:cNvCxnSpPr>
            <p:nvPr/>
          </p:nvCxnSpPr>
          <p:spPr>
            <a:xfrm>
              <a:off x="3337796" y="2742899"/>
              <a:ext cx="273900" cy="316200"/>
            </a:xfrm>
            <a:prstGeom prst="straightConnector1">
              <a:avLst/>
            </a:prstGeom>
            <a:noFill/>
            <a:ln w="9525" cap="flat" cmpd="sng">
              <a:solidFill>
                <a:srgbClr val="FFFFFF"/>
              </a:solidFill>
              <a:prstDash val="solid"/>
              <a:round/>
              <a:headEnd type="none" w="med" len="med"/>
              <a:tailEnd type="triangle" w="med" len="med"/>
            </a:ln>
          </p:spPr>
        </p:cxnSp>
        <p:cxnSp>
          <p:nvCxnSpPr>
            <p:cNvPr id="692" name="Google Shape;692;p83"/>
            <p:cNvCxnSpPr>
              <a:stCxn id="682" idx="3"/>
              <a:endCxn id="688" idx="0"/>
            </p:cNvCxnSpPr>
            <p:nvPr/>
          </p:nvCxnSpPr>
          <p:spPr>
            <a:xfrm flipH="1">
              <a:off x="4162300" y="2742899"/>
              <a:ext cx="201300" cy="316200"/>
            </a:xfrm>
            <a:prstGeom prst="straightConnector1">
              <a:avLst/>
            </a:prstGeom>
            <a:noFill/>
            <a:ln w="9525" cap="flat" cmpd="sng">
              <a:solidFill>
                <a:srgbClr val="FFFFFF"/>
              </a:solidFill>
              <a:prstDash val="solid"/>
              <a:round/>
              <a:headEnd type="none" w="med" len="med"/>
              <a:tailEnd type="triangle" w="med" len="med"/>
            </a:ln>
          </p:spPr>
        </p:cxnSp>
        <p:cxnSp>
          <p:nvCxnSpPr>
            <p:cNvPr id="693" name="Google Shape;693;p83"/>
            <p:cNvCxnSpPr>
              <a:stCxn id="682" idx="5"/>
              <a:endCxn id="689" idx="1"/>
            </p:cNvCxnSpPr>
            <p:nvPr/>
          </p:nvCxnSpPr>
          <p:spPr>
            <a:xfrm>
              <a:off x="4712982" y="2742899"/>
              <a:ext cx="216300" cy="388500"/>
            </a:xfrm>
            <a:prstGeom prst="straightConnector1">
              <a:avLst/>
            </a:prstGeom>
            <a:noFill/>
            <a:ln w="9525" cap="flat" cmpd="sng">
              <a:solidFill>
                <a:srgbClr val="FFFFFF"/>
              </a:solidFill>
              <a:prstDash val="solid"/>
              <a:round/>
              <a:headEnd type="none" w="med" len="med"/>
              <a:tailEnd type="triangle" w="med" len="med"/>
            </a:ln>
          </p:spPr>
        </p:cxnSp>
      </p:grpSp>
      <p:sp>
        <p:nvSpPr>
          <p:cNvPr id="694" name="Google Shape;694;p83"/>
          <p:cNvSpPr txBox="1"/>
          <p:nvPr/>
        </p:nvSpPr>
        <p:spPr>
          <a:xfrm>
            <a:off x="5255775" y="1142950"/>
            <a:ext cx="3706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Determining whether or not a value is present in a binary tree requires a </a:t>
            </a:r>
            <a:r>
              <a:rPr lang="en" b="1" i="1">
                <a:solidFill>
                  <a:srgbClr val="FF0000"/>
                </a:solidFill>
              </a:rPr>
              <a:t>search</a:t>
            </a:r>
            <a:r>
              <a:rPr lang="en"/>
              <a:t>.</a:t>
            </a:r>
            <a:endParaRPr/>
          </a:p>
        </p:txBody>
      </p:sp>
      <p:sp>
        <p:nvSpPr>
          <p:cNvPr id="695" name="Google Shape;695;p83"/>
          <p:cNvSpPr txBox="1"/>
          <p:nvPr/>
        </p:nvSpPr>
        <p:spPr>
          <a:xfrm>
            <a:off x="5255775" y="3642725"/>
            <a:ext cx="3706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If the target is not in the root node, search one of the subtrees.</a:t>
            </a:r>
            <a:endParaRPr/>
          </a:p>
        </p:txBody>
      </p:sp>
      <p:sp>
        <p:nvSpPr>
          <p:cNvPr id="696" name="Google Shape;696;p83"/>
          <p:cNvSpPr txBox="1"/>
          <p:nvPr/>
        </p:nvSpPr>
        <p:spPr>
          <a:xfrm>
            <a:off x="5255775" y="4386625"/>
            <a:ext cx="3706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If the target still is not found, search the other subtree.</a:t>
            </a:r>
            <a:endParaRPr/>
          </a:p>
        </p:txBody>
      </p:sp>
      <p:sp>
        <p:nvSpPr>
          <p:cNvPr id="697" name="Google Shape;697;p83"/>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94"/>
                                        </p:tgtEl>
                                        <p:attrNameLst>
                                          <p:attrName>style.visibility</p:attrName>
                                        </p:attrNameLst>
                                      </p:cBhvr>
                                      <p:to>
                                        <p:strVal val="visible"/>
                                      </p:to>
                                    </p:set>
                                    <p:animEffect transition="in" filter="fade">
                                      <p:cBhvr>
                                        <p:cTn id="31" dur="1000"/>
                                        <p:tgtEl>
                                          <p:spTgt spid="694"/>
                                        </p:tgtEl>
                                      </p:cBhvr>
                                    </p:animEffect>
                                  </p:childTnLst>
                                </p:cTn>
                              </p:par>
                              <p:par>
                                <p:cTn id="32" presetID="10" presetClass="entr" presetSubtype="0" fill="hold" nodeType="withEffect">
                                  <p:stCondLst>
                                    <p:cond delay="0"/>
                                  </p:stCondLst>
                                  <p:childTnLst>
                                    <p:set>
                                      <p:cBhvr>
                                        <p:cTn id="33" dur="1" fill="hold">
                                          <p:stCondLst>
                                            <p:cond delay="0"/>
                                          </p:stCondLst>
                                        </p:cTn>
                                        <p:tgtEl>
                                          <p:spTgt spid="680"/>
                                        </p:tgtEl>
                                        <p:attrNameLst>
                                          <p:attrName>style.visibility</p:attrName>
                                        </p:attrNameLst>
                                      </p:cBhvr>
                                      <p:to>
                                        <p:strVal val="visible"/>
                                      </p:to>
                                    </p:set>
                                    <p:animEffect transition="in" filter="fade">
                                      <p:cBhvr>
                                        <p:cTn id="34" dur="1000"/>
                                        <p:tgtEl>
                                          <p:spTgt spid="68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695"/>
                                        </p:tgtEl>
                                        <p:attrNameLst>
                                          <p:attrName>style.visibility</p:attrName>
                                        </p:attrNameLst>
                                      </p:cBhvr>
                                      <p:to>
                                        <p:strVal val="visible"/>
                                      </p:to>
                                    </p:set>
                                    <p:animEffect transition="in" filter="fade">
                                      <p:cBhvr>
                                        <p:cTn id="39" dur="1000"/>
                                        <p:tgtEl>
                                          <p:spTgt spid="69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696"/>
                                        </p:tgtEl>
                                        <p:attrNameLst>
                                          <p:attrName>style.visibility</p:attrName>
                                        </p:attrNameLst>
                                      </p:cBhvr>
                                      <p:to>
                                        <p:strVal val="visible"/>
                                      </p:to>
                                    </p:set>
                                    <p:animEffect transition="in" filter="fade">
                                      <p:cBhvr>
                                        <p:cTn id="44" dur="1000"/>
                                        <p:tgtEl>
                                          <p:spTgt spid="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84"/>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Because the values in a Binary Tree are not in any particular order, searching means that, if the target doesn't match the value in a node, you may need to search </a:t>
            </a:r>
            <a:r>
              <a:rPr lang="en" b="1" i="1"/>
              <a:t>both</a:t>
            </a:r>
            <a:r>
              <a:rPr lang="en"/>
              <a:t> the left and right subtrees. Try implementing a search algorithm now. What is the time complexity when searching a binary tree with N nodes? </a:t>
            </a:r>
            <a:endParaRPr/>
          </a:p>
        </p:txBody>
      </p:sp>
      <p:sp>
        <p:nvSpPr>
          <p:cNvPr id="703" name="Google Shape;703;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704" name="Google Shape;704;p84"/>
          <p:cNvSpPr txBox="1">
            <a:spLocks noGrp="1"/>
          </p:cNvSpPr>
          <p:nvPr>
            <p:ph type="body" idx="2"/>
          </p:nvPr>
        </p:nvSpPr>
        <p:spPr>
          <a:xfrm>
            <a:off x="3324175" y="2013125"/>
            <a:ext cx="5616900" cy="28584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the </a:t>
            </a:r>
            <a:r>
              <a:rPr lang="en" sz="1500" dirty="0">
                <a:latin typeface="Courier New"/>
                <a:ea typeface="Courier New"/>
                <a:cs typeface="Courier New"/>
                <a:sym typeface="Courier New"/>
              </a:rPr>
              <a:t>BinaryNode</a:t>
            </a:r>
            <a:r>
              <a:rPr lang="en" sz="1500" dirty="0"/>
              <a:t> class and define a new method with the signature: </a:t>
            </a:r>
            <a:r>
              <a:rPr lang="en" sz="1500" dirty="0">
                <a:solidFill>
                  <a:srgbClr val="FF0000"/>
                </a:solidFill>
                <a:latin typeface="Courier New"/>
                <a:ea typeface="Courier New"/>
                <a:cs typeface="Courier New"/>
                <a:sym typeface="Courier New"/>
              </a:rPr>
              <a:t>public boolean search(int target)</a:t>
            </a:r>
            <a:endParaRPr sz="1500" dirty="0">
              <a:solidFill>
                <a:srgbClr val="FF0000"/>
              </a:solidFill>
              <a:latin typeface="Courier New"/>
              <a:ea typeface="Courier New"/>
              <a:cs typeface="Courier New"/>
              <a:sym typeface="Courier New"/>
            </a:endParaRPr>
          </a:p>
          <a:p>
            <a:pPr marL="914400" lvl="1" indent="-311150" algn="l" rtl="0">
              <a:spcBef>
                <a:spcPts val="0"/>
              </a:spcBef>
              <a:spcAft>
                <a:spcPts val="0"/>
              </a:spcAft>
              <a:buSzPts val="1300"/>
              <a:buChar char="○"/>
            </a:pPr>
            <a:r>
              <a:rPr lang="en" sz="1300" dirty="0"/>
              <a:t>If the node's </a:t>
            </a:r>
            <a:r>
              <a:rPr lang="en" sz="1300" dirty="0">
                <a:solidFill>
                  <a:srgbClr val="FF0000"/>
                </a:solidFill>
                <a:latin typeface="Courier New"/>
                <a:ea typeface="Courier New"/>
                <a:cs typeface="Courier New"/>
                <a:sym typeface="Courier New"/>
              </a:rPr>
              <a:t>value</a:t>
            </a:r>
            <a:r>
              <a:rPr lang="en" sz="1300" dirty="0">
                <a:solidFill>
                  <a:srgbClr val="FF0000"/>
                </a:solidFill>
              </a:rPr>
              <a:t> </a:t>
            </a:r>
            <a:r>
              <a:rPr lang="en" sz="1300" dirty="0"/>
              <a:t>matches the </a:t>
            </a:r>
            <a:r>
              <a:rPr lang="en" sz="1300" dirty="0">
                <a:solidFill>
                  <a:srgbClr val="FF0000"/>
                </a:solidFill>
                <a:latin typeface="Courier New"/>
                <a:ea typeface="Courier New"/>
                <a:cs typeface="Courier New"/>
                <a:sym typeface="Courier New"/>
              </a:rPr>
              <a:t>target</a:t>
            </a:r>
            <a:r>
              <a:rPr lang="en" sz="1300" dirty="0"/>
              <a:t>, return </a:t>
            </a:r>
            <a:r>
              <a:rPr lang="en" sz="1300" dirty="0">
                <a:solidFill>
                  <a:srgbClr val="FF0000"/>
                </a:solidFill>
                <a:latin typeface="Courier New"/>
                <a:ea typeface="Courier New"/>
                <a:cs typeface="Courier New"/>
                <a:sym typeface="Courier New"/>
              </a:rPr>
              <a:t>true</a:t>
            </a:r>
            <a:r>
              <a:rPr lang="en" sz="1300" dirty="0"/>
              <a:t>.</a:t>
            </a:r>
            <a:endParaRPr sz="1300" dirty="0"/>
          </a:p>
          <a:p>
            <a:pPr marL="914400" lvl="1" indent="-311150" algn="l" rtl="0">
              <a:spcBef>
                <a:spcPts val="0"/>
              </a:spcBef>
              <a:spcAft>
                <a:spcPts val="0"/>
              </a:spcAft>
              <a:buSzPts val="1300"/>
              <a:buChar char="○"/>
            </a:pPr>
            <a:r>
              <a:rPr lang="en" sz="1300" dirty="0"/>
              <a:t>Otherwise, search the left subtree, and return </a:t>
            </a:r>
            <a:r>
              <a:rPr lang="en" sz="1300" dirty="0">
                <a:solidFill>
                  <a:srgbClr val="FF0000"/>
                </a:solidFill>
                <a:latin typeface="Courier New"/>
                <a:ea typeface="Courier New"/>
                <a:cs typeface="Courier New"/>
                <a:sym typeface="Courier New"/>
              </a:rPr>
              <a:t>true</a:t>
            </a:r>
            <a:r>
              <a:rPr lang="en" sz="1300" dirty="0">
                <a:solidFill>
                  <a:srgbClr val="FF0000"/>
                </a:solidFill>
              </a:rPr>
              <a:t> </a:t>
            </a:r>
            <a:r>
              <a:rPr lang="en" sz="1300" dirty="0"/>
              <a:t>if the target is found.</a:t>
            </a:r>
            <a:endParaRPr sz="1300" dirty="0"/>
          </a:p>
          <a:p>
            <a:pPr marL="914400" lvl="1" indent="-311150" algn="l" rtl="0">
              <a:spcBef>
                <a:spcPts val="0"/>
              </a:spcBef>
              <a:spcAft>
                <a:spcPts val="0"/>
              </a:spcAft>
              <a:buSzPts val="1300"/>
              <a:buChar char="○"/>
            </a:pPr>
            <a:r>
              <a:rPr lang="en" sz="1300" dirty="0"/>
              <a:t>Otherwise, search the right subtree, and return </a:t>
            </a:r>
            <a:r>
              <a:rPr lang="en" sz="1300" dirty="0">
                <a:solidFill>
                  <a:srgbClr val="FF0000"/>
                </a:solidFill>
                <a:latin typeface="Courier New"/>
                <a:ea typeface="Courier New"/>
                <a:cs typeface="Courier New"/>
                <a:sym typeface="Courier New"/>
              </a:rPr>
              <a:t>true</a:t>
            </a:r>
            <a:r>
              <a:rPr lang="en" sz="1300" dirty="0">
                <a:solidFill>
                  <a:srgbClr val="FF0000"/>
                </a:solidFill>
              </a:rPr>
              <a:t> </a:t>
            </a:r>
            <a:r>
              <a:rPr lang="en" sz="1300" dirty="0"/>
              <a:t>if the target is found.</a:t>
            </a:r>
            <a:endParaRPr sz="1300" dirty="0"/>
          </a:p>
          <a:p>
            <a:pPr marL="914400" lvl="1" indent="-311150" algn="l" rtl="0">
              <a:spcBef>
                <a:spcPts val="0"/>
              </a:spcBef>
              <a:spcAft>
                <a:spcPts val="0"/>
              </a:spcAft>
              <a:buSzPts val="1300"/>
              <a:buChar char="○"/>
            </a:pPr>
            <a:r>
              <a:rPr lang="en" sz="1300" dirty="0"/>
              <a:t>Otherwise, return </a:t>
            </a:r>
            <a:r>
              <a:rPr lang="en" sz="1300" dirty="0">
                <a:solidFill>
                  <a:srgbClr val="FF0000"/>
                </a:solidFill>
                <a:latin typeface="Courier New"/>
                <a:ea typeface="Courier New"/>
                <a:cs typeface="Courier New"/>
                <a:sym typeface="Courier New"/>
              </a:rPr>
              <a:t>false</a:t>
            </a:r>
            <a:r>
              <a:rPr lang="en" sz="1300" dirty="0"/>
              <a:t>.</a:t>
            </a:r>
            <a:endParaRPr sz="1300" dirty="0"/>
          </a:p>
          <a:p>
            <a:pPr marL="457200" lvl="0" indent="-323850" algn="l" rtl="0">
              <a:spcBef>
                <a:spcPts val="0"/>
              </a:spcBef>
              <a:spcAft>
                <a:spcPts val="0"/>
              </a:spcAft>
              <a:buSzPts val="1500"/>
              <a:buChar char="●"/>
            </a:pPr>
            <a:r>
              <a:rPr lang="en" sz="1500" dirty="0"/>
              <a:t>Update the </a:t>
            </a:r>
            <a:r>
              <a:rPr lang="en" sz="1500" dirty="0">
                <a:latin typeface="Courier New"/>
                <a:ea typeface="Courier New"/>
                <a:cs typeface="Courier New"/>
                <a:sym typeface="Courier New"/>
              </a:rPr>
              <a:t>main</a:t>
            </a:r>
            <a:r>
              <a:rPr lang="en" sz="1500" dirty="0"/>
              <a:t> method to search for several values and print the results.</a:t>
            </a:r>
            <a:endParaRPr sz="1500" dirty="0"/>
          </a:p>
        </p:txBody>
      </p:sp>
      <p:sp>
        <p:nvSpPr>
          <p:cNvPr id="705" name="Google Shape;705;p8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Searching a Binary Tree</a:t>
            </a:r>
            <a:endParaRPr/>
          </a:p>
        </p:txBody>
      </p:sp>
      <p:sp>
        <p:nvSpPr>
          <p:cNvPr id="706" name="Google Shape;706;p8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6.3</a:t>
            </a:r>
            <a:endParaRPr/>
          </a:p>
        </p:txBody>
      </p:sp>
      <p:grpSp>
        <p:nvGrpSpPr>
          <p:cNvPr id="707" name="Google Shape;707;p84"/>
          <p:cNvGrpSpPr/>
          <p:nvPr/>
        </p:nvGrpSpPr>
        <p:grpSpPr>
          <a:xfrm>
            <a:off x="233366" y="2047582"/>
            <a:ext cx="2620215" cy="1717412"/>
            <a:chOff x="4446813" y="1496675"/>
            <a:chExt cx="1994834" cy="1307508"/>
          </a:xfrm>
        </p:grpSpPr>
        <p:sp>
          <p:nvSpPr>
            <p:cNvPr id="708" name="Google Shape;708;p84"/>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709" name="Google Shape;709;p84"/>
            <p:cNvSpPr/>
            <p:nvPr/>
          </p:nvSpPr>
          <p:spPr>
            <a:xfrm>
              <a:off x="5724092"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710" name="Google Shape;710;p84"/>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sp>
          <p:nvSpPr>
            <p:cNvPr id="711" name="Google Shape;711;p84"/>
            <p:cNvSpPr/>
            <p:nvPr/>
          </p:nvSpPr>
          <p:spPr>
            <a:xfrm>
              <a:off x="52276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a:t>
              </a:r>
              <a:endParaRPr sz="1000"/>
            </a:p>
          </p:txBody>
        </p:sp>
        <p:cxnSp>
          <p:nvCxnSpPr>
            <p:cNvPr id="712" name="Google Shape;712;p84"/>
            <p:cNvCxnSpPr>
              <a:stCxn id="711" idx="3"/>
              <a:endCxn id="708" idx="0"/>
            </p:cNvCxnSpPr>
            <p:nvPr/>
          </p:nvCxnSpPr>
          <p:spPr>
            <a:xfrm flipH="1">
              <a:off x="4960106" y="1782189"/>
              <a:ext cx="316500" cy="187800"/>
            </a:xfrm>
            <a:prstGeom prst="straightConnector1">
              <a:avLst/>
            </a:prstGeom>
            <a:noFill/>
            <a:ln w="9525" cap="flat" cmpd="sng">
              <a:solidFill>
                <a:schemeClr val="dk1"/>
              </a:solidFill>
              <a:prstDash val="solid"/>
              <a:round/>
              <a:headEnd type="none" w="med" len="med"/>
              <a:tailEnd type="triangle" w="med" len="med"/>
            </a:ln>
          </p:spPr>
        </p:cxnSp>
        <p:cxnSp>
          <p:nvCxnSpPr>
            <p:cNvPr id="713" name="Google Shape;713;p84"/>
            <p:cNvCxnSpPr>
              <a:stCxn id="711" idx="5"/>
              <a:endCxn id="709" idx="0"/>
            </p:cNvCxnSpPr>
            <p:nvPr/>
          </p:nvCxnSpPr>
          <p:spPr>
            <a:xfrm>
              <a:off x="5513133" y="1782189"/>
              <a:ext cx="378300" cy="187800"/>
            </a:xfrm>
            <a:prstGeom prst="straightConnector1">
              <a:avLst/>
            </a:prstGeom>
            <a:noFill/>
            <a:ln w="9525" cap="flat" cmpd="sng">
              <a:solidFill>
                <a:schemeClr val="dk1"/>
              </a:solidFill>
              <a:prstDash val="solid"/>
              <a:round/>
              <a:headEnd type="none" w="med" len="med"/>
              <a:tailEnd type="triangle" w="med" len="med"/>
            </a:ln>
          </p:spPr>
        </p:cxnSp>
        <p:sp>
          <p:nvSpPr>
            <p:cNvPr id="714" name="Google Shape;714;p84"/>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715" name="Google Shape;715;p84"/>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716" name="Google Shape;716;p84"/>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cxnSp>
          <p:nvCxnSpPr>
            <p:cNvPr id="717" name="Google Shape;717;p84"/>
            <p:cNvCxnSpPr>
              <a:stCxn id="708" idx="3"/>
              <a:endCxn id="710" idx="7"/>
            </p:cNvCxnSpPr>
            <p:nvPr/>
          </p:nvCxnSpPr>
          <p:spPr>
            <a:xfrm flipH="1">
              <a:off x="4732451" y="2255570"/>
              <a:ext cx="109500" cy="263100"/>
            </a:xfrm>
            <a:prstGeom prst="straightConnector1">
              <a:avLst/>
            </a:prstGeom>
            <a:noFill/>
            <a:ln w="9525" cap="flat" cmpd="sng">
              <a:solidFill>
                <a:schemeClr val="dk1"/>
              </a:solidFill>
              <a:prstDash val="solid"/>
              <a:round/>
              <a:headEnd type="none" w="med" len="med"/>
              <a:tailEnd type="triangle" w="med" len="med"/>
            </a:ln>
          </p:spPr>
        </p:cxnSp>
        <p:cxnSp>
          <p:nvCxnSpPr>
            <p:cNvPr id="718" name="Google Shape;718;p84"/>
            <p:cNvCxnSpPr>
              <a:stCxn id="708" idx="5"/>
              <a:endCxn id="714" idx="0"/>
            </p:cNvCxnSpPr>
            <p:nvPr/>
          </p:nvCxnSpPr>
          <p:spPr>
            <a:xfrm>
              <a:off x="5078479" y="2255570"/>
              <a:ext cx="185700" cy="214200"/>
            </a:xfrm>
            <a:prstGeom prst="straightConnector1">
              <a:avLst/>
            </a:prstGeom>
            <a:noFill/>
            <a:ln w="9525" cap="flat" cmpd="sng">
              <a:solidFill>
                <a:schemeClr val="dk1"/>
              </a:solidFill>
              <a:prstDash val="solid"/>
              <a:round/>
              <a:headEnd type="none" w="med" len="med"/>
              <a:tailEnd type="triangle" w="med" len="med"/>
            </a:ln>
          </p:spPr>
        </p:cxnSp>
        <p:cxnSp>
          <p:nvCxnSpPr>
            <p:cNvPr id="719" name="Google Shape;719;p84"/>
            <p:cNvCxnSpPr>
              <a:stCxn id="709" idx="3"/>
              <a:endCxn id="715" idx="0"/>
            </p:cNvCxnSpPr>
            <p:nvPr/>
          </p:nvCxnSpPr>
          <p:spPr>
            <a:xfrm flipH="1">
              <a:off x="5636879" y="2255570"/>
              <a:ext cx="136200" cy="214200"/>
            </a:xfrm>
            <a:prstGeom prst="straightConnector1">
              <a:avLst/>
            </a:prstGeom>
            <a:noFill/>
            <a:ln w="9525" cap="flat" cmpd="sng">
              <a:solidFill>
                <a:schemeClr val="dk1"/>
              </a:solidFill>
              <a:prstDash val="solid"/>
              <a:round/>
              <a:headEnd type="none" w="med" len="med"/>
              <a:tailEnd type="triangle" w="med" len="med"/>
            </a:ln>
          </p:spPr>
        </p:cxnSp>
        <p:cxnSp>
          <p:nvCxnSpPr>
            <p:cNvPr id="720" name="Google Shape;720;p84"/>
            <p:cNvCxnSpPr>
              <a:stCxn id="709" idx="5"/>
              <a:endCxn id="716" idx="1"/>
            </p:cNvCxnSpPr>
            <p:nvPr/>
          </p:nvCxnSpPr>
          <p:spPr>
            <a:xfrm>
              <a:off x="6009606" y="2255570"/>
              <a:ext cx="146400" cy="263100"/>
            </a:xfrm>
            <a:prstGeom prst="straightConnector1">
              <a:avLst/>
            </a:prstGeom>
            <a:noFill/>
            <a:ln w="9525" cap="flat" cmpd="sng">
              <a:solidFill>
                <a:schemeClr val="dk1"/>
              </a:solidFill>
              <a:prstDash val="solid"/>
              <a:round/>
              <a:headEnd type="none" w="med" len="med"/>
              <a:tailEnd type="triangle" w="med" len="med"/>
            </a:ln>
          </p:spPr>
        </p:cxnSp>
      </p:grpSp>
      <p:sp>
        <p:nvSpPr>
          <p:cNvPr id="721" name="Google Shape;721;p84"/>
          <p:cNvSpPr txBox="1"/>
          <p:nvPr/>
        </p:nvSpPr>
        <p:spPr>
          <a:xfrm>
            <a:off x="233425" y="3898575"/>
            <a:ext cx="26202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Make sure to search for values in both subtrees as well as values that are not present in the tree.</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85"/>
          <p:cNvSpPr txBox="1">
            <a:spLocks noGrp="1"/>
          </p:cNvSpPr>
          <p:nvPr>
            <p:ph type="title"/>
          </p:nvPr>
        </p:nvSpPr>
        <p:spPr>
          <a:xfrm>
            <a:off x="311725" y="348525"/>
            <a:ext cx="3706500" cy="6381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t>Search Complexity</a:t>
            </a:r>
            <a:endParaRPr/>
          </a:p>
        </p:txBody>
      </p:sp>
      <p:sp>
        <p:nvSpPr>
          <p:cNvPr id="727" name="Google Shape;727;p85"/>
          <p:cNvSpPr txBox="1">
            <a:spLocks noGrp="1"/>
          </p:cNvSpPr>
          <p:nvPr>
            <p:ph type="body" idx="1"/>
          </p:nvPr>
        </p:nvSpPr>
        <p:spPr>
          <a:xfrm>
            <a:off x="4445275" y="149850"/>
            <a:ext cx="4484100" cy="48717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What is the average complexity of searching a binary tree with N nodes?</a:t>
            </a:r>
            <a:endParaRPr sz="1500" dirty="0"/>
          </a:p>
          <a:p>
            <a:pPr marL="914400" lvl="1" indent="-311150" algn="l" rtl="0">
              <a:spcBef>
                <a:spcPts val="0"/>
              </a:spcBef>
              <a:spcAft>
                <a:spcPts val="0"/>
              </a:spcAft>
              <a:buSzPts val="1300"/>
              <a:buChar char="○"/>
            </a:pPr>
            <a:r>
              <a:rPr lang="en" sz="1300" dirty="0"/>
              <a:t>Because there is no predictable order to the values in the tree, </a:t>
            </a:r>
            <a:r>
              <a:rPr lang="en" sz="1300" i="1" dirty="0"/>
              <a:t>both</a:t>
            </a:r>
            <a:r>
              <a:rPr lang="en" sz="1300" dirty="0"/>
              <a:t> subtrees need to be searched.</a:t>
            </a:r>
            <a:endParaRPr sz="1300" dirty="0"/>
          </a:p>
          <a:p>
            <a:pPr marL="914400" lvl="1" indent="-311150" algn="l" rtl="0">
              <a:spcBef>
                <a:spcPts val="0"/>
              </a:spcBef>
              <a:spcAft>
                <a:spcPts val="0"/>
              </a:spcAft>
              <a:buSzPts val="1300"/>
              <a:buChar char="○"/>
            </a:pPr>
            <a:r>
              <a:rPr lang="en" sz="1300" dirty="0"/>
              <a:t>On average, about </a:t>
            </a:r>
            <a:r>
              <a:rPr lang="en" sz="1300" b="1" i="1" dirty="0">
                <a:solidFill>
                  <a:srgbClr val="FF0000"/>
                </a:solidFill>
              </a:rPr>
              <a:t>half</a:t>
            </a:r>
            <a:r>
              <a:rPr lang="en" sz="1300" dirty="0">
                <a:solidFill>
                  <a:srgbClr val="FF0000"/>
                </a:solidFill>
              </a:rPr>
              <a:t> </a:t>
            </a:r>
            <a:r>
              <a:rPr lang="en" sz="1300" dirty="0"/>
              <a:t>of the nodes will need to be searched, </a:t>
            </a:r>
            <a:r>
              <a:rPr lang="en" sz="1300" dirty="0">
                <a:highlight>
                  <a:srgbClr val="FFFF00"/>
                </a:highlight>
              </a:rPr>
              <a:t>so O(½N) or just O(N).</a:t>
            </a:r>
            <a:endParaRPr sz="1300" dirty="0">
              <a:highlight>
                <a:srgbClr val="FFFF00"/>
              </a:highlight>
            </a:endParaRPr>
          </a:p>
          <a:p>
            <a:pPr marL="457200" lvl="0" indent="-323850" algn="l" rtl="0">
              <a:spcBef>
                <a:spcPts val="1000"/>
              </a:spcBef>
              <a:spcAft>
                <a:spcPts val="0"/>
              </a:spcAft>
              <a:buSzPts val="1500"/>
              <a:buChar char="●"/>
            </a:pPr>
            <a:r>
              <a:rPr lang="en" sz="1500" dirty="0"/>
              <a:t>This is no better than a </a:t>
            </a:r>
            <a:r>
              <a:rPr lang="en" sz="1500" b="1" i="1" dirty="0">
                <a:solidFill>
                  <a:srgbClr val="FF0000"/>
                </a:solidFill>
              </a:rPr>
              <a:t>linear search</a:t>
            </a:r>
            <a:r>
              <a:rPr lang="en" sz="1500" dirty="0"/>
              <a:t>! Is there a way that we can improve the efficiency of searching a binary tree?</a:t>
            </a:r>
            <a:endParaRPr sz="1500" dirty="0"/>
          </a:p>
          <a:p>
            <a:pPr marL="457200" lvl="0" indent="-323850" algn="l" rtl="0">
              <a:spcBef>
                <a:spcPts val="1000"/>
              </a:spcBef>
              <a:spcAft>
                <a:spcPts val="0"/>
              </a:spcAft>
              <a:buSzPts val="1500"/>
              <a:buChar char="●"/>
            </a:pPr>
            <a:r>
              <a:rPr lang="en" sz="1500" dirty="0"/>
              <a:t>A </a:t>
            </a:r>
            <a:r>
              <a:rPr lang="en" sz="1500" b="1" i="1" dirty="0">
                <a:solidFill>
                  <a:srgbClr val="FF0000"/>
                </a:solidFill>
              </a:rPr>
              <a:t>binary search</a:t>
            </a:r>
            <a:r>
              <a:rPr lang="en" sz="1500" dirty="0"/>
              <a:t> runs in </a:t>
            </a:r>
            <a:r>
              <a:rPr lang="en" sz="1500" b="1" i="1" dirty="0">
                <a:solidFill>
                  <a:srgbClr val="FF0000"/>
                </a:solidFill>
              </a:rPr>
              <a:t>logarithmic</a:t>
            </a:r>
            <a:r>
              <a:rPr lang="en" sz="1500" b="1" i="1" dirty="0">
                <a:solidFill>
                  <a:srgbClr val="E06666"/>
                </a:solidFill>
              </a:rPr>
              <a:t> </a:t>
            </a:r>
            <a:r>
              <a:rPr lang="en" sz="1500" b="1" i="1" dirty="0">
                <a:solidFill>
                  <a:srgbClr val="FF0000"/>
                </a:solidFill>
              </a:rPr>
              <a:t>time</a:t>
            </a:r>
            <a:r>
              <a:rPr lang="en" sz="1500" dirty="0"/>
              <a:t> O(log</a:t>
            </a:r>
            <a:r>
              <a:rPr lang="en" sz="1500" baseline="-25000" dirty="0"/>
              <a:t>2</a:t>
            </a:r>
            <a:r>
              <a:rPr lang="en" sz="1500" dirty="0"/>
              <a:t>N) because it eliminates </a:t>
            </a:r>
            <a:r>
              <a:rPr lang="en" sz="1500" b="1" i="1" dirty="0">
                <a:solidFill>
                  <a:srgbClr val="FF0000"/>
                </a:solidFill>
              </a:rPr>
              <a:t>half</a:t>
            </a:r>
            <a:r>
              <a:rPr lang="en" sz="1500" dirty="0"/>
              <a:t> of the values with each iteration; it chooses to search only the left half or the right half of an array.</a:t>
            </a:r>
            <a:endParaRPr sz="1500" dirty="0"/>
          </a:p>
          <a:p>
            <a:pPr marL="457200" lvl="0" indent="-323850" algn="l" rtl="0">
              <a:spcBef>
                <a:spcPts val="1000"/>
              </a:spcBef>
              <a:spcAft>
                <a:spcPts val="0"/>
              </a:spcAft>
              <a:buSzPts val="1500"/>
              <a:buChar char="●"/>
            </a:pPr>
            <a:r>
              <a:rPr lang="en" sz="1500" dirty="0">
                <a:highlight>
                  <a:srgbClr val="FFFF00"/>
                </a:highlight>
              </a:rPr>
              <a:t>Is there a way to arrange values in a binary tree to accomplish the same thing?</a:t>
            </a:r>
            <a:endParaRPr sz="1500" dirty="0">
              <a:highlight>
                <a:srgbClr val="FFFF00"/>
              </a:highlight>
            </a:endParaRPr>
          </a:p>
        </p:txBody>
      </p:sp>
      <p:grpSp>
        <p:nvGrpSpPr>
          <p:cNvPr id="728" name="Google Shape;728;p85"/>
          <p:cNvGrpSpPr/>
          <p:nvPr/>
        </p:nvGrpSpPr>
        <p:grpSpPr>
          <a:xfrm>
            <a:off x="921802" y="1772900"/>
            <a:ext cx="2486344" cy="1629678"/>
            <a:chOff x="2404821" y="1622025"/>
            <a:chExt cx="2946254" cy="1931127"/>
          </a:xfrm>
        </p:grpSpPr>
        <p:sp>
          <p:nvSpPr>
            <p:cNvPr id="729" name="Google Shape;729;p85"/>
            <p:cNvSpPr/>
            <p:nvPr/>
          </p:nvSpPr>
          <p:spPr>
            <a:xfrm>
              <a:off x="2916055" y="2321158"/>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730" name="Google Shape;730;p85"/>
            <p:cNvSpPr/>
            <p:nvPr/>
          </p:nvSpPr>
          <p:spPr>
            <a:xfrm>
              <a:off x="4291241" y="2321158"/>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Q</a:t>
              </a:r>
              <a:endParaRPr/>
            </a:p>
          </p:txBody>
        </p:sp>
        <p:sp>
          <p:nvSpPr>
            <p:cNvPr id="731" name="Google Shape;731;p85"/>
            <p:cNvSpPr/>
            <p:nvPr/>
          </p:nvSpPr>
          <p:spPr>
            <a:xfrm>
              <a:off x="2404821"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a:t>
              </a:r>
              <a:endParaRPr/>
            </a:p>
          </p:txBody>
        </p:sp>
        <p:sp>
          <p:nvSpPr>
            <p:cNvPr id="732" name="Google Shape;732;p85"/>
            <p:cNvSpPr/>
            <p:nvPr/>
          </p:nvSpPr>
          <p:spPr>
            <a:xfrm>
              <a:off x="3557998" y="1622025"/>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cxnSp>
          <p:nvCxnSpPr>
            <p:cNvPr id="733" name="Google Shape;733;p85"/>
            <p:cNvCxnSpPr>
              <a:stCxn id="732" idx="3"/>
              <a:endCxn id="729" idx="0"/>
            </p:cNvCxnSpPr>
            <p:nvPr/>
          </p:nvCxnSpPr>
          <p:spPr>
            <a:xfrm flipH="1">
              <a:off x="3162957" y="2043766"/>
              <a:ext cx="467400" cy="277500"/>
            </a:xfrm>
            <a:prstGeom prst="straightConnector1">
              <a:avLst/>
            </a:prstGeom>
            <a:noFill/>
            <a:ln w="9525" cap="flat" cmpd="sng">
              <a:solidFill>
                <a:srgbClr val="FFFFFF"/>
              </a:solidFill>
              <a:prstDash val="solid"/>
              <a:round/>
              <a:headEnd type="none" w="med" len="med"/>
              <a:tailEnd type="triangle" w="med" len="med"/>
            </a:ln>
          </p:spPr>
        </p:cxnSp>
        <p:cxnSp>
          <p:nvCxnSpPr>
            <p:cNvPr id="734" name="Google Shape;734;p85"/>
            <p:cNvCxnSpPr>
              <a:stCxn id="732" idx="5"/>
              <a:endCxn id="730" idx="0"/>
            </p:cNvCxnSpPr>
            <p:nvPr/>
          </p:nvCxnSpPr>
          <p:spPr>
            <a:xfrm>
              <a:off x="3979739" y="2043766"/>
              <a:ext cx="558600" cy="277500"/>
            </a:xfrm>
            <a:prstGeom prst="straightConnector1">
              <a:avLst/>
            </a:prstGeom>
            <a:noFill/>
            <a:ln w="9525" cap="flat" cmpd="sng">
              <a:solidFill>
                <a:srgbClr val="FFFFFF"/>
              </a:solidFill>
              <a:prstDash val="solid"/>
              <a:round/>
              <a:headEnd type="none" w="med" len="med"/>
              <a:tailEnd type="triangle" w="med" len="med"/>
            </a:ln>
          </p:spPr>
        </p:cxnSp>
        <p:sp>
          <p:nvSpPr>
            <p:cNvPr id="735" name="Google Shape;735;p85"/>
            <p:cNvSpPr/>
            <p:nvPr/>
          </p:nvSpPr>
          <p:spPr>
            <a:xfrm>
              <a:off x="3364760"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a:t>
              </a:r>
              <a:endParaRPr/>
            </a:p>
          </p:txBody>
        </p:sp>
        <p:sp>
          <p:nvSpPr>
            <p:cNvPr id="736" name="Google Shape;736;p85"/>
            <p:cNvSpPr/>
            <p:nvPr/>
          </p:nvSpPr>
          <p:spPr>
            <a:xfrm>
              <a:off x="3915337"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Q</a:t>
              </a:r>
              <a:endParaRPr/>
            </a:p>
          </p:txBody>
        </p:sp>
        <p:sp>
          <p:nvSpPr>
            <p:cNvPr id="737" name="Google Shape;737;p85"/>
            <p:cNvSpPr/>
            <p:nvPr/>
          </p:nvSpPr>
          <p:spPr>
            <a:xfrm>
              <a:off x="4856976" y="3059052"/>
              <a:ext cx="494100" cy="4941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cxnSp>
          <p:nvCxnSpPr>
            <p:cNvPr id="738" name="Google Shape;738;p85"/>
            <p:cNvCxnSpPr>
              <a:stCxn id="729" idx="3"/>
              <a:endCxn id="731" idx="7"/>
            </p:cNvCxnSpPr>
            <p:nvPr/>
          </p:nvCxnSpPr>
          <p:spPr>
            <a:xfrm flipH="1">
              <a:off x="2826415" y="2742899"/>
              <a:ext cx="162000" cy="388500"/>
            </a:xfrm>
            <a:prstGeom prst="straightConnector1">
              <a:avLst/>
            </a:prstGeom>
            <a:noFill/>
            <a:ln w="9525" cap="flat" cmpd="sng">
              <a:solidFill>
                <a:srgbClr val="FFFFFF"/>
              </a:solidFill>
              <a:prstDash val="solid"/>
              <a:round/>
              <a:headEnd type="none" w="med" len="med"/>
              <a:tailEnd type="triangle" w="med" len="med"/>
            </a:ln>
          </p:spPr>
        </p:cxnSp>
        <p:cxnSp>
          <p:nvCxnSpPr>
            <p:cNvPr id="739" name="Google Shape;739;p85"/>
            <p:cNvCxnSpPr>
              <a:stCxn id="729" idx="5"/>
              <a:endCxn id="735" idx="0"/>
            </p:cNvCxnSpPr>
            <p:nvPr/>
          </p:nvCxnSpPr>
          <p:spPr>
            <a:xfrm>
              <a:off x="3337796" y="2742899"/>
              <a:ext cx="273900" cy="316200"/>
            </a:xfrm>
            <a:prstGeom prst="straightConnector1">
              <a:avLst/>
            </a:prstGeom>
            <a:noFill/>
            <a:ln w="9525" cap="flat" cmpd="sng">
              <a:solidFill>
                <a:srgbClr val="FFFFFF"/>
              </a:solidFill>
              <a:prstDash val="solid"/>
              <a:round/>
              <a:headEnd type="none" w="med" len="med"/>
              <a:tailEnd type="triangle" w="med" len="med"/>
            </a:ln>
          </p:spPr>
        </p:cxnSp>
        <p:cxnSp>
          <p:nvCxnSpPr>
            <p:cNvPr id="740" name="Google Shape;740;p85"/>
            <p:cNvCxnSpPr>
              <a:stCxn id="730" idx="3"/>
              <a:endCxn id="736" idx="0"/>
            </p:cNvCxnSpPr>
            <p:nvPr/>
          </p:nvCxnSpPr>
          <p:spPr>
            <a:xfrm flipH="1">
              <a:off x="4162300" y="2742899"/>
              <a:ext cx="201300" cy="316200"/>
            </a:xfrm>
            <a:prstGeom prst="straightConnector1">
              <a:avLst/>
            </a:prstGeom>
            <a:noFill/>
            <a:ln w="9525" cap="flat" cmpd="sng">
              <a:solidFill>
                <a:srgbClr val="FFFFFF"/>
              </a:solidFill>
              <a:prstDash val="solid"/>
              <a:round/>
              <a:headEnd type="none" w="med" len="med"/>
              <a:tailEnd type="triangle" w="med" len="med"/>
            </a:ln>
          </p:spPr>
        </p:cxnSp>
        <p:cxnSp>
          <p:nvCxnSpPr>
            <p:cNvPr id="741" name="Google Shape;741;p85"/>
            <p:cNvCxnSpPr>
              <a:stCxn id="730" idx="5"/>
              <a:endCxn id="737" idx="1"/>
            </p:cNvCxnSpPr>
            <p:nvPr/>
          </p:nvCxnSpPr>
          <p:spPr>
            <a:xfrm>
              <a:off x="4712982" y="2742899"/>
              <a:ext cx="216300" cy="388500"/>
            </a:xfrm>
            <a:prstGeom prst="straightConnector1">
              <a:avLst/>
            </a:prstGeom>
            <a:noFill/>
            <a:ln w="9525" cap="flat" cmpd="sng">
              <a:solidFill>
                <a:srgbClr val="FFFFFF"/>
              </a:solidFill>
              <a:prstDash val="solid"/>
              <a:round/>
              <a:headEnd type="none" w="med" len="med"/>
              <a:tailEnd type="triangle" w="med" len="med"/>
            </a:ln>
          </p:spPr>
        </p:cxnSp>
      </p:grpSp>
      <p:sp>
        <p:nvSpPr>
          <p:cNvPr id="742" name="Google Shape;742;p85"/>
          <p:cNvSpPr txBox="1"/>
          <p:nvPr/>
        </p:nvSpPr>
        <p:spPr>
          <a:xfrm>
            <a:off x="311725" y="1023275"/>
            <a:ext cx="3706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A binary tree is </a:t>
            </a:r>
            <a:r>
              <a:rPr lang="en" b="1" i="1">
                <a:solidFill>
                  <a:srgbClr val="FF0000"/>
                </a:solidFill>
              </a:rPr>
              <a:t>any </a:t>
            </a:r>
            <a:r>
              <a:rPr lang="en"/>
              <a:t>tree with the structure described previously.</a:t>
            </a:r>
            <a:endParaRPr/>
          </a:p>
        </p:txBody>
      </p:sp>
      <p:sp>
        <p:nvSpPr>
          <p:cNvPr id="743" name="Google Shape;743;p85"/>
          <p:cNvSpPr txBox="1"/>
          <p:nvPr/>
        </p:nvSpPr>
        <p:spPr>
          <a:xfrm>
            <a:off x="311725" y="3566925"/>
            <a:ext cx="3706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Each node has two children: a left subtree and a right subtree.</a:t>
            </a:r>
            <a:endParaRPr/>
          </a:p>
        </p:txBody>
      </p:sp>
      <p:sp>
        <p:nvSpPr>
          <p:cNvPr id="744" name="Google Shape;744;p85"/>
          <p:cNvSpPr txBox="1"/>
          <p:nvPr/>
        </p:nvSpPr>
        <p:spPr>
          <a:xfrm>
            <a:off x="311725" y="4280225"/>
            <a:ext cx="3706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There is no relationship between the data in the nodes.</a:t>
            </a:r>
            <a:endParaRPr/>
          </a:p>
        </p:txBody>
      </p:sp>
      <p:sp>
        <p:nvSpPr>
          <p:cNvPr id="745" name="Google Shape;745;p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2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2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42"/>
                                        </p:tgtEl>
                                        <p:attrNameLst>
                                          <p:attrName>style.visibility</p:attrName>
                                        </p:attrNameLst>
                                      </p:cBhvr>
                                      <p:to>
                                        <p:strVal val="visible"/>
                                      </p:to>
                                    </p:set>
                                    <p:animEffect transition="in" filter="fade">
                                      <p:cBhvr>
                                        <p:cTn id="31" dur="1000"/>
                                        <p:tgtEl>
                                          <p:spTgt spid="742"/>
                                        </p:tgtEl>
                                      </p:cBhvr>
                                    </p:animEffect>
                                  </p:childTnLst>
                                </p:cTn>
                              </p:par>
                              <p:par>
                                <p:cTn id="32" presetID="10" presetClass="entr" presetSubtype="0" fill="hold" nodeType="withEffect">
                                  <p:stCondLst>
                                    <p:cond delay="0"/>
                                  </p:stCondLst>
                                  <p:childTnLst>
                                    <p:set>
                                      <p:cBhvr>
                                        <p:cTn id="33" dur="1" fill="hold">
                                          <p:stCondLst>
                                            <p:cond delay="0"/>
                                          </p:stCondLst>
                                        </p:cTn>
                                        <p:tgtEl>
                                          <p:spTgt spid="728"/>
                                        </p:tgtEl>
                                        <p:attrNameLst>
                                          <p:attrName>style.visibility</p:attrName>
                                        </p:attrNameLst>
                                      </p:cBhvr>
                                      <p:to>
                                        <p:strVal val="visible"/>
                                      </p:to>
                                    </p:set>
                                    <p:animEffect transition="in" filter="fade">
                                      <p:cBhvr>
                                        <p:cTn id="34" dur="1000"/>
                                        <p:tgtEl>
                                          <p:spTgt spid="7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43"/>
                                        </p:tgtEl>
                                        <p:attrNameLst>
                                          <p:attrName>style.visibility</p:attrName>
                                        </p:attrNameLst>
                                      </p:cBhvr>
                                      <p:to>
                                        <p:strVal val="visible"/>
                                      </p:to>
                                    </p:set>
                                    <p:animEffect transition="in" filter="fade">
                                      <p:cBhvr>
                                        <p:cTn id="39" dur="1000"/>
                                        <p:tgtEl>
                                          <p:spTgt spid="74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744"/>
                                        </p:tgtEl>
                                        <p:attrNameLst>
                                          <p:attrName>style.visibility</p:attrName>
                                        </p:attrNameLst>
                                      </p:cBhvr>
                                      <p:to>
                                        <p:strVal val="visible"/>
                                      </p:to>
                                    </p:set>
                                    <p:animEffect transition="in" filter="fade">
                                      <p:cBhvr>
                                        <p:cTn id="44" dur="1000"/>
                                        <p:tgtEl>
                                          <p:spTgt spid="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86"/>
          <p:cNvSpPr txBox="1">
            <a:spLocks noGrp="1"/>
          </p:cNvSpPr>
          <p:nvPr>
            <p:ph type="title"/>
          </p:nvPr>
        </p:nvSpPr>
        <p:spPr>
          <a:xfrm>
            <a:off x="5112325" y="27025"/>
            <a:ext cx="3706500" cy="10359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t>Binary Search Trees (BSTs)</a:t>
            </a:r>
            <a:endParaRPr/>
          </a:p>
        </p:txBody>
      </p:sp>
      <p:sp>
        <p:nvSpPr>
          <p:cNvPr id="751" name="Google Shape;751;p86"/>
          <p:cNvSpPr txBox="1">
            <a:spLocks noGrp="1"/>
          </p:cNvSpPr>
          <p:nvPr>
            <p:ph type="body" idx="1"/>
          </p:nvPr>
        </p:nvSpPr>
        <p:spPr>
          <a:xfrm>
            <a:off x="377475" y="183050"/>
            <a:ext cx="4166400" cy="4781100"/>
          </a:xfrm>
          <a:prstGeom prst="rect">
            <a:avLst/>
          </a:prstGeom>
        </p:spPr>
        <p:txBody>
          <a:bodyPr spcFirstLastPara="1" wrap="square" lIns="91425" tIns="91425" rIns="91425" bIns="91425" anchor="ctr" anchorCtr="0">
            <a:spAutoFit/>
          </a:bodyPr>
          <a:lstStyle/>
          <a:p>
            <a:pPr marL="457200" lvl="0" indent="-323850" algn="l" rtl="0">
              <a:spcBef>
                <a:spcPts val="0"/>
              </a:spcBef>
              <a:spcAft>
                <a:spcPts val="0"/>
              </a:spcAft>
              <a:buSzPts val="1500"/>
              <a:buChar char="●"/>
            </a:pPr>
            <a:r>
              <a:rPr lang="en" sz="1500" dirty="0"/>
              <a:t>Assuming that the values in a binary tree can be arranged into some natural order, we can build the tree so that it is more efficiently searchable.</a:t>
            </a:r>
            <a:endParaRPr sz="1500" dirty="0"/>
          </a:p>
          <a:p>
            <a:pPr marL="457200" lvl="0" indent="-323850" algn="l" rtl="0">
              <a:spcBef>
                <a:spcPts val="1000"/>
              </a:spcBef>
              <a:spcAft>
                <a:spcPts val="0"/>
              </a:spcAft>
              <a:buSzPts val="1500"/>
              <a:buChar char="●"/>
            </a:pPr>
            <a:r>
              <a:rPr lang="en" sz="1500" dirty="0"/>
              <a:t>Each time a new value is added to the tree:</a:t>
            </a:r>
            <a:endParaRPr sz="1500" dirty="0"/>
          </a:p>
          <a:p>
            <a:pPr marL="914400" lvl="1" indent="-317500" algn="l" rtl="0">
              <a:spcBef>
                <a:spcPts val="0"/>
              </a:spcBef>
              <a:spcAft>
                <a:spcPts val="0"/>
              </a:spcAft>
              <a:buSzPts val="1400"/>
              <a:buChar char="○"/>
            </a:pPr>
            <a:r>
              <a:rPr lang="en" sz="1400" dirty="0"/>
              <a:t>If the new value comes </a:t>
            </a:r>
            <a:r>
              <a:rPr lang="en" sz="1400" b="1" i="1" dirty="0">
                <a:solidFill>
                  <a:srgbClr val="FF0000"/>
                </a:solidFill>
              </a:rPr>
              <a:t>before </a:t>
            </a:r>
            <a:r>
              <a:rPr lang="en" sz="1400" dirty="0"/>
              <a:t>the root’s value in natural order, then it is added to the</a:t>
            </a:r>
            <a:r>
              <a:rPr lang="en" sz="1400" dirty="0">
                <a:solidFill>
                  <a:srgbClr val="E06666"/>
                </a:solidFill>
              </a:rPr>
              <a:t> </a:t>
            </a:r>
            <a:r>
              <a:rPr lang="en" sz="1400" b="1" i="1" dirty="0">
                <a:solidFill>
                  <a:srgbClr val="FF0000"/>
                </a:solidFill>
              </a:rPr>
              <a:t>left subtree</a:t>
            </a:r>
            <a:r>
              <a:rPr lang="en" sz="1400" dirty="0"/>
              <a:t>.</a:t>
            </a:r>
            <a:endParaRPr sz="1400" dirty="0"/>
          </a:p>
          <a:p>
            <a:pPr marL="914400" lvl="1" indent="-317500" algn="l" rtl="0">
              <a:spcBef>
                <a:spcPts val="0"/>
              </a:spcBef>
              <a:spcAft>
                <a:spcPts val="0"/>
              </a:spcAft>
              <a:buSzPts val="1400"/>
              <a:buChar char="○"/>
            </a:pPr>
            <a:r>
              <a:rPr lang="en" sz="1400" dirty="0"/>
              <a:t>If the new value comes </a:t>
            </a:r>
            <a:r>
              <a:rPr lang="en" sz="1400" b="1" i="1" dirty="0">
                <a:solidFill>
                  <a:srgbClr val="FF0000"/>
                </a:solidFill>
              </a:rPr>
              <a:t>after</a:t>
            </a:r>
            <a:r>
              <a:rPr lang="en" sz="1400" dirty="0">
                <a:solidFill>
                  <a:srgbClr val="FF0000"/>
                </a:solidFill>
              </a:rPr>
              <a:t> </a:t>
            </a:r>
            <a:r>
              <a:rPr lang="en" sz="1400" dirty="0"/>
              <a:t>the root’s value in natural order, then it is added to the </a:t>
            </a:r>
            <a:r>
              <a:rPr lang="en" sz="1400" b="1" i="1" dirty="0">
                <a:solidFill>
                  <a:srgbClr val="FF0000"/>
                </a:solidFill>
              </a:rPr>
              <a:t>right subtree</a:t>
            </a:r>
            <a:r>
              <a:rPr lang="en" sz="1400" dirty="0"/>
              <a:t>.</a:t>
            </a:r>
            <a:endParaRPr sz="1400" dirty="0"/>
          </a:p>
          <a:p>
            <a:pPr marL="457200" lvl="0" indent="-323850" algn="l" rtl="0">
              <a:spcBef>
                <a:spcPts val="1000"/>
              </a:spcBef>
              <a:spcAft>
                <a:spcPts val="0"/>
              </a:spcAft>
              <a:buSzPts val="1500"/>
              <a:buChar char="●"/>
            </a:pPr>
            <a:r>
              <a:rPr lang="en" sz="1500" dirty="0"/>
              <a:t>The process continues recursively through each node in the tree until an </a:t>
            </a:r>
            <a:r>
              <a:rPr lang="en" sz="1500" b="1" i="1" dirty="0">
                <a:solidFill>
                  <a:srgbClr val="FF0000"/>
                </a:solidFill>
                <a:highlight>
                  <a:srgbClr val="FFFF00"/>
                </a:highlight>
              </a:rPr>
              <a:t>empty subtree</a:t>
            </a:r>
            <a:r>
              <a:rPr lang="en" sz="1500" dirty="0">
                <a:highlight>
                  <a:srgbClr val="FFFF00"/>
                </a:highlight>
              </a:rPr>
              <a:t> </a:t>
            </a:r>
            <a:r>
              <a:rPr lang="en" sz="1500" dirty="0"/>
              <a:t>is found.</a:t>
            </a:r>
            <a:endParaRPr sz="1500" dirty="0"/>
          </a:p>
          <a:p>
            <a:pPr marL="914400" lvl="1" indent="-317500" algn="l" rtl="0">
              <a:spcBef>
                <a:spcPts val="0"/>
              </a:spcBef>
              <a:spcAft>
                <a:spcPts val="0"/>
              </a:spcAft>
              <a:buSzPts val="1400"/>
              <a:buChar char="○"/>
            </a:pPr>
            <a:r>
              <a:rPr lang="en" sz="1400" dirty="0"/>
              <a:t>The new value is added in place of the empty subtree.</a:t>
            </a:r>
            <a:endParaRPr sz="1400" dirty="0"/>
          </a:p>
        </p:txBody>
      </p:sp>
      <p:grpSp>
        <p:nvGrpSpPr>
          <p:cNvPr id="752" name="Google Shape;752;p86"/>
          <p:cNvGrpSpPr/>
          <p:nvPr/>
        </p:nvGrpSpPr>
        <p:grpSpPr>
          <a:xfrm>
            <a:off x="5605938" y="1808947"/>
            <a:ext cx="2686526" cy="1789744"/>
            <a:chOff x="6282927" y="1164991"/>
            <a:chExt cx="2486373" cy="1629707"/>
          </a:xfrm>
        </p:grpSpPr>
        <p:sp>
          <p:nvSpPr>
            <p:cNvPr id="753" name="Google Shape;753;p86"/>
            <p:cNvSpPr/>
            <p:nvPr/>
          </p:nvSpPr>
          <p:spPr>
            <a:xfrm>
              <a:off x="7256092" y="1164991"/>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a:t>
              </a:r>
              <a:endParaRPr/>
            </a:p>
          </p:txBody>
        </p:sp>
        <p:grpSp>
          <p:nvGrpSpPr>
            <p:cNvPr id="754" name="Google Shape;754;p86"/>
            <p:cNvGrpSpPr/>
            <p:nvPr/>
          </p:nvGrpSpPr>
          <p:grpSpPr>
            <a:xfrm>
              <a:off x="6714357" y="1520923"/>
              <a:ext cx="602804" cy="651067"/>
              <a:chOff x="6714357" y="1673323"/>
              <a:chExt cx="602804" cy="651067"/>
            </a:xfrm>
          </p:grpSpPr>
          <p:sp>
            <p:nvSpPr>
              <p:cNvPr id="755" name="Google Shape;755;p86"/>
              <p:cNvSpPr/>
              <p:nvPr/>
            </p:nvSpPr>
            <p:spPr>
              <a:xfrm>
                <a:off x="6714357" y="1907390"/>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cxnSp>
            <p:nvCxnSpPr>
              <p:cNvPr id="756" name="Google Shape;756;p86"/>
              <p:cNvCxnSpPr>
                <a:stCxn id="753" idx="3"/>
                <a:endCxn id="755" idx="0"/>
              </p:cNvCxnSpPr>
              <p:nvPr/>
            </p:nvCxnSpPr>
            <p:spPr>
              <a:xfrm flipH="1">
                <a:off x="6922961" y="1673323"/>
                <a:ext cx="394200" cy="234000"/>
              </a:xfrm>
              <a:prstGeom prst="straightConnector1">
                <a:avLst/>
              </a:prstGeom>
              <a:noFill/>
              <a:ln w="9525" cap="flat" cmpd="sng">
                <a:solidFill>
                  <a:srgbClr val="FFFFFF"/>
                </a:solidFill>
                <a:prstDash val="solid"/>
                <a:round/>
                <a:headEnd type="none" w="med" len="med"/>
                <a:tailEnd type="triangle" w="med" len="med"/>
              </a:ln>
            </p:spPr>
          </p:cxnSp>
        </p:grpSp>
        <p:grpSp>
          <p:nvGrpSpPr>
            <p:cNvPr id="757" name="Google Shape;757;p86"/>
            <p:cNvGrpSpPr/>
            <p:nvPr/>
          </p:nvGrpSpPr>
          <p:grpSpPr>
            <a:xfrm>
              <a:off x="7612024" y="1520923"/>
              <a:ext cx="679852" cy="651067"/>
              <a:chOff x="7612024" y="1673323"/>
              <a:chExt cx="679852" cy="651067"/>
            </a:xfrm>
          </p:grpSpPr>
          <p:sp>
            <p:nvSpPr>
              <p:cNvPr id="758" name="Google Shape;758;p86"/>
              <p:cNvSpPr/>
              <p:nvPr/>
            </p:nvSpPr>
            <p:spPr>
              <a:xfrm>
                <a:off x="7874876" y="1907390"/>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a:t>
                </a:r>
                <a:endParaRPr/>
              </a:p>
            </p:txBody>
          </p:sp>
          <p:cxnSp>
            <p:nvCxnSpPr>
              <p:cNvPr id="759" name="Google Shape;759;p86"/>
              <p:cNvCxnSpPr>
                <a:stCxn id="753" idx="5"/>
                <a:endCxn id="758" idx="0"/>
              </p:cNvCxnSpPr>
              <p:nvPr/>
            </p:nvCxnSpPr>
            <p:spPr>
              <a:xfrm>
                <a:off x="7612024" y="1673323"/>
                <a:ext cx="471300" cy="234000"/>
              </a:xfrm>
              <a:prstGeom prst="straightConnector1">
                <a:avLst/>
              </a:prstGeom>
              <a:noFill/>
              <a:ln w="9525" cap="flat" cmpd="sng">
                <a:solidFill>
                  <a:srgbClr val="FFFFFF"/>
                </a:solidFill>
                <a:prstDash val="solid"/>
                <a:round/>
                <a:headEnd type="none" w="med" len="med"/>
                <a:tailEnd type="triangle" w="med" len="med"/>
              </a:ln>
            </p:spPr>
          </p:cxnSp>
        </p:grpSp>
        <p:grpSp>
          <p:nvGrpSpPr>
            <p:cNvPr id="760" name="Google Shape;760;p86"/>
            <p:cNvGrpSpPr/>
            <p:nvPr/>
          </p:nvGrpSpPr>
          <p:grpSpPr>
            <a:xfrm>
              <a:off x="6282927" y="2110922"/>
              <a:ext cx="492499" cy="683777"/>
              <a:chOff x="6282927" y="2263322"/>
              <a:chExt cx="492499" cy="683777"/>
            </a:xfrm>
          </p:grpSpPr>
          <p:sp>
            <p:nvSpPr>
              <p:cNvPr id="761" name="Google Shape;761;p86"/>
              <p:cNvSpPr/>
              <p:nvPr/>
            </p:nvSpPr>
            <p:spPr>
              <a:xfrm>
                <a:off x="6282927"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cxnSp>
            <p:nvCxnSpPr>
              <p:cNvPr id="762" name="Google Shape;762;p86"/>
              <p:cNvCxnSpPr>
                <a:stCxn id="755" idx="3"/>
                <a:endCxn id="761" idx="7"/>
              </p:cNvCxnSpPr>
              <p:nvPr/>
            </p:nvCxnSpPr>
            <p:spPr>
              <a:xfrm flipH="1">
                <a:off x="6638925" y="2263322"/>
                <a:ext cx="136500" cy="327900"/>
              </a:xfrm>
              <a:prstGeom prst="straightConnector1">
                <a:avLst/>
              </a:prstGeom>
              <a:noFill/>
              <a:ln w="9525" cap="flat" cmpd="sng">
                <a:solidFill>
                  <a:srgbClr val="FFFFFF"/>
                </a:solidFill>
                <a:prstDash val="solid"/>
                <a:round/>
                <a:headEnd type="none" w="med" len="med"/>
                <a:tailEnd type="triangle" w="med" len="med"/>
              </a:ln>
            </p:spPr>
          </p:cxnSp>
        </p:grpSp>
        <p:grpSp>
          <p:nvGrpSpPr>
            <p:cNvPr id="763" name="Google Shape;763;p86"/>
            <p:cNvGrpSpPr/>
            <p:nvPr/>
          </p:nvGrpSpPr>
          <p:grpSpPr>
            <a:xfrm>
              <a:off x="7070289" y="2110922"/>
              <a:ext cx="439730" cy="683777"/>
              <a:chOff x="7070289" y="2263322"/>
              <a:chExt cx="439730" cy="683777"/>
            </a:xfrm>
          </p:grpSpPr>
          <p:sp>
            <p:nvSpPr>
              <p:cNvPr id="764" name="Google Shape;764;p86"/>
              <p:cNvSpPr/>
              <p:nvPr/>
            </p:nvSpPr>
            <p:spPr>
              <a:xfrm>
                <a:off x="7093019"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cxnSp>
            <p:nvCxnSpPr>
              <p:cNvPr id="765" name="Google Shape;765;p86"/>
              <p:cNvCxnSpPr>
                <a:stCxn id="755" idx="5"/>
                <a:endCxn id="764" idx="0"/>
              </p:cNvCxnSpPr>
              <p:nvPr/>
            </p:nvCxnSpPr>
            <p:spPr>
              <a:xfrm>
                <a:off x="7070289" y="2263322"/>
                <a:ext cx="231300" cy="266700"/>
              </a:xfrm>
              <a:prstGeom prst="straightConnector1">
                <a:avLst/>
              </a:prstGeom>
              <a:noFill/>
              <a:ln w="9525" cap="flat" cmpd="sng">
                <a:solidFill>
                  <a:srgbClr val="FFFFFF"/>
                </a:solidFill>
                <a:prstDash val="solid"/>
                <a:round/>
                <a:headEnd type="none" w="med" len="med"/>
                <a:tailEnd type="triangle" w="med" len="med"/>
              </a:ln>
            </p:spPr>
          </p:cxnSp>
        </p:grpSp>
        <p:grpSp>
          <p:nvGrpSpPr>
            <p:cNvPr id="766" name="Google Shape;766;p86"/>
            <p:cNvGrpSpPr/>
            <p:nvPr/>
          </p:nvGrpSpPr>
          <p:grpSpPr>
            <a:xfrm>
              <a:off x="7557650" y="2110922"/>
              <a:ext cx="417000" cy="683777"/>
              <a:chOff x="7557650" y="2263322"/>
              <a:chExt cx="417000" cy="683777"/>
            </a:xfrm>
          </p:grpSpPr>
          <p:sp>
            <p:nvSpPr>
              <p:cNvPr id="767" name="Google Shape;767;p86"/>
              <p:cNvSpPr/>
              <p:nvPr/>
            </p:nvSpPr>
            <p:spPr>
              <a:xfrm>
                <a:off x="7557650"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a:t>
                </a:r>
                <a:endParaRPr/>
              </a:p>
            </p:txBody>
          </p:sp>
          <p:cxnSp>
            <p:nvCxnSpPr>
              <p:cNvPr id="768" name="Google Shape;768;p86"/>
              <p:cNvCxnSpPr>
                <a:stCxn id="758" idx="3"/>
                <a:endCxn id="767" idx="0"/>
              </p:cNvCxnSpPr>
              <p:nvPr/>
            </p:nvCxnSpPr>
            <p:spPr>
              <a:xfrm flipH="1">
                <a:off x="7766144" y="2263322"/>
                <a:ext cx="169800" cy="266700"/>
              </a:xfrm>
              <a:prstGeom prst="straightConnector1">
                <a:avLst/>
              </a:prstGeom>
              <a:noFill/>
              <a:ln w="9525" cap="flat" cmpd="sng">
                <a:solidFill>
                  <a:srgbClr val="FFFFFF"/>
                </a:solidFill>
                <a:prstDash val="solid"/>
                <a:round/>
                <a:headEnd type="none" w="med" len="med"/>
                <a:tailEnd type="triangle" w="med" len="med"/>
              </a:ln>
            </p:spPr>
          </p:cxnSp>
        </p:grpSp>
        <p:grpSp>
          <p:nvGrpSpPr>
            <p:cNvPr id="769" name="Google Shape;769;p86"/>
            <p:cNvGrpSpPr/>
            <p:nvPr/>
          </p:nvGrpSpPr>
          <p:grpSpPr>
            <a:xfrm>
              <a:off x="8230808" y="2110922"/>
              <a:ext cx="538492" cy="683777"/>
              <a:chOff x="8230808" y="2263322"/>
              <a:chExt cx="538492" cy="683777"/>
            </a:xfrm>
          </p:grpSpPr>
          <p:sp>
            <p:nvSpPr>
              <p:cNvPr id="770" name="Google Shape;770;p86"/>
              <p:cNvSpPr/>
              <p:nvPr/>
            </p:nvSpPr>
            <p:spPr>
              <a:xfrm>
                <a:off x="8352300"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a:t>
                </a:r>
                <a:endParaRPr/>
              </a:p>
            </p:txBody>
          </p:sp>
          <p:cxnSp>
            <p:nvCxnSpPr>
              <p:cNvPr id="771" name="Google Shape;771;p86"/>
              <p:cNvCxnSpPr>
                <a:stCxn id="758" idx="5"/>
                <a:endCxn id="770" idx="1"/>
              </p:cNvCxnSpPr>
              <p:nvPr/>
            </p:nvCxnSpPr>
            <p:spPr>
              <a:xfrm>
                <a:off x="8230808" y="2263322"/>
                <a:ext cx="182700" cy="327900"/>
              </a:xfrm>
              <a:prstGeom prst="straightConnector1">
                <a:avLst/>
              </a:prstGeom>
              <a:noFill/>
              <a:ln w="9525" cap="flat" cmpd="sng">
                <a:solidFill>
                  <a:srgbClr val="FFFFFF"/>
                </a:solidFill>
                <a:prstDash val="solid"/>
                <a:round/>
                <a:headEnd type="none" w="med" len="med"/>
                <a:tailEnd type="triangle" w="med" len="med"/>
              </a:ln>
            </p:spPr>
          </p:cxnSp>
        </p:grpSp>
      </p:grpSp>
      <p:sp>
        <p:nvSpPr>
          <p:cNvPr id="772" name="Google Shape;772;p86"/>
          <p:cNvSpPr txBox="1"/>
          <p:nvPr/>
        </p:nvSpPr>
        <p:spPr>
          <a:xfrm>
            <a:off x="5112450" y="1129125"/>
            <a:ext cx="3673500" cy="58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300"/>
              <a:t>A </a:t>
            </a:r>
            <a:r>
              <a:rPr lang="en" sz="1300" b="1" i="1">
                <a:solidFill>
                  <a:srgbClr val="FF0000"/>
                </a:solidFill>
              </a:rPr>
              <a:t>binary search tree</a:t>
            </a:r>
            <a:r>
              <a:rPr lang="en" sz="1300"/>
              <a:t> (</a:t>
            </a:r>
            <a:r>
              <a:rPr lang="en" sz="1300" b="1" i="1">
                <a:solidFill>
                  <a:srgbClr val="FF0000"/>
                </a:solidFill>
              </a:rPr>
              <a:t>BST</a:t>
            </a:r>
            <a:r>
              <a:rPr lang="en" sz="1300"/>
              <a:t>) is a special binary tree that has some extra rules.</a:t>
            </a:r>
            <a:endParaRPr sz="1300"/>
          </a:p>
        </p:txBody>
      </p:sp>
      <p:sp>
        <p:nvSpPr>
          <p:cNvPr id="773" name="Google Shape;773;p86"/>
          <p:cNvSpPr txBox="1"/>
          <p:nvPr/>
        </p:nvSpPr>
        <p:spPr>
          <a:xfrm>
            <a:off x="5112450" y="3714500"/>
            <a:ext cx="3673500" cy="58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300"/>
              <a:t>From any node in the tree, the left subtree contains only values that come </a:t>
            </a:r>
            <a:r>
              <a:rPr lang="en" sz="1300" b="1" i="1">
                <a:solidFill>
                  <a:srgbClr val="FF0000"/>
                </a:solidFill>
              </a:rPr>
              <a:t>before</a:t>
            </a:r>
            <a:r>
              <a:rPr lang="en" sz="1300"/>
              <a:t>...</a:t>
            </a:r>
            <a:endParaRPr sz="1300"/>
          </a:p>
        </p:txBody>
      </p:sp>
      <p:sp>
        <p:nvSpPr>
          <p:cNvPr id="774" name="Google Shape;774;p86"/>
          <p:cNvSpPr txBox="1"/>
          <p:nvPr/>
        </p:nvSpPr>
        <p:spPr>
          <a:xfrm>
            <a:off x="5112450" y="4370100"/>
            <a:ext cx="3673500" cy="58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300"/>
              <a:t>...and the right subtree contains only values that come </a:t>
            </a:r>
            <a:r>
              <a:rPr lang="en" sz="1300" b="1" i="1">
                <a:solidFill>
                  <a:srgbClr val="FF0000"/>
                </a:solidFill>
              </a:rPr>
              <a:t>after</a:t>
            </a:r>
            <a:r>
              <a:rPr lang="en" sz="1300"/>
              <a:t>.</a:t>
            </a:r>
            <a:endParaRPr sz="1300"/>
          </a:p>
        </p:txBody>
      </p:sp>
      <p:sp>
        <p:nvSpPr>
          <p:cNvPr id="775" name="Google Shape;775;p86"/>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72"/>
                                        </p:tgtEl>
                                        <p:attrNameLst>
                                          <p:attrName>style.visibility</p:attrName>
                                        </p:attrNameLst>
                                      </p:cBhvr>
                                      <p:to>
                                        <p:strVal val="visible"/>
                                      </p:to>
                                    </p:set>
                                    <p:animEffect transition="in" filter="fade">
                                      <p:cBhvr>
                                        <p:cTn id="31" dur="1000"/>
                                        <p:tgtEl>
                                          <p:spTgt spid="77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773"/>
                                        </p:tgtEl>
                                        <p:attrNameLst>
                                          <p:attrName>style.visibility</p:attrName>
                                        </p:attrNameLst>
                                      </p:cBhvr>
                                      <p:to>
                                        <p:strVal val="visible"/>
                                      </p:to>
                                    </p:set>
                                    <p:animEffect transition="in" filter="fade">
                                      <p:cBhvr>
                                        <p:cTn id="36" dur="1000"/>
                                        <p:tgtEl>
                                          <p:spTgt spid="77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774"/>
                                        </p:tgtEl>
                                        <p:attrNameLst>
                                          <p:attrName>style.visibility</p:attrName>
                                        </p:attrNameLst>
                                      </p:cBhvr>
                                      <p:to>
                                        <p:strVal val="visible"/>
                                      </p:to>
                                    </p:set>
                                    <p:animEffect transition="in" filter="fade">
                                      <p:cBhvr>
                                        <p:cTn id="41" dur="1000"/>
                                        <p:tgtEl>
                                          <p:spTgt spid="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87"/>
          <p:cNvSpPr txBox="1">
            <a:spLocks noGrp="1"/>
          </p:cNvSpPr>
          <p:nvPr>
            <p:ph type="body" idx="4294967295"/>
          </p:nvPr>
        </p:nvSpPr>
        <p:spPr>
          <a:xfrm>
            <a:off x="1268325" y="1260975"/>
            <a:ext cx="7030500" cy="569100"/>
          </a:xfrm>
          <a:prstGeom prst="rect">
            <a:avLst/>
          </a:prstGeom>
          <a:noFill/>
          <a:ln>
            <a:noFill/>
          </a:ln>
        </p:spPr>
        <p:txBody>
          <a:bodyPr spcFirstLastPara="1" wrap="square" lIns="91425" tIns="91425" rIns="91425" bIns="91425" anchor="t" anchorCtr="0">
            <a:noAutofit/>
          </a:bodyPr>
          <a:lstStyle/>
          <a:p>
            <a:pPr marL="342900" marR="0" lvl="0" indent="0" algn="l" rtl="0">
              <a:spcBef>
                <a:spcPts val="0"/>
              </a:spcBef>
              <a:spcAft>
                <a:spcPts val="0"/>
              </a:spcAft>
              <a:buNone/>
            </a:pPr>
            <a:r>
              <a:rPr lang="en" sz="2500" i="0" u="none" strike="noStrike" cap="none"/>
              <a:t>Is this a Binary Search Tree? </a:t>
            </a:r>
            <a:r>
              <a:rPr lang="en" sz="2500"/>
              <a:t>If not, </a:t>
            </a:r>
            <a:r>
              <a:rPr lang="en" sz="2500" i="0" u="none" strike="noStrike" cap="none"/>
              <a:t>why not?</a:t>
            </a:r>
            <a:endParaRPr sz="2500" b="0" i="0" u="none" strike="noStrike" cap="none">
              <a:latin typeface="Calibri"/>
              <a:ea typeface="Calibri"/>
              <a:cs typeface="Calibri"/>
              <a:sym typeface="Calibri"/>
            </a:endParaRPr>
          </a:p>
        </p:txBody>
      </p:sp>
      <p:sp>
        <p:nvSpPr>
          <p:cNvPr id="781" name="Google Shape;781;p8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Identifying Binary Search Trees</a:t>
            </a:r>
            <a:endParaRPr/>
          </a:p>
        </p:txBody>
      </p:sp>
      <p:grpSp>
        <p:nvGrpSpPr>
          <p:cNvPr id="782" name="Google Shape;782;p87"/>
          <p:cNvGrpSpPr/>
          <p:nvPr/>
        </p:nvGrpSpPr>
        <p:grpSpPr>
          <a:xfrm>
            <a:off x="158350" y="2014475"/>
            <a:ext cx="3998318" cy="2648753"/>
            <a:chOff x="158350" y="2014475"/>
            <a:chExt cx="3998318" cy="2648753"/>
          </a:xfrm>
        </p:grpSpPr>
        <p:sp>
          <p:nvSpPr>
            <p:cNvPr id="783" name="Google Shape;783;p87"/>
            <p:cNvSpPr/>
            <p:nvPr/>
          </p:nvSpPr>
          <p:spPr>
            <a:xfrm>
              <a:off x="2625911" y="20144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sp>
          <p:nvSpPr>
            <p:cNvPr id="784" name="Google Shape;784;p87"/>
            <p:cNvSpPr/>
            <p:nvPr/>
          </p:nvSpPr>
          <p:spPr>
            <a:xfrm>
              <a:off x="1243301" y="2701129"/>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15</a:t>
              </a:r>
              <a:endParaRPr sz="700"/>
            </a:p>
          </p:txBody>
        </p:sp>
        <p:sp>
          <p:nvSpPr>
            <p:cNvPr id="785" name="Google Shape;785;p87"/>
            <p:cNvSpPr/>
            <p:nvPr/>
          </p:nvSpPr>
          <p:spPr>
            <a:xfrm>
              <a:off x="3750468" y="26937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50</a:t>
              </a:r>
              <a:endParaRPr sz="700"/>
            </a:p>
          </p:txBody>
        </p:sp>
        <p:sp>
          <p:nvSpPr>
            <p:cNvPr id="786" name="Google Shape;786;p87"/>
            <p:cNvSpPr/>
            <p:nvPr/>
          </p:nvSpPr>
          <p:spPr>
            <a:xfrm>
              <a:off x="521063"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10</a:t>
              </a:r>
              <a:endParaRPr sz="700"/>
            </a:p>
          </p:txBody>
        </p:sp>
        <p:sp>
          <p:nvSpPr>
            <p:cNvPr id="787" name="Google Shape;787;p87"/>
            <p:cNvSpPr/>
            <p:nvPr/>
          </p:nvSpPr>
          <p:spPr>
            <a:xfrm>
              <a:off x="1947643"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22</a:t>
              </a:r>
              <a:endParaRPr sz="700"/>
            </a:p>
          </p:txBody>
        </p:sp>
        <p:sp>
          <p:nvSpPr>
            <p:cNvPr id="788" name="Google Shape;788;p87"/>
            <p:cNvSpPr/>
            <p:nvPr/>
          </p:nvSpPr>
          <p:spPr>
            <a:xfrm>
              <a:off x="3374224"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35</a:t>
              </a:r>
              <a:endParaRPr sz="700"/>
            </a:p>
          </p:txBody>
        </p:sp>
        <p:sp>
          <p:nvSpPr>
            <p:cNvPr id="789" name="Google Shape;789;p87"/>
            <p:cNvSpPr/>
            <p:nvPr/>
          </p:nvSpPr>
          <p:spPr>
            <a:xfrm>
              <a:off x="15835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a:t>
              </a:r>
              <a:endParaRPr sz="700"/>
            </a:p>
          </p:txBody>
        </p:sp>
        <p:sp>
          <p:nvSpPr>
            <p:cNvPr id="790" name="Google Shape;790;p87"/>
            <p:cNvSpPr/>
            <p:nvPr/>
          </p:nvSpPr>
          <p:spPr>
            <a:xfrm>
              <a:off x="87676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12</a:t>
              </a:r>
              <a:endParaRPr sz="700"/>
            </a:p>
          </p:txBody>
        </p:sp>
        <p:sp>
          <p:nvSpPr>
            <p:cNvPr id="791" name="Google Shape;791;p87"/>
            <p:cNvSpPr/>
            <p:nvPr/>
          </p:nvSpPr>
          <p:spPr>
            <a:xfrm>
              <a:off x="159518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18</a:t>
              </a:r>
              <a:endParaRPr sz="700"/>
            </a:p>
          </p:txBody>
        </p:sp>
        <p:sp>
          <p:nvSpPr>
            <p:cNvPr id="792" name="Google Shape;792;p87"/>
            <p:cNvSpPr/>
            <p:nvPr/>
          </p:nvSpPr>
          <p:spPr>
            <a:xfrm>
              <a:off x="231359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24</a:t>
              </a:r>
              <a:endParaRPr sz="700"/>
            </a:p>
          </p:txBody>
        </p:sp>
        <p:sp>
          <p:nvSpPr>
            <p:cNvPr id="793" name="Google Shape;793;p87"/>
            <p:cNvSpPr/>
            <p:nvPr/>
          </p:nvSpPr>
          <p:spPr>
            <a:xfrm>
              <a:off x="303201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31</a:t>
              </a:r>
              <a:endParaRPr sz="700"/>
            </a:p>
          </p:txBody>
        </p:sp>
        <p:sp>
          <p:nvSpPr>
            <p:cNvPr id="794" name="Google Shape;794;p87"/>
            <p:cNvSpPr/>
            <p:nvPr/>
          </p:nvSpPr>
          <p:spPr>
            <a:xfrm>
              <a:off x="375042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44</a:t>
              </a:r>
              <a:endParaRPr sz="700"/>
            </a:p>
          </p:txBody>
        </p:sp>
        <p:cxnSp>
          <p:nvCxnSpPr>
            <p:cNvPr id="795" name="Google Shape;795;p87"/>
            <p:cNvCxnSpPr>
              <a:stCxn id="783" idx="3"/>
              <a:endCxn id="784" idx="0"/>
            </p:cNvCxnSpPr>
            <p:nvPr/>
          </p:nvCxnSpPr>
          <p:spPr>
            <a:xfrm flipH="1">
              <a:off x="1446398" y="2367846"/>
              <a:ext cx="1239000" cy="333300"/>
            </a:xfrm>
            <a:prstGeom prst="straightConnector1">
              <a:avLst/>
            </a:prstGeom>
            <a:noFill/>
            <a:ln w="9525" cap="flat" cmpd="sng">
              <a:solidFill>
                <a:srgbClr val="000000"/>
              </a:solidFill>
              <a:prstDash val="solid"/>
              <a:round/>
              <a:headEnd type="none" w="med" len="med"/>
              <a:tailEnd type="triangle" w="med" len="med"/>
            </a:ln>
          </p:spPr>
        </p:cxnSp>
        <p:cxnSp>
          <p:nvCxnSpPr>
            <p:cNvPr id="796" name="Google Shape;796;p87"/>
            <p:cNvCxnSpPr>
              <a:stCxn id="784" idx="3"/>
              <a:endCxn id="786" idx="0"/>
            </p:cNvCxnSpPr>
            <p:nvPr/>
          </p:nvCxnSpPr>
          <p:spPr>
            <a:xfrm flipH="1">
              <a:off x="724087" y="3054500"/>
              <a:ext cx="578700" cy="371700"/>
            </a:xfrm>
            <a:prstGeom prst="straightConnector1">
              <a:avLst/>
            </a:prstGeom>
            <a:noFill/>
            <a:ln w="9525" cap="flat" cmpd="sng">
              <a:solidFill>
                <a:srgbClr val="000000"/>
              </a:solidFill>
              <a:prstDash val="solid"/>
              <a:round/>
              <a:headEnd type="none" w="med" len="med"/>
              <a:tailEnd type="triangle" w="med" len="med"/>
            </a:ln>
          </p:spPr>
        </p:cxnSp>
        <p:cxnSp>
          <p:nvCxnSpPr>
            <p:cNvPr id="797" name="Google Shape;797;p87"/>
            <p:cNvCxnSpPr>
              <a:stCxn id="784" idx="5"/>
              <a:endCxn id="787" idx="0"/>
            </p:cNvCxnSpPr>
            <p:nvPr/>
          </p:nvCxnSpPr>
          <p:spPr>
            <a:xfrm>
              <a:off x="1590014" y="3054500"/>
              <a:ext cx="560700" cy="371700"/>
            </a:xfrm>
            <a:prstGeom prst="straightConnector1">
              <a:avLst/>
            </a:prstGeom>
            <a:noFill/>
            <a:ln w="9525" cap="flat" cmpd="sng">
              <a:solidFill>
                <a:srgbClr val="000000"/>
              </a:solidFill>
              <a:prstDash val="solid"/>
              <a:round/>
              <a:headEnd type="none" w="med" len="med"/>
              <a:tailEnd type="triangle" w="med" len="med"/>
            </a:ln>
          </p:spPr>
        </p:cxnSp>
        <p:cxnSp>
          <p:nvCxnSpPr>
            <p:cNvPr id="798" name="Google Shape;798;p87"/>
            <p:cNvCxnSpPr>
              <a:stCxn id="786" idx="3"/>
              <a:endCxn id="789" idx="0"/>
            </p:cNvCxnSpPr>
            <p:nvPr/>
          </p:nvCxnSpPr>
          <p:spPr>
            <a:xfrm flipH="1">
              <a:off x="361550" y="3779647"/>
              <a:ext cx="219000" cy="469500"/>
            </a:xfrm>
            <a:prstGeom prst="straightConnector1">
              <a:avLst/>
            </a:prstGeom>
            <a:noFill/>
            <a:ln w="9525" cap="flat" cmpd="sng">
              <a:solidFill>
                <a:srgbClr val="000000"/>
              </a:solidFill>
              <a:prstDash val="solid"/>
              <a:round/>
              <a:headEnd type="none" w="med" len="med"/>
              <a:tailEnd type="triangle" w="med" len="med"/>
            </a:ln>
          </p:spPr>
        </p:cxnSp>
        <p:cxnSp>
          <p:nvCxnSpPr>
            <p:cNvPr id="799" name="Google Shape;799;p87"/>
            <p:cNvCxnSpPr>
              <a:stCxn id="786" idx="5"/>
              <a:endCxn id="790" idx="0"/>
            </p:cNvCxnSpPr>
            <p:nvPr/>
          </p:nvCxnSpPr>
          <p:spPr>
            <a:xfrm>
              <a:off x="867777" y="3779647"/>
              <a:ext cx="212100" cy="469500"/>
            </a:xfrm>
            <a:prstGeom prst="straightConnector1">
              <a:avLst/>
            </a:prstGeom>
            <a:noFill/>
            <a:ln w="9525" cap="flat" cmpd="sng">
              <a:solidFill>
                <a:srgbClr val="000000"/>
              </a:solidFill>
              <a:prstDash val="solid"/>
              <a:round/>
              <a:headEnd type="none" w="med" len="med"/>
              <a:tailEnd type="triangle" w="med" len="med"/>
            </a:ln>
          </p:spPr>
        </p:cxnSp>
        <p:cxnSp>
          <p:nvCxnSpPr>
            <p:cNvPr id="800" name="Google Shape;800;p87"/>
            <p:cNvCxnSpPr>
              <a:stCxn id="787" idx="3"/>
              <a:endCxn id="791" idx="0"/>
            </p:cNvCxnSpPr>
            <p:nvPr/>
          </p:nvCxnSpPr>
          <p:spPr>
            <a:xfrm flipH="1">
              <a:off x="1798330" y="3779647"/>
              <a:ext cx="208800" cy="469500"/>
            </a:xfrm>
            <a:prstGeom prst="straightConnector1">
              <a:avLst/>
            </a:prstGeom>
            <a:noFill/>
            <a:ln w="9525" cap="flat" cmpd="sng">
              <a:solidFill>
                <a:srgbClr val="000000"/>
              </a:solidFill>
              <a:prstDash val="solid"/>
              <a:round/>
              <a:headEnd type="none" w="med" len="med"/>
              <a:tailEnd type="triangle" w="med" len="med"/>
            </a:ln>
          </p:spPr>
        </p:cxnSp>
        <p:cxnSp>
          <p:nvCxnSpPr>
            <p:cNvPr id="801" name="Google Shape;801;p87"/>
            <p:cNvCxnSpPr>
              <a:stCxn id="787" idx="5"/>
              <a:endCxn id="792" idx="0"/>
            </p:cNvCxnSpPr>
            <p:nvPr/>
          </p:nvCxnSpPr>
          <p:spPr>
            <a:xfrm>
              <a:off x="2294357" y="3779647"/>
              <a:ext cx="222300" cy="469500"/>
            </a:xfrm>
            <a:prstGeom prst="straightConnector1">
              <a:avLst/>
            </a:prstGeom>
            <a:noFill/>
            <a:ln w="9525" cap="flat" cmpd="sng">
              <a:solidFill>
                <a:srgbClr val="000000"/>
              </a:solidFill>
              <a:prstDash val="solid"/>
              <a:round/>
              <a:headEnd type="none" w="med" len="med"/>
              <a:tailEnd type="triangle" w="med" len="med"/>
            </a:ln>
          </p:spPr>
        </p:cxnSp>
        <p:cxnSp>
          <p:nvCxnSpPr>
            <p:cNvPr id="802" name="Google Shape;802;p87"/>
            <p:cNvCxnSpPr>
              <a:stCxn id="783" idx="5"/>
              <a:endCxn id="785" idx="0"/>
            </p:cNvCxnSpPr>
            <p:nvPr/>
          </p:nvCxnSpPr>
          <p:spPr>
            <a:xfrm>
              <a:off x="2972625" y="2367846"/>
              <a:ext cx="981000" cy="325800"/>
            </a:xfrm>
            <a:prstGeom prst="straightConnector1">
              <a:avLst/>
            </a:prstGeom>
            <a:noFill/>
            <a:ln w="9525" cap="flat" cmpd="sng">
              <a:solidFill>
                <a:srgbClr val="000000"/>
              </a:solidFill>
              <a:prstDash val="solid"/>
              <a:round/>
              <a:headEnd type="none" w="med" len="med"/>
              <a:tailEnd type="triangle" w="med" len="med"/>
            </a:ln>
          </p:spPr>
        </p:cxnSp>
        <p:cxnSp>
          <p:nvCxnSpPr>
            <p:cNvPr id="803" name="Google Shape;803;p87"/>
            <p:cNvCxnSpPr>
              <a:stCxn id="785" idx="3"/>
              <a:endCxn id="788" idx="0"/>
            </p:cNvCxnSpPr>
            <p:nvPr/>
          </p:nvCxnSpPr>
          <p:spPr>
            <a:xfrm flipH="1">
              <a:off x="3577455" y="3047099"/>
              <a:ext cx="232500" cy="379200"/>
            </a:xfrm>
            <a:prstGeom prst="straightConnector1">
              <a:avLst/>
            </a:prstGeom>
            <a:noFill/>
            <a:ln w="9525" cap="flat" cmpd="sng">
              <a:solidFill>
                <a:srgbClr val="000000"/>
              </a:solidFill>
              <a:prstDash val="solid"/>
              <a:round/>
              <a:headEnd type="none" w="med" len="med"/>
              <a:tailEnd type="triangle" w="med" len="med"/>
            </a:ln>
          </p:spPr>
        </p:cxnSp>
        <p:cxnSp>
          <p:nvCxnSpPr>
            <p:cNvPr id="804" name="Google Shape;804;p87"/>
            <p:cNvCxnSpPr>
              <a:stCxn id="788" idx="3"/>
              <a:endCxn id="793" idx="0"/>
            </p:cNvCxnSpPr>
            <p:nvPr/>
          </p:nvCxnSpPr>
          <p:spPr>
            <a:xfrm flipH="1">
              <a:off x="3235110" y="3779647"/>
              <a:ext cx="198600" cy="469500"/>
            </a:xfrm>
            <a:prstGeom prst="straightConnector1">
              <a:avLst/>
            </a:prstGeom>
            <a:noFill/>
            <a:ln w="9525" cap="flat" cmpd="sng">
              <a:solidFill>
                <a:srgbClr val="000000"/>
              </a:solidFill>
              <a:prstDash val="solid"/>
              <a:round/>
              <a:headEnd type="none" w="med" len="med"/>
              <a:tailEnd type="triangle" w="med" len="med"/>
            </a:ln>
          </p:spPr>
        </p:cxnSp>
        <p:cxnSp>
          <p:nvCxnSpPr>
            <p:cNvPr id="805" name="Google Shape;805;p87"/>
            <p:cNvCxnSpPr>
              <a:stCxn id="788" idx="5"/>
              <a:endCxn id="794" idx="0"/>
            </p:cNvCxnSpPr>
            <p:nvPr/>
          </p:nvCxnSpPr>
          <p:spPr>
            <a:xfrm>
              <a:off x="3720937" y="3779647"/>
              <a:ext cx="232500" cy="469500"/>
            </a:xfrm>
            <a:prstGeom prst="straightConnector1">
              <a:avLst/>
            </a:prstGeom>
            <a:noFill/>
            <a:ln w="9525" cap="flat" cmpd="sng">
              <a:solidFill>
                <a:srgbClr val="000000"/>
              </a:solidFill>
              <a:prstDash val="solid"/>
              <a:round/>
              <a:headEnd type="none" w="med" len="med"/>
              <a:tailEnd type="triangle" w="med" len="med"/>
            </a:ln>
          </p:spPr>
        </p:cxnSp>
      </p:grpSp>
      <p:sp>
        <p:nvSpPr>
          <p:cNvPr id="806" name="Google Shape;806;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grpSp>
        <p:nvGrpSpPr>
          <p:cNvPr id="807" name="Google Shape;807;p87"/>
          <p:cNvGrpSpPr/>
          <p:nvPr/>
        </p:nvGrpSpPr>
        <p:grpSpPr>
          <a:xfrm>
            <a:off x="4807836" y="2014423"/>
            <a:ext cx="4183498" cy="2648741"/>
            <a:chOff x="4807836" y="2014423"/>
            <a:chExt cx="4183498" cy="2648741"/>
          </a:xfrm>
        </p:grpSpPr>
        <p:sp>
          <p:nvSpPr>
            <p:cNvPr id="808" name="Google Shape;808;p87"/>
            <p:cNvSpPr/>
            <p:nvPr/>
          </p:nvSpPr>
          <p:spPr>
            <a:xfrm>
              <a:off x="6035474" y="2014423"/>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sp>
          <p:nvSpPr>
            <p:cNvPr id="809" name="Google Shape;809;p87"/>
            <p:cNvSpPr/>
            <p:nvPr/>
          </p:nvSpPr>
          <p:spPr>
            <a:xfrm>
              <a:off x="4807836" y="2693749"/>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12</a:t>
              </a:r>
              <a:endParaRPr sz="700"/>
            </a:p>
          </p:txBody>
        </p:sp>
        <p:sp>
          <p:nvSpPr>
            <p:cNvPr id="810" name="Google Shape;810;p87"/>
            <p:cNvSpPr/>
            <p:nvPr/>
          </p:nvSpPr>
          <p:spPr>
            <a:xfrm>
              <a:off x="7524578" y="2701074"/>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60</a:t>
              </a:r>
              <a:endParaRPr sz="700"/>
            </a:p>
          </p:txBody>
        </p:sp>
        <p:sp>
          <p:nvSpPr>
            <p:cNvPr id="811" name="Google Shape;811;p87"/>
            <p:cNvSpPr/>
            <p:nvPr/>
          </p:nvSpPr>
          <p:spPr>
            <a:xfrm>
              <a:off x="5359824" y="3426216"/>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14</a:t>
              </a:r>
              <a:endParaRPr sz="700"/>
            </a:p>
          </p:txBody>
        </p:sp>
        <p:sp>
          <p:nvSpPr>
            <p:cNvPr id="812" name="Google Shape;812;p87"/>
            <p:cNvSpPr/>
            <p:nvPr/>
          </p:nvSpPr>
          <p:spPr>
            <a:xfrm>
              <a:off x="6780899" y="3426216"/>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51</a:t>
              </a:r>
              <a:endParaRPr sz="700"/>
            </a:p>
          </p:txBody>
        </p:sp>
        <p:sp>
          <p:nvSpPr>
            <p:cNvPr id="813" name="Google Shape;813;p87"/>
            <p:cNvSpPr/>
            <p:nvPr/>
          </p:nvSpPr>
          <p:spPr>
            <a:xfrm>
              <a:off x="8201974" y="3426216"/>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70</a:t>
              </a:r>
              <a:endParaRPr sz="700"/>
            </a:p>
          </p:txBody>
        </p:sp>
        <p:sp>
          <p:nvSpPr>
            <p:cNvPr id="814" name="Google Shape;814;p87"/>
            <p:cNvSpPr/>
            <p:nvPr/>
          </p:nvSpPr>
          <p:spPr>
            <a:xfrm>
              <a:off x="5008720" y="4249165"/>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13</a:t>
              </a:r>
              <a:endParaRPr sz="700"/>
            </a:p>
          </p:txBody>
        </p:sp>
        <p:sp>
          <p:nvSpPr>
            <p:cNvPr id="815" name="Google Shape;815;p87"/>
            <p:cNvSpPr/>
            <p:nvPr/>
          </p:nvSpPr>
          <p:spPr>
            <a:xfrm>
              <a:off x="5724363" y="4249165"/>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24</a:t>
              </a:r>
              <a:endParaRPr sz="700"/>
            </a:p>
          </p:txBody>
        </p:sp>
        <p:sp>
          <p:nvSpPr>
            <p:cNvPr id="816" name="Google Shape;816;p87"/>
            <p:cNvSpPr/>
            <p:nvPr/>
          </p:nvSpPr>
          <p:spPr>
            <a:xfrm>
              <a:off x="6440006" y="4249165"/>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31</a:t>
              </a:r>
              <a:endParaRPr sz="700"/>
            </a:p>
          </p:txBody>
        </p:sp>
        <p:sp>
          <p:nvSpPr>
            <p:cNvPr id="817" name="Google Shape;817;p87"/>
            <p:cNvSpPr/>
            <p:nvPr/>
          </p:nvSpPr>
          <p:spPr>
            <a:xfrm>
              <a:off x="7155649" y="4249165"/>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63</a:t>
              </a:r>
              <a:endParaRPr sz="700"/>
            </a:p>
          </p:txBody>
        </p:sp>
        <p:sp>
          <p:nvSpPr>
            <p:cNvPr id="818" name="Google Shape;818;p87"/>
            <p:cNvSpPr/>
            <p:nvPr/>
          </p:nvSpPr>
          <p:spPr>
            <a:xfrm>
              <a:off x="7871291" y="4249165"/>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66</a:t>
              </a:r>
              <a:endParaRPr sz="700"/>
            </a:p>
          </p:txBody>
        </p:sp>
        <p:sp>
          <p:nvSpPr>
            <p:cNvPr id="819" name="Google Shape;819;p87"/>
            <p:cNvSpPr/>
            <p:nvPr/>
          </p:nvSpPr>
          <p:spPr>
            <a:xfrm>
              <a:off x="8586934" y="4249165"/>
              <a:ext cx="4044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90</a:t>
              </a:r>
              <a:endParaRPr sz="700"/>
            </a:p>
          </p:txBody>
        </p:sp>
        <p:cxnSp>
          <p:nvCxnSpPr>
            <p:cNvPr id="820" name="Google Shape;820;p87"/>
            <p:cNvCxnSpPr>
              <a:stCxn id="808" idx="3"/>
              <a:endCxn id="809" idx="0"/>
            </p:cNvCxnSpPr>
            <p:nvPr/>
          </p:nvCxnSpPr>
          <p:spPr>
            <a:xfrm flipH="1">
              <a:off x="5009897" y="2367794"/>
              <a:ext cx="1084800" cy="326100"/>
            </a:xfrm>
            <a:prstGeom prst="straightConnector1">
              <a:avLst/>
            </a:prstGeom>
            <a:noFill/>
            <a:ln w="9525" cap="flat" cmpd="sng">
              <a:solidFill>
                <a:srgbClr val="000000"/>
              </a:solidFill>
              <a:prstDash val="solid"/>
              <a:round/>
              <a:headEnd type="none" w="med" len="med"/>
              <a:tailEnd type="triangle" w="med" len="med"/>
            </a:ln>
          </p:spPr>
        </p:cxnSp>
        <p:cxnSp>
          <p:nvCxnSpPr>
            <p:cNvPr id="821" name="Google Shape;821;p87"/>
            <p:cNvCxnSpPr>
              <a:stCxn id="809" idx="5"/>
              <a:endCxn id="811" idx="0"/>
            </p:cNvCxnSpPr>
            <p:nvPr/>
          </p:nvCxnSpPr>
          <p:spPr>
            <a:xfrm>
              <a:off x="5153013" y="3047120"/>
              <a:ext cx="408900" cy="379200"/>
            </a:xfrm>
            <a:prstGeom prst="straightConnector1">
              <a:avLst/>
            </a:prstGeom>
            <a:noFill/>
            <a:ln w="9525" cap="flat" cmpd="sng">
              <a:solidFill>
                <a:srgbClr val="000000"/>
              </a:solidFill>
              <a:prstDash val="solid"/>
              <a:round/>
              <a:headEnd type="none" w="med" len="med"/>
              <a:tailEnd type="triangle" w="med" len="med"/>
            </a:ln>
          </p:spPr>
        </p:cxnSp>
        <p:cxnSp>
          <p:nvCxnSpPr>
            <p:cNvPr id="822" name="Google Shape;822;p87"/>
            <p:cNvCxnSpPr>
              <a:stCxn id="811" idx="3"/>
              <a:endCxn id="814" idx="0"/>
            </p:cNvCxnSpPr>
            <p:nvPr/>
          </p:nvCxnSpPr>
          <p:spPr>
            <a:xfrm flipH="1">
              <a:off x="5210847" y="3779587"/>
              <a:ext cx="208200" cy="469500"/>
            </a:xfrm>
            <a:prstGeom prst="straightConnector1">
              <a:avLst/>
            </a:prstGeom>
            <a:noFill/>
            <a:ln w="9525" cap="flat" cmpd="sng">
              <a:solidFill>
                <a:srgbClr val="000000"/>
              </a:solidFill>
              <a:prstDash val="solid"/>
              <a:round/>
              <a:headEnd type="none" w="med" len="med"/>
              <a:tailEnd type="triangle" w="med" len="med"/>
            </a:ln>
          </p:spPr>
        </p:cxnSp>
        <p:cxnSp>
          <p:nvCxnSpPr>
            <p:cNvPr id="823" name="Google Shape;823;p87"/>
            <p:cNvCxnSpPr>
              <a:stCxn id="811" idx="5"/>
              <a:endCxn id="815" idx="0"/>
            </p:cNvCxnSpPr>
            <p:nvPr/>
          </p:nvCxnSpPr>
          <p:spPr>
            <a:xfrm>
              <a:off x="5705001" y="3779587"/>
              <a:ext cx="221700" cy="469500"/>
            </a:xfrm>
            <a:prstGeom prst="straightConnector1">
              <a:avLst/>
            </a:prstGeom>
            <a:noFill/>
            <a:ln w="9525" cap="flat" cmpd="sng">
              <a:solidFill>
                <a:srgbClr val="000000"/>
              </a:solidFill>
              <a:prstDash val="solid"/>
              <a:round/>
              <a:headEnd type="none" w="med" len="med"/>
              <a:tailEnd type="triangle" w="med" len="med"/>
            </a:ln>
          </p:spPr>
        </p:cxnSp>
        <p:cxnSp>
          <p:nvCxnSpPr>
            <p:cNvPr id="824" name="Google Shape;824;p87"/>
            <p:cNvCxnSpPr>
              <a:stCxn id="808" idx="5"/>
              <a:endCxn id="810" idx="0"/>
            </p:cNvCxnSpPr>
            <p:nvPr/>
          </p:nvCxnSpPr>
          <p:spPr>
            <a:xfrm>
              <a:off x="6380651" y="2367794"/>
              <a:ext cx="1346100" cy="333300"/>
            </a:xfrm>
            <a:prstGeom prst="straightConnector1">
              <a:avLst/>
            </a:prstGeom>
            <a:noFill/>
            <a:ln w="9525" cap="flat" cmpd="sng">
              <a:solidFill>
                <a:srgbClr val="000000"/>
              </a:solidFill>
              <a:prstDash val="solid"/>
              <a:round/>
              <a:headEnd type="none" w="med" len="med"/>
              <a:tailEnd type="triangle" w="med" len="med"/>
            </a:ln>
          </p:spPr>
        </p:cxnSp>
        <p:cxnSp>
          <p:nvCxnSpPr>
            <p:cNvPr id="825" name="Google Shape;825;p87"/>
            <p:cNvCxnSpPr>
              <a:stCxn id="810" idx="3"/>
              <a:endCxn id="812" idx="0"/>
            </p:cNvCxnSpPr>
            <p:nvPr/>
          </p:nvCxnSpPr>
          <p:spPr>
            <a:xfrm flipH="1">
              <a:off x="6983201" y="3054445"/>
              <a:ext cx="600600" cy="371700"/>
            </a:xfrm>
            <a:prstGeom prst="straightConnector1">
              <a:avLst/>
            </a:prstGeom>
            <a:noFill/>
            <a:ln w="9525" cap="flat" cmpd="sng">
              <a:solidFill>
                <a:srgbClr val="000000"/>
              </a:solidFill>
              <a:prstDash val="solid"/>
              <a:round/>
              <a:headEnd type="none" w="med" len="med"/>
              <a:tailEnd type="triangle" w="med" len="med"/>
            </a:ln>
          </p:spPr>
        </p:cxnSp>
        <p:cxnSp>
          <p:nvCxnSpPr>
            <p:cNvPr id="826" name="Google Shape;826;p87"/>
            <p:cNvCxnSpPr>
              <a:stCxn id="810" idx="5"/>
              <a:endCxn id="813" idx="0"/>
            </p:cNvCxnSpPr>
            <p:nvPr/>
          </p:nvCxnSpPr>
          <p:spPr>
            <a:xfrm>
              <a:off x="7869755" y="3054445"/>
              <a:ext cx="534300" cy="371700"/>
            </a:xfrm>
            <a:prstGeom prst="straightConnector1">
              <a:avLst/>
            </a:prstGeom>
            <a:noFill/>
            <a:ln w="9525" cap="flat" cmpd="sng">
              <a:solidFill>
                <a:srgbClr val="000000"/>
              </a:solidFill>
              <a:prstDash val="solid"/>
              <a:round/>
              <a:headEnd type="none" w="med" len="med"/>
              <a:tailEnd type="triangle" w="med" len="med"/>
            </a:ln>
          </p:spPr>
        </p:cxnSp>
        <p:cxnSp>
          <p:nvCxnSpPr>
            <p:cNvPr id="827" name="Google Shape;827;p87"/>
            <p:cNvCxnSpPr>
              <a:stCxn id="812" idx="3"/>
              <a:endCxn id="816" idx="0"/>
            </p:cNvCxnSpPr>
            <p:nvPr/>
          </p:nvCxnSpPr>
          <p:spPr>
            <a:xfrm flipH="1">
              <a:off x="6642122" y="3779587"/>
              <a:ext cx="198000" cy="469500"/>
            </a:xfrm>
            <a:prstGeom prst="straightConnector1">
              <a:avLst/>
            </a:prstGeom>
            <a:noFill/>
            <a:ln w="9525" cap="flat" cmpd="sng">
              <a:solidFill>
                <a:srgbClr val="000000"/>
              </a:solidFill>
              <a:prstDash val="solid"/>
              <a:round/>
              <a:headEnd type="none" w="med" len="med"/>
              <a:tailEnd type="triangle" w="med" len="med"/>
            </a:ln>
          </p:spPr>
        </p:cxnSp>
        <p:cxnSp>
          <p:nvCxnSpPr>
            <p:cNvPr id="828" name="Google Shape;828;p87"/>
            <p:cNvCxnSpPr>
              <a:stCxn id="812" idx="5"/>
              <a:endCxn id="817" idx="0"/>
            </p:cNvCxnSpPr>
            <p:nvPr/>
          </p:nvCxnSpPr>
          <p:spPr>
            <a:xfrm>
              <a:off x="7126076" y="3779587"/>
              <a:ext cx="231900" cy="469500"/>
            </a:xfrm>
            <a:prstGeom prst="straightConnector1">
              <a:avLst/>
            </a:prstGeom>
            <a:noFill/>
            <a:ln w="9525" cap="flat" cmpd="sng">
              <a:solidFill>
                <a:srgbClr val="000000"/>
              </a:solidFill>
              <a:prstDash val="solid"/>
              <a:round/>
              <a:headEnd type="none" w="med" len="med"/>
              <a:tailEnd type="triangle" w="med" len="med"/>
            </a:ln>
          </p:spPr>
        </p:cxnSp>
        <p:cxnSp>
          <p:nvCxnSpPr>
            <p:cNvPr id="829" name="Google Shape;829;p87"/>
            <p:cNvCxnSpPr>
              <a:stCxn id="813" idx="3"/>
              <a:endCxn id="818" idx="0"/>
            </p:cNvCxnSpPr>
            <p:nvPr/>
          </p:nvCxnSpPr>
          <p:spPr>
            <a:xfrm flipH="1">
              <a:off x="8073397" y="3779587"/>
              <a:ext cx="187800" cy="469500"/>
            </a:xfrm>
            <a:prstGeom prst="straightConnector1">
              <a:avLst/>
            </a:prstGeom>
            <a:noFill/>
            <a:ln w="9525" cap="flat" cmpd="sng">
              <a:solidFill>
                <a:srgbClr val="000000"/>
              </a:solidFill>
              <a:prstDash val="solid"/>
              <a:round/>
              <a:headEnd type="none" w="med" len="med"/>
              <a:tailEnd type="triangle" w="med" len="med"/>
            </a:ln>
          </p:spPr>
        </p:cxnSp>
        <p:cxnSp>
          <p:nvCxnSpPr>
            <p:cNvPr id="830" name="Google Shape;830;p87"/>
            <p:cNvCxnSpPr>
              <a:stCxn id="813" idx="5"/>
              <a:endCxn id="819" idx="0"/>
            </p:cNvCxnSpPr>
            <p:nvPr/>
          </p:nvCxnSpPr>
          <p:spPr>
            <a:xfrm>
              <a:off x="8547151" y="3779587"/>
              <a:ext cx="242100" cy="469500"/>
            </a:xfrm>
            <a:prstGeom prst="straightConnector1">
              <a:avLst/>
            </a:prstGeom>
            <a:noFill/>
            <a:ln w="9525" cap="flat" cmpd="sng">
              <a:solidFill>
                <a:srgbClr val="000000"/>
              </a:solidFill>
              <a:prstDash val="solid"/>
              <a:round/>
              <a:headEnd type="none" w="med" len="med"/>
              <a:tailEnd type="triangle" w="med" len="med"/>
            </a:ln>
          </p:spPr>
        </p:cxnSp>
      </p:grpSp>
      <p:sp>
        <p:nvSpPr>
          <p:cNvPr id="831" name="Google Shape;831;p87"/>
          <p:cNvSpPr/>
          <p:nvPr/>
        </p:nvSpPr>
        <p:spPr>
          <a:xfrm>
            <a:off x="6954239" y="4180114"/>
            <a:ext cx="816300" cy="569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2"/>
                                        </p:tgtEl>
                                        <p:attrNameLst>
                                          <p:attrName>style.visibility</p:attrName>
                                        </p:attrNameLst>
                                      </p:cBhvr>
                                      <p:to>
                                        <p:strVal val="visible"/>
                                      </p:to>
                                    </p:set>
                                    <p:animEffect transition="in" filter="fade">
                                      <p:cBhvr>
                                        <p:cTn id="7" dur="1000"/>
                                        <p:tgtEl>
                                          <p:spTgt spid="7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07"/>
                                        </p:tgtEl>
                                        <p:attrNameLst>
                                          <p:attrName>style.visibility</p:attrName>
                                        </p:attrNameLst>
                                      </p:cBhvr>
                                      <p:to>
                                        <p:strVal val="visible"/>
                                      </p:to>
                                    </p:set>
                                    <p:animEffect transition="in" filter="fade">
                                      <p:cBhvr>
                                        <p:cTn id="12" dur="1000"/>
                                        <p:tgtEl>
                                          <p:spTgt spid="8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31"/>
                                        </p:tgtEl>
                                        <p:attrNameLst>
                                          <p:attrName>style.visibility</p:attrName>
                                        </p:attrNameLst>
                                      </p:cBhvr>
                                      <p:to>
                                        <p:strVal val="visible"/>
                                      </p:to>
                                    </p:set>
                                    <p:animEffect transition="in" filter="fade">
                                      <p:cBhvr>
                                        <p:cTn id="17" dur="1000"/>
                                        <p:tgtEl>
                                          <p:spTgt spid="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88"/>
          <p:cNvSpPr txBox="1">
            <a:spLocks noGrp="1"/>
          </p:cNvSpPr>
          <p:nvPr>
            <p:ph type="body" idx="1"/>
          </p:nvPr>
        </p:nvSpPr>
        <p:spPr>
          <a:xfrm>
            <a:off x="65250" y="731625"/>
            <a:ext cx="8955900" cy="1239283"/>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Remember, an ADT tells us </a:t>
            </a:r>
            <a:r>
              <a:rPr lang="en" b="1" i="1" dirty="0">
                <a:solidFill>
                  <a:srgbClr val="FF0000"/>
                </a:solidFill>
              </a:rPr>
              <a:t>what</a:t>
            </a:r>
            <a:r>
              <a:rPr lang="en" dirty="0">
                <a:solidFill>
                  <a:srgbClr val="FF0000"/>
                </a:solidFill>
              </a:rPr>
              <a:t> </a:t>
            </a:r>
            <a:r>
              <a:rPr lang="en" dirty="0"/>
              <a:t>a data structure does, but not </a:t>
            </a:r>
            <a:r>
              <a:rPr lang="en" b="1" i="1" dirty="0">
                <a:solidFill>
                  <a:srgbClr val="FF0000"/>
                </a:solidFill>
              </a:rPr>
              <a:t>how</a:t>
            </a:r>
            <a:r>
              <a:rPr lang="en" dirty="0">
                <a:solidFill>
                  <a:srgbClr val="FF0000"/>
                </a:solidFill>
              </a:rPr>
              <a:t> </a:t>
            </a:r>
            <a:r>
              <a:rPr lang="en" dirty="0"/>
              <a:t>it does it - it </a:t>
            </a:r>
            <a:r>
              <a:rPr lang="en" b="1" i="1" dirty="0">
                <a:solidFill>
                  <a:srgbClr val="FF0000"/>
                </a:solidFill>
              </a:rPr>
              <a:t>defines</a:t>
            </a:r>
            <a:r>
              <a:rPr lang="en" dirty="0">
                <a:solidFill>
                  <a:srgbClr val="FF0000"/>
                </a:solidFill>
              </a:rPr>
              <a:t> </a:t>
            </a:r>
            <a:r>
              <a:rPr lang="en" dirty="0"/>
              <a:t>behavior without </a:t>
            </a:r>
            <a:r>
              <a:rPr lang="en" b="1" i="1" dirty="0">
                <a:solidFill>
                  <a:srgbClr val="FF0000"/>
                </a:solidFill>
              </a:rPr>
              <a:t>implementing</a:t>
            </a:r>
            <a:r>
              <a:rPr lang="en" dirty="0">
                <a:solidFill>
                  <a:srgbClr val="FF0000"/>
                </a:solidFill>
              </a:rPr>
              <a:t> </a:t>
            </a:r>
            <a:r>
              <a:rPr lang="en" dirty="0"/>
              <a:t>it. We will need to define an </a:t>
            </a:r>
            <a:r>
              <a:rPr lang="en" b="1" i="1" dirty="0">
                <a:solidFill>
                  <a:srgbClr val="FF0000"/>
                </a:solidFill>
                <a:highlight>
                  <a:srgbClr val="FFFF00"/>
                </a:highlight>
              </a:rPr>
              <a:t>abstract data type</a:t>
            </a:r>
            <a:r>
              <a:rPr lang="en" dirty="0">
                <a:highlight>
                  <a:srgbClr val="FFFF00"/>
                </a:highlight>
              </a:rPr>
              <a:t> (</a:t>
            </a:r>
            <a:r>
              <a:rPr lang="en" b="1" i="1" dirty="0">
                <a:solidFill>
                  <a:srgbClr val="FF0000"/>
                </a:solidFill>
                <a:highlight>
                  <a:srgbClr val="FFFF00"/>
                </a:highlight>
              </a:rPr>
              <a:t>ADT</a:t>
            </a:r>
            <a:r>
              <a:rPr lang="en" dirty="0">
                <a:highlight>
                  <a:srgbClr val="FFFF00"/>
                </a:highlight>
              </a:rPr>
              <a:t>) </a:t>
            </a:r>
            <a:r>
              <a:rPr lang="en" dirty="0"/>
              <a:t>to represent a </a:t>
            </a:r>
            <a:r>
              <a:rPr lang="en" b="1" i="1" dirty="0">
                <a:solidFill>
                  <a:srgbClr val="FF0000"/>
                </a:solidFill>
              </a:rPr>
              <a:t>binary search tree</a:t>
            </a:r>
            <a:r>
              <a:rPr lang="en" dirty="0"/>
              <a:t> (</a:t>
            </a:r>
            <a:r>
              <a:rPr lang="en" b="1" i="1" dirty="0">
                <a:solidFill>
                  <a:srgbClr val="FF0000"/>
                </a:solidFill>
              </a:rPr>
              <a:t>BST</a:t>
            </a:r>
            <a:r>
              <a:rPr lang="en" dirty="0"/>
              <a:t>) using a Java interface.</a:t>
            </a:r>
            <a:endParaRPr dirty="0"/>
          </a:p>
        </p:txBody>
      </p:sp>
      <p:sp>
        <p:nvSpPr>
          <p:cNvPr id="837" name="Google Shape;837;p8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838" name="Google Shape;838;p88"/>
          <p:cNvSpPr txBox="1">
            <a:spLocks noGrp="1"/>
          </p:cNvSpPr>
          <p:nvPr>
            <p:ph type="body" idx="2"/>
          </p:nvPr>
        </p:nvSpPr>
        <p:spPr>
          <a:xfrm>
            <a:off x="2911550" y="1890350"/>
            <a:ext cx="5985300" cy="615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Using the UML to the left, define a new Java interface to represent a binary search tree.</a:t>
            </a:r>
            <a:endParaRPr dirty="0"/>
          </a:p>
        </p:txBody>
      </p:sp>
      <p:sp>
        <p:nvSpPr>
          <p:cNvPr id="839" name="Google Shape;839;p8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Binary Search Tree ADT</a:t>
            </a:r>
            <a:endParaRPr/>
          </a:p>
        </p:txBody>
      </p:sp>
      <p:sp>
        <p:nvSpPr>
          <p:cNvPr id="840" name="Google Shape;840;p8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6.4</a:t>
            </a:r>
            <a:endParaRPr/>
          </a:p>
        </p:txBody>
      </p:sp>
      <p:sp>
        <p:nvSpPr>
          <p:cNvPr id="841" name="Google Shape;841;p88"/>
          <p:cNvSpPr txBox="1">
            <a:spLocks noGrp="1"/>
          </p:cNvSpPr>
          <p:nvPr>
            <p:ph type="body" idx="4"/>
          </p:nvPr>
        </p:nvSpPr>
        <p:spPr>
          <a:xfrm>
            <a:off x="300900" y="3839650"/>
            <a:ext cx="2552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For now, the BST will only work with integer values.</a:t>
            </a:r>
            <a:endParaRPr/>
          </a:p>
        </p:txBody>
      </p:sp>
      <p:pic>
        <p:nvPicPr>
          <p:cNvPr id="842" name="Google Shape;842;p88"/>
          <p:cNvPicPr preferRelativeResize="0"/>
          <p:nvPr/>
        </p:nvPicPr>
        <p:blipFill>
          <a:blip r:embed="rId3">
            <a:alphaModFix/>
          </a:blip>
          <a:stretch>
            <a:fillRect/>
          </a:stretch>
        </p:blipFill>
        <p:spPr>
          <a:xfrm>
            <a:off x="300900" y="1890350"/>
            <a:ext cx="2552700" cy="180629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8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As you know, most ADTs can be implemented in more than one way. Let's work on a node-based implementation of a BST using the </a:t>
            </a:r>
            <a:r>
              <a:rPr lang="en">
                <a:latin typeface="Courier New"/>
                <a:ea typeface="Courier New"/>
                <a:cs typeface="Courier New"/>
                <a:sym typeface="Courier New"/>
              </a:rPr>
              <a:t>BinaryNode</a:t>
            </a:r>
            <a:r>
              <a:rPr lang="en"/>
              <a:t>!</a:t>
            </a:r>
            <a:endParaRPr/>
          </a:p>
        </p:txBody>
      </p:sp>
      <p:sp>
        <p:nvSpPr>
          <p:cNvPr id="848" name="Google Shape;848;p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849" name="Google Shape;849;p89"/>
          <p:cNvSpPr txBox="1">
            <a:spLocks noGrp="1"/>
          </p:cNvSpPr>
          <p:nvPr>
            <p:ph type="body" idx="2"/>
          </p:nvPr>
        </p:nvSpPr>
        <p:spPr>
          <a:xfrm>
            <a:off x="3875550" y="1454750"/>
            <a:ext cx="5069400" cy="3250603"/>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Using the UML to the left, begin implementing the </a:t>
            </a:r>
            <a:r>
              <a:rPr lang="en" sz="1500" dirty="0">
                <a:latin typeface="Courier New"/>
                <a:ea typeface="Courier New"/>
                <a:cs typeface="Courier New"/>
                <a:sym typeface="Courier New"/>
              </a:rPr>
              <a:t>NodeBST</a:t>
            </a:r>
            <a:r>
              <a:rPr lang="en" sz="1500" dirty="0"/>
              <a:t> class.</a:t>
            </a:r>
            <a:endParaRPr sz="1500" dirty="0"/>
          </a:p>
          <a:p>
            <a:pPr marL="914400" lvl="1" indent="-311150" algn="l" rtl="0">
              <a:spcBef>
                <a:spcPts val="0"/>
              </a:spcBef>
              <a:spcAft>
                <a:spcPts val="0"/>
              </a:spcAft>
              <a:buSzPts val="1300"/>
              <a:buChar char="○"/>
            </a:pPr>
            <a:r>
              <a:rPr lang="en" sz="1300" dirty="0"/>
              <a:t>Use the constructor to set the root node to </a:t>
            </a:r>
            <a:r>
              <a:rPr lang="en" sz="1300" dirty="0">
                <a:highlight>
                  <a:srgbClr val="FFFF00"/>
                </a:highlight>
                <a:latin typeface="Courier New"/>
                <a:ea typeface="Courier New"/>
                <a:cs typeface="Courier New"/>
                <a:sym typeface="Courier New"/>
              </a:rPr>
              <a:t>null</a:t>
            </a:r>
            <a:r>
              <a:rPr lang="en" sz="1300" dirty="0">
                <a:highlight>
                  <a:srgbClr val="FFFF00"/>
                </a:highlight>
              </a:rPr>
              <a:t>.</a:t>
            </a:r>
            <a:endParaRPr sz="1300" dirty="0">
              <a:highlight>
                <a:srgbClr val="FFFF00"/>
              </a:highlight>
            </a:endParaRPr>
          </a:p>
          <a:p>
            <a:pPr marL="914400" lvl="1" indent="-311150" algn="l" rtl="0">
              <a:spcBef>
                <a:spcPts val="0"/>
              </a:spcBef>
              <a:spcAft>
                <a:spcPts val="0"/>
              </a:spcAft>
              <a:buSzPts val="1300"/>
              <a:buChar char="○"/>
            </a:pPr>
            <a:r>
              <a:rPr lang="en" sz="1300" dirty="0"/>
              <a:t>Implement the </a:t>
            </a:r>
            <a:r>
              <a:rPr lang="en" sz="1300" dirty="0">
                <a:highlight>
                  <a:srgbClr val="FFFF00"/>
                </a:highlight>
                <a:latin typeface="Courier New"/>
                <a:ea typeface="Courier New"/>
                <a:cs typeface="Courier New"/>
                <a:sym typeface="Courier New"/>
              </a:rPr>
              <a:t>size()</a:t>
            </a:r>
            <a:r>
              <a:rPr lang="en" sz="1300" dirty="0">
                <a:highlight>
                  <a:srgbClr val="FFFF00"/>
                </a:highlight>
              </a:rPr>
              <a:t> </a:t>
            </a:r>
            <a:r>
              <a:rPr lang="en" sz="1300" dirty="0"/>
              <a:t>method just like we have for most of our data structures.</a:t>
            </a:r>
            <a:endParaRPr sz="1300" dirty="0"/>
          </a:p>
          <a:p>
            <a:pPr marL="914400" lvl="1" indent="-311150" algn="l" rtl="0">
              <a:spcBef>
                <a:spcPts val="0"/>
              </a:spcBef>
              <a:spcAft>
                <a:spcPts val="0"/>
              </a:spcAft>
              <a:buSzPts val="1300"/>
              <a:buChar char="○"/>
            </a:pPr>
            <a:r>
              <a:rPr lang="en" sz="1300" dirty="0"/>
              <a:t>Stub out the other methods for now.</a:t>
            </a:r>
            <a:endParaRPr sz="1300" dirty="0"/>
          </a:p>
          <a:p>
            <a:pPr marL="914400" lvl="1" indent="-311150" algn="l" rtl="0">
              <a:spcBef>
                <a:spcPts val="0"/>
              </a:spcBef>
              <a:spcAft>
                <a:spcPts val="0"/>
              </a:spcAft>
              <a:buSzPts val="1300"/>
              <a:buChar char="○"/>
            </a:pPr>
            <a:r>
              <a:rPr lang="en" sz="1300" dirty="0"/>
              <a:t>The string representation of the </a:t>
            </a:r>
            <a:r>
              <a:rPr lang="en" sz="1300" dirty="0">
                <a:highlight>
                  <a:srgbClr val="FFFF00"/>
                </a:highlight>
                <a:latin typeface="Courier New"/>
                <a:ea typeface="Courier New"/>
                <a:cs typeface="Courier New"/>
                <a:sym typeface="Courier New"/>
              </a:rPr>
              <a:t>NodeBST</a:t>
            </a:r>
            <a:r>
              <a:rPr lang="en" sz="1300" dirty="0"/>
              <a:t> should be an infix traversal of the tree, or </a:t>
            </a:r>
            <a:r>
              <a:rPr lang="en" sz="1300" dirty="0">
                <a:latin typeface="Courier New"/>
                <a:ea typeface="Courier New"/>
                <a:cs typeface="Courier New"/>
                <a:sym typeface="Courier New"/>
              </a:rPr>
              <a:t>"&lt;empty&gt;"</a:t>
            </a:r>
            <a:r>
              <a:rPr lang="en" sz="1300" dirty="0"/>
              <a:t> if the tree is empty. </a:t>
            </a:r>
            <a:endParaRPr sz="1300" dirty="0"/>
          </a:p>
          <a:p>
            <a:pPr marL="457200" lvl="0" indent="-323850" algn="l" rtl="0">
              <a:spcBef>
                <a:spcPts val="1000"/>
              </a:spcBef>
              <a:spcAft>
                <a:spcPts val="0"/>
              </a:spcAft>
              <a:buSzPts val="1500"/>
              <a:buChar char="●"/>
            </a:pPr>
            <a:r>
              <a:rPr lang="en" sz="1500" dirty="0"/>
              <a:t>Define a </a:t>
            </a:r>
            <a:r>
              <a:rPr lang="en" sz="1500" dirty="0">
                <a:latin typeface="Courier New"/>
                <a:ea typeface="Courier New"/>
                <a:cs typeface="Courier New"/>
                <a:sym typeface="Courier New"/>
              </a:rPr>
              <a:t>main</a:t>
            </a:r>
            <a:r>
              <a:rPr lang="en" sz="1500" dirty="0"/>
              <a:t> method with the appropriate signature and use it to create an empty </a:t>
            </a:r>
            <a:r>
              <a:rPr lang="en" sz="1500" dirty="0">
                <a:latin typeface="Courier New"/>
                <a:ea typeface="Courier New"/>
                <a:cs typeface="Courier New"/>
                <a:sym typeface="Courier New"/>
              </a:rPr>
              <a:t>NodeBST</a:t>
            </a:r>
            <a:r>
              <a:rPr lang="en" sz="1500" dirty="0"/>
              <a:t> and print it to standard output.</a:t>
            </a:r>
            <a:endParaRPr sz="1500" dirty="0"/>
          </a:p>
        </p:txBody>
      </p:sp>
      <p:sp>
        <p:nvSpPr>
          <p:cNvPr id="850" name="Google Shape;850;p8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Node-Based BST</a:t>
            </a:r>
            <a:endParaRPr/>
          </a:p>
        </p:txBody>
      </p:sp>
      <p:sp>
        <p:nvSpPr>
          <p:cNvPr id="851" name="Google Shape;851;p8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6.5</a:t>
            </a:r>
            <a:endParaRPr/>
          </a:p>
        </p:txBody>
      </p:sp>
      <p:pic>
        <p:nvPicPr>
          <p:cNvPr id="852" name="Google Shape;852;p89"/>
          <p:cNvPicPr preferRelativeResize="0"/>
          <p:nvPr/>
        </p:nvPicPr>
        <p:blipFill>
          <a:blip r:embed="rId3">
            <a:alphaModFix/>
          </a:blip>
          <a:stretch>
            <a:fillRect/>
          </a:stretch>
        </p:blipFill>
        <p:spPr>
          <a:xfrm>
            <a:off x="159450" y="1533950"/>
            <a:ext cx="3636525" cy="29265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90"/>
          <p:cNvSpPr txBox="1">
            <a:spLocks noGrp="1"/>
          </p:cNvSpPr>
          <p:nvPr>
            <p:ph type="title"/>
          </p:nvPr>
        </p:nvSpPr>
        <p:spPr>
          <a:xfrm>
            <a:off x="311725" y="199425"/>
            <a:ext cx="3706500" cy="9396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t>Inserting into the Pokédex</a:t>
            </a:r>
            <a:endParaRPr/>
          </a:p>
        </p:txBody>
      </p:sp>
      <p:sp>
        <p:nvSpPr>
          <p:cNvPr id="858" name="Google Shape;858;p90"/>
          <p:cNvSpPr txBox="1">
            <a:spLocks noGrp="1"/>
          </p:cNvSpPr>
          <p:nvPr>
            <p:ph type="body" idx="1"/>
          </p:nvPr>
        </p:nvSpPr>
        <p:spPr>
          <a:xfrm>
            <a:off x="4444375" y="199425"/>
            <a:ext cx="4469100" cy="4654800"/>
          </a:xfrm>
          <a:prstGeom prst="rect">
            <a:avLst/>
          </a:prstGeom>
        </p:spPr>
        <p:txBody>
          <a:bodyPr spcFirstLastPara="1" wrap="square" lIns="91425" tIns="91425" rIns="91425" bIns="91425" anchor="ctr" anchorCtr="0">
            <a:spAutoFit/>
          </a:bodyPr>
          <a:lstStyle/>
          <a:p>
            <a:pPr marL="457200" lvl="0" indent="-323850" algn="l" rtl="0">
              <a:spcBef>
                <a:spcPts val="0"/>
              </a:spcBef>
              <a:spcAft>
                <a:spcPts val="0"/>
              </a:spcAft>
              <a:buSzPts val="1500"/>
              <a:buChar char="●"/>
            </a:pPr>
            <a:r>
              <a:rPr lang="en" sz="1500" dirty="0"/>
              <a:t>So now that we know that we can implement the Pokédex using a </a:t>
            </a:r>
            <a:r>
              <a:rPr lang="en" sz="1500" b="1" i="1" dirty="0">
                <a:solidFill>
                  <a:srgbClr val="FF0000"/>
                </a:solidFill>
              </a:rPr>
              <a:t>binary search tree</a:t>
            </a:r>
            <a:r>
              <a:rPr lang="en" sz="1500" dirty="0"/>
              <a:t>, how do we go about adding a new Pokémon to the Pokédex?</a:t>
            </a:r>
            <a:endParaRPr sz="1500" dirty="0"/>
          </a:p>
          <a:p>
            <a:pPr marL="457200" lvl="0" indent="-323850" algn="l" rtl="0">
              <a:spcBef>
                <a:spcPts val="1000"/>
              </a:spcBef>
              <a:spcAft>
                <a:spcPts val="0"/>
              </a:spcAft>
              <a:buSzPts val="1500"/>
              <a:buChar char="●"/>
            </a:pPr>
            <a:r>
              <a:rPr lang="en" sz="1500" dirty="0"/>
              <a:t>Each new Pokémon will need to be </a:t>
            </a:r>
            <a:r>
              <a:rPr lang="en" sz="1500" b="1" i="1" dirty="0">
                <a:solidFill>
                  <a:srgbClr val="FF0000"/>
                </a:solidFill>
              </a:rPr>
              <a:t>inserted</a:t>
            </a:r>
            <a:r>
              <a:rPr lang="en" sz="1500" dirty="0">
                <a:solidFill>
                  <a:srgbClr val="FF0000"/>
                </a:solidFill>
              </a:rPr>
              <a:t> </a:t>
            </a:r>
            <a:r>
              <a:rPr lang="en" sz="1500" dirty="0"/>
              <a:t>into the correct position in the BST.</a:t>
            </a:r>
            <a:endParaRPr sz="1500" dirty="0"/>
          </a:p>
          <a:p>
            <a:pPr marL="457200" lvl="0" indent="-323850" algn="l" rtl="0">
              <a:spcBef>
                <a:spcPts val="1000"/>
              </a:spcBef>
              <a:spcAft>
                <a:spcPts val="0"/>
              </a:spcAft>
              <a:buSzPts val="1500"/>
              <a:buChar char="●"/>
            </a:pPr>
            <a:r>
              <a:rPr lang="en" sz="1500" dirty="0"/>
              <a:t>Again, because a BST is a recursive data structure, a recursive algorithm can be used.</a:t>
            </a:r>
            <a:endParaRPr sz="1500" dirty="0"/>
          </a:p>
          <a:p>
            <a:pPr marL="914400" lvl="1" indent="-323850" algn="l" rtl="0">
              <a:spcBef>
                <a:spcPts val="0"/>
              </a:spcBef>
              <a:spcAft>
                <a:spcPts val="0"/>
              </a:spcAft>
              <a:buSzPts val="1500"/>
              <a:buChar char="○"/>
            </a:pPr>
            <a:r>
              <a:rPr lang="en" sz="1500" dirty="0"/>
              <a:t>Starting at the root, if the new value comes </a:t>
            </a:r>
            <a:r>
              <a:rPr lang="en" sz="1500" b="1" i="1" dirty="0">
                <a:solidFill>
                  <a:srgbClr val="FF0000"/>
                </a:solidFill>
              </a:rPr>
              <a:t>before</a:t>
            </a:r>
            <a:r>
              <a:rPr lang="en" sz="1500" dirty="0">
                <a:solidFill>
                  <a:srgbClr val="666666"/>
                </a:solidFill>
              </a:rPr>
              <a:t> the node's </a:t>
            </a:r>
            <a:r>
              <a:rPr lang="en" sz="1500" dirty="0">
                <a:solidFill>
                  <a:srgbClr val="FF0000"/>
                </a:solidFill>
                <a:latin typeface="Courier New"/>
                <a:ea typeface="Courier New"/>
                <a:cs typeface="Courier New"/>
                <a:sym typeface="Courier New"/>
              </a:rPr>
              <a:t>value</a:t>
            </a:r>
            <a:r>
              <a:rPr lang="en" sz="1500" dirty="0"/>
              <a:t>, insert the new value into the </a:t>
            </a:r>
            <a:r>
              <a:rPr lang="en" sz="1500" b="1" i="1" dirty="0">
                <a:solidFill>
                  <a:srgbClr val="FF0000"/>
                </a:solidFill>
              </a:rPr>
              <a:t>left subtree</a:t>
            </a:r>
            <a:r>
              <a:rPr lang="en" sz="1500" dirty="0"/>
              <a:t>.</a:t>
            </a:r>
            <a:endParaRPr sz="1500" dirty="0"/>
          </a:p>
          <a:p>
            <a:pPr marL="914400" lvl="1" indent="-323850" algn="l" rtl="0">
              <a:spcBef>
                <a:spcPts val="0"/>
              </a:spcBef>
              <a:spcAft>
                <a:spcPts val="0"/>
              </a:spcAft>
              <a:buSzPts val="1500"/>
              <a:buChar char="○"/>
            </a:pPr>
            <a:r>
              <a:rPr lang="en" sz="1500" dirty="0"/>
              <a:t>Otherwise, insert the new value into the </a:t>
            </a:r>
            <a:r>
              <a:rPr lang="en" sz="1500" b="1" i="1" dirty="0">
                <a:solidFill>
                  <a:srgbClr val="FF0000"/>
                </a:solidFill>
              </a:rPr>
              <a:t>right</a:t>
            </a:r>
            <a:r>
              <a:rPr lang="en" sz="1500" dirty="0">
                <a:solidFill>
                  <a:srgbClr val="FF0000"/>
                </a:solidFill>
              </a:rPr>
              <a:t> </a:t>
            </a:r>
            <a:r>
              <a:rPr lang="en" sz="1500" b="1" i="1" dirty="0">
                <a:solidFill>
                  <a:srgbClr val="FF0000"/>
                </a:solidFill>
              </a:rPr>
              <a:t>subtree</a:t>
            </a:r>
            <a:r>
              <a:rPr lang="en" sz="1500" dirty="0"/>
              <a:t>.</a:t>
            </a:r>
            <a:endParaRPr sz="1500" dirty="0"/>
          </a:p>
          <a:p>
            <a:pPr marL="914400" lvl="1" indent="-323850" algn="l" rtl="0">
              <a:spcBef>
                <a:spcPts val="0"/>
              </a:spcBef>
              <a:spcAft>
                <a:spcPts val="0"/>
              </a:spcAft>
              <a:buSzPts val="1500"/>
              <a:buChar char="○"/>
            </a:pPr>
            <a:r>
              <a:rPr lang="en" sz="1500" dirty="0"/>
              <a:t>Repeat this until an </a:t>
            </a:r>
            <a:r>
              <a:rPr lang="en" sz="1500" b="1" i="1" dirty="0">
                <a:solidFill>
                  <a:srgbClr val="FF0000"/>
                </a:solidFill>
              </a:rPr>
              <a:t>empty subtree</a:t>
            </a:r>
            <a:r>
              <a:rPr lang="en" sz="1500" dirty="0"/>
              <a:t> is found. Create a new </a:t>
            </a:r>
            <a:r>
              <a:rPr lang="en" sz="1500" dirty="0">
                <a:latin typeface="Courier New"/>
                <a:ea typeface="Courier New"/>
                <a:cs typeface="Courier New"/>
                <a:sym typeface="Courier New"/>
              </a:rPr>
              <a:t>BinaryNode</a:t>
            </a:r>
            <a:r>
              <a:rPr lang="en" sz="1500" dirty="0"/>
              <a:t> and add it to the tree.</a:t>
            </a:r>
            <a:endParaRPr sz="1500" dirty="0"/>
          </a:p>
        </p:txBody>
      </p:sp>
      <p:pic>
        <p:nvPicPr>
          <p:cNvPr id="859" name="Google Shape;859;p90"/>
          <p:cNvPicPr preferRelativeResize="0"/>
          <p:nvPr/>
        </p:nvPicPr>
        <p:blipFill>
          <a:blip r:embed="rId3">
            <a:alphaModFix/>
          </a:blip>
          <a:stretch>
            <a:fillRect/>
          </a:stretch>
        </p:blipFill>
        <p:spPr>
          <a:xfrm>
            <a:off x="410775" y="1605700"/>
            <a:ext cx="1747725" cy="3314224"/>
          </a:xfrm>
          <a:prstGeom prst="rect">
            <a:avLst/>
          </a:prstGeom>
          <a:noFill/>
          <a:ln>
            <a:noFill/>
          </a:ln>
        </p:spPr>
      </p:pic>
      <p:sp>
        <p:nvSpPr>
          <p:cNvPr id="860" name="Google Shape;860;p90"/>
          <p:cNvSpPr/>
          <p:nvPr/>
        </p:nvSpPr>
        <p:spPr>
          <a:xfrm>
            <a:off x="2276950" y="1139025"/>
            <a:ext cx="1786200" cy="939600"/>
          </a:xfrm>
          <a:prstGeom prst="wedgeRoundRectCallout">
            <a:avLst>
              <a:gd name="adj1" fmla="val -54760"/>
              <a:gd name="adj2" fmla="val 6539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t>Once I’ve captured a new Pokémon, I need to insert it into my Pokédex!</a:t>
            </a:r>
            <a:endParaRPr sz="1300"/>
          </a:p>
        </p:txBody>
      </p:sp>
      <p:sp>
        <p:nvSpPr>
          <p:cNvPr id="861" name="Google Shape;861;p9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5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5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9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Inserting into a BST</a:t>
            </a:r>
            <a:endParaRPr/>
          </a:p>
        </p:txBody>
      </p:sp>
      <p:sp>
        <p:nvSpPr>
          <p:cNvPr id="867" name="Google Shape;867;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868" name="Google Shape;868;p91"/>
          <p:cNvSpPr txBox="1"/>
          <p:nvPr/>
        </p:nvSpPr>
        <p:spPr>
          <a:xfrm>
            <a:off x="430000" y="1408400"/>
            <a:ext cx="19704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000"/>
              <a:t>The root node in an empty BST is </a:t>
            </a:r>
            <a:r>
              <a:rPr lang="en" sz="1000">
                <a:latin typeface="Courier New"/>
                <a:ea typeface="Courier New"/>
                <a:cs typeface="Courier New"/>
                <a:sym typeface="Courier New"/>
              </a:rPr>
              <a:t>null</a:t>
            </a:r>
            <a:r>
              <a:rPr lang="en" sz="1000"/>
              <a:t>, so the first value inserted becomes the root.</a:t>
            </a:r>
            <a:endParaRPr sz="1000"/>
          </a:p>
        </p:txBody>
      </p:sp>
      <p:sp>
        <p:nvSpPr>
          <p:cNvPr id="869" name="Google Shape;869;p91"/>
          <p:cNvSpPr/>
          <p:nvPr/>
        </p:nvSpPr>
        <p:spPr>
          <a:xfrm>
            <a:off x="1212111" y="2204300"/>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sp>
        <p:nvSpPr>
          <p:cNvPr id="870" name="Google Shape;870;p91"/>
          <p:cNvSpPr txBox="1"/>
          <p:nvPr/>
        </p:nvSpPr>
        <p:spPr>
          <a:xfrm>
            <a:off x="2594450" y="1408400"/>
            <a:ext cx="19704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000"/>
              <a:t>If the next value is </a:t>
            </a:r>
            <a:r>
              <a:rPr lang="en" sz="1000" b="1" i="1">
                <a:solidFill>
                  <a:srgbClr val="FF0000"/>
                </a:solidFill>
              </a:rPr>
              <a:t>less than</a:t>
            </a:r>
            <a:r>
              <a:rPr lang="en" sz="1000"/>
              <a:t> the root's value, it is inserted into the </a:t>
            </a:r>
            <a:r>
              <a:rPr lang="en" sz="1000" b="1" i="1">
                <a:solidFill>
                  <a:srgbClr val="FF0000"/>
                </a:solidFill>
              </a:rPr>
              <a:t>left subtree</a:t>
            </a:r>
            <a:r>
              <a:rPr lang="en" sz="1000"/>
              <a:t>.</a:t>
            </a:r>
            <a:endParaRPr sz="1000"/>
          </a:p>
        </p:txBody>
      </p:sp>
      <p:sp>
        <p:nvSpPr>
          <p:cNvPr id="871" name="Google Shape;871;p91"/>
          <p:cNvSpPr/>
          <p:nvPr/>
        </p:nvSpPr>
        <p:spPr>
          <a:xfrm>
            <a:off x="3376586" y="2898000"/>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grpSp>
        <p:nvGrpSpPr>
          <p:cNvPr id="872" name="Google Shape;872;p91"/>
          <p:cNvGrpSpPr/>
          <p:nvPr/>
        </p:nvGrpSpPr>
        <p:grpSpPr>
          <a:xfrm>
            <a:off x="2855386" y="3251371"/>
            <a:ext cx="580687" cy="531904"/>
            <a:chOff x="2580536" y="3251371"/>
            <a:chExt cx="580687" cy="531904"/>
          </a:xfrm>
        </p:grpSpPr>
        <p:sp>
          <p:nvSpPr>
            <p:cNvPr id="873" name="Google Shape;873;p91"/>
            <p:cNvSpPr/>
            <p:nvPr/>
          </p:nvSpPr>
          <p:spPr>
            <a:xfrm>
              <a:off x="2580536" y="33692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12</a:t>
              </a:r>
              <a:endParaRPr sz="700"/>
            </a:p>
          </p:txBody>
        </p:sp>
        <p:cxnSp>
          <p:nvCxnSpPr>
            <p:cNvPr id="874" name="Google Shape;874;p91"/>
            <p:cNvCxnSpPr>
              <a:stCxn id="871" idx="3"/>
              <a:endCxn id="873" idx="7"/>
            </p:cNvCxnSpPr>
            <p:nvPr/>
          </p:nvCxnSpPr>
          <p:spPr>
            <a:xfrm flipH="1">
              <a:off x="2927223" y="3251371"/>
              <a:ext cx="234000" cy="178500"/>
            </a:xfrm>
            <a:prstGeom prst="straightConnector1">
              <a:avLst/>
            </a:prstGeom>
            <a:noFill/>
            <a:ln w="9525" cap="flat" cmpd="sng">
              <a:solidFill>
                <a:srgbClr val="000000"/>
              </a:solidFill>
              <a:prstDash val="solid"/>
              <a:round/>
              <a:headEnd type="none" w="med" len="med"/>
              <a:tailEnd type="stealth" w="med" len="med"/>
            </a:ln>
          </p:spPr>
        </p:cxnSp>
      </p:grpSp>
      <p:sp>
        <p:nvSpPr>
          <p:cNvPr id="875" name="Google Shape;875;p91"/>
          <p:cNvSpPr txBox="1"/>
          <p:nvPr/>
        </p:nvSpPr>
        <p:spPr>
          <a:xfrm>
            <a:off x="2594450" y="2155375"/>
            <a:ext cx="19704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000"/>
              <a:t>At this point, the left subtree is </a:t>
            </a:r>
            <a:r>
              <a:rPr lang="en" sz="1000" b="1" i="1">
                <a:solidFill>
                  <a:srgbClr val="FF0000"/>
                </a:solidFill>
              </a:rPr>
              <a:t>empty</a:t>
            </a:r>
            <a:r>
              <a:rPr lang="en" sz="1000"/>
              <a:t>, and so the new value becomes the left subtree.</a:t>
            </a:r>
            <a:endParaRPr sz="1000"/>
          </a:p>
        </p:txBody>
      </p:sp>
      <p:sp>
        <p:nvSpPr>
          <p:cNvPr id="876" name="Google Shape;876;p91"/>
          <p:cNvSpPr txBox="1"/>
          <p:nvPr/>
        </p:nvSpPr>
        <p:spPr>
          <a:xfrm>
            <a:off x="2594450" y="3967975"/>
            <a:ext cx="1970400" cy="646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000"/>
              <a:t>If the next value is </a:t>
            </a:r>
            <a:r>
              <a:rPr lang="en" sz="1000" b="1" i="1">
                <a:solidFill>
                  <a:srgbClr val="FF0000"/>
                </a:solidFill>
              </a:rPr>
              <a:t>greater than</a:t>
            </a:r>
            <a:r>
              <a:rPr lang="en" sz="1000"/>
              <a:t> the root's value, it is inserted into the </a:t>
            </a:r>
            <a:r>
              <a:rPr lang="en" sz="1000" b="1" i="1">
                <a:solidFill>
                  <a:srgbClr val="FF0000"/>
                </a:solidFill>
              </a:rPr>
              <a:t>right subtree</a:t>
            </a:r>
            <a:r>
              <a:rPr lang="en" sz="1000"/>
              <a:t>.</a:t>
            </a:r>
            <a:endParaRPr sz="1000"/>
          </a:p>
        </p:txBody>
      </p:sp>
      <p:grpSp>
        <p:nvGrpSpPr>
          <p:cNvPr id="877" name="Google Shape;877;p91"/>
          <p:cNvGrpSpPr/>
          <p:nvPr/>
        </p:nvGrpSpPr>
        <p:grpSpPr>
          <a:xfrm>
            <a:off x="3723300" y="3251371"/>
            <a:ext cx="589237" cy="531904"/>
            <a:chOff x="3448450" y="3251371"/>
            <a:chExt cx="589237" cy="531904"/>
          </a:xfrm>
        </p:grpSpPr>
        <p:sp>
          <p:nvSpPr>
            <p:cNvPr id="878" name="Google Shape;878;p91"/>
            <p:cNvSpPr/>
            <p:nvPr/>
          </p:nvSpPr>
          <p:spPr>
            <a:xfrm>
              <a:off x="3631486" y="33692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37</a:t>
              </a:r>
              <a:endParaRPr sz="700"/>
            </a:p>
          </p:txBody>
        </p:sp>
        <p:cxnSp>
          <p:nvCxnSpPr>
            <p:cNvPr id="879" name="Google Shape;879;p91"/>
            <p:cNvCxnSpPr>
              <a:stCxn id="871" idx="5"/>
              <a:endCxn id="878" idx="1"/>
            </p:cNvCxnSpPr>
            <p:nvPr/>
          </p:nvCxnSpPr>
          <p:spPr>
            <a:xfrm>
              <a:off x="3448450" y="3251371"/>
              <a:ext cx="242400" cy="178500"/>
            </a:xfrm>
            <a:prstGeom prst="straightConnector1">
              <a:avLst/>
            </a:prstGeom>
            <a:noFill/>
            <a:ln w="9525" cap="flat" cmpd="sng">
              <a:solidFill>
                <a:srgbClr val="000000"/>
              </a:solidFill>
              <a:prstDash val="solid"/>
              <a:round/>
              <a:headEnd type="none" w="med" len="med"/>
              <a:tailEnd type="stealth" w="med" len="med"/>
            </a:ln>
          </p:spPr>
        </p:cxnSp>
      </p:grpSp>
      <p:sp>
        <p:nvSpPr>
          <p:cNvPr id="880" name="Google Shape;880;p91"/>
          <p:cNvSpPr txBox="1"/>
          <p:nvPr/>
        </p:nvSpPr>
        <p:spPr>
          <a:xfrm>
            <a:off x="5736425" y="1408400"/>
            <a:ext cx="2924700" cy="800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000"/>
              <a:t>As new values are inserted, the process continues </a:t>
            </a:r>
            <a:r>
              <a:rPr lang="en" sz="1000" b="1" i="1">
                <a:solidFill>
                  <a:srgbClr val="FF0000"/>
                </a:solidFill>
              </a:rPr>
              <a:t>recursively</a:t>
            </a:r>
            <a:r>
              <a:rPr lang="en" sz="1000"/>
              <a:t>; each value is inserted into the left or right subtree until an empty subtree is found. </a:t>
            </a:r>
            <a:endParaRPr sz="1000"/>
          </a:p>
        </p:txBody>
      </p:sp>
      <p:grpSp>
        <p:nvGrpSpPr>
          <p:cNvPr id="881" name="Google Shape;881;p91"/>
          <p:cNvGrpSpPr/>
          <p:nvPr/>
        </p:nvGrpSpPr>
        <p:grpSpPr>
          <a:xfrm>
            <a:off x="6238311" y="2288684"/>
            <a:ext cx="1933900" cy="886716"/>
            <a:chOff x="5963461" y="2288684"/>
            <a:chExt cx="1933900" cy="886716"/>
          </a:xfrm>
        </p:grpSpPr>
        <p:sp>
          <p:nvSpPr>
            <p:cNvPr id="882" name="Google Shape;882;p91"/>
            <p:cNvSpPr/>
            <p:nvPr/>
          </p:nvSpPr>
          <p:spPr>
            <a:xfrm>
              <a:off x="6727311" y="2288684"/>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sp>
          <p:nvSpPr>
            <p:cNvPr id="883" name="Google Shape;883;p91"/>
            <p:cNvSpPr/>
            <p:nvPr/>
          </p:nvSpPr>
          <p:spPr>
            <a:xfrm>
              <a:off x="5963461" y="2761400"/>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12</a:t>
              </a:r>
              <a:endParaRPr sz="700"/>
            </a:p>
          </p:txBody>
        </p:sp>
        <p:cxnSp>
          <p:nvCxnSpPr>
            <p:cNvPr id="884" name="Google Shape;884;p91"/>
            <p:cNvCxnSpPr>
              <a:stCxn id="882" idx="3"/>
              <a:endCxn id="883" idx="7"/>
            </p:cNvCxnSpPr>
            <p:nvPr/>
          </p:nvCxnSpPr>
          <p:spPr>
            <a:xfrm flipH="1">
              <a:off x="6310098" y="2642055"/>
              <a:ext cx="476700" cy="180000"/>
            </a:xfrm>
            <a:prstGeom prst="straightConnector1">
              <a:avLst/>
            </a:prstGeom>
            <a:noFill/>
            <a:ln w="9525" cap="flat" cmpd="sng">
              <a:solidFill>
                <a:srgbClr val="000000"/>
              </a:solidFill>
              <a:prstDash val="solid"/>
              <a:round/>
              <a:headEnd type="none" w="med" len="med"/>
              <a:tailEnd type="stealth" w="med" len="med"/>
            </a:ln>
          </p:spPr>
        </p:cxnSp>
        <p:sp>
          <p:nvSpPr>
            <p:cNvPr id="885" name="Google Shape;885;p91"/>
            <p:cNvSpPr/>
            <p:nvPr/>
          </p:nvSpPr>
          <p:spPr>
            <a:xfrm>
              <a:off x="7491161" y="2761400"/>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37</a:t>
              </a:r>
              <a:endParaRPr sz="700"/>
            </a:p>
          </p:txBody>
        </p:sp>
        <p:cxnSp>
          <p:nvCxnSpPr>
            <p:cNvPr id="886" name="Google Shape;886;p91"/>
            <p:cNvCxnSpPr>
              <a:stCxn id="882" idx="5"/>
              <a:endCxn id="885" idx="1"/>
            </p:cNvCxnSpPr>
            <p:nvPr/>
          </p:nvCxnSpPr>
          <p:spPr>
            <a:xfrm>
              <a:off x="7074025" y="2642055"/>
              <a:ext cx="476700" cy="180000"/>
            </a:xfrm>
            <a:prstGeom prst="straightConnector1">
              <a:avLst/>
            </a:prstGeom>
            <a:noFill/>
            <a:ln w="9525" cap="flat" cmpd="sng">
              <a:solidFill>
                <a:srgbClr val="000000"/>
              </a:solidFill>
              <a:prstDash val="solid"/>
              <a:round/>
              <a:headEnd type="none" w="med" len="med"/>
              <a:tailEnd type="stealth" w="med" len="med"/>
            </a:ln>
          </p:spPr>
        </p:cxnSp>
      </p:grpSp>
      <p:grpSp>
        <p:nvGrpSpPr>
          <p:cNvPr id="887" name="Google Shape;887;p91"/>
          <p:cNvGrpSpPr/>
          <p:nvPr/>
        </p:nvGrpSpPr>
        <p:grpSpPr>
          <a:xfrm>
            <a:off x="6585025" y="3114771"/>
            <a:ext cx="584262" cy="550829"/>
            <a:chOff x="6310175" y="3114771"/>
            <a:chExt cx="584262" cy="550829"/>
          </a:xfrm>
        </p:grpSpPr>
        <p:sp>
          <p:nvSpPr>
            <p:cNvPr id="888" name="Google Shape;888;p91"/>
            <p:cNvSpPr/>
            <p:nvPr/>
          </p:nvSpPr>
          <p:spPr>
            <a:xfrm>
              <a:off x="6488236" y="3251600"/>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14</a:t>
              </a:r>
              <a:endParaRPr sz="700"/>
            </a:p>
          </p:txBody>
        </p:sp>
        <p:cxnSp>
          <p:nvCxnSpPr>
            <p:cNvPr id="889" name="Google Shape;889;p91"/>
            <p:cNvCxnSpPr>
              <a:stCxn id="883" idx="5"/>
              <a:endCxn id="888" idx="1"/>
            </p:cNvCxnSpPr>
            <p:nvPr/>
          </p:nvCxnSpPr>
          <p:spPr>
            <a:xfrm>
              <a:off x="6310175" y="3114771"/>
              <a:ext cx="237600" cy="197400"/>
            </a:xfrm>
            <a:prstGeom prst="straightConnector1">
              <a:avLst/>
            </a:prstGeom>
            <a:noFill/>
            <a:ln w="9525" cap="flat" cmpd="sng">
              <a:solidFill>
                <a:srgbClr val="000000"/>
              </a:solidFill>
              <a:prstDash val="solid"/>
              <a:round/>
              <a:headEnd type="none" w="med" len="med"/>
              <a:tailEnd type="stealth" w="med" len="med"/>
            </a:ln>
          </p:spPr>
        </p:cxnSp>
      </p:grpSp>
      <p:grpSp>
        <p:nvGrpSpPr>
          <p:cNvPr id="890" name="Google Shape;890;p91"/>
          <p:cNvGrpSpPr/>
          <p:nvPr/>
        </p:nvGrpSpPr>
        <p:grpSpPr>
          <a:xfrm>
            <a:off x="7242686" y="3114771"/>
            <a:ext cx="582812" cy="554504"/>
            <a:chOff x="6967836" y="3114771"/>
            <a:chExt cx="582812" cy="554504"/>
          </a:xfrm>
        </p:grpSpPr>
        <p:sp>
          <p:nvSpPr>
            <p:cNvPr id="891" name="Google Shape;891;p91"/>
            <p:cNvSpPr/>
            <p:nvPr/>
          </p:nvSpPr>
          <p:spPr>
            <a:xfrm>
              <a:off x="6967836" y="32552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35</a:t>
              </a:r>
              <a:endParaRPr sz="700"/>
            </a:p>
          </p:txBody>
        </p:sp>
        <p:cxnSp>
          <p:nvCxnSpPr>
            <p:cNvPr id="892" name="Google Shape;892;p91"/>
            <p:cNvCxnSpPr>
              <a:stCxn id="885" idx="3"/>
              <a:endCxn id="891" idx="7"/>
            </p:cNvCxnSpPr>
            <p:nvPr/>
          </p:nvCxnSpPr>
          <p:spPr>
            <a:xfrm flipH="1">
              <a:off x="7314548" y="3114771"/>
              <a:ext cx="236100" cy="201000"/>
            </a:xfrm>
            <a:prstGeom prst="straightConnector1">
              <a:avLst/>
            </a:prstGeom>
            <a:noFill/>
            <a:ln w="9525" cap="flat" cmpd="sng">
              <a:solidFill>
                <a:srgbClr val="000000"/>
              </a:solidFill>
              <a:prstDash val="solid"/>
              <a:round/>
              <a:headEnd type="none" w="med" len="med"/>
              <a:tailEnd type="stealth" w="med" len="med"/>
            </a:ln>
          </p:spPr>
        </p:cxnSp>
      </p:grpSp>
      <p:grpSp>
        <p:nvGrpSpPr>
          <p:cNvPr id="893" name="Google Shape;893;p91"/>
          <p:cNvGrpSpPr/>
          <p:nvPr/>
        </p:nvGrpSpPr>
        <p:grpSpPr>
          <a:xfrm>
            <a:off x="8112725" y="3114771"/>
            <a:ext cx="601338" cy="550604"/>
            <a:chOff x="7837875" y="3114771"/>
            <a:chExt cx="601338" cy="550604"/>
          </a:xfrm>
        </p:grpSpPr>
        <p:sp>
          <p:nvSpPr>
            <p:cNvPr id="894" name="Google Shape;894;p91"/>
            <p:cNvSpPr/>
            <p:nvPr/>
          </p:nvSpPr>
          <p:spPr>
            <a:xfrm>
              <a:off x="8033012" y="32513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41</a:t>
              </a:r>
              <a:endParaRPr sz="700"/>
            </a:p>
          </p:txBody>
        </p:sp>
        <p:cxnSp>
          <p:nvCxnSpPr>
            <p:cNvPr id="895" name="Google Shape;895;p91"/>
            <p:cNvCxnSpPr>
              <a:stCxn id="885" idx="5"/>
              <a:endCxn id="894" idx="1"/>
            </p:cNvCxnSpPr>
            <p:nvPr/>
          </p:nvCxnSpPr>
          <p:spPr>
            <a:xfrm>
              <a:off x="7837875" y="3114771"/>
              <a:ext cx="254700" cy="197100"/>
            </a:xfrm>
            <a:prstGeom prst="straightConnector1">
              <a:avLst/>
            </a:prstGeom>
            <a:noFill/>
            <a:ln w="9525" cap="flat" cmpd="sng">
              <a:solidFill>
                <a:srgbClr val="000000"/>
              </a:solidFill>
              <a:prstDash val="solid"/>
              <a:round/>
              <a:headEnd type="none" w="med" len="med"/>
              <a:tailEnd type="stealth" w="med" len="med"/>
            </a:ln>
          </p:spPr>
        </p:cxnSp>
      </p:grpSp>
      <p:grpSp>
        <p:nvGrpSpPr>
          <p:cNvPr id="896" name="Google Shape;896;p91"/>
          <p:cNvGrpSpPr/>
          <p:nvPr/>
        </p:nvGrpSpPr>
        <p:grpSpPr>
          <a:xfrm>
            <a:off x="7589400" y="3608646"/>
            <a:ext cx="642312" cy="567129"/>
            <a:chOff x="7314550" y="3608646"/>
            <a:chExt cx="642312" cy="567129"/>
          </a:xfrm>
        </p:grpSpPr>
        <p:sp>
          <p:nvSpPr>
            <p:cNvPr id="897" name="Google Shape;897;p91"/>
            <p:cNvSpPr/>
            <p:nvPr/>
          </p:nvSpPr>
          <p:spPr>
            <a:xfrm>
              <a:off x="7550661" y="37617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36</a:t>
              </a:r>
              <a:endParaRPr sz="700"/>
            </a:p>
          </p:txBody>
        </p:sp>
        <p:cxnSp>
          <p:nvCxnSpPr>
            <p:cNvPr id="898" name="Google Shape;898;p91"/>
            <p:cNvCxnSpPr>
              <a:stCxn id="891" idx="5"/>
              <a:endCxn id="897" idx="1"/>
            </p:cNvCxnSpPr>
            <p:nvPr/>
          </p:nvCxnSpPr>
          <p:spPr>
            <a:xfrm>
              <a:off x="7314550" y="3608646"/>
              <a:ext cx="295500" cy="213900"/>
            </a:xfrm>
            <a:prstGeom prst="straightConnector1">
              <a:avLst/>
            </a:prstGeom>
            <a:noFill/>
            <a:ln w="9525" cap="flat" cmpd="sng">
              <a:solidFill>
                <a:srgbClr val="000000"/>
              </a:solidFill>
              <a:prstDash val="solid"/>
              <a:round/>
              <a:headEnd type="none" w="med" len="med"/>
              <a:tailEnd type="stealth" w="med" len="med"/>
            </a:ln>
          </p:spPr>
        </p:cxnSp>
      </p:grpSp>
      <p:grpSp>
        <p:nvGrpSpPr>
          <p:cNvPr id="899" name="Google Shape;899;p91"/>
          <p:cNvGrpSpPr/>
          <p:nvPr/>
        </p:nvGrpSpPr>
        <p:grpSpPr>
          <a:xfrm>
            <a:off x="5698914" y="3114771"/>
            <a:ext cx="598884" cy="554320"/>
            <a:chOff x="6967836" y="3114955"/>
            <a:chExt cx="598884" cy="554320"/>
          </a:xfrm>
        </p:grpSpPr>
        <p:sp>
          <p:nvSpPr>
            <p:cNvPr id="900" name="Google Shape;900;p91"/>
            <p:cNvSpPr/>
            <p:nvPr/>
          </p:nvSpPr>
          <p:spPr>
            <a:xfrm>
              <a:off x="6967836" y="32552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5</a:t>
              </a:r>
              <a:endParaRPr sz="700"/>
            </a:p>
          </p:txBody>
        </p:sp>
        <p:cxnSp>
          <p:nvCxnSpPr>
            <p:cNvPr id="901" name="Google Shape;901;p91"/>
            <p:cNvCxnSpPr>
              <a:stCxn id="883" idx="3"/>
              <a:endCxn id="900" idx="7"/>
            </p:cNvCxnSpPr>
            <p:nvPr/>
          </p:nvCxnSpPr>
          <p:spPr>
            <a:xfrm flipH="1">
              <a:off x="7314420" y="3114955"/>
              <a:ext cx="252300" cy="201000"/>
            </a:xfrm>
            <a:prstGeom prst="straightConnector1">
              <a:avLst/>
            </a:prstGeom>
            <a:noFill/>
            <a:ln w="9525" cap="flat" cmpd="sng">
              <a:solidFill>
                <a:srgbClr val="000000"/>
              </a:solidFill>
              <a:prstDash val="solid"/>
              <a:round/>
              <a:headEnd type="none" w="med" len="med"/>
              <a:tailEnd type="stealth" w="med" len="med"/>
            </a:ln>
          </p:spPr>
        </p:cxnSp>
      </p:grpSp>
      <p:grpSp>
        <p:nvGrpSpPr>
          <p:cNvPr id="902" name="Google Shape;902;p91"/>
          <p:cNvGrpSpPr/>
          <p:nvPr/>
        </p:nvGrpSpPr>
        <p:grpSpPr>
          <a:xfrm>
            <a:off x="5165514" y="3608462"/>
            <a:ext cx="592887" cy="594029"/>
            <a:chOff x="6967836" y="3151446"/>
            <a:chExt cx="592887" cy="594029"/>
          </a:xfrm>
        </p:grpSpPr>
        <p:sp>
          <p:nvSpPr>
            <p:cNvPr id="903" name="Google Shape;903;p91"/>
            <p:cNvSpPr/>
            <p:nvPr/>
          </p:nvSpPr>
          <p:spPr>
            <a:xfrm>
              <a:off x="6967836" y="33314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a:t>
              </a:r>
              <a:endParaRPr sz="700"/>
            </a:p>
          </p:txBody>
        </p:sp>
        <p:cxnSp>
          <p:nvCxnSpPr>
            <p:cNvPr id="904" name="Google Shape;904;p91"/>
            <p:cNvCxnSpPr>
              <a:stCxn id="900" idx="3"/>
              <a:endCxn id="903" idx="7"/>
            </p:cNvCxnSpPr>
            <p:nvPr/>
          </p:nvCxnSpPr>
          <p:spPr>
            <a:xfrm flipH="1">
              <a:off x="7314423" y="3151446"/>
              <a:ext cx="246300" cy="240600"/>
            </a:xfrm>
            <a:prstGeom prst="straightConnector1">
              <a:avLst/>
            </a:prstGeom>
            <a:noFill/>
            <a:ln w="9525" cap="flat" cmpd="sng">
              <a:solidFill>
                <a:srgbClr val="000000"/>
              </a:solidFill>
              <a:prstDash val="solid"/>
              <a:round/>
              <a:headEnd type="none" w="med" len="med"/>
              <a:tailEnd type="stealth" w="med" len="med"/>
            </a:ln>
          </p:spPr>
        </p:cxnSp>
      </p:grpSp>
      <p:grpSp>
        <p:nvGrpSpPr>
          <p:cNvPr id="905" name="Google Shape;905;p91"/>
          <p:cNvGrpSpPr/>
          <p:nvPr/>
        </p:nvGrpSpPr>
        <p:grpSpPr>
          <a:xfrm>
            <a:off x="5512227" y="4141862"/>
            <a:ext cx="667234" cy="548813"/>
            <a:chOff x="7289627" y="3626962"/>
            <a:chExt cx="667234" cy="548813"/>
          </a:xfrm>
        </p:grpSpPr>
        <p:sp>
          <p:nvSpPr>
            <p:cNvPr id="906" name="Google Shape;906;p91"/>
            <p:cNvSpPr/>
            <p:nvPr/>
          </p:nvSpPr>
          <p:spPr>
            <a:xfrm>
              <a:off x="7550661" y="37617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a:t>
              </a:r>
              <a:endParaRPr sz="700"/>
            </a:p>
          </p:txBody>
        </p:sp>
        <p:cxnSp>
          <p:nvCxnSpPr>
            <p:cNvPr id="907" name="Google Shape;907;p91"/>
            <p:cNvCxnSpPr>
              <a:stCxn id="903" idx="5"/>
              <a:endCxn id="906" idx="1"/>
            </p:cNvCxnSpPr>
            <p:nvPr/>
          </p:nvCxnSpPr>
          <p:spPr>
            <a:xfrm>
              <a:off x="7289627" y="3626962"/>
              <a:ext cx="320400" cy="195300"/>
            </a:xfrm>
            <a:prstGeom prst="straightConnector1">
              <a:avLst/>
            </a:prstGeom>
            <a:noFill/>
            <a:ln w="9525" cap="flat" cmpd="sng">
              <a:solidFill>
                <a:srgbClr val="000000"/>
              </a:solidFill>
              <a:prstDash val="solid"/>
              <a:round/>
              <a:headEnd type="none" w="med" len="med"/>
              <a:tailEnd type="stealth" w="med" len="med"/>
            </a:ln>
          </p:spPr>
        </p:cxnSp>
      </p:grpSp>
      <p:grpSp>
        <p:nvGrpSpPr>
          <p:cNvPr id="908" name="Google Shape;908;p91"/>
          <p:cNvGrpSpPr/>
          <p:nvPr/>
        </p:nvGrpSpPr>
        <p:grpSpPr>
          <a:xfrm>
            <a:off x="6045627" y="3608462"/>
            <a:ext cx="667234" cy="548813"/>
            <a:chOff x="7289627" y="3626962"/>
            <a:chExt cx="667234" cy="548813"/>
          </a:xfrm>
        </p:grpSpPr>
        <p:sp>
          <p:nvSpPr>
            <p:cNvPr id="909" name="Google Shape;909;p91"/>
            <p:cNvSpPr/>
            <p:nvPr/>
          </p:nvSpPr>
          <p:spPr>
            <a:xfrm>
              <a:off x="7550661" y="37617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9</a:t>
              </a:r>
              <a:endParaRPr sz="700"/>
            </a:p>
          </p:txBody>
        </p:sp>
        <p:cxnSp>
          <p:nvCxnSpPr>
            <p:cNvPr id="910" name="Google Shape;910;p91"/>
            <p:cNvCxnSpPr>
              <a:stCxn id="900" idx="5"/>
              <a:endCxn id="909" idx="1"/>
            </p:cNvCxnSpPr>
            <p:nvPr/>
          </p:nvCxnSpPr>
          <p:spPr>
            <a:xfrm>
              <a:off x="7289627" y="3626962"/>
              <a:ext cx="320400" cy="195300"/>
            </a:xfrm>
            <a:prstGeom prst="straightConnector1">
              <a:avLst/>
            </a:prstGeom>
            <a:noFill/>
            <a:ln w="9525" cap="flat" cmpd="sng">
              <a:solidFill>
                <a:srgbClr val="000000"/>
              </a:solidFill>
              <a:prstDash val="solid"/>
              <a:round/>
              <a:headEnd type="none" w="med" len="med"/>
              <a:tailEnd type="stealth"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8"/>
                                        </p:tgtEl>
                                        <p:attrNameLst>
                                          <p:attrName>style.visibility</p:attrName>
                                        </p:attrNameLst>
                                      </p:cBhvr>
                                      <p:to>
                                        <p:strVal val="visible"/>
                                      </p:to>
                                    </p:set>
                                    <p:animEffect transition="in" filter="fade">
                                      <p:cBhvr>
                                        <p:cTn id="7" dur="1000"/>
                                        <p:tgtEl>
                                          <p:spTgt spid="86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69"/>
                                        </p:tgtEl>
                                        <p:attrNameLst>
                                          <p:attrName>style.visibility</p:attrName>
                                        </p:attrNameLst>
                                      </p:cBhvr>
                                      <p:to>
                                        <p:strVal val="visible"/>
                                      </p:to>
                                    </p:set>
                                    <p:animEffect transition="in" filter="fade">
                                      <p:cBhvr>
                                        <p:cTn id="11" dur="1000"/>
                                        <p:tgtEl>
                                          <p:spTgt spid="86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70"/>
                                        </p:tgtEl>
                                        <p:attrNameLst>
                                          <p:attrName>style.visibility</p:attrName>
                                        </p:attrNameLst>
                                      </p:cBhvr>
                                      <p:to>
                                        <p:strVal val="visible"/>
                                      </p:to>
                                    </p:set>
                                    <p:animEffect transition="in" filter="fade">
                                      <p:cBhvr>
                                        <p:cTn id="16" dur="1000"/>
                                        <p:tgtEl>
                                          <p:spTgt spid="87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75"/>
                                        </p:tgtEl>
                                        <p:attrNameLst>
                                          <p:attrName>style.visibility</p:attrName>
                                        </p:attrNameLst>
                                      </p:cBhvr>
                                      <p:to>
                                        <p:strVal val="visible"/>
                                      </p:to>
                                    </p:set>
                                    <p:animEffect transition="in" filter="fade">
                                      <p:cBhvr>
                                        <p:cTn id="21" dur="1000"/>
                                        <p:tgtEl>
                                          <p:spTgt spid="875"/>
                                        </p:tgtEl>
                                      </p:cBhvr>
                                    </p:animEffect>
                                  </p:childTnLst>
                                </p:cTn>
                              </p:par>
                              <p:par>
                                <p:cTn id="22" presetID="10" presetClass="entr" presetSubtype="0" fill="hold" nodeType="withEffect">
                                  <p:stCondLst>
                                    <p:cond delay="0"/>
                                  </p:stCondLst>
                                  <p:childTnLst>
                                    <p:set>
                                      <p:cBhvr>
                                        <p:cTn id="23" dur="1" fill="hold">
                                          <p:stCondLst>
                                            <p:cond delay="0"/>
                                          </p:stCondLst>
                                        </p:cTn>
                                        <p:tgtEl>
                                          <p:spTgt spid="871"/>
                                        </p:tgtEl>
                                        <p:attrNameLst>
                                          <p:attrName>style.visibility</p:attrName>
                                        </p:attrNameLst>
                                      </p:cBhvr>
                                      <p:to>
                                        <p:strVal val="visible"/>
                                      </p:to>
                                    </p:set>
                                    <p:animEffect transition="in" filter="fade">
                                      <p:cBhvr>
                                        <p:cTn id="24" dur="1000"/>
                                        <p:tgtEl>
                                          <p:spTgt spid="871"/>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872"/>
                                        </p:tgtEl>
                                        <p:attrNameLst>
                                          <p:attrName>style.visibility</p:attrName>
                                        </p:attrNameLst>
                                      </p:cBhvr>
                                      <p:to>
                                        <p:strVal val="visible"/>
                                      </p:to>
                                    </p:set>
                                    <p:animEffect transition="in" filter="fade">
                                      <p:cBhvr>
                                        <p:cTn id="28" dur="1000"/>
                                        <p:tgtEl>
                                          <p:spTgt spid="87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76"/>
                                        </p:tgtEl>
                                        <p:attrNameLst>
                                          <p:attrName>style.visibility</p:attrName>
                                        </p:attrNameLst>
                                      </p:cBhvr>
                                      <p:to>
                                        <p:strVal val="visible"/>
                                      </p:to>
                                    </p:set>
                                    <p:animEffect transition="in" filter="fade">
                                      <p:cBhvr>
                                        <p:cTn id="33" dur="1000"/>
                                        <p:tgtEl>
                                          <p:spTgt spid="876"/>
                                        </p:tgtEl>
                                      </p:cBhvr>
                                    </p:animEffect>
                                  </p:childTnLst>
                                </p:cTn>
                              </p:par>
                            </p:childTnLst>
                          </p:cTn>
                        </p:par>
                        <p:par>
                          <p:cTn id="34" fill="hold">
                            <p:stCondLst>
                              <p:cond delay="1000"/>
                            </p:stCondLst>
                            <p:childTnLst>
                              <p:par>
                                <p:cTn id="35" presetID="10" presetClass="entr" presetSubtype="0" fill="hold" nodeType="afterEffect">
                                  <p:stCondLst>
                                    <p:cond delay="0"/>
                                  </p:stCondLst>
                                  <p:childTnLst>
                                    <p:set>
                                      <p:cBhvr>
                                        <p:cTn id="36" dur="1" fill="hold">
                                          <p:stCondLst>
                                            <p:cond delay="0"/>
                                          </p:stCondLst>
                                        </p:cTn>
                                        <p:tgtEl>
                                          <p:spTgt spid="877"/>
                                        </p:tgtEl>
                                        <p:attrNameLst>
                                          <p:attrName>style.visibility</p:attrName>
                                        </p:attrNameLst>
                                      </p:cBhvr>
                                      <p:to>
                                        <p:strVal val="visible"/>
                                      </p:to>
                                    </p:set>
                                    <p:animEffect transition="in" filter="fade">
                                      <p:cBhvr>
                                        <p:cTn id="37" dur="1000"/>
                                        <p:tgtEl>
                                          <p:spTgt spid="87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80"/>
                                        </p:tgtEl>
                                        <p:attrNameLst>
                                          <p:attrName>style.visibility</p:attrName>
                                        </p:attrNameLst>
                                      </p:cBhvr>
                                      <p:to>
                                        <p:strVal val="visible"/>
                                      </p:to>
                                    </p:set>
                                    <p:animEffect transition="in" filter="fade">
                                      <p:cBhvr>
                                        <p:cTn id="42" dur="1000"/>
                                        <p:tgtEl>
                                          <p:spTgt spid="880"/>
                                        </p:tgtEl>
                                      </p:cBhvr>
                                    </p:animEffect>
                                  </p:childTnLst>
                                </p:cTn>
                              </p:par>
                              <p:par>
                                <p:cTn id="43" presetID="10" presetClass="entr" presetSubtype="0" fill="hold" nodeType="withEffect">
                                  <p:stCondLst>
                                    <p:cond delay="0"/>
                                  </p:stCondLst>
                                  <p:childTnLst>
                                    <p:set>
                                      <p:cBhvr>
                                        <p:cTn id="44" dur="1" fill="hold">
                                          <p:stCondLst>
                                            <p:cond delay="0"/>
                                          </p:stCondLst>
                                        </p:cTn>
                                        <p:tgtEl>
                                          <p:spTgt spid="881"/>
                                        </p:tgtEl>
                                        <p:attrNameLst>
                                          <p:attrName>style.visibility</p:attrName>
                                        </p:attrNameLst>
                                      </p:cBhvr>
                                      <p:to>
                                        <p:strVal val="visible"/>
                                      </p:to>
                                    </p:set>
                                    <p:animEffect transition="in" filter="fade">
                                      <p:cBhvr>
                                        <p:cTn id="45" dur="1000"/>
                                        <p:tgtEl>
                                          <p:spTgt spid="881"/>
                                        </p:tgtEl>
                                      </p:cBhvr>
                                    </p:animEffect>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887"/>
                                        </p:tgtEl>
                                        <p:attrNameLst>
                                          <p:attrName>style.visibility</p:attrName>
                                        </p:attrNameLst>
                                      </p:cBhvr>
                                      <p:to>
                                        <p:strVal val="visible"/>
                                      </p:to>
                                    </p:set>
                                    <p:animEffect transition="in" filter="fade">
                                      <p:cBhvr>
                                        <p:cTn id="49" dur="1000"/>
                                        <p:tgtEl>
                                          <p:spTgt spid="88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890"/>
                                        </p:tgtEl>
                                        <p:attrNameLst>
                                          <p:attrName>style.visibility</p:attrName>
                                        </p:attrNameLst>
                                      </p:cBhvr>
                                      <p:to>
                                        <p:strVal val="visible"/>
                                      </p:to>
                                    </p:set>
                                    <p:animEffect transition="in" filter="fade">
                                      <p:cBhvr>
                                        <p:cTn id="54" dur="1000"/>
                                        <p:tgtEl>
                                          <p:spTgt spid="890"/>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893"/>
                                        </p:tgtEl>
                                        <p:attrNameLst>
                                          <p:attrName>style.visibility</p:attrName>
                                        </p:attrNameLst>
                                      </p:cBhvr>
                                      <p:to>
                                        <p:strVal val="visible"/>
                                      </p:to>
                                    </p:set>
                                    <p:animEffect transition="in" filter="fade">
                                      <p:cBhvr>
                                        <p:cTn id="59" dur="1000"/>
                                        <p:tgtEl>
                                          <p:spTgt spid="89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896"/>
                                        </p:tgtEl>
                                        <p:attrNameLst>
                                          <p:attrName>style.visibility</p:attrName>
                                        </p:attrNameLst>
                                      </p:cBhvr>
                                      <p:to>
                                        <p:strVal val="visible"/>
                                      </p:to>
                                    </p:set>
                                    <p:animEffect transition="in" filter="fade">
                                      <p:cBhvr>
                                        <p:cTn id="64" dur="1000"/>
                                        <p:tgtEl>
                                          <p:spTgt spid="89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899"/>
                                        </p:tgtEl>
                                        <p:attrNameLst>
                                          <p:attrName>style.visibility</p:attrName>
                                        </p:attrNameLst>
                                      </p:cBhvr>
                                      <p:to>
                                        <p:strVal val="visible"/>
                                      </p:to>
                                    </p:set>
                                    <p:animEffect transition="in" filter="fade">
                                      <p:cBhvr>
                                        <p:cTn id="69" dur="1000"/>
                                        <p:tgtEl>
                                          <p:spTgt spid="899"/>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902"/>
                                        </p:tgtEl>
                                        <p:attrNameLst>
                                          <p:attrName>style.visibility</p:attrName>
                                        </p:attrNameLst>
                                      </p:cBhvr>
                                      <p:to>
                                        <p:strVal val="visible"/>
                                      </p:to>
                                    </p:set>
                                    <p:animEffect transition="in" filter="fade">
                                      <p:cBhvr>
                                        <p:cTn id="74" dur="1000"/>
                                        <p:tgtEl>
                                          <p:spTgt spid="902"/>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905"/>
                                        </p:tgtEl>
                                        <p:attrNameLst>
                                          <p:attrName>style.visibility</p:attrName>
                                        </p:attrNameLst>
                                      </p:cBhvr>
                                      <p:to>
                                        <p:strVal val="visible"/>
                                      </p:to>
                                    </p:set>
                                    <p:animEffect transition="in" filter="fade">
                                      <p:cBhvr>
                                        <p:cTn id="79" dur="1000"/>
                                        <p:tgtEl>
                                          <p:spTgt spid="90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908"/>
                                        </p:tgtEl>
                                        <p:attrNameLst>
                                          <p:attrName>style.visibility</p:attrName>
                                        </p:attrNameLst>
                                      </p:cBhvr>
                                      <p:to>
                                        <p:strVal val="visible"/>
                                      </p:to>
                                    </p:set>
                                    <p:animEffect transition="in" filter="fade">
                                      <p:cBhvr>
                                        <p:cTn id="84" dur="1000"/>
                                        <p:tgtEl>
                                          <p:spTgt spid="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p92"/>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Drawing diagrams can help understand how something works. Let's practice inserting into binary search trees by drawing a few pictures!</a:t>
            </a:r>
            <a:endParaRPr/>
          </a:p>
        </p:txBody>
      </p:sp>
      <p:sp>
        <p:nvSpPr>
          <p:cNvPr id="916" name="Google Shape;916;p9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917" name="Google Shape;917;p92"/>
          <p:cNvSpPr txBox="1">
            <a:spLocks noGrp="1"/>
          </p:cNvSpPr>
          <p:nvPr>
            <p:ph type="body" idx="2"/>
          </p:nvPr>
        </p:nvSpPr>
        <p:spPr>
          <a:xfrm>
            <a:off x="3049950" y="1460100"/>
            <a:ext cx="5836200" cy="35157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When inserting into a binary search tree, if the tree is empty, the value becomes the root. For each additional value:</a:t>
            </a:r>
            <a:endParaRPr sz="1600" dirty="0"/>
          </a:p>
          <a:p>
            <a:pPr marL="914400" lvl="1" indent="-317500" algn="l" rtl="0">
              <a:spcBef>
                <a:spcPts val="0"/>
              </a:spcBef>
              <a:spcAft>
                <a:spcPts val="0"/>
              </a:spcAft>
              <a:buSzPts val="1400"/>
              <a:buChar char="○"/>
            </a:pPr>
            <a:r>
              <a:rPr lang="en" sz="1400" dirty="0"/>
              <a:t>If the value is less than the root, insert into the left subtree.</a:t>
            </a:r>
            <a:endParaRPr sz="1400" dirty="0"/>
          </a:p>
          <a:p>
            <a:pPr marL="914400" lvl="1" indent="-317500" algn="l" rtl="0">
              <a:spcBef>
                <a:spcPts val="0"/>
              </a:spcBef>
              <a:spcAft>
                <a:spcPts val="0"/>
              </a:spcAft>
              <a:buSzPts val="1400"/>
              <a:buChar char="○"/>
            </a:pPr>
            <a:r>
              <a:rPr lang="en" sz="1400" dirty="0"/>
              <a:t>If the value is greater than the root, insert into the right subtree.</a:t>
            </a:r>
            <a:endParaRPr sz="1400" dirty="0"/>
          </a:p>
          <a:p>
            <a:pPr marL="914400" lvl="1" indent="-317500" algn="l" rtl="0">
              <a:spcBef>
                <a:spcPts val="0"/>
              </a:spcBef>
              <a:spcAft>
                <a:spcPts val="0"/>
              </a:spcAft>
              <a:buSzPts val="1400"/>
              <a:buChar char="○"/>
            </a:pPr>
            <a:r>
              <a:rPr lang="en" sz="1400" dirty="0"/>
              <a:t>Recurse until an empty subtree is found; the new value becomes the subtree.</a:t>
            </a:r>
            <a:endParaRPr sz="1400" dirty="0"/>
          </a:p>
          <a:p>
            <a:pPr marL="457200" lvl="0" indent="-330200" algn="l" rtl="0">
              <a:spcBef>
                <a:spcPts val="0"/>
              </a:spcBef>
              <a:spcAft>
                <a:spcPts val="0"/>
              </a:spcAft>
              <a:buSzPts val="1600"/>
              <a:buChar char="●"/>
            </a:pPr>
            <a:r>
              <a:rPr lang="en" sz="1600" dirty="0"/>
              <a:t>Try it now with the following sets of values:</a:t>
            </a:r>
            <a:endParaRPr sz="1600" dirty="0"/>
          </a:p>
          <a:p>
            <a:pPr marL="914400" lvl="1" indent="-317500" algn="l" rtl="0">
              <a:spcBef>
                <a:spcPts val="0"/>
              </a:spcBef>
              <a:spcAft>
                <a:spcPts val="0"/>
              </a:spcAft>
              <a:buSzPts val="1400"/>
              <a:buChar char="○"/>
            </a:pPr>
            <a:r>
              <a:rPr lang="en" sz="1400" dirty="0"/>
              <a:t>5, 7, 6, 2, 9, 1, 3</a:t>
            </a:r>
            <a:endParaRPr sz="1400" dirty="0"/>
          </a:p>
          <a:p>
            <a:pPr marL="914400" lvl="1" indent="-317500" algn="l" rtl="0">
              <a:spcBef>
                <a:spcPts val="0"/>
              </a:spcBef>
              <a:spcAft>
                <a:spcPts val="0"/>
              </a:spcAft>
              <a:buSzPts val="1400"/>
              <a:buChar char="○"/>
            </a:pPr>
            <a:r>
              <a:rPr lang="en" sz="1400" dirty="0"/>
              <a:t>5, 4, 6, 3, 7, 2, 8, 1, 9</a:t>
            </a:r>
            <a:endParaRPr sz="1400" dirty="0"/>
          </a:p>
          <a:p>
            <a:pPr marL="914400" lvl="1" indent="-317500" algn="l" rtl="0">
              <a:spcBef>
                <a:spcPts val="0"/>
              </a:spcBef>
              <a:spcAft>
                <a:spcPts val="0"/>
              </a:spcAft>
              <a:buSzPts val="1400"/>
              <a:buChar char="○"/>
            </a:pPr>
            <a:r>
              <a:rPr lang="en" sz="1400" dirty="0"/>
              <a:t>10, 15, 20, 25, 30, 35, 40</a:t>
            </a:r>
            <a:endParaRPr sz="1400" dirty="0"/>
          </a:p>
          <a:p>
            <a:pPr marL="914400" lvl="1" indent="-317500" algn="l" rtl="0">
              <a:spcBef>
                <a:spcPts val="0"/>
              </a:spcBef>
              <a:spcAft>
                <a:spcPts val="0"/>
              </a:spcAft>
              <a:buSzPts val="1400"/>
              <a:buChar char="○"/>
            </a:pPr>
            <a:r>
              <a:rPr lang="en" sz="1400" dirty="0"/>
              <a:t>10, 9, 8, 7, 6, 5, 4, 3, 2, 1</a:t>
            </a:r>
            <a:endParaRPr sz="1400" dirty="0"/>
          </a:p>
        </p:txBody>
      </p:sp>
      <p:sp>
        <p:nvSpPr>
          <p:cNvPr id="918" name="Google Shape;918;p9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Practice Drawing BSTs</a:t>
            </a:r>
            <a:endParaRPr/>
          </a:p>
        </p:txBody>
      </p:sp>
      <p:sp>
        <p:nvSpPr>
          <p:cNvPr id="919" name="Google Shape;919;p9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6.6</a:t>
            </a:r>
            <a:endParaRPr/>
          </a:p>
        </p:txBody>
      </p:sp>
      <p:grpSp>
        <p:nvGrpSpPr>
          <p:cNvPr id="920" name="Google Shape;920;p92"/>
          <p:cNvGrpSpPr/>
          <p:nvPr/>
        </p:nvGrpSpPr>
        <p:grpSpPr>
          <a:xfrm>
            <a:off x="245113" y="1732747"/>
            <a:ext cx="2686526" cy="1789744"/>
            <a:chOff x="6282927" y="1164991"/>
            <a:chExt cx="2486373" cy="1629707"/>
          </a:xfrm>
        </p:grpSpPr>
        <p:sp>
          <p:nvSpPr>
            <p:cNvPr id="921" name="Google Shape;921;p92"/>
            <p:cNvSpPr/>
            <p:nvPr/>
          </p:nvSpPr>
          <p:spPr>
            <a:xfrm>
              <a:off x="7256092" y="1164991"/>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a:t>
              </a:r>
              <a:endParaRPr/>
            </a:p>
          </p:txBody>
        </p:sp>
        <p:grpSp>
          <p:nvGrpSpPr>
            <p:cNvPr id="922" name="Google Shape;922;p92"/>
            <p:cNvGrpSpPr/>
            <p:nvPr/>
          </p:nvGrpSpPr>
          <p:grpSpPr>
            <a:xfrm>
              <a:off x="6714357" y="1520923"/>
              <a:ext cx="602804" cy="651067"/>
              <a:chOff x="6714357" y="1673323"/>
              <a:chExt cx="602804" cy="651067"/>
            </a:xfrm>
          </p:grpSpPr>
          <p:sp>
            <p:nvSpPr>
              <p:cNvPr id="923" name="Google Shape;923;p92"/>
              <p:cNvSpPr/>
              <p:nvPr/>
            </p:nvSpPr>
            <p:spPr>
              <a:xfrm>
                <a:off x="6714357" y="1907390"/>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cxnSp>
            <p:nvCxnSpPr>
              <p:cNvPr id="924" name="Google Shape;924;p92"/>
              <p:cNvCxnSpPr>
                <a:stCxn id="921" idx="3"/>
                <a:endCxn id="923" idx="0"/>
              </p:cNvCxnSpPr>
              <p:nvPr/>
            </p:nvCxnSpPr>
            <p:spPr>
              <a:xfrm flipH="1">
                <a:off x="6922961" y="1673323"/>
                <a:ext cx="394200" cy="234000"/>
              </a:xfrm>
              <a:prstGeom prst="straightConnector1">
                <a:avLst/>
              </a:prstGeom>
              <a:noFill/>
              <a:ln w="9525" cap="flat" cmpd="sng">
                <a:solidFill>
                  <a:srgbClr val="000000"/>
                </a:solidFill>
                <a:prstDash val="solid"/>
                <a:round/>
                <a:headEnd type="none" w="med" len="med"/>
                <a:tailEnd type="triangle" w="med" len="med"/>
              </a:ln>
            </p:spPr>
          </p:cxnSp>
        </p:grpSp>
        <p:grpSp>
          <p:nvGrpSpPr>
            <p:cNvPr id="925" name="Google Shape;925;p92"/>
            <p:cNvGrpSpPr/>
            <p:nvPr/>
          </p:nvGrpSpPr>
          <p:grpSpPr>
            <a:xfrm>
              <a:off x="7612024" y="1520923"/>
              <a:ext cx="679852" cy="651067"/>
              <a:chOff x="7612024" y="1673323"/>
              <a:chExt cx="679852" cy="651067"/>
            </a:xfrm>
          </p:grpSpPr>
          <p:sp>
            <p:nvSpPr>
              <p:cNvPr id="926" name="Google Shape;926;p92"/>
              <p:cNvSpPr/>
              <p:nvPr/>
            </p:nvSpPr>
            <p:spPr>
              <a:xfrm>
                <a:off x="7874876" y="1907390"/>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a:t>
                </a:r>
                <a:endParaRPr/>
              </a:p>
            </p:txBody>
          </p:sp>
          <p:cxnSp>
            <p:nvCxnSpPr>
              <p:cNvPr id="927" name="Google Shape;927;p92"/>
              <p:cNvCxnSpPr>
                <a:stCxn id="921" idx="5"/>
                <a:endCxn id="926" idx="0"/>
              </p:cNvCxnSpPr>
              <p:nvPr/>
            </p:nvCxnSpPr>
            <p:spPr>
              <a:xfrm>
                <a:off x="7612024" y="1673323"/>
                <a:ext cx="471300" cy="234000"/>
              </a:xfrm>
              <a:prstGeom prst="straightConnector1">
                <a:avLst/>
              </a:prstGeom>
              <a:noFill/>
              <a:ln w="9525" cap="flat" cmpd="sng">
                <a:solidFill>
                  <a:srgbClr val="000000"/>
                </a:solidFill>
                <a:prstDash val="solid"/>
                <a:round/>
                <a:headEnd type="none" w="med" len="med"/>
                <a:tailEnd type="triangle" w="med" len="med"/>
              </a:ln>
            </p:spPr>
          </p:cxnSp>
        </p:grpSp>
        <p:grpSp>
          <p:nvGrpSpPr>
            <p:cNvPr id="928" name="Google Shape;928;p92"/>
            <p:cNvGrpSpPr/>
            <p:nvPr/>
          </p:nvGrpSpPr>
          <p:grpSpPr>
            <a:xfrm>
              <a:off x="6282927" y="2110922"/>
              <a:ext cx="492499" cy="683777"/>
              <a:chOff x="6282927" y="2263322"/>
              <a:chExt cx="492499" cy="683777"/>
            </a:xfrm>
          </p:grpSpPr>
          <p:sp>
            <p:nvSpPr>
              <p:cNvPr id="929" name="Google Shape;929;p92"/>
              <p:cNvSpPr/>
              <p:nvPr/>
            </p:nvSpPr>
            <p:spPr>
              <a:xfrm>
                <a:off x="6282927"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cxnSp>
            <p:nvCxnSpPr>
              <p:cNvPr id="930" name="Google Shape;930;p92"/>
              <p:cNvCxnSpPr>
                <a:stCxn id="923" idx="3"/>
                <a:endCxn id="929" idx="7"/>
              </p:cNvCxnSpPr>
              <p:nvPr/>
            </p:nvCxnSpPr>
            <p:spPr>
              <a:xfrm flipH="1">
                <a:off x="6638925" y="2263322"/>
                <a:ext cx="136500" cy="327900"/>
              </a:xfrm>
              <a:prstGeom prst="straightConnector1">
                <a:avLst/>
              </a:prstGeom>
              <a:noFill/>
              <a:ln w="9525" cap="flat" cmpd="sng">
                <a:solidFill>
                  <a:srgbClr val="000000"/>
                </a:solidFill>
                <a:prstDash val="solid"/>
                <a:round/>
                <a:headEnd type="none" w="med" len="med"/>
                <a:tailEnd type="triangle" w="med" len="med"/>
              </a:ln>
            </p:spPr>
          </p:cxnSp>
        </p:grpSp>
        <p:grpSp>
          <p:nvGrpSpPr>
            <p:cNvPr id="931" name="Google Shape;931;p92"/>
            <p:cNvGrpSpPr/>
            <p:nvPr/>
          </p:nvGrpSpPr>
          <p:grpSpPr>
            <a:xfrm>
              <a:off x="7070289" y="2110922"/>
              <a:ext cx="439730" cy="683777"/>
              <a:chOff x="7070289" y="2263322"/>
              <a:chExt cx="439730" cy="683777"/>
            </a:xfrm>
          </p:grpSpPr>
          <p:sp>
            <p:nvSpPr>
              <p:cNvPr id="932" name="Google Shape;932;p92"/>
              <p:cNvSpPr/>
              <p:nvPr/>
            </p:nvSpPr>
            <p:spPr>
              <a:xfrm>
                <a:off x="7093019"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cxnSp>
            <p:nvCxnSpPr>
              <p:cNvPr id="933" name="Google Shape;933;p92"/>
              <p:cNvCxnSpPr>
                <a:stCxn id="923" idx="5"/>
                <a:endCxn id="932" idx="0"/>
              </p:cNvCxnSpPr>
              <p:nvPr/>
            </p:nvCxnSpPr>
            <p:spPr>
              <a:xfrm>
                <a:off x="7070289" y="2263322"/>
                <a:ext cx="231300" cy="266700"/>
              </a:xfrm>
              <a:prstGeom prst="straightConnector1">
                <a:avLst/>
              </a:prstGeom>
              <a:noFill/>
              <a:ln w="9525" cap="flat" cmpd="sng">
                <a:solidFill>
                  <a:srgbClr val="000000"/>
                </a:solidFill>
                <a:prstDash val="solid"/>
                <a:round/>
                <a:headEnd type="none" w="med" len="med"/>
                <a:tailEnd type="triangle" w="med" len="med"/>
              </a:ln>
            </p:spPr>
          </p:cxnSp>
        </p:grpSp>
        <p:grpSp>
          <p:nvGrpSpPr>
            <p:cNvPr id="934" name="Google Shape;934;p92"/>
            <p:cNvGrpSpPr/>
            <p:nvPr/>
          </p:nvGrpSpPr>
          <p:grpSpPr>
            <a:xfrm>
              <a:off x="7557650" y="2110922"/>
              <a:ext cx="417000" cy="683777"/>
              <a:chOff x="7557650" y="2263322"/>
              <a:chExt cx="417000" cy="683777"/>
            </a:xfrm>
          </p:grpSpPr>
          <p:sp>
            <p:nvSpPr>
              <p:cNvPr id="935" name="Google Shape;935;p92"/>
              <p:cNvSpPr/>
              <p:nvPr/>
            </p:nvSpPr>
            <p:spPr>
              <a:xfrm>
                <a:off x="7557650"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a:t>
                </a:r>
                <a:endParaRPr/>
              </a:p>
            </p:txBody>
          </p:sp>
          <p:cxnSp>
            <p:nvCxnSpPr>
              <p:cNvPr id="936" name="Google Shape;936;p92"/>
              <p:cNvCxnSpPr>
                <a:stCxn id="926" idx="3"/>
                <a:endCxn id="935" idx="0"/>
              </p:cNvCxnSpPr>
              <p:nvPr/>
            </p:nvCxnSpPr>
            <p:spPr>
              <a:xfrm flipH="1">
                <a:off x="7766144" y="2263322"/>
                <a:ext cx="169800" cy="266700"/>
              </a:xfrm>
              <a:prstGeom prst="straightConnector1">
                <a:avLst/>
              </a:prstGeom>
              <a:noFill/>
              <a:ln w="9525" cap="flat" cmpd="sng">
                <a:solidFill>
                  <a:srgbClr val="000000"/>
                </a:solidFill>
                <a:prstDash val="solid"/>
                <a:round/>
                <a:headEnd type="none" w="med" len="med"/>
                <a:tailEnd type="triangle" w="med" len="med"/>
              </a:ln>
            </p:spPr>
          </p:cxnSp>
        </p:grpSp>
        <p:grpSp>
          <p:nvGrpSpPr>
            <p:cNvPr id="937" name="Google Shape;937;p92"/>
            <p:cNvGrpSpPr/>
            <p:nvPr/>
          </p:nvGrpSpPr>
          <p:grpSpPr>
            <a:xfrm>
              <a:off x="8230808" y="2110922"/>
              <a:ext cx="538492" cy="683777"/>
              <a:chOff x="8230808" y="2263322"/>
              <a:chExt cx="538492" cy="683777"/>
            </a:xfrm>
          </p:grpSpPr>
          <p:sp>
            <p:nvSpPr>
              <p:cNvPr id="938" name="Google Shape;938;p92"/>
              <p:cNvSpPr/>
              <p:nvPr/>
            </p:nvSpPr>
            <p:spPr>
              <a:xfrm>
                <a:off x="8352300" y="2530098"/>
                <a:ext cx="417000" cy="417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a:t>
                </a:r>
                <a:endParaRPr/>
              </a:p>
            </p:txBody>
          </p:sp>
          <p:cxnSp>
            <p:nvCxnSpPr>
              <p:cNvPr id="939" name="Google Shape;939;p92"/>
              <p:cNvCxnSpPr>
                <a:stCxn id="926" idx="5"/>
                <a:endCxn id="938" idx="1"/>
              </p:cNvCxnSpPr>
              <p:nvPr/>
            </p:nvCxnSpPr>
            <p:spPr>
              <a:xfrm>
                <a:off x="8230808" y="2263322"/>
                <a:ext cx="182700" cy="327900"/>
              </a:xfrm>
              <a:prstGeom prst="straightConnector1">
                <a:avLst/>
              </a:prstGeom>
              <a:noFill/>
              <a:ln w="9525" cap="flat" cmpd="sng">
                <a:solidFill>
                  <a:srgbClr val="000000"/>
                </a:solidFill>
                <a:prstDash val="solid"/>
                <a:round/>
                <a:headEnd type="none" w="med" len="med"/>
                <a:tailEnd type="triangle" w="med" len="med"/>
              </a:ln>
            </p:spPr>
          </p:cxnSp>
        </p:grpSp>
      </p:grpSp>
      <p:sp>
        <p:nvSpPr>
          <p:cNvPr id="940" name="Google Shape;940;p92"/>
          <p:cNvSpPr txBox="1"/>
          <p:nvPr/>
        </p:nvSpPr>
        <p:spPr>
          <a:xfrm>
            <a:off x="225775" y="3743675"/>
            <a:ext cx="2686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t>Get out a pen or pencil and some paper and draw a few trees!</a:t>
            </a:r>
            <a:endParaRPr sz="1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93"/>
          <p:cNvSpPr txBox="1">
            <a:spLocks noGrp="1"/>
          </p:cNvSpPr>
          <p:nvPr>
            <p:ph type="body" idx="2"/>
          </p:nvPr>
        </p:nvSpPr>
        <p:spPr>
          <a:xfrm>
            <a:off x="3032200" y="1632125"/>
            <a:ext cx="5908800" cy="33144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dirty="0"/>
              <a:t>Open the </a:t>
            </a:r>
            <a:r>
              <a:rPr lang="en" dirty="0">
                <a:latin typeface="Courier New"/>
                <a:ea typeface="Courier New"/>
                <a:cs typeface="Courier New"/>
                <a:sym typeface="Courier New"/>
              </a:rPr>
              <a:t>NodeBST</a:t>
            </a:r>
            <a:r>
              <a:rPr lang="en" dirty="0"/>
              <a:t> </a:t>
            </a:r>
            <a:r>
              <a:rPr lang="en" sz="1100" dirty="0"/>
              <a:t>and define a private helper function named </a:t>
            </a:r>
            <a:r>
              <a:rPr lang="en" sz="1100" dirty="0">
                <a:solidFill>
                  <a:srgbClr val="FF0000"/>
                </a:solidFill>
                <a:latin typeface="Courier New"/>
                <a:ea typeface="Courier New"/>
                <a:cs typeface="Courier New"/>
                <a:sym typeface="Courier New"/>
              </a:rPr>
              <a:t>binaryInsert</a:t>
            </a:r>
            <a:r>
              <a:rPr lang="en" sz="1100" dirty="0">
                <a:solidFill>
                  <a:srgbClr val="FF0000"/>
                </a:solidFill>
              </a:rPr>
              <a:t> </a:t>
            </a:r>
            <a:r>
              <a:rPr lang="en" sz="1100" dirty="0"/>
              <a:t>that declares a parameter for a </a:t>
            </a:r>
            <a:r>
              <a:rPr lang="en" sz="1100" dirty="0">
                <a:latin typeface="Courier New"/>
                <a:ea typeface="Courier New"/>
                <a:cs typeface="Courier New"/>
                <a:sym typeface="Courier New"/>
              </a:rPr>
              <a:t>BinaryNode</a:t>
            </a:r>
            <a:r>
              <a:rPr lang="en" sz="1100" dirty="0"/>
              <a:t> </a:t>
            </a:r>
            <a:r>
              <a:rPr lang="en" sz="1100" dirty="0">
                <a:solidFill>
                  <a:srgbClr val="FF0000"/>
                </a:solidFill>
                <a:latin typeface="Courier New"/>
                <a:ea typeface="Courier New"/>
                <a:cs typeface="Courier New"/>
                <a:sym typeface="Courier New"/>
              </a:rPr>
              <a:t>node</a:t>
            </a:r>
            <a:r>
              <a:rPr lang="en" sz="1100" dirty="0">
                <a:solidFill>
                  <a:srgbClr val="FF0000"/>
                </a:solidFill>
              </a:rPr>
              <a:t> </a:t>
            </a:r>
            <a:r>
              <a:rPr lang="en" sz="1100" dirty="0"/>
              <a:t>and an </a:t>
            </a:r>
            <a:r>
              <a:rPr lang="en" sz="1100" dirty="0">
                <a:latin typeface="Courier New"/>
                <a:ea typeface="Courier New"/>
                <a:cs typeface="Courier New"/>
                <a:sym typeface="Courier New"/>
              </a:rPr>
              <a:t>int</a:t>
            </a:r>
            <a:r>
              <a:rPr lang="en" sz="1100" dirty="0"/>
              <a:t> </a:t>
            </a:r>
            <a:r>
              <a:rPr lang="en" sz="1100" dirty="0">
                <a:solidFill>
                  <a:srgbClr val="FF0000"/>
                </a:solidFill>
                <a:latin typeface="Courier New"/>
                <a:ea typeface="Courier New"/>
                <a:cs typeface="Courier New"/>
                <a:sym typeface="Courier New"/>
              </a:rPr>
              <a:t>value</a:t>
            </a:r>
            <a:r>
              <a:rPr lang="en" sz="1100" dirty="0"/>
              <a:t> to be inserted.</a:t>
            </a:r>
            <a:endParaRPr sz="1100"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value</a:t>
            </a:r>
            <a:r>
              <a:rPr lang="en" dirty="0"/>
              <a:t> is </a:t>
            </a:r>
            <a:r>
              <a:rPr lang="en" b="1" i="1" dirty="0">
                <a:solidFill>
                  <a:srgbClr val="FF0000"/>
                </a:solidFill>
              </a:rPr>
              <a:t>less than</a:t>
            </a:r>
            <a:r>
              <a:rPr lang="en" dirty="0"/>
              <a:t> the </a:t>
            </a:r>
            <a:r>
              <a:rPr lang="en" dirty="0">
                <a:latin typeface="Courier New"/>
                <a:ea typeface="Courier New"/>
                <a:cs typeface="Courier New"/>
                <a:sym typeface="Courier New"/>
              </a:rPr>
              <a:t>node</a:t>
            </a:r>
            <a:r>
              <a:rPr lang="en" dirty="0"/>
              <a:t>'s value:</a:t>
            </a:r>
            <a:endParaRPr dirty="0"/>
          </a:p>
          <a:p>
            <a:pPr marL="1371600" lvl="2" indent="-298450" algn="l" rtl="0">
              <a:spcBef>
                <a:spcPts val="0"/>
              </a:spcBef>
              <a:spcAft>
                <a:spcPts val="0"/>
              </a:spcAft>
              <a:buSzPts val="1100"/>
              <a:buChar char="■"/>
            </a:pPr>
            <a:r>
              <a:rPr lang="en" dirty="0"/>
              <a:t>If the left subtree is empty, make a new </a:t>
            </a:r>
            <a:r>
              <a:rPr lang="en" dirty="0">
                <a:latin typeface="Courier New"/>
                <a:ea typeface="Courier New"/>
                <a:cs typeface="Courier New"/>
                <a:sym typeface="Courier New"/>
              </a:rPr>
              <a:t>BinaryNode</a:t>
            </a:r>
            <a:r>
              <a:rPr lang="en" dirty="0"/>
              <a:t> with the </a:t>
            </a:r>
            <a:r>
              <a:rPr lang="en" dirty="0">
                <a:latin typeface="Courier New"/>
                <a:ea typeface="Courier New"/>
                <a:cs typeface="Courier New"/>
                <a:sym typeface="Courier New"/>
              </a:rPr>
              <a:t>value</a:t>
            </a:r>
            <a:r>
              <a:rPr lang="en" dirty="0"/>
              <a:t> and make it the left subtree.</a:t>
            </a:r>
            <a:endParaRPr dirty="0"/>
          </a:p>
          <a:p>
            <a:pPr marL="1371600" lvl="2" indent="-298450" algn="l" rtl="0">
              <a:spcBef>
                <a:spcPts val="0"/>
              </a:spcBef>
              <a:spcAft>
                <a:spcPts val="0"/>
              </a:spcAft>
              <a:buSzPts val="1100"/>
              <a:buChar char="■"/>
            </a:pPr>
            <a:r>
              <a:rPr lang="en" dirty="0"/>
              <a:t>Otherwise, use recursion to insert the </a:t>
            </a:r>
            <a:r>
              <a:rPr lang="en" dirty="0">
                <a:latin typeface="Courier New"/>
                <a:ea typeface="Courier New"/>
                <a:cs typeface="Courier New"/>
                <a:sym typeface="Courier New"/>
              </a:rPr>
              <a:t>value</a:t>
            </a:r>
            <a:r>
              <a:rPr lang="en" dirty="0"/>
              <a:t> into the left subtree.</a:t>
            </a:r>
            <a:endParaRPr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value</a:t>
            </a:r>
            <a:r>
              <a:rPr lang="en" dirty="0"/>
              <a:t> is </a:t>
            </a:r>
            <a:r>
              <a:rPr lang="en" b="1" i="1" dirty="0">
                <a:solidFill>
                  <a:srgbClr val="FF0000"/>
                </a:solidFill>
              </a:rPr>
              <a:t>greater than</a:t>
            </a:r>
            <a:r>
              <a:rPr lang="en" dirty="0"/>
              <a:t> the </a:t>
            </a:r>
            <a:r>
              <a:rPr lang="en" dirty="0">
                <a:latin typeface="Courier New"/>
                <a:ea typeface="Courier New"/>
                <a:cs typeface="Courier New"/>
                <a:sym typeface="Courier New"/>
              </a:rPr>
              <a:t>node</a:t>
            </a:r>
            <a:r>
              <a:rPr lang="en" dirty="0"/>
              <a:t>'s value:</a:t>
            </a:r>
            <a:endParaRPr dirty="0"/>
          </a:p>
          <a:p>
            <a:pPr marL="1371600" lvl="2" indent="-298450" algn="l" rtl="0">
              <a:spcBef>
                <a:spcPts val="0"/>
              </a:spcBef>
              <a:spcAft>
                <a:spcPts val="0"/>
              </a:spcAft>
              <a:buSzPts val="1100"/>
              <a:buChar char="■"/>
            </a:pPr>
            <a:r>
              <a:rPr lang="en" dirty="0"/>
              <a:t>If the right subtree is empty, make a new </a:t>
            </a:r>
            <a:r>
              <a:rPr lang="en" dirty="0">
                <a:latin typeface="Courier New"/>
                <a:ea typeface="Courier New"/>
                <a:cs typeface="Courier New"/>
                <a:sym typeface="Courier New"/>
              </a:rPr>
              <a:t>BinaryNode</a:t>
            </a:r>
            <a:r>
              <a:rPr lang="en" dirty="0"/>
              <a:t> with the </a:t>
            </a:r>
            <a:r>
              <a:rPr lang="en" dirty="0">
                <a:latin typeface="Courier New"/>
                <a:ea typeface="Courier New"/>
                <a:cs typeface="Courier New"/>
                <a:sym typeface="Courier New"/>
              </a:rPr>
              <a:t>value</a:t>
            </a:r>
            <a:r>
              <a:rPr lang="en" dirty="0"/>
              <a:t> and make it the right subtree.</a:t>
            </a:r>
            <a:endParaRPr dirty="0"/>
          </a:p>
          <a:p>
            <a:pPr marL="1371600" lvl="2" indent="-298450" algn="l" rtl="0">
              <a:spcBef>
                <a:spcPts val="0"/>
              </a:spcBef>
              <a:spcAft>
                <a:spcPts val="0"/>
              </a:spcAft>
              <a:buSzPts val="1100"/>
              <a:buChar char="■"/>
            </a:pPr>
            <a:r>
              <a:rPr lang="en" dirty="0"/>
              <a:t>Otherwise, use recursion to insert the </a:t>
            </a:r>
            <a:r>
              <a:rPr lang="en" dirty="0">
                <a:latin typeface="Courier New"/>
                <a:ea typeface="Courier New"/>
                <a:cs typeface="Courier New"/>
                <a:sym typeface="Courier New"/>
              </a:rPr>
              <a:t>value</a:t>
            </a:r>
            <a:r>
              <a:rPr lang="en" dirty="0"/>
              <a:t> into the right subtree.</a:t>
            </a:r>
            <a:endParaRPr dirty="0"/>
          </a:p>
          <a:p>
            <a:pPr marL="457200" lvl="0" indent="-311150" algn="l" rtl="0">
              <a:spcBef>
                <a:spcPts val="1000"/>
              </a:spcBef>
              <a:spcAft>
                <a:spcPts val="0"/>
              </a:spcAft>
              <a:buSzPts val="1300"/>
              <a:buChar char="●"/>
            </a:pPr>
            <a:r>
              <a:rPr lang="en" dirty="0"/>
              <a:t>Navigate to the insert method.</a:t>
            </a:r>
            <a:endParaRPr dirty="0"/>
          </a:p>
          <a:p>
            <a:pPr marL="914400" lvl="1" indent="-298450" algn="l" rtl="0">
              <a:spcBef>
                <a:spcPts val="0"/>
              </a:spcBef>
              <a:spcAft>
                <a:spcPts val="0"/>
              </a:spcAft>
              <a:buSzPts val="1100"/>
              <a:buChar char="○"/>
            </a:pPr>
            <a:r>
              <a:rPr lang="en" dirty="0">
                <a:highlight>
                  <a:srgbClr val="FFFF00"/>
                </a:highlight>
              </a:rPr>
              <a:t>If the </a:t>
            </a:r>
            <a:r>
              <a:rPr lang="en" dirty="0">
                <a:highlight>
                  <a:srgbClr val="FFFF00"/>
                </a:highlight>
                <a:latin typeface="Courier New"/>
                <a:ea typeface="Courier New"/>
                <a:cs typeface="Courier New"/>
                <a:sym typeface="Courier New"/>
              </a:rPr>
              <a:t>root</a:t>
            </a:r>
            <a:r>
              <a:rPr lang="en" dirty="0">
                <a:highlight>
                  <a:srgbClr val="FFFF00"/>
                </a:highlight>
              </a:rPr>
              <a:t> node is </a:t>
            </a:r>
            <a:r>
              <a:rPr lang="en" dirty="0">
                <a:highlight>
                  <a:srgbClr val="FFFF00"/>
                </a:highlight>
                <a:latin typeface="Courier New"/>
                <a:ea typeface="Courier New"/>
                <a:cs typeface="Courier New"/>
                <a:sym typeface="Courier New"/>
              </a:rPr>
              <a:t>null</a:t>
            </a:r>
            <a:r>
              <a:rPr lang="en" dirty="0">
                <a:highlight>
                  <a:srgbClr val="FFFF00"/>
                </a:highlight>
              </a:rPr>
              <a:t>, create it using the </a:t>
            </a:r>
            <a:r>
              <a:rPr lang="en" dirty="0">
                <a:highlight>
                  <a:srgbClr val="FFFF00"/>
                </a:highlight>
                <a:latin typeface="Courier New"/>
                <a:ea typeface="Courier New"/>
                <a:cs typeface="Courier New"/>
                <a:sym typeface="Courier New"/>
              </a:rPr>
              <a:t>value</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Otherwise, call </a:t>
            </a:r>
            <a:r>
              <a:rPr lang="en" dirty="0">
                <a:highlight>
                  <a:srgbClr val="FFFF00"/>
                </a:highlight>
                <a:latin typeface="Courier New"/>
                <a:ea typeface="Courier New"/>
                <a:cs typeface="Courier New"/>
                <a:sym typeface="Courier New"/>
              </a:rPr>
              <a:t>binaryInsert</a:t>
            </a:r>
            <a:r>
              <a:rPr lang="en" dirty="0">
                <a:highlight>
                  <a:srgbClr val="FFFF00"/>
                </a:highlight>
              </a:rPr>
              <a:t> with the </a:t>
            </a:r>
            <a:r>
              <a:rPr lang="en" dirty="0">
                <a:highlight>
                  <a:srgbClr val="FFFF00"/>
                </a:highlight>
                <a:latin typeface="Courier New"/>
                <a:ea typeface="Courier New"/>
                <a:cs typeface="Courier New"/>
                <a:sym typeface="Courier New"/>
              </a:rPr>
              <a:t>root</a:t>
            </a:r>
            <a:r>
              <a:rPr lang="en" dirty="0">
                <a:highlight>
                  <a:srgbClr val="FFFF00"/>
                </a:highlight>
              </a:rPr>
              <a:t> and the </a:t>
            </a:r>
            <a:r>
              <a:rPr lang="en" dirty="0">
                <a:highlight>
                  <a:srgbClr val="FFFF00"/>
                </a:highlight>
                <a:latin typeface="Courier New"/>
                <a:ea typeface="Courier New"/>
                <a:cs typeface="Courier New"/>
                <a:sym typeface="Courier New"/>
              </a:rPr>
              <a:t>value</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Don't forget to increment </a:t>
            </a:r>
            <a:r>
              <a:rPr lang="en" dirty="0">
                <a:highlight>
                  <a:srgbClr val="FFFF00"/>
                </a:highlight>
                <a:latin typeface="Courier New"/>
                <a:ea typeface="Courier New"/>
                <a:cs typeface="Courier New"/>
                <a:sym typeface="Courier New"/>
              </a:rPr>
              <a:t>size</a:t>
            </a:r>
            <a:r>
              <a:rPr lang="en" dirty="0">
                <a:highlight>
                  <a:srgbClr val="FFFF00"/>
                </a:highlight>
              </a:rPr>
              <a:t>!</a:t>
            </a:r>
            <a:endParaRPr dirty="0">
              <a:highlight>
                <a:srgbClr val="FFFF00"/>
              </a:highlight>
            </a:endParaRPr>
          </a:p>
        </p:txBody>
      </p:sp>
      <p:sp>
        <p:nvSpPr>
          <p:cNvPr id="946" name="Google Shape;946;p93"/>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Building a BST requires inserting new values into a node's </a:t>
            </a:r>
            <a:r>
              <a:rPr lang="en" i="1"/>
              <a:t>left</a:t>
            </a:r>
            <a:r>
              <a:rPr lang="en"/>
              <a:t> subtree if they are less than the the node's value, and into the </a:t>
            </a:r>
            <a:r>
              <a:rPr lang="en" i="1"/>
              <a:t>right</a:t>
            </a:r>
            <a:r>
              <a:rPr lang="en"/>
              <a:t> subtree otherwise. This continues until an empty subtree is found. Try implementing binary insert now!</a:t>
            </a:r>
            <a:endParaRPr/>
          </a:p>
        </p:txBody>
      </p:sp>
      <p:sp>
        <p:nvSpPr>
          <p:cNvPr id="947" name="Google Shape;947;p9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948" name="Google Shape;948;p9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Inserting into a Binary Search Tree</a:t>
            </a:r>
            <a:endParaRPr/>
          </a:p>
        </p:txBody>
      </p:sp>
      <p:sp>
        <p:nvSpPr>
          <p:cNvPr id="949" name="Google Shape;949;p9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6.7</a:t>
            </a:r>
            <a:endParaRPr/>
          </a:p>
        </p:txBody>
      </p:sp>
      <p:sp>
        <p:nvSpPr>
          <p:cNvPr id="950" name="Google Shape;950;p93"/>
          <p:cNvSpPr txBox="1">
            <a:spLocks noGrp="1"/>
          </p:cNvSpPr>
          <p:nvPr>
            <p:ph type="body" idx="4"/>
          </p:nvPr>
        </p:nvSpPr>
        <p:spPr>
          <a:xfrm>
            <a:off x="141575" y="3938450"/>
            <a:ext cx="27120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Use </a:t>
            </a:r>
            <a:r>
              <a:rPr lang="en">
                <a:latin typeface="Courier New"/>
                <a:ea typeface="Courier New"/>
                <a:cs typeface="Courier New"/>
                <a:sym typeface="Courier New"/>
              </a:rPr>
              <a:t>main</a:t>
            </a:r>
            <a:r>
              <a:rPr lang="en"/>
              <a:t> to build the tree depicted above and print it to standard output.</a:t>
            </a:r>
            <a:endParaRPr/>
          </a:p>
        </p:txBody>
      </p:sp>
      <p:grpSp>
        <p:nvGrpSpPr>
          <p:cNvPr id="951" name="Google Shape;951;p93"/>
          <p:cNvGrpSpPr/>
          <p:nvPr/>
        </p:nvGrpSpPr>
        <p:grpSpPr>
          <a:xfrm>
            <a:off x="233366" y="1971382"/>
            <a:ext cx="2620215" cy="1717412"/>
            <a:chOff x="4446813" y="1496675"/>
            <a:chExt cx="1994834" cy="1307508"/>
          </a:xfrm>
        </p:grpSpPr>
        <p:sp>
          <p:nvSpPr>
            <p:cNvPr id="952" name="Google Shape;952;p93"/>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a:t>
              </a:r>
              <a:endParaRPr sz="1000"/>
            </a:p>
          </p:txBody>
        </p:sp>
        <p:sp>
          <p:nvSpPr>
            <p:cNvPr id="953" name="Google Shape;953;p93"/>
            <p:cNvSpPr/>
            <p:nvPr/>
          </p:nvSpPr>
          <p:spPr>
            <a:xfrm>
              <a:off x="5724092"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954" name="Google Shape;954;p93"/>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955" name="Google Shape;955;p93"/>
            <p:cNvSpPr/>
            <p:nvPr/>
          </p:nvSpPr>
          <p:spPr>
            <a:xfrm>
              <a:off x="52276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cxnSp>
          <p:nvCxnSpPr>
            <p:cNvPr id="956" name="Google Shape;956;p93"/>
            <p:cNvCxnSpPr>
              <a:stCxn id="955" idx="3"/>
              <a:endCxn id="952" idx="0"/>
            </p:cNvCxnSpPr>
            <p:nvPr/>
          </p:nvCxnSpPr>
          <p:spPr>
            <a:xfrm flipH="1">
              <a:off x="4960106" y="1782189"/>
              <a:ext cx="316500" cy="187800"/>
            </a:xfrm>
            <a:prstGeom prst="straightConnector1">
              <a:avLst/>
            </a:prstGeom>
            <a:noFill/>
            <a:ln w="9525" cap="flat" cmpd="sng">
              <a:solidFill>
                <a:schemeClr val="dk1"/>
              </a:solidFill>
              <a:prstDash val="solid"/>
              <a:round/>
              <a:headEnd type="none" w="med" len="med"/>
              <a:tailEnd type="triangle" w="med" len="med"/>
            </a:ln>
          </p:spPr>
        </p:cxnSp>
        <p:cxnSp>
          <p:nvCxnSpPr>
            <p:cNvPr id="957" name="Google Shape;957;p93"/>
            <p:cNvCxnSpPr>
              <a:stCxn id="955" idx="5"/>
              <a:endCxn id="953" idx="0"/>
            </p:cNvCxnSpPr>
            <p:nvPr/>
          </p:nvCxnSpPr>
          <p:spPr>
            <a:xfrm>
              <a:off x="5513133" y="1782189"/>
              <a:ext cx="378300" cy="187800"/>
            </a:xfrm>
            <a:prstGeom prst="straightConnector1">
              <a:avLst/>
            </a:prstGeom>
            <a:noFill/>
            <a:ln w="9525" cap="flat" cmpd="sng">
              <a:solidFill>
                <a:schemeClr val="dk1"/>
              </a:solidFill>
              <a:prstDash val="solid"/>
              <a:round/>
              <a:headEnd type="none" w="med" len="med"/>
              <a:tailEnd type="triangle" w="med" len="med"/>
            </a:ln>
          </p:spPr>
        </p:cxnSp>
        <p:sp>
          <p:nvSpPr>
            <p:cNvPr id="958" name="Google Shape;958;p93"/>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959" name="Google Shape;959;p93"/>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sp>
          <p:nvSpPr>
            <p:cNvPr id="960" name="Google Shape;960;p93"/>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cxnSp>
          <p:nvCxnSpPr>
            <p:cNvPr id="961" name="Google Shape;961;p93"/>
            <p:cNvCxnSpPr>
              <a:stCxn id="952" idx="3"/>
              <a:endCxn id="954" idx="7"/>
            </p:cNvCxnSpPr>
            <p:nvPr/>
          </p:nvCxnSpPr>
          <p:spPr>
            <a:xfrm flipH="1">
              <a:off x="4732451" y="2255570"/>
              <a:ext cx="109500" cy="263100"/>
            </a:xfrm>
            <a:prstGeom prst="straightConnector1">
              <a:avLst/>
            </a:prstGeom>
            <a:noFill/>
            <a:ln w="9525" cap="flat" cmpd="sng">
              <a:solidFill>
                <a:schemeClr val="dk1"/>
              </a:solidFill>
              <a:prstDash val="solid"/>
              <a:round/>
              <a:headEnd type="none" w="med" len="med"/>
              <a:tailEnd type="triangle" w="med" len="med"/>
            </a:ln>
          </p:spPr>
        </p:cxnSp>
        <p:cxnSp>
          <p:nvCxnSpPr>
            <p:cNvPr id="962" name="Google Shape;962;p93"/>
            <p:cNvCxnSpPr>
              <a:stCxn id="952" idx="5"/>
              <a:endCxn id="958" idx="0"/>
            </p:cNvCxnSpPr>
            <p:nvPr/>
          </p:nvCxnSpPr>
          <p:spPr>
            <a:xfrm>
              <a:off x="5078479" y="2255570"/>
              <a:ext cx="185700" cy="214200"/>
            </a:xfrm>
            <a:prstGeom prst="straightConnector1">
              <a:avLst/>
            </a:prstGeom>
            <a:noFill/>
            <a:ln w="9525" cap="flat" cmpd="sng">
              <a:solidFill>
                <a:schemeClr val="dk1"/>
              </a:solidFill>
              <a:prstDash val="solid"/>
              <a:round/>
              <a:headEnd type="none" w="med" len="med"/>
              <a:tailEnd type="triangle" w="med" len="med"/>
            </a:ln>
          </p:spPr>
        </p:cxnSp>
        <p:cxnSp>
          <p:nvCxnSpPr>
            <p:cNvPr id="963" name="Google Shape;963;p93"/>
            <p:cNvCxnSpPr>
              <a:stCxn id="953" idx="3"/>
              <a:endCxn id="959" idx="0"/>
            </p:cNvCxnSpPr>
            <p:nvPr/>
          </p:nvCxnSpPr>
          <p:spPr>
            <a:xfrm flipH="1">
              <a:off x="5636879" y="2255570"/>
              <a:ext cx="136200" cy="214200"/>
            </a:xfrm>
            <a:prstGeom prst="straightConnector1">
              <a:avLst/>
            </a:prstGeom>
            <a:noFill/>
            <a:ln w="9525" cap="flat" cmpd="sng">
              <a:solidFill>
                <a:schemeClr val="dk1"/>
              </a:solidFill>
              <a:prstDash val="solid"/>
              <a:round/>
              <a:headEnd type="none" w="med" len="med"/>
              <a:tailEnd type="triangle" w="med" len="med"/>
            </a:ln>
          </p:spPr>
        </p:cxnSp>
        <p:cxnSp>
          <p:nvCxnSpPr>
            <p:cNvPr id="964" name="Google Shape;964;p93"/>
            <p:cNvCxnSpPr>
              <a:stCxn id="953" idx="5"/>
              <a:endCxn id="960" idx="1"/>
            </p:cNvCxnSpPr>
            <p:nvPr/>
          </p:nvCxnSpPr>
          <p:spPr>
            <a:xfrm>
              <a:off x="6009606" y="2255570"/>
              <a:ext cx="146400" cy="263100"/>
            </a:xfrm>
            <a:prstGeom prst="straightConnector1">
              <a:avLst/>
            </a:prstGeom>
            <a:noFill/>
            <a:ln w="9525" cap="flat" cmpd="sng">
              <a:solidFill>
                <a:schemeClr val="dk1"/>
              </a:solidFill>
              <a:prstDash val="solid"/>
              <a:round/>
              <a:headEnd type="none" w="med" len="med"/>
              <a:tailEnd type="triangle" w="med" len="med"/>
            </a:ln>
          </p:spPr>
        </p:cxn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graphicFrame>
        <p:nvGraphicFramePr>
          <p:cNvPr id="969" name="Google Shape;969;p94"/>
          <p:cNvGraphicFramePr/>
          <p:nvPr/>
        </p:nvGraphicFramePr>
        <p:xfrm>
          <a:off x="1303800" y="1310700"/>
          <a:ext cx="7239000" cy="3746450"/>
        </p:xfrm>
        <a:graphic>
          <a:graphicData uri="http://schemas.openxmlformats.org/drawingml/2006/table">
            <a:tbl>
              <a:tblPr>
                <a:noFill/>
                <a:tableStyleId>{24C44263-8FF7-4D16-B4B7-C5B571B8A48A}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gridCol w="7239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gridCol w="723900">
                  <a:extLst>
                    <a:ext uri="{9D8B030D-6E8A-4147-A177-3AD203B41FA5}">
                      <a16:colId xmlns:a16="http://schemas.microsoft.com/office/drawing/2014/main" val="20008"/>
                    </a:ext>
                  </a:extLst>
                </a:gridCol>
                <a:gridCol w="723900">
                  <a:extLst>
                    <a:ext uri="{9D8B030D-6E8A-4147-A177-3AD203B41FA5}">
                      <a16:colId xmlns:a16="http://schemas.microsoft.com/office/drawing/2014/main" val="20009"/>
                    </a:ext>
                  </a:extLst>
                </a:gridCol>
              </a:tblGrid>
              <a:tr h="632500">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632500">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08225">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08225">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632500">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632500">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latin typeface="Courier New"/>
                        <a:ea typeface="Courier New"/>
                        <a:cs typeface="Courier New"/>
                        <a:sym typeface="Courier New"/>
                      </a:endParaRPr>
                    </a:p>
                  </a:txBody>
                  <a:tcPr marL="91425" marR="91425" marT="91425" marB="91425" anchor="b">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pic>
        <p:nvPicPr>
          <p:cNvPr id="970" name="Google Shape;970;p94"/>
          <p:cNvPicPr preferRelativeResize="0"/>
          <p:nvPr/>
        </p:nvPicPr>
        <p:blipFill>
          <a:blip r:embed="rId3">
            <a:alphaModFix/>
          </a:blip>
          <a:stretch>
            <a:fillRect/>
          </a:stretch>
        </p:blipFill>
        <p:spPr>
          <a:xfrm>
            <a:off x="7835050" y="2461516"/>
            <a:ext cx="723900" cy="723900"/>
          </a:xfrm>
          <a:prstGeom prst="rect">
            <a:avLst/>
          </a:prstGeom>
          <a:noFill/>
          <a:ln>
            <a:noFill/>
          </a:ln>
        </p:spPr>
      </p:pic>
      <p:pic>
        <p:nvPicPr>
          <p:cNvPr id="971" name="Google Shape;971;p94"/>
          <p:cNvPicPr preferRelativeResize="0"/>
          <p:nvPr/>
        </p:nvPicPr>
        <p:blipFill>
          <a:blip r:embed="rId4">
            <a:alphaModFix/>
          </a:blip>
          <a:stretch>
            <a:fillRect/>
          </a:stretch>
        </p:blipFill>
        <p:spPr>
          <a:xfrm>
            <a:off x="6884619" y="4164979"/>
            <a:ext cx="1088200" cy="1088200"/>
          </a:xfrm>
          <a:prstGeom prst="rect">
            <a:avLst/>
          </a:prstGeom>
          <a:noFill/>
          <a:ln>
            <a:noFill/>
          </a:ln>
        </p:spPr>
      </p:pic>
      <p:pic>
        <p:nvPicPr>
          <p:cNvPr id="972" name="Google Shape;972;p94"/>
          <p:cNvPicPr preferRelativeResize="0"/>
          <p:nvPr/>
        </p:nvPicPr>
        <p:blipFill>
          <a:blip r:embed="rId5">
            <a:alphaModFix/>
          </a:blip>
          <a:stretch>
            <a:fillRect/>
          </a:stretch>
        </p:blipFill>
        <p:spPr>
          <a:xfrm>
            <a:off x="2039178" y="1818350"/>
            <a:ext cx="799925" cy="799925"/>
          </a:xfrm>
          <a:prstGeom prst="rect">
            <a:avLst/>
          </a:prstGeom>
          <a:noFill/>
          <a:ln>
            <a:noFill/>
          </a:ln>
        </p:spPr>
      </p:pic>
      <p:pic>
        <p:nvPicPr>
          <p:cNvPr id="973" name="Google Shape;973;p94"/>
          <p:cNvPicPr preferRelativeResize="0"/>
          <p:nvPr/>
        </p:nvPicPr>
        <p:blipFill>
          <a:blip r:embed="rId6">
            <a:alphaModFix/>
          </a:blip>
          <a:stretch>
            <a:fillRect/>
          </a:stretch>
        </p:blipFill>
        <p:spPr>
          <a:xfrm>
            <a:off x="3631350" y="1991855"/>
            <a:ext cx="444900" cy="444900"/>
          </a:xfrm>
          <a:prstGeom prst="rect">
            <a:avLst/>
          </a:prstGeom>
          <a:noFill/>
          <a:ln>
            <a:noFill/>
          </a:ln>
        </p:spPr>
      </p:pic>
      <p:pic>
        <p:nvPicPr>
          <p:cNvPr id="974" name="Google Shape;974;p94"/>
          <p:cNvPicPr preferRelativeResize="0"/>
          <p:nvPr/>
        </p:nvPicPr>
        <p:blipFill rotWithShape="1">
          <a:blip r:embed="rId7">
            <a:alphaModFix/>
          </a:blip>
          <a:srcRect t="16079"/>
          <a:stretch/>
        </p:blipFill>
        <p:spPr>
          <a:xfrm>
            <a:off x="1364425" y="1983125"/>
            <a:ext cx="635575" cy="533400"/>
          </a:xfrm>
          <a:prstGeom prst="rect">
            <a:avLst/>
          </a:prstGeom>
          <a:noFill/>
          <a:ln>
            <a:noFill/>
          </a:ln>
        </p:spPr>
      </p:pic>
      <p:pic>
        <p:nvPicPr>
          <p:cNvPr id="975" name="Google Shape;975;p94"/>
          <p:cNvPicPr preferRelativeResize="0"/>
          <p:nvPr/>
        </p:nvPicPr>
        <p:blipFill>
          <a:blip r:embed="rId8">
            <a:alphaModFix/>
          </a:blip>
          <a:stretch>
            <a:fillRect/>
          </a:stretch>
        </p:blipFill>
        <p:spPr>
          <a:xfrm>
            <a:off x="7208222" y="1957128"/>
            <a:ext cx="533400" cy="533400"/>
          </a:xfrm>
          <a:prstGeom prst="rect">
            <a:avLst/>
          </a:prstGeom>
          <a:noFill/>
          <a:ln>
            <a:noFill/>
          </a:ln>
        </p:spPr>
      </p:pic>
      <p:pic>
        <p:nvPicPr>
          <p:cNvPr id="976" name="Google Shape;976;p94"/>
          <p:cNvPicPr preferRelativeResize="0"/>
          <p:nvPr/>
        </p:nvPicPr>
        <p:blipFill>
          <a:blip r:embed="rId9">
            <a:alphaModFix/>
          </a:blip>
          <a:stretch>
            <a:fillRect/>
          </a:stretch>
        </p:blipFill>
        <p:spPr>
          <a:xfrm>
            <a:off x="2582505" y="1718574"/>
            <a:ext cx="989975" cy="989975"/>
          </a:xfrm>
          <a:prstGeom prst="rect">
            <a:avLst/>
          </a:prstGeom>
          <a:noFill/>
          <a:ln>
            <a:noFill/>
          </a:ln>
        </p:spPr>
      </p:pic>
      <p:pic>
        <p:nvPicPr>
          <p:cNvPr id="977" name="Google Shape;977;p94"/>
          <p:cNvPicPr preferRelativeResize="0"/>
          <p:nvPr/>
        </p:nvPicPr>
        <p:blipFill>
          <a:blip r:embed="rId10">
            <a:alphaModFix/>
          </a:blip>
          <a:stretch>
            <a:fillRect/>
          </a:stretch>
        </p:blipFill>
        <p:spPr>
          <a:xfrm>
            <a:off x="4877128" y="3050725"/>
            <a:ext cx="799925" cy="799925"/>
          </a:xfrm>
          <a:prstGeom prst="rect">
            <a:avLst/>
          </a:prstGeom>
          <a:noFill/>
          <a:ln>
            <a:noFill/>
          </a:ln>
        </p:spPr>
      </p:pic>
      <p:sp>
        <p:nvSpPr>
          <p:cNvPr id="978" name="Google Shape;978;p9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Available Pokémon</a:t>
            </a:r>
            <a:endParaRPr/>
          </a:p>
        </p:txBody>
      </p:sp>
      <p:pic>
        <p:nvPicPr>
          <p:cNvPr id="979" name="Google Shape;979;p94"/>
          <p:cNvPicPr preferRelativeResize="0"/>
          <p:nvPr/>
        </p:nvPicPr>
        <p:blipFill>
          <a:blip r:embed="rId11">
            <a:alphaModFix/>
          </a:blip>
          <a:stretch>
            <a:fillRect/>
          </a:stretch>
        </p:blipFill>
        <p:spPr>
          <a:xfrm>
            <a:off x="6355900" y="1859825"/>
            <a:ext cx="723900" cy="723900"/>
          </a:xfrm>
          <a:prstGeom prst="rect">
            <a:avLst/>
          </a:prstGeom>
          <a:noFill/>
          <a:ln>
            <a:noFill/>
          </a:ln>
        </p:spPr>
      </p:pic>
      <p:pic>
        <p:nvPicPr>
          <p:cNvPr id="980" name="Google Shape;980;p94"/>
          <p:cNvPicPr preferRelativeResize="0"/>
          <p:nvPr/>
        </p:nvPicPr>
        <p:blipFill>
          <a:blip r:embed="rId12">
            <a:alphaModFix/>
          </a:blip>
          <a:stretch>
            <a:fillRect/>
          </a:stretch>
        </p:blipFill>
        <p:spPr>
          <a:xfrm>
            <a:off x="1973196" y="1173174"/>
            <a:ext cx="838875" cy="838875"/>
          </a:xfrm>
          <a:prstGeom prst="rect">
            <a:avLst/>
          </a:prstGeom>
          <a:noFill/>
          <a:ln>
            <a:noFill/>
          </a:ln>
        </p:spPr>
      </p:pic>
      <p:pic>
        <p:nvPicPr>
          <p:cNvPr id="981" name="Google Shape;981;p94"/>
          <p:cNvPicPr preferRelativeResize="0"/>
          <p:nvPr/>
        </p:nvPicPr>
        <p:blipFill>
          <a:blip r:embed="rId13">
            <a:alphaModFix/>
          </a:blip>
          <a:stretch>
            <a:fillRect/>
          </a:stretch>
        </p:blipFill>
        <p:spPr>
          <a:xfrm>
            <a:off x="1981751" y="3653250"/>
            <a:ext cx="838875" cy="838875"/>
          </a:xfrm>
          <a:prstGeom prst="rect">
            <a:avLst/>
          </a:prstGeom>
          <a:noFill/>
          <a:ln>
            <a:noFill/>
          </a:ln>
        </p:spPr>
      </p:pic>
      <p:pic>
        <p:nvPicPr>
          <p:cNvPr id="982" name="Google Shape;982;p94"/>
          <p:cNvPicPr preferRelativeResize="0"/>
          <p:nvPr/>
        </p:nvPicPr>
        <p:blipFill>
          <a:blip r:embed="rId14">
            <a:alphaModFix/>
          </a:blip>
          <a:stretch>
            <a:fillRect/>
          </a:stretch>
        </p:blipFill>
        <p:spPr>
          <a:xfrm>
            <a:off x="6448557" y="2525524"/>
            <a:ext cx="588300" cy="588300"/>
          </a:xfrm>
          <a:prstGeom prst="rect">
            <a:avLst/>
          </a:prstGeom>
          <a:noFill/>
          <a:ln>
            <a:noFill/>
          </a:ln>
        </p:spPr>
      </p:pic>
      <p:sp>
        <p:nvSpPr>
          <p:cNvPr id="983" name="Google Shape;983;p94"/>
          <p:cNvSpPr txBox="1"/>
          <p:nvPr/>
        </p:nvSpPr>
        <p:spPr>
          <a:xfrm>
            <a:off x="2880388" y="23984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001</a:t>
            </a:r>
            <a:endParaRPr sz="1000">
              <a:latin typeface="Courier New"/>
              <a:ea typeface="Courier New"/>
              <a:cs typeface="Courier New"/>
              <a:sym typeface="Courier New"/>
            </a:endParaRPr>
          </a:p>
        </p:txBody>
      </p:sp>
      <p:sp>
        <p:nvSpPr>
          <p:cNvPr id="984" name="Google Shape;984;p94"/>
          <p:cNvSpPr txBox="1"/>
          <p:nvPr/>
        </p:nvSpPr>
        <p:spPr>
          <a:xfrm>
            <a:off x="7958965" y="3008313"/>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094</a:t>
            </a:r>
            <a:endParaRPr sz="1000">
              <a:latin typeface="Courier New"/>
              <a:ea typeface="Courier New"/>
              <a:cs typeface="Courier New"/>
              <a:sym typeface="Courier New"/>
            </a:endParaRPr>
          </a:p>
        </p:txBody>
      </p:sp>
      <p:sp>
        <p:nvSpPr>
          <p:cNvPr id="985" name="Google Shape;985;p94"/>
          <p:cNvSpPr txBox="1"/>
          <p:nvPr/>
        </p:nvSpPr>
        <p:spPr>
          <a:xfrm>
            <a:off x="5056475" y="3614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002</a:t>
            </a:r>
            <a:endParaRPr sz="1000">
              <a:latin typeface="Courier New"/>
              <a:ea typeface="Courier New"/>
              <a:cs typeface="Courier New"/>
              <a:sym typeface="Courier New"/>
            </a:endParaRPr>
          </a:p>
        </p:txBody>
      </p:sp>
      <p:sp>
        <p:nvSpPr>
          <p:cNvPr id="986" name="Google Shape;986;p94"/>
          <p:cNvSpPr txBox="1"/>
          <p:nvPr/>
        </p:nvSpPr>
        <p:spPr>
          <a:xfrm>
            <a:off x="6512038" y="23984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003</a:t>
            </a:r>
            <a:endParaRPr sz="1000">
              <a:latin typeface="Courier New"/>
              <a:ea typeface="Courier New"/>
              <a:cs typeface="Courier New"/>
              <a:sym typeface="Courier New"/>
            </a:endParaRPr>
          </a:p>
        </p:txBody>
      </p:sp>
      <p:sp>
        <p:nvSpPr>
          <p:cNvPr id="987" name="Google Shape;987;p94"/>
          <p:cNvSpPr txBox="1"/>
          <p:nvPr/>
        </p:nvSpPr>
        <p:spPr>
          <a:xfrm>
            <a:off x="2167188"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004</a:t>
            </a:r>
            <a:endParaRPr sz="1000">
              <a:latin typeface="Courier New"/>
              <a:ea typeface="Courier New"/>
              <a:cs typeface="Courier New"/>
              <a:sym typeface="Courier New"/>
            </a:endParaRPr>
          </a:p>
        </p:txBody>
      </p:sp>
      <p:sp>
        <p:nvSpPr>
          <p:cNvPr id="988" name="Google Shape;988;p94"/>
          <p:cNvSpPr txBox="1"/>
          <p:nvPr/>
        </p:nvSpPr>
        <p:spPr>
          <a:xfrm>
            <a:off x="2167188" y="42473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005</a:t>
            </a:r>
            <a:endParaRPr sz="1000">
              <a:latin typeface="Courier New"/>
              <a:ea typeface="Courier New"/>
              <a:cs typeface="Courier New"/>
              <a:sym typeface="Courier New"/>
            </a:endParaRPr>
          </a:p>
        </p:txBody>
      </p:sp>
      <p:sp>
        <p:nvSpPr>
          <p:cNvPr id="989" name="Google Shape;989;p94"/>
          <p:cNvSpPr txBox="1"/>
          <p:nvPr/>
        </p:nvSpPr>
        <p:spPr>
          <a:xfrm>
            <a:off x="6495388" y="30066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006</a:t>
            </a:r>
            <a:endParaRPr sz="1000">
              <a:latin typeface="Courier New"/>
              <a:ea typeface="Courier New"/>
              <a:cs typeface="Courier New"/>
              <a:sym typeface="Courier New"/>
            </a:endParaRPr>
          </a:p>
        </p:txBody>
      </p:sp>
      <p:sp>
        <p:nvSpPr>
          <p:cNvPr id="990" name="Google Shape;990;p94"/>
          <p:cNvSpPr txBox="1"/>
          <p:nvPr/>
        </p:nvSpPr>
        <p:spPr>
          <a:xfrm>
            <a:off x="2880388" y="4879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007</a:t>
            </a:r>
            <a:endParaRPr sz="1000">
              <a:latin typeface="Courier New"/>
              <a:ea typeface="Courier New"/>
              <a:cs typeface="Courier New"/>
              <a:sym typeface="Courier New"/>
            </a:endParaRPr>
          </a:p>
        </p:txBody>
      </p:sp>
      <p:sp>
        <p:nvSpPr>
          <p:cNvPr id="991" name="Google Shape;991;p94"/>
          <p:cNvSpPr txBox="1"/>
          <p:nvPr/>
        </p:nvSpPr>
        <p:spPr>
          <a:xfrm>
            <a:off x="5054625"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008</a:t>
            </a:r>
            <a:endParaRPr sz="1000">
              <a:latin typeface="Courier New"/>
              <a:ea typeface="Courier New"/>
              <a:cs typeface="Courier New"/>
              <a:sym typeface="Courier New"/>
            </a:endParaRPr>
          </a:p>
        </p:txBody>
      </p:sp>
      <p:sp>
        <p:nvSpPr>
          <p:cNvPr id="992" name="Google Shape;992;p94"/>
          <p:cNvSpPr txBox="1"/>
          <p:nvPr/>
        </p:nvSpPr>
        <p:spPr>
          <a:xfrm>
            <a:off x="2137588" y="30066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009</a:t>
            </a:r>
            <a:endParaRPr sz="1000">
              <a:latin typeface="Courier New"/>
              <a:ea typeface="Courier New"/>
              <a:cs typeface="Courier New"/>
              <a:sym typeface="Courier New"/>
            </a:endParaRPr>
          </a:p>
        </p:txBody>
      </p:sp>
      <p:pic>
        <p:nvPicPr>
          <p:cNvPr id="993" name="Google Shape;993;p94"/>
          <p:cNvPicPr preferRelativeResize="0"/>
          <p:nvPr/>
        </p:nvPicPr>
        <p:blipFill>
          <a:blip r:embed="rId15">
            <a:alphaModFix/>
          </a:blip>
          <a:stretch>
            <a:fillRect/>
          </a:stretch>
        </p:blipFill>
        <p:spPr>
          <a:xfrm>
            <a:off x="2675400" y="4236275"/>
            <a:ext cx="897075" cy="897075"/>
          </a:xfrm>
          <a:prstGeom prst="rect">
            <a:avLst/>
          </a:prstGeom>
          <a:noFill/>
          <a:ln>
            <a:noFill/>
          </a:ln>
        </p:spPr>
      </p:pic>
      <p:pic>
        <p:nvPicPr>
          <p:cNvPr id="994" name="Google Shape;994;p94"/>
          <p:cNvPicPr preferRelativeResize="0"/>
          <p:nvPr/>
        </p:nvPicPr>
        <p:blipFill>
          <a:blip r:embed="rId16">
            <a:alphaModFix/>
          </a:blip>
          <a:stretch>
            <a:fillRect/>
          </a:stretch>
        </p:blipFill>
        <p:spPr>
          <a:xfrm>
            <a:off x="4889643" y="1216000"/>
            <a:ext cx="799925" cy="799925"/>
          </a:xfrm>
          <a:prstGeom prst="rect">
            <a:avLst/>
          </a:prstGeom>
          <a:noFill/>
          <a:ln>
            <a:noFill/>
          </a:ln>
        </p:spPr>
      </p:pic>
      <p:pic>
        <p:nvPicPr>
          <p:cNvPr id="995" name="Google Shape;995;p94"/>
          <p:cNvPicPr preferRelativeResize="0"/>
          <p:nvPr/>
        </p:nvPicPr>
        <p:blipFill>
          <a:blip r:embed="rId17">
            <a:alphaModFix/>
          </a:blip>
          <a:stretch>
            <a:fillRect/>
          </a:stretch>
        </p:blipFill>
        <p:spPr>
          <a:xfrm>
            <a:off x="2055435" y="2496676"/>
            <a:ext cx="635575" cy="635575"/>
          </a:xfrm>
          <a:prstGeom prst="rect">
            <a:avLst/>
          </a:prstGeom>
          <a:noFill/>
          <a:ln>
            <a:noFill/>
          </a:ln>
        </p:spPr>
      </p:pic>
      <p:sp>
        <p:nvSpPr>
          <p:cNvPr id="996" name="Google Shape;996;p94"/>
          <p:cNvSpPr txBox="1"/>
          <p:nvPr/>
        </p:nvSpPr>
        <p:spPr>
          <a:xfrm>
            <a:off x="6495388" y="4879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013</a:t>
            </a:r>
            <a:endParaRPr sz="1000">
              <a:latin typeface="Courier New"/>
              <a:ea typeface="Courier New"/>
              <a:cs typeface="Courier New"/>
              <a:sym typeface="Courier New"/>
            </a:endParaRPr>
          </a:p>
        </p:txBody>
      </p:sp>
      <p:pic>
        <p:nvPicPr>
          <p:cNvPr id="997" name="Google Shape;997;p94"/>
          <p:cNvPicPr preferRelativeResize="0"/>
          <p:nvPr/>
        </p:nvPicPr>
        <p:blipFill>
          <a:blip r:embed="rId18">
            <a:alphaModFix/>
          </a:blip>
          <a:stretch>
            <a:fillRect/>
          </a:stretch>
        </p:blipFill>
        <p:spPr>
          <a:xfrm>
            <a:off x="6243200" y="4202196"/>
            <a:ext cx="999000" cy="999000"/>
          </a:xfrm>
          <a:prstGeom prst="rect">
            <a:avLst/>
          </a:prstGeom>
          <a:noFill/>
          <a:ln>
            <a:noFill/>
          </a:ln>
        </p:spPr>
      </p:pic>
      <p:sp>
        <p:nvSpPr>
          <p:cNvPr id="998" name="Google Shape;998;p94"/>
          <p:cNvSpPr txBox="1"/>
          <p:nvPr/>
        </p:nvSpPr>
        <p:spPr>
          <a:xfrm>
            <a:off x="3626413" y="3614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025</a:t>
            </a:r>
            <a:endParaRPr sz="1000">
              <a:latin typeface="Courier New"/>
              <a:ea typeface="Courier New"/>
              <a:cs typeface="Courier New"/>
              <a:sym typeface="Courier New"/>
            </a:endParaRPr>
          </a:p>
        </p:txBody>
      </p:sp>
      <p:pic>
        <p:nvPicPr>
          <p:cNvPr id="999" name="Google Shape;999;p94"/>
          <p:cNvPicPr preferRelativeResize="0"/>
          <p:nvPr/>
        </p:nvPicPr>
        <p:blipFill>
          <a:blip r:embed="rId19">
            <a:alphaModFix/>
          </a:blip>
          <a:stretch>
            <a:fillRect/>
          </a:stretch>
        </p:blipFill>
        <p:spPr>
          <a:xfrm>
            <a:off x="3439922" y="3024883"/>
            <a:ext cx="799925" cy="799925"/>
          </a:xfrm>
          <a:prstGeom prst="rect">
            <a:avLst/>
          </a:prstGeom>
          <a:noFill/>
          <a:ln>
            <a:noFill/>
          </a:ln>
        </p:spPr>
      </p:pic>
      <p:sp>
        <p:nvSpPr>
          <p:cNvPr id="1000" name="Google Shape;1000;p94"/>
          <p:cNvSpPr txBox="1"/>
          <p:nvPr/>
        </p:nvSpPr>
        <p:spPr>
          <a:xfrm>
            <a:off x="7242188"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026</a:t>
            </a:r>
            <a:endParaRPr sz="1000">
              <a:latin typeface="Courier New"/>
              <a:ea typeface="Courier New"/>
              <a:cs typeface="Courier New"/>
              <a:sym typeface="Courier New"/>
            </a:endParaRPr>
          </a:p>
        </p:txBody>
      </p:sp>
      <p:pic>
        <p:nvPicPr>
          <p:cNvPr id="1001" name="Google Shape;1001;p94"/>
          <p:cNvPicPr preferRelativeResize="0"/>
          <p:nvPr/>
        </p:nvPicPr>
        <p:blipFill>
          <a:blip r:embed="rId20">
            <a:alphaModFix/>
          </a:blip>
          <a:stretch>
            <a:fillRect/>
          </a:stretch>
        </p:blipFill>
        <p:spPr>
          <a:xfrm>
            <a:off x="7179404" y="1328923"/>
            <a:ext cx="588300" cy="588300"/>
          </a:xfrm>
          <a:prstGeom prst="rect">
            <a:avLst/>
          </a:prstGeom>
          <a:noFill/>
          <a:ln>
            <a:noFill/>
          </a:ln>
        </p:spPr>
      </p:pic>
      <p:sp>
        <p:nvSpPr>
          <p:cNvPr id="1002" name="Google Shape;1002;p94"/>
          <p:cNvSpPr txBox="1"/>
          <p:nvPr/>
        </p:nvSpPr>
        <p:spPr>
          <a:xfrm>
            <a:off x="1446938"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039</a:t>
            </a:r>
            <a:endParaRPr sz="1000">
              <a:latin typeface="Courier New"/>
              <a:ea typeface="Courier New"/>
              <a:cs typeface="Courier New"/>
              <a:sym typeface="Courier New"/>
            </a:endParaRPr>
          </a:p>
        </p:txBody>
      </p:sp>
      <p:pic>
        <p:nvPicPr>
          <p:cNvPr id="1003" name="Google Shape;1003;p94"/>
          <p:cNvPicPr preferRelativeResize="0"/>
          <p:nvPr/>
        </p:nvPicPr>
        <p:blipFill>
          <a:blip r:embed="rId21">
            <a:alphaModFix/>
          </a:blip>
          <a:stretch>
            <a:fillRect/>
          </a:stretch>
        </p:blipFill>
        <p:spPr>
          <a:xfrm>
            <a:off x="1177074" y="1109289"/>
            <a:ext cx="999000" cy="999000"/>
          </a:xfrm>
          <a:prstGeom prst="rect">
            <a:avLst/>
          </a:prstGeom>
          <a:noFill/>
          <a:ln>
            <a:noFill/>
          </a:ln>
        </p:spPr>
      </p:pic>
      <p:sp>
        <p:nvSpPr>
          <p:cNvPr id="1004" name="Google Shape;1004;p94"/>
          <p:cNvSpPr txBox="1"/>
          <p:nvPr/>
        </p:nvSpPr>
        <p:spPr>
          <a:xfrm>
            <a:off x="7955188" y="4879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040</a:t>
            </a:r>
            <a:endParaRPr sz="1000">
              <a:latin typeface="Courier New"/>
              <a:ea typeface="Courier New"/>
              <a:cs typeface="Courier New"/>
              <a:sym typeface="Courier New"/>
            </a:endParaRPr>
          </a:p>
        </p:txBody>
      </p:sp>
      <p:pic>
        <p:nvPicPr>
          <p:cNvPr id="1005" name="Google Shape;1005;p94"/>
          <p:cNvPicPr preferRelativeResize="0"/>
          <p:nvPr/>
        </p:nvPicPr>
        <p:blipFill>
          <a:blip r:embed="rId22">
            <a:alphaModFix/>
          </a:blip>
          <a:stretch>
            <a:fillRect/>
          </a:stretch>
        </p:blipFill>
        <p:spPr>
          <a:xfrm>
            <a:off x="7729113" y="4253163"/>
            <a:ext cx="897075" cy="897075"/>
          </a:xfrm>
          <a:prstGeom prst="rect">
            <a:avLst/>
          </a:prstGeom>
          <a:noFill/>
          <a:ln>
            <a:noFill/>
          </a:ln>
        </p:spPr>
      </p:pic>
      <p:sp>
        <p:nvSpPr>
          <p:cNvPr id="1006" name="Google Shape;1006;p94"/>
          <p:cNvSpPr txBox="1"/>
          <p:nvPr/>
        </p:nvSpPr>
        <p:spPr>
          <a:xfrm>
            <a:off x="5052413" y="42473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172</a:t>
            </a:r>
            <a:endParaRPr sz="1000">
              <a:latin typeface="Courier New"/>
              <a:ea typeface="Courier New"/>
              <a:cs typeface="Courier New"/>
              <a:sym typeface="Courier New"/>
            </a:endParaRPr>
          </a:p>
        </p:txBody>
      </p:sp>
      <p:pic>
        <p:nvPicPr>
          <p:cNvPr id="1007" name="Google Shape;1007;p94"/>
          <p:cNvPicPr preferRelativeResize="0"/>
          <p:nvPr/>
        </p:nvPicPr>
        <p:blipFill>
          <a:blip r:embed="rId23">
            <a:alphaModFix/>
          </a:blip>
          <a:stretch>
            <a:fillRect/>
          </a:stretch>
        </p:blipFill>
        <p:spPr>
          <a:xfrm>
            <a:off x="4724896" y="3530015"/>
            <a:ext cx="1088200" cy="1088200"/>
          </a:xfrm>
          <a:prstGeom prst="rect">
            <a:avLst/>
          </a:prstGeom>
          <a:noFill/>
          <a:ln>
            <a:noFill/>
          </a:ln>
        </p:spPr>
      </p:pic>
      <p:sp>
        <p:nvSpPr>
          <p:cNvPr id="1008" name="Google Shape;1008;p94"/>
          <p:cNvSpPr txBox="1"/>
          <p:nvPr/>
        </p:nvSpPr>
        <p:spPr>
          <a:xfrm>
            <a:off x="4347313" y="23984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174</a:t>
            </a:r>
            <a:endParaRPr sz="1000">
              <a:latin typeface="Courier New"/>
              <a:ea typeface="Courier New"/>
              <a:cs typeface="Courier New"/>
              <a:sym typeface="Courier New"/>
            </a:endParaRPr>
          </a:p>
        </p:txBody>
      </p:sp>
      <p:pic>
        <p:nvPicPr>
          <p:cNvPr id="1009" name="Google Shape;1009;p94"/>
          <p:cNvPicPr preferRelativeResize="0"/>
          <p:nvPr/>
        </p:nvPicPr>
        <p:blipFill>
          <a:blip r:embed="rId24">
            <a:alphaModFix/>
          </a:blip>
          <a:stretch>
            <a:fillRect/>
          </a:stretch>
        </p:blipFill>
        <p:spPr>
          <a:xfrm>
            <a:off x="4012449" y="1683740"/>
            <a:ext cx="1143000" cy="1143000"/>
          </a:xfrm>
          <a:prstGeom prst="rect">
            <a:avLst/>
          </a:prstGeom>
          <a:noFill/>
          <a:ln>
            <a:noFill/>
          </a:ln>
        </p:spPr>
      </p:pic>
      <p:sp>
        <p:nvSpPr>
          <p:cNvPr id="1010" name="Google Shape;1010;p94"/>
          <p:cNvSpPr txBox="1"/>
          <p:nvPr/>
        </p:nvSpPr>
        <p:spPr>
          <a:xfrm>
            <a:off x="5067150" y="2408313"/>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050</a:t>
            </a:r>
            <a:endParaRPr sz="1000">
              <a:latin typeface="Courier New"/>
              <a:ea typeface="Courier New"/>
              <a:cs typeface="Courier New"/>
              <a:sym typeface="Courier New"/>
            </a:endParaRPr>
          </a:p>
        </p:txBody>
      </p:sp>
      <p:sp>
        <p:nvSpPr>
          <p:cNvPr id="1011" name="Google Shape;1011;p94"/>
          <p:cNvSpPr txBox="1"/>
          <p:nvPr/>
        </p:nvSpPr>
        <p:spPr>
          <a:xfrm>
            <a:off x="2880388" y="30066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051</a:t>
            </a:r>
            <a:endParaRPr sz="1000">
              <a:latin typeface="Courier New"/>
              <a:ea typeface="Courier New"/>
              <a:cs typeface="Courier New"/>
              <a:sym typeface="Courier New"/>
            </a:endParaRPr>
          </a:p>
        </p:txBody>
      </p:sp>
      <p:sp>
        <p:nvSpPr>
          <p:cNvPr id="1012" name="Google Shape;1012;p94"/>
          <p:cNvSpPr txBox="1"/>
          <p:nvPr/>
        </p:nvSpPr>
        <p:spPr>
          <a:xfrm>
            <a:off x="5798288" y="30066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052</a:t>
            </a:r>
            <a:endParaRPr sz="1000">
              <a:latin typeface="Courier New"/>
              <a:ea typeface="Courier New"/>
              <a:cs typeface="Courier New"/>
              <a:sym typeface="Courier New"/>
            </a:endParaRPr>
          </a:p>
        </p:txBody>
      </p:sp>
      <p:sp>
        <p:nvSpPr>
          <p:cNvPr id="1013" name="Google Shape;1013;p94"/>
          <p:cNvSpPr txBox="1"/>
          <p:nvPr/>
        </p:nvSpPr>
        <p:spPr>
          <a:xfrm>
            <a:off x="2880388" y="36214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053</a:t>
            </a:r>
            <a:endParaRPr sz="1000">
              <a:latin typeface="Courier New"/>
              <a:ea typeface="Courier New"/>
              <a:cs typeface="Courier New"/>
              <a:sym typeface="Courier New"/>
            </a:endParaRPr>
          </a:p>
        </p:txBody>
      </p:sp>
      <p:sp>
        <p:nvSpPr>
          <p:cNvPr id="1014" name="Google Shape;1014;p94"/>
          <p:cNvSpPr txBox="1"/>
          <p:nvPr/>
        </p:nvSpPr>
        <p:spPr>
          <a:xfrm>
            <a:off x="4347313" y="4879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063</a:t>
            </a:r>
            <a:endParaRPr sz="1000">
              <a:latin typeface="Courier New"/>
              <a:ea typeface="Courier New"/>
              <a:cs typeface="Courier New"/>
              <a:sym typeface="Courier New"/>
            </a:endParaRPr>
          </a:p>
        </p:txBody>
      </p:sp>
      <p:sp>
        <p:nvSpPr>
          <p:cNvPr id="1015" name="Google Shape;1015;p94"/>
          <p:cNvSpPr txBox="1"/>
          <p:nvPr/>
        </p:nvSpPr>
        <p:spPr>
          <a:xfrm>
            <a:off x="5798288" y="42473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064</a:t>
            </a:r>
            <a:endParaRPr sz="1000">
              <a:latin typeface="Courier New"/>
              <a:ea typeface="Courier New"/>
              <a:cs typeface="Courier New"/>
              <a:sym typeface="Courier New"/>
            </a:endParaRPr>
          </a:p>
        </p:txBody>
      </p:sp>
      <p:sp>
        <p:nvSpPr>
          <p:cNvPr id="1016" name="Google Shape;1016;p94"/>
          <p:cNvSpPr txBox="1"/>
          <p:nvPr/>
        </p:nvSpPr>
        <p:spPr>
          <a:xfrm>
            <a:off x="1446938" y="42473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065</a:t>
            </a:r>
            <a:endParaRPr sz="1000">
              <a:latin typeface="Courier New"/>
              <a:ea typeface="Courier New"/>
              <a:cs typeface="Courier New"/>
              <a:sym typeface="Courier New"/>
            </a:endParaRPr>
          </a:p>
        </p:txBody>
      </p:sp>
      <p:pic>
        <p:nvPicPr>
          <p:cNvPr id="1017" name="Google Shape;1017;p94"/>
          <p:cNvPicPr preferRelativeResize="0"/>
          <p:nvPr/>
        </p:nvPicPr>
        <p:blipFill>
          <a:blip r:embed="rId25">
            <a:alphaModFix/>
          </a:blip>
          <a:stretch>
            <a:fillRect/>
          </a:stretch>
        </p:blipFill>
        <p:spPr>
          <a:xfrm>
            <a:off x="4639825" y="1557957"/>
            <a:ext cx="1297487" cy="1297487"/>
          </a:xfrm>
          <a:prstGeom prst="rect">
            <a:avLst/>
          </a:prstGeom>
          <a:noFill/>
          <a:ln>
            <a:noFill/>
          </a:ln>
        </p:spPr>
      </p:pic>
      <p:pic>
        <p:nvPicPr>
          <p:cNvPr id="1018" name="Google Shape;1018;p94"/>
          <p:cNvPicPr preferRelativeResize="0"/>
          <p:nvPr/>
        </p:nvPicPr>
        <p:blipFill>
          <a:blip r:embed="rId26">
            <a:alphaModFix/>
          </a:blip>
          <a:stretch>
            <a:fillRect/>
          </a:stretch>
        </p:blipFill>
        <p:spPr>
          <a:xfrm>
            <a:off x="2528726" y="2245250"/>
            <a:ext cx="1143000" cy="1143000"/>
          </a:xfrm>
          <a:prstGeom prst="rect">
            <a:avLst/>
          </a:prstGeom>
          <a:noFill/>
          <a:ln>
            <a:noFill/>
          </a:ln>
        </p:spPr>
      </p:pic>
      <p:pic>
        <p:nvPicPr>
          <p:cNvPr id="1019" name="Google Shape;1019;p94"/>
          <p:cNvPicPr preferRelativeResize="0"/>
          <p:nvPr/>
        </p:nvPicPr>
        <p:blipFill>
          <a:blip r:embed="rId27">
            <a:alphaModFix/>
          </a:blip>
          <a:stretch>
            <a:fillRect/>
          </a:stretch>
        </p:blipFill>
        <p:spPr>
          <a:xfrm>
            <a:off x="5609457" y="2428158"/>
            <a:ext cx="838875" cy="838875"/>
          </a:xfrm>
          <a:prstGeom prst="rect">
            <a:avLst/>
          </a:prstGeom>
          <a:noFill/>
          <a:ln>
            <a:noFill/>
          </a:ln>
        </p:spPr>
      </p:pic>
      <p:pic>
        <p:nvPicPr>
          <p:cNvPr id="1020" name="Google Shape;1020;p94"/>
          <p:cNvPicPr preferRelativeResize="0"/>
          <p:nvPr/>
        </p:nvPicPr>
        <p:blipFill>
          <a:blip r:embed="rId28">
            <a:alphaModFix/>
          </a:blip>
          <a:stretch>
            <a:fillRect/>
          </a:stretch>
        </p:blipFill>
        <p:spPr>
          <a:xfrm>
            <a:off x="2734580" y="3052201"/>
            <a:ext cx="752850" cy="752850"/>
          </a:xfrm>
          <a:prstGeom prst="rect">
            <a:avLst/>
          </a:prstGeom>
          <a:noFill/>
          <a:ln>
            <a:noFill/>
          </a:ln>
        </p:spPr>
      </p:pic>
      <p:pic>
        <p:nvPicPr>
          <p:cNvPr id="1021" name="Google Shape;1021;p94"/>
          <p:cNvPicPr preferRelativeResize="0"/>
          <p:nvPr/>
        </p:nvPicPr>
        <p:blipFill>
          <a:blip r:embed="rId29">
            <a:alphaModFix/>
          </a:blip>
          <a:stretch>
            <a:fillRect/>
          </a:stretch>
        </p:blipFill>
        <p:spPr>
          <a:xfrm>
            <a:off x="4012447" y="4127232"/>
            <a:ext cx="1143000" cy="1143000"/>
          </a:xfrm>
          <a:prstGeom prst="rect">
            <a:avLst/>
          </a:prstGeom>
          <a:noFill/>
          <a:ln>
            <a:noFill/>
          </a:ln>
        </p:spPr>
      </p:pic>
      <p:pic>
        <p:nvPicPr>
          <p:cNvPr id="1022" name="Google Shape;1022;p94"/>
          <p:cNvPicPr preferRelativeResize="0"/>
          <p:nvPr/>
        </p:nvPicPr>
        <p:blipFill>
          <a:blip r:embed="rId30">
            <a:alphaModFix/>
          </a:blip>
          <a:stretch>
            <a:fillRect/>
          </a:stretch>
        </p:blipFill>
        <p:spPr>
          <a:xfrm>
            <a:off x="5621105" y="3653470"/>
            <a:ext cx="799925" cy="799925"/>
          </a:xfrm>
          <a:prstGeom prst="rect">
            <a:avLst/>
          </a:prstGeom>
          <a:noFill/>
          <a:ln>
            <a:noFill/>
          </a:ln>
        </p:spPr>
      </p:pic>
      <p:pic>
        <p:nvPicPr>
          <p:cNvPr id="1023" name="Google Shape;1023;p94"/>
          <p:cNvPicPr preferRelativeResize="0"/>
          <p:nvPr/>
        </p:nvPicPr>
        <p:blipFill>
          <a:blip r:embed="rId31">
            <a:alphaModFix/>
          </a:blip>
          <a:stretch>
            <a:fillRect/>
          </a:stretch>
        </p:blipFill>
        <p:spPr>
          <a:xfrm>
            <a:off x="1302566" y="3676571"/>
            <a:ext cx="723900" cy="723900"/>
          </a:xfrm>
          <a:prstGeom prst="rect">
            <a:avLst/>
          </a:prstGeom>
          <a:noFill/>
          <a:ln>
            <a:noFill/>
          </a:ln>
        </p:spPr>
      </p:pic>
      <p:sp>
        <p:nvSpPr>
          <p:cNvPr id="1024" name="Google Shape;1024;p94"/>
          <p:cNvSpPr txBox="1"/>
          <p:nvPr/>
        </p:nvSpPr>
        <p:spPr>
          <a:xfrm>
            <a:off x="1442063" y="3614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074</a:t>
            </a:r>
            <a:endParaRPr sz="1000">
              <a:latin typeface="Courier New"/>
              <a:ea typeface="Courier New"/>
              <a:cs typeface="Courier New"/>
              <a:sym typeface="Courier New"/>
            </a:endParaRPr>
          </a:p>
        </p:txBody>
      </p:sp>
      <p:sp>
        <p:nvSpPr>
          <p:cNvPr id="1025" name="Google Shape;1025;p94"/>
          <p:cNvSpPr txBox="1"/>
          <p:nvPr/>
        </p:nvSpPr>
        <p:spPr>
          <a:xfrm>
            <a:off x="3610900"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075</a:t>
            </a:r>
            <a:endParaRPr sz="1000">
              <a:latin typeface="Courier New"/>
              <a:ea typeface="Courier New"/>
              <a:cs typeface="Courier New"/>
              <a:sym typeface="Courier New"/>
            </a:endParaRPr>
          </a:p>
        </p:txBody>
      </p:sp>
      <p:sp>
        <p:nvSpPr>
          <p:cNvPr id="1026" name="Google Shape;1026;p94"/>
          <p:cNvSpPr txBox="1"/>
          <p:nvPr/>
        </p:nvSpPr>
        <p:spPr>
          <a:xfrm>
            <a:off x="7242188" y="30066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076</a:t>
            </a:r>
            <a:endParaRPr sz="1000">
              <a:latin typeface="Courier New"/>
              <a:ea typeface="Courier New"/>
              <a:cs typeface="Courier New"/>
              <a:sym typeface="Courier New"/>
            </a:endParaRPr>
          </a:p>
        </p:txBody>
      </p:sp>
      <p:sp>
        <p:nvSpPr>
          <p:cNvPr id="1027" name="Google Shape;1027;p94"/>
          <p:cNvSpPr txBox="1"/>
          <p:nvPr/>
        </p:nvSpPr>
        <p:spPr>
          <a:xfrm>
            <a:off x="4332750"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129</a:t>
            </a:r>
            <a:endParaRPr sz="1000">
              <a:latin typeface="Courier New"/>
              <a:ea typeface="Courier New"/>
              <a:cs typeface="Courier New"/>
              <a:sym typeface="Courier New"/>
            </a:endParaRPr>
          </a:p>
        </p:txBody>
      </p:sp>
      <p:sp>
        <p:nvSpPr>
          <p:cNvPr id="1028" name="Google Shape;1028;p94"/>
          <p:cNvSpPr txBox="1"/>
          <p:nvPr/>
        </p:nvSpPr>
        <p:spPr>
          <a:xfrm>
            <a:off x="4336025" y="2997742"/>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130</a:t>
            </a:r>
            <a:endParaRPr sz="1000">
              <a:latin typeface="Courier New"/>
              <a:ea typeface="Courier New"/>
              <a:cs typeface="Courier New"/>
              <a:sym typeface="Courier New"/>
            </a:endParaRPr>
          </a:p>
        </p:txBody>
      </p:sp>
      <p:sp>
        <p:nvSpPr>
          <p:cNvPr id="1029" name="Google Shape;1029;p94"/>
          <p:cNvSpPr txBox="1"/>
          <p:nvPr/>
        </p:nvSpPr>
        <p:spPr>
          <a:xfrm>
            <a:off x="6482838" y="3604413"/>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143</a:t>
            </a:r>
            <a:endParaRPr sz="1000">
              <a:latin typeface="Courier New"/>
              <a:ea typeface="Courier New"/>
              <a:cs typeface="Courier New"/>
              <a:sym typeface="Courier New"/>
            </a:endParaRPr>
          </a:p>
        </p:txBody>
      </p:sp>
      <p:sp>
        <p:nvSpPr>
          <p:cNvPr id="1030" name="Google Shape;1030;p94"/>
          <p:cNvSpPr txBox="1"/>
          <p:nvPr/>
        </p:nvSpPr>
        <p:spPr>
          <a:xfrm>
            <a:off x="1413463" y="4879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150</a:t>
            </a:r>
            <a:endParaRPr sz="1000">
              <a:latin typeface="Courier New"/>
              <a:ea typeface="Courier New"/>
              <a:cs typeface="Courier New"/>
              <a:sym typeface="Courier New"/>
            </a:endParaRPr>
          </a:p>
        </p:txBody>
      </p:sp>
      <p:pic>
        <p:nvPicPr>
          <p:cNvPr id="1031" name="Google Shape;1031;p94"/>
          <p:cNvPicPr preferRelativeResize="0"/>
          <p:nvPr/>
        </p:nvPicPr>
        <p:blipFill>
          <a:blip r:embed="rId32">
            <a:alphaModFix/>
          </a:blip>
          <a:stretch>
            <a:fillRect/>
          </a:stretch>
        </p:blipFill>
        <p:spPr>
          <a:xfrm>
            <a:off x="1189271" y="2989870"/>
            <a:ext cx="999000" cy="999000"/>
          </a:xfrm>
          <a:prstGeom prst="rect">
            <a:avLst/>
          </a:prstGeom>
          <a:noFill/>
          <a:ln>
            <a:noFill/>
          </a:ln>
        </p:spPr>
      </p:pic>
      <p:pic>
        <p:nvPicPr>
          <p:cNvPr id="1032" name="Google Shape;1032;p94"/>
          <p:cNvPicPr preferRelativeResize="0"/>
          <p:nvPr/>
        </p:nvPicPr>
        <p:blipFill>
          <a:blip r:embed="rId33">
            <a:alphaModFix/>
          </a:blip>
          <a:stretch>
            <a:fillRect/>
          </a:stretch>
        </p:blipFill>
        <p:spPr>
          <a:xfrm>
            <a:off x="3463179" y="1192108"/>
            <a:ext cx="799925" cy="799925"/>
          </a:xfrm>
          <a:prstGeom prst="rect">
            <a:avLst/>
          </a:prstGeom>
          <a:noFill/>
          <a:ln>
            <a:noFill/>
          </a:ln>
        </p:spPr>
      </p:pic>
      <p:pic>
        <p:nvPicPr>
          <p:cNvPr id="1033" name="Google Shape;1033;p94"/>
          <p:cNvPicPr preferRelativeResize="0"/>
          <p:nvPr/>
        </p:nvPicPr>
        <p:blipFill>
          <a:blip r:embed="rId34">
            <a:alphaModFix/>
          </a:blip>
          <a:stretch>
            <a:fillRect/>
          </a:stretch>
        </p:blipFill>
        <p:spPr>
          <a:xfrm>
            <a:off x="7127567" y="2456343"/>
            <a:ext cx="698625" cy="698625"/>
          </a:xfrm>
          <a:prstGeom prst="rect">
            <a:avLst/>
          </a:prstGeom>
          <a:noFill/>
          <a:ln>
            <a:noFill/>
          </a:ln>
        </p:spPr>
      </p:pic>
      <p:pic>
        <p:nvPicPr>
          <p:cNvPr id="1034" name="Google Shape;1034;p94"/>
          <p:cNvPicPr preferRelativeResize="0"/>
          <p:nvPr/>
        </p:nvPicPr>
        <p:blipFill>
          <a:blip r:embed="rId35">
            <a:alphaModFix/>
          </a:blip>
          <a:stretch>
            <a:fillRect/>
          </a:stretch>
        </p:blipFill>
        <p:spPr>
          <a:xfrm>
            <a:off x="4012458" y="1039978"/>
            <a:ext cx="1088200" cy="1088200"/>
          </a:xfrm>
          <a:prstGeom prst="rect">
            <a:avLst/>
          </a:prstGeom>
          <a:noFill/>
          <a:ln>
            <a:noFill/>
          </a:ln>
        </p:spPr>
      </p:pic>
      <p:pic>
        <p:nvPicPr>
          <p:cNvPr id="1035" name="Google Shape;1035;p94"/>
          <p:cNvPicPr preferRelativeResize="0"/>
          <p:nvPr/>
        </p:nvPicPr>
        <p:blipFill>
          <a:blip r:embed="rId36">
            <a:alphaModFix/>
          </a:blip>
          <a:stretch>
            <a:fillRect/>
          </a:stretch>
        </p:blipFill>
        <p:spPr>
          <a:xfrm>
            <a:off x="4199991" y="2507302"/>
            <a:ext cx="698625" cy="698625"/>
          </a:xfrm>
          <a:prstGeom prst="rect">
            <a:avLst/>
          </a:prstGeom>
          <a:noFill/>
          <a:ln>
            <a:noFill/>
          </a:ln>
        </p:spPr>
      </p:pic>
      <p:pic>
        <p:nvPicPr>
          <p:cNvPr id="1036" name="Google Shape;1036;p94"/>
          <p:cNvPicPr preferRelativeResize="0"/>
          <p:nvPr/>
        </p:nvPicPr>
        <p:blipFill>
          <a:blip r:embed="rId37">
            <a:alphaModFix/>
          </a:blip>
          <a:stretch>
            <a:fillRect/>
          </a:stretch>
        </p:blipFill>
        <p:spPr>
          <a:xfrm>
            <a:off x="6430838" y="3166750"/>
            <a:ext cx="588300" cy="588300"/>
          </a:xfrm>
          <a:prstGeom prst="rect">
            <a:avLst/>
          </a:prstGeom>
          <a:noFill/>
          <a:ln>
            <a:noFill/>
          </a:ln>
        </p:spPr>
      </p:pic>
      <p:pic>
        <p:nvPicPr>
          <p:cNvPr id="1037" name="Google Shape;1037;p94"/>
          <p:cNvPicPr preferRelativeResize="0"/>
          <p:nvPr/>
        </p:nvPicPr>
        <p:blipFill>
          <a:blip r:embed="rId38">
            <a:alphaModFix/>
          </a:blip>
          <a:stretch>
            <a:fillRect/>
          </a:stretch>
        </p:blipFill>
        <p:spPr>
          <a:xfrm>
            <a:off x="1408145" y="4462363"/>
            <a:ext cx="444900" cy="444900"/>
          </a:xfrm>
          <a:prstGeom prst="rect">
            <a:avLst/>
          </a:prstGeom>
          <a:noFill/>
          <a:ln>
            <a:noFill/>
          </a:ln>
        </p:spPr>
      </p:pic>
      <p:sp>
        <p:nvSpPr>
          <p:cNvPr id="1038" name="Google Shape;1038;p94"/>
          <p:cNvSpPr txBox="1"/>
          <p:nvPr/>
        </p:nvSpPr>
        <p:spPr>
          <a:xfrm>
            <a:off x="7265538" y="2386263"/>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151</a:t>
            </a:r>
            <a:endParaRPr sz="1000">
              <a:latin typeface="Courier New"/>
              <a:ea typeface="Courier New"/>
              <a:cs typeface="Courier New"/>
              <a:sym typeface="Courier New"/>
            </a:endParaRPr>
          </a:p>
        </p:txBody>
      </p:sp>
      <p:sp>
        <p:nvSpPr>
          <p:cNvPr id="1039" name="Google Shape;1039;p94"/>
          <p:cNvSpPr txBox="1"/>
          <p:nvPr/>
        </p:nvSpPr>
        <p:spPr>
          <a:xfrm>
            <a:off x="1457438" y="24083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132</a:t>
            </a:r>
            <a:endParaRPr sz="1000">
              <a:latin typeface="Courier New"/>
              <a:ea typeface="Courier New"/>
              <a:cs typeface="Courier New"/>
              <a:sym typeface="Courier New"/>
            </a:endParaRPr>
          </a:p>
        </p:txBody>
      </p:sp>
      <p:sp>
        <p:nvSpPr>
          <p:cNvPr id="1040" name="Google Shape;1040;p94"/>
          <p:cNvSpPr txBox="1"/>
          <p:nvPr/>
        </p:nvSpPr>
        <p:spPr>
          <a:xfrm>
            <a:off x="6512038" y="4242138"/>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133</a:t>
            </a:r>
            <a:endParaRPr sz="1000">
              <a:latin typeface="Courier New"/>
              <a:ea typeface="Courier New"/>
              <a:cs typeface="Courier New"/>
              <a:sym typeface="Courier New"/>
            </a:endParaRPr>
          </a:p>
        </p:txBody>
      </p:sp>
      <p:sp>
        <p:nvSpPr>
          <p:cNvPr id="1041" name="Google Shape;1041;p94"/>
          <p:cNvSpPr txBox="1"/>
          <p:nvPr/>
        </p:nvSpPr>
        <p:spPr>
          <a:xfrm>
            <a:off x="7225800" y="42473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446</a:t>
            </a:r>
            <a:endParaRPr sz="1000">
              <a:latin typeface="Courier New"/>
              <a:ea typeface="Courier New"/>
              <a:cs typeface="Courier New"/>
              <a:sym typeface="Courier New"/>
            </a:endParaRPr>
          </a:p>
        </p:txBody>
      </p:sp>
      <p:pic>
        <p:nvPicPr>
          <p:cNvPr id="1042" name="Google Shape;1042;p94"/>
          <p:cNvPicPr preferRelativeResize="0"/>
          <p:nvPr/>
        </p:nvPicPr>
        <p:blipFill>
          <a:blip r:embed="rId39">
            <a:alphaModFix/>
          </a:blip>
          <a:stretch>
            <a:fillRect/>
          </a:stretch>
        </p:blipFill>
        <p:spPr>
          <a:xfrm>
            <a:off x="6979626" y="3607924"/>
            <a:ext cx="933300" cy="933300"/>
          </a:xfrm>
          <a:prstGeom prst="rect">
            <a:avLst/>
          </a:prstGeom>
          <a:noFill/>
          <a:ln>
            <a:noFill/>
          </a:ln>
        </p:spPr>
      </p:pic>
      <p:sp>
        <p:nvSpPr>
          <p:cNvPr id="1043" name="Google Shape;1043;p94"/>
          <p:cNvSpPr txBox="1"/>
          <p:nvPr/>
        </p:nvSpPr>
        <p:spPr>
          <a:xfrm>
            <a:off x="7265538" y="3605339"/>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134</a:t>
            </a:r>
            <a:endParaRPr sz="1000">
              <a:latin typeface="Courier New"/>
              <a:ea typeface="Courier New"/>
              <a:cs typeface="Courier New"/>
              <a:sym typeface="Courier New"/>
            </a:endParaRPr>
          </a:p>
        </p:txBody>
      </p:sp>
      <p:sp>
        <p:nvSpPr>
          <p:cNvPr id="1044" name="Google Shape;1044;p94"/>
          <p:cNvSpPr txBox="1"/>
          <p:nvPr/>
        </p:nvSpPr>
        <p:spPr>
          <a:xfrm>
            <a:off x="5035588" y="48798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135</a:t>
            </a:r>
            <a:endParaRPr sz="1000">
              <a:latin typeface="Courier New"/>
              <a:ea typeface="Courier New"/>
              <a:cs typeface="Courier New"/>
              <a:sym typeface="Courier New"/>
            </a:endParaRPr>
          </a:p>
        </p:txBody>
      </p:sp>
      <p:pic>
        <p:nvPicPr>
          <p:cNvPr id="1045" name="Google Shape;1045;p94"/>
          <p:cNvPicPr preferRelativeResize="0"/>
          <p:nvPr/>
        </p:nvPicPr>
        <p:blipFill>
          <a:blip r:embed="rId40">
            <a:alphaModFix/>
          </a:blip>
          <a:stretch>
            <a:fillRect/>
          </a:stretch>
        </p:blipFill>
        <p:spPr>
          <a:xfrm>
            <a:off x="6252381" y="3605222"/>
            <a:ext cx="933300" cy="933300"/>
          </a:xfrm>
          <a:prstGeom prst="rect">
            <a:avLst/>
          </a:prstGeom>
          <a:noFill/>
          <a:ln>
            <a:noFill/>
          </a:ln>
        </p:spPr>
      </p:pic>
      <p:pic>
        <p:nvPicPr>
          <p:cNvPr id="1046" name="Google Shape;1046;p94"/>
          <p:cNvPicPr preferRelativeResize="0"/>
          <p:nvPr/>
        </p:nvPicPr>
        <p:blipFill>
          <a:blip r:embed="rId41">
            <a:alphaModFix/>
          </a:blip>
          <a:stretch>
            <a:fillRect/>
          </a:stretch>
        </p:blipFill>
        <p:spPr>
          <a:xfrm>
            <a:off x="7106039" y="3095502"/>
            <a:ext cx="723900" cy="723900"/>
          </a:xfrm>
          <a:prstGeom prst="rect">
            <a:avLst/>
          </a:prstGeom>
          <a:noFill/>
          <a:ln>
            <a:noFill/>
          </a:ln>
        </p:spPr>
      </p:pic>
      <p:pic>
        <p:nvPicPr>
          <p:cNvPr id="1047" name="Google Shape;1047;p94"/>
          <p:cNvPicPr preferRelativeResize="0"/>
          <p:nvPr/>
        </p:nvPicPr>
        <p:blipFill>
          <a:blip r:embed="rId42">
            <a:alphaModFix/>
          </a:blip>
          <a:stretch>
            <a:fillRect/>
          </a:stretch>
        </p:blipFill>
        <p:spPr>
          <a:xfrm>
            <a:off x="4875825" y="4265375"/>
            <a:ext cx="838875" cy="838875"/>
          </a:xfrm>
          <a:prstGeom prst="rect">
            <a:avLst/>
          </a:prstGeom>
          <a:noFill/>
          <a:ln>
            <a:noFill/>
          </a:ln>
        </p:spPr>
      </p:pic>
      <p:sp>
        <p:nvSpPr>
          <p:cNvPr id="1048" name="Google Shape;1048;p94"/>
          <p:cNvSpPr txBox="1"/>
          <p:nvPr/>
        </p:nvSpPr>
        <p:spPr>
          <a:xfrm>
            <a:off x="5800275" y="17477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146</a:t>
            </a:r>
            <a:endParaRPr sz="1000">
              <a:latin typeface="Courier New"/>
              <a:ea typeface="Courier New"/>
              <a:cs typeface="Courier New"/>
              <a:sym typeface="Courier New"/>
            </a:endParaRPr>
          </a:p>
        </p:txBody>
      </p:sp>
      <p:sp>
        <p:nvSpPr>
          <p:cNvPr id="1049" name="Google Shape;1049;p94"/>
          <p:cNvSpPr txBox="1"/>
          <p:nvPr/>
        </p:nvSpPr>
        <p:spPr>
          <a:xfrm>
            <a:off x="3613850" y="2395388"/>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145</a:t>
            </a:r>
            <a:endParaRPr sz="1000">
              <a:latin typeface="Courier New"/>
              <a:ea typeface="Courier New"/>
              <a:cs typeface="Courier New"/>
              <a:sym typeface="Courier New"/>
            </a:endParaRPr>
          </a:p>
        </p:txBody>
      </p:sp>
      <p:sp>
        <p:nvSpPr>
          <p:cNvPr id="1050" name="Google Shape;1050;p94"/>
          <p:cNvSpPr txBox="1"/>
          <p:nvPr/>
        </p:nvSpPr>
        <p:spPr>
          <a:xfrm>
            <a:off x="5067150" y="3011588"/>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144</a:t>
            </a:r>
            <a:endParaRPr sz="1000">
              <a:latin typeface="Courier New"/>
              <a:ea typeface="Courier New"/>
              <a:cs typeface="Courier New"/>
              <a:sym typeface="Courier New"/>
            </a:endParaRPr>
          </a:p>
        </p:txBody>
      </p:sp>
      <p:sp>
        <p:nvSpPr>
          <p:cNvPr id="1051" name="Google Shape;1051;p94"/>
          <p:cNvSpPr txBox="1"/>
          <p:nvPr/>
        </p:nvSpPr>
        <p:spPr>
          <a:xfrm>
            <a:off x="4336038" y="361314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136</a:t>
            </a:r>
            <a:endParaRPr sz="1000">
              <a:latin typeface="Courier New"/>
              <a:ea typeface="Courier New"/>
              <a:cs typeface="Courier New"/>
              <a:sym typeface="Courier New"/>
            </a:endParaRPr>
          </a:p>
        </p:txBody>
      </p:sp>
      <p:pic>
        <p:nvPicPr>
          <p:cNvPr id="1052" name="Google Shape;1052;p94"/>
          <p:cNvPicPr preferRelativeResize="0"/>
          <p:nvPr/>
        </p:nvPicPr>
        <p:blipFill>
          <a:blip r:embed="rId43">
            <a:alphaModFix/>
          </a:blip>
          <a:stretch>
            <a:fillRect/>
          </a:stretch>
        </p:blipFill>
        <p:spPr>
          <a:xfrm>
            <a:off x="5794649" y="1354451"/>
            <a:ext cx="444900" cy="444900"/>
          </a:xfrm>
          <a:prstGeom prst="rect">
            <a:avLst/>
          </a:prstGeom>
          <a:noFill/>
          <a:ln>
            <a:noFill/>
          </a:ln>
        </p:spPr>
      </p:pic>
      <p:pic>
        <p:nvPicPr>
          <p:cNvPr id="1053" name="Google Shape;1053;p94"/>
          <p:cNvPicPr preferRelativeResize="0"/>
          <p:nvPr/>
        </p:nvPicPr>
        <p:blipFill>
          <a:blip r:embed="rId44">
            <a:alphaModFix/>
          </a:blip>
          <a:stretch>
            <a:fillRect/>
          </a:stretch>
        </p:blipFill>
        <p:spPr>
          <a:xfrm>
            <a:off x="5067163" y="2606650"/>
            <a:ext cx="444900" cy="444900"/>
          </a:xfrm>
          <a:prstGeom prst="rect">
            <a:avLst/>
          </a:prstGeom>
          <a:noFill/>
          <a:ln>
            <a:noFill/>
          </a:ln>
        </p:spPr>
      </p:pic>
      <p:pic>
        <p:nvPicPr>
          <p:cNvPr id="1054" name="Google Shape;1054;p94"/>
          <p:cNvPicPr preferRelativeResize="0"/>
          <p:nvPr/>
        </p:nvPicPr>
        <p:blipFill>
          <a:blip r:embed="rId45">
            <a:alphaModFix/>
          </a:blip>
          <a:stretch>
            <a:fillRect/>
          </a:stretch>
        </p:blipFill>
        <p:spPr>
          <a:xfrm>
            <a:off x="4256499" y="3177521"/>
            <a:ext cx="635575" cy="635575"/>
          </a:xfrm>
          <a:prstGeom prst="rect">
            <a:avLst/>
          </a:prstGeom>
          <a:noFill/>
          <a:ln>
            <a:noFill/>
          </a:ln>
        </p:spPr>
      </p:pic>
      <p:sp>
        <p:nvSpPr>
          <p:cNvPr id="1055" name="Google Shape;1055;p94"/>
          <p:cNvSpPr txBox="1"/>
          <p:nvPr/>
        </p:nvSpPr>
        <p:spPr>
          <a:xfrm>
            <a:off x="3601325" y="42421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149</a:t>
            </a:r>
            <a:endParaRPr sz="1000">
              <a:latin typeface="Courier New"/>
              <a:ea typeface="Courier New"/>
              <a:cs typeface="Courier New"/>
              <a:sym typeface="Courier New"/>
            </a:endParaRPr>
          </a:p>
        </p:txBody>
      </p:sp>
      <p:sp>
        <p:nvSpPr>
          <p:cNvPr id="1056" name="Google Shape;1056;p94"/>
          <p:cNvSpPr txBox="1"/>
          <p:nvPr/>
        </p:nvSpPr>
        <p:spPr>
          <a:xfrm>
            <a:off x="3613850" y="48694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148</a:t>
            </a:r>
            <a:endParaRPr sz="1000">
              <a:latin typeface="Courier New"/>
              <a:ea typeface="Courier New"/>
              <a:cs typeface="Courier New"/>
              <a:sym typeface="Courier New"/>
            </a:endParaRPr>
          </a:p>
        </p:txBody>
      </p:sp>
      <p:sp>
        <p:nvSpPr>
          <p:cNvPr id="1057" name="Google Shape;1057;p94"/>
          <p:cNvSpPr txBox="1"/>
          <p:nvPr/>
        </p:nvSpPr>
        <p:spPr>
          <a:xfrm>
            <a:off x="2871800" y="1754371"/>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147</a:t>
            </a:r>
            <a:endParaRPr sz="1000">
              <a:latin typeface="Courier New"/>
              <a:ea typeface="Courier New"/>
              <a:cs typeface="Courier New"/>
              <a:sym typeface="Courier New"/>
            </a:endParaRPr>
          </a:p>
        </p:txBody>
      </p:sp>
      <p:pic>
        <p:nvPicPr>
          <p:cNvPr id="1058" name="Google Shape;1058;p94"/>
          <p:cNvPicPr preferRelativeResize="0"/>
          <p:nvPr/>
        </p:nvPicPr>
        <p:blipFill>
          <a:blip r:embed="rId46">
            <a:alphaModFix/>
          </a:blip>
          <a:stretch>
            <a:fillRect/>
          </a:stretch>
        </p:blipFill>
        <p:spPr>
          <a:xfrm>
            <a:off x="2669926" y="1166396"/>
            <a:ext cx="838875" cy="838875"/>
          </a:xfrm>
          <a:prstGeom prst="rect">
            <a:avLst/>
          </a:prstGeom>
          <a:noFill/>
          <a:ln>
            <a:noFill/>
          </a:ln>
        </p:spPr>
      </p:pic>
      <p:pic>
        <p:nvPicPr>
          <p:cNvPr id="1059" name="Google Shape;1059;p94"/>
          <p:cNvPicPr preferRelativeResize="0"/>
          <p:nvPr/>
        </p:nvPicPr>
        <p:blipFill>
          <a:blip r:embed="rId47">
            <a:alphaModFix/>
          </a:blip>
          <a:stretch>
            <a:fillRect/>
          </a:stretch>
        </p:blipFill>
        <p:spPr>
          <a:xfrm>
            <a:off x="3506800" y="4388900"/>
            <a:ext cx="635575" cy="635575"/>
          </a:xfrm>
          <a:prstGeom prst="rect">
            <a:avLst/>
          </a:prstGeom>
          <a:noFill/>
          <a:ln>
            <a:noFill/>
          </a:ln>
        </p:spPr>
      </p:pic>
      <p:pic>
        <p:nvPicPr>
          <p:cNvPr id="1060" name="Google Shape;1060;p94"/>
          <p:cNvPicPr preferRelativeResize="0"/>
          <p:nvPr/>
        </p:nvPicPr>
        <p:blipFill>
          <a:blip r:embed="rId48">
            <a:alphaModFix/>
          </a:blip>
          <a:stretch>
            <a:fillRect/>
          </a:stretch>
        </p:blipFill>
        <p:spPr>
          <a:xfrm>
            <a:off x="3508917" y="3746500"/>
            <a:ext cx="635575" cy="635575"/>
          </a:xfrm>
          <a:prstGeom prst="rect">
            <a:avLst/>
          </a:prstGeom>
          <a:noFill/>
          <a:ln>
            <a:noFill/>
          </a:ln>
        </p:spPr>
      </p:pic>
      <p:sp>
        <p:nvSpPr>
          <p:cNvPr id="1061" name="Google Shape;1061;p94"/>
          <p:cNvSpPr txBox="1"/>
          <p:nvPr/>
        </p:nvSpPr>
        <p:spPr>
          <a:xfrm>
            <a:off x="5757838" y="237717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196</a:t>
            </a:r>
            <a:endParaRPr sz="1000">
              <a:latin typeface="Courier New"/>
              <a:ea typeface="Courier New"/>
              <a:cs typeface="Courier New"/>
              <a:sym typeface="Courier New"/>
            </a:endParaRPr>
          </a:p>
        </p:txBody>
      </p:sp>
      <p:sp>
        <p:nvSpPr>
          <p:cNvPr id="1062" name="Google Shape;1062;p94"/>
          <p:cNvSpPr txBox="1"/>
          <p:nvPr/>
        </p:nvSpPr>
        <p:spPr>
          <a:xfrm>
            <a:off x="2158063" y="36011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197</a:t>
            </a:r>
            <a:endParaRPr sz="1000">
              <a:latin typeface="Courier New"/>
              <a:ea typeface="Courier New"/>
              <a:cs typeface="Courier New"/>
              <a:sym typeface="Courier New"/>
            </a:endParaRPr>
          </a:p>
        </p:txBody>
      </p:sp>
      <p:sp>
        <p:nvSpPr>
          <p:cNvPr id="1063" name="Google Shape;1063;p94"/>
          <p:cNvSpPr txBox="1"/>
          <p:nvPr/>
        </p:nvSpPr>
        <p:spPr>
          <a:xfrm>
            <a:off x="1421113" y="3011588"/>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470</a:t>
            </a:r>
            <a:endParaRPr sz="1000">
              <a:latin typeface="Courier New"/>
              <a:ea typeface="Courier New"/>
              <a:cs typeface="Courier New"/>
              <a:sym typeface="Courier New"/>
            </a:endParaRPr>
          </a:p>
        </p:txBody>
      </p:sp>
      <p:sp>
        <p:nvSpPr>
          <p:cNvPr id="1064" name="Google Shape;1064;p94"/>
          <p:cNvSpPr txBox="1"/>
          <p:nvPr/>
        </p:nvSpPr>
        <p:spPr>
          <a:xfrm>
            <a:off x="7988063" y="42421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471</a:t>
            </a:r>
            <a:endParaRPr sz="1000">
              <a:latin typeface="Courier New"/>
              <a:ea typeface="Courier New"/>
              <a:cs typeface="Courier New"/>
              <a:sym typeface="Courier New"/>
            </a:endParaRPr>
          </a:p>
        </p:txBody>
      </p:sp>
      <p:sp>
        <p:nvSpPr>
          <p:cNvPr id="1065" name="Google Shape;1065;p94"/>
          <p:cNvSpPr txBox="1"/>
          <p:nvPr/>
        </p:nvSpPr>
        <p:spPr>
          <a:xfrm>
            <a:off x="5765488" y="4874051"/>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700</a:t>
            </a:r>
            <a:endParaRPr sz="1000">
              <a:latin typeface="Courier New"/>
              <a:ea typeface="Courier New"/>
              <a:cs typeface="Courier New"/>
              <a:sym typeface="Courier New"/>
            </a:endParaRPr>
          </a:p>
        </p:txBody>
      </p:sp>
      <p:pic>
        <p:nvPicPr>
          <p:cNvPr id="1066" name="Google Shape;1066;p94"/>
          <p:cNvPicPr preferRelativeResize="0"/>
          <p:nvPr/>
        </p:nvPicPr>
        <p:blipFill>
          <a:blip r:embed="rId49">
            <a:alphaModFix/>
          </a:blip>
          <a:stretch>
            <a:fillRect/>
          </a:stretch>
        </p:blipFill>
        <p:spPr>
          <a:xfrm>
            <a:off x="5656866" y="1867145"/>
            <a:ext cx="698625" cy="698625"/>
          </a:xfrm>
          <a:prstGeom prst="rect">
            <a:avLst/>
          </a:prstGeom>
          <a:noFill/>
          <a:ln>
            <a:noFill/>
          </a:ln>
        </p:spPr>
      </p:pic>
      <p:pic>
        <p:nvPicPr>
          <p:cNvPr id="1067" name="Google Shape;1067;p94"/>
          <p:cNvPicPr preferRelativeResize="0"/>
          <p:nvPr/>
        </p:nvPicPr>
        <p:blipFill>
          <a:blip r:embed="rId50">
            <a:alphaModFix/>
          </a:blip>
          <a:stretch>
            <a:fillRect/>
          </a:stretch>
        </p:blipFill>
        <p:spPr>
          <a:xfrm>
            <a:off x="2020751" y="3108007"/>
            <a:ext cx="698625" cy="698625"/>
          </a:xfrm>
          <a:prstGeom prst="rect">
            <a:avLst/>
          </a:prstGeom>
          <a:noFill/>
          <a:ln>
            <a:noFill/>
          </a:ln>
        </p:spPr>
      </p:pic>
      <p:pic>
        <p:nvPicPr>
          <p:cNvPr id="1068" name="Google Shape;1068;p94"/>
          <p:cNvPicPr preferRelativeResize="0"/>
          <p:nvPr/>
        </p:nvPicPr>
        <p:blipFill>
          <a:blip r:embed="rId51">
            <a:alphaModFix/>
          </a:blip>
          <a:stretch>
            <a:fillRect/>
          </a:stretch>
        </p:blipFill>
        <p:spPr>
          <a:xfrm>
            <a:off x="1280940" y="2506201"/>
            <a:ext cx="723900" cy="723900"/>
          </a:xfrm>
          <a:prstGeom prst="rect">
            <a:avLst/>
          </a:prstGeom>
          <a:noFill/>
          <a:ln>
            <a:noFill/>
          </a:ln>
        </p:spPr>
      </p:pic>
      <p:pic>
        <p:nvPicPr>
          <p:cNvPr id="1069" name="Google Shape;1069;p94"/>
          <p:cNvPicPr preferRelativeResize="0"/>
          <p:nvPr/>
        </p:nvPicPr>
        <p:blipFill>
          <a:blip r:embed="rId52">
            <a:alphaModFix/>
          </a:blip>
          <a:stretch>
            <a:fillRect/>
          </a:stretch>
        </p:blipFill>
        <p:spPr>
          <a:xfrm>
            <a:off x="7862061" y="3757033"/>
            <a:ext cx="698625" cy="698625"/>
          </a:xfrm>
          <a:prstGeom prst="rect">
            <a:avLst/>
          </a:prstGeom>
          <a:noFill/>
          <a:ln>
            <a:noFill/>
          </a:ln>
        </p:spPr>
      </p:pic>
      <p:pic>
        <p:nvPicPr>
          <p:cNvPr id="1070" name="Google Shape;1070;p94"/>
          <p:cNvPicPr preferRelativeResize="0"/>
          <p:nvPr/>
        </p:nvPicPr>
        <p:blipFill>
          <a:blip r:embed="rId53">
            <a:alphaModFix/>
          </a:blip>
          <a:stretch>
            <a:fillRect/>
          </a:stretch>
        </p:blipFill>
        <p:spPr>
          <a:xfrm>
            <a:off x="5670163" y="4398374"/>
            <a:ext cx="635575" cy="635575"/>
          </a:xfrm>
          <a:prstGeom prst="rect">
            <a:avLst/>
          </a:prstGeom>
          <a:noFill/>
          <a:ln>
            <a:noFill/>
          </a:ln>
        </p:spPr>
      </p:pic>
      <p:sp>
        <p:nvSpPr>
          <p:cNvPr id="1071" name="Google Shape;1071;p94"/>
          <p:cNvSpPr txBox="1"/>
          <p:nvPr/>
        </p:nvSpPr>
        <p:spPr>
          <a:xfrm>
            <a:off x="7939138" y="2412163"/>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019</a:t>
            </a:r>
            <a:endParaRPr sz="1000">
              <a:latin typeface="Courier New"/>
              <a:ea typeface="Courier New"/>
              <a:cs typeface="Courier New"/>
              <a:sym typeface="Courier New"/>
            </a:endParaRPr>
          </a:p>
        </p:txBody>
      </p:sp>
      <p:sp>
        <p:nvSpPr>
          <p:cNvPr id="1072" name="Google Shape;1072;p94"/>
          <p:cNvSpPr txBox="1"/>
          <p:nvPr/>
        </p:nvSpPr>
        <p:spPr>
          <a:xfrm>
            <a:off x="6489825" y="1753371"/>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020</a:t>
            </a:r>
            <a:endParaRPr sz="1000">
              <a:latin typeface="Courier New"/>
              <a:ea typeface="Courier New"/>
              <a:cs typeface="Courier New"/>
              <a:sym typeface="Courier New"/>
            </a:endParaRPr>
          </a:p>
        </p:txBody>
      </p:sp>
      <p:sp>
        <p:nvSpPr>
          <p:cNvPr id="1073" name="Google Shape;1073;p94"/>
          <p:cNvSpPr txBox="1"/>
          <p:nvPr/>
        </p:nvSpPr>
        <p:spPr>
          <a:xfrm>
            <a:off x="3621250" y="30051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054</a:t>
            </a:r>
            <a:endParaRPr sz="1000">
              <a:latin typeface="Courier New"/>
              <a:ea typeface="Courier New"/>
              <a:cs typeface="Courier New"/>
              <a:sym typeface="Courier New"/>
            </a:endParaRPr>
          </a:p>
        </p:txBody>
      </p:sp>
      <p:sp>
        <p:nvSpPr>
          <p:cNvPr id="1074" name="Google Shape;1074;p94"/>
          <p:cNvSpPr txBox="1"/>
          <p:nvPr/>
        </p:nvSpPr>
        <p:spPr>
          <a:xfrm>
            <a:off x="7964788" y="360445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055</a:t>
            </a:r>
            <a:endParaRPr sz="1000">
              <a:latin typeface="Courier New"/>
              <a:ea typeface="Courier New"/>
              <a:cs typeface="Courier New"/>
              <a:sym typeface="Courier New"/>
            </a:endParaRPr>
          </a:p>
        </p:txBody>
      </p:sp>
      <p:sp>
        <p:nvSpPr>
          <p:cNvPr id="1075" name="Google Shape;1075;p94"/>
          <p:cNvSpPr txBox="1"/>
          <p:nvPr/>
        </p:nvSpPr>
        <p:spPr>
          <a:xfrm>
            <a:off x="2884250" y="423627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113</a:t>
            </a:r>
            <a:endParaRPr sz="1000">
              <a:latin typeface="Courier New"/>
              <a:ea typeface="Courier New"/>
              <a:cs typeface="Courier New"/>
              <a:sym typeface="Courier New"/>
            </a:endParaRPr>
          </a:p>
        </p:txBody>
      </p:sp>
      <p:sp>
        <p:nvSpPr>
          <p:cNvPr id="1076" name="Google Shape;1076;p94"/>
          <p:cNvSpPr txBox="1"/>
          <p:nvPr/>
        </p:nvSpPr>
        <p:spPr>
          <a:xfrm>
            <a:off x="2144263" y="486537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242</a:t>
            </a:r>
            <a:endParaRPr sz="1000">
              <a:latin typeface="Courier New"/>
              <a:ea typeface="Courier New"/>
              <a:cs typeface="Courier New"/>
              <a:sym typeface="Courier New"/>
            </a:endParaRPr>
          </a:p>
        </p:txBody>
      </p:sp>
      <p:pic>
        <p:nvPicPr>
          <p:cNvPr id="1077" name="Google Shape;1077;p94"/>
          <p:cNvPicPr preferRelativeResize="0"/>
          <p:nvPr/>
        </p:nvPicPr>
        <p:blipFill>
          <a:blip r:embed="rId54">
            <a:alphaModFix/>
          </a:blip>
          <a:stretch>
            <a:fillRect/>
          </a:stretch>
        </p:blipFill>
        <p:spPr>
          <a:xfrm>
            <a:off x="6300947" y="1129524"/>
            <a:ext cx="897075" cy="897075"/>
          </a:xfrm>
          <a:prstGeom prst="rect">
            <a:avLst/>
          </a:prstGeom>
          <a:noFill/>
          <a:ln>
            <a:noFill/>
          </a:ln>
        </p:spPr>
      </p:pic>
      <p:pic>
        <p:nvPicPr>
          <p:cNvPr id="1078" name="Google Shape;1078;p94"/>
          <p:cNvPicPr preferRelativeResize="0"/>
          <p:nvPr/>
        </p:nvPicPr>
        <p:blipFill>
          <a:blip r:embed="rId55">
            <a:alphaModFix/>
          </a:blip>
          <a:stretch>
            <a:fillRect/>
          </a:stretch>
        </p:blipFill>
        <p:spPr>
          <a:xfrm>
            <a:off x="7663842" y="1779257"/>
            <a:ext cx="1016075" cy="1016075"/>
          </a:xfrm>
          <a:prstGeom prst="rect">
            <a:avLst/>
          </a:prstGeom>
          <a:noFill/>
          <a:ln>
            <a:noFill/>
          </a:ln>
        </p:spPr>
      </p:pic>
      <p:pic>
        <p:nvPicPr>
          <p:cNvPr id="1079" name="Google Shape;1079;p94"/>
          <p:cNvPicPr preferRelativeResize="0"/>
          <p:nvPr/>
        </p:nvPicPr>
        <p:blipFill>
          <a:blip r:embed="rId56">
            <a:alphaModFix/>
          </a:blip>
          <a:stretch>
            <a:fillRect/>
          </a:stretch>
        </p:blipFill>
        <p:spPr>
          <a:xfrm>
            <a:off x="3345297" y="2331629"/>
            <a:ext cx="1016075" cy="1016075"/>
          </a:xfrm>
          <a:prstGeom prst="rect">
            <a:avLst/>
          </a:prstGeom>
          <a:noFill/>
          <a:ln>
            <a:noFill/>
          </a:ln>
        </p:spPr>
      </p:pic>
      <p:pic>
        <p:nvPicPr>
          <p:cNvPr id="1080" name="Google Shape;1080;p94"/>
          <p:cNvPicPr preferRelativeResize="0"/>
          <p:nvPr/>
        </p:nvPicPr>
        <p:blipFill>
          <a:blip r:embed="rId57">
            <a:alphaModFix/>
          </a:blip>
          <a:stretch>
            <a:fillRect/>
          </a:stretch>
        </p:blipFill>
        <p:spPr>
          <a:xfrm>
            <a:off x="7837297" y="3099658"/>
            <a:ext cx="698625" cy="698625"/>
          </a:xfrm>
          <a:prstGeom prst="rect">
            <a:avLst/>
          </a:prstGeom>
          <a:noFill/>
          <a:ln>
            <a:noFill/>
          </a:ln>
        </p:spPr>
      </p:pic>
      <p:pic>
        <p:nvPicPr>
          <p:cNvPr id="1081" name="Google Shape;1081;p94"/>
          <p:cNvPicPr preferRelativeResize="0"/>
          <p:nvPr/>
        </p:nvPicPr>
        <p:blipFill>
          <a:blip r:embed="rId58">
            <a:alphaModFix/>
          </a:blip>
          <a:stretch>
            <a:fillRect/>
          </a:stretch>
        </p:blipFill>
        <p:spPr>
          <a:xfrm>
            <a:off x="2665245" y="3593625"/>
            <a:ext cx="897075" cy="897075"/>
          </a:xfrm>
          <a:prstGeom prst="rect">
            <a:avLst/>
          </a:prstGeom>
          <a:noFill/>
          <a:ln>
            <a:noFill/>
          </a:ln>
        </p:spPr>
      </p:pic>
      <p:pic>
        <p:nvPicPr>
          <p:cNvPr id="1082" name="Google Shape;1082;p94"/>
          <p:cNvPicPr preferRelativeResize="0"/>
          <p:nvPr/>
        </p:nvPicPr>
        <p:blipFill>
          <a:blip r:embed="rId59">
            <a:alphaModFix/>
          </a:blip>
          <a:stretch>
            <a:fillRect/>
          </a:stretch>
        </p:blipFill>
        <p:spPr>
          <a:xfrm>
            <a:off x="2000813" y="4299406"/>
            <a:ext cx="752850" cy="752850"/>
          </a:xfrm>
          <a:prstGeom prst="rect">
            <a:avLst/>
          </a:prstGeom>
          <a:noFill/>
          <a:ln>
            <a:noFill/>
          </a:ln>
        </p:spPr>
      </p:pic>
      <p:sp>
        <p:nvSpPr>
          <p:cNvPr id="1083" name="Google Shape;1083;p94"/>
          <p:cNvSpPr txBox="1"/>
          <p:nvPr/>
        </p:nvSpPr>
        <p:spPr>
          <a:xfrm>
            <a:off x="4326863" y="4257825"/>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173</a:t>
            </a:r>
            <a:endParaRPr sz="1000">
              <a:latin typeface="Courier New"/>
              <a:ea typeface="Courier New"/>
              <a:cs typeface="Courier New"/>
              <a:sym typeface="Courier New"/>
            </a:endParaRPr>
          </a:p>
        </p:txBody>
      </p:sp>
      <p:sp>
        <p:nvSpPr>
          <p:cNvPr id="1084" name="Google Shape;1084;p94"/>
          <p:cNvSpPr txBox="1"/>
          <p:nvPr/>
        </p:nvSpPr>
        <p:spPr>
          <a:xfrm>
            <a:off x="5769650" y="3605467"/>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035</a:t>
            </a:r>
            <a:endParaRPr sz="1000">
              <a:latin typeface="Courier New"/>
              <a:ea typeface="Courier New"/>
              <a:cs typeface="Courier New"/>
              <a:sym typeface="Courier New"/>
            </a:endParaRPr>
          </a:p>
        </p:txBody>
      </p:sp>
      <p:sp>
        <p:nvSpPr>
          <p:cNvPr id="1085" name="Google Shape;1085;p94"/>
          <p:cNvSpPr txBox="1"/>
          <p:nvPr/>
        </p:nvSpPr>
        <p:spPr>
          <a:xfrm>
            <a:off x="7973042" y="17659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036</a:t>
            </a:r>
            <a:endParaRPr sz="1000">
              <a:latin typeface="Courier New"/>
              <a:ea typeface="Courier New"/>
              <a:cs typeface="Courier New"/>
              <a:sym typeface="Courier New"/>
            </a:endParaRPr>
          </a:p>
        </p:txBody>
      </p:sp>
      <p:pic>
        <p:nvPicPr>
          <p:cNvPr id="1086" name="Google Shape;1086;p94"/>
          <p:cNvPicPr preferRelativeResize="0"/>
          <p:nvPr/>
        </p:nvPicPr>
        <p:blipFill>
          <a:blip r:embed="rId60">
            <a:alphaModFix/>
          </a:blip>
          <a:stretch>
            <a:fillRect/>
          </a:stretch>
        </p:blipFill>
        <p:spPr>
          <a:xfrm>
            <a:off x="5501872" y="2927040"/>
            <a:ext cx="1016075" cy="1016075"/>
          </a:xfrm>
          <a:prstGeom prst="rect">
            <a:avLst/>
          </a:prstGeom>
          <a:noFill/>
          <a:ln>
            <a:noFill/>
          </a:ln>
        </p:spPr>
      </p:pic>
      <p:pic>
        <p:nvPicPr>
          <p:cNvPr id="1087" name="Google Shape;1087;p94"/>
          <p:cNvPicPr preferRelativeResize="0"/>
          <p:nvPr/>
        </p:nvPicPr>
        <p:blipFill>
          <a:blip r:embed="rId61">
            <a:alphaModFix/>
          </a:blip>
          <a:stretch>
            <a:fillRect/>
          </a:stretch>
        </p:blipFill>
        <p:spPr>
          <a:xfrm>
            <a:off x="7740049" y="1126199"/>
            <a:ext cx="897075" cy="897075"/>
          </a:xfrm>
          <a:prstGeom prst="rect">
            <a:avLst/>
          </a:prstGeom>
          <a:noFill/>
          <a:ln>
            <a:noFill/>
          </a:ln>
        </p:spPr>
      </p:pic>
      <p:pic>
        <p:nvPicPr>
          <p:cNvPr id="1088" name="Google Shape;1088;p94"/>
          <p:cNvPicPr preferRelativeResize="0"/>
          <p:nvPr/>
        </p:nvPicPr>
        <p:blipFill>
          <a:blip r:embed="rId62">
            <a:alphaModFix/>
          </a:blip>
          <a:stretch>
            <a:fillRect/>
          </a:stretch>
        </p:blipFill>
        <p:spPr>
          <a:xfrm>
            <a:off x="3986475" y="3507600"/>
            <a:ext cx="1143000" cy="1143000"/>
          </a:xfrm>
          <a:prstGeom prst="rect">
            <a:avLst/>
          </a:prstGeom>
          <a:noFill/>
          <a:ln>
            <a:noFill/>
          </a:ln>
        </p:spPr>
      </p:pic>
      <p:sp>
        <p:nvSpPr>
          <p:cNvPr id="1089" name="Google Shape;1089;p94"/>
          <p:cNvSpPr txBox="1"/>
          <p:nvPr/>
        </p:nvSpPr>
        <p:spPr>
          <a:xfrm>
            <a:off x="7225288" y="4852600"/>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092</a:t>
            </a:r>
            <a:endParaRPr sz="1000">
              <a:latin typeface="Courier New"/>
              <a:ea typeface="Courier New"/>
              <a:cs typeface="Courier New"/>
              <a:sym typeface="Courier New"/>
            </a:endParaRPr>
          </a:p>
        </p:txBody>
      </p:sp>
      <p:sp>
        <p:nvSpPr>
          <p:cNvPr id="1090" name="Google Shape;1090;p94"/>
          <p:cNvSpPr txBox="1"/>
          <p:nvPr/>
        </p:nvSpPr>
        <p:spPr>
          <a:xfrm>
            <a:off x="2168913" y="2377888"/>
            <a:ext cx="444900" cy="17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ourier New"/>
                <a:ea typeface="Courier New"/>
                <a:cs typeface="Courier New"/>
                <a:sym typeface="Courier New"/>
              </a:rPr>
              <a:t>093</a:t>
            </a:r>
            <a:endParaRPr sz="1000">
              <a:latin typeface="Courier New"/>
              <a:ea typeface="Courier New"/>
              <a:cs typeface="Courier New"/>
              <a:sym typeface="Courier New"/>
            </a:endParaRPr>
          </a:p>
        </p:txBody>
      </p:sp>
      <p:sp>
        <p:nvSpPr>
          <p:cNvPr id="1091" name="Google Shape;1091;p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p95"/>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We'll be using a Binary Search Tree (BST) inside of a Pokédex that stores the number of any Pokémon that we encounter in the wild. As each Pokémon is encountered, its number will be inserted into the BST. When we are finished, we can print all of the stored Pokémon in order!</a:t>
            </a:r>
            <a:endParaRPr dirty="0"/>
          </a:p>
        </p:txBody>
      </p:sp>
      <p:sp>
        <p:nvSpPr>
          <p:cNvPr id="1097" name="Google Shape;1097;p9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1098" name="Google Shape;1098;p95"/>
          <p:cNvSpPr txBox="1">
            <a:spLocks noGrp="1"/>
          </p:cNvSpPr>
          <p:nvPr>
            <p:ph type="body" idx="2"/>
          </p:nvPr>
        </p:nvSpPr>
        <p:spPr>
          <a:xfrm>
            <a:off x="3083250" y="1819225"/>
            <a:ext cx="5858100" cy="2755083"/>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Use the UML to the left to implement a </a:t>
            </a:r>
            <a:r>
              <a:rPr lang="en" sz="1400" dirty="0">
                <a:latin typeface="Courier New"/>
                <a:ea typeface="Courier New"/>
                <a:cs typeface="Courier New"/>
                <a:sym typeface="Courier New"/>
              </a:rPr>
              <a:t>Pokédex</a:t>
            </a:r>
            <a:r>
              <a:rPr lang="en" sz="1400" dirty="0"/>
              <a:t> class that uses a BST to provide the following behavior:</a:t>
            </a:r>
            <a:endParaRPr sz="1400" dirty="0"/>
          </a:p>
          <a:p>
            <a:pPr marL="914400" lvl="1" indent="-304800" algn="l" rtl="0">
              <a:spcBef>
                <a:spcPts val="0"/>
              </a:spcBef>
              <a:spcAft>
                <a:spcPts val="0"/>
              </a:spcAft>
              <a:buSzPts val="1200"/>
              <a:buChar char="○"/>
            </a:pPr>
            <a:r>
              <a:rPr lang="en" sz="1200" dirty="0">
                <a:highlight>
                  <a:srgbClr val="FFFF00"/>
                </a:highlight>
              </a:rPr>
              <a:t>A Pokédex is constructed empty. How should you represent an empty BST?</a:t>
            </a:r>
            <a:endParaRPr sz="1200" dirty="0">
              <a:highlight>
                <a:srgbClr val="FFFF00"/>
              </a:highlight>
            </a:endParaRPr>
          </a:p>
          <a:p>
            <a:pPr marL="914400" lvl="1" indent="-304800" algn="l" rtl="0">
              <a:spcBef>
                <a:spcPts val="0"/>
              </a:spcBef>
              <a:spcAft>
                <a:spcPts val="0"/>
              </a:spcAft>
              <a:buSzPts val="1200"/>
              <a:buChar char="○"/>
            </a:pPr>
            <a:r>
              <a:rPr lang="en" sz="1200" dirty="0">
                <a:solidFill>
                  <a:srgbClr val="FF0000"/>
                </a:solidFill>
                <a:latin typeface="Courier New"/>
                <a:ea typeface="Courier New"/>
                <a:cs typeface="Courier New"/>
                <a:sym typeface="Courier New"/>
              </a:rPr>
              <a:t>addPokémon</a:t>
            </a:r>
            <a:r>
              <a:rPr lang="en" sz="1200" dirty="0"/>
              <a:t> - inserts the Pokémon's number into the Pokédex.</a:t>
            </a:r>
            <a:endParaRPr sz="1200" dirty="0"/>
          </a:p>
          <a:p>
            <a:pPr marL="914400" lvl="1" indent="-304800" algn="l" rtl="0">
              <a:spcBef>
                <a:spcPts val="0"/>
              </a:spcBef>
              <a:spcAft>
                <a:spcPts val="0"/>
              </a:spcAft>
              <a:buSzPts val="1200"/>
              <a:buChar char="○"/>
            </a:pPr>
            <a:r>
              <a:rPr lang="en" sz="1200" dirty="0">
                <a:solidFill>
                  <a:srgbClr val="FF0000"/>
                </a:solidFill>
                <a:latin typeface="Courier New"/>
                <a:ea typeface="Courier New"/>
                <a:cs typeface="Courier New"/>
                <a:sym typeface="Courier New"/>
              </a:rPr>
              <a:t>toString</a:t>
            </a:r>
            <a:r>
              <a:rPr lang="en" sz="1200" dirty="0"/>
              <a:t> - returns all of the Pokémon contained in the Pokédex in order.</a:t>
            </a:r>
            <a:endParaRPr sz="1200" dirty="0"/>
          </a:p>
          <a:p>
            <a:pPr marL="457200" lvl="0" indent="-317500" algn="l" rtl="0">
              <a:spcBef>
                <a:spcPts val="1000"/>
              </a:spcBef>
              <a:spcAft>
                <a:spcPts val="0"/>
              </a:spcAft>
              <a:buSzPts val="1400"/>
              <a:buChar char="●"/>
            </a:pPr>
            <a:r>
              <a:rPr lang="en" sz="1400" dirty="0"/>
              <a:t>Define a </a:t>
            </a:r>
            <a:r>
              <a:rPr lang="en" sz="1400" dirty="0">
                <a:latin typeface="Courier New"/>
                <a:ea typeface="Courier New"/>
                <a:cs typeface="Courier New"/>
                <a:sym typeface="Courier New"/>
              </a:rPr>
              <a:t>main</a:t>
            </a:r>
            <a:r>
              <a:rPr lang="en" sz="1400" dirty="0"/>
              <a:t> method.</a:t>
            </a:r>
            <a:endParaRPr sz="1400" dirty="0"/>
          </a:p>
          <a:p>
            <a:pPr marL="914400" lvl="1" indent="-304800" algn="l" rtl="0">
              <a:spcBef>
                <a:spcPts val="0"/>
              </a:spcBef>
              <a:spcAft>
                <a:spcPts val="0"/>
              </a:spcAft>
              <a:buSzPts val="1200"/>
              <a:buChar char="○"/>
            </a:pPr>
            <a:r>
              <a:rPr lang="en" sz="1200" dirty="0"/>
              <a:t>Create an empty </a:t>
            </a:r>
            <a:r>
              <a:rPr lang="en" sz="1200" dirty="0">
                <a:latin typeface="Courier New"/>
                <a:ea typeface="Courier New"/>
                <a:cs typeface="Courier New"/>
                <a:sym typeface="Courier New"/>
              </a:rPr>
              <a:t>Pokédex</a:t>
            </a:r>
            <a:r>
              <a:rPr lang="en" sz="1200" dirty="0"/>
              <a:t> and add 15 of the Pokémon from the previous table </a:t>
            </a:r>
            <a:r>
              <a:rPr lang="en" sz="1200" i="1" dirty="0"/>
              <a:t>in the order that they appear in the table.</a:t>
            </a:r>
            <a:endParaRPr sz="1200" dirty="0"/>
          </a:p>
          <a:p>
            <a:pPr marL="914400" lvl="1" indent="-304800" algn="l" rtl="0">
              <a:spcBef>
                <a:spcPts val="0"/>
              </a:spcBef>
              <a:spcAft>
                <a:spcPts val="0"/>
              </a:spcAft>
              <a:buSzPts val="1200"/>
              <a:buChar char="○"/>
            </a:pPr>
            <a:r>
              <a:rPr lang="en" sz="1200" dirty="0"/>
              <a:t>Print the </a:t>
            </a:r>
            <a:r>
              <a:rPr lang="en" sz="1200" dirty="0">
                <a:latin typeface="Courier New"/>
                <a:ea typeface="Courier New"/>
                <a:cs typeface="Courier New"/>
                <a:sym typeface="Courier New"/>
              </a:rPr>
              <a:t>Pokédex</a:t>
            </a:r>
            <a:r>
              <a:rPr lang="en" sz="1200" dirty="0"/>
              <a:t> to standard output.</a:t>
            </a:r>
            <a:endParaRPr sz="1200" dirty="0"/>
          </a:p>
        </p:txBody>
      </p:sp>
      <p:sp>
        <p:nvSpPr>
          <p:cNvPr id="1099" name="Google Shape;1099;p9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Building Your Pokédex</a:t>
            </a:r>
            <a:endParaRPr/>
          </a:p>
        </p:txBody>
      </p:sp>
      <p:sp>
        <p:nvSpPr>
          <p:cNvPr id="1100" name="Google Shape;1100;p9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6.8</a:t>
            </a:r>
            <a:endParaRPr/>
          </a:p>
        </p:txBody>
      </p:sp>
      <p:graphicFrame>
        <p:nvGraphicFramePr>
          <p:cNvPr id="1101" name="Google Shape;1101;p95"/>
          <p:cNvGraphicFramePr/>
          <p:nvPr/>
        </p:nvGraphicFramePr>
        <p:xfrm>
          <a:off x="217800" y="1971625"/>
          <a:ext cx="2787575" cy="1706770"/>
        </p:xfrm>
        <a:graphic>
          <a:graphicData uri="http://schemas.openxmlformats.org/drawingml/2006/table">
            <a:tbl>
              <a:tblPr>
                <a:noFill/>
                <a:tableStyleId>{24C44263-8FF7-4D16-B4B7-C5B571B8A48A}</a:tableStyleId>
              </a:tblPr>
              <a:tblGrid>
                <a:gridCol w="2787575">
                  <a:extLst>
                    <a:ext uri="{9D8B030D-6E8A-4147-A177-3AD203B41FA5}">
                      <a16:colId xmlns:a16="http://schemas.microsoft.com/office/drawing/2014/main" val="20000"/>
                    </a:ext>
                  </a:extLst>
                </a:gridCol>
              </a:tblGrid>
              <a:tr h="396200">
                <a:tc>
                  <a:txBody>
                    <a:bodyPr/>
                    <a:lstStyle/>
                    <a:p>
                      <a:pPr marL="0" lvl="0" indent="0" algn="ctr" rtl="0">
                        <a:spcBef>
                          <a:spcPts val="0"/>
                        </a:spcBef>
                        <a:spcAft>
                          <a:spcPts val="0"/>
                        </a:spcAft>
                        <a:buNone/>
                      </a:pPr>
                      <a:r>
                        <a:rPr lang="en" sz="1200">
                          <a:latin typeface="Consolas"/>
                          <a:ea typeface="Consolas"/>
                          <a:cs typeface="Consolas"/>
                          <a:sym typeface="Consolas"/>
                        </a:rPr>
                        <a:t>Pokédex</a:t>
                      </a:r>
                      <a:endParaRPr sz="12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 sz="1200">
                          <a:latin typeface="Consolas"/>
                          <a:ea typeface="Consolas"/>
                          <a:cs typeface="Consolas"/>
                          <a:sym typeface="Consolas"/>
                        </a:rPr>
                        <a:t>- bst: BinarySearchTree</a:t>
                      </a:r>
                      <a:endParaRPr sz="12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07150">
                <a:tc>
                  <a:txBody>
                    <a:bodyPr/>
                    <a:lstStyle/>
                    <a:p>
                      <a:pPr marL="0" lvl="0" indent="0" algn="l" rtl="0">
                        <a:spcBef>
                          <a:spcPts val="0"/>
                        </a:spcBef>
                        <a:spcAft>
                          <a:spcPts val="0"/>
                        </a:spcAft>
                        <a:buNone/>
                      </a:pPr>
                      <a:r>
                        <a:rPr lang="en" sz="1200">
                          <a:latin typeface="Consolas"/>
                          <a:ea typeface="Consolas"/>
                          <a:cs typeface="Consolas"/>
                          <a:sym typeface="Consolas"/>
                        </a:rPr>
                        <a:t>+ &lt;&lt;create&gt;&gt; Pokédex()</a:t>
                      </a:r>
                      <a:br>
                        <a:rPr lang="en" sz="1200">
                          <a:latin typeface="Consolas"/>
                          <a:ea typeface="Consolas"/>
                          <a:cs typeface="Consolas"/>
                          <a:sym typeface="Consolas"/>
                        </a:rPr>
                      </a:br>
                      <a:r>
                        <a:rPr lang="en" sz="1200">
                          <a:latin typeface="Consolas"/>
                          <a:ea typeface="Consolas"/>
                          <a:cs typeface="Consolas"/>
                          <a:sym typeface="Consolas"/>
                        </a:rPr>
                        <a:t>+ addPokémon(number: int): void</a:t>
                      </a:r>
                      <a:br>
                        <a:rPr lang="en" sz="1200">
                          <a:latin typeface="Consolas"/>
                          <a:ea typeface="Consolas"/>
                          <a:cs typeface="Consolas"/>
                          <a:sym typeface="Consolas"/>
                        </a:rPr>
                      </a:br>
                      <a:r>
                        <a:rPr lang="en" sz="1200">
                          <a:latin typeface="Consolas"/>
                          <a:ea typeface="Consolas"/>
                          <a:cs typeface="Consolas"/>
                          <a:sym typeface="Consolas"/>
                        </a:rPr>
                        <a:t>+ toString(): String</a:t>
                      </a:r>
                      <a:endParaRPr sz="12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p96"/>
          <p:cNvSpPr txBox="1">
            <a:spLocks noGrp="1"/>
          </p:cNvSpPr>
          <p:nvPr>
            <p:ph type="title"/>
          </p:nvPr>
        </p:nvSpPr>
        <p:spPr>
          <a:xfrm>
            <a:off x="5112325" y="87225"/>
            <a:ext cx="3706500" cy="9756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t>Searching the Pokédex</a:t>
            </a:r>
            <a:endParaRPr/>
          </a:p>
        </p:txBody>
      </p:sp>
      <p:sp>
        <p:nvSpPr>
          <p:cNvPr id="1107" name="Google Shape;1107;p96"/>
          <p:cNvSpPr txBox="1">
            <a:spLocks noGrp="1"/>
          </p:cNvSpPr>
          <p:nvPr>
            <p:ph type="body" idx="1"/>
          </p:nvPr>
        </p:nvSpPr>
        <p:spPr>
          <a:xfrm>
            <a:off x="426700" y="394650"/>
            <a:ext cx="4210200" cy="4354200"/>
          </a:xfrm>
          <a:prstGeom prst="rect">
            <a:avLst/>
          </a:prstGeom>
        </p:spPr>
        <p:txBody>
          <a:bodyPr spcFirstLastPara="1" wrap="square" lIns="91425" tIns="91425" rIns="91425" bIns="91425" anchor="ctr" anchorCtr="0">
            <a:spAutoFit/>
          </a:bodyPr>
          <a:lstStyle/>
          <a:p>
            <a:pPr marL="457200" lvl="0" indent="-317500" algn="l" rtl="0">
              <a:spcBef>
                <a:spcPts val="0"/>
              </a:spcBef>
              <a:spcAft>
                <a:spcPts val="0"/>
              </a:spcAft>
              <a:buSzPts val="1400"/>
              <a:buChar char="●"/>
            </a:pPr>
            <a:r>
              <a:rPr lang="en" sz="1400" dirty="0"/>
              <a:t>Each time a new Pokémon is encountered, it is essential that we can </a:t>
            </a:r>
            <a:r>
              <a:rPr lang="en" sz="1400" b="1" i="1" dirty="0">
                <a:solidFill>
                  <a:srgbClr val="FF0000"/>
                </a:solidFill>
              </a:rPr>
              <a:t>quickly search</a:t>
            </a:r>
            <a:r>
              <a:rPr lang="en" sz="1400" dirty="0"/>
              <a:t> the Pokédex and determine whether or not we’ve already captured a Pokémon of that species.</a:t>
            </a:r>
            <a:endParaRPr sz="1400" dirty="0"/>
          </a:p>
          <a:p>
            <a:pPr marL="457200" lvl="0" indent="-317500" algn="l" rtl="0">
              <a:spcBef>
                <a:spcPts val="1000"/>
              </a:spcBef>
              <a:spcAft>
                <a:spcPts val="0"/>
              </a:spcAft>
              <a:buSzPts val="1400"/>
              <a:buChar char="●"/>
            </a:pPr>
            <a:r>
              <a:rPr lang="en" sz="1400" dirty="0"/>
              <a:t>It should come as no surprise that there is a recursive algorithm for searching a BST that is only a little different from the algorithm to search a plain binary tree starting at the root node.</a:t>
            </a:r>
            <a:endParaRPr sz="1400" dirty="0"/>
          </a:p>
          <a:p>
            <a:pPr marL="914400" lvl="1" indent="-311150" algn="l" rtl="0">
              <a:spcBef>
                <a:spcPts val="0"/>
              </a:spcBef>
              <a:spcAft>
                <a:spcPts val="0"/>
              </a:spcAft>
              <a:buSzPts val="1300"/>
              <a:buChar char="○"/>
            </a:pPr>
            <a:r>
              <a:rPr lang="en" sz="1300" dirty="0"/>
              <a:t>If </a:t>
            </a:r>
            <a:r>
              <a:rPr lang="en" sz="1300" dirty="0">
                <a:solidFill>
                  <a:srgbClr val="FF0000"/>
                </a:solidFill>
                <a:latin typeface="Courier New"/>
                <a:ea typeface="Courier New"/>
                <a:cs typeface="Courier New"/>
                <a:sym typeface="Courier New"/>
              </a:rPr>
              <a:t>value</a:t>
            </a:r>
            <a:r>
              <a:rPr lang="en" sz="1300" dirty="0">
                <a:solidFill>
                  <a:srgbClr val="FF0000"/>
                </a:solidFill>
              </a:rPr>
              <a:t> </a:t>
            </a:r>
            <a:r>
              <a:rPr lang="en" sz="1300" dirty="0"/>
              <a:t>matches the target, return </a:t>
            </a:r>
            <a:r>
              <a:rPr lang="en" sz="1300" dirty="0">
                <a:solidFill>
                  <a:srgbClr val="FF0000"/>
                </a:solidFill>
                <a:latin typeface="Courier New"/>
                <a:ea typeface="Courier New"/>
                <a:cs typeface="Courier New"/>
                <a:sym typeface="Courier New"/>
              </a:rPr>
              <a:t>true</a:t>
            </a:r>
            <a:r>
              <a:rPr lang="en" sz="1300" dirty="0"/>
              <a:t>.</a:t>
            </a:r>
            <a:endParaRPr sz="1300" dirty="0"/>
          </a:p>
          <a:p>
            <a:pPr marL="914400" lvl="1" indent="-311150" algn="l" rtl="0">
              <a:spcBef>
                <a:spcPts val="0"/>
              </a:spcBef>
              <a:spcAft>
                <a:spcPts val="0"/>
              </a:spcAft>
              <a:buSzPts val="1300"/>
              <a:buChar char="○"/>
            </a:pPr>
            <a:r>
              <a:rPr lang="en" sz="1300" dirty="0"/>
              <a:t>If the target is </a:t>
            </a:r>
            <a:r>
              <a:rPr lang="en" sz="1300" b="1" i="1" dirty="0">
                <a:solidFill>
                  <a:srgbClr val="FF0000"/>
                </a:solidFill>
              </a:rPr>
              <a:t>less than</a:t>
            </a:r>
            <a:r>
              <a:rPr lang="en" sz="1300" dirty="0"/>
              <a:t> </a:t>
            </a:r>
            <a:r>
              <a:rPr lang="en" sz="1300" dirty="0">
                <a:solidFill>
                  <a:srgbClr val="FF0000"/>
                </a:solidFill>
                <a:latin typeface="Courier New"/>
                <a:ea typeface="Courier New"/>
                <a:cs typeface="Courier New"/>
                <a:sym typeface="Courier New"/>
              </a:rPr>
              <a:t>value</a:t>
            </a:r>
            <a:r>
              <a:rPr lang="en" sz="1300" dirty="0"/>
              <a:t>, search the </a:t>
            </a:r>
            <a:r>
              <a:rPr lang="en" sz="1300" b="1" i="1" dirty="0">
                <a:solidFill>
                  <a:srgbClr val="FF0000"/>
                </a:solidFill>
              </a:rPr>
              <a:t>left subtree</a:t>
            </a:r>
            <a:r>
              <a:rPr lang="en" sz="1300" dirty="0"/>
              <a:t>.</a:t>
            </a:r>
            <a:endParaRPr sz="1300" dirty="0"/>
          </a:p>
          <a:p>
            <a:pPr marL="1371600" lvl="2" indent="-311150" algn="l" rtl="0">
              <a:spcBef>
                <a:spcPts val="0"/>
              </a:spcBef>
              <a:spcAft>
                <a:spcPts val="0"/>
              </a:spcAft>
              <a:buSzPts val="1300"/>
              <a:buChar char="■"/>
            </a:pPr>
            <a:r>
              <a:rPr lang="en" sz="1300" dirty="0"/>
              <a:t>Return </a:t>
            </a:r>
            <a:r>
              <a:rPr lang="en" sz="1300" dirty="0">
                <a:solidFill>
                  <a:srgbClr val="FF0000"/>
                </a:solidFill>
                <a:latin typeface="Courier New"/>
                <a:ea typeface="Courier New"/>
                <a:cs typeface="Courier New"/>
                <a:sym typeface="Courier New"/>
              </a:rPr>
              <a:t>false</a:t>
            </a:r>
            <a:r>
              <a:rPr lang="en" sz="1300" dirty="0">
                <a:solidFill>
                  <a:srgbClr val="FF0000"/>
                </a:solidFill>
              </a:rPr>
              <a:t> </a:t>
            </a:r>
            <a:r>
              <a:rPr lang="en" sz="1300" dirty="0"/>
              <a:t>if the left subtree is </a:t>
            </a:r>
            <a:r>
              <a:rPr lang="en" sz="1300" dirty="0">
                <a:solidFill>
                  <a:srgbClr val="FF0000"/>
                </a:solidFill>
                <a:latin typeface="Courier New"/>
                <a:ea typeface="Courier New"/>
                <a:cs typeface="Courier New"/>
                <a:sym typeface="Courier New"/>
              </a:rPr>
              <a:t>null</a:t>
            </a:r>
            <a:r>
              <a:rPr lang="en" sz="1300" dirty="0"/>
              <a:t>.</a:t>
            </a:r>
            <a:endParaRPr sz="1300" dirty="0"/>
          </a:p>
          <a:p>
            <a:pPr marL="914400" lvl="1" indent="-311150" algn="l" rtl="0">
              <a:spcBef>
                <a:spcPts val="0"/>
              </a:spcBef>
              <a:spcAft>
                <a:spcPts val="0"/>
              </a:spcAft>
              <a:buSzPts val="1300"/>
              <a:buChar char="○"/>
            </a:pPr>
            <a:r>
              <a:rPr lang="en" sz="1300" dirty="0"/>
              <a:t>Otherwise, search the</a:t>
            </a:r>
            <a:r>
              <a:rPr lang="en" sz="1300" b="1" i="1" dirty="0"/>
              <a:t> </a:t>
            </a:r>
            <a:r>
              <a:rPr lang="en" sz="1300" b="1" i="1" dirty="0">
                <a:solidFill>
                  <a:srgbClr val="FF0000"/>
                </a:solidFill>
              </a:rPr>
              <a:t>right subtree</a:t>
            </a:r>
            <a:r>
              <a:rPr lang="en" sz="1300" dirty="0"/>
              <a:t>.</a:t>
            </a:r>
            <a:endParaRPr sz="1300" dirty="0"/>
          </a:p>
          <a:p>
            <a:pPr marL="1371600" lvl="2" indent="-311150" algn="l" rtl="0">
              <a:spcBef>
                <a:spcPts val="0"/>
              </a:spcBef>
              <a:spcAft>
                <a:spcPts val="0"/>
              </a:spcAft>
              <a:buSzPts val="1300"/>
              <a:buChar char="■"/>
            </a:pPr>
            <a:r>
              <a:rPr lang="en" sz="1300" dirty="0"/>
              <a:t>Return </a:t>
            </a:r>
            <a:r>
              <a:rPr lang="en" sz="1300" dirty="0">
                <a:solidFill>
                  <a:srgbClr val="FF0000"/>
                </a:solidFill>
                <a:latin typeface="Courier New"/>
                <a:ea typeface="Courier New"/>
                <a:cs typeface="Courier New"/>
                <a:sym typeface="Courier New"/>
              </a:rPr>
              <a:t>false</a:t>
            </a:r>
            <a:r>
              <a:rPr lang="en" sz="1300" dirty="0">
                <a:solidFill>
                  <a:srgbClr val="FF0000"/>
                </a:solidFill>
              </a:rPr>
              <a:t> </a:t>
            </a:r>
            <a:r>
              <a:rPr lang="en" sz="1300" dirty="0"/>
              <a:t>if the right subtree is </a:t>
            </a:r>
            <a:r>
              <a:rPr lang="en" sz="1300" dirty="0">
                <a:solidFill>
                  <a:srgbClr val="FF0000"/>
                </a:solidFill>
                <a:latin typeface="Courier New"/>
                <a:ea typeface="Courier New"/>
                <a:cs typeface="Courier New"/>
                <a:sym typeface="Courier New"/>
              </a:rPr>
              <a:t>null</a:t>
            </a:r>
            <a:r>
              <a:rPr lang="en" sz="1300" dirty="0"/>
              <a:t>.</a:t>
            </a:r>
            <a:endParaRPr sz="1300" dirty="0"/>
          </a:p>
        </p:txBody>
      </p:sp>
      <p:pic>
        <p:nvPicPr>
          <p:cNvPr id="1108" name="Google Shape;1108;p96"/>
          <p:cNvPicPr preferRelativeResize="0"/>
          <p:nvPr/>
        </p:nvPicPr>
        <p:blipFill>
          <a:blip r:embed="rId3">
            <a:alphaModFix/>
          </a:blip>
          <a:stretch>
            <a:fillRect/>
          </a:stretch>
        </p:blipFill>
        <p:spPr>
          <a:xfrm>
            <a:off x="5211188" y="1210500"/>
            <a:ext cx="3403325" cy="1914376"/>
          </a:xfrm>
          <a:prstGeom prst="rect">
            <a:avLst/>
          </a:prstGeom>
          <a:noFill/>
          <a:ln w="19050" cap="flat" cmpd="sng">
            <a:solidFill>
              <a:srgbClr val="000000"/>
            </a:solidFill>
            <a:prstDash val="solid"/>
            <a:round/>
            <a:headEnd type="none" w="sm" len="sm"/>
            <a:tailEnd type="none" w="sm" len="sm"/>
          </a:ln>
        </p:spPr>
      </p:pic>
      <p:sp>
        <p:nvSpPr>
          <p:cNvPr id="1109" name="Google Shape;1109;p96"/>
          <p:cNvSpPr/>
          <p:nvPr/>
        </p:nvSpPr>
        <p:spPr>
          <a:xfrm>
            <a:off x="6780163" y="909525"/>
            <a:ext cx="1950000" cy="657300"/>
          </a:xfrm>
          <a:prstGeom prst="wedgeRoundRectCallout">
            <a:avLst>
              <a:gd name="adj1" fmla="val -59201"/>
              <a:gd name="adj2" fmla="val 114148"/>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Ah, the rare and elusive </a:t>
            </a:r>
            <a:r>
              <a:rPr lang="en" sz="1200" b="1"/>
              <a:t>Bidoof</a:t>
            </a:r>
            <a:r>
              <a:rPr lang="en" sz="1200"/>
              <a:t>. Do I already have one of these? </a:t>
            </a:r>
            <a:endParaRPr sz="1200"/>
          </a:p>
        </p:txBody>
      </p:sp>
      <p:sp>
        <p:nvSpPr>
          <p:cNvPr id="1110" name="Google Shape;1110;p96"/>
          <p:cNvSpPr txBox="1"/>
          <p:nvPr/>
        </p:nvSpPr>
        <p:spPr>
          <a:xfrm>
            <a:off x="5112325" y="3238100"/>
            <a:ext cx="37167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old search method blindly searches the left subtree and then the right. It doesn’t pay attention to the relationship between the </a:t>
            </a:r>
            <a:r>
              <a:rPr lang="en" sz="1200">
                <a:solidFill>
                  <a:srgbClr val="FF0000"/>
                </a:solidFill>
                <a:latin typeface="Courier New"/>
                <a:ea typeface="Courier New"/>
                <a:cs typeface="Courier New"/>
                <a:sym typeface="Courier New"/>
              </a:rPr>
              <a:t>value</a:t>
            </a:r>
            <a:r>
              <a:rPr lang="en" sz="1200">
                <a:solidFill>
                  <a:srgbClr val="FF0000"/>
                </a:solidFill>
              </a:rPr>
              <a:t> </a:t>
            </a:r>
            <a:r>
              <a:rPr lang="en" sz="1200"/>
              <a:t>and the </a:t>
            </a:r>
            <a:r>
              <a:rPr lang="en" sz="1200">
                <a:latin typeface="Courier New"/>
                <a:ea typeface="Courier New"/>
                <a:cs typeface="Courier New"/>
                <a:sym typeface="Courier New"/>
              </a:rPr>
              <a:t>target</a:t>
            </a:r>
            <a:r>
              <a:rPr lang="en" sz="1200"/>
              <a:t>.</a:t>
            </a:r>
            <a:endParaRPr sz="1200"/>
          </a:p>
        </p:txBody>
      </p:sp>
      <p:sp>
        <p:nvSpPr>
          <p:cNvPr id="1111" name="Google Shape;1111;p96"/>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30</a:t>
            </a:fld>
            <a:endParaRPr/>
          </a:p>
        </p:txBody>
      </p:sp>
      <p:sp>
        <p:nvSpPr>
          <p:cNvPr id="1112" name="Google Shape;1112;p96"/>
          <p:cNvSpPr txBox="1"/>
          <p:nvPr/>
        </p:nvSpPr>
        <p:spPr>
          <a:xfrm>
            <a:off x="5112225" y="4285525"/>
            <a:ext cx="3716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a plain </a:t>
            </a:r>
            <a:r>
              <a:rPr lang="en" sz="1200" b="1" i="1">
                <a:solidFill>
                  <a:srgbClr val="FF0000"/>
                </a:solidFill>
              </a:rPr>
              <a:t>binary tree</a:t>
            </a:r>
            <a:r>
              <a:rPr lang="en" sz="1200"/>
              <a:t>, this is the only option. But in a </a:t>
            </a:r>
            <a:r>
              <a:rPr lang="en" sz="1200" b="1" i="1">
                <a:solidFill>
                  <a:srgbClr val="FF0000"/>
                </a:solidFill>
              </a:rPr>
              <a:t>BST</a:t>
            </a:r>
            <a:r>
              <a:rPr lang="en" sz="1200"/>
              <a:t>, we can search much more efficiently.</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0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110"/>
                                        </p:tgtEl>
                                        <p:attrNameLst>
                                          <p:attrName>style.visibility</p:attrName>
                                        </p:attrNameLst>
                                      </p:cBhvr>
                                      <p:to>
                                        <p:strVal val="visible"/>
                                      </p:to>
                                    </p:set>
                                    <p:animEffect transition="in" filter="fade">
                                      <p:cBhvr>
                                        <p:cTn id="35" dur="1000"/>
                                        <p:tgtEl>
                                          <p:spTgt spid="11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112"/>
                                        </p:tgtEl>
                                        <p:attrNameLst>
                                          <p:attrName>style.visibility</p:attrName>
                                        </p:attrNameLst>
                                      </p:cBhvr>
                                      <p:to>
                                        <p:strVal val="visible"/>
                                      </p:to>
                                    </p:set>
                                    <p:animEffect transition="in" filter="fade">
                                      <p:cBhvr>
                                        <p:cTn id="40" dur="1000"/>
                                        <p:tgtEl>
                                          <p:spTgt spid="1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16"/>
        <p:cNvGrpSpPr/>
        <p:nvPr/>
      </p:nvGrpSpPr>
      <p:grpSpPr>
        <a:xfrm>
          <a:off x="0" y="0"/>
          <a:ext cx="0" cy="0"/>
          <a:chOff x="0" y="0"/>
          <a:chExt cx="0" cy="0"/>
        </a:xfrm>
      </p:grpSpPr>
      <p:sp>
        <p:nvSpPr>
          <p:cNvPr id="1117" name="Google Shape;1117;p9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sp>
        <p:nvSpPr>
          <p:cNvPr id="1118" name="Google Shape;1118;p9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Searching a BST</a:t>
            </a:r>
            <a:endParaRPr/>
          </a:p>
        </p:txBody>
      </p:sp>
      <p:grpSp>
        <p:nvGrpSpPr>
          <p:cNvPr id="1119" name="Google Shape;1119;p97"/>
          <p:cNvGrpSpPr/>
          <p:nvPr/>
        </p:nvGrpSpPr>
        <p:grpSpPr>
          <a:xfrm>
            <a:off x="4474138" y="2176875"/>
            <a:ext cx="3998318" cy="2648753"/>
            <a:chOff x="158350" y="2014475"/>
            <a:chExt cx="3998318" cy="2648753"/>
          </a:xfrm>
        </p:grpSpPr>
        <p:sp>
          <p:nvSpPr>
            <p:cNvPr id="1120" name="Google Shape;1120;p97"/>
            <p:cNvSpPr/>
            <p:nvPr/>
          </p:nvSpPr>
          <p:spPr>
            <a:xfrm>
              <a:off x="2625911" y="20144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sp>
          <p:nvSpPr>
            <p:cNvPr id="1121" name="Google Shape;1121;p97"/>
            <p:cNvSpPr/>
            <p:nvPr/>
          </p:nvSpPr>
          <p:spPr>
            <a:xfrm>
              <a:off x="1243301" y="2701129"/>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15</a:t>
              </a:r>
              <a:endParaRPr sz="700"/>
            </a:p>
          </p:txBody>
        </p:sp>
        <p:sp>
          <p:nvSpPr>
            <p:cNvPr id="1122" name="Google Shape;1122;p97"/>
            <p:cNvSpPr/>
            <p:nvPr/>
          </p:nvSpPr>
          <p:spPr>
            <a:xfrm>
              <a:off x="3750468" y="26937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50</a:t>
              </a:r>
              <a:endParaRPr sz="700"/>
            </a:p>
          </p:txBody>
        </p:sp>
        <p:sp>
          <p:nvSpPr>
            <p:cNvPr id="1123" name="Google Shape;1123;p97"/>
            <p:cNvSpPr/>
            <p:nvPr/>
          </p:nvSpPr>
          <p:spPr>
            <a:xfrm>
              <a:off x="521063"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10</a:t>
              </a:r>
              <a:endParaRPr sz="700"/>
            </a:p>
          </p:txBody>
        </p:sp>
        <p:sp>
          <p:nvSpPr>
            <p:cNvPr id="1124" name="Google Shape;1124;p97"/>
            <p:cNvSpPr/>
            <p:nvPr/>
          </p:nvSpPr>
          <p:spPr>
            <a:xfrm>
              <a:off x="1947643"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22</a:t>
              </a:r>
              <a:endParaRPr sz="700"/>
            </a:p>
          </p:txBody>
        </p:sp>
        <p:sp>
          <p:nvSpPr>
            <p:cNvPr id="1125" name="Google Shape;1125;p97"/>
            <p:cNvSpPr/>
            <p:nvPr/>
          </p:nvSpPr>
          <p:spPr>
            <a:xfrm>
              <a:off x="3374224"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35</a:t>
              </a:r>
              <a:endParaRPr sz="700"/>
            </a:p>
          </p:txBody>
        </p:sp>
        <p:sp>
          <p:nvSpPr>
            <p:cNvPr id="1126" name="Google Shape;1126;p97"/>
            <p:cNvSpPr/>
            <p:nvPr/>
          </p:nvSpPr>
          <p:spPr>
            <a:xfrm>
              <a:off x="15835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a:t>
              </a:r>
              <a:endParaRPr sz="700"/>
            </a:p>
          </p:txBody>
        </p:sp>
        <p:sp>
          <p:nvSpPr>
            <p:cNvPr id="1127" name="Google Shape;1127;p97"/>
            <p:cNvSpPr/>
            <p:nvPr/>
          </p:nvSpPr>
          <p:spPr>
            <a:xfrm>
              <a:off x="87676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12</a:t>
              </a:r>
              <a:endParaRPr sz="700"/>
            </a:p>
          </p:txBody>
        </p:sp>
        <p:sp>
          <p:nvSpPr>
            <p:cNvPr id="1128" name="Google Shape;1128;p97"/>
            <p:cNvSpPr/>
            <p:nvPr/>
          </p:nvSpPr>
          <p:spPr>
            <a:xfrm>
              <a:off x="159518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18</a:t>
              </a:r>
              <a:endParaRPr sz="700"/>
            </a:p>
          </p:txBody>
        </p:sp>
        <p:sp>
          <p:nvSpPr>
            <p:cNvPr id="1129" name="Google Shape;1129;p97"/>
            <p:cNvSpPr/>
            <p:nvPr/>
          </p:nvSpPr>
          <p:spPr>
            <a:xfrm>
              <a:off x="231359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24</a:t>
              </a:r>
              <a:endParaRPr sz="700"/>
            </a:p>
          </p:txBody>
        </p:sp>
        <p:sp>
          <p:nvSpPr>
            <p:cNvPr id="1130" name="Google Shape;1130;p97"/>
            <p:cNvSpPr/>
            <p:nvPr/>
          </p:nvSpPr>
          <p:spPr>
            <a:xfrm>
              <a:off x="303201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31</a:t>
              </a:r>
              <a:endParaRPr sz="700"/>
            </a:p>
          </p:txBody>
        </p:sp>
        <p:sp>
          <p:nvSpPr>
            <p:cNvPr id="1131" name="Google Shape;1131;p97"/>
            <p:cNvSpPr/>
            <p:nvPr/>
          </p:nvSpPr>
          <p:spPr>
            <a:xfrm>
              <a:off x="375042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44</a:t>
              </a:r>
              <a:endParaRPr sz="700"/>
            </a:p>
          </p:txBody>
        </p:sp>
        <p:cxnSp>
          <p:nvCxnSpPr>
            <p:cNvPr id="1132" name="Google Shape;1132;p97"/>
            <p:cNvCxnSpPr>
              <a:stCxn id="1120" idx="3"/>
              <a:endCxn id="1121" idx="0"/>
            </p:cNvCxnSpPr>
            <p:nvPr/>
          </p:nvCxnSpPr>
          <p:spPr>
            <a:xfrm flipH="1">
              <a:off x="1446398" y="2367846"/>
              <a:ext cx="1239000" cy="333300"/>
            </a:xfrm>
            <a:prstGeom prst="straightConnector1">
              <a:avLst/>
            </a:prstGeom>
            <a:noFill/>
            <a:ln w="9525" cap="flat" cmpd="sng">
              <a:solidFill>
                <a:srgbClr val="000000"/>
              </a:solidFill>
              <a:prstDash val="solid"/>
              <a:round/>
              <a:headEnd type="none" w="med" len="med"/>
              <a:tailEnd type="triangle" w="med" len="med"/>
            </a:ln>
          </p:spPr>
        </p:cxnSp>
        <p:cxnSp>
          <p:nvCxnSpPr>
            <p:cNvPr id="1133" name="Google Shape;1133;p97"/>
            <p:cNvCxnSpPr>
              <a:stCxn id="1121" idx="3"/>
              <a:endCxn id="1123" idx="0"/>
            </p:cNvCxnSpPr>
            <p:nvPr/>
          </p:nvCxnSpPr>
          <p:spPr>
            <a:xfrm flipH="1">
              <a:off x="724087" y="3054500"/>
              <a:ext cx="578700" cy="371700"/>
            </a:xfrm>
            <a:prstGeom prst="straightConnector1">
              <a:avLst/>
            </a:prstGeom>
            <a:noFill/>
            <a:ln w="9525" cap="flat" cmpd="sng">
              <a:solidFill>
                <a:srgbClr val="000000"/>
              </a:solidFill>
              <a:prstDash val="solid"/>
              <a:round/>
              <a:headEnd type="none" w="med" len="med"/>
              <a:tailEnd type="triangle" w="med" len="med"/>
            </a:ln>
          </p:spPr>
        </p:cxnSp>
        <p:cxnSp>
          <p:nvCxnSpPr>
            <p:cNvPr id="1134" name="Google Shape;1134;p97"/>
            <p:cNvCxnSpPr>
              <a:stCxn id="1121" idx="5"/>
              <a:endCxn id="1124" idx="0"/>
            </p:cNvCxnSpPr>
            <p:nvPr/>
          </p:nvCxnSpPr>
          <p:spPr>
            <a:xfrm>
              <a:off x="1590014" y="3054500"/>
              <a:ext cx="560700" cy="371700"/>
            </a:xfrm>
            <a:prstGeom prst="straightConnector1">
              <a:avLst/>
            </a:prstGeom>
            <a:noFill/>
            <a:ln w="9525" cap="flat" cmpd="sng">
              <a:solidFill>
                <a:srgbClr val="000000"/>
              </a:solidFill>
              <a:prstDash val="solid"/>
              <a:round/>
              <a:headEnd type="none" w="med" len="med"/>
              <a:tailEnd type="triangle" w="med" len="med"/>
            </a:ln>
          </p:spPr>
        </p:cxnSp>
        <p:cxnSp>
          <p:nvCxnSpPr>
            <p:cNvPr id="1135" name="Google Shape;1135;p97"/>
            <p:cNvCxnSpPr>
              <a:stCxn id="1123" idx="3"/>
              <a:endCxn id="1126" idx="0"/>
            </p:cNvCxnSpPr>
            <p:nvPr/>
          </p:nvCxnSpPr>
          <p:spPr>
            <a:xfrm flipH="1">
              <a:off x="361550" y="3779647"/>
              <a:ext cx="219000" cy="469500"/>
            </a:xfrm>
            <a:prstGeom prst="straightConnector1">
              <a:avLst/>
            </a:prstGeom>
            <a:noFill/>
            <a:ln w="9525" cap="flat" cmpd="sng">
              <a:solidFill>
                <a:srgbClr val="000000"/>
              </a:solidFill>
              <a:prstDash val="solid"/>
              <a:round/>
              <a:headEnd type="none" w="med" len="med"/>
              <a:tailEnd type="triangle" w="med" len="med"/>
            </a:ln>
          </p:spPr>
        </p:cxnSp>
        <p:cxnSp>
          <p:nvCxnSpPr>
            <p:cNvPr id="1136" name="Google Shape;1136;p97"/>
            <p:cNvCxnSpPr>
              <a:stCxn id="1123" idx="5"/>
              <a:endCxn id="1127" idx="0"/>
            </p:cNvCxnSpPr>
            <p:nvPr/>
          </p:nvCxnSpPr>
          <p:spPr>
            <a:xfrm>
              <a:off x="867777" y="3779647"/>
              <a:ext cx="212100" cy="469500"/>
            </a:xfrm>
            <a:prstGeom prst="straightConnector1">
              <a:avLst/>
            </a:prstGeom>
            <a:noFill/>
            <a:ln w="9525" cap="flat" cmpd="sng">
              <a:solidFill>
                <a:srgbClr val="000000"/>
              </a:solidFill>
              <a:prstDash val="solid"/>
              <a:round/>
              <a:headEnd type="none" w="med" len="med"/>
              <a:tailEnd type="triangle" w="med" len="med"/>
            </a:ln>
          </p:spPr>
        </p:cxnSp>
        <p:cxnSp>
          <p:nvCxnSpPr>
            <p:cNvPr id="1137" name="Google Shape;1137;p97"/>
            <p:cNvCxnSpPr>
              <a:stCxn id="1124" idx="3"/>
              <a:endCxn id="1128" idx="0"/>
            </p:cNvCxnSpPr>
            <p:nvPr/>
          </p:nvCxnSpPr>
          <p:spPr>
            <a:xfrm flipH="1">
              <a:off x="1798330" y="3779647"/>
              <a:ext cx="208800" cy="469500"/>
            </a:xfrm>
            <a:prstGeom prst="straightConnector1">
              <a:avLst/>
            </a:prstGeom>
            <a:noFill/>
            <a:ln w="9525" cap="flat" cmpd="sng">
              <a:solidFill>
                <a:srgbClr val="000000"/>
              </a:solidFill>
              <a:prstDash val="solid"/>
              <a:round/>
              <a:headEnd type="none" w="med" len="med"/>
              <a:tailEnd type="triangle" w="med" len="med"/>
            </a:ln>
          </p:spPr>
        </p:cxnSp>
        <p:cxnSp>
          <p:nvCxnSpPr>
            <p:cNvPr id="1138" name="Google Shape;1138;p97"/>
            <p:cNvCxnSpPr>
              <a:stCxn id="1124" idx="5"/>
              <a:endCxn id="1129" idx="0"/>
            </p:cNvCxnSpPr>
            <p:nvPr/>
          </p:nvCxnSpPr>
          <p:spPr>
            <a:xfrm>
              <a:off x="2294357" y="3779647"/>
              <a:ext cx="222300" cy="469500"/>
            </a:xfrm>
            <a:prstGeom prst="straightConnector1">
              <a:avLst/>
            </a:prstGeom>
            <a:noFill/>
            <a:ln w="9525" cap="flat" cmpd="sng">
              <a:solidFill>
                <a:srgbClr val="000000"/>
              </a:solidFill>
              <a:prstDash val="solid"/>
              <a:round/>
              <a:headEnd type="none" w="med" len="med"/>
              <a:tailEnd type="triangle" w="med" len="med"/>
            </a:ln>
          </p:spPr>
        </p:cxnSp>
        <p:cxnSp>
          <p:nvCxnSpPr>
            <p:cNvPr id="1139" name="Google Shape;1139;p97"/>
            <p:cNvCxnSpPr>
              <a:stCxn id="1120" idx="5"/>
              <a:endCxn id="1122" idx="0"/>
            </p:cNvCxnSpPr>
            <p:nvPr/>
          </p:nvCxnSpPr>
          <p:spPr>
            <a:xfrm>
              <a:off x="2972625" y="2367846"/>
              <a:ext cx="981000" cy="325800"/>
            </a:xfrm>
            <a:prstGeom prst="straightConnector1">
              <a:avLst/>
            </a:prstGeom>
            <a:noFill/>
            <a:ln w="9525" cap="flat" cmpd="sng">
              <a:solidFill>
                <a:srgbClr val="000000"/>
              </a:solidFill>
              <a:prstDash val="solid"/>
              <a:round/>
              <a:headEnd type="none" w="med" len="med"/>
              <a:tailEnd type="triangle" w="med" len="med"/>
            </a:ln>
          </p:spPr>
        </p:cxnSp>
        <p:cxnSp>
          <p:nvCxnSpPr>
            <p:cNvPr id="1140" name="Google Shape;1140;p97"/>
            <p:cNvCxnSpPr>
              <a:stCxn id="1122" idx="3"/>
              <a:endCxn id="1125" idx="0"/>
            </p:cNvCxnSpPr>
            <p:nvPr/>
          </p:nvCxnSpPr>
          <p:spPr>
            <a:xfrm flipH="1">
              <a:off x="3577455" y="3047099"/>
              <a:ext cx="232500" cy="379200"/>
            </a:xfrm>
            <a:prstGeom prst="straightConnector1">
              <a:avLst/>
            </a:prstGeom>
            <a:noFill/>
            <a:ln w="9525" cap="flat" cmpd="sng">
              <a:solidFill>
                <a:srgbClr val="000000"/>
              </a:solidFill>
              <a:prstDash val="solid"/>
              <a:round/>
              <a:headEnd type="none" w="med" len="med"/>
              <a:tailEnd type="triangle" w="med" len="med"/>
            </a:ln>
          </p:spPr>
        </p:cxnSp>
        <p:cxnSp>
          <p:nvCxnSpPr>
            <p:cNvPr id="1141" name="Google Shape;1141;p97"/>
            <p:cNvCxnSpPr>
              <a:stCxn id="1125" idx="3"/>
              <a:endCxn id="1130" idx="0"/>
            </p:cNvCxnSpPr>
            <p:nvPr/>
          </p:nvCxnSpPr>
          <p:spPr>
            <a:xfrm flipH="1">
              <a:off x="3235110" y="3779647"/>
              <a:ext cx="198600" cy="469500"/>
            </a:xfrm>
            <a:prstGeom prst="straightConnector1">
              <a:avLst/>
            </a:prstGeom>
            <a:noFill/>
            <a:ln w="9525" cap="flat" cmpd="sng">
              <a:solidFill>
                <a:srgbClr val="000000"/>
              </a:solidFill>
              <a:prstDash val="solid"/>
              <a:round/>
              <a:headEnd type="none" w="med" len="med"/>
              <a:tailEnd type="triangle" w="med" len="med"/>
            </a:ln>
          </p:spPr>
        </p:cxnSp>
        <p:cxnSp>
          <p:nvCxnSpPr>
            <p:cNvPr id="1142" name="Google Shape;1142;p97"/>
            <p:cNvCxnSpPr>
              <a:stCxn id="1125" idx="5"/>
              <a:endCxn id="1131" idx="0"/>
            </p:cNvCxnSpPr>
            <p:nvPr/>
          </p:nvCxnSpPr>
          <p:spPr>
            <a:xfrm>
              <a:off x="3720937" y="3779647"/>
              <a:ext cx="232500" cy="469500"/>
            </a:xfrm>
            <a:prstGeom prst="straightConnector1">
              <a:avLst/>
            </a:prstGeom>
            <a:noFill/>
            <a:ln w="9525" cap="flat" cmpd="sng">
              <a:solidFill>
                <a:srgbClr val="000000"/>
              </a:solidFill>
              <a:prstDash val="solid"/>
              <a:round/>
              <a:headEnd type="none" w="med" len="med"/>
              <a:tailEnd type="triangle" w="med" len="med"/>
            </a:ln>
          </p:spPr>
        </p:cxnSp>
      </p:grpSp>
      <p:sp>
        <p:nvSpPr>
          <p:cNvPr id="1143" name="Google Shape;1143;p97"/>
          <p:cNvSpPr txBox="1"/>
          <p:nvPr/>
        </p:nvSpPr>
        <p:spPr>
          <a:xfrm>
            <a:off x="243825" y="1439425"/>
            <a:ext cx="2924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Like all other BST operations, searching a BST for a </a:t>
            </a:r>
            <a:r>
              <a:rPr lang="en" sz="1200" b="1" i="1">
                <a:solidFill>
                  <a:srgbClr val="FF0000"/>
                </a:solidFill>
              </a:rPr>
              <a:t>target</a:t>
            </a:r>
            <a:r>
              <a:rPr lang="en" sz="1200">
                <a:solidFill>
                  <a:srgbClr val="FF0000"/>
                </a:solidFill>
              </a:rPr>
              <a:t> </a:t>
            </a:r>
            <a:r>
              <a:rPr lang="en" sz="1200"/>
              <a:t>value starts at the root of the tree.</a:t>
            </a:r>
            <a:endParaRPr sz="1200"/>
          </a:p>
        </p:txBody>
      </p:sp>
      <p:sp>
        <p:nvSpPr>
          <p:cNvPr id="1144" name="Google Shape;1144;p97"/>
          <p:cNvSpPr txBox="1"/>
          <p:nvPr/>
        </p:nvSpPr>
        <p:spPr>
          <a:xfrm>
            <a:off x="243825" y="2313325"/>
            <a:ext cx="2924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the target value is </a:t>
            </a:r>
            <a:r>
              <a:rPr lang="en" sz="1200" b="1" i="1">
                <a:solidFill>
                  <a:srgbClr val="FF0000"/>
                </a:solidFill>
              </a:rPr>
              <a:t>equal to</a:t>
            </a:r>
            <a:r>
              <a:rPr lang="en" sz="1200"/>
              <a:t> the root's value, return </a:t>
            </a:r>
            <a:r>
              <a:rPr lang="en" sz="1200">
                <a:solidFill>
                  <a:srgbClr val="FF0000"/>
                </a:solidFill>
                <a:latin typeface="Courier New"/>
                <a:ea typeface="Courier New"/>
                <a:cs typeface="Courier New"/>
                <a:sym typeface="Courier New"/>
              </a:rPr>
              <a:t>true</a:t>
            </a:r>
            <a:r>
              <a:rPr lang="en" sz="1200"/>
              <a:t>.</a:t>
            </a:r>
            <a:endParaRPr sz="1200"/>
          </a:p>
        </p:txBody>
      </p:sp>
      <p:sp>
        <p:nvSpPr>
          <p:cNvPr id="1145" name="Google Shape;1145;p97"/>
          <p:cNvSpPr txBox="1"/>
          <p:nvPr/>
        </p:nvSpPr>
        <p:spPr>
          <a:xfrm>
            <a:off x="3359175" y="1439425"/>
            <a:ext cx="10395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i="1">
                <a:solidFill>
                  <a:srgbClr val="FF0000"/>
                </a:solidFill>
                <a:latin typeface="Roboto"/>
                <a:ea typeface="Roboto"/>
                <a:cs typeface="Roboto"/>
                <a:sym typeface="Roboto"/>
              </a:rPr>
              <a:t>target = 25</a:t>
            </a:r>
            <a:endParaRPr sz="1300" b="1" i="1">
              <a:solidFill>
                <a:srgbClr val="FF0000"/>
              </a:solidFill>
              <a:latin typeface="Roboto"/>
              <a:ea typeface="Roboto"/>
              <a:cs typeface="Roboto"/>
              <a:sym typeface="Roboto"/>
            </a:endParaRPr>
          </a:p>
        </p:txBody>
      </p:sp>
      <p:sp>
        <p:nvSpPr>
          <p:cNvPr id="1146" name="Google Shape;1146;p97"/>
          <p:cNvSpPr/>
          <p:nvPr/>
        </p:nvSpPr>
        <p:spPr>
          <a:xfrm>
            <a:off x="5996875" y="1419700"/>
            <a:ext cx="1590300" cy="554100"/>
          </a:xfrm>
          <a:prstGeom prst="wedgeRectCallout">
            <a:avLst>
              <a:gd name="adj1" fmla="val 20735"/>
              <a:gd name="adj2" fmla="val 78808"/>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Hey! I found it!</a:t>
            </a: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3"/>
                                        </p:tgtEl>
                                        <p:attrNameLst>
                                          <p:attrName>style.visibility</p:attrName>
                                        </p:attrNameLst>
                                      </p:cBhvr>
                                      <p:to>
                                        <p:strVal val="visible"/>
                                      </p:to>
                                    </p:set>
                                    <p:animEffect transition="in" filter="fade">
                                      <p:cBhvr>
                                        <p:cTn id="7" dur="1000"/>
                                        <p:tgtEl>
                                          <p:spTgt spid="11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44"/>
                                        </p:tgtEl>
                                        <p:attrNameLst>
                                          <p:attrName>style.visibility</p:attrName>
                                        </p:attrNameLst>
                                      </p:cBhvr>
                                      <p:to>
                                        <p:strVal val="visible"/>
                                      </p:to>
                                    </p:set>
                                    <p:animEffect transition="in" filter="fade">
                                      <p:cBhvr>
                                        <p:cTn id="12" dur="1000"/>
                                        <p:tgtEl>
                                          <p:spTgt spid="1144"/>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146"/>
                                        </p:tgtEl>
                                        <p:attrNameLst>
                                          <p:attrName>style.visibility</p:attrName>
                                        </p:attrNameLst>
                                      </p:cBhvr>
                                      <p:to>
                                        <p:strVal val="visible"/>
                                      </p:to>
                                    </p:set>
                                    <p:animEffect transition="in" filter="fade">
                                      <p:cBhvr>
                                        <p:cTn id="16" dur="1000"/>
                                        <p:tgtEl>
                                          <p:spTgt spid="1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1152" name="Google Shape;1152;p9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Searching a BST</a:t>
            </a:r>
            <a:endParaRPr/>
          </a:p>
        </p:txBody>
      </p:sp>
      <p:sp>
        <p:nvSpPr>
          <p:cNvPr id="1153" name="Google Shape;1153;p98"/>
          <p:cNvSpPr txBox="1"/>
          <p:nvPr/>
        </p:nvSpPr>
        <p:spPr>
          <a:xfrm>
            <a:off x="243825" y="1534450"/>
            <a:ext cx="2924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the target value is </a:t>
            </a:r>
            <a:r>
              <a:rPr lang="en" sz="1200" b="1" i="1">
                <a:solidFill>
                  <a:srgbClr val="FF0000"/>
                </a:solidFill>
              </a:rPr>
              <a:t>less than</a:t>
            </a:r>
            <a:r>
              <a:rPr lang="en" sz="1200"/>
              <a:t> the root, the </a:t>
            </a:r>
            <a:r>
              <a:rPr lang="en" sz="1200" b="1" i="1">
                <a:solidFill>
                  <a:srgbClr val="FF0000"/>
                </a:solidFill>
              </a:rPr>
              <a:t>left subtree</a:t>
            </a:r>
            <a:r>
              <a:rPr lang="en" sz="1200"/>
              <a:t> is searched.</a:t>
            </a:r>
            <a:endParaRPr sz="1200"/>
          </a:p>
        </p:txBody>
      </p:sp>
      <p:sp>
        <p:nvSpPr>
          <p:cNvPr id="1154" name="Google Shape;1154;p98"/>
          <p:cNvSpPr txBox="1"/>
          <p:nvPr/>
        </p:nvSpPr>
        <p:spPr>
          <a:xfrm>
            <a:off x="3359175" y="1439425"/>
            <a:ext cx="10395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i="1">
                <a:solidFill>
                  <a:srgbClr val="FF0000"/>
                </a:solidFill>
                <a:latin typeface="Roboto"/>
                <a:ea typeface="Roboto"/>
                <a:cs typeface="Roboto"/>
                <a:sym typeface="Roboto"/>
              </a:rPr>
              <a:t>target = 12</a:t>
            </a:r>
            <a:endParaRPr sz="1300" b="1" i="1">
              <a:solidFill>
                <a:srgbClr val="FF0000"/>
              </a:solidFill>
              <a:latin typeface="Roboto"/>
              <a:ea typeface="Roboto"/>
              <a:cs typeface="Roboto"/>
              <a:sym typeface="Roboto"/>
            </a:endParaRPr>
          </a:p>
        </p:txBody>
      </p:sp>
      <p:grpSp>
        <p:nvGrpSpPr>
          <p:cNvPr id="1155" name="Google Shape;1155;p98"/>
          <p:cNvGrpSpPr/>
          <p:nvPr/>
        </p:nvGrpSpPr>
        <p:grpSpPr>
          <a:xfrm>
            <a:off x="4474138" y="2176875"/>
            <a:ext cx="3998318" cy="2648753"/>
            <a:chOff x="158350" y="2014475"/>
            <a:chExt cx="3998318" cy="2648753"/>
          </a:xfrm>
        </p:grpSpPr>
        <p:sp>
          <p:nvSpPr>
            <p:cNvPr id="1156" name="Google Shape;1156;p98"/>
            <p:cNvSpPr/>
            <p:nvPr/>
          </p:nvSpPr>
          <p:spPr>
            <a:xfrm>
              <a:off x="2625911" y="2014475"/>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25</a:t>
              </a:r>
              <a:endParaRPr sz="700"/>
            </a:p>
          </p:txBody>
        </p:sp>
        <p:sp>
          <p:nvSpPr>
            <p:cNvPr id="1157" name="Google Shape;1157;p98"/>
            <p:cNvSpPr/>
            <p:nvPr/>
          </p:nvSpPr>
          <p:spPr>
            <a:xfrm>
              <a:off x="1243301" y="2701129"/>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15</a:t>
              </a:r>
              <a:endParaRPr sz="700"/>
            </a:p>
          </p:txBody>
        </p:sp>
        <p:sp>
          <p:nvSpPr>
            <p:cNvPr id="1158" name="Google Shape;1158;p98"/>
            <p:cNvSpPr/>
            <p:nvPr/>
          </p:nvSpPr>
          <p:spPr>
            <a:xfrm>
              <a:off x="3750468" y="26937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50</a:t>
              </a:r>
              <a:endParaRPr sz="700"/>
            </a:p>
          </p:txBody>
        </p:sp>
        <p:sp>
          <p:nvSpPr>
            <p:cNvPr id="1159" name="Google Shape;1159;p98"/>
            <p:cNvSpPr/>
            <p:nvPr/>
          </p:nvSpPr>
          <p:spPr>
            <a:xfrm>
              <a:off x="521063"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10</a:t>
              </a:r>
              <a:endParaRPr sz="700"/>
            </a:p>
          </p:txBody>
        </p:sp>
        <p:sp>
          <p:nvSpPr>
            <p:cNvPr id="1160" name="Google Shape;1160;p98"/>
            <p:cNvSpPr/>
            <p:nvPr/>
          </p:nvSpPr>
          <p:spPr>
            <a:xfrm>
              <a:off x="1947643"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22</a:t>
              </a:r>
              <a:endParaRPr sz="700"/>
            </a:p>
          </p:txBody>
        </p:sp>
        <p:sp>
          <p:nvSpPr>
            <p:cNvPr id="1161" name="Google Shape;1161;p98"/>
            <p:cNvSpPr/>
            <p:nvPr/>
          </p:nvSpPr>
          <p:spPr>
            <a:xfrm>
              <a:off x="3374224" y="3426276"/>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35</a:t>
              </a:r>
              <a:endParaRPr sz="700"/>
            </a:p>
          </p:txBody>
        </p:sp>
        <p:sp>
          <p:nvSpPr>
            <p:cNvPr id="1162" name="Google Shape;1162;p98"/>
            <p:cNvSpPr/>
            <p:nvPr/>
          </p:nvSpPr>
          <p:spPr>
            <a:xfrm>
              <a:off x="15835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a:t>
              </a:r>
              <a:endParaRPr sz="700"/>
            </a:p>
          </p:txBody>
        </p:sp>
        <p:sp>
          <p:nvSpPr>
            <p:cNvPr id="1163" name="Google Shape;1163;p98"/>
            <p:cNvSpPr/>
            <p:nvPr/>
          </p:nvSpPr>
          <p:spPr>
            <a:xfrm>
              <a:off x="87676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12</a:t>
              </a:r>
              <a:endParaRPr sz="700"/>
            </a:p>
          </p:txBody>
        </p:sp>
        <p:sp>
          <p:nvSpPr>
            <p:cNvPr id="1164" name="Google Shape;1164;p98"/>
            <p:cNvSpPr/>
            <p:nvPr/>
          </p:nvSpPr>
          <p:spPr>
            <a:xfrm>
              <a:off x="159518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18</a:t>
              </a:r>
              <a:endParaRPr sz="700"/>
            </a:p>
          </p:txBody>
        </p:sp>
        <p:sp>
          <p:nvSpPr>
            <p:cNvPr id="1165" name="Google Shape;1165;p98"/>
            <p:cNvSpPr/>
            <p:nvPr/>
          </p:nvSpPr>
          <p:spPr>
            <a:xfrm>
              <a:off x="231359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24</a:t>
              </a:r>
              <a:endParaRPr sz="700"/>
            </a:p>
          </p:txBody>
        </p:sp>
        <p:sp>
          <p:nvSpPr>
            <p:cNvPr id="1166" name="Google Shape;1166;p98"/>
            <p:cNvSpPr/>
            <p:nvPr/>
          </p:nvSpPr>
          <p:spPr>
            <a:xfrm>
              <a:off x="3032010"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31</a:t>
              </a:r>
              <a:endParaRPr sz="700"/>
            </a:p>
          </p:txBody>
        </p:sp>
        <p:sp>
          <p:nvSpPr>
            <p:cNvPr id="1167" name="Google Shape;1167;p98"/>
            <p:cNvSpPr/>
            <p:nvPr/>
          </p:nvSpPr>
          <p:spPr>
            <a:xfrm>
              <a:off x="3750425" y="4249228"/>
              <a:ext cx="406200" cy="4140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t>44</a:t>
              </a:r>
              <a:endParaRPr sz="700"/>
            </a:p>
          </p:txBody>
        </p:sp>
        <p:cxnSp>
          <p:nvCxnSpPr>
            <p:cNvPr id="1168" name="Google Shape;1168;p98"/>
            <p:cNvCxnSpPr>
              <a:stCxn id="1156" idx="3"/>
              <a:endCxn id="1157" idx="0"/>
            </p:cNvCxnSpPr>
            <p:nvPr/>
          </p:nvCxnSpPr>
          <p:spPr>
            <a:xfrm flipH="1">
              <a:off x="1446398" y="2367846"/>
              <a:ext cx="1239000" cy="333300"/>
            </a:xfrm>
            <a:prstGeom prst="straightConnector1">
              <a:avLst/>
            </a:prstGeom>
            <a:noFill/>
            <a:ln w="9525" cap="flat" cmpd="sng">
              <a:solidFill>
                <a:srgbClr val="000000"/>
              </a:solidFill>
              <a:prstDash val="solid"/>
              <a:round/>
              <a:headEnd type="none" w="med" len="med"/>
              <a:tailEnd type="triangle" w="med" len="med"/>
            </a:ln>
          </p:spPr>
        </p:cxnSp>
        <p:cxnSp>
          <p:nvCxnSpPr>
            <p:cNvPr id="1169" name="Google Shape;1169;p98"/>
            <p:cNvCxnSpPr>
              <a:stCxn id="1157" idx="3"/>
              <a:endCxn id="1159" idx="0"/>
            </p:cNvCxnSpPr>
            <p:nvPr/>
          </p:nvCxnSpPr>
          <p:spPr>
            <a:xfrm flipH="1">
              <a:off x="724087" y="3054500"/>
              <a:ext cx="578700" cy="371700"/>
            </a:xfrm>
            <a:prstGeom prst="straightConnector1">
              <a:avLst/>
            </a:prstGeom>
            <a:noFill/>
            <a:ln w="9525" cap="flat" cmpd="sng">
              <a:solidFill>
                <a:srgbClr val="000000"/>
              </a:solidFill>
              <a:prstDash val="solid"/>
              <a:round/>
              <a:headEnd type="none" w="med" len="med"/>
              <a:tailEnd type="triangle" w="med" len="med"/>
            </a:ln>
          </p:spPr>
        </p:cxnSp>
        <p:cxnSp>
          <p:nvCxnSpPr>
            <p:cNvPr id="1170" name="Google Shape;1170;p98"/>
            <p:cNvCxnSpPr>
              <a:stCxn id="1157" idx="5"/>
              <a:endCxn id="1160" idx="0"/>
            </p:cNvCxnSpPr>
            <p:nvPr/>
          </p:nvCxnSpPr>
          <p:spPr>
            <a:xfrm>
              <a:off x="1590014" y="3054500"/>
              <a:ext cx="560700" cy="371700"/>
            </a:xfrm>
            <a:prstGeom prst="straightConnector1">
              <a:avLst/>
            </a:prstGeom>
            <a:noFill/>
            <a:ln w="9525" cap="flat" cmpd="sng">
              <a:solidFill>
                <a:srgbClr val="000000"/>
              </a:solidFill>
              <a:prstDash val="solid"/>
              <a:round/>
              <a:headEnd type="none" w="med" len="med"/>
              <a:tailEnd type="triangle" w="med" len="med"/>
            </a:ln>
          </p:spPr>
        </p:cxnSp>
        <p:cxnSp>
          <p:nvCxnSpPr>
            <p:cNvPr id="1171" name="Google Shape;1171;p98"/>
            <p:cNvCxnSpPr>
              <a:stCxn id="1159" idx="3"/>
              <a:endCxn id="1162" idx="0"/>
            </p:cNvCxnSpPr>
            <p:nvPr/>
          </p:nvCxnSpPr>
          <p:spPr>
            <a:xfrm flipH="1">
              <a:off x="361550" y="3779647"/>
              <a:ext cx="219000" cy="469500"/>
            </a:xfrm>
            <a:prstGeom prst="straightConnector1">
              <a:avLst/>
            </a:prstGeom>
            <a:noFill/>
            <a:ln w="9525" cap="flat" cmpd="sng">
              <a:solidFill>
                <a:srgbClr val="000000"/>
              </a:solidFill>
              <a:prstDash val="solid"/>
              <a:round/>
              <a:headEnd type="none" w="med" len="med"/>
              <a:tailEnd type="triangle" w="med" len="med"/>
            </a:ln>
          </p:spPr>
        </p:cxnSp>
        <p:cxnSp>
          <p:nvCxnSpPr>
            <p:cNvPr id="1172" name="Google Shape;1172;p98"/>
            <p:cNvCxnSpPr>
              <a:stCxn id="1159" idx="5"/>
              <a:endCxn id="1163" idx="0"/>
            </p:cNvCxnSpPr>
            <p:nvPr/>
          </p:nvCxnSpPr>
          <p:spPr>
            <a:xfrm>
              <a:off x="867777" y="3779647"/>
              <a:ext cx="212100" cy="469500"/>
            </a:xfrm>
            <a:prstGeom prst="straightConnector1">
              <a:avLst/>
            </a:prstGeom>
            <a:noFill/>
            <a:ln w="9525" cap="flat" cmpd="sng">
              <a:solidFill>
                <a:srgbClr val="000000"/>
              </a:solidFill>
              <a:prstDash val="solid"/>
              <a:round/>
              <a:headEnd type="none" w="med" len="med"/>
              <a:tailEnd type="triangle" w="med" len="med"/>
            </a:ln>
          </p:spPr>
        </p:cxnSp>
        <p:cxnSp>
          <p:nvCxnSpPr>
            <p:cNvPr id="1173" name="Google Shape;1173;p98"/>
            <p:cNvCxnSpPr>
              <a:stCxn id="1160" idx="3"/>
              <a:endCxn id="1164" idx="0"/>
            </p:cNvCxnSpPr>
            <p:nvPr/>
          </p:nvCxnSpPr>
          <p:spPr>
            <a:xfrm flipH="1">
              <a:off x="1798330" y="3779647"/>
              <a:ext cx="208800" cy="469500"/>
            </a:xfrm>
            <a:prstGeom prst="straightConnector1">
              <a:avLst/>
            </a:prstGeom>
            <a:noFill/>
            <a:ln w="9525" cap="flat" cmpd="sng">
              <a:solidFill>
                <a:srgbClr val="000000"/>
              </a:solidFill>
              <a:prstDash val="solid"/>
              <a:round/>
              <a:headEnd type="none" w="med" len="med"/>
              <a:tailEnd type="triangle" w="med" len="med"/>
            </a:ln>
          </p:spPr>
        </p:cxnSp>
        <p:cxnSp>
          <p:nvCxnSpPr>
            <p:cNvPr id="1174" name="Google Shape;1174;p98"/>
            <p:cNvCxnSpPr>
              <a:stCxn id="1160" idx="5"/>
              <a:endCxn id="1165" idx="0"/>
            </p:cNvCxnSpPr>
            <p:nvPr/>
          </p:nvCxnSpPr>
          <p:spPr>
            <a:xfrm>
              <a:off x="2294357" y="3779647"/>
              <a:ext cx="222300" cy="469500"/>
            </a:xfrm>
            <a:prstGeom prst="straightConnector1">
              <a:avLst/>
            </a:prstGeom>
            <a:noFill/>
            <a:ln w="9525" cap="flat" cmpd="sng">
              <a:solidFill>
                <a:srgbClr val="000000"/>
              </a:solidFill>
              <a:prstDash val="solid"/>
              <a:round/>
              <a:headEnd type="none" w="med" len="med"/>
              <a:tailEnd type="triangle" w="med" len="med"/>
            </a:ln>
          </p:spPr>
        </p:cxnSp>
        <p:cxnSp>
          <p:nvCxnSpPr>
            <p:cNvPr id="1175" name="Google Shape;1175;p98"/>
            <p:cNvCxnSpPr>
              <a:stCxn id="1156" idx="5"/>
              <a:endCxn id="1158" idx="0"/>
            </p:cNvCxnSpPr>
            <p:nvPr/>
          </p:nvCxnSpPr>
          <p:spPr>
            <a:xfrm>
              <a:off x="2972625" y="2367846"/>
              <a:ext cx="981000" cy="325800"/>
            </a:xfrm>
            <a:prstGeom prst="straightConnector1">
              <a:avLst/>
            </a:prstGeom>
            <a:noFill/>
            <a:ln w="9525" cap="flat" cmpd="sng">
              <a:solidFill>
                <a:srgbClr val="000000"/>
              </a:solidFill>
              <a:prstDash val="solid"/>
              <a:round/>
              <a:headEnd type="none" w="med" len="med"/>
              <a:tailEnd type="triangle" w="med" len="med"/>
            </a:ln>
          </p:spPr>
        </p:cxnSp>
        <p:cxnSp>
          <p:nvCxnSpPr>
            <p:cNvPr id="1176" name="Google Shape;1176;p98"/>
            <p:cNvCxnSpPr>
              <a:stCxn id="1158" idx="3"/>
              <a:endCxn id="1161" idx="0"/>
            </p:cNvCxnSpPr>
            <p:nvPr/>
          </p:nvCxnSpPr>
          <p:spPr>
            <a:xfrm flipH="1">
              <a:off x="3577455" y="3047099"/>
              <a:ext cx="232500" cy="379200"/>
            </a:xfrm>
            <a:prstGeom prst="straightConnector1">
              <a:avLst/>
            </a:prstGeom>
            <a:noFill/>
            <a:ln w="9525" cap="flat" cmpd="sng">
              <a:solidFill>
                <a:srgbClr val="000000"/>
              </a:solidFill>
              <a:prstDash val="solid"/>
              <a:round/>
              <a:headEnd type="none" w="med" len="med"/>
              <a:tailEnd type="triangle" w="med" len="med"/>
            </a:ln>
          </p:spPr>
        </p:cxnSp>
        <p:cxnSp>
          <p:nvCxnSpPr>
            <p:cNvPr id="1177" name="Google Shape;1177;p98"/>
            <p:cNvCxnSpPr>
              <a:stCxn id="1161" idx="3"/>
              <a:endCxn id="1166" idx="0"/>
            </p:cNvCxnSpPr>
            <p:nvPr/>
          </p:nvCxnSpPr>
          <p:spPr>
            <a:xfrm flipH="1">
              <a:off x="3235110" y="3779647"/>
              <a:ext cx="198600" cy="469500"/>
            </a:xfrm>
            <a:prstGeom prst="straightConnector1">
              <a:avLst/>
            </a:prstGeom>
            <a:noFill/>
            <a:ln w="9525" cap="flat" cmpd="sng">
              <a:solidFill>
                <a:srgbClr val="000000"/>
              </a:solidFill>
              <a:prstDash val="solid"/>
              <a:round/>
              <a:headEnd type="none" w="med" len="med"/>
              <a:tailEnd type="triangle" w="med" len="med"/>
            </a:ln>
          </p:spPr>
        </p:cxnSp>
        <p:cxnSp>
          <p:nvCxnSpPr>
            <p:cNvPr id="1178" name="Google Shape;1178;p98"/>
            <p:cNvCxnSpPr>
              <a:stCxn id="1161" idx="5"/>
              <a:endCxn id="1167" idx="0"/>
            </p:cNvCxnSpPr>
            <p:nvPr/>
          </p:nvCxnSpPr>
          <p:spPr>
            <a:xfrm>
              <a:off x="3720937" y="3779647"/>
              <a:ext cx="232500" cy="469500"/>
            </a:xfrm>
            <a:prstGeom prst="straightConnector1">
              <a:avLst/>
            </a:prstGeom>
            <a:noFill/>
            <a:ln w="9525" cap="flat" cmpd="sng">
              <a:solidFill>
                <a:srgbClr val="000000"/>
              </a:solidFill>
              <a:prstDash val="solid"/>
              <a:round/>
              <a:headEnd type="none" w="med" len="med"/>
              <a:tailEnd type="triangle" w="med" len="med"/>
            </a:ln>
          </p:spPr>
        </p:cxnSp>
      </p:grpSp>
      <p:sp>
        <p:nvSpPr>
          <p:cNvPr id="1179" name="Google Shape;1179;p98"/>
          <p:cNvSpPr/>
          <p:nvPr/>
        </p:nvSpPr>
        <p:spPr>
          <a:xfrm>
            <a:off x="5996875" y="1319400"/>
            <a:ext cx="1590300" cy="654300"/>
          </a:xfrm>
          <a:prstGeom prst="wedgeRectCallout">
            <a:avLst>
              <a:gd name="adj1" fmla="val 21710"/>
              <a:gd name="adj2" fmla="val 74412"/>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12 is less than 25, so search my left subtree!</a:t>
            </a:r>
            <a:endParaRPr sz="1200">
              <a:latin typeface="Roboto"/>
              <a:ea typeface="Roboto"/>
              <a:cs typeface="Roboto"/>
              <a:sym typeface="Roboto"/>
            </a:endParaRPr>
          </a:p>
        </p:txBody>
      </p:sp>
      <p:sp>
        <p:nvSpPr>
          <p:cNvPr id="1180" name="Google Shape;1180;p98"/>
          <p:cNvSpPr txBox="1"/>
          <p:nvPr/>
        </p:nvSpPr>
        <p:spPr>
          <a:xfrm>
            <a:off x="243825" y="2206675"/>
            <a:ext cx="2924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This continues </a:t>
            </a:r>
            <a:r>
              <a:rPr lang="en" sz="1200" b="1" i="1">
                <a:solidFill>
                  <a:srgbClr val="FF0000"/>
                </a:solidFill>
              </a:rPr>
              <a:t>recursively</a:t>
            </a:r>
            <a:r>
              <a:rPr lang="en" sz="1200">
                <a:solidFill>
                  <a:srgbClr val="FF0000"/>
                </a:solidFill>
              </a:rPr>
              <a:t> </a:t>
            </a:r>
            <a:r>
              <a:rPr lang="en" sz="1200"/>
              <a:t>until the target is found.</a:t>
            </a:r>
            <a:endParaRPr sz="1200"/>
          </a:p>
        </p:txBody>
      </p:sp>
      <p:sp>
        <p:nvSpPr>
          <p:cNvPr id="1181" name="Google Shape;1181;p98"/>
          <p:cNvSpPr/>
          <p:nvPr/>
        </p:nvSpPr>
        <p:spPr>
          <a:xfrm>
            <a:off x="4572000" y="2014850"/>
            <a:ext cx="1590300" cy="654300"/>
          </a:xfrm>
          <a:prstGeom prst="wedgeRectCallout">
            <a:avLst>
              <a:gd name="adj1" fmla="val 21710"/>
              <a:gd name="adj2" fmla="val 74412"/>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12 is less than 15, so search </a:t>
            </a:r>
            <a:r>
              <a:rPr lang="en" sz="1200" b="1" i="1">
                <a:solidFill>
                  <a:srgbClr val="FF0000"/>
                </a:solidFill>
                <a:latin typeface="Roboto"/>
                <a:ea typeface="Roboto"/>
                <a:cs typeface="Roboto"/>
                <a:sym typeface="Roboto"/>
              </a:rPr>
              <a:t>my</a:t>
            </a:r>
            <a:r>
              <a:rPr lang="en" sz="1200">
                <a:latin typeface="Roboto"/>
                <a:ea typeface="Roboto"/>
                <a:cs typeface="Roboto"/>
                <a:sym typeface="Roboto"/>
              </a:rPr>
              <a:t> left subtree.</a:t>
            </a:r>
            <a:endParaRPr sz="1200">
              <a:latin typeface="Roboto"/>
              <a:ea typeface="Roboto"/>
              <a:cs typeface="Roboto"/>
              <a:sym typeface="Roboto"/>
            </a:endParaRPr>
          </a:p>
        </p:txBody>
      </p:sp>
      <p:sp>
        <p:nvSpPr>
          <p:cNvPr id="1182" name="Google Shape;1182;p98"/>
          <p:cNvSpPr txBox="1"/>
          <p:nvPr/>
        </p:nvSpPr>
        <p:spPr>
          <a:xfrm>
            <a:off x="243825" y="2878900"/>
            <a:ext cx="2924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at any point, the target is </a:t>
            </a:r>
            <a:r>
              <a:rPr lang="en" sz="1200" b="1" i="1">
                <a:solidFill>
                  <a:srgbClr val="FF0000"/>
                </a:solidFill>
              </a:rPr>
              <a:t>greater than</a:t>
            </a:r>
            <a:r>
              <a:rPr lang="en" sz="1200"/>
              <a:t> the node's value, the </a:t>
            </a:r>
            <a:r>
              <a:rPr lang="en" sz="1200" b="1" i="1">
                <a:solidFill>
                  <a:srgbClr val="FF0000"/>
                </a:solidFill>
              </a:rPr>
              <a:t>right subtree</a:t>
            </a:r>
            <a:r>
              <a:rPr lang="en" sz="1200"/>
              <a:t> is searched.</a:t>
            </a:r>
            <a:endParaRPr sz="1200"/>
          </a:p>
        </p:txBody>
      </p:sp>
      <p:sp>
        <p:nvSpPr>
          <p:cNvPr id="1183" name="Google Shape;1183;p98"/>
          <p:cNvSpPr/>
          <p:nvPr/>
        </p:nvSpPr>
        <p:spPr>
          <a:xfrm>
            <a:off x="3475375" y="2756850"/>
            <a:ext cx="1590300" cy="654300"/>
          </a:xfrm>
          <a:prstGeom prst="wedgeRectCallout">
            <a:avLst>
              <a:gd name="adj1" fmla="val 39771"/>
              <a:gd name="adj2" fmla="val 7644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12 is greater than 10, so search my </a:t>
            </a:r>
            <a:r>
              <a:rPr lang="en" sz="1200" b="1" i="1">
                <a:solidFill>
                  <a:srgbClr val="FF0000"/>
                </a:solidFill>
                <a:latin typeface="Roboto"/>
                <a:ea typeface="Roboto"/>
                <a:cs typeface="Roboto"/>
                <a:sym typeface="Roboto"/>
              </a:rPr>
              <a:t>right</a:t>
            </a:r>
            <a:r>
              <a:rPr lang="en" sz="1200">
                <a:latin typeface="Roboto"/>
                <a:ea typeface="Roboto"/>
                <a:cs typeface="Roboto"/>
                <a:sym typeface="Roboto"/>
              </a:rPr>
              <a:t> subtree.</a:t>
            </a:r>
            <a:endParaRPr sz="1200">
              <a:latin typeface="Roboto"/>
              <a:ea typeface="Roboto"/>
              <a:cs typeface="Roboto"/>
              <a:sym typeface="Roboto"/>
            </a:endParaRPr>
          </a:p>
        </p:txBody>
      </p:sp>
      <p:sp>
        <p:nvSpPr>
          <p:cNvPr id="1184" name="Google Shape;1184;p98"/>
          <p:cNvSpPr txBox="1"/>
          <p:nvPr/>
        </p:nvSpPr>
        <p:spPr>
          <a:xfrm>
            <a:off x="243825" y="3735925"/>
            <a:ext cx="2924700" cy="369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This continues until the target is found.</a:t>
            </a:r>
            <a:endParaRPr sz="1200"/>
          </a:p>
        </p:txBody>
      </p:sp>
      <p:sp>
        <p:nvSpPr>
          <p:cNvPr id="1185" name="Google Shape;1185;p98"/>
          <p:cNvSpPr/>
          <p:nvPr/>
        </p:nvSpPr>
        <p:spPr>
          <a:xfrm>
            <a:off x="5321925" y="3735925"/>
            <a:ext cx="873600" cy="369300"/>
          </a:xfrm>
          <a:prstGeom prst="wedgeRectCallout">
            <a:avLst>
              <a:gd name="adj1" fmla="val -31350"/>
              <a:gd name="adj2" fmla="val 116877"/>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Found it!</a:t>
            </a:r>
            <a:endParaRPr sz="1200">
              <a:latin typeface="Roboto"/>
              <a:ea typeface="Roboto"/>
              <a:cs typeface="Roboto"/>
              <a:sym typeface="Roboto"/>
            </a:endParaRPr>
          </a:p>
        </p:txBody>
      </p:sp>
      <p:sp>
        <p:nvSpPr>
          <p:cNvPr id="1186" name="Google Shape;1186;p98"/>
          <p:cNvSpPr txBox="1"/>
          <p:nvPr/>
        </p:nvSpPr>
        <p:spPr>
          <a:xfrm>
            <a:off x="243825" y="4260700"/>
            <a:ext cx="2924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If the corresponding subtree is </a:t>
            </a:r>
            <a:r>
              <a:rPr lang="en" sz="1200" b="1" i="1">
                <a:solidFill>
                  <a:srgbClr val="FF0000"/>
                </a:solidFill>
              </a:rPr>
              <a:t>empty </a:t>
            </a:r>
            <a:r>
              <a:rPr lang="en" sz="1200"/>
              <a:t>(i.e. </a:t>
            </a:r>
            <a:r>
              <a:rPr lang="en" sz="1200">
                <a:latin typeface="Courier New"/>
                <a:ea typeface="Courier New"/>
                <a:cs typeface="Courier New"/>
                <a:sym typeface="Courier New"/>
              </a:rPr>
              <a:t>null</a:t>
            </a:r>
            <a:r>
              <a:rPr lang="en" sz="1200"/>
              <a:t>), the target is not found.</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3"/>
                                        </p:tgtEl>
                                        <p:attrNameLst>
                                          <p:attrName>style.visibility</p:attrName>
                                        </p:attrNameLst>
                                      </p:cBhvr>
                                      <p:to>
                                        <p:strVal val="visible"/>
                                      </p:to>
                                    </p:set>
                                    <p:animEffect transition="in" filter="fade">
                                      <p:cBhvr>
                                        <p:cTn id="7" dur="1000"/>
                                        <p:tgtEl>
                                          <p:spTgt spid="115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179"/>
                                        </p:tgtEl>
                                        <p:attrNameLst>
                                          <p:attrName>style.visibility</p:attrName>
                                        </p:attrNameLst>
                                      </p:cBhvr>
                                      <p:to>
                                        <p:strVal val="visible"/>
                                      </p:to>
                                    </p:set>
                                    <p:animEffect transition="in" filter="fade">
                                      <p:cBhvr>
                                        <p:cTn id="11" dur="1000"/>
                                        <p:tgtEl>
                                          <p:spTgt spid="117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80"/>
                                        </p:tgtEl>
                                        <p:attrNameLst>
                                          <p:attrName>style.visibility</p:attrName>
                                        </p:attrNameLst>
                                      </p:cBhvr>
                                      <p:to>
                                        <p:strVal val="visible"/>
                                      </p:to>
                                    </p:set>
                                    <p:animEffect transition="in" filter="fade">
                                      <p:cBhvr>
                                        <p:cTn id="16" dur="1000"/>
                                        <p:tgtEl>
                                          <p:spTgt spid="118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181"/>
                                        </p:tgtEl>
                                        <p:attrNameLst>
                                          <p:attrName>style.visibility</p:attrName>
                                        </p:attrNameLst>
                                      </p:cBhvr>
                                      <p:to>
                                        <p:strVal val="visible"/>
                                      </p:to>
                                    </p:set>
                                    <p:animEffect transition="in" filter="fade">
                                      <p:cBhvr>
                                        <p:cTn id="20" dur="1000"/>
                                        <p:tgtEl>
                                          <p:spTgt spid="118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82"/>
                                        </p:tgtEl>
                                        <p:attrNameLst>
                                          <p:attrName>style.visibility</p:attrName>
                                        </p:attrNameLst>
                                      </p:cBhvr>
                                      <p:to>
                                        <p:strVal val="visible"/>
                                      </p:to>
                                    </p:set>
                                    <p:animEffect transition="in" filter="fade">
                                      <p:cBhvr>
                                        <p:cTn id="25" dur="1000"/>
                                        <p:tgtEl>
                                          <p:spTgt spid="1182"/>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1183"/>
                                        </p:tgtEl>
                                        <p:attrNameLst>
                                          <p:attrName>style.visibility</p:attrName>
                                        </p:attrNameLst>
                                      </p:cBhvr>
                                      <p:to>
                                        <p:strVal val="visible"/>
                                      </p:to>
                                    </p:set>
                                    <p:animEffect transition="in" filter="fade">
                                      <p:cBhvr>
                                        <p:cTn id="29" dur="1000"/>
                                        <p:tgtEl>
                                          <p:spTgt spid="118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184"/>
                                        </p:tgtEl>
                                        <p:attrNameLst>
                                          <p:attrName>style.visibility</p:attrName>
                                        </p:attrNameLst>
                                      </p:cBhvr>
                                      <p:to>
                                        <p:strVal val="visible"/>
                                      </p:to>
                                    </p:set>
                                    <p:animEffect transition="in" filter="fade">
                                      <p:cBhvr>
                                        <p:cTn id="34" dur="1000"/>
                                        <p:tgtEl>
                                          <p:spTgt spid="1184"/>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185"/>
                                        </p:tgtEl>
                                        <p:attrNameLst>
                                          <p:attrName>style.visibility</p:attrName>
                                        </p:attrNameLst>
                                      </p:cBhvr>
                                      <p:to>
                                        <p:strVal val="visible"/>
                                      </p:to>
                                    </p:set>
                                    <p:animEffect transition="in" filter="fade">
                                      <p:cBhvr>
                                        <p:cTn id="38" dur="1000"/>
                                        <p:tgtEl>
                                          <p:spTgt spid="118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186"/>
                                        </p:tgtEl>
                                        <p:attrNameLst>
                                          <p:attrName>style.visibility</p:attrName>
                                        </p:attrNameLst>
                                      </p:cBhvr>
                                      <p:to>
                                        <p:strVal val="visible"/>
                                      </p:to>
                                    </p:set>
                                    <p:animEffect transition="in" filter="fade">
                                      <p:cBhvr>
                                        <p:cTn id="43" dur="1000"/>
                                        <p:tgtEl>
                                          <p:spTgt spid="1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1" name="Google Shape;1191;p99"/>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Values in a Binary Search Tree (BST) are organized such that the left subtree only contains values that are less than a node's value, and the right subtree only contains values that are greater than the node's value. Because of this, a search of the BST is able to make a decision about which subtree to search (just like </a:t>
            </a:r>
            <a:r>
              <a:rPr lang="en" i="1"/>
              <a:t>Binary Search</a:t>
            </a:r>
            <a:r>
              <a:rPr lang="en"/>
              <a:t>). Let's implement a binary search now!</a:t>
            </a:r>
            <a:endParaRPr/>
          </a:p>
        </p:txBody>
      </p:sp>
      <p:sp>
        <p:nvSpPr>
          <p:cNvPr id="1192" name="Google Shape;1192;p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
        <p:nvSpPr>
          <p:cNvPr id="1193" name="Google Shape;1193;p99"/>
          <p:cNvSpPr txBox="1">
            <a:spLocks noGrp="1"/>
          </p:cNvSpPr>
          <p:nvPr>
            <p:ph type="body" idx="2"/>
          </p:nvPr>
        </p:nvSpPr>
        <p:spPr>
          <a:xfrm>
            <a:off x="3165300" y="2013125"/>
            <a:ext cx="5775900" cy="28470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Begin by creating a private helper function named </a:t>
            </a:r>
            <a:r>
              <a:rPr lang="en" dirty="0">
                <a:latin typeface="Courier New"/>
                <a:ea typeface="Courier New"/>
                <a:cs typeface="Courier New"/>
                <a:sym typeface="Courier New"/>
              </a:rPr>
              <a:t>binarySearch</a:t>
            </a:r>
            <a:r>
              <a:rPr lang="en" dirty="0"/>
              <a:t> that declares parameters for a </a:t>
            </a:r>
            <a:r>
              <a:rPr lang="en" dirty="0">
                <a:latin typeface="Courier New"/>
                <a:ea typeface="Courier New"/>
                <a:cs typeface="Courier New"/>
                <a:sym typeface="Courier New"/>
              </a:rPr>
              <a:t>BinaryNode</a:t>
            </a:r>
            <a:r>
              <a:rPr lang="en" dirty="0"/>
              <a:t> </a:t>
            </a:r>
            <a:r>
              <a:rPr lang="en" dirty="0">
                <a:latin typeface="Courier New"/>
                <a:ea typeface="Courier New"/>
                <a:cs typeface="Courier New"/>
                <a:sym typeface="Courier New"/>
              </a:rPr>
              <a:t>node</a:t>
            </a:r>
            <a:r>
              <a:rPr lang="en" dirty="0"/>
              <a:t> and an </a:t>
            </a:r>
            <a:r>
              <a:rPr lang="en" dirty="0">
                <a:latin typeface="Courier New"/>
                <a:ea typeface="Courier New"/>
                <a:cs typeface="Courier New"/>
                <a:sym typeface="Courier New"/>
              </a:rPr>
              <a:t>int</a:t>
            </a:r>
            <a:r>
              <a:rPr lang="en" dirty="0"/>
              <a:t> </a:t>
            </a:r>
            <a:r>
              <a:rPr lang="en" dirty="0">
                <a:latin typeface="Courier New"/>
                <a:ea typeface="Courier New"/>
                <a:cs typeface="Courier New"/>
                <a:sym typeface="Courier New"/>
              </a:rPr>
              <a:t>target</a:t>
            </a:r>
            <a:r>
              <a:rPr lang="en" dirty="0"/>
              <a:t>.</a:t>
            </a:r>
            <a:endParaRPr dirty="0"/>
          </a:p>
          <a:p>
            <a:pPr marL="914400" lvl="1"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target</a:t>
            </a:r>
            <a:r>
              <a:rPr lang="en" dirty="0"/>
              <a:t> is equal to the </a:t>
            </a:r>
            <a:r>
              <a:rPr lang="en" dirty="0">
                <a:latin typeface="Courier New"/>
                <a:ea typeface="Courier New"/>
                <a:cs typeface="Courier New"/>
                <a:sym typeface="Courier New"/>
              </a:rPr>
              <a:t>node</a:t>
            </a:r>
            <a:r>
              <a:rPr lang="en" dirty="0"/>
              <a:t>'s value, return </a:t>
            </a:r>
            <a:r>
              <a:rPr lang="en" dirty="0">
                <a:latin typeface="Courier New"/>
                <a:ea typeface="Courier New"/>
                <a:cs typeface="Courier New"/>
                <a:sym typeface="Courier New"/>
              </a:rPr>
              <a:t>true</a:t>
            </a:r>
            <a:r>
              <a:rPr lang="en" dirty="0"/>
              <a:t>.</a:t>
            </a:r>
            <a:endParaRPr dirty="0"/>
          </a:p>
          <a:p>
            <a:pPr marL="914400" lvl="1" indent="-298450" algn="l" rtl="0">
              <a:spcBef>
                <a:spcPts val="0"/>
              </a:spcBef>
              <a:spcAft>
                <a:spcPts val="0"/>
              </a:spcAft>
              <a:buSzPts val="1100"/>
              <a:buChar char="○"/>
            </a:pPr>
            <a:r>
              <a:rPr lang="en" dirty="0"/>
              <a:t>If it is less than the </a:t>
            </a:r>
            <a:r>
              <a:rPr lang="en" dirty="0">
                <a:latin typeface="Courier New"/>
                <a:ea typeface="Courier New"/>
                <a:cs typeface="Courier New"/>
                <a:sym typeface="Courier New"/>
              </a:rPr>
              <a:t>node</a:t>
            </a:r>
            <a:r>
              <a:rPr lang="en" dirty="0"/>
              <a:t>'s value, recursively search the left subtree.</a:t>
            </a:r>
            <a:endParaRPr dirty="0"/>
          </a:p>
          <a:p>
            <a:pPr marL="914400" lvl="1" indent="-298450" algn="l" rtl="0">
              <a:spcBef>
                <a:spcPts val="0"/>
              </a:spcBef>
              <a:spcAft>
                <a:spcPts val="0"/>
              </a:spcAft>
              <a:buSzPts val="1100"/>
              <a:buChar char="○"/>
            </a:pPr>
            <a:r>
              <a:rPr lang="en" dirty="0"/>
              <a:t>Otherwise, recursively search the right subtree.</a:t>
            </a:r>
            <a:endParaRPr dirty="0"/>
          </a:p>
          <a:p>
            <a:pPr marL="914400" lvl="1" indent="-298450" algn="l" rtl="0">
              <a:spcBef>
                <a:spcPts val="0"/>
              </a:spcBef>
              <a:spcAft>
                <a:spcPts val="0"/>
              </a:spcAft>
              <a:buSzPts val="1100"/>
              <a:buChar char="○"/>
            </a:pPr>
            <a:r>
              <a:rPr lang="en" dirty="0"/>
              <a:t>If you find an empty subtree, return </a:t>
            </a:r>
            <a:r>
              <a:rPr lang="en" dirty="0">
                <a:latin typeface="Courier New"/>
                <a:ea typeface="Courier New"/>
                <a:cs typeface="Courier New"/>
                <a:sym typeface="Courier New"/>
              </a:rPr>
              <a:t>false</a:t>
            </a:r>
            <a:r>
              <a:rPr lang="en" dirty="0"/>
              <a:t>.</a:t>
            </a:r>
            <a:endParaRPr dirty="0"/>
          </a:p>
          <a:p>
            <a:pPr marL="457200" lvl="0" indent="-311150" algn="l" rtl="0">
              <a:spcBef>
                <a:spcPts val="1000"/>
              </a:spcBef>
              <a:spcAft>
                <a:spcPts val="0"/>
              </a:spcAft>
              <a:buSzPts val="1300"/>
              <a:buChar char="●"/>
            </a:pPr>
            <a:r>
              <a:rPr lang="en" dirty="0"/>
              <a:t>Implement the </a:t>
            </a:r>
            <a:r>
              <a:rPr lang="en" dirty="0">
                <a:latin typeface="Courier New"/>
                <a:ea typeface="Courier New"/>
                <a:cs typeface="Courier New"/>
                <a:sym typeface="Courier New"/>
              </a:rPr>
              <a:t>search</a:t>
            </a:r>
            <a:r>
              <a:rPr lang="en" dirty="0"/>
              <a:t> method by calling the </a:t>
            </a:r>
            <a:r>
              <a:rPr lang="en" dirty="0">
                <a:latin typeface="Courier New"/>
                <a:ea typeface="Courier New"/>
                <a:cs typeface="Courier New"/>
                <a:sym typeface="Courier New"/>
              </a:rPr>
              <a:t>binarySearch</a:t>
            </a:r>
            <a:r>
              <a:rPr lang="en" dirty="0"/>
              <a:t> method with the </a:t>
            </a:r>
            <a:r>
              <a:rPr lang="en" dirty="0">
                <a:latin typeface="Courier New"/>
                <a:ea typeface="Courier New"/>
                <a:cs typeface="Courier New"/>
                <a:sym typeface="Courier New"/>
              </a:rPr>
              <a:t>root</a:t>
            </a:r>
            <a:r>
              <a:rPr lang="en" dirty="0"/>
              <a:t> and the </a:t>
            </a:r>
            <a:r>
              <a:rPr lang="en" dirty="0">
                <a:latin typeface="Courier New"/>
                <a:ea typeface="Courier New"/>
                <a:cs typeface="Courier New"/>
                <a:sym typeface="Courier New"/>
              </a:rPr>
              <a:t>target</a:t>
            </a:r>
            <a:r>
              <a:rPr lang="en" dirty="0"/>
              <a:t> and return the result.</a:t>
            </a:r>
            <a:endParaRPr dirty="0"/>
          </a:p>
          <a:p>
            <a:pPr marL="457200" lvl="0" indent="-311150" algn="l" rtl="0">
              <a:spcBef>
                <a:spcPts val="1000"/>
              </a:spcBef>
              <a:spcAft>
                <a:spcPts val="0"/>
              </a:spcAft>
              <a:buSzPts val="1300"/>
              <a:buChar char="●"/>
            </a:pPr>
            <a:r>
              <a:rPr lang="en" dirty="0"/>
              <a:t>Use the </a:t>
            </a:r>
            <a:r>
              <a:rPr lang="en" dirty="0">
                <a:latin typeface="Courier New"/>
                <a:ea typeface="Courier New"/>
                <a:cs typeface="Courier New"/>
                <a:sym typeface="Courier New"/>
              </a:rPr>
              <a:t>main</a:t>
            </a:r>
            <a:r>
              <a:rPr lang="en" dirty="0"/>
              <a:t> method to search for at least 4 values, 2 of which are not in the tree.</a:t>
            </a:r>
            <a:r>
              <a:rPr lang="en" sz="1600" dirty="0"/>
              <a:t> </a:t>
            </a:r>
            <a:endParaRPr sz="1400" dirty="0"/>
          </a:p>
        </p:txBody>
      </p:sp>
      <p:sp>
        <p:nvSpPr>
          <p:cNvPr id="1194" name="Google Shape;1194;p9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Searching a BST</a:t>
            </a:r>
            <a:endParaRPr/>
          </a:p>
        </p:txBody>
      </p:sp>
      <p:sp>
        <p:nvSpPr>
          <p:cNvPr id="1195" name="Google Shape;1195;p9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6.9</a:t>
            </a:r>
            <a:endParaRPr/>
          </a:p>
        </p:txBody>
      </p:sp>
      <p:sp>
        <p:nvSpPr>
          <p:cNvPr id="1196" name="Google Shape;1196;p99"/>
          <p:cNvSpPr txBox="1">
            <a:spLocks noGrp="1"/>
          </p:cNvSpPr>
          <p:nvPr>
            <p:ph type="body" idx="4"/>
          </p:nvPr>
        </p:nvSpPr>
        <p:spPr>
          <a:xfrm>
            <a:off x="217775" y="4090850"/>
            <a:ext cx="27120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search through a BST will be able to make decisions about which subtrees to search.</a:t>
            </a:r>
            <a:endParaRPr/>
          </a:p>
        </p:txBody>
      </p:sp>
      <p:grpSp>
        <p:nvGrpSpPr>
          <p:cNvPr id="1197" name="Google Shape;1197;p99"/>
          <p:cNvGrpSpPr/>
          <p:nvPr/>
        </p:nvGrpSpPr>
        <p:grpSpPr>
          <a:xfrm>
            <a:off x="309566" y="2123782"/>
            <a:ext cx="2620215" cy="1717412"/>
            <a:chOff x="4446813" y="1496675"/>
            <a:chExt cx="1994834" cy="1307508"/>
          </a:xfrm>
        </p:grpSpPr>
        <p:sp>
          <p:nvSpPr>
            <p:cNvPr id="1198" name="Google Shape;1198;p99"/>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a:t>
              </a:r>
              <a:endParaRPr sz="1000"/>
            </a:p>
          </p:txBody>
        </p:sp>
        <p:sp>
          <p:nvSpPr>
            <p:cNvPr id="1199" name="Google Shape;1199;p99"/>
            <p:cNvSpPr/>
            <p:nvPr/>
          </p:nvSpPr>
          <p:spPr>
            <a:xfrm>
              <a:off x="5724092"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1200" name="Google Shape;1200;p99"/>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1201" name="Google Shape;1201;p99"/>
            <p:cNvSpPr/>
            <p:nvPr/>
          </p:nvSpPr>
          <p:spPr>
            <a:xfrm>
              <a:off x="52276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cxnSp>
          <p:nvCxnSpPr>
            <p:cNvPr id="1202" name="Google Shape;1202;p99"/>
            <p:cNvCxnSpPr>
              <a:stCxn id="1201" idx="3"/>
              <a:endCxn id="1198" idx="0"/>
            </p:cNvCxnSpPr>
            <p:nvPr/>
          </p:nvCxnSpPr>
          <p:spPr>
            <a:xfrm flipH="1">
              <a:off x="4960106" y="1782189"/>
              <a:ext cx="316500" cy="187800"/>
            </a:xfrm>
            <a:prstGeom prst="straightConnector1">
              <a:avLst/>
            </a:prstGeom>
            <a:noFill/>
            <a:ln w="9525" cap="flat" cmpd="sng">
              <a:solidFill>
                <a:schemeClr val="dk1"/>
              </a:solidFill>
              <a:prstDash val="solid"/>
              <a:round/>
              <a:headEnd type="none" w="med" len="med"/>
              <a:tailEnd type="triangle" w="med" len="med"/>
            </a:ln>
          </p:spPr>
        </p:cxnSp>
        <p:cxnSp>
          <p:nvCxnSpPr>
            <p:cNvPr id="1203" name="Google Shape;1203;p99"/>
            <p:cNvCxnSpPr>
              <a:stCxn id="1201" idx="5"/>
              <a:endCxn id="1199" idx="0"/>
            </p:cNvCxnSpPr>
            <p:nvPr/>
          </p:nvCxnSpPr>
          <p:spPr>
            <a:xfrm>
              <a:off x="5513133" y="1782189"/>
              <a:ext cx="378300" cy="187800"/>
            </a:xfrm>
            <a:prstGeom prst="straightConnector1">
              <a:avLst/>
            </a:prstGeom>
            <a:noFill/>
            <a:ln w="9525" cap="flat" cmpd="sng">
              <a:solidFill>
                <a:schemeClr val="dk1"/>
              </a:solidFill>
              <a:prstDash val="solid"/>
              <a:round/>
              <a:headEnd type="none" w="med" len="med"/>
              <a:tailEnd type="triangle" w="med" len="med"/>
            </a:ln>
          </p:spPr>
        </p:cxnSp>
        <p:sp>
          <p:nvSpPr>
            <p:cNvPr id="1204" name="Google Shape;1204;p99"/>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1205" name="Google Shape;1205;p99"/>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sp>
          <p:nvSpPr>
            <p:cNvPr id="1206" name="Google Shape;1206;p99"/>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cxnSp>
          <p:nvCxnSpPr>
            <p:cNvPr id="1207" name="Google Shape;1207;p99"/>
            <p:cNvCxnSpPr>
              <a:stCxn id="1198" idx="3"/>
              <a:endCxn id="1200" idx="7"/>
            </p:cNvCxnSpPr>
            <p:nvPr/>
          </p:nvCxnSpPr>
          <p:spPr>
            <a:xfrm flipH="1">
              <a:off x="4732451" y="2255570"/>
              <a:ext cx="109500" cy="263100"/>
            </a:xfrm>
            <a:prstGeom prst="straightConnector1">
              <a:avLst/>
            </a:prstGeom>
            <a:noFill/>
            <a:ln w="9525" cap="flat" cmpd="sng">
              <a:solidFill>
                <a:schemeClr val="dk1"/>
              </a:solidFill>
              <a:prstDash val="solid"/>
              <a:round/>
              <a:headEnd type="none" w="med" len="med"/>
              <a:tailEnd type="triangle" w="med" len="med"/>
            </a:ln>
          </p:spPr>
        </p:cxnSp>
        <p:cxnSp>
          <p:nvCxnSpPr>
            <p:cNvPr id="1208" name="Google Shape;1208;p99"/>
            <p:cNvCxnSpPr>
              <a:stCxn id="1198" idx="5"/>
              <a:endCxn id="1204" idx="0"/>
            </p:cNvCxnSpPr>
            <p:nvPr/>
          </p:nvCxnSpPr>
          <p:spPr>
            <a:xfrm>
              <a:off x="5078479" y="2255570"/>
              <a:ext cx="185700" cy="214200"/>
            </a:xfrm>
            <a:prstGeom prst="straightConnector1">
              <a:avLst/>
            </a:prstGeom>
            <a:noFill/>
            <a:ln w="9525" cap="flat" cmpd="sng">
              <a:solidFill>
                <a:schemeClr val="dk1"/>
              </a:solidFill>
              <a:prstDash val="solid"/>
              <a:round/>
              <a:headEnd type="none" w="med" len="med"/>
              <a:tailEnd type="triangle" w="med" len="med"/>
            </a:ln>
          </p:spPr>
        </p:cxnSp>
        <p:cxnSp>
          <p:nvCxnSpPr>
            <p:cNvPr id="1209" name="Google Shape;1209;p99"/>
            <p:cNvCxnSpPr>
              <a:stCxn id="1199" idx="3"/>
              <a:endCxn id="1205" idx="0"/>
            </p:cNvCxnSpPr>
            <p:nvPr/>
          </p:nvCxnSpPr>
          <p:spPr>
            <a:xfrm flipH="1">
              <a:off x="5636879" y="2255570"/>
              <a:ext cx="136200" cy="214200"/>
            </a:xfrm>
            <a:prstGeom prst="straightConnector1">
              <a:avLst/>
            </a:prstGeom>
            <a:noFill/>
            <a:ln w="9525" cap="flat" cmpd="sng">
              <a:solidFill>
                <a:schemeClr val="dk1"/>
              </a:solidFill>
              <a:prstDash val="solid"/>
              <a:round/>
              <a:headEnd type="none" w="med" len="med"/>
              <a:tailEnd type="triangle" w="med" len="med"/>
            </a:ln>
          </p:spPr>
        </p:cxnSp>
        <p:cxnSp>
          <p:nvCxnSpPr>
            <p:cNvPr id="1210" name="Google Shape;1210;p99"/>
            <p:cNvCxnSpPr>
              <a:stCxn id="1199" idx="5"/>
              <a:endCxn id="1206" idx="1"/>
            </p:cNvCxnSpPr>
            <p:nvPr/>
          </p:nvCxnSpPr>
          <p:spPr>
            <a:xfrm>
              <a:off x="6009606" y="2255570"/>
              <a:ext cx="146400" cy="263100"/>
            </a:xfrm>
            <a:prstGeom prst="straightConnector1">
              <a:avLst/>
            </a:prstGeom>
            <a:noFill/>
            <a:ln w="9525" cap="flat" cmpd="sng">
              <a:solidFill>
                <a:schemeClr val="dk1"/>
              </a:solidFill>
              <a:prstDash val="solid"/>
              <a:round/>
              <a:headEnd type="none" w="med" len="med"/>
              <a:tailEnd type="triangle" w="med" len="med"/>
            </a:ln>
          </p:spPr>
        </p:cxn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Google Shape;1215;p10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It's not enough to simply add Pokémon to the Pokédex as they are encountered - the Pokémon Trainer also wants to be able to quickly determine whether or not a Pokémon is already in the Pokédex so that they can decide whether or not it is worth taking the time to try and catch it!</a:t>
            </a:r>
            <a:endParaRPr/>
          </a:p>
        </p:txBody>
      </p:sp>
      <p:sp>
        <p:nvSpPr>
          <p:cNvPr id="1216" name="Google Shape;1216;p1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1217" name="Google Shape;1217;p100"/>
          <p:cNvSpPr txBox="1">
            <a:spLocks noGrp="1"/>
          </p:cNvSpPr>
          <p:nvPr>
            <p:ph type="body" idx="2"/>
          </p:nvPr>
        </p:nvSpPr>
        <p:spPr>
          <a:xfrm>
            <a:off x="3391575" y="1819225"/>
            <a:ext cx="5549700" cy="2588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Enhance the </a:t>
            </a:r>
            <a:r>
              <a:rPr lang="en" dirty="0">
                <a:latin typeface="Courier New"/>
                <a:ea typeface="Courier New"/>
                <a:cs typeface="Courier New"/>
                <a:sym typeface="Courier New"/>
              </a:rPr>
              <a:t>Pokédex</a:t>
            </a:r>
            <a:r>
              <a:rPr lang="en" dirty="0"/>
              <a:t> class so that it also provides the following behavior: </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containsPokémon</a:t>
            </a:r>
            <a:r>
              <a:rPr lang="en" dirty="0"/>
              <a:t> - returns </a:t>
            </a:r>
            <a:r>
              <a:rPr lang="en" dirty="0">
                <a:latin typeface="Courier New"/>
                <a:ea typeface="Courier New"/>
                <a:cs typeface="Courier New"/>
                <a:sym typeface="Courier New"/>
              </a:rPr>
              <a:t>true</a:t>
            </a:r>
            <a:r>
              <a:rPr lang="en" dirty="0"/>
              <a:t> if the Pokémon's number is already in the Pokédex, and </a:t>
            </a:r>
            <a:r>
              <a:rPr lang="en" dirty="0">
                <a:latin typeface="Courier New"/>
                <a:ea typeface="Courier New"/>
                <a:cs typeface="Courier New"/>
                <a:sym typeface="Courier New"/>
              </a:rPr>
              <a:t>false</a:t>
            </a:r>
            <a:r>
              <a:rPr lang="en" dirty="0"/>
              <a:t> otherwise.</a:t>
            </a:r>
            <a:endParaRPr dirty="0"/>
          </a:p>
          <a:p>
            <a:pPr marL="914400" lvl="1" indent="-298450" algn="l" rtl="0">
              <a:spcBef>
                <a:spcPts val="0"/>
              </a:spcBef>
              <a:spcAft>
                <a:spcPts val="0"/>
              </a:spcAft>
              <a:buSzPts val="1100"/>
              <a:buChar char="○"/>
            </a:pPr>
            <a:r>
              <a:rPr lang="en" sz="1200" dirty="0">
                <a:solidFill>
                  <a:srgbClr val="FF0000"/>
                </a:solidFill>
                <a:latin typeface="Courier New"/>
                <a:ea typeface="Courier New"/>
                <a:cs typeface="Courier New"/>
                <a:sym typeface="Courier New"/>
              </a:rPr>
              <a:t>addPokémon</a:t>
            </a:r>
            <a:r>
              <a:rPr lang="en" dirty="0"/>
              <a:t> - update the method so that it should only add a Pokémon to the Pokédex if it is not already present.</a:t>
            </a:r>
            <a:endParaRPr dirty="0"/>
          </a:p>
          <a:p>
            <a:pPr marL="457200" lvl="0" indent="-311150" algn="l" rtl="0">
              <a:spcBef>
                <a:spcPts val="1000"/>
              </a:spcBef>
              <a:spcAft>
                <a:spcPts val="0"/>
              </a:spcAft>
              <a:buSzPts val="1300"/>
              <a:buChar char="●"/>
            </a:pPr>
            <a:r>
              <a:rPr lang="en" dirty="0"/>
              <a:t>Use the </a:t>
            </a:r>
            <a:r>
              <a:rPr lang="en" dirty="0">
                <a:latin typeface="Courier New"/>
                <a:ea typeface="Courier New"/>
                <a:cs typeface="Courier New"/>
                <a:sym typeface="Courier New"/>
              </a:rPr>
              <a:t>main</a:t>
            </a:r>
            <a:r>
              <a:rPr lang="en" dirty="0"/>
              <a:t> method to search for several Pokémon and print the results to standard output.</a:t>
            </a:r>
            <a:endParaRPr dirty="0"/>
          </a:p>
          <a:p>
            <a:pPr marL="914400" lvl="1" indent="-298450" algn="l" rtl="0">
              <a:spcBef>
                <a:spcPts val="0"/>
              </a:spcBef>
              <a:spcAft>
                <a:spcPts val="0"/>
              </a:spcAft>
              <a:buSzPts val="1100"/>
              <a:buChar char="○"/>
            </a:pPr>
            <a:r>
              <a:rPr lang="en" dirty="0"/>
              <a:t>Make sure to search for Pokémon that are in the Pokédex as well as those that are not.</a:t>
            </a:r>
            <a:endParaRPr dirty="0"/>
          </a:p>
          <a:p>
            <a:pPr marL="914400" lvl="1" indent="-298450" algn="l" rtl="0">
              <a:spcBef>
                <a:spcPts val="0"/>
              </a:spcBef>
              <a:spcAft>
                <a:spcPts val="0"/>
              </a:spcAft>
              <a:buSzPts val="1100"/>
              <a:buChar char="○"/>
            </a:pPr>
            <a:r>
              <a:rPr lang="en" dirty="0"/>
              <a:t>What happens if you try to add the same Pokémon twice?</a:t>
            </a:r>
            <a:endParaRPr dirty="0"/>
          </a:p>
        </p:txBody>
      </p:sp>
      <p:sp>
        <p:nvSpPr>
          <p:cNvPr id="1218" name="Google Shape;1218;p10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Searching Your Pokédex</a:t>
            </a:r>
            <a:endParaRPr/>
          </a:p>
        </p:txBody>
      </p:sp>
      <p:sp>
        <p:nvSpPr>
          <p:cNvPr id="1219" name="Google Shape;1219;p10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6.10</a:t>
            </a:r>
            <a:endParaRPr/>
          </a:p>
        </p:txBody>
      </p:sp>
      <p:graphicFrame>
        <p:nvGraphicFramePr>
          <p:cNvPr id="1220" name="Google Shape;1220;p100"/>
          <p:cNvGraphicFramePr/>
          <p:nvPr/>
        </p:nvGraphicFramePr>
        <p:xfrm>
          <a:off x="217800" y="1971625"/>
          <a:ext cx="3102325" cy="1914775"/>
        </p:xfrm>
        <a:graphic>
          <a:graphicData uri="http://schemas.openxmlformats.org/drawingml/2006/table">
            <a:tbl>
              <a:tblPr>
                <a:noFill/>
                <a:tableStyleId>{24C44263-8FF7-4D16-B4B7-C5B571B8A48A}</a:tableStyleId>
              </a:tblPr>
              <a:tblGrid>
                <a:gridCol w="3102325">
                  <a:extLst>
                    <a:ext uri="{9D8B030D-6E8A-4147-A177-3AD203B41FA5}">
                      <a16:colId xmlns:a16="http://schemas.microsoft.com/office/drawing/2014/main" val="20000"/>
                    </a:ext>
                  </a:extLst>
                </a:gridCol>
              </a:tblGrid>
              <a:tr h="396200">
                <a:tc>
                  <a:txBody>
                    <a:bodyPr/>
                    <a:lstStyle/>
                    <a:p>
                      <a:pPr marL="0" lvl="0" indent="0" algn="ctr" rtl="0">
                        <a:spcBef>
                          <a:spcPts val="0"/>
                        </a:spcBef>
                        <a:spcAft>
                          <a:spcPts val="0"/>
                        </a:spcAft>
                        <a:buNone/>
                      </a:pPr>
                      <a:r>
                        <a:rPr lang="en" sz="1200">
                          <a:latin typeface="Consolas"/>
                          <a:ea typeface="Consolas"/>
                          <a:cs typeface="Consolas"/>
                          <a:sym typeface="Consolas"/>
                        </a:rPr>
                        <a:t>Pokédex</a:t>
                      </a:r>
                      <a:endParaRPr sz="12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 sz="1200">
                          <a:latin typeface="Consolas"/>
                          <a:ea typeface="Consolas"/>
                          <a:cs typeface="Consolas"/>
                          <a:sym typeface="Consolas"/>
                        </a:rPr>
                        <a:t>- bst: BinarySearchTree</a:t>
                      </a:r>
                      <a:endParaRPr sz="12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22375">
                <a:tc>
                  <a:txBody>
                    <a:bodyPr/>
                    <a:lstStyle/>
                    <a:p>
                      <a:pPr marL="0" lvl="0" indent="0" algn="l" rtl="0">
                        <a:spcBef>
                          <a:spcPts val="0"/>
                        </a:spcBef>
                        <a:spcAft>
                          <a:spcPts val="0"/>
                        </a:spcAft>
                        <a:buNone/>
                      </a:pPr>
                      <a:r>
                        <a:rPr lang="en" sz="1200">
                          <a:latin typeface="Consolas"/>
                          <a:ea typeface="Consolas"/>
                          <a:cs typeface="Consolas"/>
                          <a:sym typeface="Consolas"/>
                        </a:rPr>
                        <a:t>+ &lt;&lt;create&gt;&gt; Pokédex()</a:t>
                      </a:r>
                      <a:endParaRPr sz="1200">
                        <a:latin typeface="Consolas"/>
                        <a:ea typeface="Consolas"/>
                        <a:cs typeface="Consolas"/>
                        <a:sym typeface="Consolas"/>
                      </a:endParaRPr>
                    </a:p>
                    <a:p>
                      <a:pPr marL="0" lvl="0" indent="0" algn="l" rtl="0">
                        <a:spcBef>
                          <a:spcPts val="0"/>
                        </a:spcBef>
                        <a:spcAft>
                          <a:spcPts val="0"/>
                        </a:spcAft>
                        <a:buNone/>
                      </a:pPr>
                      <a:r>
                        <a:rPr lang="en" sz="1200">
                          <a:solidFill>
                            <a:srgbClr val="FF0000"/>
                          </a:solidFill>
                          <a:latin typeface="Consolas"/>
                          <a:ea typeface="Consolas"/>
                          <a:cs typeface="Consolas"/>
                          <a:sym typeface="Consolas"/>
                        </a:rPr>
                        <a:t>+ containsPokémon(</a:t>
                      </a:r>
                      <a:endParaRPr sz="1200">
                        <a:solidFill>
                          <a:srgbClr val="FF0000"/>
                        </a:solidFill>
                        <a:latin typeface="Consolas"/>
                        <a:ea typeface="Consolas"/>
                        <a:cs typeface="Consolas"/>
                        <a:sym typeface="Consolas"/>
                      </a:endParaRPr>
                    </a:p>
                    <a:p>
                      <a:pPr marL="0" lvl="0" indent="0" algn="l" rtl="0">
                        <a:spcBef>
                          <a:spcPts val="0"/>
                        </a:spcBef>
                        <a:spcAft>
                          <a:spcPts val="0"/>
                        </a:spcAft>
                        <a:buNone/>
                      </a:pPr>
                      <a:r>
                        <a:rPr lang="en" sz="1200">
                          <a:solidFill>
                            <a:srgbClr val="FF0000"/>
                          </a:solidFill>
                          <a:latin typeface="Consolas"/>
                          <a:ea typeface="Consolas"/>
                          <a:cs typeface="Consolas"/>
                          <a:sym typeface="Consolas"/>
                        </a:rPr>
                        <a:t>             number: int): boolean</a:t>
                      </a:r>
                      <a:br>
                        <a:rPr lang="en" sz="1200">
                          <a:latin typeface="Consolas"/>
                          <a:ea typeface="Consolas"/>
                          <a:cs typeface="Consolas"/>
                          <a:sym typeface="Consolas"/>
                        </a:rPr>
                      </a:br>
                      <a:r>
                        <a:rPr lang="en" sz="1200">
                          <a:latin typeface="Consolas"/>
                          <a:ea typeface="Consolas"/>
                          <a:cs typeface="Consolas"/>
                          <a:sym typeface="Consolas"/>
                        </a:rPr>
                        <a:t>+ addPokémon(number: int): void</a:t>
                      </a:r>
                      <a:br>
                        <a:rPr lang="en" sz="1200">
                          <a:latin typeface="Consolas"/>
                          <a:ea typeface="Consolas"/>
                          <a:cs typeface="Consolas"/>
                          <a:sym typeface="Consolas"/>
                        </a:rPr>
                      </a:br>
                      <a:r>
                        <a:rPr lang="en" sz="1200">
                          <a:latin typeface="Consolas"/>
                          <a:ea typeface="Consolas"/>
                          <a:cs typeface="Consolas"/>
                          <a:sym typeface="Consolas"/>
                        </a:rPr>
                        <a:t>+ toString(): String</a:t>
                      </a:r>
                      <a:endParaRPr sz="120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101"/>
          <p:cNvSpPr txBox="1"/>
          <p:nvPr/>
        </p:nvSpPr>
        <p:spPr>
          <a:xfrm>
            <a:off x="136600" y="1349250"/>
            <a:ext cx="2824500" cy="831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A binary tree is </a:t>
            </a:r>
            <a:r>
              <a:rPr lang="en" b="1" i="1">
                <a:solidFill>
                  <a:srgbClr val="FF0000"/>
                </a:solidFill>
              </a:rPr>
              <a:t>balanced</a:t>
            </a:r>
            <a:r>
              <a:rPr lang="en">
                <a:solidFill>
                  <a:srgbClr val="FF0000"/>
                </a:solidFill>
              </a:rPr>
              <a:t> </a:t>
            </a:r>
            <a:r>
              <a:rPr lang="en"/>
              <a:t>if the left and right subtrees are both </a:t>
            </a:r>
            <a:r>
              <a:rPr lang="en" b="1" i="1">
                <a:solidFill>
                  <a:srgbClr val="FF0000"/>
                </a:solidFill>
              </a:rPr>
              <a:t>bushy</a:t>
            </a:r>
            <a:r>
              <a:rPr lang="en">
                <a:solidFill>
                  <a:srgbClr val="FF0000"/>
                </a:solidFill>
              </a:rPr>
              <a:t> </a:t>
            </a:r>
            <a:r>
              <a:rPr lang="en"/>
              <a:t>and about equally so.</a:t>
            </a:r>
            <a:endParaRPr/>
          </a:p>
        </p:txBody>
      </p:sp>
      <p:sp>
        <p:nvSpPr>
          <p:cNvPr id="1226" name="Google Shape;1226;p101"/>
          <p:cNvSpPr txBox="1"/>
          <p:nvPr/>
        </p:nvSpPr>
        <p:spPr>
          <a:xfrm>
            <a:off x="136626" y="3944010"/>
            <a:ext cx="2824500" cy="1046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This means that there are approximately the same number of nodes in both halves of the tree </a:t>
            </a:r>
            <a:r>
              <a:rPr lang="en" b="1" i="1">
                <a:solidFill>
                  <a:srgbClr val="FF0000"/>
                </a:solidFill>
              </a:rPr>
              <a:t>at every level</a:t>
            </a:r>
            <a:r>
              <a:rPr lang="en"/>
              <a:t>.</a:t>
            </a:r>
            <a:endParaRPr/>
          </a:p>
        </p:txBody>
      </p:sp>
      <p:sp>
        <p:nvSpPr>
          <p:cNvPr id="1227" name="Google Shape;1227;p101"/>
          <p:cNvSpPr txBox="1"/>
          <p:nvPr/>
        </p:nvSpPr>
        <p:spPr>
          <a:xfrm>
            <a:off x="3164676" y="1349250"/>
            <a:ext cx="2824500" cy="831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A binary tree is </a:t>
            </a:r>
            <a:r>
              <a:rPr lang="en" b="1" i="1">
                <a:solidFill>
                  <a:srgbClr val="FF0000"/>
                </a:solidFill>
              </a:rPr>
              <a:t>unbalanced</a:t>
            </a:r>
            <a:r>
              <a:rPr lang="en">
                <a:solidFill>
                  <a:srgbClr val="FF0000"/>
                </a:solidFill>
              </a:rPr>
              <a:t> </a:t>
            </a:r>
            <a:r>
              <a:rPr lang="en"/>
              <a:t>if there are more nodes in one half of the tree than the other.</a:t>
            </a:r>
            <a:endParaRPr/>
          </a:p>
        </p:txBody>
      </p:sp>
      <p:sp>
        <p:nvSpPr>
          <p:cNvPr id="1228" name="Google Shape;1228;p101"/>
          <p:cNvSpPr txBox="1"/>
          <p:nvPr/>
        </p:nvSpPr>
        <p:spPr>
          <a:xfrm>
            <a:off x="6205650" y="1349252"/>
            <a:ext cx="2824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In the extreme case, an unbalanced tree becomes a </a:t>
            </a:r>
            <a:r>
              <a:rPr lang="en" b="1" i="1">
                <a:solidFill>
                  <a:srgbClr val="FF0000"/>
                </a:solidFill>
              </a:rPr>
              <a:t>list</a:t>
            </a:r>
            <a:r>
              <a:rPr lang="en"/>
              <a:t>.</a:t>
            </a:r>
            <a:endParaRPr/>
          </a:p>
        </p:txBody>
      </p:sp>
      <p:sp>
        <p:nvSpPr>
          <p:cNvPr id="1229" name="Google Shape;1229;p101"/>
          <p:cNvSpPr txBox="1"/>
          <p:nvPr/>
        </p:nvSpPr>
        <p:spPr>
          <a:xfrm>
            <a:off x="3177600" y="4246500"/>
            <a:ext cx="28245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Unbalanced trees are more </a:t>
            </a:r>
            <a:r>
              <a:rPr lang="en" b="1" i="1">
                <a:solidFill>
                  <a:srgbClr val="FF0000"/>
                </a:solidFill>
              </a:rPr>
              <a:t>branchy </a:t>
            </a:r>
            <a:r>
              <a:rPr lang="en"/>
              <a:t>than </a:t>
            </a:r>
            <a:r>
              <a:rPr lang="en" b="1" i="1">
                <a:solidFill>
                  <a:srgbClr val="FF0000"/>
                </a:solidFill>
              </a:rPr>
              <a:t>bushy</a:t>
            </a:r>
            <a:r>
              <a:rPr lang="en"/>
              <a:t>.</a:t>
            </a:r>
            <a:endParaRPr/>
          </a:p>
        </p:txBody>
      </p:sp>
      <p:grpSp>
        <p:nvGrpSpPr>
          <p:cNvPr id="1230" name="Google Shape;1230;p101"/>
          <p:cNvGrpSpPr/>
          <p:nvPr/>
        </p:nvGrpSpPr>
        <p:grpSpPr>
          <a:xfrm>
            <a:off x="484412" y="2406963"/>
            <a:ext cx="1994834" cy="1307508"/>
            <a:chOff x="4446813" y="1496675"/>
            <a:chExt cx="1994834" cy="1307508"/>
          </a:xfrm>
        </p:grpSpPr>
        <p:sp>
          <p:nvSpPr>
            <p:cNvPr id="1231" name="Google Shape;1231;p101"/>
            <p:cNvSpPr/>
            <p:nvPr/>
          </p:nvSpPr>
          <p:spPr>
            <a:xfrm>
              <a:off x="4792965" y="1970057"/>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1232" name="Google Shape;1232;p101"/>
            <p:cNvSpPr/>
            <p:nvPr/>
          </p:nvSpPr>
          <p:spPr>
            <a:xfrm>
              <a:off x="5724092" y="1970057"/>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1233" name="Google Shape;1233;p101"/>
            <p:cNvSpPr/>
            <p:nvPr/>
          </p:nvSpPr>
          <p:spPr>
            <a:xfrm>
              <a:off x="4446813" y="2469683"/>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1234" name="Google Shape;1234;p101"/>
            <p:cNvSpPr/>
            <p:nvPr/>
          </p:nvSpPr>
          <p:spPr>
            <a:xfrm>
              <a:off x="5227619" y="1496675"/>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1235" name="Google Shape;1235;p101"/>
            <p:cNvCxnSpPr>
              <a:stCxn id="1234" idx="3"/>
              <a:endCxn id="1231" idx="0"/>
            </p:cNvCxnSpPr>
            <p:nvPr/>
          </p:nvCxnSpPr>
          <p:spPr>
            <a:xfrm flipH="1">
              <a:off x="4960106" y="1782189"/>
              <a:ext cx="316500" cy="187800"/>
            </a:xfrm>
            <a:prstGeom prst="straightConnector1">
              <a:avLst/>
            </a:prstGeom>
            <a:noFill/>
            <a:ln w="9525" cap="flat" cmpd="sng">
              <a:solidFill>
                <a:srgbClr val="434343"/>
              </a:solidFill>
              <a:prstDash val="solid"/>
              <a:round/>
              <a:headEnd type="none" w="med" len="med"/>
              <a:tailEnd type="triangle" w="med" len="med"/>
            </a:ln>
          </p:spPr>
        </p:cxnSp>
        <p:cxnSp>
          <p:nvCxnSpPr>
            <p:cNvPr id="1236" name="Google Shape;1236;p101"/>
            <p:cNvCxnSpPr>
              <a:stCxn id="1234" idx="5"/>
              <a:endCxn id="1232" idx="0"/>
            </p:cNvCxnSpPr>
            <p:nvPr/>
          </p:nvCxnSpPr>
          <p:spPr>
            <a:xfrm>
              <a:off x="5513133" y="1782189"/>
              <a:ext cx="378300" cy="187800"/>
            </a:xfrm>
            <a:prstGeom prst="straightConnector1">
              <a:avLst/>
            </a:prstGeom>
            <a:noFill/>
            <a:ln w="9525" cap="flat" cmpd="sng">
              <a:solidFill>
                <a:srgbClr val="434343"/>
              </a:solidFill>
              <a:prstDash val="solid"/>
              <a:round/>
              <a:headEnd type="none" w="med" len="med"/>
              <a:tailEnd type="triangle" w="med" len="med"/>
            </a:ln>
          </p:spPr>
        </p:cxnSp>
        <p:sp>
          <p:nvSpPr>
            <p:cNvPr id="1237" name="Google Shape;1237;p101"/>
            <p:cNvSpPr/>
            <p:nvPr/>
          </p:nvSpPr>
          <p:spPr>
            <a:xfrm>
              <a:off x="5096780" y="2469683"/>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1238" name="Google Shape;1238;p101"/>
            <p:cNvSpPr/>
            <p:nvPr/>
          </p:nvSpPr>
          <p:spPr>
            <a:xfrm>
              <a:off x="5469570" y="2469683"/>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1239" name="Google Shape;1239;p101"/>
            <p:cNvSpPr/>
            <p:nvPr/>
          </p:nvSpPr>
          <p:spPr>
            <a:xfrm>
              <a:off x="6107147" y="2469683"/>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cxnSp>
          <p:nvCxnSpPr>
            <p:cNvPr id="1240" name="Google Shape;1240;p101"/>
            <p:cNvCxnSpPr>
              <a:stCxn id="1231" idx="3"/>
              <a:endCxn id="1233" idx="7"/>
            </p:cNvCxnSpPr>
            <p:nvPr/>
          </p:nvCxnSpPr>
          <p:spPr>
            <a:xfrm flipH="1">
              <a:off x="4732451" y="2255570"/>
              <a:ext cx="109500" cy="263100"/>
            </a:xfrm>
            <a:prstGeom prst="straightConnector1">
              <a:avLst/>
            </a:prstGeom>
            <a:noFill/>
            <a:ln w="9525" cap="flat" cmpd="sng">
              <a:solidFill>
                <a:srgbClr val="434343"/>
              </a:solidFill>
              <a:prstDash val="solid"/>
              <a:round/>
              <a:headEnd type="none" w="med" len="med"/>
              <a:tailEnd type="triangle" w="med" len="med"/>
            </a:ln>
          </p:spPr>
        </p:cxnSp>
        <p:cxnSp>
          <p:nvCxnSpPr>
            <p:cNvPr id="1241" name="Google Shape;1241;p101"/>
            <p:cNvCxnSpPr>
              <a:stCxn id="1231" idx="5"/>
              <a:endCxn id="1237" idx="0"/>
            </p:cNvCxnSpPr>
            <p:nvPr/>
          </p:nvCxnSpPr>
          <p:spPr>
            <a:xfrm>
              <a:off x="5078479" y="2255570"/>
              <a:ext cx="185700" cy="214200"/>
            </a:xfrm>
            <a:prstGeom prst="straightConnector1">
              <a:avLst/>
            </a:prstGeom>
            <a:noFill/>
            <a:ln w="9525" cap="flat" cmpd="sng">
              <a:solidFill>
                <a:srgbClr val="434343"/>
              </a:solidFill>
              <a:prstDash val="solid"/>
              <a:round/>
              <a:headEnd type="none" w="med" len="med"/>
              <a:tailEnd type="triangle" w="med" len="med"/>
            </a:ln>
          </p:spPr>
        </p:cxnSp>
        <p:cxnSp>
          <p:nvCxnSpPr>
            <p:cNvPr id="1242" name="Google Shape;1242;p101"/>
            <p:cNvCxnSpPr>
              <a:stCxn id="1232" idx="3"/>
              <a:endCxn id="1238" idx="0"/>
            </p:cNvCxnSpPr>
            <p:nvPr/>
          </p:nvCxnSpPr>
          <p:spPr>
            <a:xfrm flipH="1">
              <a:off x="5636879" y="2255570"/>
              <a:ext cx="136200" cy="214200"/>
            </a:xfrm>
            <a:prstGeom prst="straightConnector1">
              <a:avLst/>
            </a:prstGeom>
            <a:noFill/>
            <a:ln w="9525" cap="flat" cmpd="sng">
              <a:solidFill>
                <a:srgbClr val="434343"/>
              </a:solidFill>
              <a:prstDash val="solid"/>
              <a:round/>
              <a:headEnd type="none" w="med" len="med"/>
              <a:tailEnd type="triangle" w="med" len="med"/>
            </a:ln>
          </p:spPr>
        </p:cxnSp>
        <p:cxnSp>
          <p:nvCxnSpPr>
            <p:cNvPr id="1243" name="Google Shape;1243;p101"/>
            <p:cNvCxnSpPr>
              <a:stCxn id="1232" idx="5"/>
              <a:endCxn id="1239" idx="1"/>
            </p:cNvCxnSpPr>
            <p:nvPr/>
          </p:nvCxnSpPr>
          <p:spPr>
            <a:xfrm>
              <a:off x="6009606" y="2255570"/>
              <a:ext cx="146400" cy="263100"/>
            </a:xfrm>
            <a:prstGeom prst="straightConnector1">
              <a:avLst/>
            </a:prstGeom>
            <a:noFill/>
            <a:ln w="9525" cap="flat" cmpd="sng">
              <a:solidFill>
                <a:srgbClr val="434343"/>
              </a:solidFill>
              <a:prstDash val="solid"/>
              <a:round/>
              <a:headEnd type="none" w="med" len="med"/>
              <a:tailEnd type="triangle" w="med" len="med"/>
            </a:ln>
          </p:spPr>
        </p:cxnSp>
      </p:grpSp>
      <p:sp>
        <p:nvSpPr>
          <p:cNvPr id="1244" name="Google Shape;1244;p10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Balance</a:t>
            </a:r>
            <a:endParaRPr/>
          </a:p>
        </p:txBody>
      </p:sp>
      <p:grpSp>
        <p:nvGrpSpPr>
          <p:cNvPr id="1245" name="Google Shape;1245;p101"/>
          <p:cNvGrpSpPr/>
          <p:nvPr/>
        </p:nvGrpSpPr>
        <p:grpSpPr>
          <a:xfrm>
            <a:off x="3527026" y="2306802"/>
            <a:ext cx="1898805" cy="1850608"/>
            <a:chOff x="3287550" y="1999327"/>
            <a:chExt cx="1898805" cy="1850608"/>
          </a:xfrm>
        </p:grpSpPr>
        <p:sp>
          <p:nvSpPr>
            <p:cNvPr id="1246" name="Google Shape;1246;p101"/>
            <p:cNvSpPr/>
            <p:nvPr/>
          </p:nvSpPr>
          <p:spPr>
            <a:xfrm>
              <a:off x="3920727" y="2472709"/>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1247" name="Google Shape;1247;p101"/>
            <p:cNvSpPr/>
            <p:nvPr/>
          </p:nvSpPr>
          <p:spPr>
            <a:xfrm>
              <a:off x="4851855" y="2472709"/>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1248" name="Google Shape;1248;p101"/>
            <p:cNvSpPr/>
            <p:nvPr/>
          </p:nvSpPr>
          <p:spPr>
            <a:xfrm>
              <a:off x="3574575" y="2972335"/>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a:t>
              </a:r>
              <a:endParaRPr sz="1000"/>
            </a:p>
          </p:txBody>
        </p:sp>
        <p:sp>
          <p:nvSpPr>
            <p:cNvPr id="1249" name="Google Shape;1249;p101"/>
            <p:cNvSpPr/>
            <p:nvPr/>
          </p:nvSpPr>
          <p:spPr>
            <a:xfrm>
              <a:off x="4355382" y="1999327"/>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1250" name="Google Shape;1250;p101"/>
            <p:cNvCxnSpPr>
              <a:stCxn id="1249" idx="3"/>
              <a:endCxn id="1246" idx="0"/>
            </p:cNvCxnSpPr>
            <p:nvPr/>
          </p:nvCxnSpPr>
          <p:spPr>
            <a:xfrm flipH="1">
              <a:off x="4087868" y="2284841"/>
              <a:ext cx="316500" cy="187800"/>
            </a:xfrm>
            <a:prstGeom prst="straightConnector1">
              <a:avLst/>
            </a:prstGeom>
            <a:noFill/>
            <a:ln w="9525" cap="flat" cmpd="sng">
              <a:solidFill>
                <a:srgbClr val="434343"/>
              </a:solidFill>
              <a:prstDash val="solid"/>
              <a:round/>
              <a:headEnd type="none" w="med" len="med"/>
              <a:tailEnd type="triangle" w="med" len="med"/>
            </a:ln>
          </p:spPr>
        </p:cxnSp>
        <p:cxnSp>
          <p:nvCxnSpPr>
            <p:cNvPr id="1251" name="Google Shape;1251;p101"/>
            <p:cNvCxnSpPr>
              <a:stCxn id="1249" idx="5"/>
              <a:endCxn id="1247" idx="0"/>
            </p:cNvCxnSpPr>
            <p:nvPr/>
          </p:nvCxnSpPr>
          <p:spPr>
            <a:xfrm>
              <a:off x="4640895" y="2284841"/>
              <a:ext cx="378300" cy="187800"/>
            </a:xfrm>
            <a:prstGeom prst="straightConnector1">
              <a:avLst/>
            </a:prstGeom>
            <a:noFill/>
            <a:ln w="9525" cap="flat" cmpd="sng">
              <a:solidFill>
                <a:srgbClr val="434343"/>
              </a:solidFill>
              <a:prstDash val="solid"/>
              <a:round/>
              <a:headEnd type="none" w="med" len="med"/>
              <a:tailEnd type="triangle" w="med" len="med"/>
            </a:ln>
          </p:spPr>
        </p:cxnSp>
        <p:sp>
          <p:nvSpPr>
            <p:cNvPr id="1252" name="Google Shape;1252;p101"/>
            <p:cNvSpPr/>
            <p:nvPr/>
          </p:nvSpPr>
          <p:spPr>
            <a:xfrm>
              <a:off x="4224542" y="2972335"/>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1253" name="Google Shape;1253;p101"/>
            <p:cNvSpPr/>
            <p:nvPr/>
          </p:nvSpPr>
          <p:spPr>
            <a:xfrm>
              <a:off x="4597333" y="2972335"/>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cxnSp>
          <p:nvCxnSpPr>
            <p:cNvPr id="1254" name="Google Shape;1254;p101"/>
            <p:cNvCxnSpPr>
              <a:stCxn id="1246" idx="3"/>
              <a:endCxn id="1248" idx="7"/>
            </p:cNvCxnSpPr>
            <p:nvPr/>
          </p:nvCxnSpPr>
          <p:spPr>
            <a:xfrm flipH="1">
              <a:off x="3860214" y="2758223"/>
              <a:ext cx="109500" cy="263100"/>
            </a:xfrm>
            <a:prstGeom prst="straightConnector1">
              <a:avLst/>
            </a:prstGeom>
            <a:noFill/>
            <a:ln w="9525" cap="flat" cmpd="sng">
              <a:solidFill>
                <a:srgbClr val="434343"/>
              </a:solidFill>
              <a:prstDash val="solid"/>
              <a:round/>
              <a:headEnd type="none" w="med" len="med"/>
              <a:tailEnd type="triangle" w="med" len="med"/>
            </a:ln>
          </p:spPr>
        </p:cxnSp>
        <p:cxnSp>
          <p:nvCxnSpPr>
            <p:cNvPr id="1255" name="Google Shape;1255;p101"/>
            <p:cNvCxnSpPr>
              <a:stCxn id="1246" idx="5"/>
              <a:endCxn id="1252" idx="0"/>
            </p:cNvCxnSpPr>
            <p:nvPr/>
          </p:nvCxnSpPr>
          <p:spPr>
            <a:xfrm>
              <a:off x="4206241" y="2758223"/>
              <a:ext cx="185700" cy="214200"/>
            </a:xfrm>
            <a:prstGeom prst="straightConnector1">
              <a:avLst/>
            </a:prstGeom>
            <a:noFill/>
            <a:ln w="9525" cap="flat" cmpd="sng">
              <a:solidFill>
                <a:srgbClr val="434343"/>
              </a:solidFill>
              <a:prstDash val="solid"/>
              <a:round/>
              <a:headEnd type="none" w="med" len="med"/>
              <a:tailEnd type="triangle" w="med" len="med"/>
            </a:ln>
          </p:spPr>
        </p:cxnSp>
        <p:cxnSp>
          <p:nvCxnSpPr>
            <p:cNvPr id="1256" name="Google Shape;1256;p101"/>
            <p:cNvCxnSpPr>
              <a:stCxn id="1247" idx="3"/>
              <a:endCxn id="1253" idx="0"/>
            </p:cNvCxnSpPr>
            <p:nvPr/>
          </p:nvCxnSpPr>
          <p:spPr>
            <a:xfrm flipH="1">
              <a:off x="4764641" y="2758223"/>
              <a:ext cx="136200" cy="214200"/>
            </a:xfrm>
            <a:prstGeom prst="straightConnector1">
              <a:avLst/>
            </a:prstGeom>
            <a:noFill/>
            <a:ln w="9525" cap="flat" cmpd="sng">
              <a:solidFill>
                <a:srgbClr val="434343"/>
              </a:solidFill>
              <a:prstDash val="solid"/>
              <a:round/>
              <a:headEnd type="none" w="med" len="med"/>
              <a:tailEnd type="triangle" w="med" len="med"/>
            </a:ln>
          </p:spPr>
        </p:cxnSp>
        <p:sp>
          <p:nvSpPr>
            <p:cNvPr id="1257" name="Google Shape;1257;p101"/>
            <p:cNvSpPr/>
            <p:nvPr/>
          </p:nvSpPr>
          <p:spPr>
            <a:xfrm>
              <a:off x="3287550" y="3515435"/>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cxnSp>
          <p:nvCxnSpPr>
            <p:cNvPr id="1258" name="Google Shape;1258;p101"/>
            <p:cNvCxnSpPr>
              <a:stCxn id="1248" idx="3"/>
              <a:endCxn id="1257" idx="0"/>
            </p:cNvCxnSpPr>
            <p:nvPr/>
          </p:nvCxnSpPr>
          <p:spPr>
            <a:xfrm flipH="1">
              <a:off x="3454661" y="3257849"/>
              <a:ext cx="168900" cy="257700"/>
            </a:xfrm>
            <a:prstGeom prst="straightConnector1">
              <a:avLst/>
            </a:prstGeom>
            <a:noFill/>
            <a:ln w="9525" cap="flat" cmpd="sng">
              <a:solidFill>
                <a:srgbClr val="434343"/>
              </a:solidFill>
              <a:prstDash val="solid"/>
              <a:round/>
              <a:headEnd type="none" w="med" len="med"/>
              <a:tailEnd type="triangle" w="med" len="med"/>
            </a:ln>
          </p:spPr>
        </p:cxnSp>
      </p:grpSp>
      <p:grpSp>
        <p:nvGrpSpPr>
          <p:cNvPr id="1259" name="Google Shape;1259;p101"/>
          <p:cNvGrpSpPr/>
          <p:nvPr/>
        </p:nvGrpSpPr>
        <p:grpSpPr>
          <a:xfrm>
            <a:off x="6205651" y="2099002"/>
            <a:ext cx="2824507" cy="2789933"/>
            <a:chOff x="5246326" y="1999327"/>
            <a:chExt cx="2824507" cy="2789933"/>
          </a:xfrm>
        </p:grpSpPr>
        <p:sp>
          <p:nvSpPr>
            <p:cNvPr id="1260" name="Google Shape;1260;p101"/>
            <p:cNvSpPr/>
            <p:nvPr/>
          </p:nvSpPr>
          <p:spPr>
            <a:xfrm>
              <a:off x="7134328" y="2472659"/>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1261" name="Google Shape;1261;p101"/>
            <p:cNvSpPr/>
            <p:nvPr/>
          </p:nvSpPr>
          <p:spPr>
            <a:xfrm>
              <a:off x="6670876" y="2972335"/>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1262" name="Google Shape;1262;p101"/>
            <p:cNvSpPr/>
            <p:nvPr/>
          </p:nvSpPr>
          <p:spPr>
            <a:xfrm>
              <a:off x="7736332" y="1999327"/>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cxnSp>
          <p:nvCxnSpPr>
            <p:cNvPr id="1263" name="Google Shape;1263;p101"/>
            <p:cNvCxnSpPr>
              <a:stCxn id="1262" idx="3"/>
              <a:endCxn id="1260" idx="0"/>
            </p:cNvCxnSpPr>
            <p:nvPr/>
          </p:nvCxnSpPr>
          <p:spPr>
            <a:xfrm flipH="1">
              <a:off x="7301719" y="2284841"/>
              <a:ext cx="483600" cy="187800"/>
            </a:xfrm>
            <a:prstGeom prst="straightConnector1">
              <a:avLst/>
            </a:prstGeom>
            <a:noFill/>
            <a:ln w="9525" cap="flat" cmpd="sng">
              <a:solidFill>
                <a:srgbClr val="434343"/>
              </a:solidFill>
              <a:prstDash val="solid"/>
              <a:round/>
              <a:headEnd type="none" w="med" len="med"/>
              <a:tailEnd type="triangle" w="med" len="med"/>
            </a:ln>
          </p:spPr>
        </p:cxnSp>
        <p:cxnSp>
          <p:nvCxnSpPr>
            <p:cNvPr id="1264" name="Google Shape;1264;p101"/>
            <p:cNvCxnSpPr>
              <a:stCxn id="1260" idx="3"/>
              <a:endCxn id="1261" idx="7"/>
            </p:cNvCxnSpPr>
            <p:nvPr/>
          </p:nvCxnSpPr>
          <p:spPr>
            <a:xfrm flipH="1">
              <a:off x="6956514" y="2758173"/>
              <a:ext cx="226800" cy="263100"/>
            </a:xfrm>
            <a:prstGeom prst="straightConnector1">
              <a:avLst/>
            </a:prstGeom>
            <a:noFill/>
            <a:ln w="9525" cap="flat" cmpd="sng">
              <a:solidFill>
                <a:srgbClr val="434343"/>
              </a:solidFill>
              <a:prstDash val="solid"/>
              <a:round/>
              <a:headEnd type="none" w="med" len="med"/>
              <a:tailEnd type="triangle" w="med" len="med"/>
            </a:ln>
          </p:spPr>
        </p:cxnSp>
        <p:sp>
          <p:nvSpPr>
            <p:cNvPr id="1265" name="Google Shape;1265;p101"/>
            <p:cNvSpPr/>
            <p:nvPr/>
          </p:nvSpPr>
          <p:spPr>
            <a:xfrm>
              <a:off x="6336376" y="3466460"/>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1266" name="Google Shape;1266;p101"/>
            <p:cNvCxnSpPr>
              <a:stCxn id="1261" idx="3"/>
              <a:endCxn id="1265" idx="0"/>
            </p:cNvCxnSpPr>
            <p:nvPr/>
          </p:nvCxnSpPr>
          <p:spPr>
            <a:xfrm flipH="1">
              <a:off x="6503562" y="3257849"/>
              <a:ext cx="216300" cy="208500"/>
            </a:xfrm>
            <a:prstGeom prst="straightConnector1">
              <a:avLst/>
            </a:prstGeom>
            <a:noFill/>
            <a:ln w="9525" cap="flat" cmpd="sng">
              <a:solidFill>
                <a:srgbClr val="434343"/>
              </a:solidFill>
              <a:prstDash val="solid"/>
              <a:round/>
              <a:headEnd type="none" w="med" len="med"/>
              <a:tailEnd type="triangle" w="med" len="med"/>
            </a:ln>
          </p:spPr>
        </p:cxnSp>
        <p:sp>
          <p:nvSpPr>
            <p:cNvPr id="1267" name="Google Shape;1267;p101"/>
            <p:cNvSpPr/>
            <p:nvPr/>
          </p:nvSpPr>
          <p:spPr>
            <a:xfrm>
              <a:off x="5777451" y="3978860"/>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1268" name="Google Shape;1268;p101"/>
            <p:cNvSpPr/>
            <p:nvPr/>
          </p:nvSpPr>
          <p:spPr>
            <a:xfrm>
              <a:off x="5246326" y="4454760"/>
              <a:ext cx="334500" cy="334500"/>
            </a:xfrm>
            <a:prstGeom prst="ellipse">
              <a:avLst/>
            </a:prstGeom>
            <a:solidFill>
              <a:srgbClr val="F9CB9C"/>
            </a:solid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cxnSp>
          <p:nvCxnSpPr>
            <p:cNvPr id="1269" name="Google Shape;1269;p101"/>
            <p:cNvCxnSpPr>
              <a:stCxn id="1265" idx="3"/>
              <a:endCxn id="1267" idx="0"/>
            </p:cNvCxnSpPr>
            <p:nvPr/>
          </p:nvCxnSpPr>
          <p:spPr>
            <a:xfrm flipH="1">
              <a:off x="5944662" y="3751974"/>
              <a:ext cx="440700" cy="226800"/>
            </a:xfrm>
            <a:prstGeom prst="straightConnector1">
              <a:avLst/>
            </a:prstGeom>
            <a:noFill/>
            <a:ln w="9525" cap="flat" cmpd="sng">
              <a:solidFill>
                <a:srgbClr val="434343"/>
              </a:solidFill>
              <a:prstDash val="solid"/>
              <a:round/>
              <a:headEnd type="none" w="med" len="med"/>
              <a:tailEnd type="triangle" w="med" len="med"/>
            </a:ln>
          </p:spPr>
        </p:cxnSp>
        <p:cxnSp>
          <p:nvCxnSpPr>
            <p:cNvPr id="1270" name="Google Shape;1270;p101"/>
            <p:cNvCxnSpPr>
              <a:stCxn id="1267" idx="3"/>
              <a:endCxn id="1268" idx="0"/>
            </p:cNvCxnSpPr>
            <p:nvPr/>
          </p:nvCxnSpPr>
          <p:spPr>
            <a:xfrm flipH="1">
              <a:off x="5413637" y="4264374"/>
              <a:ext cx="412800" cy="190500"/>
            </a:xfrm>
            <a:prstGeom prst="straightConnector1">
              <a:avLst/>
            </a:prstGeom>
            <a:noFill/>
            <a:ln w="9525" cap="flat" cmpd="sng">
              <a:solidFill>
                <a:srgbClr val="434343"/>
              </a:solidFill>
              <a:prstDash val="solid"/>
              <a:round/>
              <a:headEnd type="none" w="med" len="med"/>
              <a:tailEnd type="triangle" w="med" len="med"/>
            </a:ln>
          </p:spPr>
        </p:cxnSp>
      </p:grpSp>
      <p:sp>
        <p:nvSpPr>
          <p:cNvPr id="1271" name="Google Shape;1271;p10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5"/>
                                        </p:tgtEl>
                                        <p:attrNameLst>
                                          <p:attrName>style.visibility</p:attrName>
                                        </p:attrNameLst>
                                      </p:cBhvr>
                                      <p:to>
                                        <p:strVal val="visible"/>
                                      </p:to>
                                    </p:set>
                                    <p:animEffect transition="in" filter="fade">
                                      <p:cBhvr>
                                        <p:cTn id="7" dur="1000"/>
                                        <p:tgtEl>
                                          <p:spTgt spid="12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26"/>
                                        </p:tgtEl>
                                        <p:attrNameLst>
                                          <p:attrName>style.visibility</p:attrName>
                                        </p:attrNameLst>
                                      </p:cBhvr>
                                      <p:to>
                                        <p:strVal val="visible"/>
                                      </p:to>
                                    </p:set>
                                    <p:animEffect transition="in" filter="fade">
                                      <p:cBhvr>
                                        <p:cTn id="12" dur="1000"/>
                                        <p:tgtEl>
                                          <p:spTgt spid="1226"/>
                                        </p:tgtEl>
                                      </p:cBhvr>
                                    </p:animEffect>
                                  </p:childTnLst>
                                </p:cTn>
                              </p:par>
                              <p:par>
                                <p:cTn id="13" presetID="10" presetClass="entr" presetSubtype="0" fill="hold" nodeType="withEffect">
                                  <p:stCondLst>
                                    <p:cond delay="0"/>
                                  </p:stCondLst>
                                  <p:childTnLst>
                                    <p:set>
                                      <p:cBhvr>
                                        <p:cTn id="14" dur="1" fill="hold">
                                          <p:stCondLst>
                                            <p:cond delay="0"/>
                                          </p:stCondLst>
                                        </p:cTn>
                                        <p:tgtEl>
                                          <p:spTgt spid="1230"/>
                                        </p:tgtEl>
                                        <p:attrNameLst>
                                          <p:attrName>style.visibility</p:attrName>
                                        </p:attrNameLst>
                                      </p:cBhvr>
                                      <p:to>
                                        <p:strVal val="visible"/>
                                      </p:to>
                                    </p:set>
                                    <p:animEffect transition="in" filter="fade">
                                      <p:cBhvr>
                                        <p:cTn id="15" dur="1000"/>
                                        <p:tgtEl>
                                          <p:spTgt spid="123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27"/>
                                        </p:tgtEl>
                                        <p:attrNameLst>
                                          <p:attrName>style.visibility</p:attrName>
                                        </p:attrNameLst>
                                      </p:cBhvr>
                                      <p:to>
                                        <p:strVal val="visible"/>
                                      </p:to>
                                    </p:set>
                                    <p:animEffect transition="in" filter="fade">
                                      <p:cBhvr>
                                        <p:cTn id="20" dur="1000"/>
                                        <p:tgtEl>
                                          <p:spTgt spid="122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29"/>
                                        </p:tgtEl>
                                        <p:attrNameLst>
                                          <p:attrName>style.visibility</p:attrName>
                                        </p:attrNameLst>
                                      </p:cBhvr>
                                      <p:to>
                                        <p:strVal val="visible"/>
                                      </p:to>
                                    </p:set>
                                    <p:animEffect transition="in" filter="fade">
                                      <p:cBhvr>
                                        <p:cTn id="25" dur="1000"/>
                                        <p:tgtEl>
                                          <p:spTgt spid="1229"/>
                                        </p:tgtEl>
                                      </p:cBhvr>
                                    </p:animEffect>
                                  </p:childTnLst>
                                </p:cTn>
                              </p:par>
                              <p:par>
                                <p:cTn id="26" presetID="10" presetClass="entr" presetSubtype="0" fill="hold" nodeType="withEffect">
                                  <p:stCondLst>
                                    <p:cond delay="0"/>
                                  </p:stCondLst>
                                  <p:childTnLst>
                                    <p:set>
                                      <p:cBhvr>
                                        <p:cTn id="27" dur="1" fill="hold">
                                          <p:stCondLst>
                                            <p:cond delay="0"/>
                                          </p:stCondLst>
                                        </p:cTn>
                                        <p:tgtEl>
                                          <p:spTgt spid="1245"/>
                                        </p:tgtEl>
                                        <p:attrNameLst>
                                          <p:attrName>style.visibility</p:attrName>
                                        </p:attrNameLst>
                                      </p:cBhvr>
                                      <p:to>
                                        <p:strVal val="visible"/>
                                      </p:to>
                                    </p:set>
                                    <p:animEffect transition="in" filter="fade">
                                      <p:cBhvr>
                                        <p:cTn id="28" dur="1000"/>
                                        <p:tgtEl>
                                          <p:spTgt spid="124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28"/>
                                        </p:tgtEl>
                                        <p:attrNameLst>
                                          <p:attrName>style.visibility</p:attrName>
                                        </p:attrNameLst>
                                      </p:cBhvr>
                                      <p:to>
                                        <p:strVal val="visible"/>
                                      </p:to>
                                    </p:set>
                                    <p:animEffect transition="in" filter="fade">
                                      <p:cBhvr>
                                        <p:cTn id="33" dur="1000"/>
                                        <p:tgtEl>
                                          <p:spTgt spid="1228"/>
                                        </p:tgtEl>
                                      </p:cBhvr>
                                    </p:animEffect>
                                  </p:childTnLst>
                                </p:cTn>
                              </p:par>
                            </p:childTnLst>
                          </p:cTn>
                        </p:par>
                        <p:par>
                          <p:cTn id="34" fill="hold">
                            <p:stCondLst>
                              <p:cond delay="1000"/>
                            </p:stCondLst>
                            <p:childTnLst>
                              <p:par>
                                <p:cTn id="35" presetID="10" presetClass="entr" presetSubtype="0" fill="hold" nodeType="afterEffect">
                                  <p:stCondLst>
                                    <p:cond delay="0"/>
                                  </p:stCondLst>
                                  <p:childTnLst>
                                    <p:set>
                                      <p:cBhvr>
                                        <p:cTn id="36" dur="1" fill="hold">
                                          <p:stCondLst>
                                            <p:cond delay="0"/>
                                          </p:stCondLst>
                                        </p:cTn>
                                        <p:tgtEl>
                                          <p:spTgt spid="1259"/>
                                        </p:tgtEl>
                                        <p:attrNameLst>
                                          <p:attrName>style.visibility</p:attrName>
                                        </p:attrNameLst>
                                      </p:cBhvr>
                                      <p:to>
                                        <p:strVal val="visible"/>
                                      </p:to>
                                    </p:set>
                                    <p:animEffect transition="in" filter="fade">
                                      <p:cBhvr>
                                        <p:cTn id="37" dur="1000"/>
                                        <p:tgtEl>
                                          <p:spTgt spid="1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75"/>
        <p:cNvGrpSpPr/>
        <p:nvPr/>
      </p:nvGrpSpPr>
      <p:grpSpPr>
        <a:xfrm>
          <a:off x="0" y="0"/>
          <a:ext cx="0" cy="0"/>
          <a:chOff x="0" y="0"/>
          <a:chExt cx="0" cy="0"/>
        </a:xfrm>
      </p:grpSpPr>
      <p:sp>
        <p:nvSpPr>
          <p:cNvPr id="1276" name="Google Shape;1276;p102"/>
          <p:cNvSpPr txBox="1">
            <a:spLocks noGrp="1"/>
          </p:cNvSpPr>
          <p:nvPr>
            <p:ph type="title"/>
          </p:nvPr>
        </p:nvSpPr>
        <p:spPr>
          <a:xfrm>
            <a:off x="5264725" y="152400"/>
            <a:ext cx="3706500" cy="523200"/>
          </a:xfrm>
          <a:prstGeom prst="rect">
            <a:avLst/>
          </a:prstGeom>
          <a:noFill/>
        </p:spPr>
        <p:txBody>
          <a:bodyPr spcFirstLastPara="1" wrap="square" lIns="91425" tIns="91425" rIns="91425" bIns="91425" anchor="t" anchorCtr="0">
            <a:spAutoFit/>
          </a:bodyPr>
          <a:lstStyle/>
          <a:p>
            <a:pPr marL="0" lvl="0" indent="0" algn="l" rtl="0">
              <a:spcBef>
                <a:spcPts val="0"/>
              </a:spcBef>
              <a:spcAft>
                <a:spcPts val="0"/>
              </a:spcAft>
              <a:buNone/>
            </a:pPr>
            <a:r>
              <a:rPr lang="en" sz="2200"/>
              <a:t>Complexity of Searching</a:t>
            </a:r>
            <a:endParaRPr sz="2200"/>
          </a:p>
        </p:txBody>
      </p:sp>
      <p:sp>
        <p:nvSpPr>
          <p:cNvPr id="1277" name="Google Shape;1277;p102"/>
          <p:cNvSpPr txBox="1">
            <a:spLocks noGrp="1"/>
          </p:cNvSpPr>
          <p:nvPr>
            <p:ph type="body" idx="1"/>
          </p:nvPr>
        </p:nvSpPr>
        <p:spPr>
          <a:xfrm>
            <a:off x="377475" y="195950"/>
            <a:ext cx="4166400" cy="4661100"/>
          </a:xfrm>
          <a:prstGeom prst="rect">
            <a:avLst/>
          </a:prstGeom>
          <a:noFill/>
        </p:spPr>
        <p:txBody>
          <a:bodyPr spcFirstLastPara="1" wrap="square" lIns="91425" tIns="91425" rIns="91425" bIns="91425" anchor="ctr" anchorCtr="0">
            <a:noAutofit/>
          </a:bodyPr>
          <a:lstStyle/>
          <a:p>
            <a:pPr marL="457200" marR="0" lvl="0" indent="-311150" algn="l" rtl="0">
              <a:lnSpc>
                <a:spcPct val="115000"/>
              </a:lnSpc>
              <a:spcBef>
                <a:spcPts val="0"/>
              </a:spcBef>
              <a:spcAft>
                <a:spcPts val="0"/>
              </a:spcAft>
              <a:buSzPts val="1300"/>
              <a:buChar char="●"/>
            </a:pPr>
            <a:r>
              <a:rPr lang="en" sz="1400" dirty="0"/>
              <a:t>The complexity of searching a binary search tree depends on how </a:t>
            </a:r>
            <a:r>
              <a:rPr lang="en" sz="1400" b="1" i="1" dirty="0">
                <a:solidFill>
                  <a:srgbClr val="FF0000"/>
                </a:solidFill>
              </a:rPr>
              <a:t>balanced</a:t>
            </a:r>
            <a:r>
              <a:rPr lang="en" sz="1400" dirty="0">
                <a:solidFill>
                  <a:srgbClr val="FF0000"/>
                </a:solidFill>
              </a:rPr>
              <a:t> </a:t>
            </a:r>
            <a:r>
              <a:rPr lang="en" sz="1400" dirty="0"/>
              <a:t>the tree is.</a:t>
            </a:r>
            <a:endParaRPr sz="1400" dirty="0"/>
          </a:p>
          <a:p>
            <a:pPr marL="914400" marR="0" lvl="1" indent="-317500" algn="l" rtl="0">
              <a:lnSpc>
                <a:spcPct val="115000"/>
              </a:lnSpc>
              <a:spcBef>
                <a:spcPts val="0"/>
              </a:spcBef>
              <a:spcAft>
                <a:spcPts val="0"/>
              </a:spcAft>
              <a:buSzPts val="1400"/>
              <a:buChar char="○"/>
            </a:pPr>
            <a:r>
              <a:rPr lang="en" sz="1400" dirty="0"/>
              <a:t>A balanced tree has the same number of nodes in the left subtree as it has in its right subtree </a:t>
            </a:r>
            <a:r>
              <a:rPr lang="en" sz="1400" i="1" dirty="0"/>
              <a:t>at every level</a:t>
            </a:r>
            <a:r>
              <a:rPr lang="en" sz="1400" dirty="0"/>
              <a:t>.</a:t>
            </a:r>
            <a:endParaRPr sz="1400" dirty="0"/>
          </a:p>
          <a:p>
            <a:pPr marL="914400" marR="0" lvl="1" indent="-317500" algn="l" rtl="0">
              <a:lnSpc>
                <a:spcPct val="115000"/>
              </a:lnSpc>
              <a:spcBef>
                <a:spcPts val="0"/>
              </a:spcBef>
              <a:spcAft>
                <a:spcPts val="0"/>
              </a:spcAft>
              <a:buSzPts val="1400"/>
              <a:buChar char="○"/>
            </a:pPr>
            <a:r>
              <a:rPr lang="en" sz="1400" dirty="0"/>
              <a:t>These trees are referred to as </a:t>
            </a:r>
            <a:r>
              <a:rPr lang="en" sz="1400" b="1" i="1" dirty="0">
                <a:solidFill>
                  <a:srgbClr val="FF0000"/>
                </a:solidFill>
              </a:rPr>
              <a:t>bushy</a:t>
            </a:r>
            <a:r>
              <a:rPr lang="en" sz="1400" dirty="0"/>
              <a:t>.</a:t>
            </a:r>
            <a:endParaRPr sz="1400" dirty="0"/>
          </a:p>
          <a:p>
            <a:pPr marL="457200" marR="0" lvl="0" indent="-317500" algn="l" rtl="0">
              <a:lnSpc>
                <a:spcPct val="115000"/>
              </a:lnSpc>
              <a:spcBef>
                <a:spcPts val="1000"/>
              </a:spcBef>
              <a:spcAft>
                <a:spcPts val="0"/>
              </a:spcAft>
              <a:buSzPts val="1400"/>
              <a:buChar char="●"/>
            </a:pPr>
            <a:r>
              <a:rPr lang="en" sz="1400" dirty="0"/>
              <a:t>An </a:t>
            </a:r>
            <a:r>
              <a:rPr lang="en" sz="1400" b="1" i="1" dirty="0">
                <a:solidFill>
                  <a:srgbClr val="FF0000"/>
                </a:solidFill>
              </a:rPr>
              <a:t>unbalanced </a:t>
            </a:r>
            <a:r>
              <a:rPr lang="en" sz="1400" dirty="0"/>
              <a:t>tree has more nodes in one subtree than the other.</a:t>
            </a:r>
            <a:endParaRPr sz="1400" dirty="0"/>
          </a:p>
          <a:p>
            <a:pPr marL="914400" marR="0" lvl="1" indent="-317500" algn="l" rtl="0">
              <a:lnSpc>
                <a:spcPct val="115000"/>
              </a:lnSpc>
              <a:spcBef>
                <a:spcPts val="0"/>
              </a:spcBef>
              <a:spcAft>
                <a:spcPts val="0"/>
              </a:spcAft>
              <a:buSzPts val="1400"/>
              <a:buChar char="○"/>
            </a:pPr>
            <a:r>
              <a:rPr lang="en" sz="1400" dirty="0"/>
              <a:t>These trees are referred to as </a:t>
            </a:r>
            <a:r>
              <a:rPr lang="en" sz="1400" b="1" i="1" dirty="0">
                <a:solidFill>
                  <a:srgbClr val="FF0000"/>
                </a:solidFill>
              </a:rPr>
              <a:t>branchy</a:t>
            </a:r>
            <a:r>
              <a:rPr lang="en" sz="1400" dirty="0"/>
              <a:t>.</a:t>
            </a:r>
            <a:endParaRPr sz="1400" dirty="0"/>
          </a:p>
          <a:p>
            <a:pPr marL="914400" marR="0" lvl="1" indent="-317500" algn="l" rtl="0">
              <a:lnSpc>
                <a:spcPct val="115000"/>
              </a:lnSpc>
              <a:spcBef>
                <a:spcPts val="0"/>
              </a:spcBef>
              <a:spcAft>
                <a:spcPts val="0"/>
              </a:spcAft>
              <a:buSzPts val="1400"/>
              <a:buChar char="○"/>
            </a:pPr>
            <a:r>
              <a:rPr lang="en" sz="1400" dirty="0"/>
              <a:t>The extreme case is a </a:t>
            </a:r>
            <a:r>
              <a:rPr lang="en" sz="1400" b="1" i="1" dirty="0">
                <a:solidFill>
                  <a:srgbClr val="FF0000"/>
                </a:solidFill>
              </a:rPr>
              <a:t>list</a:t>
            </a:r>
            <a:r>
              <a:rPr lang="en" sz="1400" dirty="0"/>
              <a:t>.</a:t>
            </a:r>
            <a:endParaRPr sz="1400" dirty="0"/>
          </a:p>
          <a:p>
            <a:pPr marL="457200" marR="0" lvl="0" indent="-317500" algn="l" rtl="0">
              <a:lnSpc>
                <a:spcPct val="115000"/>
              </a:lnSpc>
              <a:spcBef>
                <a:spcPts val="1000"/>
              </a:spcBef>
              <a:spcAft>
                <a:spcPts val="0"/>
              </a:spcAft>
              <a:buSzPts val="1400"/>
              <a:buChar char="●"/>
            </a:pPr>
            <a:r>
              <a:rPr lang="en" sz="1400" dirty="0"/>
              <a:t>If a BST is balanced, a search eliminates </a:t>
            </a:r>
            <a:r>
              <a:rPr lang="en" sz="1400" b="1" i="1" dirty="0">
                <a:solidFill>
                  <a:srgbClr val="FF0000"/>
                </a:solidFill>
              </a:rPr>
              <a:t>half</a:t>
            </a:r>
            <a:r>
              <a:rPr lang="en" sz="1400" dirty="0">
                <a:solidFill>
                  <a:srgbClr val="FF0000"/>
                </a:solidFill>
              </a:rPr>
              <a:t> </a:t>
            </a:r>
            <a:r>
              <a:rPr lang="en" sz="1400" dirty="0"/>
              <a:t>of the nodes in the tree with each iteration, just like a binary search; the complexity is </a:t>
            </a:r>
            <a:r>
              <a:rPr lang="en" sz="1400" b="1" dirty="0">
                <a:solidFill>
                  <a:srgbClr val="FF0000"/>
                </a:solidFill>
              </a:rPr>
              <a:t>O(log</a:t>
            </a:r>
            <a:r>
              <a:rPr lang="en" sz="1400" b="1" baseline="-25000" dirty="0">
                <a:solidFill>
                  <a:srgbClr val="FF0000"/>
                </a:solidFill>
              </a:rPr>
              <a:t>2</a:t>
            </a:r>
            <a:r>
              <a:rPr lang="en" sz="1400" b="1" dirty="0">
                <a:solidFill>
                  <a:srgbClr val="FF0000"/>
                </a:solidFill>
              </a:rPr>
              <a:t>N)</a:t>
            </a:r>
            <a:r>
              <a:rPr lang="en" sz="1400" dirty="0"/>
              <a:t>.</a:t>
            </a:r>
            <a:endParaRPr sz="1400" dirty="0"/>
          </a:p>
          <a:p>
            <a:pPr marL="457200" marR="0" lvl="0" indent="-317500" algn="l" rtl="0">
              <a:lnSpc>
                <a:spcPct val="115000"/>
              </a:lnSpc>
              <a:spcBef>
                <a:spcPts val="1000"/>
              </a:spcBef>
              <a:spcAft>
                <a:spcPts val="0"/>
              </a:spcAft>
              <a:buSzPts val="1400"/>
              <a:buChar char="●"/>
            </a:pPr>
            <a:r>
              <a:rPr lang="en" sz="1400" dirty="0"/>
              <a:t>If the BST is unbalanced, the performance approaches linear time (</a:t>
            </a:r>
            <a:r>
              <a:rPr lang="en" sz="1400" b="1" dirty="0">
                <a:solidFill>
                  <a:srgbClr val="FF0000"/>
                </a:solidFill>
              </a:rPr>
              <a:t>O(N)</a:t>
            </a:r>
            <a:r>
              <a:rPr lang="en" sz="1400" dirty="0"/>
              <a:t>).</a:t>
            </a:r>
            <a:endParaRPr sz="1400" dirty="0"/>
          </a:p>
        </p:txBody>
      </p:sp>
      <p:sp>
        <p:nvSpPr>
          <p:cNvPr id="1278" name="Google Shape;1278;p102"/>
          <p:cNvSpPr txBox="1"/>
          <p:nvPr/>
        </p:nvSpPr>
        <p:spPr>
          <a:xfrm>
            <a:off x="5241625" y="2254188"/>
            <a:ext cx="3665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Each iteration eliminates half of the nodes in a balanced tree. The complexity is therefore O(log</a:t>
            </a:r>
            <a:r>
              <a:rPr lang="en" sz="1200" baseline="-25000"/>
              <a:t>2</a:t>
            </a:r>
            <a:r>
              <a:rPr lang="en" sz="1200"/>
              <a:t>N) (just like </a:t>
            </a:r>
            <a:r>
              <a:rPr lang="en" sz="1200" i="1"/>
              <a:t>binary search</a:t>
            </a:r>
            <a:r>
              <a:rPr lang="en" sz="1200"/>
              <a:t>). </a:t>
            </a:r>
            <a:endParaRPr sz="1200"/>
          </a:p>
        </p:txBody>
      </p:sp>
      <p:grpSp>
        <p:nvGrpSpPr>
          <p:cNvPr id="1279" name="Google Shape;1279;p102"/>
          <p:cNvGrpSpPr/>
          <p:nvPr/>
        </p:nvGrpSpPr>
        <p:grpSpPr>
          <a:xfrm>
            <a:off x="6021888" y="794302"/>
            <a:ext cx="1994834" cy="1307508"/>
            <a:chOff x="4446813" y="1496675"/>
            <a:chExt cx="1994834" cy="1307508"/>
          </a:xfrm>
        </p:grpSpPr>
        <p:sp>
          <p:nvSpPr>
            <p:cNvPr id="1280" name="Google Shape;1280;p102"/>
            <p:cNvSpPr/>
            <p:nvPr/>
          </p:nvSpPr>
          <p:spPr>
            <a:xfrm>
              <a:off x="4792965"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1281" name="Google Shape;1281;p102"/>
            <p:cNvSpPr/>
            <p:nvPr/>
          </p:nvSpPr>
          <p:spPr>
            <a:xfrm>
              <a:off x="5778469" y="1970057"/>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1282" name="Google Shape;1282;p102"/>
            <p:cNvSpPr/>
            <p:nvPr/>
          </p:nvSpPr>
          <p:spPr>
            <a:xfrm>
              <a:off x="4446813"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1283" name="Google Shape;1283;p102"/>
            <p:cNvSpPr/>
            <p:nvPr/>
          </p:nvSpPr>
          <p:spPr>
            <a:xfrm>
              <a:off x="5303819" y="1496675"/>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a:t>
              </a:r>
              <a:endParaRPr sz="1000"/>
            </a:p>
          </p:txBody>
        </p:sp>
        <p:cxnSp>
          <p:nvCxnSpPr>
            <p:cNvPr id="1284" name="Google Shape;1284;p102"/>
            <p:cNvCxnSpPr>
              <a:stCxn id="1283" idx="3"/>
              <a:endCxn id="1280" idx="0"/>
            </p:cNvCxnSpPr>
            <p:nvPr/>
          </p:nvCxnSpPr>
          <p:spPr>
            <a:xfrm flipH="1">
              <a:off x="4960106" y="1782189"/>
              <a:ext cx="392700" cy="187800"/>
            </a:xfrm>
            <a:prstGeom prst="straightConnector1">
              <a:avLst/>
            </a:prstGeom>
            <a:noFill/>
            <a:ln w="9525" cap="flat" cmpd="sng">
              <a:solidFill>
                <a:srgbClr val="FFFFFF"/>
              </a:solidFill>
              <a:prstDash val="solid"/>
              <a:round/>
              <a:headEnd type="none" w="med" len="med"/>
              <a:tailEnd type="triangle" w="med" len="med"/>
            </a:ln>
          </p:spPr>
        </p:cxnSp>
        <p:cxnSp>
          <p:nvCxnSpPr>
            <p:cNvPr id="1285" name="Google Shape;1285;p102"/>
            <p:cNvCxnSpPr>
              <a:stCxn id="1283" idx="5"/>
              <a:endCxn id="1281" idx="0"/>
            </p:cNvCxnSpPr>
            <p:nvPr/>
          </p:nvCxnSpPr>
          <p:spPr>
            <a:xfrm>
              <a:off x="5589333" y="1782189"/>
              <a:ext cx="356400" cy="187800"/>
            </a:xfrm>
            <a:prstGeom prst="straightConnector1">
              <a:avLst/>
            </a:prstGeom>
            <a:noFill/>
            <a:ln w="9525" cap="flat" cmpd="sng">
              <a:solidFill>
                <a:srgbClr val="FFFFFF"/>
              </a:solidFill>
              <a:prstDash val="solid"/>
              <a:round/>
              <a:headEnd type="none" w="med" len="med"/>
              <a:tailEnd type="triangle" w="med" len="med"/>
            </a:ln>
          </p:spPr>
        </p:cxnSp>
        <p:sp>
          <p:nvSpPr>
            <p:cNvPr id="1286" name="Google Shape;1286;p102"/>
            <p:cNvSpPr/>
            <p:nvPr/>
          </p:nvSpPr>
          <p:spPr>
            <a:xfrm>
              <a:off x="509678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sp>
          <p:nvSpPr>
            <p:cNvPr id="1287" name="Google Shape;1287;p102"/>
            <p:cNvSpPr/>
            <p:nvPr/>
          </p:nvSpPr>
          <p:spPr>
            <a:xfrm>
              <a:off x="5469570"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a:t>
              </a:r>
              <a:endParaRPr sz="1000"/>
            </a:p>
          </p:txBody>
        </p:sp>
        <p:sp>
          <p:nvSpPr>
            <p:cNvPr id="1288" name="Google Shape;1288;p102"/>
            <p:cNvSpPr/>
            <p:nvPr/>
          </p:nvSpPr>
          <p:spPr>
            <a:xfrm>
              <a:off x="6107147" y="2469683"/>
              <a:ext cx="334500" cy="3345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cxnSp>
          <p:nvCxnSpPr>
            <p:cNvPr id="1289" name="Google Shape;1289;p102"/>
            <p:cNvCxnSpPr>
              <a:stCxn id="1280" idx="3"/>
              <a:endCxn id="1282" idx="0"/>
            </p:cNvCxnSpPr>
            <p:nvPr/>
          </p:nvCxnSpPr>
          <p:spPr>
            <a:xfrm flipH="1">
              <a:off x="4613951" y="2255570"/>
              <a:ext cx="228000" cy="214200"/>
            </a:xfrm>
            <a:prstGeom prst="straightConnector1">
              <a:avLst/>
            </a:prstGeom>
            <a:noFill/>
            <a:ln w="9525" cap="flat" cmpd="sng">
              <a:solidFill>
                <a:srgbClr val="FFFFFF"/>
              </a:solidFill>
              <a:prstDash val="solid"/>
              <a:round/>
              <a:headEnd type="none" w="med" len="med"/>
              <a:tailEnd type="triangle" w="med" len="med"/>
            </a:ln>
          </p:spPr>
        </p:cxnSp>
        <p:cxnSp>
          <p:nvCxnSpPr>
            <p:cNvPr id="1290" name="Google Shape;1290;p102"/>
            <p:cNvCxnSpPr>
              <a:stCxn id="1280" idx="5"/>
              <a:endCxn id="1286" idx="0"/>
            </p:cNvCxnSpPr>
            <p:nvPr/>
          </p:nvCxnSpPr>
          <p:spPr>
            <a:xfrm>
              <a:off x="5078479" y="2255570"/>
              <a:ext cx="185700" cy="214200"/>
            </a:xfrm>
            <a:prstGeom prst="straightConnector1">
              <a:avLst/>
            </a:prstGeom>
            <a:noFill/>
            <a:ln w="9525" cap="flat" cmpd="sng">
              <a:solidFill>
                <a:srgbClr val="FFFFFF"/>
              </a:solidFill>
              <a:prstDash val="solid"/>
              <a:round/>
              <a:headEnd type="none" w="med" len="med"/>
              <a:tailEnd type="triangle" w="med" len="med"/>
            </a:ln>
          </p:spPr>
        </p:cxnSp>
        <p:cxnSp>
          <p:nvCxnSpPr>
            <p:cNvPr id="1291" name="Google Shape;1291;p102"/>
            <p:cNvCxnSpPr>
              <a:stCxn id="1281" idx="3"/>
              <a:endCxn id="1287" idx="0"/>
            </p:cNvCxnSpPr>
            <p:nvPr/>
          </p:nvCxnSpPr>
          <p:spPr>
            <a:xfrm flipH="1">
              <a:off x="5636955" y="2255570"/>
              <a:ext cx="190500" cy="214200"/>
            </a:xfrm>
            <a:prstGeom prst="straightConnector1">
              <a:avLst/>
            </a:prstGeom>
            <a:noFill/>
            <a:ln w="9525" cap="flat" cmpd="sng">
              <a:solidFill>
                <a:srgbClr val="FFFFFF"/>
              </a:solidFill>
              <a:prstDash val="solid"/>
              <a:round/>
              <a:headEnd type="none" w="med" len="med"/>
              <a:tailEnd type="triangle" w="med" len="med"/>
            </a:ln>
          </p:spPr>
        </p:cxnSp>
        <p:cxnSp>
          <p:nvCxnSpPr>
            <p:cNvPr id="1292" name="Google Shape;1292;p102"/>
            <p:cNvCxnSpPr>
              <a:stCxn id="1281" idx="5"/>
              <a:endCxn id="1288" idx="0"/>
            </p:cNvCxnSpPr>
            <p:nvPr/>
          </p:nvCxnSpPr>
          <p:spPr>
            <a:xfrm>
              <a:off x="6063982" y="2255570"/>
              <a:ext cx="210300" cy="214200"/>
            </a:xfrm>
            <a:prstGeom prst="straightConnector1">
              <a:avLst/>
            </a:prstGeom>
            <a:noFill/>
            <a:ln w="9525" cap="flat" cmpd="sng">
              <a:solidFill>
                <a:srgbClr val="FFFFFF"/>
              </a:solidFill>
              <a:prstDash val="solid"/>
              <a:round/>
              <a:headEnd type="none" w="med" len="med"/>
              <a:tailEnd type="triangle" w="med" len="med"/>
            </a:ln>
          </p:spPr>
        </p:cxnSp>
      </p:grpSp>
      <p:sp>
        <p:nvSpPr>
          <p:cNvPr id="1293" name="Google Shape;1293;p102"/>
          <p:cNvSpPr txBox="1"/>
          <p:nvPr/>
        </p:nvSpPr>
        <p:spPr>
          <a:xfrm>
            <a:off x="5271025" y="4397775"/>
            <a:ext cx="3606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 extreme case in an unbalanced tree, every node is searched: O(N).</a:t>
            </a:r>
            <a:endParaRPr sz="1200"/>
          </a:p>
        </p:txBody>
      </p:sp>
      <p:grpSp>
        <p:nvGrpSpPr>
          <p:cNvPr id="1294" name="Google Shape;1294;p102"/>
          <p:cNvGrpSpPr/>
          <p:nvPr/>
        </p:nvGrpSpPr>
        <p:grpSpPr>
          <a:xfrm>
            <a:off x="5628238" y="3133229"/>
            <a:ext cx="3010066" cy="1187361"/>
            <a:chOff x="4161140" y="2884731"/>
            <a:chExt cx="4371918" cy="1724563"/>
          </a:xfrm>
        </p:grpSpPr>
        <p:sp>
          <p:nvSpPr>
            <p:cNvPr id="1295" name="Google Shape;1295;p102"/>
            <p:cNvSpPr/>
            <p:nvPr/>
          </p:nvSpPr>
          <p:spPr>
            <a:xfrm>
              <a:off x="7245003" y="3136711"/>
              <a:ext cx="464700" cy="4647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t>7</a:t>
              </a:r>
              <a:endParaRPr sz="1000"/>
            </a:p>
          </p:txBody>
        </p:sp>
        <p:sp>
          <p:nvSpPr>
            <p:cNvPr id="1296" name="Google Shape;1296;p102"/>
            <p:cNvSpPr/>
            <p:nvPr/>
          </p:nvSpPr>
          <p:spPr>
            <a:xfrm>
              <a:off x="6380661" y="3360534"/>
              <a:ext cx="464700" cy="4647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t>6</a:t>
              </a:r>
              <a:endParaRPr sz="1000"/>
            </a:p>
          </p:txBody>
        </p:sp>
        <p:sp>
          <p:nvSpPr>
            <p:cNvPr id="1297" name="Google Shape;1297;p102"/>
            <p:cNvSpPr/>
            <p:nvPr/>
          </p:nvSpPr>
          <p:spPr>
            <a:xfrm>
              <a:off x="8068359" y="2884731"/>
              <a:ext cx="464700" cy="4647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t>9</a:t>
              </a:r>
              <a:endParaRPr sz="1000"/>
            </a:p>
          </p:txBody>
        </p:sp>
        <p:cxnSp>
          <p:nvCxnSpPr>
            <p:cNvPr id="1298" name="Google Shape;1298;p102"/>
            <p:cNvCxnSpPr>
              <a:stCxn id="1297" idx="3"/>
              <a:endCxn id="1295" idx="6"/>
            </p:cNvCxnSpPr>
            <p:nvPr/>
          </p:nvCxnSpPr>
          <p:spPr>
            <a:xfrm flipH="1">
              <a:off x="7709812" y="3281377"/>
              <a:ext cx="426600" cy="87600"/>
            </a:xfrm>
            <a:prstGeom prst="straightConnector1">
              <a:avLst/>
            </a:prstGeom>
            <a:noFill/>
            <a:ln w="9525" cap="flat" cmpd="sng">
              <a:solidFill>
                <a:srgbClr val="FFFFFF"/>
              </a:solidFill>
              <a:prstDash val="solid"/>
              <a:round/>
              <a:headEnd type="none" w="med" len="med"/>
              <a:tailEnd type="triangle" w="med" len="med"/>
            </a:ln>
          </p:spPr>
        </p:cxnSp>
        <p:cxnSp>
          <p:nvCxnSpPr>
            <p:cNvPr id="1299" name="Google Shape;1299;p102"/>
            <p:cNvCxnSpPr>
              <a:stCxn id="1295" idx="3"/>
              <a:endCxn id="1296" idx="6"/>
            </p:cNvCxnSpPr>
            <p:nvPr/>
          </p:nvCxnSpPr>
          <p:spPr>
            <a:xfrm flipH="1">
              <a:off x="6845357" y="3533358"/>
              <a:ext cx="467700" cy="59400"/>
            </a:xfrm>
            <a:prstGeom prst="straightConnector1">
              <a:avLst/>
            </a:prstGeom>
            <a:noFill/>
            <a:ln w="9525" cap="flat" cmpd="sng">
              <a:solidFill>
                <a:srgbClr val="FFFFFF"/>
              </a:solidFill>
              <a:prstDash val="solid"/>
              <a:round/>
              <a:headEnd type="none" w="med" len="med"/>
              <a:tailEnd type="triangle" w="med" len="med"/>
            </a:ln>
          </p:spPr>
        </p:cxnSp>
        <p:sp>
          <p:nvSpPr>
            <p:cNvPr id="1300" name="Google Shape;1300;p102"/>
            <p:cNvSpPr/>
            <p:nvPr/>
          </p:nvSpPr>
          <p:spPr>
            <a:xfrm>
              <a:off x="5723594" y="3734943"/>
              <a:ext cx="464700" cy="4647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t>5</a:t>
              </a:r>
              <a:endParaRPr sz="1000"/>
            </a:p>
          </p:txBody>
        </p:sp>
        <p:cxnSp>
          <p:nvCxnSpPr>
            <p:cNvPr id="1301" name="Google Shape;1301;p102"/>
            <p:cNvCxnSpPr>
              <a:stCxn id="1296" idx="3"/>
              <a:endCxn id="1300" idx="7"/>
            </p:cNvCxnSpPr>
            <p:nvPr/>
          </p:nvCxnSpPr>
          <p:spPr>
            <a:xfrm flipH="1">
              <a:off x="6120215" y="3757181"/>
              <a:ext cx="328500" cy="45900"/>
            </a:xfrm>
            <a:prstGeom prst="straightConnector1">
              <a:avLst/>
            </a:prstGeom>
            <a:noFill/>
            <a:ln w="9525" cap="flat" cmpd="sng">
              <a:solidFill>
                <a:srgbClr val="FFFFFF"/>
              </a:solidFill>
              <a:prstDash val="solid"/>
              <a:round/>
              <a:headEnd type="none" w="med" len="med"/>
              <a:tailEnd type="triangle" w="med" len="med"/>
            </a:ln>
          </p:spPr>
        </p:cxnSp>
        <p:sp>
          <p:nvSpPr>
            <p:cNvPr id="1302" name="Google Shape;1302;p102"/>
            <p:cNvSpPr/>
            <p:nvPr/>
          </p:nvSpPr>
          <p:spPr>
            <a:xfrm>
              <a:off x="4918119" y="3969746"/>
              <a:ext cx="464700" cy="4647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t>4</a:t>
              </a:r>
              <a:endParaRPr sz="1000"/>
            </a:p>
          </p:txBody>
        </p:sp>
        <p:cxnSp>
          <p:nvCxnSpPr>
            <p:cNvPr id="1303" name="Google Shape;1303;p102"/>
            <p:cNvCxnSpPr>
              <a:stCxn id="1300" idx="3"/>
              <a:endCxn id="1302" idx="6"/>
            </p:cNvCxnSpPr>
            <p:nvPr/>
          </p:nvCxnSpPr>
          <p:spPr>
            <a:xfrm flipH="1">
              <a:off x="5382748" y="4131589"/>
              <a:ext cx="408900" cy="70500"/>
            </a:xfrm>
            <a:prstGeom prst="straightConnector1">
              <a:avLst/>
            </a:prstGeom>
            <a:noFill/>
            <a:ln w="9525" cap="flat" cmpd="sng">
              <a:solidFill>
                <a:srgbClr val="FFFFFF"/>
              </a:solidFill>
              <a:prstDash val="solid"/>
              <a:round/>
              <a:headEnd type="none" w="med" len="med"/>
              <a:tailEnd type="triangle" w="med" len="med"/>
            </a:ln>
          </p:spPr>
        </p:cxnSp>
        <p:cxnSp>
          <p:nvCxnSpPr>
            <p:cNvPr id="1304" name="Google Shape;1304;p102"/>
            <p:cNvCxnSpPr>
              <a:stCxn id="1302" idx="3"/>
              <a:endCxn id="1305" idx="6"/>
            </p:cNvCxnSpPr>
            <p:nvPr/>
          </p:nvCxnSpPr>
          <p:spPr>
            <a:xfrm flipH="1">
              <a:off x="4625872" y="4366393"/>
              <a:ext cx="360300" cy="10500"/>
            </a:xfrm>
            <a:prstGeom prst="straightConnector1">
              <a:avLst/>
            </a:prstGeom>
            <a:noFill/>
            <a:ln w="9525" cap="flat" cmpd="sng">
              <a:solidFill>
                <a:srgbClr val="FFFFFF"/>
              </a:solidFill>
              <a:prstDash val="solid"/>
              <a:round/>
              <a:headEnd type="none" w="med" len="med"/>
              <a:tailEnd type="triangle" w="med" len="med"/>
            </a:ln>
          </p:spPr>
        </p:cxnSp>
        <p:sp>
          <p:nvSpPr>
            <p:cNvPr id="1305" name="Google Shape;1305;p102"/>
            <p:cNvSpPr/>
            <p:nvPr/>
          </p:nvSpPr>
          <p:spPr>
            <a:xfrm>
              <a:off x="4161140" y="4144593"/>
              <a:ext cx="464700" cy="464700"/>
            </a:xfrm>
            <a:prstGeom prst="ellipse">
              <a:avLst/>
            </a:prstGeom>
            <a:solidFill>
              <a:srgbClr val="F9CB9C"/>
            </a:solidFill>
            <a:ln w="19050" cap="flat" cmpd="sng">
              <a:solidFill>
                <a:srgbClr val="000000"/>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1000"/>
                <a:t>3</a:t>
              </a:r>
              <a:endParaRPr sz="1000"/>
            </a:p>
          </p:txBody>
        </p:sp>
      </p:grpSp>
      <p:sp>
        <p:nvSpPr>
          <p:cNvPr id="1306" name="Google Shape;1306;p10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7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78"/>
                                        </p:tgtEl>
                                        <p:attrNameLst>
                                          <p:attrName>style.visibility</p:attrName>
                                        </p:attrNameLst>
                                      </p:cBhvr>
                                      <p:to>
                                        <p:strVal val="visible"/>
                                      </p:to>
                                    </p:set>
                                    <p:animEffect transition="in" filter="fade">
                                      <p:cBhvr>
                                        <p:cTn id="39" dur="1000"/>
                                        <p:tgtEl>
                                          <p:spTgt spid="1278"/>
                                        </p:tgtEl>
                                      </p:cBhvr>
                                    </p:animEffect>
                                  </p:childTnLst>
                                </p:cTn>
                              </p:par>
                              <p:par>
                                <p:cTn id="40" presetID="10" presetClass="entr" presetSubtype="0" fill="hold" nodeType="withEffect">
                                  <p:stCondLst>
                                    <p:cond delay="0"/>
                                  </p:stCondLst>
                                  <p:childTnLst>
                                    <p:set>
                                      <p:cBhvr>
                                        <p:cTn id="41" dur="1" fill="hold">
                                          <p:stCondLst>
                                            <p:cond delay="0"/>
                                          </p:stCondLst>
                                        </p:cTn>
                                        <p:tgtEl>
                                          <p:spTgt spid="1279"/>
                                        </p:tgtEl>
                                        <p:attrNameLst>
                                          <p:attrName>style.visibility</p:attrName>
                                        </p:attrNameLst>
                                      </p:cBhvr>
                                      <p:to>
                                        <p:strVal val="visible"/>
                                      </p:to>
                                    </p:set>
                                    <p:animEffect transition="in" filter="fade">
                                      <p:cBhvr>
                                        <p:cTn id="42" dur="1000"/>
                                        <p:tgtEl>
                                          <p:spTgt spid="127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93"/>
                                        </p:tgtEl>
                                        <p:attrNameLst>
                                          <p:attrName>style.visibility</p:attrName>
                                        </p:attrNameLst>
                                      </p:cBhvr>
                                      <p:to>
                                        <p:strVal val="visible"/>
                                      </p:to>
                                    </p:set>
                                    <p:animEffect transition="in" filter="fade">
                                      <p:cBhvr>
                                        <p:cTn id="47" dur="1000"/>
                                        <p:tgtEl>
                                          <p:spTgt spid="1293"/>
                                        </p:tgtEl>
                                      </p:cBhvr>
                                    </p:animEffect>
                                  </p:childTnLst>
                                </p:cTn>
                              </p:par>
                              <p:par>
                                <p:cTn id="48" presetID="10" presetClass="entr" presetSubtype="0" fill="hold" nodeType="withEffect">
                                  <p:stCondLst>
                                    <p:cond delay="0"/>
                                  </p:stCondLst>
                                  <p:childTnLst>
                                    <p:set>
                                      <p:cBhvr>
                                        <p:cTn id="49" dur="1" fill="hold">
                                          <p:stCondLst>
                                            <p:cond delay="0"/>
                                          </p:stCondLst>
                                        </p:cTn>
                                        <p:tgtEl>
                                          <p:spTgt spid="1294"/>
                                        </p:tgtEl>
                                        <p:attrNameLst>
                                          <p:attrName>style.visibility</p:attrName>
                                        </p:attrNameLst>
                                      </p:cBhvr>
                                      <p:to>
                                        <p:strVal val="visible"/>
                                      </p:to>
                                    </p:set>
                                    <p:animEffect transition="in" filter="fade">
                                      <p:cBhvr>
                                        <p:cTn id="50" dur="1000"/>
                                        <p:tgtEl>
                                          <p:spTgt spid="1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10"/>
        <p:cNvGrpSpPr/>
        <p:nvPr/>
      </p:nvGrpSpPr>
      <p:grpSpPr>
        <a:xfrm>
          <a:off x="0" y="0"/>
          <a:ext cx="0" cy="0"/>
          <a:chOff x="0" y="0"/>
          <a:chExt cx="0" cy="0"/>
        </a:xfrm>
      </p:grpSpPr>
      <p:pic>
        <p:nvPicPr>
          <p:cNvPr id="1311" name="Google Shape;1311;p103"/>
          <p:cNvPicPr preferRelativeResize="0"/>
          <p:nvPr/>
        </p:nvPicPr>
        <p:blipFill>
          <a:blip r:embed="rId3">
            <a:alphaModFix/>
          </a:blip>
          <a:stretch>
            <a:fillRect/>
          </a:stretch>
        </p:blipFill>
        <p:spPr>
          <a:xfrm>
            <a:off x="0" y="518770"/>
            <a:ext cx="4223931" cy="4161628"/>
          </a:xfrm>
          <a:prstGeom prst="rect">
            <a:avLst/>
          </a:prstGeom>
          <a:noFill/>
          <a:ln>
            <a:noFill/>
          </a:ln>
        </p:spPr>
      </p:pic>
      <p:sp>
        <p:nvSpPr>
          <p:cNvPr id="1312" name="Google Shape;1312;p103"/>
          <p:cNvSpPr txBox="1">
            <a:spLocks noGrp="1"/>
          </p:cNvSpPr>
          <p:nvPr>
            <p:ph type="title"/>
          </p:nvPr>
        </p:nvSpPr>
        <p:spPr>
          <a:xfrm>
            <a:off x="3117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Determining Order</a:t>
            </a:r>
            <a:endParaRPr/>
          </a:p>
        </p:txBody>
      </p:sp>
      <p:sp>
        <p:nvSpPr>
          <p:cNvPr id="1313" name="Google Shape;1313;p10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sp>
        <p:nvSpPr>
          <p:cNvPr id="1314" name="Google Shape;1314;p103"/>
          <p:cNvSpPr txBox="1">
            <a:spLocks noGrp="1"/>
          </p:cNvSpPr>
          <p:nvPr>
            <p:ph type="body" idx="1"/>
          </p:nvPr>
        </p:nvSpPr>
        <p:spPr>
          <a:xfrm>
            <a:off x="4298925" y="-68006"/>
            <a:ext cx="4529700" cy="5263462"/>
          </a:xfrm>
          <a:prstGeom prst="rect">
            <a:avLst/>
          </a:prstGeom>
        </p:spPr>
        <p:txBody>
          <a:bodyPr spcFirstLastPara="1" wrap="square" lIns="91425" tIns="91425" rIns="91425" bIns="91425" anchor="ctr" anchorCtr="0">
            <a:spAutoFit/>
          </a:bodyPr>
          <a:lstStyle/>
          <a:p>
            <a:pPr marL="457200" lvl="0" indent="-311150" algn="l" rtl="0">
              <a:spcBef>
                <a:spcPts val="0"/>
              </a:spcBef>
              <a:spcAft>
                <a:spcPts val="0"/>
              </a:spcAft>
              <a:buSzPts val="1300"/>
              <a:buChar char="●"/>
            </a:pPr>
            <a:r>
              <a:rPr lang="en" dirty="0">
                <a:highlight>
                  <a:srgbClr val="FFFF00"/>
                </a:highlight>
              </a:rPr>
              <a:t>Sorting </a:t>
            </a:r>
            <a:r>
              <a:rPr lang="en" b="1" i="1" dirty="0">
                <a:solidFill>
                  <a:srgbClr val="FF0000"/>
                </a:solidFill>
                <a:highlight>
                  <a:srgbClr val="FFFF00"/>
                </a:highlight>
              </a:rPr>
              <a:t>numbers</a:t>
            </a:r>
            <a:r>
              <a:rPr lang="en" dirty="0">
                <a:solidFill>
                  <a:srgbClr val="FF0000"/>
                </a:solidFill>
                <a:highlight>
                  <a:srgbClr val="FFFF00"/>
                </a:highlight>
              </a:rPr>
              <a:t> </a:t>
            </a:r>
            <a:r>
              <a:rPr lang="en" dirty="0">
                <a:highlight>
                  <a:srgbClr val="FFFF00"/>
                </a:highlight>
              </a:rPr>
              <a:t>is easy.</a:t>
            </a:r>
            <a:endParaRPr dirty="0">
              <a:highlight>
                <a:srgbClr val="FFFF00"/>
              </a:highlight>
            </a:endParaRPr>
          </a:p>
          <a:p>
            <a:pPr marL="914400" lvl="1" indent="-298450" algn="l" rtl="0">
              <a:spcBef>
                <a:spcPts val="0"/>
              </a:spcBef>
              <a:spcAft>
                <a:spcPts val="0"/>
              </a:spcAft>
              <a:buSzPts val="1100"/>
              <a:buChar char="○"/>
            </a:pPr>
            <a:r>
              <a:rPr lang="en" dirty="0"/>
              <a:t>You either sort them in </a:t>
            </a:r>
            <a:r>
              <a:rPr lang="en" b="1" i="1" dirty="0">
                <a:solidFill>
                  <a:srgbClr val="FF0000"/>
                </a:solidFill>
              </a:rPr>
              <a:t>ascending</a:t>
            </a:r>
            <a:r>
              <a:rPr lang="en" dirty="0">
                <a:solidFill>
                  <a:srgbClr val="FF0000"/>
                </a:solidFill>
              </a:rPr>
              <a:t> </a:t>
            </a:r>
            <a:r>
              <a:rPr lang="en" dirty="0"/>
              <a:t>order from smallest to largest, or </a:t>
            </a:r>
            <a:r>
              <a:rPr lang="en" b="1" i="1" dirty="0">
                <a:solidFill>
                  <a:srgbClr val="FF0000"/>
                </a:solidFill>
              </a:rPr>
              <a:t>descending</a:t>
            </a:r>
            <a:r>
              <a:rPr lang="en" dirty="0">
                <a:solidFill>
                  <a:srgbClr val="FF0000"/>
                </a:solidFill>
              </a:rPr>
              <a:t> </a:t>
            </a:r>
            <a:r>
              <a:rPr lang="en" dirty="0"/>
              <a:t>order from largest to smallest.</a:t>
            </a:r>
            <a:endParaRPr dirty="0"/>
          </a:p>
          <a:p>
            <a:pPr marL="457200" lvl="0" indent="-311150" algn="l" rtl="0">
              <a:spcBef>
                <a:spcPts val="1000"/>
              </a:spcBef>
              <a:spcAft>
                <a:spcPts val="0"/>
              </a:spcAft>
              <a:buSzPts val="1300"/>
              <a:buChar char="●"/>
            </a:pPr>
            <a:r>
              <a:rPr lang="en" dirty="0">
                <a:highlight>
                  <a:srgbClr val="FFFF00"/>
                </a:highlight>
              </a:rPr>
              <a:t>Sorting strings is also easy. Sort of.</a:t>
            </a:r>
            <a:endParaRPr dirty="0">
              <a:highlight>
                <a:srgbClr val="FFFF00"/>
              </a:highlight>
            </a:endParaRPr>
          </a:p>
          <a:p>
            <a:pPr marL="914400" lvl="1" indent="-298450" algn="l" rtl="0">
              <a:spcBef>
                <a:spcPts val="0"/>
              </a:spcBef>
              <a:spcAft>
                <a:spcPts val="0"/>
              </a:spcAft>
              <a:buSzPts val="1100"/>
              <a:buChar char="○"/>
            </a:pPr>
            <a:r>
              <a:rPr lang="en" dirty="0"/>
              <a:t>Most humans like to sort strings </a:t>
            </a:r>
            <a:r>
              <a:rPr lang="en" b="1" i="1" dirty="0">
                <a:solidFill>
                  <a:srgbClr val="FF0000"/>
                </a:solidFill>
              </a:rPr>
              <a:t>alphabetically</a:t>
            </a:r>
            <a:r>
              <a:rPr lang="en" dirty="0"/>
              <a:t>, e.g. "apple", "Cat", "monkey", "Zoo".</a:t>
            </a:r>
            <a:endParaRPr dirty="0"/>
          </a:p>
          <a:p>
            <a:pPr marL="914400" lvl="1" indent="-298450" algn="l" rtl="0">
              <a:spcBef>
                <a:spcPts val="0"/>
              </a:spcBef>
              <a:spcAft>
                <a:spcPts val="0"/>
              </a:spcAft>
              <a:buSzPts val="1100"/>
              <a:buChar char="○"/>
            </a:pPr>
            <a:r>
              <a:rPr lang="en" dirty="0"/>
              <a:t>Most computers like to sort them </a:t>
            </a:r>
            <a:r>
              <a:rPr lang="en" b="1" i="1" dirty="0">
                <a:solidFill>
                  <a:srgbClr val="FF0000"/>
                </a:solidFill>
              </a:rPr>
              <a:t>lexicographically</a:t>
            </a:r>
            <a:r>
              <a:rPr lang="en" dirty="0"/>
              <a:t>, which is in </a:t>
            </a:r>
            <a:r>
              <a:rPr lang="en" b="1" i="1" dirty="0">
                <a:solidFill>
                  <a:srgbClr val="FF0000"/>
                </a:solidFill>
              </a:rPr>
              <a:t>ascending</a:t>
            </a:r>
            <a:r>
              <a:rPr lang="en" dirty="0">
                <a:solidFill>
                  <a:srgbClr val="FF0000"/>
                </a:solidFill>
              </a:rPr>
              <a:t> </a:t>
            </a:r>
            <a:r>
              <a:rPr lang="en" dirty="0"/>
              <a:t>order by </a:t>
            </a:r>
            <a:r>
              <a:rPr lang="en" b="1" i="1" dirty="0">
                <a:solidFill>
                  <a:srgbClr val="FF0000"/>
                </a:solidFill>
              </a:rPr>
              <a:t>ASCII</a:t>
            </a:r>
            <a:r>
              <a:rPr lang="en" dirty="0">
                <a:solidFill>
                  <a:srgbClr val="FF0000"/>
                </a:solidFill>
              </a:rPr>
              <a:t> </a:t>
            </a:r>
            <a:r>
              <a:rPr lang="en" dirty="0"/>
              <a:t>value, e.g. "Cat", "Zoo", "apple", "monkey".</a:t>
            </a:r>
            <a:endParaRPr dirty="0"/>
          </a:p>
          <a:p>
            <a:pPr marL="457200" lvl="0" indent="-311150" algn="l" rtl="0">
              <a:spcBef>
                <a:spcPts val="1000"/>
              </a:spcBef>
              <a:spcAft>
                <a:spcPts val="0"/>
              </a:spcAft>
              <a:buSzPts val="1300"/>
              <a:buChar char="●"/>
            </a:pPr>
            <a:r>
              <a:rPr lang="en" dirty="0"/>
              <a:t>But what about sorting other types of things?</a:t>
            </a:r>
            <a:endParaRPr dirty="0"/>
          </a:p>
          <a:p>
            <a:pPr marL="914400" lvl="1" indent="-298450" algn="l" rtl="0">
              <a:spcBef>
                <a:spcPts val="0"/>
              </a:spcBef>
              <a:spcAft>
                <a:spcPts val="0"/>
              </a:spcAft>
              <a:buSzPts val="1100"/>
              <a:buChar char="○"/>
            </a:pPr>
            <a:r>
              <a:rPr lang="en" dirty="0">
                <a:highlight>
                  <a:srgbClr val="FFFF00"/>
                </a:highlight>
              </a:rPr>
              <a:t>Like fruits, or dogs, or goats, or trolls?</a:t>
            </a:r>
            <a:endParaRPr dirty="0">
              <a:highlight>
                <a:srgbClr val="FFFF00"/>
              </a:highlight>
            </a:endParaRPr>
          </a:p>
          <a:p>
            <a:pPr marL="914400" lvl="1" indent="-298450" algn="l" rtl="0">
              <a:spcBef>
                <a:spcPts val="0"/>
              </a:spcBef>
              <a:spcAft>
                <a:spcPts val="0"/>
              </a:spcAft>
              <a:buSzPts val="1100"/>
              <a:buChar char="○"/>
            </a:pPr>
            <a:r>
              <a:rPr lang="en" dirty="0"/>
              <a:t>Or the </a:t>
            </a:r>
            <a:r>
              <a:rPr lang="en" b="1" i="1" dirty="0">
                <a:solidFill>
                  <a:srgbClr val="FF0000"/>
                </a:solidFill>
              </a:rPr>
              <a:t>symbols in an alien language</a:t>
            </a:r>
            <a:r>
              <a:rPr lang="en" dirty="0"/>
              <a:t>?</a:t>
            </a:r>
            <a:endParaRPr dirty="0"/>
          </a:p>
          <a:p>
            <a:pPr marL="457200" lvl="0" indent="-311150" algn="l" rtl="0">
              <a:spcBef>
                <a:spcPts val="1000"/>
              </a:spcBef>
              <a:spcAft>
                <a:spcPts val="0"/>
              </a:spcAft>
              <a:buSzPts val="1300"/>
              <a:buChar char="●"/>
            </a:pPr>
            <a:r>
              <a:rPr lang="en" dirty="0"/>
              <a:t>We already know how to compare arbitrary objects for </a:t>
            </a:r>
            <a:r>
              <a:rPr lang="en" b="1" i="1" dirty="0">
                <a:solidFill>
                  <a:srgbClr val="FF0000"/>
                </a:solidFill>
              </a:rPr>
              <a:t>equality</a:t>
            </a:r>
            <a:r>
              <a:rPr lang="en" i="1" dirty="0"/>
              <a:t>.</a:t>
            </a:r>
            <a:endParaRPr i="1" dirty="0"/>
          </a:p>
          <a:p>
            <a:pPr marL="914400" lvl="1" indent="-298450" algn="l" rtl="0">
              <a:spcBef>
                <a:spcPts val="0"/>
              </a:spcBef>
              <a:spcAft>
                <a:spcPts val="0"/>
              </a:spcAft>
              <a:buSzPts val="1100"/>
              <a:buChar char="○"/>
            </a:pPr>
            <a:r>
              <a:rPr lang="en" dirty="0"/>
              <a:t>We use the </a:t>
            </a:r>
            <a:r>
              <a:rPr lang="en" dirty="0">
                <a:highlight>
                  <a:srgbClr val="FFFF00"/>
                </a:highlight>
                <a:latin typeface="Courier New"/>
                <a:ea typeface="Courier New"/>
                <a:cs typeface="Courier New"/>
                <a:sym typeface="Courier New"/>
              </a:rPr>
              <a:t>equals(Object)</a:t>
            </a:r>
            <a:r>
              <a:rPr lang="en" dirty="0">
                <a:highlight>
                  <a:srgbClr val="FFFF00"/>
                </a:highlight>
              </a:rPr>
              <a:t> </a:t>
            </a:r>
            <a:r>
              <a:rPr lang="en" dirty="0"/>
              <a:t>method that is inherited from the </a:t>
            </a:r>
            <a:r>
              <a:rPr lang="en" dirty="0">
                <a:latin typeface="Courier New"/>
                <a:ea typeface="Courier New"/>
                <a:cs typeface="Courier New"/>
                <a:sym typeface="Courier New"/>
              </a:rPr>
              <a:t>Object</a:t>
            </a:r>
            <a:r>
              <a:rPr lang="en" dirty="0"/>
              <a:t> class.</a:t>
            </a:r>
            <a:endParaRPr dirty="0"/>
          </a:p>
          <a:p>
            <a:pPr marL="914400" lvl="1" indent="-298450" algn="l" rtl="0">
              <a:spcBef>
                <a:spcPts val="0"/>
              </a:spcBef>
              <a:spcAft>
                <a:spcPts val="0"/>
              </a:spcAft>
              <a:buSzPts val="1100"/>
              <a:buChar char="○"/>
            </a:pPr>
            <a:r>
              <a:rPr lang="en" dirty="0"/>
              <a:t>The </a:t>
            </a:r>
            <a:r>
              <a:rPr lang="en" dirty="0">
                <a:highlight>
                  <a:srgbClr val="FFFF00"/>
                </a:highlight>
              </a:rPr>
              <a:t>default implementation compares the </a:t>
            </a:r>
            <a:r>
              <a:rPr lang="en" b="1" i="1" dirty="0">
                <a:solidFill>
                  <a:srgbClr val="FF0000"/>
                </a:solidFill>
                <a:highlight>
                  <a:srgbClr val="FFFF00"/>
                </a:highlight>
              </a:rPr>
              <a:t>identity</a:t>
            </a:r>
            <a:r>
              <a:rPr lang="en" dirty="0">
                <a:solidFill>
                  <a:srgbClr val="FF0000"/>
                </a:solidFill>
                <a:highlight>
                  <a:srgbClr val="FFFF00"/>
                </a:highlight>
              </a:rPr>
              <a:t> </a:t>
            </a:r>
            <a:r>
              <a:rPr lang="en" dirty="0">
                <a:highlight>
                  <a:srgbClr val="FFFF00"/>
                </a:highlight>
              </a:rPr>
              <a:t>of the two objects, </a:t>
            </a:r>
            <a:r>
              <a:rPr lang="en" dirty="0"/>
              <a:t>but we can override that.</a:t>
            </a:r>
            <a:endParaRPr dirty="0"/>
          </a:p>
          <a:p>
            <a:pPr marL="457200" lvl="0" indent="-311150" algn="l" rtl="0">
              <a:spcBef>
                <a:spcPts val="1000"/>
              </a:spcBef>
              <a:spcAft>
                <a:spcPts val="0"/>
              </a:spcAft>
              <a:buSzPts val="1300"/>
              <a:buChar char="●"/>
            </a:pPr>
            <a:r>
              <a:rPr lang="en" dirty="0"/>
              <a:t>That's great, but knowing whether or not two objects are </a:t>
            </a:r>
            <a:r>
              <a:rPr lang="en" b="1" i="1" dirty="0">
                <a:solidFill>
                  <a:srgbClr val="FF0000"/>
                </a:solidFill>
              </a:rPr>
              <a:t>equal</a:t>
            </a:r>
            <a:r>
              <a:rPr lang="en" dirty="0">
                <a:solidFill>
                  <a:srgbClr val="FF0000"/>
                </a:solidFill>
              </a:rPr>
              <a:t> </a:t>
            </a:r>
            <a:r>
              <a:rPr lang="en" dirty="0"/>
              <a:t>to each other tells us nothing about which one comes </a:t>
            </a:r>
            <a:r>
              <a:rPr lang="en" b="1" i="1" dirty="0">
                <a:solidFill>
                  <a:srgbClr val="FF0000"/>
                </a:solidFill>
              </a:rPr>
              <a:t>first</a:t>
            </a:r>
            <a:r>
              <a:rPr lang="en" dirty="0">
                <a:solidFill>
                  <a:srgbClr val="FF0000"/>
                </a:solidFill>
              </a:rPr>
              <a:t> </a:t>
            </a:r>
            <a:r>
              <a:rPr lang="en" dirty="0"/>
              <a:t>in sorted order.</a:t>
            </a:r>
            <a:endParaRPr dirty="0"/>
          </a:p>
        </p:txBody>
      </p:sp>
      <p:sp>
        <p:nvSpPr>
          <p:cNvPr id="1315" name="Google Shape;1315;p103"/>
          <p:cNvSpPr/>
          <p:nvPr/>
        </p:nvSpPr>
        <p:spPr>
          <a:xfrm>
            <a:off x="236275" y="1561220"/>
            <a:ext cx="1624200" cy="904500"/>
          </a:xfrm>
          <a:prstGeom prst="wedgeRoundRectCallout">
            <a:avLst>
              <a:gd name="adj1" fmla="val 64529"/>
              <a:gd name="adj2" fmla="val -46296"/>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SORT THESE alien SYMBOLS, HUMAN, OR IT'S BACK TO THE </a:t>
            </a:r>
            <a:r>
              <a:rPr lang="en" sz="1300">
                <a:solidFill>
                  <a:srgbClr val="FF0000"/>
                </a:solidFill>
                <a:latin typeface="Bangers"/>
                <a:ea typeface="Bangers"/>
                <a:cs typeface="Bangers"/>
                <a:sym typeface="Bangers"/>
              </a:rPr>
              <a:t>PROBE CHAMBER</a:t>
            </a:r>
            <a:r>
              <a:rPr lang="en" sz="1300">
                <a:latin typeface="Bangers"/>
                <a:ea typeface="Bangers"/>
                <a:cs typeface="Bangers"/>
                <a:sym typeface="Bangers"/>
              </a:rPr>
              <a:t>!</a:t>
            </a:r>
            <a:endParaRPr sz="1300">
              <a:latin typeface="Bangers"/>
              <a:ea typeface="Bangers"/>
              <a:cs typeface="Bangers"/>
              <a:sym typeface="Bangers"/>
            </a:endParaRPr>
          </a:p>
        </p:txBody>
      </p:sp>
      <p:sp>
        <p:nvSpPr>
          <p:cNvPr id="1316" name="Google Shape;1316;p103"/>
          <p:cNvSpPr txBox="1"/>
          <p:nvPr/>
        </p:nvSpPr>
        <p:spPr>
          <a:xfrm>
            <a:off x="198425" y="4447525"/>
            <a:ext cx="3819900" cy="533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It's easy enough to see that two symbols </a:t>
            </a:r>
            <a:r>
              <a:rPr lang="en" sz="1200" b="1" i="1">
                <a:solidFill>
                  <a:srgbClr val="FF0000"/>
                </a:solidFill>
              </a:rPr>
              <a:t>aren't equal</a:t>
            </a:r>
            <a:r>
              <a:rPr lang="en" sz="1200"/>
              <a:t>, but how do we tell </a:t>
            </a:r>
            <a:r>
              <a:rPr lang="en" sz="1200" b="1" i="1">
                <a:solidFill>
                  <a:srgbClr val="FF0000"/>
                </a:solidFill>
              </a:rPr>
              <a:t>which comes first</a:t>
            </a:r>
            <a:r>
              <a:rPr lang="en" sz="1200"/>
              <a:t>?</a:t>
            </a:r>
            <a:endParaRPr sz="1200"/>
          </a:p>
        </p:txBody>
      </p:sp>
      <p:sp>
        <p:nvSpPr>
          <p:cNvPr id="1317" name="Google Shape;1317;p103"/>
          <p:cNvSpPr/>
          <p:nvPr/>
        </p:nvSpPr>
        <p:spPr>
          <a:xfrm>
            <a:off x="2480300" y="2285950"/>
            <a:ext cx="1198800" cy="545400"/>
          </a:xfrm>
          <a:prstGeom prst="wedgeRoundRectCallout">
            <a:avLst>
              <a:gd name="adj1" fmla="val -63793"/>
              <a:gd name="adj2" fmla="val 48474"/>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not the probe chamber?!</a:t>
            </a:r>
            <a:endParaRPr sz="1300">
              <a:latin typeface="Bangers"/>
              <a:ea typeface="Bangers"/>
              <a:cs typeface="Bangers"/>
              <a:sym typeface="Bangers"/>
            </a:endParaRPr>
          </a:p>
        </p:txBody>
      </p:sp>
      <p:grpSp>
        <p:nvGrpSpPr>
          <p:cNvPr id="1318" name="Google Shape;1318;p103"/>
          <p:cNvGrpSpPr/>
          <p:nvPr/>
        </p:nvGrpSpPr>
        <p:grpSpPr>
          <a:xfrm>
            <a:off x="153283" y="2571761"/>
            <a:ext cx="4102975" cy="1493019"/>
            <a:chOff x="153283" y="2571761"/>
            <a:chExt cx="4102975" cy="1493019"/>
          </a:xfrm>
        </p:grpSpPr>
        <p:pic>
          <p:nvPicPr>
            <p:cNvPr id="1319" name="Google Shape;1319;p103"/>
            <p:cNvPicPr preferRelativeResize="0"/>
            <p:nvPr/>
          </p:nvPicPr>
          <p:blipFill>
            <a:blip r:embed="rId4">
              <a:alphaModFix/>
            </a:blip>
            <a:stretch>
              <a:fillRect/>
            </a:stretch>
          </p:blipFill>
          <p:spPr>
            <a:xfrm>
              <a:off x="348042" y="2833645"/>
              <a:ext cx="462916" cy="459956"/>
            </a:xfrm>
            <a:prstGeom prst="rect">
              <a:avLst/>
            </a:prstGeom>
            <a:noFill/>
            <a:ln>
              <a:noFill/>
            </a:ln>
          </p:spPr>
        </p:pic>
        <p:pic>
          <p:nvPicPr>
            <p:cNvPr id="1320" name="Google Shape;1320;p103"/>
            <p:cNvPicPr preferRelativeResize="0"/>
            <p:nvPr/>
          </p:nvPicPr>
          <p:blipFill>
            <a:blip r:embed="rId5">
              <a:alphaModFix/>
            </a:blip>
            <a:stretch>
              <a:fillRect/>
            </a:stretch>
          </p:blipFill>
          <p:spPr>
            <a:xfrm>
              <a:off x="3793342" y="3417095"/>
              <a:ext cx="462916" cy="459956"/>
            </a:xfrm>
            <a:prstGeom prst="rect">
              <a:avLst/>
            </a:prstGeom>
            <a:noFill/>
            <a:ln>
              <a:noFill/>
            </a:ln>
          </p:spPr>
        </p:pic>
        <p:pic>
          <p:nvPicPr>
            <p:cNvPr id="1321" name="Google Shape;1321;p103"/>
            <p:cNvPicPr preferRelativeResize="0"/>
            <p:nvPr/>
          </p:nvPicPr>
          <p:blipFill>
            <a:blip r:embed="rId6">
              <a:alphaModFix/>
            </a:blip>
            <a:stretch>
              <a:fillRect/>
            </a:stretch>
          </p:blipFill>
          <p:spPr>
            <a:xfrm>
              <a:off x="973417" y="3260332"/>
              <a:ext cx="462916" cy="459956"/>
            </a:xfrm>
            <a:prstGeom prst="rect">
              <a:avLst/>
            </a:prstGeom>
            <a:noFill/>
            <a:ln>
              <a:noFill/>
            </a:ln>
          </p:spPr>
        </p:pic>
        <p:pic>
          <p:nvPicPr>
            <p:cNvPr id="1322" name="Google Shape;1322;p103"/>
            <p:cNvPicPr preferRelativeResize="0"/>
            <p:nvPr/>
          </p:nvPicPr>
          <p:blipFill>
            <a:blip r:embed="rId7">
              <a:alphaModFix/>
            </a:blip>
            <a:stretch>
              <a:fillRect/>
            </a:stretch>
          </p:blipFill>
          <p:spPr>
            <a:xfrm>
              <a:off x="3459267" y="2926620"/>
              <a:ext cx="462916" cy="459956"/>
            </a:xfrm>
            <a:prstGeom prst="rect">
              <a:avLst/>
            </a:prstGeom>
            <a:noFill/>
            <a:ln>
              <a:noFill/>
            </a:ln>
          </p:spPr>
        </p:pic>
        <p:pic>
          <p:nvPicPr>
            <p:cNvPr id="1323" name="Google Shape;1323;p103"/>
            <p:cNvPicPr preferRelativeResize="0"/>
            <p:nvPr/>
          </p:nvPicPr>
          <p:blipFill>
            <a:blip r:embed="rId8">
              <a:alphaModFix/>
            </a:blip>
            <a:stretch>
              <a:fillRect/>
            </a:stretch>
          </p:blipFill>
          <p:spPr>
            <a:xfrm>
              <a:off x="153283" y="3604825"/>
              <a:ext cx="462916" cy="459956"/>
            </a:xfrm>
            <a:prstGeom prst="rect">
              <a:avLst/>
            </a:prstGeom>
            <a:noFill/>
            <a:ln>
              <a:noFill/>
            </a:ln>
          </p:spPr>
        </p:pic>
        <p:pic>
          <p:nvPicPr>
            <p:cNvPr id="1324" name="Google Shape;1324;p103"/>
            <p:cNvPicPr preferRelativeResize="0"/>
            <p:nvPr/>
          </p:nvPicPr>
          <p:blipFill>
            <a:blip r:embed="rId9">
              <a:alphaModFix/>
            </a:blip>
            <a:stretch>
              <a:fillRect/>
            </a:stretch>
          </p:blipFill>
          <p:spPr>
            <a:xfrm>
              <a:off x="1051800" y="2571761"/>
              <a:ext cx="462916" cy="459956"/>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1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1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1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1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1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1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316"/>
                                        </p:tgtEl>
                                        <p:attrNameLst>
                                          <p:attrName>style.visibility</p:attrName>
                                        </p:attrNameLst>
                                      </p:cBhvr>
                                      <p:to>
                                        <p:strVal val="visible"/>
                                      </p:to>
                                    </p:set>
                                    <p:animEffect transition="in" filter="fade">
                                      <p:cBhvr>
                                        <p:cTn id="55" dur="1000"/>
                                        <p:tgtEl>
                                          <p:spTgt spid="1316"/>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1311"/>
                                        </p:tgtEl>
                                        <p:attrNameLst>
                                          <p:attrName>style.visibility</p:attrName>
                                        </p:attrNameLst>
                                      </p:cBhvr>
                                      <p:to>
                                        <p:strVal val="visible"/>
                                      </p:to>
                                    </p:set>
                                    <p:animEffect transition="in" filter="fade">
                                      <p:cBhvr>
                                        <p:cTn id="59" dur="1000"/>
                                        <p:tgtEl>
                                          <p:spTgt spid="1311"/>
                                        </p:tgtEl>
                                      </p:cBhvr>
                                    </p:animEffect>
                                  </p:childTnLst>
                                </p:cTn>
                              </p:par>
                              <p:par>
                                <p:cTn id="60" presetID="10" presetClass="entr" presetSubtype="0" fill="hold" nodeType="withEffect">
                                  <p:stCondLst>
                                    <p:cond delay="0"/>
                                  </p:stCondLst>
                                  <p:childTnLst>
                                    <p:set>
                                      <p:cBhvr>
                                        <p:cTn id="61" dur="1" fill="hold">
                                          <p:stCondLst>
                                            <p:cond delay="0"/>
                                          </p:stCondLst>
                                        </p:cTn>
                                        <p:tgtEl>
                                          <p:spTgt spid="1318"/>
                                        </p:tgtEl>
                                        <p:attrNameLst>
                                          <p:attrName>style.visibility</p:attrName>
                                        </p:attrNameLst>
                                      </p:cBhvr>
                                      <p:to>
                                        <p:strVal val="visible"/>
                                      </p:to>
                                    </p:set>
                                    <p:animEffect transition="in" filter="fade">
                                      <p:cBhvr>
                                        <p:cTn id="62" dur="1000"/>
                                        <p:tgtEl>
                                          <p:spTgt spid="1318"/>
                                        </p:tgtEl>
                                      </p:cBhvr>
                                    </p:animEffect>
                                  </p:childTnLst>
                                </p:cTn>
                              </p:par>
                            </p:childTnLst>
                          </p:cTn>
                        </p:par>
                        <p:par>
                          <p:cTn id="63" fill="hold">
                            <p:stCondLst>
                              <p:cond delay="2000"/>
                            </p:stCondLst>
                            <p:childTnLst>
                              <p:par>
                                <p:cTn id="64" presetID="10" presetClass="entr" presetSubtype="0" fill="hold" nodeType="afterEffect">
                                  <p:stCondLst>
                                    <p:cond delay="0"/>
                                  </p:stCondLst>
                                  <p:childTnLst>
                                    <p:set>
                                      <p:cBhvr>
                                        <p:cTn id="65" dur="1" fill="hold">
                                          <p:stCondLst>
                                            <p:cond delay="0"/>
                                          </p:stCondLst>
                                        </p:cTn>
                                        <p:tgtEl>
                                          <p:spTgt spid="1315"/>
                                        </p:tgtEl>
                                        <p:attrNameLst>
                                          <p:attrName>style.visibility</p:attrName>
                                        </p:attrNameLst>
                                      </p:cBhvr>
                                      <p:to>
                                        <p:strVal val="visible"/>
                                      </p:to>
                                    </p:set>
                                    <p:animEffect transition="in" filter="fade">
                                      <p:cBhvr>
                                        <p:cTn id="66" dur="1000"/>
                                        <p:tgtEl>
                                          <p:spTgt spid="1315"/>
                                        </p:tgtEl>
                                      </p:cBhvr>
                                    </p:animEffect>
                                  </p:childTnLst>
                                </p:cTn>
                              </p:par>
                            </p:childTnLst>
                          </p:cTn>
                        </p:par>
                        <p:par>
                          <p:cTn id="67" fill="hold">
                            <p:stCondLst>
                              <p:cond delay="3000"/>
                            </p:stCondLst>
                            <p:childTnLst>
                              <p:par>
                                <p:cTn id="68" presetID="10" presetClass="entr" presetSubtype="0" fill="hold" nodeType="afterEffect">
                                  <p:stCondLst>
                                    <p:cond delay="0"/>
                                  </p:stCondLst>
                                  <p:childTnLst>
                                    <p:set>
                                      <p:cBhvr>
                                        <p:cTn id="69" dur="1" fill="hold">
                                          <p:stCondLst>
                                            <p:cond delay="0"/>
                                          </p:stCondLst>
                                        </p:cTn>
                                        <p:tgtEl>
                                          <p:spTgt spid="1317"/>
                                        </p:tgtEl>
                                        <p:attrNameLst>
                                          <p:attrName>style.visibility</p:attrName>
                                        </p:attrNameLst>
                                      </p:cBhvr>
                                      <p:to>
                                        <p:strVal val="visible"/>
                                      </p:to>
                                    </p:set>
                                    <p:animEffect transition="in" filter="fade">
                                      <p:cBhvr>
                                        <p:cTn id="70" dur="1000"/>
                                        <p:tgtEl>
                                          <p:spTgt spid="1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28"/>
        <p:cNvGrpSpPr/>
        <p:nvPr/>
      </p:nvGrpSpPr>
      <p:grpSpPr>
        <a:xfrm>
          <a:off x="0" y="0"/>
          <a:ext cx="0" cy="0"/>
          <a:chOff x="0" y="0"/>
          <a:chExt cx="0" cy="0"/>
        </a:xfrm>
      </p:grpSpPr>
      <p:sp>
        <p:nvSpPr>
          <p:cNvPr id="1329" name="Google Shape;1329;p104"/>
          <p:cNvSpPr txBox="1">
            <a:spLocks noGrp="1"/>
          </p:cNvSpPr>
          <p:nvPr>
            <p:ph type="title"/>
          </p:nvPr>
        </p:nvSpPr>
        <p:spPr>
          <a:xfrm>
            <a:off x="50361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Comparable</a:t>
            </a:r>
            <a:endParaRPr/>
          </a:p>
        </p:txBody>
      </p:sp>
      <p:sp>
        <p:nvSpPr>
          <p:cNvPr id="1330" name="Google Shape;1330;p104"/>
          <p:cNvSpPr txBox="1">
            <a:spLocks noGrp="1"/>
          </p:cNvSpPr>
          <p:nvPr>
            <p:ph type="body" idx="1"/>
          </p:nvPr>
        </p:nvSpPr>
        <p:spPr>
          <a:xfrm>
            <a:off x="191300" y="95850"/>
            <a:ext cx="4479000" cy="4951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The easiest way to sort values of some type is if they </a:t>
            </a:r>
            <a:r>
              <a:rPr lang="en" dirty="0">
                <a:highlight>
                  <a:srgbClr val="FFFF00"/>
                </a:highlight>
              </a:rPr>
              <a:t>are </a:t>
            </a:r>
            <a:r>
              <a:rPr lang="en" b="1" i="1" dirty="0">
                <a:solidFill>
                  <a:srgbClr val="FF0000"/>
                </a:solidFill>
                <a:highlight>
                  <a:srgbClr val="FFFF00"/>
                </a:highlight>
              </a:rPr>
              <a:t>naturally comparable to each other</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The type defines its own </a:t>
            </a:r>
            <a:r>
              <a:rPr lang="en" b="1" i="1" dirty="0">
                <a:solidFill>
                  <a:srgbClr val="FF0000"/>
                </a:solidFill>
              </a:rPr>
              <a:t>natural order</a:t>
            </a:r>
            <a:r>
              <a:rPr lang="en" dirty="0"/>
              <a:t>.</a:t>
            </a:r>
            <a:endParaRPr dirty="0"/>
          </a:p>
          <a:p>
            <a:pPr marL="914400" lvl="1" indent="-298450" algn="l" rtl="0">
              <a:spcBef>
                <a:spcPts val="0"/>
              </a:spcBef>
              <a:spcAft>
                <a:spcPts val="0"/>
              </a:spcAft>
              <a:buSzPts val="1100"/>
              <a:buChar char="○"/>
            </a:pPr>
            <a:r>
              <a:rPr lang="en" dirty="0"/>
              <a:t>That is to say, given two values of the same type, you can compare </a:t>
            </a:r>
            <a:r>
              <a:rPr lang="en" b="1" i="1" dirty="0">
                <a:solidFill>
                  <a:srgbClr val="FF0000"/>
                </a:solidFill>
              </a:rPr>
              <a:t>one</a:t>
            </a:r>
            <a:r>
              <a:rPr lang="en" dirty="0"/>
              <a:t> to the </a:t>
            </a:r>
            <a:r>
              <a:rPr lang="en" b="1" i="1" dirty="0">
                <a:solidFill>
                  <a:srgbClr val="FF0000"/>
                </a:solidFill>
              </a:rPr>
              <a:t>other</a:t>
            </a:r>
            <a:r>
              <a:rPr lang="en" dirty="0"/>
              <a:t> to determine which comes first.</a:t>
            </a:r>
            <a:endParaRPr dirty="0"/>
          </a:p>
          <a:p>
            <a:pPr marL="457200" lvl="0" indent="-311150" algn="l" rtl="0">
              <a:spcBef>
                <a:spcPts val="1000"/>
              </a:spcBef>
              <a:spcAft>
                <a:spcPts val="0"/>
              </a:spcAft>
              <a:buSzPts val="1300"/>
              <a:buChar char="●"/>
            </a:pPr>
            <a:r>
              <a:rPr lang="en" dirty="0"/>
              <a:t>In Java, a type is made </a:t>
            </a:r>
            <a:r>
              <a:rPr lang="en" b="1" i="1" dirty="0">
                <a:solidFill>
                  <a:srgbClr val="FF0000"/>
                </a:solidFill>
              </a:rPr>
              <a:t>naturally comparable</a:t>
            </a:r>
            <a:r>
              <a:rPr lang="en" dirty="0"/>
              <a:t> by implementing the </a:t>
            </a:r>
            <a:r>
              <a:rPr lang="en" dirty="0">
                <a:solidFill>
                  <a:srgbClr val="FF0000"/>
                </a:solidFill>
                <a:highlight>
                  <a:srgbClr val="FFFF00"/>
                </a:highlight>
                <a:latin typeface="Courier New"/>
                <a:ea typeface="Courier New"/>
                <a:cs typeface="Courier New"/>
                <a:sym typeface="Courier New"/>
              </a:rPr>
              <a:t>java.lang.Comparable</a:t>
            </a:r>
            <a:r>
              <a:rPr lang="en" dirty="0">
                <a:highlight>
                  <a:srgbClr val="FFFF00"/>
                </a:highlight>
              </a:rPr>
              <a:t> </a:t>
            </a:r>
            <a:r>
              <a:rPr lang="en" dirty="0"/>
              <a:t>interface.</a:t>
            </a:r>
            <a:endParaRPr dirty="0"/>
          </a:p>
          <a:p>
            <a:pPr marL="914400" lvl="1" indent="-298450" algn="l" rtl="0">
              <a:spcBef>
                <a:spcPts val="0"/>
              </a:spcBef>
              <a:spcAft>
                <a:spcPts val="0"/>
              </a:spcAft>
              <a:buSzPts val="1100"/>
              <a:buChar char="○"/>
            </a:pPr>
            <a:r>
              <a:rPr lang="en" dirty="0">
                <a:highlight>
                  <a:srgbClr val="FFFF00"/>
                </a:highlight>
                <a:latin typeface="Courier New"/>
                <a:ea typeface="Courier New"/>
                <a:cs typeface="Courier New"/>
                <a:sym typeface="Courier New"/>
              </a:rPr>
              <a:t>Comparable</a:t>
            </a:r>
            <a:r>
              <a:rPr lang="en" dirty="0">
                <a:highlight>
                  <a:srgbClr val="FFFF00"/>
                </a:highlight>
              </a:rPr>
              <a:t> is a </a:t>
            </a:r>
            <a:r>
              <a:rPr lang="en" b="1" i="1" dirty="0">
                <a:solidFill>
                  <a:srgbClr val="FF0000"/>
                </a:solidFill>
                <a:highlight>
                  <a:srgbClr val="FFFF00"/>
                </a:highlight>
              </a:rPr>
              <a:t>generic interface</a:t>
            </a:r>
            <a:r>
              <a:rPr lang="en" dirty="0">
                <a:highlight>
                  <a:srgbClr val="FFFF00"/>
                </a:highlight>
              </a:rPr>
              <a:t> that defines a type parameter </a:t>
            </a:r>
            <a:r>
              <a:rPr lang="en" dirty="0">
                <a:solidFill>
                  <a:srgbClr val="FF0000"/>
                </a:solidFill>
                <a:highlight>
                  <a:srgbClr val="FFFF00"/>
                </a:highlight>
                <a:latin typeface="Courier New"/>
                <a:ea typeface="Courier New"/>
                <a:cs typeface="Courier New"/>
                <a:sym typeface="Courier New"/>
              </a:rPr>
              <a:t>T</a:t>
            </a:r>
            <a:r>
              <a:rPr lang="en" dirty="0">
                <a:highlight>
                  <a:srgbClr val="FFFF00"/>
                </a:highlight>
              </a:rPr>
              <a:t>. This is used to specify the type to which the class can be compared.</a:t>
            </a:r>
            <a:endParaRPr dirty="0">
              <a:highlight>
                <a:srgbClr val="FFFF00"/>
              </a:highlight>
            </a:endParaRPr>
          </a:p>
          <a:p>
            <a:pPr marL="914400" lvl="1" indent="-298450" algn="l" rtl="0">
              <a:spcBef>
                <a:spcPts val="0"/>
              </a:spcBef>
              <a:spcAft>
                <a:spcPts val="0"/>
              </a:spcAft>
              <a:buSzPts val="1100"/>
              <a:buChar char="○"/>
            </a:pPr>
            <a:r>
              <a:rPr lang="en" dirty="0"/>
              <a:t>A class usually specifies </a:t>
            </a:r>
            <a:r>
              <a:rPr lang="en" b="1" i="1" dirty="0">
                <a:solidFill>
                  <a:srgbClr val="FF0000"/>
                </a:solidFill>
              </a:rPr>
              <a:t>its own type</a:t>
            </a:r>
            <a:r>
              <a:rPr lang="en" dirty="0"/>
              <a:t> in place of the type parameter.</a:t>
            </a:r>
            <a:endParaRPr dirty="0"/>
          </a:p>
          <a:p>
            <a:pPr marL="457200" lvl="0" indent="-311150" algn="l" rtl="0">
              <a:spcBef>
                <a:spcPts val="1000"/>
              </a:spcBef>
              <a:spcAft>
                <a:spcPts val="0"/>
              </a:spcAft>
              <a:buSzPts val="1300"/>
              <a:buChar char="●"/>
            </a:pPr>
            <a:r>
              <a:rPr lang="en" dirty="0"/>
              <a:t>The </a:t>
            </a:r>
            <a:r>
              <a:rPr lang="en" dirty="0">
                <a:latin typeface="Courier New"/>
                <a:ea typeface="Courier New"/>
                <a:cs typeface="Courier New"/>
                <a:sym typeface="Courier New"/>
              </a:rPr>
              <a:t>Comparable</a:t>
            </a:r>
            <a:r>
              <a:rPr lang="en" dirty="0"/>
              <a:t> interface defines a single method: </a:t>
            </a:r>
            <a:r>
              <a:rPr lang="en" dirty="0">
                <a:solidFill>
                  <a:srgbClr val="FF0000"/>
                </a:solidFill>
                <a:latin typeface="Courier New"/>
                <a:ea typeface="Courier New"/>
                <a:cs typeface="Courier New"/>
                <a:sym typeface="Courier New"/>
              </a:rPr>
              <a:t>public int compareTo(T other)</a:t>
            </a:r>
            <a:r>
              <a:rPr lang="en" dirty="0"/>
              <a:t> </a:t>
            </a:r>
            <a:endParaRPr dirty="0"/>
          </a:p>
          <a:p>
            <a:pPr marL="457200" lvl="0" indent="-311150" algn="l" rtl="0">
              <a:spcBef>
                <a:spcPts val="1000"/>
              </a:spcBef>
              <a:spcAft>
                <a:spcPts val="0"/>
              </a:spcAft>
              <a:buSzPts val="1300"/>
              <a:buChar char="●"/>
            </a:pPr>
            <a:r>
              <a:rPr lang="en" dirty="0"/>
              <a:t>Given two instances of a comparable class </a:t>
            </a:r>
            <a:r>
              <a:rPr lang="en" dirty="0">
                <a:latin typeface="Courier New"/>
                <a:ea typeface="Courier New"/>
                <a:cs typeface="Courier New"/>
                <a:sym typeface="Courier New"/>
              </a:rPr>
              <a:t>A</a:t>
            </a:r>
            <a:r>
              <a:rPr lang="en" dirty="0"/>
              <a:t> and </a:t>
            </a:r>
            <a:r>
              <a:rPr lang="en" dirty="0">
                <a:latin typeface="Courier New"/>
                <a:ea typeface="Courier New"/>
                <a:cs typeface="Courier New"/>
                <a:sym typeface="Courier New"/>
              </a:rPr>
              <a:t>B</a:t>
            </a:r>
            <a:r>
              <a:rPr lang="en" dirty="0"/>
              <a:t>, </a:t>
            </a:r>
            <a:r>
              <a:rPr lang="en" dirty="0">
                <a:solidFill>
                  <a:srgbClr val="FF0000"/>
                </a:solidFill>
                <a:latin typeface="Courier New"/>
                <a:ea typeface="Courier New"/>
                <a:cs typeface="Courier New"/>
                <a:sym typeface="Courier New"/>
              </a:rPr>
              <a:t>A.compareTo(B)</a:t>
            </a:r>
            <a:r>
              <a:rPr lang="en" dirty="0"/>
              <a:t> returns:</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0</a:t>
            </a:r>
            <a:r>
              <a:rPr lang="en" dirty="0"/>
              <a:t> if </a:t>
            </a:r>
            <a:r>
              <a:rPr lang="en" dirty="0">
                <a:latin typeface="Courier New"/>
                <a:ea typeface="Courier New"/>
                <a:cs typeface="Courier New"/>
                <a:sym typeface="Courier New"/>
              </a:rPr>
              <a:t>A</a:t>
            </a:r>
            <a:r>
              <a:rPr lang="en" dirty="0"/>
              <a:t> and </a:t>
            </a:r>
            <a:r>
              <a:rPr lang="en" dirty="0">
                <a:latin typeface="Courier New"/>
                <a:ea typeface="Courier New"/>
                <a:cs typeface="Courier New"/>
                <a:sym typeface="Courier New"/>
              </a:rPr>
              <a:t>B</a:t>
            </a:r>
            <a:r>
              <a:rPr lang="en" dirty="0"/>
              <a:t> are </a:t>
            </a:r>
            <a:r>
              <a:rPr lang="en" b="1" i="1" dirty="0">
                <a:solidFill>
                  <a:srgbClr val="FF0000"/>
                </a:solidFill>
              </a:rPr>
              <a:t>equal </a:t>
            </a:r>
            <a:r>
              <a:rPr lang="en" dirty="0"/>
              <a:t>to each other.</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&lt; 0</a:t>
            </a:r>
            <a:r>
              <a:rPr lang="en" dirty="0"/>
              <a:t> if </a:t>
            </a:r>
            <a:r>
              <a:rPr lang="en" dirty="0">
                <a:latin typeface="Courier New"/>
                <a:ea typeface="Courier New"/>
                <a:cs typeface="Courier New"/>
                <a:sym typeface="Courier New"/>
              </a:rPr>
              <a:t>A</a:t>
            </a:r>
            <a:r>
              <a:rPr lang="en" dirty="0"/>
              <a:t> </a:t>
            </a:r>
            <a:r>
              <a:rPr lang="en" b="1" i="1" dirty="0">
                <a:solidFill>
                  <a:srgbClr val="FF0000"/>
                </a:solidFill>
              </a:rPr>
              <a:t>comes</a:t>
            </a:r>
            <a:r>
              <a:rPr lang="en" dirty="0"/>
              <a:t> </a:t>
            </a:r>
            <a:r>
              <a:rPr lang="en" b="1" i="1" dirty="0">
                <a:solidFill>
                  <a:srgbClr val="FF0000"/>
                </a:solidFill>
              </a:rPr>
              <a:t>before</a:t>
            </a:r>
            <a:r>
              <a:rPr lang="en" dirty="0">
                <a:solidFill>
                  <a:srgbClr val="FF0000"/>
                </a:solidFill>
              </a:rPr>
              <a:t> </a:t>
            </a:r>
            <a:r>
              <a:rPr lang="en" dirty="0">
                <a:latin typeface="Courier New"/>
                <a:ea typeface="Courier New"/>
                <a:cs typeface="Courier New"/>
                <a:sym typeface="Courier New"/>
              </a:rPr>
              <a:t>B</a:t>
            </a:r>
            <a:r>
              <a:rPr lang="en" dirty="0"/>
              <a:t> in sorted order.</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&gt; 0</a:t>
            </a:r>
            <a:r>
              <a:rPr lang="en" dirty="0"/>
              <a:t> if </a:t>
            </a:r>
            <a:r>
              <a:rPr lang="en" dirty="0">
                <a:latin typeface="Courier New"/>
                <a:ea typeface="Courier New"/>
                <a:cs typeface="Courier New"/>
                <a:sym typeface="Courier New"/>
              </a:rPr>
              <a:t>A</a:t>
            </a:r>
            <a:r>
              <a:rPr lang="en" dirty="0"/>
              <a:t> </a:t>
            </a:r>
            <a:r>
              <a:rPr lang="en" b="1" i="1" dirty="0">
                <a:solidFill>
                  <a:srgbClr val="FF0000"/>
                </a:solidFill>
              </a:rPr>
              <a:t>comes</a:t>
            </a:r>
            <a:r>
              <a:rPr lang="en" dirty="0"/>
              <a:t> </a:t>
            </a:r>
            <a:r>
              <a:rPr lang="en" b="1" i="1" dirty="0">
                <a:solidFill>
                  <a:srgbClr val="FF0000"/>
                </a:solidFill>
              </a:rPr>
              <a:t>after</a:t>
            </a:r>
            <a:r>
              <a:rPr lang="en" dirty="0">
                <a:solidFill>
                  <a:srgbClr val="FF0000"/>
                </a:solidFill>
              </a:rPr>
              <a:t> </a:t>
            </a:r>
            <a:r>
              <a:rPr lang="en" dirty="0">
                <a:latin typeface="Courier New"/>
                <a:ea typeface="Courier New"/>
                <a:cs typeface="Courier New"/>
                <a:sym typeface="Courier New"/>
              </a:rPr>
              <a:t>B</a:t>
            </a:r>
            <a:r>
              <a:rPr lang="en" dirty="0"/>
              <a:t> in sorted order.</a:t>
            </a:r>
            <a:endParaRPr dirty="0"/>
          </a:p>
        </p:txBody>
      </p:sp>
      <p:sp>
        <p:nvSpPr>
          <p:cNvPr id="1331" name="Google Shape;1331;p104"/>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38</a:t>
            </a:fld>
            <a:endParaRPr/>
          </a:p>
        </p:txBody>
      </p:sp>
      <p:sp>
        <p:nvSpPr>
          <p:cNvPr id="1332" name="Google Shape;1332;p104"/>
          <p:cNvSpPr txBox="1">
            <a:spLocks noGrp="1"/>
          </p:cNvSpPr>
          <p:nvPr>
            <p:ph type="body" idx="3"/>
          </p:nvPr>
        </p:nvSpPr>
        <p:spPr>
          <a:xfrm>
            <a:off x="5192225" y="4089650"/>
            <a:ext cx="37065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If a class implements </a:t>
            </a:r>
            <a:r>
              <a:rPr lang="en" sz="1200" dirty="0">
                <a:solidFill>
                  <a:srgbClr val="FF0000"/>
                </a:solidFill>
                <a:highlight>
                  <a:srgbClr val="FFFF00"/>
                </a:highlight>
                <a:latin typeface="Courier New"/>
                <a:ea typeface="Courier New"/>
                <a:cs typeface="Courier New"/>
                <a:sym typeface="Courier New"/>
              </a:rPr>
              <a:t>Comparable</a:t>
            </a:r>
            <a:r>
              <a:rPr lang="en" sz="1200" dirty="0"/>
              <a:t>, then you can </a:t>
            </a:r>
            <a:r>
              <a:rPr lang="en" sz="1200" b="1" i="1" dirty="0">
                <a:solidFill>
                  <a:srgbClr val="FF0000"/>
                </a:solidFill>
              </a:rPr>
              <a:t>directly compare</a:t>
            </a:r>
            <a:r>
              <a:rPr lang="en" sz="1200" dirty="0">
                <a:solidFill>
                  <a:srgbClr val="FF0000"/>
                </a:solidFill>
              </a:rPr>
              <a:t> </a:t>
            </a:r>
            <a:r>
              <a:rPr lang="en" sz="1200" dirty="0"/>
              <a:t>two instances of the class using the </a:t>
            </a:r>
            <a:r>
              <a:rPr lang="en" sz="1200" dirty="0">
                <a:solidFill>
                  <a:srgbClr val="FF0000"/>
                </a:solidFill>
                <a:latin typeface="Courier New"/>
                <a:ea typeface="Courier New"/>
                <a:cs typeface="Courier New"/>
                <a:sym typeface="Courier New"/>
              </a:rPr>
              <a:t>compareTo(T)</a:t>
            </a:r>
            <a:r>
              <a:rPr lang="en" sz="1200" dirty="0"/>
              <a:t> method to see which comes first in </a:t>
            </a:r>
            <a:r>
              <a:rPr lang="en" sz="1200" b="1" i="1" dirty="0">
                <a:solidFill>
                  <a:srgbClr val="FF0000"/>
                </a:solidFill>
              </a:rPr>
              <a:t>sorted order</a:t>
            </a:r>
            <a:r>
              <a:rPr lang="en" sz="1200" dirty="0"/>
              <a:t>.</a:t>
            </a:r>
            <a:endParaRPr sz="1200" dirty="0"/>
          </a:p>
        </p:txBody>
      </p:sp>
      <p:sp>
        <p:nvSpPr>
          <p:cNvPr id="1333" name="Google Shape;1333;p104"/>
          <p:cNvSpPr/>
          <p:nvPr/>
        </p:nvSpPr>
        <p:spPr>
          <a:xfrm>
            <a:off x="5751800" y="693720"/>
            <a:ext cx="2220300" cy="693600"/>
          </a:xfrm>
          <a:prstGeom prst="wedgeRoundRectCallout">
            <a:avLst>
              <a:gd name="adj1" fmla="val 29525"/>
              <a:gd name="adj2" fmla="val 62021"/>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can you tell me which of you guys comes first in sorted order?</a:t>
            </a:r>
            <a:endParaRPr sz="1300">
              <a:latin typeface="Bangers"/>
              <a:ea typeface="Bangers"/>
              <a:cs typeface="Bangers"/>
              <a:sym typeface="Bangers"/>
            </a:endParaRPr>
          </a:p>
        </p:txBody>
      </p:sp>
      <p:grpSp>
        <p:nvGrpSpPr>
          <p:cNvPr id="1334" name="Google Shape;1334;p104"/>
          <p:cNvGrpSpPr/>
          <p:nvPr/>
        </p:nvGrpSpPr>
        <p:grpSpPr>
          <a:xfrm>
            <a:off x="5113450" y="1606495"/>
            <a:ext cx="1277116" cy="752304"/>
            <a:chOff x="5113450" y="1606495"/>
            <a:chExt cx="1277116" cy="752304"/>
          </a:xfrm>
        </p:grpSpPr>
        <p:sp>
          <p:nvSpPr>
            <p:cNvPr id="1335" name="Google Shape;1335;p104"/>
            <p:cNvSpPr/>
            <p:nvPr/>
          </p:nvSpPr>
          <p:spPr>
            <a:xfrm>
              <a:off x="5588366" y="1606495"/>
              <a:ext cx="802200" cy="435900"/>
            </a:xfrm>
            <a:prstGeom prst="wedgeRoundRectCallout">
              <a:avLst>
                <a:gd name="adj1" fmla="val 31536"/>
                <a:gd name="adj2" fmla="val 7616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he does!</a:t>
              </a:r>
              <a:endParaRPr sz="1300">
                <a:latin typeface="Bangers"/>
                <a:ea typeface="Bangers"/>
                <a:cs typeface="Bangers"/>
                <a:sym typeface="Bangers"/>
              </a:endParaRPr>
            </a:p>
          </p:txBody>
        </p:sp>
        <p:sp>
          <p:nvSpPr>
            <p:cNvPr id="1336" name="Google Shape;1336;p104"/>
            <p:cNvSpPr/>
            <p:nvPr/>
          </p:nvSpPr>
          <p:spPr>
            <a:xfrm>
              <a:off x="5113450" y="1965199"/>
              <a:ext cx="826200" cy="393600"/>
            </a:xfrm>
            <a:prstGeom prst="wedgeRoundRectCallout">
              <a:avLst>
                <a:gd name="adj1" fmla="val 17533"/>
                <a:gd name="adj2" fmla="val 73938"/>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i do!</a:t>
              </a:r>
              <a:endParaRPr sz="1300">
                <a:latin typeface="Bangers"/>
                <a:ea typeface="Bangers"/>
                <a:cs typeface="Bangers"/>
                <a:sym typeface="Bangers"/>
              </a:endParaRPr>
            </a:p>
          </p:txBody>
        </p:sp>
      </p:grpSp>
      <p:grpSp>
        <p:nvGrpSpPr>
          <p:cNvPr id="1337" name="Google Shape;1337;p104"/>
          <p:cNvGrpSpPr/>
          <p:nvPr/>
        </p:nvGrpSpPr>
        <p:grpSpPr>
          <a:xfrm>
            <a:off x="5192216" y="950237"/>
            <a:ext cx="3779012" cy="3076373"/>
            <a:chOff x="5192216" y="950237"/>
            <a:chExt cx="3779012" cy="3076373"/>
          </a:xfrm>
        </p:grpSpPr>
        <p:pic>
          <p:nvPicPr>
            <p:cNvPr id="1338" name="Google Shape;1338;p104"/>
            <p:cNvPicPr preferRelativeResize="0"/>
            <p:nvPr/>
          </p:nvPicPr>
          <p:blipFill>
            <a:blip r:embed="rId3">
              <a:alphaModFix/>
            </a:blip>
            <a:stretch>
              <a:fillRect/>
            </a:stretch>
          </p:blipFill>
          <p:spPr>
            <a:xfrm>
              <a:off x="6058468" y="2057106"/>
              <a:ext cx="948124" cy="942044"/>
            </a:xfrm>
            <a:prstGeom prst="rect">
              <a:avLst/>
            </a:prstGeom>
            <a:noFill/>
            <a:ln>
              <a:noFill/>
            </a:ln>
          </p:spPr>
        </p:pic>
        <p:pic>
          <p:nvPicPr>
            <p:cNvPr id="1339" name="Google Shape;1339;p104"/>
            <p:cNvPicPr preferRelativeResize="0"/>
            <p:nvPr/>
          </p:nvPicPr>
          <p:blipFill>
            <a:blip r:embed="rId4">
              <a:alphaModFix/>
            </a:blip>
            <a:stretch>
              <a:fillRect/>
            </a:stretch>
          </p:blipFill>
          <p:spPr>
            <a:xfrm>
              <a:off x="5192216" y="2464482"/>
              <a:ext cx="948124" cy="942043"/>
            </a:xfrm>
            <a:prstGeom prst="rect">
              <a:avLst/>
            </a:prstGeom>
            <a:noFill/>
            <a:ln>
              <a:noFill/>
            </a:ln>
          </p:spPr>
        </p:pic>
        <p:pic>
          <p:nvPicPr>
            <p:cNvPr id="1340" name="Google Shape;1340;p104"/>
            <p:cNvPicPr preferRelativeResize="0"/>
            <p:nvPr/>
          </p:nvPicPr>
          <p:blipFill>
            <a:blip r:embed="rId5">
              <a:alphaModFix/>
            </a:blip>
            <a:stretch>
              <a:fillRect/>
            </a:stretch>
          </p:blipFill>
          <p:spPr>
            <a:xfrm>
              <a:off x="7114378" y="950237"/>
              <a:ext cx="1856850" cy="3076373"/>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3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3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3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3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332"/>
                                        </p:tgtEl>
                                        <p:attrNameLst>
                                          <p:attrName>style.visibility</p:attrName>
                                        </p:attrNameLst>
                                      </p:cBhvr>
                                      <p:to>
                                        <p:strVal val="visible"/>
                                      </p:to>
                                    </p:set>
                                    <p:animEffect transition="in" filter="fade">
                                      <p:cBhvr>
                                        <p:cTn id="51" dur="1000"/>
                                        <p:tgtEl>
                                          <p:spTgt spid="1332"/>
                                        </p:tgtEl>
                                      </p:cBhvr>
                                    </p:animEffect>
                                  </p:childTnLst>
                                </p:cTn>
                              </p:par>
                            </p:childTnLst>
                          </p:cTn>
                        </p:par>
                        <p:par>
                          <p:cTn id="52" fill="hold">
                            <p:stCondLst>
                              <p:cond delay="1000"/>
                            </p:stCondLst>
                            <p:childTnLst>
                              <p:par>
                                <p:cTn id="53" presetID="10" presetClass="entr" presetSubtype="0" fill="hold" nodeType="afterEffect">
                                  <p:stCondLst>
                                    <p:cond delay="0"/>
                                  </p:stCondLst>
                                  <p:childTnLst>
                                    <p:set>
                                      <p:cBhvr>
                                        <p:cTn id="54" dur="1" fill="hold">
                                          <p:stCondLst>
                                            <p:cond delay="0"/>
                                          </p:stCondLst>
                                        </p:cTn>
                                        <p:tgtEl>
                                          <p:spTgt spid="1337"/>
                                        </p:tgtEl>
                                        <p:attrNameLst>
                                          <p:attrName>style.visibility</p:attrName>
                                        </p:attrNameLst>
                                      </p:cBhvr>
                                      <p:to>
                                        <p:strVal val="visible"/>
                                      </p:to>
                                    </p:set>
                                    <p:animEffect transition="in" filter="fade">
                                      <p:cBhvr>
                                        <p:cTn id="55" dur="1000"/>
                                        <p:tgtEl>
                                          <p:spTgt spid="1337"/>
                                        </p:tgtEl>
                                      </p:cBhvr>
                                    </p:animEffect>
                                  </p:childTnLst>
                                </p:cTn>
                              </p:par>
                            </p:childTnLst>
                          </p:cTn>
                        </p:par>
                        <p:par>
                          <p:cTn id="56" fill="hold">
                            <p:stCondLst>
                              <p:cond delay="2000"/>
                            </p:stCondLst>
                            <p:childTnLst>
                              <p:par>
                                <p:cTn id="57" presetID="10" presetClass="entr" presetSubtype="0" fill="hold" nodeType="afterEffect">
                                  <p:stCondLst>
                                    <p:cond delay="0"/>
                                  </p:stCondLst>
                                  <p:childTnLst>
                                    <p:set>
                                      <p:cBhvr>
                                        <p:cTn id="58" dur="1" fill="hold">
                                          <p:stCondLst>
                                            <p:cond delay="0"/>
                                          </p:stCondLst>
                                        </p:cTn>
                                        <p:tgtEl>
                                          <p:spTgt spid="1333"/>
                                        </p:tgtEl>
                                        <p:attrNameLst>
                                          <p:attrName>style.visibility</p:attrName>
                                        </p:attrNameLst>
                                      </p:cBhvr>
                                      <p:to>
                                        <p:strVal val="visible"/>
                                      </p:to>
                                    </p:set>
                                    <p:animEffect transition="in" filter="fade">
                                      <p:cBhvr>
                                        <p:cTn id="59" dur="1000"/>
                                        <p:tgtEl>
                                          <p:spTgt spid="1333"/>
                                        </p:tgtEl>
                                      </p:cBhvr>
                                    </p:animEffect>
                                  </p:childTnLst>
                                </p:cTn>
                              </p:par>
                            </p:childTnLst>
                          </p:cTn>
                        </p:par>
                        <p:par>
                          <p:cTn id="60" fill="hold">
                            <p:stCondLst>
                              <p:cond delay="3000"/>
                            </p:stCondLst>
                            <p:childTnLst>
                              <p:par>
                                <p:cTn id="61" presetID="10" presetClass="entr" presetSubtype="0" fill="hold" nodeType="afterEffect">
                                  <p:stCondLst>
                                    <p:cond delay="0"/>
                                  </p:stCondLst>
                                  <p:childTnLst>
                                    <p:set>
                                      <p:cBhvr>
                                        <p:cTn id="62" dur="1" fill="hold">
                                          <p:stCondLst>
                                            <p:cond delay="0"/>
                                          </p:stCondLst>
                                        </p:cTn>
                                        <p:tgtEl>
                                          <p:spTgt spid="1334"/>
                                        </p:tgtEl>
                                        <p:attrNameLst>
                                          <p:attrName>style.visibility</p:attrName>
                                        </p:attrNameLst>
                                      </p:cBhvr>
                                      <p:to>
                                        <p:strVal val="visible"/>
                                      </p:to>
                                    </p:set>
                                    <p:animEffect transition="in" filter="fade">
                                      <p:cBhvr>
                                        <p:cTn id="63" dur="1000"/>
                                        <p:tgtEl>
                                          <p:spTgt spid="1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44"/>
        <p:cNvGrpSpPr/>
        <p:nvPr/>
      </p:nvGrpSpPr>
      <p:grpSpPr>
        <a:xfrm>
          <a:off x="0" y="0"/>
          <a:ext cx="0" cy="0"/>
          <a:chOff x="0" y="0"/>
          <a:chExt cx="0" cy="0"/>
        </a:xfrm>
      </p:grpSpPr>
      <p:sp>
        <p:nvSpPr>
          <p:cNvPr id="1345" name="Google Shape;1345;p10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sp>
        <p:nvSpPr>
          <p:cNvPr id="1346" name="Google Shape;1346;p10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Comparable</a:t>
            </a:r>
            <a:endParaRPr/>
          </a:p>
        </p:txBody>
      </p:sp>
      <p:sp>
        <p:nvSpPr>
          <p:cNvPr id="1347" name="Google Shape;1347;p105"/>
          <p:cNvSpPr txBox="1"/>
          <p:nvPr/>
        </p:nvSpPr>
        <p:spPr>
          <a:xfrm>
            <a:off x="311725" y="2051800"/>
            <a:ext cx="4596600" cy="2262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1  </a:t>
            </a:r>
            <a:r>
              <a:rPr lang="en" sz="900" dirty="0">
                <a:solidFill>
                  <a:srgbClr val="0000FF"/>
                </a:solidFill>
                <a:latin typeface="Consolas"/>
                <a:ea typeface="Consolas"/>
                <a:cs typeface="Consolas"/>
                <a:sym typeface="Consolas"/>
              </a:rPr>
              <a:t>public</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class</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AlienAlphabet</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implements</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Comparable</a:t>
            </a:r>
            <a:r>
              <a:rPr lang="en" sz="900" dirty="0">
                <a:latin typeface="Consolas"/>
                <a:ea typeface="Consolas"/>
                <a:cs typeface="Consolas"/>
                <a:sym typeface="Consolas"/>
              </a:rPr>
              <a:t>&lt;</a:t>
            </a:r>
            <a:r>
              <a:rPr lang="en" sz="900" dirty="0">
                <a:solidFill>
                  <a:srgbClr val="267F99"/>
                </a:solidFill>
                <a:latin typeface="Consolas"/>
                <a:ea typeface="Consolas"/>
                <a:cs typeface="Consolas"/>
                <a:sym typeface="Consolas"/>
              </a:rPr>
              <a:t>AlienAlphabet</a:t>
            </a:r>
            <a:r>
              <a:rPr lang="en" sz="900" dirty="0">
                <a:latin typeface="Consolas"/>
                <a:ea typeface="Consolas"/>
                <a:cs typeface="Consolas"/>
                <a:sym typeface="Consolas"/>
              </a:rPr>
              <a:t>&gt; {</a:t>
            </a:r>
            <a:endParaRPr sz="900" dirty="0">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2  </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private</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final</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int</a:t>
            </a:r>
            <a:r>
              <a:rPr lang="en" sz="900" dirty="0">
                <a:latin typeface="Consolas"/>
                <a:ea typeface="Consolas"/>
                <a:cs typeface="Consolas"/>
                <a:sym typeface="Consolas"/>
              </a:rPr>
              <a:t> </a:t>
            </a:r>
            <a:r>
              <a:rPr lang="en" sz="900" dirty="0">
                <a:solidFill>
                  <a:srgbClr val="0070C1"/>
                </a:solidFill>
                <a:latin typeface="Consolas"/>
                <a:ea typeface="Consolas"/>
                <a:cs typeface="Consolas"/>
                <a:sym typeface="Consolas"/>
              </a:rPr>
              <a:t>sequenceNumber</a:t>
            </a: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3  </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private</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final</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String</a:t>
            </a:r>
            <a:r>
              <a:rPr lang="en" sz="900" dirty="0">
                <a:latin typeface="Consolas"/>
                <a:ea typeface="Consolas"/>
                <a:cs typeface="Consolas"/>
                <a:sym typeface="Consolas"/>
              </a:rPr>
              <a:t> </a:t>
            </a:r>
            <a:r>
              <a:rPr lang="en" sz="900" dirty="0">
                <a:solidFill>
                  <a:srgbClr val="0070C1"/>
                </a:solidFill>
                <a:latin typeface="Consolas"/>
                <a:ea typeface="Consolas"/>
                <a:cs typeface="Consolas"/>
                <a:sym typeface="Consolas"/>
              </a:rPr>
              <a:t>symbol</a:t>
            </a: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4  </a:t>
            </a:r>
            <a:endParaRPr sz="900" dirty="0">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5  </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public</a:t>
            </a:r>
            <a:r>
              <a:rPr lang="en" sz="900" dirty="0">
                <a:latin typeface="Consolas"/>
                <a:ea typeface="Consolas"/>
                <a:cs typeface="Consolas"/>
                <a:sym typeface="Consolas"/>
              </a:rPr>
              <a:t> </a:t>
            </a:r>
            <a:r>
              <a:rPr lang="en" sz="900" dirty="0">
                <a:solidFill>
                  <a:srgbClr val="795E26"/>
                </a:solidFill>
                <a:latin typeface="Consolas"/>
                <a:ea typeface="Consolas"/>
                <a:cs typeface="Consolas"/>
                <a:sym typeface="Consolas"/>
              </a:rPr>
              <a:t>AlienAlphabet</a:t>
            </a:r>
            <a:r>
              <a:rPr lang="en" sz="900" dirty="0">
                <a:latin typeface="Consolas"/>
                <a:ea typeface="Consolas"/>
                <a:cs typeface="Consolas"/>
                <a:sym typeface="Consolas"/>
              </a:rPr>
              <a:t>(</a:t>
            </a:r>
            <a:r>
              <a:rPr lang="en" sz="900" dirty="0">
                <a:solidFill>
                  <a:srgbClr val="267F99"/>
                </a:solidFill>
                <a:latin typeface="Consolas"/>
                <a:ea typeface="Consolas"/>
                <a:cs typeface="Consolas"/>
                <a:sym typeface="Consolas"/>
              </a:rPr>
              <a:t>int</a:t>
            </a:r>
            <a:r>
              <a:rPr lang="en" sz="900" dirty="0">
                <a:latin typeface="Consolas"/>
                <a:ea typeface="Consolas"/>
                <a:cs typeface="Consolas"/>
                <a:sym typeface="Consolas"/>
              </a:rPr>
              <a:t> </a:t>
            </a:r>
            <a:r>
              <a:rPr lang="en" sz="900" dirty="0">
                <a:solidFill>
                  <a:srgbClr val="001080"/>
                </a:solidFill>
                <a:latin typeface="Consolas"/>
                <a:ea typeface="Consolas"/>
                <a:cs typeface="Consolas"/>
                <a:sym typeface="Consolas"/>
              </a:rPr>
              <a:t>sequenceNumber</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String</a:t>
            </a:r>
            <a:r>
              <a:rPr lang="en" sz="900" dirty="0">
                <a:latin typeface="Consolas"/>
                <a:ea typeface="Consolas"/>
                <a:cs typeface="Consolas"/>
                <a:sym typeface="Consolas"/>
              </a:rPr>
              <a:t> </a:t>
            </a:r>
            <a:r>
              <a:rPr lang="en" sz="900" dirty="0">
                <a:solidFill>
                  <a:srgbClr val="001080"/>
                </a:solidFill>
                <a:latin typeface="Consolas"/>
                <a:ea typeface="Consolas"/>
                <a:cs typeface="Consolas"/>
                <a:sym typeface="Consolas"/>
              </a:rPr>
              <a:t>symbol</a:t>
            </a:r>
            <a:r>
              <a:rPr lang="en" sz="900" dirty="0">
                <a:latin typeface="Consolas"/>
                <a:ea typeface="Consolas"/>
                <a:cs typeface="Consolas"/>
                <a:sym typeface="Consolas"/>
              </a:rPr>
              <a:t>) {</a:t>
            </a:r>
            <a:endParaRPr sz="900" dirty="0">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6  </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this</a:t>
            </a:r>
            <a:r>
              <a:rPr lang="en" sz="900" dirty="0">
                <a:latin typeface="Consolas"/>
                <a:ea typeface="Consolas"/>
                <a:cs typeface="Consolas"/>
                <a:sym typeface="Consolas"/>
              </a:rPr>
              <a:t>.</a:t>
            </a:r>
            <a:r>
              <a:rPr lang="en" sz="900" dirty="0">
                <a:solidFill>
                  <a:srgbClr val="0070C1"/>
                </a:solidFill>
                <a:latin typeface="Consolas"/>
                <a:ea typeface="Consolas"/>
                <a:cs typeface="Consolas"/>
                <a:sym typeface="Consolas"/>
              </a:rPr>
              <a:t>sequenceNumber</a:t>
            </a:r>
            <a:r>
              <a:rPr lang="en" sz="900" dirty="0">
                <a:latin typeface="Consolas"/>
                <a:ea typeface="Consolas"/>
                <a:cs typeface="Consolas"/>
                <a:sym typeface="Consolas"/>
              </a:rPr>
              <a:t> = </a:t>
            </a:r>
            <a:r>
              <a:rPr lang="en" sz="900" dirty="0">
                <a:solidFill>
                  <a:srgbClr val="001080"/>
                </a:solidFill>
                <a:latin typeface="Consolas"/>
                <a:ea typeface="Consolas"/>
                <a:cs typeface="Consolas"/>
                <a:sym typeface="Consolas"/>
              </a:rPr>
              <a:t>sequenceNumber</a:t>
            </a: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7  </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this</a:t>
            </a:r>
            <a:r>
              <a:rPr lang="en" sz="900" dirty="0">
                <a:latin typeface="Consolas"/>
                <a:ea typeface="Consolas"/>
                <a:cs typeface="Consolas"/>
                <a:sym typeface="Consolas"/>
              </a:rPr>
              <a:t>.</a:t>
            </a:r>
            <a:r>
              <a:rPr lang="en" sz="900" dirty="0">
                <a:solidFill>
                  <a:srgbClr val="0070C1"/>
                </a:solidFill>
                <a:latin typeface="Consolas"/>
                <a:ea typeface="Consolas"/>
                <a:cs typeface="Consolas"/>
                <a:sym typeface="Consolas"/>
              </a:rPr>
              <a:t>symbol</a:t>
            </a:r>
            <a:r>
              <a:rPr lang="en" sz="900" dirty="0">
                <a:latin typeface="Consolas"/>
                <a:ea typeface="Consolas"/>
                <a:cs typeface="Consolas"/>
                <a:sym typeface="Consolas"/>
              </a:rPr>
              <a:t> = </a:t>
            </a:r>
            <a:r>
              <a:rPr lang="en" sz="900" dirty="0">
                <a:solidFill>
                  <a:srgbClr val="001080"/>
                </a:solidFill>
                <a:latin typeface="Consolas"/>
                <a:ea typeface="Consolas"/>
                <a:cs typeface="Consolas"/>
                <a:sym typeface="Consolas"/>
              </a:rPr>
              <a:t>symbol</a:t>
            </a: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8  </a:t>
            </a:r>
            <a:r>
              <a:rPr lang="en" sz="900" dirty="0">
                <a:latin typeface="Consolas"/>
                <a:ea typeface="Consolas"/>
                <a:cs typeface="Consolas"/>
                <a:sym typeface="Consolas"/>
              </a:rPr>
              <a:t>    }</a:t>
            </a:r>
            <a:endParaRPr sz="900" dirty="0">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9  </a:t>
            </a:r>
            <a:endParaRPr sz="900" dirty="0">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10 </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Override</a:t>
            </a:r>
            <a:endParaRPr sz="90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11 </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public</a:t>
            </a:r>
            <a:r>
              <a:rPr lang="en" sz="900" dirty="0">
                <a:latin typeface="Consolas"/>
                <a:ea typeface="Consolas"/>
                <a:cs typeface="Consolas"/>
                <a:sym typeface="Consolas"/>
              </a:rPr>
              <a:t> </a:t>
            </a:r>
            <a:r>
              <a:rPr lang="en" sz="900" dirty="0">
                <a:solidFill>
                  <a:srgbClr val="267F99"/>
                </a:solidFill>
                <a:latin typeface="Consolas"/>
                <a:ea typeface="Consolas"/>
                <a:cs typeface="Consolas"/>
                <a:sym typeface="Consolas"/>
              </a:rPr>
              <a:t>int</a:t>
            </a:r>
            <a:r>
              <a:rPr lang="en" sz="900" dirty="0">
                <a:latin typeface="Consolas"/>
                <a:ea typeface="Consolas"/>
                <a:cs typeface="Consolas"/>
                <a:sym typeface="Consolas"/>
              </a:rPr>
              <a:t> </a:t>
            </a:r>
            <a:r>
              <a:rPr lang="en" sz="900" dirty="0">
                <a:solidFill>
                  <a:srgbClr val="795E26"/>
                </a:solidFill>
                <a:latin typeface="Consolas"/>
                <a:ea typeface="Consolas"/>
                <a:cs typeface="Consolas"/>
                <a:sym typeface="Consolas"/>
              </a:rPr>
              <a:t>compareTo</a:t>
            </a:r>
            <a:r>
              <a:rPr lang="en" sz="900" dirty="0">
                <a:latin typeface="Consolas"/>
                <a:ea typeface="Consolas"/>
                <a:cs typeface="Consolas"/>
                <a:sym typeface="Consolas"/>
              </a:rPr>
              <a:t>(</a:t>
            </a:r>
            <a:r>
              <a:rPr lang="en" sz="900" dirty="0">
                <a:solidFill>
                  <a:srgbClr val="267F99"/>
                </a:solidFill>
                <a:latin typeface="Consolas"/>
                <a:ea typeface="Consolas"/>
                <a:cs typeface="Consolas"/>
                <a:sym typeface="Consolas"/>
              </a:rPr>
              <a:t>AlienAlphabet</a:t>
            </a:r>
            <a:r>
              <a:rPr lang="en" sz="900" dirty="0">
                <a:latin typeface="Consolas"/>
                <a:ea typeface="Consolas"/>
                <a:cs typeface="Consolas"/>
                <a:sym typeface="Consolas"/>
              </a:rPr>
              <a:t> </a:t>
            </a:r>
            <a:r>
              <a:rPr lang="en" sz="900" dirty="0">
                <a:solidFill>
                  <a:srgbClr val="001080"/>
                </a:solidFill>
                <a:latin typeface="Consolas"/>
                <a:ea typeface="Consolas"/>
                <a:cs typeface="Consolas"/>
                <a:sym typeface="Consolas"/>
              </a:rPr>
              <a:t>other</a:t>
            </a:r>
            <a:r>
              <a:rPr lang="en" sz="900" dirty="0">
                <a:latin typeface="Consolas"/>
                <a:ea typeface="Consolas"/>
                <a:cs typeface="Consolas"/>
                <a:sym typeface="Consolas"/>
              </a:rPr>
              <a:t>) {</a:t>
            </a:r>
            <a:endParaRPr sz="900" dirty="0">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12         </a:t>
            </a:r>
            <a:r>
              <a:rPr lang="en" sz="900" dirty="0">
                <a:solidFill>
                  <a:srgbClr val="008000"/>
                </a:solidFill>
                <a:highlight>
                  <a:srgbClr val="FFFFFF"/>
                </a:highlight>
                <a:latin typeface="Consolas"/>
                <a:ea typeface="Consolas"/>
                <a:cs typeface="Consolas"/>
                <a:sym typeface="Consolas"/>
              </a:rPr>
              <a:t>// sort by sequence number</a:t>
            </a:r>
            <a:endParaRPr sz="900" dirty="0">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13 </a:t>
            </a:r>
            <a:r>
              <a:rPr lang="en" sz="900" dirty="0">
                <a:latin typeface="Consolas"/>
                <a:ea typeface="Consolas"/>
                <a:cs typeface="Consolas"/>
                <a:sym typeface="Consolas"/>
              </a:rPr>
              <a:t>        </a:t>
            </a:r>
            <a:r>
              <a:rPr lang="en" sz="900" dirty="0">
                <a:solidFill>
                  <a:srgbClr val="AF00DB"/>
                </a:solidFill>
                <a:latin typeface="Consolas"/>
                <a:ea typeface="Consolas"/>
                <a:cs typeface="Consolas"/>
                <a:sym typeface="Consolas"/>
              </a:rPr>
              <a:t>return</a:t>
            </a:r>
            <a:r>
              <a:rPr lang="en" sz="900" dirty="0">
                <a:latin typeface="Consolas"/>
                <a:ea typeface="Consolas"/>
                <a:cs typeface="Consolas"/>
                <a:sym typeface="Consolas"/>
              </a:rPr>
              <a:t> </a:t>
            </a:r>
            <a:r>
              <a:rPr lang="en" sz="900" dirty="0">
                <a:solidFill>
                  <a:srgbClr val="0000FF"/>
                </a:solidFill>
                <a:latin typeface="Consolas"/>
                <a:ea typeface="Consolas"/>
                <a:cs typeface="Consolas"/>
                <a:sym typeface="Consolas"/>
              </a:rPr>
              <a:t>this</a:t>
            </a:r>
            <a:r>
              <a:rPr lang="en" sz="900" dirty="0">
                <a:latin typeface="Consolas"/>
                <a:ea typeface="Consolas"/>
                <a:cs typeface="Consolas"/>
                <a:sym typeface="Consolas"/>
              </a:rPr>
              <a:t>.</a:t>
            </a:r>
            <a:r>
              <a:rPr lang="en" sz="900" dirty="0">
                <a:solidFill>
                  <a:srgbClr val="0070C1"/>
                </a:solidFill>
                <a:latin typeface="Consolas"/>
                <a:ea typeface="Consolas"/>
                <a:cs typeface="Consolas"/>
                <a:sym typeface="Consolas"/>
              </a:rPr>
              <a:t>sequenceNumber</a:t>
            </a:r>
            <a:r>
              <a:rPr lang="en" sz="900" dirty="0">
                <a:latin typeface="Consolas"/>
                <a:ea typeface="Consolas"/>
                <a:cs typeface="Consolas"/>
                <a:sym typeface="Consolas"/>
              </a:rPr>
              <a:t> - </a:t>
            </a:r>
            <a:r>
              <a:rPr lang="en" sz="900" dirty="0">
                <a:solidFill>
                  <a:srgbClr val="001080"/>
                </a:solidFill>
                <a:latin typeface="Consolas"/>
                <a:ea typeface="Consolas"/>
                <a:cs typeface="Consolas"/>
                <a:sym typeface="Consolas"/>
              </a:rPr>
              <a:t>other</a:t>
            </a:r>
            <a:r>
              <a:rPr lang="en" sz="900" dirty="0">
                <a:latin typeface="Consolas"/>
                <a:ea typeface="Consolas"/>
                <a:cs typeface="Consolas"/>
                <a:sym typeface="Consolas"/>
              </a:rPr>
              <a:t>.</a:t>
            </a:r>
            <a:r>
              <a:rPr lang="en" sz="900" dirty="0">
                <a:solidFill>
                  <a:srgbClr val="0070C1"/>
                </a:solidFill>
                <a:latin typeface="Consolas"/>
                <a:ea typeface="Consolas"/>
                <a:cs typeface="Consolas"/>
                <a:sym typeface="Consolas"/>
              </a:rPr>
              <a:t>sequenceNumber</a:t>
            </a:r>
            <a:r>
              <a:rPr lang="en" sz="900" dirty="0">
                <a:latin typeface="Consolas"/>
                <a:ea typeface="Consolas"/>
                <a:cs typeface="Consolas"/>
                <a:sym typeface="Consolas"/>
              </a:rPr>
              <a:t>;</a:t>
            </a:r>
            <a:endParaRPr sz="900" dirty="0">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14 </a:t>
            </a:r>
            <a:r>
              <a:rPr lang="en" sz="900" dirty="0">
                <a:latin typeface="Consolas"/>
                <a:ea typeface="Consolas"/>
                <a:cs typeface="Consolas"/>
                <a:sym typeface="Consolas"/>
              </a:rPr>
              <a:t>    }    </a:t>
            </a:r>
            <a:endParaRPr sz="900" dirty="0">
              <a:latin typeface="Consolas"/>
              <a:ea typeface="Consolas"/>
              <a:cs typeface="Consolas"/>
              <a:sym typeface="Consolas"/>
            </a:endParaRPr>
          </a:p>
          <a:p>
            <a:pPr marL="0" lvl="0" indent="0" algn="l" rtl="0">
              <a:lnSpc>
                <a:spcPct val="100000"/>
              </a:lnSpc>
              <a:spcBef>
                <a:spcPts val="0"/>
              </a:spcBef>
              <a:spcAft>
                <a:spcPts val="0"/>
              </a:spcAft>
              <a:buNone/>
            </a:pPr>
            <a:r>
              <a:rPr lang="en" sz="900" dirty="0">
                <a:solidFill>
                  <a:srgbClr val="4A86E8"/>
                </a:solidFill>
                <a:latin typeface="Consolas"/>
                <a:ea typeface="Consolas"/>
                <a:cs typeface="Consolas"/>
                <a:sym typeface="Consolas"/>
              </a:rPr>
              <a:t>15 </a:t>
            </a:r>
            <a:r>
              <a:rPr lang="en" sz="900" dirty="0">
                <a:latin typeface="Consolas"/>
                <a:ea typeface="Consolas"/>
                <a:cs typeface="Consolas"/>
                <a:sym typeface="Consolas"/>
              </a:rPr>
              <a:t>}</a:t>
            </a:r>
            <a:endParaRPr sz="900" dirty="0">
              <a:latin typeface="Roboto"/>
              <a:ea typeface="Roboto"/>
              <a:cs typeface="Roboto"/>
              <a:sym typeface="Roboto"/>
            </a:endParaRPr>
          </a:p>
        </p:txBody>
      </p:sp>
      <p:sp>
        <p:nvSpPr>
          <p:cNvPr id="1348" name="Google Shape;1348;p105"/>
          <p:cNvSpPr txBox="1"/>
          <p:nvPr/>
        </p:nvSpPr>
        <p:spPr>
          <a:xfrm>
            <a:off x="5032675" y="2958154"/>
            <a:ext cx="362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Most of the time, a class wants to be compared with </a:t>
            </a:r>
            <a:r>
              <a:rPr lang="en" sz="1200" b="1" i="1" dirty="0">
                <a:solidFill>
                  <a:srgbClr val="FF0000"/>
                </a:solidFill>
              </a:rPr>
              <a:t>its own type</a:t>
            </a:r>
            <a:r>
              <a:rPr lang="en" sz="1200" dirty="0"/>
              <a:t>, and so it will specify its own type in place of the type parameter.</a:t>
            </a:r>
            <a:endParaRPr sz="1200" dirty="0"/>
          </a:p>
        </p:txBody>
      </p:sp>
      <p:sp>
        <p:nvSpPr>
          <p:cNvPr id="1349" name="Google Shape;1349;p105"/>
          <p:cNvSpPr/>
          <p:nvPr/>
        </p:nvSpPr>
        <p:spPr>
          <a:xfrm>
            <a:off x="3160175" y="1454833"/>
            <a:ext cx="1933625" cy="672450"/>
          </a:xfrm>
          <a:custGeom>
            <a:avLst/>
            <a:gdLst/>
            <a:ahLst/>
            <a:cxnLst/>
            <a:rect l="l" t="t" r="r" b="b"/>
            <a:pathLst>
              <a:path w="77345" h="26898" extrusionOk="0">
                <a:moveTo>
                  <a:pt x="77345" y="2369"/>
                </a:moveTo>
                <a:cubicBezTo>
                  <a:pt x="66185" y="2259"/>
                  <a:pt x="23277" y="-2382"/>
                  <a:pt x="10386" y="1706"/>
                </a:cubicBezTo>
                <a:cubicBezTo>
                  <a:pt x="-2505" y="5794"/>
                  <a:pt x="1731" y="22699"/>
                  <a:pt x="0" y="2689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50" name="Google Shape;1350;p105"/>
          <p:cNvSpPr/>
          <p:nvPr/>
        </p:nvSpPr>
        <p:spPr>
          <a:xfrm>
            <a:off x="4435225" y="2298550"/>
            <a:ext cx="658563" cy="270700"/>
          </a:xfrm>
          <a:custGeom>
            <a:avLst/>
            <a:gdLst/>
            <a:ahLst/>
            <a:cxnLst/>
            <a:rect l="l" t="t" r="r" b="b"/>
            <a:pathLst>
              <a:path w="29833" h="10828" extrusionOk="0">
                <a:moveTo>
                  <a:pt x="29833" y="10828"/>
                </a:moveTo>
                <a:cubicBezTo>
                  <a:pt x="25524" y="10312"/>
                  <a:pt x="8950" y="9539"/>
                  <a:pt x="3978" y="7734"/>
                </a:cubicBezTo>
                <a:cubicBezTo>
                  <a:pt x="-994" y="5929"/>
                  <a:pt x="663" y="1289"/>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51" name="Google Shape;1351;p105"/>
          <p:cNvSpPr/>
          <p:nvPr/>
        </p:nvSpPr>
        <p:spPr>
          <a:xfrm>
            <a:off x="2323125" y="2298550"/>
            <a:ext cx="2351650" cy="1265136"/>
          </a:xfrm>
          <a:custGeom>
            <a:avLst/>
            <a:gdLst/>
            <a:ahLst/>
            <a:cxnLst/>
            <a:rect l="l" t="t" r="r" b="b"/>
            <a:pathLst>
              <a:path w="94066" h="50164" extrusionOk="0">
                <a:moveTo>
                  <a:pt x="62431" y="0"/>
                </a:moveTo>
                <a:cubicBezTo>
                  <a:pt x="67440" y="3462"/>
                  <a:pt x="101656" y="14291"/>
                  <a:pt x="92485" y="20773"/>
                </a:cubicBezTo>
                <a:cubicBezTo>
                  <a:pt x="83314" y="27255"/>
                  <a:pt x="22138" y="33996"/>
                  <a:pt x="7405" y="38894"/>
                </a:cubicBezTo>
                <a:cubicBezTo>
                  <a:pt x="-7327" y="43793"/>
                  <a:pt x="4643" y="48286"/>
                  <a:pt x="4090" y="5016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52" name="Google Shape;1352;p105"/>
          <p:cNvSpPr txBox="1"/>
          <p:nvPr/>
        </p:nvSpPr>
        <p:spPr>
          <a:xfrm>
            <a:off x="5032675" y="2147577"/>
            <a:ext cx="362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highlight>
                  <a:srgbClr val="FFFF00"/>
                </a:highlight>
                <a:latin typeface="Courier New"/>
                <a:ea typeface="Courier New"/>
                <a:cs typeface="Courier New"/>
                <a:sym typeface="Courier New"/>
              </a:rPr>
              <a:t>Comparable</a:t>
            </a:r>
            <a:r>
              <a:rPr lang="en" sz="1200" dirty="0">
                <a:highlight>
                  <a:srgbClr val="FFFF00"/>
                </a:highlight>
              </a:rPr>
              <a:t> is a </a:t>
            </a:r>
            <a:r>
              <a:rPr lang="en" sz="1200" b="1" i="1" dirty="0">
                <a:solidFill>
                  <a:srgbClr val="FF0000"/>
                </a:solidFill>
                <a:highlight>
                  <a:srgbClr val="FFFF00"/>
                </a:highlight>
              </a:rPr>
              <a:t>generic type</a:t>
            </a:r>
            <a:r>
              <a:rPr lang="en" sz="1200" dirty="0">
                <a:highlight>
                  <a:srgbClr val="FFFF00"/>
                </a:highlight>
              </a:rPr>
              <a:t>. Its </a:t>
            </a:r>
            <a:r>
              <a:rPr lang="en" sz="1200" b="1" i="1" dirty="0">
                <a:solidFill>
                  <a:srgbClr val="FF0000"/>
                </a:solidFill>
                <a:highlight>
                  <a:srgbClr val="FFFF00"/>
                </a:highlight>
              </a:rPr>
              <a:t>type parameter</a:t>
            </a:r>
            <a:r>
              <a:rPr lang="en" sz="1200" dirty="0">
                <a:solidFill>
                  <a:srgbClr val="FF0000"/>
                </a:solidFill>
                <a:highlight>
                  <a:srgbClr val="FFFF00"/>
                </a:highlight>
              </a:rPr>
              <a:t> </a:t>
            </a:r>
            <a:r>
              <a:rPr lang="en" sz="1200" dirty="0">
                <a:highlight>
                  <a:srgbClr val="FFFF00"/>
                </a:highlight>
              </a:rPr>
              <a:t>determines the type of value that can be passed into the </a:t>
            </a:r>
            <a:r>
              <a:rPr lang="en" sz="1200" dirty="0">
                <a:solidFill>
                  <a:srgbClr val="FF0000"/>
                </a:solidFill>
                <a:highlight>
                  <a:srgbClr val="FFFF00"/>
                </a:highlight>
                <a:latin typeface="Courier New"/>
                <a:ea typeface="Courier New"/>
                <a:cs typeface="Courier New"/>
                <a:sym typeface="Courier New"/>
              </a:rPr>
              <a:t>compareTo(T o)</a:t>
            </a:r>
            <a:r>
              <a:rPr lang="en" sz="1200" dirty="0">
                <a:highlight>
                  <a:srgbClr val="FFFF00"/>
                </a:highlight>
              </a:rPr>
              <a:t> method.</a:t>
            </a:r>
            <a:endParaRPr sz="1200" dirty="0">
              <a:highlight>
                <a:srgbClr val="FFFF00"/>
              </a:highlight>
            </a:endParaRPr>
          </a:p>
        </p:txBody>
      </p:sp>
      <p:sp>
        <p:nvSpPr>
          <p:cNvPr id="1353" name="Google Shape;1353;p105"/>
          <p:cNvSpPr txBox="1"/>
          <p:nvPr/>
        </p:nvSpPr>
        <p:spPr>
          <a:xfrm>
            <a:off x="5032675" y="1348050"/>
            <a:ext cx="362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A class implements </a:t>
            </a:r>
            <a:r>
              <a:rPr lang="en" sz="1200" dirty="0">
                <a:solidFill>
                  <a:srgbClr val="FF0000"/>
                </a:solidFill>
                <a:latin typeface="Courier New"/>
                <a:ea typeface="Courier New"/>
                <a:cs typeface="Courier New"/>
                <a:sym typeface="Courier New"/>
              </a:rPr>
              <a:t>Comparable</a:t>
            </a:r>
            <a:r>
              <a:rPr lang="en" sz="1200" dirty="0">
                <a:solidFill>
                  <a:srgbClr val="FF0000"/>
                </a:solidFill>
              </a:rPr>
              <a:t> </a:t>
            </a:r>
            <a:r>
              <a:rPr lang="en" sz="1200" dirty="0"/>
              <a:t>to define its own </a:t>
            </a:r>
            <a:r>
              <a:rPr lang="en" sz="1200" b="1" i="1" dirty="0">
                <a:solidFill>
                  <a:srgbClr val="FF0000"/>
                </a:solidFill>
              </a:rPr>
              <a:t>natural order</a:t>
            </a:r>
            <a:r>
              <a:rPr lang="en" sz="1200" dirty="0"/>
              <a:t>, which determines how instances of the class will be arranged in </a:t>
            </a:r>
            <a:r>
              <a:rPr lang="en" sz="1200" b="1" i="1" dirty="0">
                <a:solidFill>
                  <a:srgbClr val="FF0000"/>
                </a:solidFill>
              </a:rPr>
              <a:t>sorted order</a:t>
            </a:r>
            <a:r>
              <a:rPr lang="en" sz="1200" dirty="0"/>
              <a:t>.</a:t>
            </a:r>
            <a:endParaRPr sz="1200" dirty="0"/>
          </a:p>
        </p:txBody>
      </p:sp>
      <p:sp>
        <p:nvSpPr>
          <p:cNvPr id="1354" name="Google Shape;1354;p105"/>
          <p:cNvSpPr txBox="1"/>
          <p:nvPr/>
        </p:nvSpPr>
        <p:spPr>
          <a:xfrm>
            <a:off x="5032675" y="3774255"/>
            <a:ext cx="36246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When </a:t>
            </a:r>
            <a:r>
              <a:rPr lang="en" sz="1200" dirty="0">
                <a:solidFill>
                  <a:srgbClr val="FF0000"/>
                </a:solidFill>
                <a:highlight>
                  <a:srgbClr val="FFFF00"/>
                </a:highlight>
                <a:latin typeface="Courier New"/>
                <a:ea typeface="Courier New"/>
                <a:cs typeface="Courier New"/>
                <a:sym typeface="Courier New"/>
              </a:rPr>
              <a:t>A.compareTo(B)</a:t>
            </a:r>
            <a:r>
              <a:rPr lang="en" sz="1200" dirty="0">
                <a:highlight>
                  <a:srgbClr val="FFFF00"/>
                </a:highlight>
              </a:rPr>
              <a:t> </a:t>
            </a:r>
            <a:r>
              <a:rPr lang="en" sz="1200" dirty="0"/>
              <a:t>is called on an instance it should return </a:t>
            </a:r>
            <a:r>
              <a:rPr lang="en" sz="1200" dirty="0">
                <a:solidFill>
                  <a:srgbClr val="FF0000"/>
                </a:solidFill>
                <a:latin typeface="Courier New"/>
                <a:ea typeface="Courier New"/>
                <a:cs typeface="Courier New"/>
                <a:sym typeface="Courier New"/>
              </a:rPr>
              <a:t>&lt;0</a:t>
            </a:r>
            <a:r>
              <a:rPr lang="en" sz="1200" dirty="0"/>
              <a:t> if </a:t>
            </a:r>
            <a:r>
              <a:rPr lang="en" sz="1200" dirty="0">
                <a:solidFill>
                  <a:srgbClr val="FF0000"/>
                </a:solidFill>
                <a:latin typeface="Courier New"/>
                <a:ea typeface="Courier New"/>
                <a:cs typeface="Courier New"/>
                <a:sym typeface="Courier New"/>
              </a:rPr>
              <a:t>A</a:t>
            </a:r>
            <a:r>
              <a:rPr lang="en" sz="1200" dirty="0">
                <a:solidFill>
                  <a:srgbClr val="FF0000"/>
                </a:solidFill>
              </a:rPr>
              <a:t> </a:t>
            </a:r>
            <a:r>
              <a:rPr lang="en" sz="1200" b="1" i="1" dirty="0">
                <a:solidFill>
                  <a:srgbClr val="FF0000"/>
                </a:solidFill>
              </a:rPr>
              <a:t>comes before</a:t>
            </a:r>
            <a:r>
              <a:rPr lang="en" sz="1200" dirty="0">
                <a:solidFill>
                  <a:srgbClr val="FF0000"/>
                </a:solidFill>
              </a:rPr>
              <a:t> </a:t>
            </a:r>
            <a:r>
              <a:rPr lang="en" sz="1200" dirty="0">
                <a:solidFill>
                  <a:srgbClr val="FF0000"/>
                </a:solidFill>
                <a:latin typeface="Courier New"/>
                <a:ea typeface="Courier New"/>
                <a:cs typeface="Courier New"/>
                <a:sym typeface="Courier New"/>
              </a:rPr>
              <a:t>B</a:t>
            </a:r>
            <a:r>
              <a:rPr lang="en" sz="1200" dirty="0"/>
              <a:t> in sorted order, </a:t>
            </a:r>
            <a:r>
              <a:rPr lang="en" sz="1200" dirty="0">
                <a:solidFill>
                  <a:srgbClr val="FF0000"/>
                </a:solidFill>
                <a:latin typeface="Courier New"/>
                <a:ea typeface="Courier New"/>
                <a:cs typeface="Courier New"/>
                <a:sym typeface="Courier New"/>
              </a:rPr>
              <a:t>0</a:t>
            </a:r>
            <a:r>
              <a:rPr lang="en" sz="1200" dirty="0"/>
              <a:t> if </a:t>
            </a:r>
            <a:r>
              <a:rPr lang="en" sz="1200" dirty="0">
                <a:solidFill>
                  <a:srgbClr val="FF0000"/>
                </a:solidFill>
                <a:latin typeface="Courier New"/>
                <a:ea typeface="Courier New"/>
                <a:cs typeface="Courier New"/>
                <a:sym typeface="Courier New"/>
              </a:rPr>
              <a:t>A</a:t>
            </a:r>
            <a:r>
              <a:rPr lang="en" sz="1200" dirty="0">
                <a:solidFill>
                  <a:srgbClr val="FF0000"/>
                </a:solidFill>
              </a:rPr>
              <a:t> </a:t>
            </a:r>
            <a:r>
              <a:rPr lang="en" sz="1200" b="1" i="1" dirty="0">
                <a:solidFill>
                  <a:srgbClr val="FF0000"/>
                </a:solidFill>
              </a:rPr>
              <a:t>and</a:t>
            </a:r>
            <a:r>
              <a:rPr lang="en" sz="1200" dirty="0">
                <a:solidFill>
                  <a:srgbClr val="FF0000"/>
                </a:solidFill>
              </a:rPr>
              <a:t> </a:t>
            </a:r>
            <a:r>
              <a:rPr lang="en" sz="1200" dirty="0">
                <a:solidFill>
                  <a:srgbClr val="FF0000"/>
                </a:solidFill>
                <a:latin typeface="Courier New"/>
                <a:ea typeface="Courier New"/>
                <a:cs typeface="Courier New"/>
                <a:sym typeface="Courier New"/>
              </a:rPr>
              <a:t>B</a:t>
            </a:r>
            <a:r>
              <a:rPr lang="en" sz="1200" dirty="0">
                <a:solidFill>
                  <a:srgbClr val="FF0000"/>
                </a:solidFill>
              </a:rPr>
              <a:t> </a:t>
            </a:r>
            <a:r>
              <a:rPr lang="en" sz="1200" b="1" i="1" dirty="0">
                <a:solidFill>
                  <a:srgbClr val="FF0000"/>
                </a:solidFill>
              </a:rPr>
              <a:t>are</a:t>
            </a:r>
            <a:r>
              <a:rPr lang="en" sz="1200" dirty="0">
                <a:solidFill>
                  <a:srgbClr val="FF0000"/>
                </a:solidFill>
              </a:rPr>
              <a:t> </a:t>
            </a:r>
            <a:r>
              <a:rPr lang="en" sz="1200" b="1" i="1" dirty="0">
                <a:solidFill>
                  <a:srgbClr val="FF0000"/>
                </a:solidFill>
              </a:rPr>
              <a:t>equal</a:t>
            </a:r>
            <a:r>
              <a:rPr lang="en" sz="1200" dirty="0"/>
              <a:t>, and </a:t>
            </a:r>
            <a:r>
              <a:rPr lang="en" sz="1200" dirty="0">
                <a:solidFill>
                  <a:srgbClr val="FF0000"/>
                </a:solidFill>
                <a:latin typeface="Courier New"/>
                <a:ea typeface="Courier New"/>
                <a:cs typeface="Courier New"/>
                <a:sym typeface="Courier New"/>
              </a:rPr>
              <a:t>&gt;0</a:t>
            </a:r>
            <a:r>
              <a:rPr lang="en" sz="1200" dirty="0"/>
              <a:t> if </a:t>
            </a:r>
            <a:r>
              <a:rPr lang="en" sz="1200" dirty="0">
                <a:solidFill>
                  <a:srgbClr val="FF0000"/>
                </a:solidFill>
                <a:latin typeface="Courier New"/>
                <a:ea typeface="Courier New"/>
                <a:cs typeface="Courier New"/>
                <a:sym typeface="Courier New"/>
              </a:rPr>
              <a:t>A</a:t>
            </a:r>
            <a:r>
              <a:rPr lang="en" sz="1200" dirty="0">
                <a:solidFill>
                  <a:srgbClr val="FF0000"/>
                </a:solidFill>
              </a:rPr>
              <a:t> </a:t>
            </a:r>
            <a:r>
              <a:rPr lang="en" sz="1200" b="1" i="1" dirty="0">
                <a:solidFill>
                  <a:srgbClr val="FF0000"/>
                </a:solidFill>
              </a:rPr>
              <a:t>comes after</a:t>
            </a:r>
            <a:r>
              <a:rPr lang="en" sz="1200" dirty="0">
                <a:solidFill>
                  <a:srgbClr val="FF0000"/>
                </a:solidFill>
              </a:rPr>
              <a:t> </a:t>
            </a:r>
            <a:r>
              <a:rPr lang="en" sz="1200" dirty="0">
                <a:solidFill>
                  <a:srgbClr val="FF0000"/>
                </a:solidFill>
                <a:latin typeface="Courier New"/>
                <a:ea typeface="Courier New"/>
                <a:cs typeface="Courier New"/>
                <a:sym typeface="Courier New"/>
              </a:rPr>
              <a:t>B</a:t>
            </a:r>
            <a:r>
              <a:rPr lang="en" sz="1200" dirty="0"/>
              <a:t>.</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53"/>
                                        </p:tgtEl>
                                        <p:attrNameLst>
                                          <p:attrName>style.visibility</p:attrName>
                                        </p:attrNameLst>
                                      </p:cBhvr>
                                      <p:to>
                                        <p:strVal val="visible"/>
                                      </p:to>
                                    </p:set>
                                    <p:animEffect transition="in" filter="fade">
                                      <p:cBhvr>
                                        <p:cTn id="7" dur="1000"/>
                                        <p:tgtEl>
                                          <p:spTgt spid="1353"/>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349"/>
                                        </p:tgtEl>
                                        <p:attrNameLst>
                                          <p:attrName>style.visibility</p:attrName>
                                        </p:attrNameLst>
                                      </p:cBhvr>
                                      <p:to>
                                        <p:strVal val="visible"/>
                                      </p:to>
                                    </p:set>
                                    <p:animEffect transition="in" filter="fade">
                                      <p:cBhvr>
                                        <p:cTn id="11" dur="1000"/>
                                        <p:tgtEl>
                                          <p:spTgt spid="134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352"/>
                                        </p:tgtEl>
                                        <p:attrNameLst>
                                          <p:attrName>style.visibility</p:attrName>
                                        </p:attrNameLst>
                                      </p:cBhvr>
                                      <p:to>
                                        <p:strVal val="visible"/>
                                      </p:to>
                                    </p:set>
                                    <p:animEffect transition="in" filter="fade">
                                      <p:cBhvr>
                                        <p:cTn id="16" dur="1000"/>
                                        <p:tgtEl>
                                          <p:spTgt spid="1352"/>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350"/>
                                        </p:tgtEl>
                                        <p:attrNameLst>
                                          <p:attrName>style.visibility</p:attrName>
                                        </p:attrNameLst>
                                      </p:cBhvr>
                                      <p:to>
                                        <p:strVal val="visible"/>
                                      </p:to>
                                    </p:set>
                                    <p:animEffect transition="in" filter="fade">
                                      <p:cBhvr>
                                        <p:cTn id="20" dur="1000"/>
                                        <p:tgtEl>
                                          <p:spTgt spid="1350"/>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1351"/>
                                        </p:tgtEl>
                                        <p:attrNameLst>
                                          <p:attrName>style.visibility</p:attrName>
                                        </p:attrNameLst>
                                      </p:cBhvr>
                                      <p:to>
                                        <p:strVal val="visible"/>
                                      </p:to>
                                    </p:set>
                                    <p:animEffect transition="in" filter="fade">
                                      <p:cBhvr>
                                        <p:cTn id="24" dur="1000"/>
                                        <p:tgtEl>
                                          <p:spTgt spid="135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48"/>
                                        </p:tgtEl>
                                        <p:attrNameLst>
                                          <p:attrName>style.visibility</p:attrName>
                                        </p:attrNameLst>
                                      </p:cBhvr>
                                      <p:to>
                                        <p:strVal val="visible"/>
                                      </p:to>
                                    </p:set>
                                    <p:animEffect transition="in" filter="fade">
                                      <p:cBhvr>
                                        <p:cTn id="29" dur="1000"/>
                                        <p:tgtEl>
                                          <p:spTgt spid="134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354"/>
                                        </p:tgtEl>
                                        <p:attrNameLst>
                                          <p:attrName>style.visibility</p:attrName>
                                        </p:attrNameLst>
                                      </p:cBhvr>
                                      <p:to>
                                        <p:strVal val="visible"/>
                                      </p:to>
                                    </p:set>
                                    <p:animEffect transition="in" filter="fade">
                                      <p:cBhvr>
                                        <p:cTn id="34" dur="1000"/>
                                        <p:tgtEl>
                                          <p:spTgt spid="1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1359" name="Google Shape;1359;p106"/>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a:t>Right now we are representing a Pokémon using its number.  But there is a lot more to Pokémon than a mere number - each Pokémon should also at least have a name! Let's create a new class to represent Pokémon and implement it so that Pokémon are naturally comparable by number.</a:t>
            </a:r>
            <a:endParaRPr/>
          </a:p>
        </p:txBody>
      </p:sp>
      <p:sp>
        <p:nvSpPr>
          <p:cNvPr id="1360" name="Google Shape;1360;p10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1361" name="Google Shape;1361;p106"/>
          <p:cNvSpPr txBox="1">
            <a:spLocks noGrp="1"/>
          </p:cNvSpPr>
          <p:nvPr>
            <p:ph type="body" idx="2"/>
          </p:nvPr>
        </p:nvSpPr>
        <p:spPr>
          <a:xfrm>
            <a:off x="3354125" y="1592525"/>
            <a:ext cx="5549400" cy="3345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Java class named "</a:t>
            </a:r>
            <a:r>
              <a:rPr lang="en" dirty="0">
                <a:solidFill>
                  <a:srgbClr val="FF0000"/>
                </a:solidFill>
                <a:latin typeface="Courier New"/>
                <a:ea typeface="Courier New"/>
                <a:cs typeface="Courier New"/>
                <a:sym typeface="Courier New"/>
              </a:rPr>
              <a:t>Pokémon</a:t>
            </a:r>
            <a:r>
              <a:rPr lang="en" dirty="0"/>
              <a:t>".</a:t>
            </a:r>
            <a:endParaRPr dirty="0"/>
          </a:p>
          <a:p>
            <a:pPr marL="914400" lvl="1" indent="-298450" algn="l" rtl="0">
              <a:spcBef>
                <a:spcPts val="0"/>
              </a:spcBef>
              <a:spcAft>
                <a:spcPts val="0"/>
              </a:spcAft>
              <a:buSzPts val="1100"/>
              <a:buChar char="○"/>
            </a:pPr>
            <a:r>
              <a:rPr lang="en" dirty="0"/>
              <a:t>Add fields and a constructor for the Pokémon's </a:t>
            </a:r>
            <a:r>
              <a:rPr lang="en" dirty="0">
                <a:highlight>
                  <a:srgbClr val="FFFF00"/>
                </a:highlight>
                <a:latin typeface="Courier New"/>
                <a:ea typeface="Courier New"/>
                <a:cs typeface="Courier New"/>
                <a:sym typeface="Courier New"/>
              </a:rPr>
              <a:t>number</a:t>
            </a:r>
            <a:r>
              <a:rPr lang="en" dirty="0">
                <a:highlight>
                  <a:srgbClr val="FFFF00"/>
                </a:highlight>
              </a:rPr>
              <a:t> and </a:t>
            </a:r>
            <a:r>
              <a:rPr lang="en" dirty="0">
                <a:highlight>
                  <a:srgbClr val="FFFF00"/>
                </a:highlight>
                <a:latin typeface="Courier New"/>
                <a:ea typeface="Courier New"/>
                <a:cs typeface="Courier New"/>
                <a:sym typeface="Courier New"/>
              </a:rPr>
              <a:t>name</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b="1" i="1" dirty="0">
                <a:solidFill>
                  <a:srgbClr val="FF0000"/>
                </a:solidFill>
              </a:rPr>
              <a:t>Override </a:t>
            </a:r>
            <a:r>
              <a:rPr lang="en" dirty="0">
                <a:solidFill>
                  <a:srgbClr val="FF0000"/>
                </a:solidFill>
                <a:latin typeface="Courier New"/>
                <a:ea typeface="Courier New"/>
                <a:cs typeface="Courier New"/>
                <a:sym typeface="Courier New"/>
              </a:rPr>
              <a:t>toString()</a:t>
            </a:r>
            <a:r>
              <a:rPr lang="en" dirty="0"/>
              <a:t> to return a </a:t>
            </a:r>
            <a:r>
              <a:rPr lang="en" dirty="0">
                <a:latin typeface="Courier New"/>
                <a:ea typeface="Courier New"/>
                <a:cs typeface="Courier New"/>
                <a:sym typeface="Courier New"/>
              </a:rPr>
              <a:t>String</a:t>
            </a:r>
            <a:r>
              <a:rPr lang="en" dirty="0"/>
              <a:t> in the format </a:t>
            </a:r>
            <a:r>
              <a:rPr lang="en" dirty="0">
                <a:solidFill>
                  <a:srgbClr val="FF0000"/>
                </a:solidFill>
              </a:rPr>
              <a:t>"</a:t>
            </a:r>
            <a:r>
              <a:rPr lang="en" dirty="0">
                <a:solidFill>
                  <a:srgbClr val="FF0000"/>
                </a:solidFill>
                <a:latin typeface="Courier New"/>
                <a:ea typeface="Courier New"/>
                <a:cs typeface="Courier New"/>
                <a:sym typeface="Courier New"/>
              </a:rPr>
              <a:t>#: &lt;name&gt;</a:t>
            </a:r>
            <a:r>
              <a:rPr lang="en" dirty="0">
                <a:solidFill>
                  <a:srgbClr val="FF0000"/>
                </a:solidFill>
              </a:rPr>
              <a:t>"</a:t>
            </a:r>
            <a:r>
              <a:rPr lang="en" dirty="0"/>
              <a:t>, e.g. </a:t>
            </a:r>
            <a:r>
              <a:rPr lang="en" dirty="0">
                <a:latin typeface="Courier New"/>
                <a:ea typeface="Courier New"/>
                <a:cs typeface="Courier New"/>
                <a:sym typeface="Courier New"/>
              </a:rPr>
              <a:t>"7: Squirtle"</a:t>
            </a:r>
            <a:r>
              <a:rPr lang="en" dirty="0"/>
              <a:t>.</a:t>
            </a:r>
            <a:endParaRPr dirty="0"/>
          </a:p>
          <a:p>
            <a:pPr marL="914400" lvl="1" indent="-298450" algn="l" rtl="0">
              <a:spcBef>
                <a:spcPts val="0"/>
              </a:spcBef>
              <a:spcAft>
                <a:spcPts val="0"/>
              </a:spcAft>
              <a:buSzPts val="1100"/>
              <a:buChar char="○"/>
            </a:pPr>
            <a:r>
              <a:rPr lang="en" b="1" i="1" dirty="0">
                <a:solidFill>
                  <a:srgbClr val="FF0000"/>
                </a:solidFill>
              </a:rPr>
              <a:t>Implement </a:t>
            </a:r>
            <a:r>
              <a:rPr lang="en" dirty="0"/>
              <a:t>the </a:t>
            </a:r>
            <a:r>
              <a:rPr lang="en" dirty="0">
                <a:solidFill>
                  <a:srgbClr val="FF0000"/>
                </a:solidFill>
                <a:latin typeface="Courier New"/>
                <a:ea typeface="Courier New"/>
                <a:cs typeface="Courier New"/>
                <a:sym typeface="Courier New"/>
              </a:rPr>
              <a:t>Comparable</a:t>
            </a:r>
            <a:r>
              <a:rPr lang="en" dirty="0">
                <a:solidFill>
                  <a:srgbClr val="FF0000"/>
                </a:solidFill>
              </a:rPr>
              <a:t> </a:t>
            </a:r>
            <a:r>
              <a:rPr lang="en" dirty="0"/>
              <a:t>interface.</a:t>
            </a:r>
            <a:endParaRPr dirty="0"/>
          </a:p>
          <a:p>
            <a:pPr marL="1371600" lvl="2" indent="-298450" algn="l" rtl="0">
              <a:spcBef>
                <a:spcPts val="0"/>
              </a:spcBef>
              <a:spcAft>
                <a:spcPts val="0"/>
              </a:spcAft>
              <a:buSzPts val="1100"/>
              <a:buChar char="■"/>
            </a:pPr>
            <a:r>
              <a:rPr lang="en" dirty="0"/>
              <a:t>The class should specify </a:t>
            </a:r>
            <a:r>
              <a:rPr lang="en" b="1" i="1" dirty="0">
                <a:solidFill>
                  <a:srgbClr val="FF0000"/>
                </a:solidFill>
              </a:rPr>
              <a:t>its own type</a:t>
            </a:r>
            <a:r>
              <a:rPr lang="en" dirty="0"/>
              <a:t> for the generic type parameter.</a:t>
            </a:r>
            <a:endParaRPr dirty="0"/>
          </a:p>
          <a:p>
            <a:pPr marL="1371600" lvl="2" indent="-298450" algn="l" rtl="0">
              <a:spcBef>
                <a:spcPts val="0"/>
              </a:spcBef>
              <a:spcAft>
                <a:spcPts val="0"/>
              </a:spcAft>
              <a:buSzPts val="1100"/>
              <a:buChar char="■"/>
            </a:pPr>
            <a:r>
              <a:rPr lang="en" dirty="0"/>
              <a:t>Compare two Pokémon using their numbers in </a:t>
            </a:r>
            <a:r>
              <a:rPr lang="en" b="1" i="1" dirty="0">
                <a:solidFill>
                  <a:srgbClr val="FF0000"/>
                </a:solidFill>
              </a:rPr>
              <a:t>ascending order</a:t>
            </a:r>
            <a:r>
              <a:rPr lang="en" dirty="0"/>
              <a:t>. </a:t>
            </a:r>
            <a:endParaRPr dirty="0"/>
          </a:p>
          <a:p>
            <a:pPr marL="1371600" lvl="2" indent="-298450" algn="l" rtl="0">
              <a:spcBef>
                <a:spcPts val="0"/>
              </a:spcBef>
              <a:spcAft>
                <a:spcPts val="0"/>
              </a:spcAft>
              <a:buSzPts val="1100"/>
              <a:buChar char="■"/>
            </a:pPr>
            <a:r>
              <a:rPr lang="en" dirty="0"/>
              <a:t>Remember, </a:t>
            </a:r>
            <a:r>
              <a:rPr lang="en" dirty="0">
                <a:solidFill>
                  <a:srgbClr val="FF0000"/>
                </a:solidFill>
                <a:latin typeface="Courier New"/>
                <a:ea typeface="Courier New"/>
                <a:cs typeface="Courier New"/>
                <a:sym typeface="Courier New"/>
              </a:rPr>
              <a:t>poke1.compareTo(poke2)</a:t>
            </a:r>
            <a:r>
              <a:rPr lang="en" dirty="0"/>
              <a:t> should return an integer that is </a:t>
            </a:r>
            <a:r>
              <a:rPr lang="en" dirty="0">
                <a:solidFill>
                  <a:srgbClr val="FF0000"/>
                </a:solidFill>
                <a:latin typeface="Courier New"/>
                <a:ea typeface="Courier New"/>
                <a:cs typeface="Courier New"/>
                <a:sym typeface="Courier New"/>
              </a:rPr>
              <a:t>&lt;0</a:t>
            </a:r>
            <a:r>
              <a:rPr lang="en" dirty="0"/>
              <a:t> if </a:t>
            </a:r>
            <a:r>
              <a:rPr lang="en" dirty="0">
                <a:latin typeface="Courier New"/>
                <a:ea typeface="Courier New"/>
                <a:cs typeface="Courier New"/>
                <a:sym typeface="Courier New"/>
              </a:rPr>
              <a:t>poke1</a:t>
            </a:r>
            <a:r>
              <a:rPr lang="en" dirty="0"/>
              <a:t> is first, </a:t>
            </a:r>
            <a:r>
              <a:rPr lang="en" dirty="0">
                <a:solidFill>
                  <a:srgbClr val="FF0000"/>
                </a:solidFill>
                <a:latin typeface="Courier New"/>
                <a:ea typeface="Courier New"/>
                <a:cs typeface="Courier New"/>
                <a:sym typeface="Courier New"/>
              </a:rPr>
              <a:t>0</a:t>
            </a:r>
            <a:r>
              <a:rPr lang="en" dirty="0"/>
              <a:t> if they are equal, and </a:t>
            </a:r>
            <a:r>
              <a:rPr lang="en" dirty="0">
                <a:solidFill>
                  <a:srgbClr val="FF0000"/>
                </a:solidFill>
                <a:latin typeface="Courier New"/>
                <a:ea typeface="Courier New"/>
                <a:cs typeface="Courier New"/>
                <a:sym typeface="Courier New"/>
              </a:rPr>
              <a:t>&gt;0</a:t>
            </a:r>
            <a:r>
              <a:rPr lang="en" dirty="0"/>
              <a:t> if </a:t>
            </a:r>
            <a:r>
              <a:rPr lang="en" dirty="0">
                <a:latin typeface="Courier New"/>
                <a:ea typeface="Courier New"/>
                <a:cs typeface="Courier New"/>
                <a:sym typeface="Courier New"/>
              </a:rPr>
              <a:t>poke1</a:t>
            </a:r>
            <a:r>
              <a:rPr lang="en" dirty="0"/>
              <a:t> is second.</a:t>
            </a:r>
            <a:endParaRPr dirty="0"/>
          </a:p>
          <a:p>
            <a:pPr marL="457200" lvl="0" indent="-311150" algn="l" rtl="0">
              <a:spcBef>
                <a:spcPts val="0"/>
              </a:spcBef>
              <a:spcAft>
                <a:spcPts val="0"/>
              </a:spcAft>
              <a:buSzPts val="1300"/>
              <a:buChar char="●"/>
            </a:pPr>
            <a:r>
              <a:rPr lang="en" dirty="0"/>
              <a:t>Add a </a:t>
            </a:r>
            <a:r>
              <a:rPr lang="en" dirty="0">
                <a:latin typeface="Courier New"/>
                <a:ea typeface="Courier New"/>
                <a:cs typeface="Courier New"/>
                <a:sym typeface="Courier New"/>
              </a:rPr>
              <a:t>main</a:t>
            </a:r>
            <a:r>
              <a:rPr lang="en" dirty="0"/>
              <a:t> method with the appropriate signature.</a:t>
            </a:r>
            <a:endParaRPr dirty="0"/>
          </a:p>
          <a:p>
            <a:pPr marL="914400" lvl="1" indent="-298450" algn="l" rtl="0">
              <a:spcBef>
                <a:spcPts val="0"/>
              </a:spcBef>
              <a:spcAft>
                <a:spcPts val="0"/>
              </a:spcAft>
              <a:buSzPts val="1100"/>
              <a:buChar char="○"/>
            </a:pPr>
            <a:r>
              <a:rPr lang="en" dirty="0"/>
              <a:t>Create a Java </a:t>
            </a:r>
            <a:r>
              <a:rPr lang="en" dirty="0">
                <a:highlight>
                  <a:srgbClr val="FFFF00"/>
                </a:highlight>
                <a:latin typeface="Courier New"/>
                <a:ea typeface="Courier New"/>
                <a:cs typeface="Courier New"/>
                <a:sym typeface="Courier New"/>
              </a:rPr>
              <a:t>List</a:t>
            </a:r>
            <a:r>
              <a:rPr lang="en" dirty="0"/>
              <a:t> that contains at least 3 different Pokémon. Make sure to add them out of order.</a:t>
            </a:r>
            <a:endParaRPr dirty="0"/>
          </a:p>
          <a:p>
            <a:pPr marL="914400" lvl="1" indent="-298450" algn="l" rtl="0">
              <a:spcBef>
                <a:spcPts val="0"/>
              </a:spcBef>
              <a:spcAft>
                <a:spcPts val="0"/>
              </a:spcAft>
              <a:buSzPts val="1100"/>
              <a:buChar char="○"/>
            </a:pPr>
            <a:r>
              <a:rPr lang="en" dirty="0"/>
              <a:t>Call the </a:t>
            </a:r>
            <a:r>
              <a:rPr lang="en" u="sng" dirty="0">
                <a:solidFill>
                  <a:srgbClr val="4A86E8"/>
                </a:solidFill>
                <a:highlight>
                  <a:srgbClr val="FFFF00"/>
                </a:highlight>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Collections.sort(List)</a:t>
            </a:r>
            <a:r>
              <a:rPr lang="en" dirty="0">
                <a:highlight>
                  <a:srgbClr val="FFFF00"/>
                </a:highlight>
              </a:rPr>
              <a:t> </a:t>
            </a:r>
            <a:r>
              <a:rPr lang="en" dirty="0"/>
              <a:t>method to sort the list and then print it to standard output.</a:t>
            </a:r>
            <a:endParaRPr dirty="0"/>
          </a:p>
        </p:txBody>
      </p:sp>
      <p:sp>
        <p:nvSpPr>
          <p:cNvPr id="1362" name="Google Shape;1362;p10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Comparable Pokémon </a:t>
            </a:r>
            <a:endParaRPr/>
          </a:p>
        </p:txBody>
      </p:sp>
      <p:sp>
        <p:nvSpPr>
          <p:cNvPr id="1363" name="Google Shape;1363;p10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6.11</a:t>
            </a:r>
            <a:endParaRPr/>
          </a:p>
        </p:txBody>
      </p:sp>
      <p:sp>
        <p:nvSpPr>
          <p:cNvPr id="1364" name="Google Shape;1364;p106"/>
          <p:cNvSpPr txBox="1"/>
          <p:nvPr/>
        </p:nvSpPr>
        <p:spPr>
          <a:xfrm>
            <a:off x="162375" y="3931425"/>
            <a:ext cx="32700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100"/>
              <a:t>Up until now we have been representing Pokémon using integers.</a:t>
            </a:r>
            <a:endParaRPr sz="1100"/>
          </a:p>
        </p:txBody>
      </p:sp>
      <p:sp>
        <p:nvSpPr>
          <p:cNvPr id="1365" name="Google Shape;1365;p106"/>
          <p:cNvSpPr txBox="1"/>
          <p:nvPr/>
        </p:nvSpPr>
        <p:spPr>
          <a:xfrm>
            <a:off x="162375" y="4541025"/>
            <a:ext cx="32700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100"/>
              <a:t>Let's create a class that defines its own </a:t>
            </a:r>
            <a:r>
              <a:rPr lang="en" sz="1100" b="1" i="1">
                <a:solidFill>
                  <a:srgbClr val="FF0000"/>
                </a:solidFill>
              </a:rPr>
              <a:t>natural order</a:t>
            </a:r>
            <a:r>
              <a:rPr lang="en" sz="1100"/>
              <a:t> instead.</a:t>
            </a:r>
            <a:endParaRPr sz="1100"/>
          </a:p>
        </p:txBody>
      </p:sp>
      <p:sp>
        <p:nvSpPr>
          <p:cNvPr id="1366" name="Google Shape;1366;p106"/>
          <p:cNvSpPr txBox="1"/>
          <p:nvPr/>
        </p:nvSpPr>
        <p:spPr>
          <a:xfrm>
            <a:off x="162500" y="1592850"/>
            <a:ext cx="3270000" cy="2262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Comparable</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Alien</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seqNumber</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        </a:t>
            </a:r>
            <a:r>
              <a:rPr lang="en" sz="900">
                <a:solidFill>
                  <a:srgbClr val="008000"/>
                </a:solidFill>
                <a:highlight>
                  <a:srgbClr val="FFFFFF"/>
                </a:highlight>
                <a:latin typeface="Consolas"/>
                <a:ea typeface="Consolas"/>
                <a:cs typeface="Consolas"/>
                <a:sym typeface="Consolas"/>
              </a:rPr>
              <a:t>// sort by sequence number</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a:t>
            </a:r>
            <a:endParaRPr sz="900">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70"/>
        <p:cNvGrpSpPr/>
        <p:nvPr/>
      </p:nvGrpSpPr>
      <p:grpSpPr>
        <a:xfrm>
          <a:off x="0" y="0"/>
          <a:ext cx="0" cy="0"/>
          <a:chOff x="0" y="0"/>
          <a:chExt cx="0" cy="0"/>
        </a:xfrm>
      </p:grpSpPr>
      <p:sp>
        <p:nvSpPr>
          <p:cNvPr id="1371" name="Google Shape;1371;p107"/>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Comparators</a:t>
            </a:r>
            <a:endParaRPr/>
          </a:p>
        </p:txBody>
      </p:sp>
      <p:sp>
        <p:nvSpPr>
          <p:cNvPr id="1372" name="Google Shape;1372;p107"/>
          <p:cNvSpPr txBox="1">
            <a:spLocks noGrp="1"/>
          </p:cNvSpPr>
          <p:nvPr>
            <p:ph type="body" idx="1"/>
          </p:nvPr>
        </p:nvSpPr>
        <p:spPr>
          <a:xfrm>
            <a:off x="4383225" y="43725"/>
            <a:ext cx="4638000" cy="5022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highlight>
                  <a:srgbClr val="FFFF00"/>
                </a:highlight>
              </a:rPr>
              <a:t>If a class implements </a:t>
            </a:r>
            <a:r>
              <a:rPr lang="en" dirty="0">
                <a:highlight>
                  <a:srgbClr val="FFFF00"/>
                </a:highlight>
                <a:latin typeface="Courier New"/>
                <a:ea typeface="Courier New"/>
                <a:cs typeface="Courier New"/>
                <a:sym typeface="Courier New"/>
              </a:rPr>
              <a:t>Comparable</a:t>
            </a:r>
            <a:r>
              <a:rPr lang="en" dirty="0">
                <a:highlight>
                  <a:srgbClr val="FFFF00"/>
                </a:highlight>
              </a:rPr>
              <a:t>, it defines its own </a:t>
            </a:r>
            <a:r>
              <a:rPr lang="en" b="1" i="1" dirty="0">
                <a:solidFill>
                  <a:srgbClr val="FF0000"/>
                </a:solidFill>
                <a:highlight>
                  <a:srgbClr val="FFFF00"/>
                </a:highlight>
              </a:rPr>
              <a:t>natural order</a:t>
            </a:r>
            <a:r>
              <a:rPr lang="en" dirty="0">
                <a:highlight>
                  <a:srgbClr val="FFFF00"/>
                </a:highlight>
              </a:rPr>
              <a:t> and can be sorted.</a:t>
            </a:r>
            <a:endParaRPr dirty="0">
              <a:highlight>
                <a:srgbClr val="FFFF00"/>
              </a:highlight>
            </a:endParaRPr>
          </a:p>
          <a:p>
            <a:pPr marL="914400" lvl="1" indent="-298450" algn="l" rtl="0">
              <a:spcBef>
                <a:spcPts val="0"/>
              </a:spcBef>
              <a:spcAft>
                <a:spcPts val="0"/>
              </a:spcAft>
              <a:buSzPts val="1100"/>
              <a:buChar char="○"/>
            </a:pPr>
            <a:r>
              <a:rPr lang="en" dirty="0"/>
              <a:t>By using </a:t>
            </a:r>
            <a:r>
              <a:rPr lang="en" dirty="0">
                <a:latin typeface="Courier New"/>
                <a:ea typeface="Courier New"/>
                <a:cs typeface="Courier New"/>
                <a:sym typeface="Courier New"/>
              </a:rPr>
              <a:t>Collections.sort(List)</a:t>
            </a:r>
            <a:r>
              <a:rPr lang="en" dirty="0"/>
              <a:t> for example.</a:t>
            </a:r>
            <a:endParaRPr dirty="0"/>
          </a:p>
          <a:p>
            <a:pPr marL="457200" lvl="0" indent="-311150" algn="l" rtl="0">
              <a:spcBef>
                <a:spcPts val="1000"/>
              </a:spcBef>
              <a:spcAft>
                <a:spcPts val="0"/>
              </a:spcAft>
              <a:buSzPts val="1300"/>
              <a:buChar char="●"/>
            </a:pPr>
            <a:r>
              <a:rPr lang="en" dirty="0">
                <a:highlight>
                  <a:srgbClr val="FFFF00"/>
                </a:highlight>
              </a:rPr>
              <a:t>But what do you do if a class </a:t>
            </a:r>
            <a:r>
              <a:rPr lang="en" b="1" i="1" dirty="0">
                <a:solidFill>
                  <a:srgbClr val="FF0000"/>
                </a:solidFill>
                <a:highlight>
                  <a:srgbClr val="FFFF00"/>
                </a:highlight>
              </a:rPr>
              <a:t>doesn't</a:t>
            </a:r>
            <a:r>
              <a:rPr lang="en" dirty="0">
                <a:highlight>
                  <a:srgbClr val="FFFF00"/>
                </a:highlight>
              </a:rPr>
              <a:t> implement </a:t>
            </a:r>
            <a:r>
              <a:rPr lang="en" dirty="0">
                <a:highlight>
                  <a:srgbClr val="FFFF00"/>
                </a:highlight>
                <a:latin typeface="Courier New"/>
                <a:ea typeface="Courier New"/>
                <a:cs typeface="Courier New"/>
                <a:sym typeface="Courier New"/>
              </a:rPr>
              <a:t>Comparable</a:t>
            </a:r>
            <a:r>
              <a:rPr lang="en" dirty="0">
                <a:highlight>
                  <a:srgbClr val="FFFF00"/>
                </a:highlight>
              </a:rPr>
              <a:t> and you would still like to arrange objects of the class into some order?</a:t>
            </a:r>
            <a:endParaRPr dirty="0">
              <a:highlight>
                <a:srgbClr val="FFFF00"/>
              </a:highlight>
            </a:endParaRPr>
          </a:p>
          <a:p>
            <a:pPr marL="457200" lvl="0" indent="-311150" algn="l" rtl="0">
              <a:spcBef>
                <a:spcPts val="1000"/>
              </a:spcBef>
              <a:spcAft>
                <a:spcPts val="0"/>
              </a:spcAft>
              <a:buSzPts val="1300"/>
              <a:buChar char="●"/>
            </a:pPr>
            <a:r>
              <a:rPr lang="en" dirty="0"/>
              <a:t>Or what if the class </a:t>
            </a:r>
            <a:r>
              <a:rPr lang="en" b="1" i="1" dirty="0">
                <a:solidFill>
                  <a:srgbClr val="FF0000"/>
                </a:solidFill>
              </a:rPr>
              <a:t>does</a:t>
            </a:r>
            <a:r>
              <a:rPr lang="en" dirty="0"/>
              <a:t> implement </a:t>
            </a:r>
            <a:r>
              <a:rPr lang="en" dirty="0">
                <a:latin typeface="Courier New"/>
                <a:ea typeface="Courier New"/>
                <a:cs typeface="Courier New"/>
                <a:sym typeface="Courier New"/>
              </a:rPr>
              <a:t>Comparable</a:t>
            </a:r>
            <a:r>
              <a:rPr lang="en" dirty="0"/>
              <a:t> but you want to arrange objects into </a:t>
            </a:r>
            <a:r>
              <a:rPr lang="en" b="1" i="1" dirty="0">
                <a:solidFill>
                  <a:srgbClr val="FF0000"/>
                </a:solidFill>
              </a:rPr>
              <a:t>some other order</a:t>
            </a:r>
            <a:r>
              <a:rPr lang="en" dirty="0"/>
              <a:t>?</a:t>
            </a:r>
            <a:endParaRPr dirty="0"/>
          </a:p>
          <a:p>
            <a:pPr marL="457200" lvl="0" indent="-311150" algn="l" rtl="0">
              <a:spcBef>
                <a:spcPts val="1000"/>
              </a:spcBef>
              <a:spcAft>
                <a:spcPts val="0"/>
              </a:spcAft>
              <a:buSzPts val="1300"/>
              <a:buChar char="●"/>
            </a:pPr>
            <a:r>
              <a:rPr lang="en" dirty="0"/>
              <a:t>Java provides another interface that allows you to create a </a:t>
            </a:r>
            <a:r>
              <a:rPr lang="en" b="1" i="1" dirty="0">
                <a:solidFill>
                  <a:srgbClr val="FF0000"/>
                </a:solidFill>
                <a:highlight>
                  <a:srgbClr val="FFFF00"/>
                </a:highlight>
              </a:rPr>
              <a:t>helper class</a:t>
            </a:r>
            <a:r>
              <a:rPr lang="en" dirty="0">
                <a:solidFill>
                  <a:srgbClr val="FF0000"/>
                </a:solidFill>
                <a:highlight>
                  <a:srgbClr val="FFFF00"/>
                </a:highlight>
              </a:rPr>
              <a:t> </a:t>
            </a:r>
            <a:r>
              <a:rPr lang="en" dirty="0"/>
              <a:t>that can be used to arrange objects of </a:t>
            </a:r>
            <a:r>
              <a:rPr lang="en" b="1" i="1" dirty="0">
                <a:solidFill>
                  <a:srgbClr val="FF0000"/>
                </a:solidFill>
              </a:rPr>
              <a:t>some other class</a:t>
            </a:r>
            <a:r>
              <a:rPr lang="en" dirty="0"/>
              <a:t>: </a:t>
            </a:r>
            <a:r>
              <a:rPr lang="en" dirty="0">
                <a:solidFill>
                  <a:srgbClr val="FF0000"/>
                </a:solidFill>
                <a:highlight>
                  <a:srgbClr val="FFFF00"/>
                </a:highlight>
                <a:latin typeface="Courier New"/>
                <a:ea typeface="Courier New"/>
                <a:cs typeface="Courier New"/>
                <a:sym typeface="Courier New"/>
              </a:rPr>
              <a:t>java.util.Comparator</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It is a </a:t>
            </a:r>
            <a:r>
              <a:rPr lang="en" b="1" i="1" dirty="0">
                <a:solidFill>
                  <a:srgbClr val="FF0000"/>
                </a:solidFill>
              </a:rPr>
              <a:t>generic type</a:t>
            </a:r>
            <a:r>
              <a:rPr lang="en" dirty="0">
                <a:solidFill>
                  <a:srgbClr val="FF0000"/>
                </a:solidFill>
              </a:rPr>
              <a:t> </a:t>
            </a:r>
            <a:r>
              <a:rPr lang="en" dirty="0"/>
              <a:t>that defines a single method, </a:t>
            </a:r>
            <a:r>
              <a:rPr lang="en" dirty="0">
                <a:solidFill>
                  <a:srgbClr val="FF0000"/>
                </a:solidFill>
                <a:highlight>
                  <a:srgbClr val="FFFF00"/>
                </a:highlight>
                <a:latin typeface="Courier New"/>
                <a:ea typeface="Courier New"/>
                <a:cs typeface="Courier New"/>
                <a:sym typeface="Courier New"/>
              </a:rPr>
              <a:t>compare(T</a:t>
            </a:r>
            <a:r>
              <a:rPr lang="en" dirty="0">
                <a:solidFill>
                  <a:srgbClr val="FF0000"/>
                </a:solidFill>
                <a:highlight>
                  <a:srgbClr val="FFFF00"/>
                </a:highlight>
                <a:latin typeface="Arial"/>
                <a:ea typeface="Arial"/>
                <a:cs typeface="Arial"/>
                <a:sym typeface="Arial"/>
              </a:rPr>
              <a:t> </a:t>
            </a:r>
            <a:r>
              <a:rPr lang="en" dirty="0">
                <a:solidFill>
                  <a:srgbClr val="FF0000"/>
                </a:solidFill>
                <a:highlight>
                  <a:srgbClr val="FFFF00"/>
                </a:highlight>
                <a:latin typeface="Courier New"/>
                <a:ea typeface="Courier New"/>
                <a:cs typeface="Courier New"/>
                <a:sym typeface="Courier New"/>
              </a:rPr>
              <a:t>a,</a:t>
            </a:r>
            <a:r>
              <a:rPr lang="en" dirty="0">
                <a:solidFill>
                  <a:srgbClr val="FF0000"/>
                </a:solidFill>
                <a:highlight>
                  <a:srgbClr val="FFFF00"/>
                </a:highlight>
                <a:latin typeface="Arial"/>
                <a:ea typeface="Arial"/>
                <a:cs typeface="Arial"/>
                <a:sym typeface="Arial"/>
              </a:rPr>
              <a:t> </a:t>
            </a:r>
            <a:r>
              <a:rPr lang="en" dirty="0">
                <a:solidFill>
                  <a:srgbClr val="FF0000"/>
                </a:solidFill>
                <a:highlight>
                  <a:srgbClr val="FFFF00"/>
                </a:highlight>
                <a:latin typeface="Courier New"/>
                <a:ea typeface="Courier New"/>
                <a:cs typeface="Courier New"/>
                <a:sym typeface="Courier New"/>
              </a:rPr>
              <a:t>T</a:t>
            </a:r>
            <a:r>
              <a:rPr lang="en" dirty="0">
                <a:solidFill>
                  <a:srgbClr val="FF0000"/>
                </a:solidFill>
                <a:highlight>
                  <a:srgbClr val="FFFF00"/>
                </a:highlight>
                <a:latin typeface="Arial"/>
                <a:ea typeface="Arial"/>
                <a:cs typeface="Arial"/>
                <a:sym typeface="Arial"/>
              </a:rPr>
              <a:t> </a:t>
            </a:r>
            <a:r>
              <a:rPr lang="en" dirty="0">
                <a:solidFill>
                  <a:srgbClr val="FF0000"/>
                </a:solidFill>
                <a:highlight>
                  <a:srgbClr val="FFFF00"/>
                </a:highlight>
                <a:latin typeface="Courier New"/>
                <a:ea typeface="Courier New"/>
                <a:cs typeface="Courier New"/>
                <a:sym typeface="Courier New"/>
              </a:rPr>
              <a:t>b)</a:t>
            </a:r>
            <a:r>
              <a:rPr lang="en" dirty="0">
                <a:highlight>
                  <a:srgbClr val="FFFF00"/>
                </a:highlight>
              </a:rPr>
              <a:t>, </a:t>
            </a:r>
            <a:r>
              <a:rPr lang="en" dirty="0"/>
              <a:t>that compares two instances of some </a:t>
            </a:r>
            <a:r>
              <a:rPr lang="en" b="1" i="1" dirty="0">
                <a:solidFill>
                  <a:srgbClr val="FF0000"/>
                </a:solidFill>
              </a:rPr>
              <a:t>other class</a:t>
            </a:r>
            <a:r>
              <a:rPr lang="en" dirty="0"/>
              <a:t>.</a:t>
            </a:r>
            <a:endParaRPr dirty="0"/>
          </a:p>
          <a:p>
            <a:pPr marL="914400" lvl="1" indent="-298450" algn="l" rtl="0">
              <a:spcBef>
                <a:spcPts val="0"/>
              </a:spcBef>
              <a:spcAft>
                <a:spcPts val="0"/>
              </a:spcAft>
              <a:buSzPts val="1100"/>
              <a:buChar char="○"/>
            </a:pPr>
            <a:r>
              <a:rPr lang="en" dirty="0"/>
              <a:t>It follows the same rules as </a:t>
            </a:r>
            <a:r>
              <a:rPr lang="en" dirty="0">
                <a:latin typeface="Courier New"/>
                <a:ea typeface="Courier New"/>
                <a:cs typeface="Courier New"/>
                <a:sym typeface="Courier New"/>
              </a:rPr>
              <a:t>Comparable</a:t>
            </a:r>
            <a:r>
              <a:rPr lang="en" dirty="0"/>
              <a:t> and returns an integer </a:t>
            </a:r>
            <a:r>
              <a:rPr lang="en" dirty="0">
                <a:solidFill>
                  <a:srgbClr val="FF0000"/>
                </a:solidFill>
                <a:latin typeface="Courier New"/>
                <a:ea typeface="Courier New"/>
                <a:cs typeface="Courier New"/>
                <a:sym typeface="Courier New"/>
              </a:rPr>
              <a:t>&lt;0</a:t>
            </a:r>
            <a:r>
              <a:rPr lang="en" dirty="0"/>
              <a:t> if </a:t>
            </a:r>
            <a:r>
              <a:rPr lang="en" dirty="0">
                <a:latin typeface="Courier New"/>
                <a:ea typeface="Courier New"/>
                <a:cs typeface="Courier New"/>
                <a:sym typeface="Courier New"/>
              </a:rPr>
              <a:t>a</a:t>
            </a:r>
            <a:r>
              <a:rPr lang="en" dirty="0"/>
              <a:t> comes </a:t>
            </a:r>
            <a:r>
              <a:rPr lang="en" b="1" i="1" dirty="0">
                <a:solidFill>
                  <a:srgbClr val="FF0000"/>
                </a:solidFill>
              </a:rPr>
              <a:t>before</a:t>
            </a:r>
            <a:r>
              <a:rPr lang="en" dirty="0">
                <a:solidFill>
                  <a:srgbClr val="FF0000"/>
                </a:solidFill>
              </a:rPr>
              <a:t> </a:t>
            </a:r>
            <a:r>
              <a:rPr lang="en" dirty="0">
                <a:latin typeface="Courier New"/>
                <a:ea typeface="Courier New"/>
                <a:cs typeface="Courier New"/>
                <a:sym typeface="Courier New"/>
              </a:rPr>
              <a:t>b</a:t>
            </a:r>
            <a:r>
              <a:rPr lang="en" dirty="0"/>
              <a:t> in sorted order, </a:t>
            </a:r>
            <a:r>
              <a:rPr lang="en" dirty="0">
                <a:solidFill>
                  <a:srgbClr val="FF0000"/>
                </a:solidFill>
                <a:latin typeface="Courier New"/>
                <a:ea typeface="Courier New"/>
                <a:cs typeface="Courier New"/>
                <a:sym typeface="Courier New"/>
              </a:rPr>
              <a:t>0</a:t>
            </a:r>
            <a:r>
              <a:rPr lang="en" dirty="0"/>
              <a:t> if </a:t>
            </a:r>
            <a:r>
              <a:rPr lang="en" dirty="0">
                <a:latin typeface="Courier New"/>
                <a:ea typeface="Courier New"/>
                <a:cs typeface="Courier New"/>
                <a:sym typeface="Courier New"/>
              </a:rPr>
              <a:t>a</a:t>
            </a:r>
            <a:r>
              <a:rPr lang="en" dirty="0"/>
              <a:t> and </a:t>
            </a:r>
            <a:r>
              <a:rPr lang="en" dirty="0">
                <a:latin typeface="Courier New"/>
                <a:ea typeface="Courier New"/>
                <a:cs typeface="Courier New"/>
                <a:sym typeface="Courier New"/>
              </a:rPr>
              <a:t>b</a:t>
            </a:r>
            <a:r>
              <a:rPr lang="en" dirty="0"/>
              <a:t> are </a:t>
            </a:r>
            <a:r>
              <a:rPr lang="en" b="1" i="1" dirty="0">
                <a:solidFill>
                  <a:srgbClr val="FF0000"/>
                </a:solidFill>
              </a:rPr>
              <a:t>equal</a:t>
            </a:r>
            <a:r>
              <a:rPr lang="en" dirty="0"/>
              <a:t>, and </a:t>
            </a:r>
            <a:r>
              <a:rPr lang="en" dirty="0">
                <a:solidFill>
                  <a:srgbClr val="FF0000"/>
                </a:solidFill>
                <a:latin typeface="Courier New"/>
                <a:ea typeface="Courier New"/>
                <a:cs typeface="Courier New"/>
                <a:sym typeface="Courier New"/>
              </a:rPr>
              <a:t>&gt;0</a:t>
            </a:r>
            <a:r>
              <a:rPr lang="en" dirty="0"/>
              <a:t> if </a:t>
            </a:r>
            <a:r>
              <a:rPr lang="en" dirty="0">
                <a:latin typeface="Courier New"/>
                <a:ea typeface="Courier New"/>
                <a:cs typeface="Courier New"/>
                <a:sym typeface="Courier New"/>
              </a:rPr>
              <a:t>a</a:t>
            </a:r>
            <a:r>
              <a:rPr lang="en" dirty="0"/>
              <a:t> comes </a:t>
            </a:r>
            <a:r>
              <a:rPr lang="en" b="1" i="1" dirty="0">
                <a:solidFill>
                  <a:srgbClr val="FF0000"/>
                </a:solidFill>
              </a:rPr>
              <a:t>after</a:t>
            </a:r>
            <a:r>
              <a:rPr lang="en" dirty="0"/>
              <a:t> </a:t>
            </a:r>
            <a:r>
              <a:rPr lang="en" dirty="0">
                <a:latin typeface="Courier New"/>
                <a:ea typeface="Courier New"/>
                <a:cs typeface="Courier New"/>
                <a:sym typeface="Courier New"/>
              </a:rPr>
              <a:t>b</a:t>
            </a:r>
            <a:r>
              <a:rPr lang="en" dirty="0"/>
              <a:t>.</a:t>
            </a:r>
            <a:endParaRPr dirty="0"/>
          </a:p>
          <a:p>
            <a:pPr marL="457200" lvl="0" indent="-311150" algn="l" rtl="0">
              <a:spcBef>
                <a:spcPts val="1000"/>
              </a:spcBef>
              <a:spcAft>
                <a:spcPts val="0"/>
              </a:spcAft>
              <a:buSzPts val="1300"/>
              <a:buChar char="●"/>
            </a:pPr>
            <a:r>
              <a:rPr lang="en" dirty="0"/>
              <a:t>A class that implements </a:t>
            </a:r>
            <a:r>
              <a:rPr lang="en" dirty="0">
                <a:latin typeface="Courier New"/>
                <a:ea typeface="Courier New"/>
                <a:cs typeface="Courier New"/>
                <a:sym typeface="Courier New"/>
              </a:rPr>
              <a:t>Comparator</a:t>
            </a:r>
            <a:r>
              <a:rPr lang="en" dirty="0"/>
              <a:t> acts as a helper to sort objects of another type.</a:t>
            </a:r>
            <a:endParaRPr dirty="0"/>
          </a:p>
        </p:txBody>
      </p:sp>
      <p:sp>
        <p:nvSpPr>
          <p:cNvPr id="1373" name="Google Shape;1373;p10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1374" name="Google Shape;1374;p107"/>
          <p:cNvSpPr txBox="1">
            <a:spLocks noGrp="1"/>
          </p:cNvSpPr>
          <p:nvPr>
            <p:ph type="body" idx="3"/>
          </p:nvPr>
        </p:nvSpPr>
        <p:spPr>
          <a:xfrm>
            <a:off x="315425" y="4089650"/>
            <a:ext cx="37065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A </a:t>
            </a:r>
            <a:r>
              <a:rPr lang="en" sz="1200">
                <a:latin typeface="Courier New"/>
                <a:ea typeface="Courier New"/>
                <a:cs typeface="Courier New"/>
                <a:sym typeface="Courier New"/>
              </a:rPr>
              <a:t>Comparator</a:t>
            </a:r>
            <a:r>
              <a:rPr lang="en" sz="1200"/>
              <a:t> is a </a:t>
            </a:r>
            <a:r>
              <a:rPr lang="en" sz="1200" b="1" i="1">
                <a:solidFill>
                  <a:srgbClr val="FF0000"/>
                </a:solidFill>
              </a:rPr>
              <a:t>separate class</a:t>
            </a:r>
            <a:r>
              <a:rPr lang="en" sz="1200">
                <a:solidFill>
                  <a:srgbClr val="FF0000"/>
                </a:solidFill>
              </a:rPr>
              <a:t> </a:t>
            </a:r>
            <a:r>
              <a:rPr lang="en" sz="1200"/>
              <a:t>that can compare instances of </a:t>
            </a:r>
            <a:r>
              <a:rPr lang="en" sz="1200" b="1" i="1">
                <a:solidFill>
                  <a:srgbClr val="FF0000"/>
                </a:solidFill>
              </a:rPr>
              <a:t>some other class</a:t>
            </a:r>
            <a:r>
              <a:rPr lang="en" sz="1200"/>
              <a:t>. It can help sort things that </a:t>
            </a:r>
            <a:r>
              <a:rPr lang="en" sz="1200" b="1" i="1">
                <a:solidFill>
                  <a:srgbClr val="FF0000"/>
                </a:solidFill>
              </a:rPr>
              <a:t>do not</a:t>
            </a:r>
            <a:r>
              <a:rPr lang="en" sz="1200">
                <a:solidFill>
                  <a:srgbClr val="FF0000"/>
                </a:solidFill>
              </a:rPr>
              <a:t> </a:t>
            </a:r>
            <a:r>
              <a:rPr lang="en" sz="1200"/>
              <a:t>have a natural order </a:t>
            </a:r>
            <a:r>
              <a:rPr lang="en" sz="1200" b="1" i="1">
                <a:solidFill>
                  <a:srgbClr val="FF0000"/>
                </a:solidFill>
              </a:rPr>
              <a:t>or</a:t>
            </a:r>
            <a:r>
              <a:rPr lang="en" sz="1200">
                <a:solidFill>
                  <a:srgbClr val="FF0000"/>
                </a:solidFill>
              </a:rPr>
              <a:t> </a:t>
            </a:r>
            <a:r>
              <a:rPr lang="en" sz="1200"/>
              <a:t>sort them in a different way if they do.</a:t>
            </a:r>
            <a:endParaRPr sz="1200"/>
          </a:p>
        </p:txBody>
      </p:sp>
      <p:sp>
        <p:nvSpPr>
          <p:cNvPr id="1375" name="Google Shape;1375;p107"/>
          <p:cNvSpPr/>
          <p:nvPr/>
        </p:nvSpPr>
        <p:spPr>
          <a:xfrm>
            <a:off x="1287000" y="859070"/>
            <a:ext cx="1624200" cy="904500"/>
          </a:xfrm>
          <a:prstGeom prst="wedgeRoundRectCallout">
            <a:avLst>
              <a:gd name="adj1" fmla="val -21409"/>
              <a:gd name="adj2" fmla="val 7677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can you tell me which OF you guys comes first in sorted order?</a:t>
            </a:r>
            <a:endParaRPr sz="1300">
              <a:latin typeface="Bangers"/>
              <a:ea typeface="Bangers"/>
              <a:cs typeface="Bangers"/>
              <a:sym typeface="Bangers"/>
            </a:endParaRPr>
          </a:p>
        </p:txBody>
      </p:sp>
      <p:sp>
        <p:nvSpPr>
          <p:cNvPr id="1376" name="Google Shape;1376;p107"/>
          <p:cNvSpPr/>
          <p:nvPr/>
        </p:nvSpPr>
        <p:spPr>
          <a:xfrm>
            <a:off x="84250" y="1524898"/>
            <a:ext cx="1039200" cy="564600"/>
          </a:xfrm>
          <a:prstGeom prst="wedgeRoundRectCallout">
            <a:avLst>
              <a:gd name="adj1" fmla="val 31536"/>
              <a:gd name="adj2" fmla="val 76169"/>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WE HAVE NO IDEA.</a:t>
            </a:r>
            <a:endParaRPr sz="1300">
              <a:latin typeface="Bangers"/>
              <a:ea typeface="Bangers"/>
              <a:cs typeface="Bangers"/>
              <a:sym typeface="Bangers"/>
            </a:endParaRPr>
          </a:p>
        </p:txBody>
      </p:sp>
      <p:grpSp>
        <p:nvGrpSpPr>
          <p:cNvPr id="1377" name="Google Shape;1377;p107"/>
          <p:cNvGrpSpPr/>
          <p:nvPr/>
        </p:nvGrpSpPr>
        <p:grpSpPr>
          <a:xfrm>
            <a:off x="122847" y="1674252"/>
            <a:ext cx="2756503" cy="2325877"/>
            <a:chOff x="122847" y="1674252"/>
            <a:chExt cx="2756503" cy="2325877"/>
          </a:xfrm>
        </p:grpSpPr>
        <p:pic>
          <p:nvPicPr>
            <p:cNvPr id="1378" name="Google Shape;1378;p107"/>
            <p:cNvPicPr preferRelativeResize="0"/>
            <p:nvPr/>
          </p:nvPicPr>
          <p:blipFill>
            <a:blip r:embed="rId3">
              <a:alphaModFix/>
            </a:blip>
            <a:stretch>
              <a:fillRect/>
            </a:stretch>
          </p:blipFill>
          <p:spPr>
            <a:xfrm>
              <a:off x="1475476" y="1674252"/>
              <a:ext cx="1403875" cy="2325877"/>
            </a:xfrm>
            <a:prstGeom prst="rect">
              <a:avLst/>
            </a:prstGeom>
            <a:noFill/>
            <a:ln>
              <a:noFill/>
            </a:ln>
          </p:spPr>
        </p:pic>
        <p:pic>
          <p:nvPicPr>
            <p:cNvPr id="1379" name="Google Shape;1379;p107"/>
            <p:cNvPicPr preferRelativeResize="0"/>
            <p:nvPr/>
          </p:nvPicPr>
          <p:blipFill>
            <a:blip r:embed="rId4">
              <a:alphaModFix/>
            </a:blip>
            <a:stretch>
              <a:fillRect/>
            </a:stretch>
          </p:blipFill>
          <p:spPr>
            <a:xfrm>
              <a:off x="740557" y="2211074"/>
              <a:ext cx="676091" cy="671756"/>
            </a:xfrm>
            <a:prstGeom prst="rect">
              <a:avLst/>
            </a:prstGeom>
            <a:noFill/>
            <a:ln>
              <a:noFill/>
            </a:ln>
          </p:spPr>
        </p:pic>
        <p:pic>
          <p:nvPicPr>
            <p:cNvPr id="1380" name="Google Shape;1380;p107"/>
            <p:cNvPicPr preferRelativeResize="0"/>
            <p:nvPr/>
          </p:nvPicPr>
          <p:blipFill>
            <a:blip r:embed="rId5">
              <a:alphaModFix/>
            </a:blip>
            <a:stretch>
              <a:fillRect/>
            </a:stretch>
          </p:blipFill>
          <p:spPr>
            <a:xfrm>
              <a:off x="122847" y="2425368"/>
              <a:ext cx="676091" cy="671756"/>
            </a:xfrm>
            <a:prstGeom prst="rect">
              <a:avLst/>
            </a:prstGeom>
            <a:noFill/>
            <a:ln>
              <a:noFill/>
            </a:ln>
          </p:spPr>
        </p:pic>
      </p:grpSp>
      <p:pic>
        <p:nvPicPr>
          <p:cNvPr id="1381" name="Google Shape;1381;p107"/>
          <p:cNvPicPr preferRelativeResize="0"/>
          <p:nvPr/>
        </p:nvPicPr>
        <p:blipFill>
          <a:blip r:embed="rId6">
            <a:alphaModFix/>
          </a:blip>
          <a:stretch>
            <a:fillRect/>
          </a:stretch>
        </p:blipFill>
        <p:spPr>
          <a:xfrm>
            <a:off x="2449619" y="2304676"/>
            <a:ext cx="1725499" cy="1698576"/>
          </a:xfrm>
          <a:prstGeom prst="rect">
            <a:avLst/>
          </a:prstGeom>
          <a:noFill/>
          <a:ln>
            <a:noFill/>
          </a:ln>
        </p:spPr>
      </p:pic>
      <p:sp>
        <p:nvSpPr>
          <p:cNvPr id="1382" name="Google Shape;1382;p107"/>
          <p:cNvSpPr/>
          <p:nvPr/>
        </p:nvSpPr>
        <p:spPr>
          <a:xfrm>
            <a:off x="2987400" y="1753498"/>
            <a:ext cx="1039200" cy="564600"/>
          </a:xfrm>
          <a:prstGeom prst="wedgeRoundRectCallout">
            <a:avLst>
              <a:gd name="adj1" fmla="val 2918"/>
              <a:gd name="adj2" fmla="val 103667"/>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Bangers"/>
                <a:ea typeface="Bangers"/>
                <a:cs typeface="Bangers"/>
                <a:sym typeface="Bangers"/>
              </a:rPr>
              <a:t>i can help!</a:t>
            </a:r>
            <a:endParaRPr sz="1300">
              <a:latin typeface="Bangers"/>
              <a:ea typeface="Bangers"/>
              <a:cs typeface="Bangers"/>
              <a:sym typeface="Banger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74"/>
                                        </p:tgtEl>
                                        <p:attrNameLst>
                                          <p:attrName>style.visibility</p:attrName>
                                        </p:attrNameLst>
                                      </p:cBhvr>
                                      <p:to>
                                        <p:strVal val="visible"/>
                                      </p:to>
                                    </p:set>
                                    <p:animEffect transition="in" filter="fade">
                                      <p:cBhvr>
                                        <p:cTn id="39" dur="1000"/>
                                        <p:tgtEl>
                                          <p:spTgt spid="1374"/>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1377"/>
                                        </p:tgtEl>
                                        <p:attrNameLst>
                                          <p:attrName>style.visibility</p:attrName>
                                        </p:attrNameLst>
                                      </p:cBhvr>
                                      <p:to>
                                        <p:strVal val="visible"/>
                                      </p:to>
                                    </p:set>
                                    <p:animEffect transition="in" filter="fade">
                                      <p:cBhvr>
                                        <p:cTn id="43" dur="1000"/>
                                        <p:tgtEl>
                                          <p:spTgt spid="1377"/>
                                        </p:tgtEl>
                                      </p:cBhvr>
                                    </p:animEffect>
                                  </p:childTnLst>
                                </p:cTn>
                              </p:par>
                              <p:par>
                                <p:cTn id="44" presetID="10" presetClass="entr" presetSubtype="0" fill="hold" nodeType="withEffect">
                                  <p:stCondLst>
                                    <p:cond delay="0"/>
                                  </p:stCondLst>
                                  <p:childTnLst>
                                    <p:set>
                                      <p:cBhvr>
                                        <p:cTn id="45" dur="1" fill="hold">
                                          <p:stCondLst>
                                            <p:cond delay="0"/>
                                          </p:stCondLst>
                                        </p:cTn>
                                        <p:tgtEl>
                                          <p:spTgt spid="1381"/>
                                        </p:tgtEl>
                                        <p:attrNameLst>
                                          <p:attrName>style.visibility</p:attrName>
                                        </p:attrNameLst>
                                      </p:cBhvr>
                                      <p:to>
                                        <p:strVal val="visible"/>
                                      </p:to>
                                    </p:set>
                                    <p:animEffect transition="in" filter="fade">
                                      <p:cBhvr>
                                        <p:cTn id="46" dur="1000"/>
                                        <p:tgtEl>
                                          <p:spTgt spid="1381"/>
                                        </p:tgtEl>
                                      </p:cBhvr>
                                    </p:animEffect>
                                  </p:childTnLst>
                                </p:cTn>
                              </p:par>
                            </p:childTnLst>
                          </p:cTn>
                        </p:par>
                        <p:par>
                          <p:cTn id="47" fill="hold">
                            <p:stCondLst>
                              <p:cond delay="2000"/>
                            </p:stCondLst>
                            <p:childTnLst>
                              <p:par>
                                <p:cTn id="48" presetID="10" presetClass="entr" presetSubtype="0" fill="hold" nodeType="afterEffect">
                                  <p:stCondLst>
                                    <p:cond delay="0"/>
                                  </p:stCondLst>
                                  <p:childTnLst>
                                    <p:set>
                                      <p:cBhvr>
                                        <p:cTn id="49" dur="1" fill="hold">
                                          <p:stCondLst>
                                            <p:cond delay="0"/>
                                          </p:stCondLst>
                                        </p:cTn>
                                        <p:tgtEl>
                                          <p:spTgt spid="1375"/>
                                        </p:tgtEl>
                                        <p:attrNameLst>
                                          <p:attrName>style.visibility</p:attrName>
                                        </p:attrNameLst>
                                      </p:cBhvr>
                                      <p:to>
                                        <p:strVal val="visible"/>
                                      </p:to>
                                    </p:set>
                                    <p:animEffect transition="in" filter="fade">
                                      <p:cBhvr>
                                        <p:cTn id="50" dur="1000"/>
                                        <p:tgtEl>
                                          <p:spTgt spid="1375"/>
                                        </p:tgtEl>
                                      </p:cBhvr>
                                    </p:animEffect>
                                  </p:childTnLst>
                                </p:cTn>
                              </p:par>
                            </p:childTnLst>
                          </p:cTn>
                        </p:par>
                        <p:par>
                          <p:cTn id="51" fill="hold">
                            <p:stCondLst>
                              <p:cond delay="3000"/>
                            </p:stCondLst>
                            <p:childTnLst>
                              <p:par>
                                <p:cTn id="52" presetID="10" presetClass="entr" presetSubtype="0" fill="hold" nodeType="afterEffect">
                                  <p:stCondLst>
                                    <p:cond delay="0"/>
                                  </p:stCondLst>
                                  <p:childTnLst>
                                    <p:set>
                                      <p:cBhvr>
                                        <p:cTn id="53" dur="1" fill="hold">
                                          <p:stCondLst>
                                            <p:cond delay="0"/>
                                          </p:stCondLst>
                                        </p:cTn>
                                        <p:tgtEl>
                                          <p:spTgt spid="1376"/>
                                        </p:tgtEl>
                                        <p:attrNameLst>
                                          <p:attrName>style.visibility</p:attrName>
                                        </p:attrNameLst>
                                      </p:cBhvr>
                                      <p:to>
                                        <p:strVal val="visible"/>
                                      </p:to>
                                    </p:set>
                                    <p:animEffect transition="in" filter="fade">
                                      <p:cBhvr>
                                        <p:cTn id="54" dur="1000"/>
                                        <p:tgtEl>
                                          <p:spTgt spid="1376"/>
                                        </p:tgtEl>
                                      </p:cBhvr>
                                    </p:animEffect>
                                  </p:childTnLst>
                                </p:cTn>
                              </p:par>
                            </p:childTnLst>
                          </p:cTn>
                        </p:par>
                        <p:par>
                          <p:cTn id="55" fill="hold">
                            <p:stCondLst>
                              <p:cond delay="4000"/>
                            </p:stCondLst>
                            <p:childTnLst>
                              <p:par>
                                <p:cTn id="56" presetID="10" presetClass="entr" presetSubtype="0" fill="hold" nodeType="afterEffect">
                                  <p:stCondLst>
                                    <p:cond delay="0"/>
                                  </p:stCondLst>
                                  <p:childTnLst>
                                    <p:set>
                                      <p:cBhvr>
                                        <p:cTn id="57" dur="1" fill="hold">
                                          <p:stCondLst>
                                            <p:cond delay="0"/>
                                          </p:stCondLst>
                                        </p:cTn>
                                        <p:tgtEl>
                                          <p:spTgt spid="1382"/>
                                        </p:tgtEl>
                                        <p:attrNameLst>
                                          <p:attrName>style.visibility</p:attrName>
                                        </p:attrNameLst>
                                      </p:cBhvr>
                                      <p:to>
                                        <p:strVal val="visible"/>
                                      </p:to>
                                    </p:set>
                                    <p:animEffect transition="in" filter="fade">
                                      <p:cBhvr>
                                        <p:cTn id="58" dur="1000"/>
                                        <p:tgtEl>
                                          <p:spTgt spid="1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86"/>
        <p:cNvGrpSpPr/>
        <p:nvPr/>
      </p:nvGrpSpPr>
      <p:grpSpPr>
        <a:xfrm>
          <a:off x="0" y="0"/>
          <a:ext cx="0" cy="0"/>
          <a:chOff x="0" y="0"/>
          <a:chExt cx="0" cy="0"/>
        </a:xfrm>
      </p:grpSpPr>
      <p:sp>
        <p:nvSpPr>
          <p:cNvPr id="1387" name="Google Shape;1387;p1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1388" name="Google Shape;1388;p10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Comparator</a:t>
            </a:r>
            <a:endParaRPr/>
          </a:p>
        </p:txBody>
      </p:sp>
      <p:sp>
        <p:nvSpPr>
          <p:cNvPr id="1389" name="Google Shape;1389;p108"/>
          <p:cNvSpPr txBox="1"/>
          <p:nvPr/>
        </p:nvSpPr>
        <p:spPr>
          <a:xfrm>
            <a:off x="311725" y="2051800"/>
            <a:ext cx="4596600" cy="1431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1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AlienComparator</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Comparator</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&gt; {</a:t>
            </a:r>
            <a:endParaRPr sz="900">
              <a:latin typeface="Consolas"/>
              <a:ea typeface="Consolas"/>
              <a:cs typeface="Consolas"/>
              <a:sym typeface="Consolas"/>
            </a:endParaRPr>
          </a:p>
          <a:p>
            <a:pPr marL="0" lvl="0" indent="0" algn="l" rtl="0">
              <a:spcBef>
                <a:spcPts val="0"/>
              </a:spcBef>
              <a:spcAft>
                <a:spcPts val="0"/>
              </a:spcAft>
              <a:buNone/>
            </a:pPr>
            <a:r>
              <a:rPr lang="en" sz="900">
                <a:solidFill>
                  <a:srgbClr val="4A86E8"/>
                </a:solidFill>
                <a:latin typeface="Consolas"/>
                <a:ea typeface="Consolas"/>
                <a:cs typeface="Consolas"/>
                <a:sym typeface="Consolas"/>
              </a:rPr>
              <a:t>2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3  </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4  </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AlienAlphabet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5  </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6  </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7  </a:t>
            </a: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8  </a:t>
            </a: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9  </a:t>
            </a:r>
            <a:r>
              <a:rPr lang="en" sz="900">
                <a:latin typeface="Consolas"/>
                <a:ea typeface="Consolas"/>
                <a:cs typeface="Consolas"/>
                <a:sym typeface="Consolas"/>
              </a:rPr>
              <a:t>}</a:t>
            </a:r>
            <a:endParaRPr sz="900">
              <a:solidFill>
                <a:srgbClr val="4A86E8"/>
              </a:solidFill>
              <a:latin typeface="Consolas"/>
              <a:ea typeface="Consolas"/>
              <a:cs typeface="Consolas"/>
              <a:sym typeface="Consolas"/>
            </a:endParaRPr>
          </a:p>
        </p:txBody>
      </p:sp>
      <p:sp>
        <p:nvSpPr>
          <p:cNvPr id="1390" name="Google Shape;1390;p108"/>
          <p:cNvSpPr txBox="1"/>
          <p:nvPr/>
        </p:nvSpPr>
        <p:spPr>
          <a:xfrm>
            <a:off x="5032675" y="3850455"/>
            <a:ext cx="36246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When </a:t>
            </a:r>
            <a:r>
              <a:rPr lang="en" sz="1200" dirty="0">
                <a:solidFill>
                  <a:srgbClr val="FF0000"/>
                </a:solidFill>
                <a:latin typeface="Courier New"/>
                <a:ea typeface="Courier New"/>
                <a:cs typeface="Courier New"/>
                <a:sym typeface="Courier New"/>
              </a:rPr>
              <a:t>C.compare(A,</a:t>
            </a:r>
            <a:r>
              <a:rPr lang="en" sz="1200" dirty="0">
                <a:solidFill>
                  <a:srgbClr val="FF0000"/>
                </a:solidFill>
              </a:rPr>
              <a:t> </a:t>
            </a:r>
            <a:r>
              <a:rPr lang="en" sz="1200" dirty="0">
                <a:solidFill>
                  <a:srgbClr val="FF0000"/>
                </a:solidFill>
                <a:latin typeface="Courier New"/>
                <a:ea typeface="Courier New"/>
                <a:cs typeface="Courier New"/>
                <a:sym typeface="Courier New"/>
              </a:rPr>
              <a:t>B)</a:t>
            </a:r>
            <a:r>
              <a:rPr lang="en" sz="1200" dirty="0"/>
              <a:t> is called on the </a:t>
            </a:r>
            <a:r>
              <a:rPr lang="en" sz="1200" dirty="0">
                <a:latin typeface="Courier New"/>
                <a:ea typeface="Courier New"/>
                <a:cs typeface="Courier New"/>
                <a:sym typeface="Courier New"/>
              </a:rPr>
              <a:t>Comparator</a:t>
            </a:r>
            <a:r>
              <a:rPr lang="en" sz="1200" dirty="0"/>
              <a:t> it should return </a:t>
            </a:r>
            <a:r>
              <a:rPr lang="en" sz="1200" dirty="0">
                <a:solidFill>
                  <a:srgbClr val="FF0000"/>
                </a:solidFill>
                <a:latin typeface="Courier New"/>
                <a:ea typeface="Courier New"/>
                <a:cs typeface="Courier New"/>
                <a:sym typeface="Courier New"/>
              </a:rPr>
              <a:t>&lt;0</a:t>
            </a:r>
            <a:r>
              <a:rPr lang="en" sz="1200" dirty="0"/>
              <a:t> if </a:t>
            </a:r>
            <a:r>
              <a:rPr lang="en" sz="1200" dirty="0">
                <a:solidFill>
                  <a:srgbClr val="FF0000"/>
                </a:solidFill>
                <a:latin typeface="Courier New"/>
                <a:ea typeface="Courier New"/>
                <a:cs typeface="Courier New"/>
                <a:sym typeface="Courier New"/>
              </a:rPr>
              <a:t>A</a:t>
            </a:r>
            <a:r>
              <a:rPr lang="en" sz="1200" dirty="0">
                <a:solidFill>
                  <a:srgbClr val="FF0000"/>
                </a:solidFill>
              </a:rPr>
              <a:t> </a:t>
            </a:r>
            <a:r>
              <a:rPr lang="en" sz="1200" b="1" i="1" dirty="0">
                <a:solidFill>
                  <a:srgbClr val="FF0000"/>
                </a:solidFill>
              </a:rPr>
              <a:t>comes before</a:t>
            </a:r>
            <a:r>
              <a:rPr lang="en" sz="1200" dirty="0">
                <a:solidFill>
                  <a:srgbClr val="FF0000"/>
                </a:solidFill>
              </a:rPr>
              <a:t> </a:t>
            </a:r>
            <a:r>
              <a:rPr lang="en" sz="1200" dirty="0">
                <a:solidFill>
                  <a:srgbClr val="FF0000"/>
                </a:solidFill>
                <a:latin typeface="Courier New"/>
                <a:ea typeface="Courier New"/>
                <a:cs typeface="Courier New"/>
                <a:sym typeface="Courier New"/>
              </a:rPr>
              <a:t>B</a:t>
            </a:r>
            <a:r>
              <a:rPr lang="en" sz="1200" dirty="0"/>
              <a:t> in sorted order, </a:t>
            </a:r>
            <a:r>
              <a:rPr lang="en" sz="1200" dirty="0">
                <a:solidFill>
                  <a:srgbClr val="FF0000"/>
                </a:solidFill>
                <a:latin typeface="Courier New"/>
                <a:ea typeface="Courier New"/>
                <a:cs typeface="Courier New"/>
                <a:sym typeface="Courier New"/>
              </a:rPr>
              <a:t>0</a:t>
            </a:r>
            <a:r>
              <a:rPr lang="en" sz="1200" dirty="0"/>
              <a:t> if </a:t>
            </a:r>
            <a:r>
              <a:rPr lang="en" sz="1200" dirty="0">
                <a:solidFill>
                  <a:srgbClr val="FF0000"/>
                </a:solidFill>
                <a:latin typeface="Courier New"/>
                <a:ea typeface="Courier New"/>
                <a:cs typeface="Courier New"/>
                <a:sym typeface="Courier New"/>
              </a:rPr>
              <a:t>A</a:t>
            </a:r>
            <a:r>
              <a:rPr lang="en" sz="1200" dirty="0">
                <a:solidFill>
                  <a:srgbClr val="FF0000"/>
                </a:solidFill>
              </a:rPr>
              <a:t> </a:t>
            </a:r>
            <a:r>
              <a:rPr lang="en" sz="1200" b="1" i="1" dirty="0">
                <a:solidFill>
                  <a:srgbClr val="FF0000"/>
                </a:solidFill>
              </a:rPr>
              <a:t>and</a:t>
            </a:r>
            <a:r>
              <a:rPr lang="en" sz="1200" dirty="0">
                <a:solidFill>
                  <a:srgbClr val="FF0000"/>
                </a:solidFill>
              </a:rPr>
              <a:t> </a:t>
            </a:r>
            <a:r>
              <a:rPr lang="en" sz="1200" dirty="0">
                <a:solidFill>
                  <a:srgbClr val="FF0000"/>
                </a:solidFill>
                <a:latin typeface="Courier New"/>
                <a:ea typeface="Courier New"/>
                <a:cs typeface="Courier New"/>
                <a:sym typeface="Courier New"/>
              </a:rPr>
              <a:t>B</a:t>
            </a:r>
            <a:r>
              <a:rPr lang="en" sz="1200" dirty="0">
                <a:solidFill>
                  <a:srgbClr val="FF0000"/>
                </a:solidFill>
              </a:rPr>
              <a:t> </a:t>
            </a:r>
            <a:r>
              <a:rPr lang="en" sz="1200" b="1" i="1" dirty="0">
                <a:solidFill>
                  <a:srgbClr val="FF0000"/>
                </a:solidFill>
              </a:rPr>
              <a:t>are</a:t>
            </a:r>
            <a:r>
              <a:rPr lang="en" sz="1200" dirty="0">
                <a:solidFill>
                  <a:srgbClr val="FF0000"/>
                </a:solidFill>
              </a:rPr>
              <a:t> </a:t>
            </a:r>
            <a:r>
              <a:rPr lang="en" sz="1200" b="1" i="1" dirty="0">
                <a:solidFill>
                  <a:srgbClr val="FF0000"/>
                </a:solidFill>
              </a:rPr>
              <a:t>equal</a:t>
            </a:r>
            <a:r>
              <a:rPr lang="en" sz="1200" dirty="0"/>
              <a:t>, and </a:t>
            </a:r>
            <a:r>
              <a:rPr lang="en" sz="1200" dirty="0">
                <a:solidFill>
                  <a:srgbClr val="FF0000"/>
                </a:solidFill>
                <a:latin typeface="Courier New"/>
                <a:ea typeface="Courier New"/>
                <a:cs typeface="Courier New"/>
                <a:sym typeface="Courier New"/>
              </a:rPr>
              <a:t>&gt;0</a:t>
            </a:r>
            <a:r>
              <a:rPr lang="en" sz="1200" dirty="0"/>
              <a:t> if </a:t>
            </a:r>
            <a:r>
              <a:rPr lang="en" sz="1200" dirty="0">
                <a:solidFill>
                  <a:srgbClr val="FF0000"/>
                </a:solidFill>
                <a:latin typeface="Courier New"/>
                <a:ea typeface="Courier New"/>
                <a:cs typeface="Courier New"/>
                <a:sym typeface="Courier New"/>
              </a:rPr>
              <a:t>A</a:t>
            </a:r>
            <a:r>
              <a:rPr lang="en" sz="1200" dirty="0">
                <a:solidFill>
                  <a:srgbClr val="FF0000"/>
                </a:solidFill>
              </a:rPr>
              <a:t> </a:t>
            </a:r>
            <a:r>
              <a:rPr lang="en" sz="1200" b="1" i="1" dirty="0">
                <a:solidFill>
                  <a:srgbClr val="FF0000"/>
                </a:solidFill>
              </a:rPr>
              <a:t>comes after</a:t>
            </a:r>
            <a:r>
              <a:rPr lang="en" sz="1200" dirty="0">
                <a:solidFill>
                  <a:srgbClr val="FF0000"/>
                </a:solidFill>
              </a:rPr>
              <a:t> </a:t>
            </a:r>
            <a:r>
              <a:rPr lang="en" sz="1200" dirty="0">
                <a:solidFill>
                  <a:srgbClr val="FF0000"/>
                </a:solidFill>
                <a:latin typeface="Courier New"/>
                <a:ea typeface="Courier New"/>
                <a:cs typeface="Courier New"/>
                <a:sym typeface="Courier New"/>
              </a:rPr>
              <a:t>B</a:t>
            </a:r>
            <a:r>
              <a:rPr lang="en" sz="1200" dirty="0"/>
              <a:t>.</a:t>
            </a:r>
            <a:endParaRPr sz="1200" dirty="0"/>
          </a:p>
        </p:txBody>
      </p:sp>
      <p:sp>
        <p:nvSpPr>
          <p:cNvPr id="1391" name="Google Shape;1391;p108"/>
          <p:cNvSpPr txBox="1"/>
          <p:nvPr/>
        </p:nvSpPr>
        <p:spPr>
          <a:xfrm>
            <a:off x="5032675" y="2174055"/>
            <a:ext cx="362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A </a:t>
            </a:r>
            <a:r>
              <a:rPr lang="en" sz="1200" dirty="0">
                <a:latin typeface="Courier New"/>
                <a:ea typeface="Courier New"/>
                <a:cs typeface="Courier New"/>
                <a:sym typeface="Courier New"/>
              </a:rPr>
              <a:t>Comparator</a:t>
            </a:r>
            <a:r>
              <a:rPr lang="en" sz="1200" dirty="0"/>
              <a:t> is needed when the other class does not define a natural order at all </a:t>
            </a:r>
            <a:r>
              <a:rPr lang="en" sz="1200" b="1" i="1" dirty="0">
                <a:solidFill>
                  <a:srgbClr val="FF0000"/>
                </a:solidFill>
              </a:rPr>
              <a:t>or</a:t>
            </a:r>
            <a:r>
              <a:rPr lang="en" sz="1200" dirty="0">
                <a:solidFill>
                  <a:srgbClr val="FF0000"/>
                </a:solidFill>
              </a:rPr>
              <a:t> </a:t>
            </a:r>
            <a:r>
              <a:rPr lang="en" sz="1200" dirty="0"/>
              <a:t>to sort instances of the class in some other way.</a:t>
            </a:r>
            <a:endParaRPr sz="1200" dirty="0"/>
          </a:p>
        </p:txBody>
      </p:sp>
      <p:sp>
        <p:nvSpPr>
          <p:cNvPr id="1392" name="Google Shape;1392;p108"/>
          <p:cNvSpPr/>
          <p:nvPr/>
        </p:nvSpPr>
        <p:spPr>
          <a:xfrm>
            <a:off x="2801050" y="1594498"/>
            <a:ext cx="2381107" cy="571434"/>
          </a:xfrm>
          <a:custGeom>
            <a:avLst/>
            <a:gdLst/>
            <a:ahLst/>
            <a:cxnLst/>
            <a:rect l="l" t="t" r="r" b="b"/>
            <a:pathLst>
              <a:path w="91047" h="21974" extrusionOk="0">
                <a:moveTo>
                  <a:pt x="91047" y="4958"/>
                </a:moveTo>
                <a:cubicBezTo>
                  <a:pt x="86627" y="4258"/>
                  <a:pt x="79704" y="-2077"/>
                  <a:pt x="64529" y="759"/>
                </a:cubicBezTo>
                <a:cubicBezTo>
                  <a:pt x="49355" y="3595"/>
                  <a:pt x="10755" y="18438"/>
                  <a:pt x="0" y="2197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93" name="Google Shape;1393;p108"/>
          <p:cNvSpPr/>
          <p:nvPr/>
        </p:nvSpPr>
        <p:spPr>
          <a:xfrm>
            <a:off x="4231950" y="1820274"/>
            <a:ext cx="878425" cy="333475"/>
          </a:xfrm>
          <a:custGeom>
            <a:avLst/>
            <a:gdLst/>
            <a:ahLst/>
            <a:cxnLst/>
            <a:rect l="l" t="t" r="r" b="b"/>
            <a:pathLst>
              <a:path w="35137" h="13339" extrusionOk="0">
                <a:moveTo>
                  <a:pt x="35137" y="4279"/>
                </a:moveTo>
                <a:cubicBezTo>
                  <a:pt x="32743" y="3616"/>
                  <a:pt x="26629" y="-1209"/>
                  <a:pt x="20773" y="301"/>
                </a:cubicBezTo>
                <a:cubicBezTo>
                  <a:pt x="14917" y="1811"/>
                  <a:pt x="3462" y="11166"/>
                  <a:pt x="0" y="13339"/>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94" name="Google Shape;1394;p108"/>
          <p:cNvSpPr txBox="1"/>
          <p:nvPr/>
        </p:nvSpPr>
        <p:spPr>
          <a:xfrm>
            <a:off x="5032675" y="1348050"/>
            <a:ext cx="362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A class that implements </a:t>
            </a:r>
            <a:r>
              <a:rPr lang="en" sz="1200" dirty="0">
                <a:solidFill>
                  <a:srgbClr val="FF0000"/>
                </a:solidFill>
                <a:latin typeface="Courier New"/>
                <a:ea typeface="Courier New"/>
                <a:cs typeface="Courier New"/>
                <a:sym typeface="Courier New"/>
              </a:rPr>
              <a:t>Comparator</a:t>
            </a:r>
            <a:r>
              <a:rPr lang="en" sz="1200" dirty="0">
                <a:solidFill>
                  <a:srgbClr val="FF0000"/>
                </a:solidFill>
              </a:rPr>
              <a:t> </a:t>
            </a:r>
            <a:r>
              <a:rPr lang="en" sz="1200" dirty="0"/>
              <a:t>defines a sort order for </a:t>
            </a:r>
            <a:r>
              <a:rPr lang="en" sz="1200" b="1" i="1" dirty="0">
                <a:solidFill>
                  <a:srgbClr val="FF0000"/>
                </a:solidFill>
              </a:rPr>
              <a:t>some other class</a:t>
            </a:r>
            <a:r>
              <a:rPr lang="en" sz="1200" dirty="0"/>
              <a:t>, which is specified for the </a:t>
            </a:r>
            <a:r>
              <a:rPr lang="en" sz="1200" dirty="0">
                <a:latin typeface="Courier New"/>
                <a:ea typeface="Courier New"/>
                <a:cs typeface="Courier New"/>
                <a:sym typeface="Courier New"/>
              </a:rPr>
              <a:t>Comparator</a:t>
            </a:r>
            <a:r>
              <a:rPr lang="en" sz="1200" dirty="0"/>
              <a:t>'s type parameter.</a:t>
            </a:r>
            <a:endParaRPr sz="1200" dirty="0"/>
          </a:p>
        </p:txBody>
      </p:sp>
      <p:sp>
        <p:nvSpPr>
          <p:cNvPr id="1395" name="Google Shape;1395;p108"/>
          <p:cNvSpPr txBox="1"/>
          <p:nvPr/>
        </p:nvSpPr>
        <p:spPr>
          <a:xfrm>
            <a:off x="5032675" y="3006730"/>
            <a:ext cx="362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The other class is specified in place of the type parameter, and determines the parameter types for the </a:t>
            </a:r>
            <a:r>
              <a:rPr lang="en" sz="1200" dirty="0">
                <a:latin typeface="Courier New"/>
                <a:ea typeface="Courier New"/>
                <a:cs typeface="Courier New"/>
                <a:sym typeface="Courier New"/>
              </a:rPr>
              <a:t>compare(T o1, T o2)</a:t>
            </a:r>
            <a:r>
              <a:rPr lang="en" sz="1200" dirty="0"/>
              <a:t> method.</a:t>
            </a:r>
            <a:endParaRPr sz="1200" dirty="0"/>
          </a:p>
        </p:txBody>
      </p:sp>
      <p:cxnSp>
        <p:nvCxnSpPr>
          <p:cNvPr id="1396" name="Google Shape;1396;p108"/>
          <p:cNvCxnSpPr/>
          <p:nvPr/>
        </p:nvCxnSpPr>
        <p:spPr>
          <a:xfrm flipH="1">
            <a:off x="3806675" y="2298550"/>
            <a:ext cx="364500" cy="276300"/>
          </a:xfrm>
          <a:prstGeom prst="straightConnector1">
            <a:avLst/>
          </a:prstGeom>
          <a:noFill/>
          <a:ln w="19050" cap="flat" cmpd="sng">
            <a:solidFill>
              <a:srgbClr val="FF0000"/>
            </a:solidFill>
            <a:prstDash val="solid"/>
            <a:round/>
            <a:headEnd type="none" w="med" len="med"/>
            <a:tailEnd type="triangle" w="med" len="med"/>
          </a:ln>
        </p:spPr>
      </p:cxnSp>
      <p:cxnSp>
        <p:nvCxnSpPr>
          <p:cNvPr id="1397" name="Google Shape;1397;p108"/>
          <p:cNvCxnSpPr/>
          <p:nvPr/>
        </p:nvCxnSpPr>
        <p:spPr>
          <a:xfrm flipH="1">
            <a:off x="2835475" y="2304075"/>
            <a:ext cx="1131300" cy="277200"/>
          </a:xfrm>
          <a:prstGeom prst="straightConnector1">
            <a:avLst/>
          </a:prstGeom>
          <a:noFill/>
          <a:ln w="19050" cap="flat" cmpd="sng">
            <a:solidFill>
              <a:srgbClr val="FF0000"/>
            </a:solidFill>
            <a:prstDash val="solid"/>
            <a:round/>
            <a:headEnd type="none" w="med" len="med"/>
            <a:tailEnd type="triangle" w="med" len="med"/>
          </a:ln>
        </p:spPr>
      </p:cxnSp>
      <p:sp>
        <p:nvSpPr>
          <p:cNvPr id="1398" name="Google Shape;1398;p108"/>
          <p:cNvSpPr/>
          <p:nvPr/>
        </p:nvSpPr>
        <p:spPr>
          <a:xfrm>
            <a:off x="2574550" y="3105151"/>
            <a:ext cx="536500" cy="546950"/>
          </a:xfrm>
          <a:custGeom>
            <a:avLst/>
            <a:gdLst/>
            <a:ahLst/>
            <a:cxnLst/>
            <a:rect l="l" t="t" r="r" b="b"/>
            <a:pathLst>
              <a:path w="21460" h="21878" extrusionOk="0">
                <a:moveTo>
                  <a:pt x="0" y="21878"/>
                </a:moveTo>
                <a:cubicBezTo>
                  <a:pt x="3425" y="20221"/>
                  <a:pt x="17606" y="15579"/>
                  <a:pt x="20552" y="11933"/>
                </a:cubicBezTo>
                <a:cubicBezTo>
                  <a:pt x="23499" y="8287"/>
                  <a:pt x="18158" y="1989"/>
                  <a:pt x="17679"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1399" name="Google Shape;1399;p108"/>
          <p:cNvSpPr txBox="1"/>
          <p:nvPr/>
        </p:nvSpPr>
        <p:spPr>
          <a:xfrm>
            <a:off x="654800" y="3612155"/>
            <a:ext cx="36246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It's worth noting that </a:t>
            </a:r>
            <a:r>
              <a:rPr lang="en" sz="1200" dirty="0">
                <a:latin typeface="Courier New"/>
                <a:ea typeface="Courier New"/>
                <a:cs typeface="Courier New"/>
                <a:sym typeface="Courier New"/>
              </a:rPr>
              <a:t>String</a:t>
            </a:r>
            <a:r>
              <a:rPr lang="en" sz="1200" dirty="0"/>
              <a:t>, like many other Java types, implements </a:t>
            </a:r>
            <a:r>
              <a:rPr lang="en" sz="1200" dirty="0">
                <a:latin typeface="Courier New"/>
                <a:ea typeface="Courier New"/>
                <a:cs typeface="Courier New"/>
                <a:sym typeface="Courier New"/>
              </a:rPr>
              <a:t>Comparable</a:t>
            </a:r>
            <a:r>
              <a:rPr lang="en" sz="1200" dirty="0"/>
              <a:t> to define </a:t>
            </a:r>
            <a:r>
              <a:rPr lang="en" sz="1200" b="1" i="1" dirty="0">
                <a:solidFill>
                  <a:srgbClr val="FF0000"/>
                </a:solidFill>
              </a:rPr>
              <a:t>its own natural order</a:t>
            </a:r>
            <a:r>
              <a:rPr lang="en" sz="1200" dirty="0"/>
              <a:t>. This means that you can </a:t>
            </a:r>
            <a:r>
              <a:rPr lang="en" sz="1200" b="1" i="1" dirty="0">
                <a:solidFill>
                  <a:srgbClr val="FF0000"/>
                </a:solidFill>
              </a:rPr>
              <a:t>use </a:t>
            </a:r>
            <a:r>
              <a:rPr lang="en" sz="1200" dirty="0"/>
              <a:t>its </a:t>
            </a:r>
            <a:r>
              <a:rPr lang="en" sz="1200" dirty="0">
                <a:latin typeface="Courier New"/>
                <a:ea typeface="Courier New"/>
                <a:cs typeface="Courier New"/>
                <a:sym typeface="Courier New"/>
              </a:rPr>
              <a:t>compareTo(String)</a:t>
            </a:r>
            <a:r>
              <a:rPr lang="en" sz="1200" dirty="0"/>
              <a:t> method in your own classes. </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94"/>
                                        </p:tgtEl>
                                        <p:attrNameLst>
                                          <p:attrName>style.visibility</p:attrName>
                                        </p:attrNameLst>
                                      </p:cBhvr>
                                      <p:to>
                                        <p:strVal val="visible"/>
                                      </p:to>
                                    </p:set>
                                    <p:animEffect transition="in" filter="fade">
                                      <p:cBhvr>
                                        <p:cTn id="7" dur="1000"/>
                                        <p:tgtEl>
                                          <p:spTgt spid="1394"/>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392"/>
                                        </p:tgtEl>
                                        <p:attrNameLst>
                                          <p:attrName>style.visibility</p:attrName>
                                        </p:attrNameLst>
                                      </p:cBhvr>
                                      <p:to>
                                        <p:strVal val="visible"/>
                                      </p:to>
                                    </p:set>
                                    <p:animEffect transition="in" filter="fade">
                                      <p:cBhvr>
                                        <p:cTn id="11" dur="1000"/>
                                        <p:tgtEl>
                                          <p:spTgt spid="1392"/>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393"/>
                                        </p:tgtEl>
                                        <p:attrNameLst>
                                          <p:attrName>style.visibility</p:attrName>
                                        </p:attrNameLst>
                                      </p:cBhvr>
                                      <p:to>
                                        <p:strVal val="visible"/>
                                      </p:to>
                                    </p:set>
                                    <p:animEffect transition="in" filter="fade">
                                      <p:cBhvr>
                                        <p:cTn id="15" dur="1000"/>
                                        <p:tgtEl>
                                          <p:spTgt spid="139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91"/>
                                        </p:tgtEl>
                                        <p:attrNameLst>
                                          <p:attrName>style.visibility</p:attrName>
                                        </p:attrNameLst>
                                      </p:cBhvr>
                                      <p:to>
                                        <p:strVal val="visible"/>
                                      </p:to>
                                    </p:set>
                                    <p:animEffect transition="in" filter="fade">
                                      <p:cBhvr>
                                        <p:cTn id="20" dur="1000"/>
                                        <p:tgtEl>
                                          <p:spTgt spid="139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395"/>
                                        </p:tgtEl>
                                        <p:attrNameLst>
                                          <p:attrName>style.visibility</p:attrName>
                                        </p:attrNameLst>
                                      </p:cBhvr>
                                      <p:to>
                                        <p:strVal val="visible"/>
                                      </p:to>
                                    </p:set>
                                    <p:animEffect transition="in" filter="fade">
                                      <p:cBhvr>
                                        <p:cTn id="25" dur="1000"/>
                                        <p:tgtEl>
                                          <p:spTgt spid="1395"/>
                                        </p:tgtEl>
                                      </p:cBhvr>
                                    </p:animEffect>
                                  </p:childTnLst>
                                </p:cTn>
                              </p:par>
                              <p:par>
                                <p:cTn id="26" presetID="10" presetClass="entr" presetSubtype="0" fill="hold" nodeType="withEffect">
                                  <p:stCondLst>
                                    <p:cond delay="0"/>
                                  </p:stCondLst>
                                  <p:childTnLst>
                                    <p:set>
                                      <p:cBhvr>
                                        <p:cTn id="27" dur="1" fill="hold">
                                          <p:stCondLst>
                                            <p:cond delay="0"/>
                                          </p:stCondLst>
                                        </p:cTn>
                                        <p:tgtEl>
                                          <p:spTgt spid="1397"/>
                                        </p:tgtEl>
                                        <p:attrNameLst>
                                          <p:attrName>style.visibility</p:attrName>
                                        </p:attrNameLst>
                                      </p:cBhvr>
                                      <p:to>
                                        <p:strVal val="visible"/>
                                      </p:to>
                                    </p:set>
                                    <p:animEffect transition="in" filter="fade">
                                      <p:cBhvr>
                                        <p:cTn id="28" dur="1000"/>
                                        <p:tgtEl>
                                          <p:spTgt spid="1397"/>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1396"/>
                                        </p:tgtEl>
                                        <p:attrNameLst>
                                          <p:attrName>style.visibility</p:attrName>
                                        </p:attrNameLst>
                                      </p:cBhvr>
                                      <p:to>
                                        <p:strVal val="visible"/>
                                      </p:to>
                                    </p:set>
                                    <p:animEffect transition="in" filter="fade">
                                      <p:cBhvr>
                                        <p:cTn id="32" dur="1000"/>
                                        <p:tgtEl>
                                          <p:spTgt spid="139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90"/>
                                        </p:tgtEl>
                                        <p:attrNameLst>
                                          <p:attrName>style.visibility</p:attrName>
                                        </p:attrNameLst>
                                      </p:cBhvr>
                                      <p:to>
                                        <p:strVal val="visible"/>
                                      </p:to>
                                    </p:set>
                                    <p:animEffect transition="in" filter="fade">
                                      <p:cBhvr>
                                        <p:cTn id="37" dur="1000"/>
                                        <p:tgtEl>
                                          <p:spTgt spid="139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99"/>
                                        </p:tgtEl>
                                        <p:attrNameLst>
                                          <p:attrName>style.visibility</p:attrName>
                                        </p:attrNameLst>
                                      </p:cBhvr>
                                      <p:to>
                                        <p:strVal val="visible"/>
                                      </p:to>
                                    </p:set>
                                    <p:animEffect transition="in" filter="fade">
                                      <p:cBhvr>
                                        <p:cTn id="42" dur="1000"/>
                                        <p:tgtEl>
                                          <p:spTgt spid="1399"/>
                                        </p:tgtEl>
                                      </p:cBhvr>
                                    </p:animEffect>
                                  </p:childTnLst>
                                </p:cTn>
                              </p:par>
                            </p:childTnLst>
                          </p:cTn>
                        </p:par>
                        <p:par>
                          <p:cTn id="43" fill="hold">
                            <p:stCondLst>
                              <p:cond delay="1000"/>
                            </p:stCondLst>
                            <p:childTnLst>
                              <p:par>
                                <p:cTn id="44" presetID="10" presetClass="entr" presetSubtype="0" fill="hold" nodeType="afterEffect">
                                  <p:stCondLst>
                                    <p:cond delay="0"/>
                                  </p:stCondLst>
                                  <p:childTnLst>
                                    <p:set>
                                      <p:cBhvr>
                                        <p:cTn id="45" dur="1" fill="hold">
                                          <p:stCondLst>
                                            <p:cond delay="0"/>
                                          </p:stCondLst>
                                        </p:cTn>
                                        <p:tgtEl>
                                          <p:spTgt spid="1398"/>
                                        </p:tgtEl>
                                        <p:attrNameLst>
                                          <p:attrName>style.visibility</p:attrName>
                                        </p:attrNameLst>
                                      </p:cBhvr>
                                      <p:to>
                                        <p:strVal val="visible"/>
                                      </p:to>
                                    </p:set>
                                    <p:animEffect transition="in" filter="fade">
                                      <p:cBhvr>
                                        <p:cTn id="46" dur="1000"/>
                                        <p:tgtEl>
                                          <p:spTgt spid="1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403"/>
        <p:cNvGrpSpPr/>
        <p:nvPr/>
      </p:nvGrpSpPr>
      <p:grpSpPr>
        <a:xfrm>
          <a:off x="0" y="0"/>
          <a:ext cx="0" cy="0"/>
          <a:chOff x="0" y="0"/>
          <a:chExt cx="0" cy="0"/>
        </a:xfrm>
      </p:grpSpPr>
      <p:sp>
        <p:nvSpPr>
          <p:cNvPr id="1404" name="Google Shape;1404;p109"/>
          <p:cNvSpPr txBox="1">
            <a:spLocks noGrp="1"/>
          </p:cNvSpPr>
          <p:nvPr>
            <p:ph type="body" idx="1"/>
          </p:nvPr>
        </p:nvSpPr>
        <p:spPr>
          <a:xfrm>
            <a:off x="65250" y="6554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Pokémon define a </a:t>
            </a:r>
            <a:r>
              <a:rPr lang="en" i="1"/>
              <a:t>natural order</a:t>
            </a:r>
            <a:r>
              <a:rPr lang="en"/>
              <a:t> that sorts them in ascending order by number. That's great! But what if we wanted to sort them them in some other way, e.g. alphabetically by name? We'd need a separate </a:t>
            </a:r>
            <a:r>
              <a:rPr lang="en">
                <a:latin typeface="Courier New"/>
                <a:ea typeface="Courier New"/>
                <a:cs typeface="Courier New"/>
                <a:sym typeface="Courier New"/>
              </a:rPr>
              <a:t>Comparator</a:t>
            </a:r>
            <a:r>
              <a:rPr lang="en"/>
              <a:t> class that will help Java's sorting algorithms to arrange the Pokémon in a different way, </a:t>
            </a:r>
            <a:r>
              <a:rPr lang="en" i="1"/>
              <a:t>other than </a:t>
            </a:r>
            <a:r>
              <a:rPr lang="en"/>
              <a:t>the natural sorting that we defined in the previous activity. </a:t>
            </a:r>
            <a:endParaRPr/>
          </a:p>
        </p:txBody>
      </p:sp>
      <p:sp>
        <p:nvSpPr>
          <p:cNvPr id="1405" name="Google Shape;1405;p10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1406" name="Google Shape;1406;p109"/>
          <p:cNvSpPr txBox="1">
            <a:spLocks noGrp="1"/>
          </p:cNvSpPr>
          <p:nvPr>
            <p:ph type="body" idx="2"/>
          </p:nvPr>
        </p:nvSpPr>
        <p:spPr>
          <a:xfrm>
            <a:off x="3331675" y="1936925"/>
            <a:ext cx="5609400" cy="2956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Java class named "</a:t>
            </a:r>
            <a:r>
              <a:rPr lang="en" dirty="0">
                <a:solidFill>
                  <a:srgbClr val="FF0000"/>
                </a:solidFill>
                <a:latin typeface="Courier New"/>
                <a:ea typeface="Courier New"/>
                <a:cs typeface="Courier New"/>
                <a:sym typeface="Courier New"/>
              </a:rPr>
              <a:t>PokémonComparator</a:t>
            </a:r>
            <a:r>
              <a:rPr lang="en" dirty="0"/>
              <a:t>".</a:t>
            </a:r>
            <a:endParaRPr dirty="0"/>
          </a:p>
          <a:p>
            <a:pPr marL="914400" lvl="1" indent="-298450" algn="l" rtl="0">
              <a:spcBef>
                <a:spcPts val="0"/>
              </a:spcBef>
              <a:spcAft>
                <a:spcPts val="0"/>
              </a:spcAft>
              <a:buSzPts val="1100"/>
              <a:buChar char="○"/>
            </a:pPr>
            <a:r>
              <a:rPr lang="en" b="1" i="1" dirty="0">
                <a:solidFill>
                  <a:srgbClr val="FF0000"/>
                </a:solidFill>
              </a:rPr>
              <a:t>Implement </a:t>
            </a:r>
            <a:r>
              <a:rPr lang="en" dirty="0"/>
              <a:t>the </a:t>
            </a:r>
            <a:r>
              <a:rPr lang="en" dirty="0">
                <a:solidFill>
                  <a:srgbClr val="FF0000"/>
                </a:solidFill>
                <a:latin typeface="Courier New"/>
                <a:ea typeface="Courier New"/>
                <a:cs typeface="Courier New"/>
                <a:sym typeface="Courier New"/>
              </a:rPr>
              <a:t>Comparator</a:t>
            </a:r>
            <a:r>
              <a:rPr lang="en" dirty="0">
                <a:solidFill>
                  <a:srgbClr val="FF0000"/>
                </a:solidFill>
              </a:rPr>
              <a:t> </a:t>
            </a:r>
            <a:r>
              <a:rPr lang="en" dirty="0"/>
              <a:t>interface.</a:t>
            </a:r>
            <a:endParaRPr dirty="0"/>
          </a:p>
          <a:p>
            <a:pPr marL="1371600" lvl="2" indent="-298450" algn="l" rtl="0">
              <a:spcBef>
                <a:spcPts val="0"/>
              </a:spcBef>
              <a:spcAft>
                <a:spcPts val="0"/>
              </a:spcAft>
              <a:buSzPts val="1100"/>
              <a:buChar char="■"/>
            </a:pPr>
            <a:r>
              <a:rPr lang="en" dirty="0">
                <a:highlight>
                  <a:srgbClr val="FFFF00"/>
                </a:highlight>
              </a:rPr>
              <a:t>Specify </a:t>
            </a:r>
            <a:r>
              <a:rPr lang="en" dirty="0">
                <a:highlight>
                  <a:srgbClr val="FFFF00"/>
                </a:highlight>
                <a:latin typeface="Courier New"/>
                <a:ea typeface="Courier New"/>
                <a:cs typeface="Courier New"/>
                <a:sym typeface="Courier New"/>
              </a:rPr>
              <a:t>Pokémon</a:t>
            </a:r>
            <a:r>
              <a:rPr lang="en" dirty="0">
                <a:highlight>
                  <a:srgbClr val="FFFF00"/>
                </a:highlight>
              </a:rPr>
              <a:t> as the comparable type. Both parameters to the </a:t>
            </a:r>
            <a:r>
              <a:rPr lang="en" dirty="0">
                <a:highlight>
                  <a:srgbClr val="FFFF00"/>
                </a:highlight>
                <a:latin typeface="Courier New"/>
                <a:ea typeface="Courier New"/>
                <a:cs typeface="Courier New"/>
                <a:sym typeface="Courier New"/>
              </a:rPr>
              <a:t>compare(T o1,</a:t>
            </a:r>
            <a:r>
              <a:rPr lang="en" dirty="0">
                <a:highlight>
                  <a:srgbClr val="FFFF00"/>
                </a:highlight>
                <a:latin typeface="Arial"/>
                <a:ea typeface="Arial"/>
                <a:cs typeface="Arial"/>
                <a:sym typeface="Arial"/>
              </a:rPr>
              <a:t> </a:t>
            </a:r>
            <a:r>
              <a:rPr lang="en" dirty="0">
                <a:highlight>
                  <a:srgbClr val="FFFF00"/>
                </a:highlight>
                <a:latin typeface="Courier New"/>
                <a:ea typeface="Courier New"/>
                <a:cs typeface="Courier New"/>
                <a:sym typeface="Courier New"/>
              </a:rPr>
              <a:t>T o2)</a:t>
            </a:r>
            <a:r>
              <a:rPr lang="en" dirty="0">
                <a:highlight>
                  <a:srgbClr val="FFFF00"/>
                </a:highlight>
              </a:rPr>
              <a:t> should therefore also be </a:t>
            </a:r>
            <a:r>
              <a:rPr lang="en" dirty="0">
                <a:highlight>
                  <a:srgbClr val="FFFF00"/>
                </a:highlight>
                <a:latin typeface="Courier New"/>
                <a:ea typeface="Courier New"/>
                <a:cs typeface="Courier New"/>
                <a:sym typeface="Courier New"/>
              </a:rPr>
              <a:t>Pokémon</a:t>
            </a:r>
            <a:r>
              <a:rPr lang="en" dirty="0">
                <a:highlight>
                  <a:srgbClr val="FFFF00"/>
                </a:highlight>
              </a:rPr>
              <a:t>.</a:t>
            </a:r>
            <a:endParaRPr dirty="0">
              <a:highlight>
                <a:srgbClr val="FFFF00"/>
              </a:highlight>
            </a:endParaRPr>
          </a:p>
          <a:p>
            <a:pPr marL="1371600" lvl="2" indent="-298450" algn="l" rtl="0">
              <a:spcBef>
                <a:spcPts val="0"/>
              </a:spcBef>
              <a:spcAft>
                <a:spcPts val="0"/>
              </a:spcAft>
              <a:buSzPts val="1100"/>
              <a:buChar char="■"/>
            </a:pPr>
            <a:r>
              <a:rPr lang="en" dirty="0">
                <a:highlight>
                  <a:srgbClr val="FFFF00"/>
                </a:highlight>
              </a:rPr>
              <a:t>Compare two Pokémon </a:t>
            </a:r>
            <a:r>
              <a:rPr lang="en" b="1" i="1" dirty="0">
                <a:solidFill>
                  <a:srgbClr val="FF0000"/>
                </a:solidFill>
                <a:highlight>
                  <a:srgbClr val="FFFF00"/>
                </a:highlight>
              </a:rPr>
              <a:t>alphabetically by name</a:t>
            </a:r>
            <a:r>
              <a:rPr lang="en" dirty="0">
                <a:highlight>
                  <a:srgbClr val="FFFF00"/>
                </a:highlight>
              </a:rPr>
              <a:t>.</a:t>
            </a:r>
            <a:endParaRPr dirty="0">
              <a:highlight>
                <a:srgbClr val="FFFF00"/>
              </a:highlight>
            </a:endParaRPr>
          </a:p>
          <a:p>
            <a:pPr marL="1371600" lvl="2" indent="-298450" algn="l" rtl="0">
              <a:spcBef>
                <a:spcPts val="0"/>
              </a:spcBef>
              <a:spcAft>
                <a:spcPts val="0"/>
              </a:spcAft>
              <a:buSzPts val="1100"/>
              <a:buChar char="■"/>
            </a:pPr>
            <a:r>
              <a:rPr lang="en" dirty="0"/>
              <a:t>Remember, </a:t>
            </a:r>
            <a:r>
              <a:rPr lang="en" dirty="0">
                <a:solidFill>
                  <a:srgbClr val="FF0000"/>
                </a:solidFill>
                <a:latin typeface="Courier New"/>
                <a:ea typeface="Courier New"/>
                <a:cs typeface="Courier New"/>
                <a:sym typeface="Courier New"/>
              </a:rPr>
              <a:t>comp.compare(poke1,</a:t>
            </a:r>
            <a:r>
              <a:rPr lang="en" dirty="0">
                <a:solidFill>
                  <a:srgbClr val="FF0000"/>
                </a:solidFill>
                <a:latin typeface="Arial"/>
                <a:ea typeface="Arial"/>
                <a:cs typeface="Arial"/>
                <a:sym typeface="Arial"/>
              </a:rPr>
              <a:t> </a:t>
            </a:r>
            <a:r>
              <a:rPr lang="en" dirty="0">
                <a:solidFill>
                  <a:srgbClr val="FF0000"/>
                </a:solidFill>
                <a:latin typeface="Courier New"/>
                <a:ea typeface="Courier New"/>
                <a:cs typeface="Courier New"/>
                <a:sym typeface="Courier New"/>
              </a:rPr>
              <a:t>poke2)</a:t>
            </a:r>
            <a:r>
              <a:rPr lang="en" dirty="0"/>
              <a:t> should return an integer that is </a:t>
            </a:r>
            <a:r>
              <a:rPr lang="en" dirty="0">
                <a:solidFill>
                  <a:srgbClr val="FF0000"/>
                </a:solidFill>
                <a:latin typeface="Courier New"/>
                <a:ea typeface="Courier New"/>
                <a:cs typeface="Courier New"/>
                <a:sym typeface="Courier New"/>
              </a:rPr>
              <a:t>&lt;0</a:t>
            </a:r>
            <a:r>
              <a:rPr lang="en" dirty="0"/>
              <a:t> if </a:t>
            </a:r>
            <a:r>
              <a:rPr lang="en" dirty="0">
                <a:latin typeface="Courier New"/>
                <a:ea typeface="Courier New"/>
                <a:cs typeface="Courier New"/>
                <a:sym typeface="Courier New"/>
              </a:rPr>
              <a:t>poke1</a:t>
            </a:r>
            <a:r>
              <a:rPr lang="en" dirty="0"/>
              <a:t> is first, </a:t>
            </a:r>
            <a:r>
              <a:rPr lang="en" dirty="0">
                <a:solidFill>
                  <a:srgbClr val="FF0000"/>
                </a:solidFill>
                <a:latin typeface="Courier New"/>
                <a:ea typeface="Courier New"/>
                <a:cs typeface="Courier New"/>
                <a:sym typeface="Courier New"/>
              </a:rPr>
              <a:t>0</a:t>
            </a:r>
            <a:r>
              <a:rPr lang="en" dirty="0"/>
              <a:t> if they are equal, and </a:t>
            </a:r>
            <a:r>
              <a:rPr lang="en" dirty="0">
                <a:solidFill>
                  <a:srgbClr val="FF0000"/>
                </a:solidFill>
                <a:latin typeface="Courier New"/>
                <a:ea typeface="Courier New"/>
                <a:cs typeface="Courier New"/>
                <a:sym typeface="Courier New"/>
              </a:rPr>
              <a:t>&gt;0</a:t>
            </a:r>
            <a:r>
              <a:rPr lang="en" dirty="0"/>
              <a:t> if </a:t>
            </a:r>
            <a:r>
              <a:rPr lang="en" dirty="0">
                <a:latin typeface="Courier New"/>
                <a:ea typeface="Courier New"/>
                <a:cs typeface="Courier New"/>
                <a:sym typeface="Courier New"/>
              </a:rPr>
              <a:t>poke1</a:t>
            </a:r>
            <a:r>
              <a:rPr lang="en" dirty="0"/>
              <a:t> is second.</a:t>
            </a:r>
            <a:endParaRPr dirty="0"/>
          </a:p>
          <a:p>
            <a:pPr marL="457200" lvl="0" indent="-311150" algn="l" rtl="0">
              <a:spcBef>
                <a:spcPts val="0"/>
              </a:spcBef>
              <a:spcAft>
                <a:spcPts val="0"/>
              </a:spcAft>
              <a:buSzPts val="1300"/>
              <a:buChar char="●"/>
            </a:pPr>
            <a:r>
              <a:rPr lang="en" dirty="0"/>
              <a:t>Define a </a:t>
            </a:r>
            <a:r>
              <a:rPr lang="en" dirty="0">
                <a:latin typeface="Courier New"/>
                <a:ea typeface="Courier New"/>
                <a:cs typeface="Courier New"/>
                <a:sym typeface="Courier New"/>
              </a:rPr>
              <a:t>main</a:t>
            </a:r>
            <a:r>
              <a:rPr lang="en" dirty="0"/>
              <a:t> method with the appropriate signature.</a:t>
            </a:r>
            <a:endParaRPr dirty="0"/>
          </a:p>
          <a:p>
            <a:pPr marL="914400" lvl="1" indent="-298450" algn="l" rtl="0">
              <a:spcBef>
                <a:spcPts val="0"/>
              </a:spcBef>
              <a:spcAft>
                <a:spcPts val="0"/>
              </a:spcAft>
              <a:buSzPts val="1100"/>
              <a:buChar char="○"/>
            </a:pPr>
            <a:r>
              <a:rPr lang="en" dirty="0"/>
              <a:t>Create a Java </a:t>
            </a:r>
            <a:r>
              <a:rPr lang="en" dirty="0">
                <a:latin typeface="Courier New"/>
                <a:ea typeface="Courier New"/>
                <a:cs typeface="Courier New"/>
                <a:sym typeface="Courier New"/>
              </a:rPr>
              <a:t>List</a:t>
            </a:r>
            <a:r>
              <a:rPr lang="en" dirty="0"/>
              <a:t> that contains at least 3 different </a:t>
            </a:r>
            <a:r>
              <a:rPr lang="en" dirty="0">
                <a:latin typeface="Courier New"/>
                <a:ea typeface="Courier New"/>
                <a:cs typeface="Courier New"/>
                <a:sym typeface="Courier New"/>
              </a:rPr>
              <a:t>Pokémon</a:t>
            </a:r>
            <a:r>
              <a:rPr lang="en" dirty="0"/>
              <a:t>. Make sure to add them out of order.</a:t>
            </a:r>
            <a:endParaRPr dirty="0"/>
          </a:p>
          <a:p>
            <a:pPr marL="914400" lvl="1" indent="-298450" algn="l" rtl="0">
              <a:spcBef>
                <a:spcPts val="0"/>
              </a:spcBef>
              <a:spcAft>
                <a:spcPts val="0"/>
              </a:spcAft>
              <a:buSzPts val="1100"/>
              <a:buChar char="○"/>
            </a:pPr>
            <a:r>
              <a:rPr lang="en" dirty="0"/>
              <a:t>Call the static </a:t>
            </a:r>
            <a:r>
              <a:rPr lang="en" u="sng" dirty="0">
                <a:solidFill>
                  <a:srgbClr val="4A86E8"/>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Collections.sort(List,</a:t>
            </a:r>
            <a:r>
              <a:rPr lang="en" u="sng" dirty="0">
                <a:solidFill>
                  <a:srgbClr val="4A86E8"/>
                </a:solidFill>
                <a:latin typeface="Arial"/>
                <a:ea typeface="Arial"/>
                <a:cs typeface="Arial"/>
                <a:sym typeface="Arial"/>
                <a:hlinkClick r:id="rId3">
                  <a:extLst>
                    <a:ext uri="{A12FA001-AC4F-418D-AE19-62706E023703}">
                      <ahyp:hlinkClr xmlns:ahyp="http://schemas.microsoft.com/office/drawing/2018/hyperlinkcolor" val="tx"/>
                    </a:ext>
                  </a:extLst>
                </a:hlinkClick>
              </a:rPr>
              <a:t> </a:t>
            </a:r>
            <a:r>
              <a:rPr lang="en" u="sng" dirty="0">
                <a:solidFill>
                  <a:srgbClr val="4A86E8"/>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Comparator)</a:t>
            </a:r>
            <a:r>
              <a:rPr lang="en" dirty="0"/>
              <a:t> method to use the </a:t>
            </a:r>
            <a:r>
              <a:rPr lang="en" dirty="0">
                <a:latin typeface="Courier New"/>
                <a:ea typeface="Courier New"/>
                <a:cs typeface="Courier New"/>
                <a:sym typeface="Courier New"/>
              </a:rPr>
              <a:t>PokémonComparator</a:t>
            </a:r>
            <a:r>
              <a:rPr lang="en" dirty="0"/>
              <a:t> to  sort the list and then print it to standard output.</a:t>
            </a:r>
            <a:endParaRPr dirty="0"/>
          </a:p>
        </p:txBody>
      </p:sp>
      <p:sp>
        <p:nvSpPr>
          <p:cNvPr id="1407" name="Google Shape;1407;p10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Pokémon Comparator</a:t>
            </a:r>
            <a:endParaRPr/>
          </a:p>
        </p:txBody>
      </p:sp>
      <p:sp>
        <p:nvSpPr>
          <p:cNvPr id="1408" name="Google Shape;1408;p10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6.12</a:t>
            </a:r>
            <a:endParaRPr/>
          </a:p>
        </p:txBody>
      </p:sp>
      <p:sp>
        <p:nvSpPr>
          <p:cNvPr id="1409" name="Google Shape;1409;p109"/>
          <p:cNvSpPr txBox="1"/>
          <p:nvPr/>
        </p:nvSpPr>
        <p:spPr>
          <a:xfrm>
            <a:off x="159425" y="3779025"/>
            <a:ext cx="30114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100"/>
              <a:t>It's great that Pokémon are naturally sortable by number, but what if we wanted to sort them in another way? A </a:t>
            </a:r>
            <a:r>
              <a:rPr lang="en" sz="1100">
                <a:latin typeface="Courier New"/>
                <a:ea typeface="Courier New"/>
                <a:cs typeface="Courier New"/>
                <a:sym typeface="Courier New"/>
              </a:rPr>
              <a:t>Comparator</a:t>
            </a:r>
            <a:r>
              <a:rPr lang="en" sz="1100"/>
              <a:t> can help with that!</a:t>
            </a:r>
            <a:endParaRPr sz="1100"/>
          </a:p>
        </p:txBody>
      </p:sp>
      <p:sp>
        <p:nvSpPr>
          <p:cNvPr id="1410" name="Google Shape;1410;p109"/>
          <p:cNvSpPr txBox="1"/>
          <p:nvPr/>
        </p:nvSpPr>
        <p:spPr>
          <a:xfrm>
            <a:off x="159325" y="1975600"/>
            <a:ext cx="3011400" cy="1708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AlienComp</a:t>
            </a:r>
            <a:r>
              <a:rPr lang="en" sz="900">
                <a:latin typeface="Consolas"/>
                <a:ea typeface="Consolas"/>
                <a:cs typeface="Consolas"/>
                <a:sym typeface="Consolas"/>
              </a:rPr>
              <a:t> </a:t>
            </a:r>
            <a:endParaRPr sz="900">
              <a:latin typeface="Consolas"/>
              <a:ea typeface="Consolas"/>
              <a:cs typeface="Consolas"/>
              <a:sym typeface="Consolas"/>
            </a:endParaRPr>
          </a:p>
          <a:p>
            <a:pPr marL="0" lvl="0" indent="457200" algn="l" rtl="0">
              <a:lnSpc>
                <a:spcPct val="100000"/>
              </a:lnSpc>
              <a:spcBef>
                <a:spcPts val="0"/>
              </a:spcBef>
              <a:spcAft>
                <a:spcPts val="0"/>
              </a:spcAft>
              <a:buNone/>
            </a:pP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Comparator</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marL="0" lvl="0" indent="0" algn="l" rtl="0">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marL="457200" lvl="0" indent="457200" algn="l" rtl="0">
              <a:lnSpc>
                <a:spcPct val="100000"/>
              </a:lnSpc>
              <a:spcBef>
                <a:spcPts val="0"/>
              </a:spcBef>
              <a:spcAft>
                <a:spcPts val="0"/>
              </a:spcAft>
              <a:buNone/>
            </a:pP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a:t>
            </a:r>
            <a:endParaRPr sz="900">
              <a:solidFill>
                <a:srgbClr val="4A86E8"/>
              </a:solidFill>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414"/>
        <p:cNvGrpSpPr/>
        <p:nvPr/>
      </p:nvGrpSpPr>
      <p:grpSpPr>
        <a:xfrm>
          <a:off x="0" y="0"/>
          <a:ext cx="0" cy="0"/>
          <a:chOff x="0" y="0"/>
          <a:chExt cx="0" cy="0"/>
        </a:xfrm>
      </p:grpSpPr>
      <p:sp>
        <p:nvSpPr>
          <p:cNvPr id="1415" name="Google Shape;1415;p11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Comparable vs. Comparator</a:t>
            </a:r>
            <a:endParaRPr/>
          </a:p>
        </p:txBody>
      </p:sp>
      <p:sp>
        <p:nvSpPr>
          <p:cNvPr id="1416" name="Google Shape;1416;p1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44</a:t>
            </a:fld>
            <a:endParaRPr/>
          </a:p>
        </p:txBody>
      </p:sp>
      <p:pic>
        <p:nvPicPr>
          <p:cNvPr id="1417" name="Google Shape;1417;p110"/>
          <p:cNvPicPr preferRelativeResize="0"/>
          <p:nvPr/>
        </p:nvPicPr>
        <p:blipFill>
          <a:blip r:embed="rId3">
            <a:alphaModFix/>
          </a:blip>
          <a:stretch>
            <a:fillRect/>
          </a:stretch>
        </p:blipFill>
        <p:spPr>
          <a:xfrm>
            <a:off x="2081963" y="1346299"/>
            <a:ext cx="4980068" cy="3691475"/>
          </a:xfrm>
          <a:prstGeom prst="rect">
            <a:avLst/>
          </a:prstGeom>
          <a:noFill/>
          <a:ln w="19050" cap="flat" cmpd="sng">
            <a:solidFill>
              <a:srgbClr val="000000"/>
            </a:solidFill>
            <a:prstDash val="solid"/>
            <a:round/>
            <a:headEnd type="none" w="sm" len="sm"/>
            <a:tailEnd type="none" w="sm" len="sm"/>
          </a:ln>
        </p:spPr>
      </p:pic>
      <p:sp>
        <p:nvSpPr>
          <p:cNvPr id="1418" name="Google Shape;1418;p110"/>
          <p:cNvSpPr/>
          <p:nvPr/>
        </p:nvSpPr>
        <p:spPr>
          <a:xfrm>
            <a:off x="1975300" y="1994124"/>
            <a:ext cx="2016000" cy="831300"/>
          </a:xfrm>
          <a:prstGeom prst="wedgeRoundRectCallout">
            <a:avLst>
              <a:gd name="adj1" fmla="val 18513"/>
              <a:gd name="adj2" fmla="val 62402"/>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I am an interface implemented by a class that wants to </a:t>
            </a:r>
            <a:r>
              <a:rPr lang="en" sz="1200" b="1" u="sng">
                <a:solidFill>
                  <a:srgbClr val="FF0000"/>
                </a:solidFill>
              </a:rPr>
              <a:t>define its own natural order</a:t>
            </a:r>
            <a:r>
              <a:rPr lang="en" sz="1200"/>
              <a:t>.</a:t>
            </a:r>
            <a:endParaRPr sz="1200"/>
          </a:p>
        </p:txBody>
      </p:sp>
      <p:sp>
        <p:nvSpPr>
          <p:cNvPr id="1419" name="Google Shape;1419;p110"/>
          <p:cNvSpPr/>
          <p:nvPr/>
        </p:nvSpPr>
        <p:spPr>
          <a:xfrm>
            <a:off x="463475" y="2884224"/>
            <a:ext cx="2152800" cy="831300"/>
          </a:xfrm>
          <a:prstGeom prst="wedgeRoundRectCallout">
            <a:avLst>
              <a:gd name="adj1" fmla="val 74989"/>
              <a:gd name="adj2" fmla="val -27213"/>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I am called on one object of the class. Another object is passed in as a parameter, e.g. </a:t>
            </a:r>
            <a:r>
              <a:rPr lang="en" sz="1200">
                <a:solidFill>
                  <a:srgbClr val="FF0000"/>
                </a:solidFill>
                <a:latin typeface="Consolas"/>
                <a:ea typeface="Consolas"/>
                <a:cs typeface="Consolas"/>
                <a:sym typeface="Consolas"/>
              </a:rPr>
              <a:t>a.compareTo(b)</a:t>
            </a:r>
            <a:r>
              <a:rPr lang="en" sz="1200"/>
              <a:t>.</a:t>
            </a:r>
            <a:endParaRPr sz="1200"/>
          </a:p>
        </p:txBody>
      </p:sp>
      <p:sp>
        <p:nvSpPr>
          <p:cNvPr id="1420" name="Google Shape;1420;p110"/>
          <p:cNvSpPr/>
          <p:nvPr/>
        </p:nvSpPr>
        <p:spPr>
          <a:xfrm>
            <a:off x="498925" y="3794699"/>
            <a:ext cx="2152800" cy="1110900"/>
          </a:xfrm>
          <a:prstGeom prst="wedgeRoundRectCallout">
            <a:avLst>
              <a:gd name="adj1" fmla="val 64434"/>
              <a:gd name="adj2" fmla="val -48818"/>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The first object compares </a:t>
            </a:r>
            <a:r>
              <a:rPr lang="en" sz="1200" b="1" u="sng">
                <a:solidFill>
                  <a:srgbClr val="FF0000"/>
                </a:solidFill>
              </a:rPr>
              <a:t>itself</a:t>
            </a:r>
            <a:r>
              <a:rPr lang="en" sz="1200"/>
              <a:t> to the second and returns </a:t>
            </a:r>
            <a:r>
              <a:rPr lang="en" sz="1200">
                <a:solidFill>
                  <a:srgbClr val="FF0000"/>
                </a:solidFill>
              </a:rPr>
              <a:t>&lt;0</a:t>
            </a:r>
            <a:r>
              <a:rPr lang="en" sz="1200"/>
              <a:t>, </a:t>
            </a:r>
            <a:r>
              <a:rPr lang="en" sz="1200">
                <a:solidFill>
                  <a:srgbClr val="FF0000"/>
                </a:solidFill>
              </a:rPr>
              <a:t>0</a:t>
            </a:r>
            <a:r>
              <a:rPr lang="en" sz="1200"/>
              <a:t>, or </a:t>
            </a:r>
            <a:r>
              <a:rPr lang="en" sz="1200">
                <a:solidFill>
                  <a:srgbClr val="FF0000"/>
                </a:solidFill>
              </a:rPr>
              <a:t>&gt;0</a:t>
            </a:r>
            <a:r>
              <a:rPr lang="en" sz="1200"/>
              <a:t> if the first is before, equal to, or after the second.</a:t>
            </a:r>
            <a:endParaRPr sz="1200"/>
          </a:p>
        </p:txBody>
      </p:sp>
      <p:sp>
        <p:nvSpPr>
          <p:cNvPr id="1421" name="Google Shape;1421;p110"/>
          <p:cNvSpPr/>
          <p:nvPr/>
        </p:nvSpPr>
        <p:spPr>
          <a:xfrm>
            <a:off x="5382325" y="1994124"/>
            <a:ext cx="2247900" cy="831300"/>
          </a:xfrm>
          <a:prstGeom prst="wedgeRoundRectCallout">
            <a:avLst>
              <a:gd name="adj1" fmla="val -36443"/>
              <a:gd name="adj2" fmla="val 70050"/>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I am an interface implemented by a </a:t>
            </a:r>
            <a:r>
              <a:rPr lang="en" sz="1200" b="1" u="sng">
                <a:solidFill>
                  <a:srgbClr val="FF0000"/>
                </a:solidFill>
              </a:rPr>
              <a:t>separate class</a:t>
            </a:r>
            <a:r>
              <a:rPr lang="en" sz="1200"/>
              <a:t> that wants to define an order for some </a:t>
            </a:r>
            <a:r>
              <a:rPr lang="en" sz="1200" b="1" u="sng">
                <a:solidFill>
                  <a:srgbClr val="FF0000"/>
                </a:solidFill>
              </a:rPr>
              <a:t>other</a:t>
            </a:r>
            <a:r>
              <a:rPr lang="en" sz="1200"/>
              <a:t> class.</a:t>
            </a:r>
            <a:endParaRPr sz="1200"/>
          </a:p>
        </p:txBody>
      </p:sp>
      <p:sp>
        <p:nvSpPr>
          <p:cNvPr id="1422" name="Google Shape;1422;p110"/>
          <p:cNvSpPr/>
          <p:nvPr/>
        </p:nvSpPr>
        <p:spPr>
          <a:xfrm>
            <a:off x="6249100" y="2889575"/>
            <a:ext cx="2772000" cy="1067400"/>
          </a:xfrm>
          <a:prstGeom prst="wedgeRoundRectCallout">
            <a:avLst>
              <a:gd name="adj1" fmla="val -66786"/>
              <a:gd name="adj2" fmla="val -23433"/>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t>This is either because the other class’s natural order </a:t>
            </a:r>
            <a:r>
              <a:rPr lang="en" sz="1200" b="1" u="sng" dirty="0">
                <a:solidFill>
                  <a:srgbClr val="FF0000"/>
                </a:solidFill>
              </a:rPr>
              <a:t>doesn’t work</a:t>
            </a:r>
            <a:r>
              <a:rPr lang="en" sz="1200" dirty="0"/>
              <a:t> for the problem that I am trying to solve or the class </a:t>
            </a:r>
            <a:r>
              <a:rPr lang="en" sz="1200" b="1" u="sng" dirty="0">
                <a:solidFill>
                  <a:srgbClr val="FF0000"/>
                </a:solidFill>
              </a:rPr>
              <a:t>doesn’t have a natural order</a:t>
            </a:r>
            <a:r>
              <a:rPr lang="en" sz="1200" dirty="0"/>
              <a:t> at all.</a:t>
            </a:r>
            <a:endParaRPr sz="1200" dirty="0"/>
          </a:p>
        </p:txBody>
      </p:sp>
      <p:sp>
        <p:nvSpPr>
          <p:cNvPr id="1423" name="Google Shape;1423;p110"/>
          <p:cNvSpPr/>
          <p:nvPr/>
        </p:nvSpPr>
        <p:spPr>
          <a:xfrm>
            <a:off x="6249100" y="4067949"/>
            <a:ext cx="2492700" cy="925800"/>
          </a:xfrm>
          <a:prstGeom prst="wedgeRoundRectCallout">
            <a:avLst>
              <a:gd name="adj1" fmla="val -62461"/>
              <a:gd name="adj2" fmla="val -5124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t>Two instances of the class I can compare are passed into my compare method, e.g. </a:t>
            </a:r>
            <a:r>
              <a:rPr lang="en" sz="1200" dirty="0">
                <a:solidFill>
                  <a:srgbClr val="FF0000"/>
                </a:solidFill>
                <a:latin typeface="Consolas"/>
                <a:ea typeface="Consolas"/>
                <a:cs typeface="Consolas"/>
                <a:sym typeface="Consolas"/>
              </a:rPr>
              <a:t>me.compare(a, b)</a:t>
            </a:r>
            <a:r>
              <a:rPr lang="en" sz="1200" dirty="0"/>
              <a:t>.</a:t>
            </a:r>
            <a:endParaRPr sz="1200" dirty="0"/>
          </a:p>
        </p:txBody>
      </p:sp>
      <p:grpSp>
        <p:nvGrpSpPr>
          <p:cNvPr id="1424" name="Google Shape;1424;p110"/>
          <p:cNvGrpSpPr/>
          <p:nvPr/>
        </p:nvGrpSpPr>
        <p:grpSpPr>
          <a:xfrm>
            <a:off x="3991300" y="3696324"/>
            <a:ext cx="1179300" cy="659100"/>
            <a:chOff x="3991300" y="3268650"/>
            <a:chExt cx="1179300" cy="659100"/>
          </a:xfrm>
        </p:grpSpPr>
        <p:sp>
          <p:nvSpPr>
            <p:cNvPr id="1425" name="Google Shape;1425;p110"/>
            <p:cNvSpPr/>
            <p:nvPr/>
          </p:nvSpPr>
          <p:spPr>
            <a:xfrm>
              <a:off x="3991300" y="3268650"/>
              <a:ext cx="1179300" cy="659100"/>
            </a:xfrm>
            <a:prstGeom prst="wedgeRoundRectCallout">
              <a:avLst>
                <a:gd name="adj1" fmla="val -58246"/>
                <a:gd name="adj2" fmla="val -93298"/>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We are both used for sorting.</a:t>
              </a:r>
              <a:endParaRPr sz="1200"/>
            </a:p>
          </p:txBody>
        </p:sp>
        <p:sp>
          <p:nvSpPr>
            <p:cNvPr id="1426" name="Google Shape;1426;p110"/>
            <p:cNvSpPr/>
            <p:nvPr/>
          </p:nvSpPr>
          <p:spPr>
            <a:xfrm>
              <a:off x="3991300" y="3268650"/>
              <a:ext cx="1179300" cy="659100"/>
            </a:xfrm>
            <a:prstGeom prst="wedgeRoundRectCallout">
              <a:avLst>
                <a:gd name="adj1" fmla="val 55192"/>
                <a:gd name="adj2" fmla="val -93298"/>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We are both used for sorting.</a:t>
              </a:r>
              <a:endParaRPr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8"/>
                                        </p:tgtEl>
                                        <p:attrNameLst>
                                          <p:attrName>style.visibility</p:attrName>
                                        </p:attrNameLst>
                                      </p:cBhvr>
                                      <p:to>
                                        <p:strVal val="visible"/>
                                      </p:to>
                                    </p:set>
                                    <p:animEffect transition="in" filter="fade">
                                      <p:cBhvr>
                                        <p:cTn id="7" dur="1000"/>
                                        <p:tgtEl>
                                          <p:spTgt spid="14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19"/>
                                        </p:tgtEl>
                                        <p:attrNameLst>
                                          <p:attrName>style.visibility</p:attrName>
                                        </p:attrNameLst>
                                      </p:cBhvr>
                                      <p:to>
                                        <p:strVal val="visible"/>
                                      </p:to>
                                    </p:set>
                                    <p:animEffect transition="in" filter="fade">
                                      <p:cBhvr>
                                        <p:cTn id="12" dur="1000"/>
                                        <p:tgtEl>
                                          <p:spTgt spid="14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20"/>
                                        </p:tgtEl>
                                        <p:attrNameLst>
                                          <p:attrName>style.visibility</p:attrName>
                                        </p:attrNameLst>
                                      </p:cBhvr>
                                      <p:to>
                                        <p:strVal val="visible"/>
                                      </p:to>
                                    </p:set>
                                    <p:animEffect transition="in" filter="fade">
                                      <p:cBhvr>
                                        <p:cTn id="17" dur="1000"/>
                                        <p:tgtEl>
                                          <p:spTgt spid="14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21"/>
                                        </p:tgtEl>
                                        <p:attrNameLst>
                                          <p:attrName>style.visibility</p:attrName>
                                        </p:attrNameLst>
                                      </p:cBhvr>
                                      <p:to>
                                        <p:strVal val="visible"/>
                                      </p:to>
                                    </p:set>
                                    <p:animEffect transition="in" filter="fade">
                                      <p:cBhvr>
                                        <p:cTn id="22" dur="1000"/>
                                        <p:tgtEl>
                                          <p:spTgt spid="14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22"/>
                                        </p:tgtEl>
                                        <p:attrNameLst>
                                          <p:attrName>style.visibility</p:attrName>
                                        </p:attrNameLst>
                                      </p:cBhvr>
                                      <p:to>
                                        <p:strVal val="visible"/>
                                      </p:to>
                                    </p:set>
                                    <p:animEffect transition="in" filter="fade">
                                      <p:cBhvr>
                                        <p:cTn id="27" dur="1000"/>
                                        <p:tgtEl>
                                          <p:spTgt spid="14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23"/>
                                        </p:tgtEl>
                                        <p:attrNameLst>
                                          <p:attrName>style.visibility</p:attrName>
                                        </p:attrNameLst>
                                      </p:cBhvr>
                                      <p:to>
                                        <p:strVal val="visible"/>
                                      </p:to>
                                    </p:set>
                                    <p:animEffect transition="in" filter="fade">
                                      <p:cBhvr>
                                        <p:cTn id="32" dur="1000"/>
                                        <p:tgtEl>
                                          <p:spTgt spid="14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24"/>
                                        </p:tgtEl>
                                        <p:attrNameLst>
                                          <p:attrName>style.visibility</p:attrName>
                                        </p:attrNameLst>
                                      </p:cBhvr>
                                      <p:to>
                                        <p:strVal val="visible"/>
                                      </p:to>
                                    </p:set>
                                    <p:animEffect transition="in" filter="fade">
                                      <p:cBhvr>
                                        <p:cTn id="37" dur="1000"/>
                                        <p:tgtEl>
                                          <p:spTgt spid="1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30"/>
        <p:cNvGrpSpPr/>
        <p:nvPr/>
      </p:nvGrpSpPr>
      <p:grpSpPr>
        <a:xfrm>
          <a:off x="0" y="0"/>
          <a:ext cx="0" cy="0"/>
          <a:chOff x="0" y="0"/>
          <a:chExt cx="0" cy="0"/>
        </a:xfrm>
      </p:grpSpPr>
      <p:pic>
        <p:nvPicPr>
          <p:cNvPr id="1431" name="Google Shape;1431;p111"/>
          <p:cNvPicPr preferRelativeResize="0"/>
          <p:nvPr/>
        </p:nvPicPr>
        <p:blipFill rotWithShape="1">
          <a:blip r:embed="rId3">
            <a:alphaModFix/>
          </a:blip>
          <a:srcRect t="8908"/>
          <a:stretch/>
        </p:blipFill>
        <p:spPr>
          <a:xfrm>
            <a:off x="1094453" y="1650687"/>
            <a:ext cx="1253700" cy="1141964"/>
          </a:xfrm>
          <a:prstGeom prst="rect">
            <a:avLst/>
          </a:prstGeom>
          <a:noFill/>
          <a:ln>
            <a:noFill/>
          </a:ln>
        </p:spPr>
      </p:pic>
      <p:sp>
        <p:nvSpPr>
          <p:cNvPr id="1432" name="Google Shape;1432;p111"/>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It can take a long time to understand the uses of Comparable and Comparator and how they are different from each other. The best way to get a handle on it is to practice implementing both a few times to solve different problems. Let's try another example now!</a:t>
            </a:r>
            <a:endParaRPr/>
          </a:p>
        </p:txBody>
      </p:sp>
      <p:sp>
        <p:nvSpPr>
          <p:cNvPr id="1433" name="Google Shape;1433;p1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
        <p:nvSpPr>
          <p:cNvPr id="1434" name="Google Shape;1434;p111"/>
          <p:cNvSpPr txBox="1">
            <a:spLocks noGrp="1"/>
          </p:cNvSpPr>
          <p:nvPr>
            <p:ph type="body" idx="2"/>
          </p:nvPr>
        </p:nvSpPr>
        <p:spPr>
          <a:xfrm>
            <a:off x="3436475" y="1729125"/>
            <a:ext cx="5467200" cy="32016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a:t>Create a new Java class named "</a:t>
            </a:r>
            <a:r>
              <a:rPr lang="en" sz="1400">
                <a:solidFill>
                  <a:srgbClr val="FF0000"/>
                </a:solidFill>
                <a:latin typeface="Courier New"/>
                <a:ea typeface="Courier New"/>
                <a:cs typeface="Courier New"/>
                <a:sym typeface="Courier New"/>
              </a:rPr>
              <a:t>Fruit</a:t>
            </a:r>
            <a:r>
              <a:rPr lang="en" sz="1400"/>
              <a:t>".</a:t>
            </a:r>
            <a:endParaRPr sz="1400"/>
          </a:p>
          <a:p>
            <a:pPr marL="914400" lvl="1" indent="-304800" algn="l" rtl="0">
              <a:spcBef>
                <a:spcPts val="0"/>
              </a:spcBef>
              <a:spcAft>
                <a:spcPts val="0"/>
              </a:spcAft>
              <a:buSzPts val="1200"/>
              <a:buChar char="○"/>
            </a:pPr>
            <a:r>
              <a:rPr lang="en" sz="1200"/>
              <a:t>Every fruit has a </a:t>
            </a:r>
            <a:r>
              <a:rPr lang="en" sz="1200">
                <a:latin typeface="Courier New"/>
                <a:ea typeface="Courier New"/>
                <a:cs typeface="Courier New"/>
                <a:sym typeface="Courier New"/>
              </a:rPr>
              <a:t>name</a:t>
            </a:r>
            <a:r>
              <a:rPr lang="en" sz="1200"/>
              <a:t> and a </a:t>
            </a:r>
            <a:r>
              <a:rPr lang="en" sz="1200">
                <a:latin typeface="Courier New"/>
                <a:ea typeface="Courier New"/>
                <a:cs typeface="Courier New"/>
                <a:sym typeface="Courier New"/>
              </a:rPr>
              <a:t>price</a:t>
            </a:r>
            <a:r>
              <a:rPr lang="en" sz="1200"/>
              <a:t>.</a:t>
            </a:r>
            <a:endParaRPr sz="1200"/>
          </a:p>
          <a:p>
            <a:pPr marL="914400" lvl="1" indent="-304800" algn="l" rtl="0">
              <a:spcBef>
                <a:spcPts val="0"/>
              </a:spcBef>
              <a:spcAft>
                <a:spcPts val="0"/>
              </a:spcAft>
              <a:buSzPts val="1200"/>
              <a:buChar char="○"/>
            </a:pPr>
            <a:r>
              <a:rPr lang="en" sz="1200" b="1" i="1">
                <a:solidFill>
                  <a:srgbClr val="FF0000"/>
                </a:solidFill>
              </a:rPr>
              <a:t>Override </a:t>
            </a:r>
            <a:r>
              <a:rPr lang="en" sz="1200">
                <a:solidFill>
                  <a:srgbClr val="FF0000"/>
                </a:solidFill>
                <a:latin typeface="Courier New"/>
                <a:ea typeface="Courier New"/>
                <a:cs typeface="Courier New"/>
                <a:sym typeface="Courier New"/>
              </a:rPr>
              <a:t>toString()</a:t>
            </a:r>
            <a:r>
              <a:rPr lang="en" sz="1200"/>
              <a:t> to return a </a:t>
            </a:r>
            <a:r>
              <a:rPr lang="en" sz="1200">
                <a:latin typeface="Courier New"/>
                <a:ea typeface="Courier New"/>
                <a:cs typeface="Courier New"/>
                <a:sym typeface="Courier New"/>
              </a:rPr>
              <a:t>String</a:t>
            </a:r>
            <a:r>
              <a:rPr lang="en" sz="1200"/>
              <a:t> in the format </a:t>
            </a:r>
            <a:r>
              <a:rPr lang="en" sz="1200">
                <a:solidFill>
                  <a:srgbClr val="FF0000"/>
                </a:solidFill>
              </a:rPr>
              <a:t>"</a:t>
            </a:r>
            <a:r>
              <a:rPr lang="en" sz="1200">
                <a:solidFill>
                  <a:srgbClr val="FF0000"/>
                </a:solidFill>
                <a:latin typeface="Courier New"/>
                <a:ea typeface="Courier New"/>
                <a:cs typeface="Courier New"/>
                <a:sym typeface="Courier New"/>
              </a:rPr>
              <a:t>&lt;name&gt; $&lt;price&gt;</a:t>
            </a:r>
            <a:r>
              <a:rPr lang="en" sz="1200">
                <a:solidFill>
                  <a:srgbClr val="FF0000"/>
                </a:solidFill>
              </a:rPr>
              <a:t>"</a:t>
            </a:r>
            <a:r>
              <a:rPr lang="en" sz="1200"/>
              <a:t>, e.g. </a:t>
            </a:r>
            <a:r>
              <a:rPr lang="en" sz="1200">
                <a:latin typeface="Courier New"/>
                <a:ea typeface="Courier New"/>
                <a:cs typeface="Courier New"/>
                <a:sym typeface="Courier New"/>
              </a:rPr>
              <a:t>"Apple $1.50"</a:t>
            </a:r>
            <a:r>
              <a:rPr lang="en" sz="1200"/>
              <a:t>.</a:t>
            </a:r>
            <a:endParaRPr sz="1200"/>
          </a:p>
          <a:p>
            <a:pPr marL="914400" lvl="1" indent="-304800" algn="l" rtl="0">
              <a:spcBef>
                <a:spcPts val="0"/>
              </a:spcBef>
              <a:spcAft>
                <a:spcPts val="0"/>
              </a:spcAft>
              <a:buSzPts val="1200"/>
              <a:buChar char="○"/>
            </a:pPr>
            <a:r>
              <a:rPr lang="en" sz="1200" b="1" i="1">
                <a:solidFill>
                  <a:srgbClr val="FF0000"/>
                </a:solidFill>
              </a:rPr>
              <a:t>Implement </a:t>
            </a:r>
            <a:r>
              <a:rPr lang="en" sz="1200"/>
              <a:t>the </a:t>
            </a:r>
            <a:r>
              <a:rPr lang="en" sz="1200">
                <a:solidFill>
                  <a:srgbClr val="FF0000"/>
                </a:solidFill>
                <a:latin typeface="Courier New"/>
                <a:ea typeface="Courier New"/>
                <a:cs typeface="Courier New"/>
                <a:sym typeface="Courier New"/>
              </a:rPr>
              <a:t>Comparable</a:t>
            </a:r>
            <a:r>
              <a:rPr lang="en" sz="1200">
                <a:solidFill>
                  <a:srgbClr val="FF0000"/>
                </a:solidFill>
              </a:rPr>
              <a:t> </a:t>
            </a:r>
            <a:r>
              <a:rPr lang="en" sz="1200"/>
              <a:t>interface.</a:t>
            </a:r>
            <a:endParaRPr sz="1200"/>
          </a:p>
          <a:p>
            <a:pPr marL="1371600" lvl="2" indent="-304800" algn="l" rtl="0">
              <a:spcBef>
                <a:spcPts val="0"/>
              </a:spcBef>
              <a:spcAft>
                <a:spcPts val="0"/>
              </a:spcAft>
              <a:buSzPts val="1200"/>
              <a:buChar char="■"/>
            </a:pPr>
            <a:r>
              <a:rPr lang="en" sz="1200"/>
              <a:t>Implement the </a:t>
            </a:r>
            <a:r>
              <a:rPr lang="en" sz="1200">
                <a:latin typeface="Courier New"/>
                <a:ea typeface="Courier New"/>
                <a:cs typeface="Courier New"/>
                <a:sym typeface="Courier New"/>
              </a:rPr>
              <a:t>compareTo</a:t>
            </a:r>
            <a:r>
              <a:rPr lang="en" sz="1200"/>
              <a:t> method so that two fruits are compared by name. If two fruits have the same name, compare them by price. </a:t>
            </a:r>
            <a:endParaRPr sz="1200"/>
          </a:p>
          <a:p>
            <a:pPr marL="1371600" lvl="2" indent="-304800" algn="l" rtl="0">
              <a:spcBef>
                <a:spcPts val="0"/>
              </a:spcBef>
              <a:spcAft>
                <a:spcPts val="0"/>
              </a:spcAft>
              <a:buSzPts val="1200"/>
              <a:buChar char="■"/>
            </a:pPr>
            <a:r>
              <a:rPr lang="en" sz="1200"/>
              <a:t>Remember, </a:t>
            </a:r>
            <a:r>
              <a:rPr lang="en" sz="1200">
                <a:solidFill>
                  <a:srgbClr val="FF0000"/>
                </a:solidFill>
                <a:latin typeface="Courier New"/>
                <a:ea typeface="Courier New"/>
                <a:cs typeface="Courier New"/>
                <a:sym typeface="Courier New"/>
              </a:rPr>
              <a:t>fruit1.compareTo(fruit2)</a:t>
            </a:r>
            <a:r>
              <a:rPr lang="en" sz="1200"/>
              <a:t> should return an integer that is </a:t>
            </a:r>
            <a:r>
              <a:rPr lang="en" sz="1200">
                <a:solidFill>
                  <a:srgbClr val="FF0000"/>
                </a:solidFill>
                <a:latin typeface="Courier New"/>
                <a:ea typeface="Courier New"/>
                <a:cs typeface="Courier New"/>
                <a:sym typeface="Courier New"/>
              </a:rPr>
              <a:t>&lt;0</a:t>
            </a:r>
            <a:r>
              <a:rPr lang="en" sz="1200"/>
              <a:t> if </a:t>
            </a:r>
            <a:r>
              <a:rPr lang="en" sz="1200">
                <a:latin typeface="Courier New"/>
                <a:ea typeface="Courier New"/>
                <a:cs typeface="Courier New"/>
                <a:sym typeface="Courier New"/>
              </a:rPr>
              <a:t>fruit1</a:t>
            </a:r>
            <a:r>
              <a:rPr lang="en" sz="1200"/>
              <a:t> is first, </a:t>
            </a:r>
            <a:r>
              <a:rPr lang="en" sz="1200">
                <a:solidFill>
                  <a:srgbClr val="FF0000"/>
                </a:solidFill>
                <a:latin typeface="Courier New"/>
                <a:ea typeface="Courier New"/>
                <a:cs typeface="Courier New"/>
                <a:sym typeface="Courier New"/>
              </a:rPr>
              <a:t>0</a:t>
            </a:r>
            <a:r>
              <a:rPr lang="en" sz="1200"/>
              <a:t> if they are equal, and </a:t>
            </a:r>
            <a:r>
              <a:rPr lang="en" sz="1200">
                <a:solidFill>
                  <a:srgbClr val="FF0000"/>
                </a:solidFill>
                <a:latin typeface="Courier New"/>
                <a:ea typeface="Courier New"/>
                <a:cs typeface="Courier New"/>
                <a:sym typeface="Courier New"/>
              </a:rPr>
              <a:t>&gt;0</a:t>
            </a:r>
            <a:r>
              <a:rPr lang="en" sz="1200"/>
              <a:t> if </a:t>
            </a:r>
            <a:r>
              <a:rPr lang="en" sz="1200">
                <a:latin typeface="Courier New"/>
                <a:ea typeface="Courier New"/>
                <a:cs typeface="Courier New"/>
                <a:sym typeface="Courier New"/>
              </a:rPr>
              <a:t>fruit1</a:t>
            </a:r>
            <a:r>
              <a:rPr lang="en" sz="1200"/>
              <a:t> is second.</a:t>
            </a:r>
            <a:endParaRPr sz="1200"/>
          </a:p>
          <a:p>
            <a:pPr marL="457200" lvl="0" indent="-317500" algn="l" rtl="0">
              <a:spcBef>
                <a:spcPts val="0"/>
              </a:spcBef>
              <a:spcAft>
                <a:spcPts val="0"/>
              </a:spcAft>
              <a:buSzPts val="1400"/>
              <a:buChar char="●"/>
            </a:pPr>
            <a:r>
              <a:rPr lang="en" sz="1400"/>
              <a:t>Add a </a:t>
            </a:r>
            <a:r>
              <a:rPr lang="en" sz="1400">
                <a:latin typeface="Courier New"/>
                <a:ea typeface="Courier New"/>
                <a:cs typeface="Courier New"/>
                <a:sym typeface="Courier New"/>
              </a:rPr>
              <a:t>main</a:t>
            </a:r>
            <a:r>
              <a:rPr lang="en" sz="1400"/>
              <a:t> method with the appropriate signature.</a:t>
            </a:r>
            <a:endParaRPr sz="1400"/>
          </a:p>
          <a:p>
            <a:pPr marL="914400" lvl="1" indent="-304800" algn="l" rtl="0">
              <a:spcBef>
                <a:spcPts val="0"/>
              </a:spcBef>
              <a:spcAft>
                <a:spcPts val="0"/>
              </a:spcAft>
              <a:buSzPts val="1200"/>
              <a:buChar char="○"/>
            </a:pPr>
            <a:r>
              <a:rPr lang="en" sz="1200"/>
              <a:t>Create a </a:t>
            </a:r>
            <a:r>
              <a:rPr lang="en" sz="1200">
                <a:latin typeface="Courier New"/>
                <a:ea typeface="Courier New"/>
                <a:cs typeface="Courier New"/>
                <a:sym typeface="Courier New"/>
              </a:rPr>
              <a:t>List</a:t>
            </a:r>
            <a:r>
              <a:rPr lang="en" sz="1200"/>
              <a:t> with at least 3 fruits. Print it, sort it, and then print it again.</a:t>
            </a:r>
            <a:endParaRPr sz="1200"/>
          </a:p>
        </p:txBody>
      </p:sp>
      <p:sp>
        <p:nvSpPr>
          <p:cNvPr id="1435" name="Google Shape;1435;p11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Comparable Fruit</a:t>
            </a:r>
            <a:endParaRPr/>
          </a:p>
        </p:txBody>
      </p:sp>
      <p:sp>
        <p:nvSpPr>
          <p:cNvPr id="1436" name="Google Shape;1436;p11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6.13</a:t>
            </a:r>
            <a:endParaRPr u="sng"/>
          </a:p>
        </p:txBody>
      </p:sp>
      <p:sp>
        <p:nvSpPr>
          <p:cNvPr id="1437" name="Google Shape;1437;p111"/>
          <p:cNvSpPr txBox="1"/>
          <p:nvPr/>
        </p:nvSpPr>
        <p:spPr>
          <a:xfrm>
            <a:off x="86300" y="2735850"/>
            <a:ext cx="3270000" cy="2262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Comparable</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Alien</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seqNumber</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symbol</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4A86E8"/>
                </a:solidFill>
                <a:latin typeface="Consolas"/>
                <a:ea typeface="Consolas"/>
                <a:cs typeface="Consolas"/>
                <a:sym typeface="Consolas"/>
              </a:rPr>
              <a:t>        </a:t>
            </a:r>
            <a:r>
              <a:rPr lang="en" sz="900">
                <a:solidFill>
                  <a:srgbClr val="008000"/>
                </a:solidFill>
                <a:highlight>
                  <a:srgbClr val="FFFFFF"/>
                </a:highlight>
                <a:latin typeface="Consolas"/>
                <a:ea typeface="Consolas"/>
                <a:cs typeface="Consolas"/>
                <a:sym typeface="Consolas"/>
              </a:rPr>
              <a:t>// sort by sequence number</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other</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seqNumber</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a:t>
            </a:r>
            <a:endParaRPr sz="900">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pic>
        <p:nvPicPr>
          <p:cNvPr id="1442" name="Google Shape;1442;p112"/>
          <p:cNvPicPr preferRelativeResize="0"/>
          <p:nvPr/>
        </p:nvPicPr>
        <p:blipFill rotWithShape="1">
          <a:blip r:embed="rId3">
            <a:alphaModFix/>
          </a:blip>
          <a:srcRect t="23138" b="18358"/>
          <a:stretch/>
        </p:blipFill>
        <p:spPr>
          <a:xfrm>
            <a:off x="152400" y="1610150"/>
            <a:ext cx="2920176" cy="1708501"/>
          </a:xfrm>
          <a:prstGeom prst="rect">
            <a:avLst/>
          </a:prstGeom>
          <a:noFill/>
          <a:ln>
            <a:noFill/>
          </a:ln>
        </p:spPr>
      </p:pic>
      <p:sp>
        <p:nvSpPr>
          <p:cNvPr id="1443" name="Google Shape;1443;p112"/>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If a class does not implement </a:t>
            </a:r>
            <a:r>
              <a:rPr lang="en">
                <a:latin typeface="Courier New"/>
                <a:ea typeface="Courier New"/>
                <a:cs typeface="Courier New"/>
                <a:sym typeface="Courier New"/>
              </a:rPr>
              <a:t>Comparator</a:t>
            </a:r>
            <a:r>
              <a:rPr lang="en"/>
              <a:t> to define its own natural sorting order </a:t>
            </a:r>
            <a:r>
              <a:rPr lang="en" i="1"/>
              <a:t>or</a:t>
            </a:r>
            <a:r>
              <a:rPr lang="en"/>
              <a:t> if you need to sort objects of the class in some other way, you will need to create a </a:t>
            </a:r>
            <a:r>
              <a:rPr lang="en">
                <a:latin typeface="Courier New"/>
                <a:ea typeface="Courier New"/>
                <a:cs typeface="Courier New"/>
                <a:sym typeface="Courier New"/>
              </a:rPr>
              <a:t>Comparator</a:t>
            </a:r>
            <a:r>
              <a:rPr lang="en"/>
              <a:t> to help sort them. Practice now by defining a </a:t>
            </a:r>
            <a:r>
              <a:rPr lang="en">
                <a:latin typeface="Courier New"/>
                <a:ea typeface="Courier New"/>
                <a:cs typeface="Courier New"/>
                <a:sym typeface="Courier New"/>
              </a:rPr>
              <a:t>Comparator</a:t>
            </a:r>
            <a:r>
              <a:rPr lang="en"/>
              <a:t> that sorts fruits by price.</a:t>
            </a:r>
            <a:endParaRPr/>
          </a:p>
        </p:txBody>
      </p:sp>
      <p:sp>
        <p:nvSpPr>
          <p:cNvPr id="1444" name="Google Shape;1444;p1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
        <p:nvSpPr>
          <p:cNvPr id="1445" name="Google Shape;1445;p112"/>
          <p:cNvSpPr txBox="1">
            <a:spLocks noGrp="1"/>
          </p:cNvSpPr>
          <p:nvPr>
            <p:ph type="body" idx="2"/>
          </p:nvPr>
        </p:nvSpPr>
        <p:spPr>
          <a:xfrm>
            <a:off x="3300400" y="1708325"/>
            <a:ext cx="5564400" cy="32169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Create a new Java class named "</a:t>
            </a:r>
            <a:r>
              <a:rPr lang="en" sz="1500">
                <a:solidFill>
                  <a:srgbClr val="FF0000"/>
                </a:solidFill>
                <a:latin typeface="Courier New"/>
                <a:ea typeface="Courier New"/>
                <a:cs typeface="Courier New"/>
                <a:sym typeface="Courier New"/>
              </a:rPr>
              <a:t>FruitComparator</a:t>
            </a:r>
            <a:r>
              <a:rPr lang="en" sz="1500"/>
              <a:t>".</a:t>
            </a:r>
            <a:endParaRPr sz="1500"/>
          </a:p>
          <a:p>
            <a:pPr marL="914400" lvl="1" indent="-311150" algn="l" rtl="0">
              <a:spcBef>
                <a:spcPts val="0"/>
              </a:spcBef>
              <a:spcAft>
                <a:spcPts val="0"/>
              </a:spcAft>
              <a:buSzPts val="1300"/>
              <a:buChar char="○"/>
            </a:pPr>
            <a:r>
              <a:rPr lang="en" sz="1300" b="1" i="1">
                <a:solidFill>
                  <a:srgbClr val="FF0000"/>
                </a:solidFill>
              </a:rPr>
              <a:t>Implement </a:t>
            </a:r>
            <a:r>
              <a:rPr lang="en" sz="1300"/>
              <a:t>the </a:t>
            </a:r>
            <a:r>
              <a:rPr lang="en" sz="1300">
                <a:solidFill>
                  <a:srgbClr val="FF0000"/>
                </a:solidFill>
                <a:latin typeface="Courier New"/>
                <a:ea typeface="Courier New"/>
                <a:cs typeface="Courier New"/>
                <a:sym typeface="Courier New"/>
              </a:rPr>
              <a:t>Comparator</a:t>
            </a:r>
            <a:r>
              <a:rPr lang="en" sz="1300">
                <a:solidFill>
                  <a:srgbClr val="FF0000"/>
                </a:solidFill>
              </a:rPr>
              <a:t> </a:t>
            </a:r>
            <a:r>
              <a:rPr lang="en" sz="1300"/>
              <a:t>interface.</a:t>
            </a:r>
            <a:endParaRPr sz="1300"/>
          </a:p>
          <a:p>
            <a:pPr marL="1371600" lvl="2" indent="-311150" algn="l" rtl="0">
              <a:spcBef>
                <a:spcPts val="0"/>
              </a:spcBef>
              <a:spcAft>
                <a:spcPts val="0"/>
              </a:spcAft>
              <a:buSzPts val="1300"/>
              <a:buChar char="■"/>
            </a:pPr>
            <a:r>
              <a:rPr lang="en" sz="1300"/>
              <a:t>Specify </a:t>
            </a:r>
            <a:r>
              <a:rPr lang="en" sz="1300">
                <a:latin typeface="Courier New"/>
                <a:ea typeface="Courier New"/>
                <a:cs typeface="Courier New"/>
                <a:sym typeface="Courier New"/>
              </a:rPr>
              <a:t>Fruit</a:t>
            </a:r>
            <a:r>
              <a:rPr lang="en" sz="1300"/>
              <a:t> as the comparable type. Both parameters to the </a:t>
            </a:r>
            <a:r>
              <a:rPr lang="en" sz="1300">
                <a:latin typeface="Courier New"/>
                <a:ea typeface="Courier New"/>
                <a:cs typeface="Courier New"/>
                <a:sym typeface="Courier New"/>
              </a:rPr>
              <a:t>compare(T o1,</a:t>
            </a:r>
            <a:r>
              <a:rPr lang="en" sz="1300">
                <a:latin typeface="Arial"/>
                <a:ea typeface="Arial"/>
                <a:cs typeface="Arial"/>
                <a:sym typeface="Arial"/>
              </a:rPr>
              <a:t> </a:t>
            </a:r>
            <a:r>
              <a:rPr lang="en" sz="1300">
                <a:latin typeface="Courier New"/>
                <a:ea typeface="Courier New"/>
                <a:cs typeface="Courier New"/>
                <a:sym typeface="Courier New"/>
              </a:rPr>
              <a:t>T o2)</a:t>
            </a:r>
            <a:r>
              <a:rPr lang="en" sz="1300"/>
              <a:t> should therefore also be </a:t>
            </a:r>
            <a:r>
              <a:rPr lang="en" sz="1300">
                <a:latin typeface="Courier New"/>
                <a:ea typeface="Courier New"/>
                <a:cs typeface="Courier New"/>
                <a:sym typeface="Courier New"/>
              </a:rPr>
              <a:t>Fruit</a:t>
            </a:r>
            <a:r>
              <a:rPr lang="en" sz="1300"/>
              <a:t>.</a:t>
            </a:r>
            <a:endParaRPr sz="1300"/>
          </a:p>
          <a:p>
            <a:pPr marL="1371600" lvl="2" indent="-311150" algn="l" rtl="0">
              <a:spcBef>
                <a:spcPts val="0"/>
              </a:spcBef>
              <a:spcAft>
                <a:spcPts val="0"/>
              </a:spcAft>
              <a:buSzPts val="1300"/>
              <a:buChar char="■"/>
            </a:pPr>
            <a:r>
              <a:rPr lang="en" sz="1300"/>
              <a:t>Compare two Fruit by </a:t>
            </a:r>
            <a:r>
              <a:rPr lang="en" sz="1300" b="1" i="1">
                <a:solidFill>
                  <a:srgbClr val="FF0000"/>
                </a:solidFill>
              </a:rPr>
              <a:t>price</a:t>
            </a:r>
            <a:r>
              <a:rPr lang="en" sz="1300">
                <a:solidFill>
                  <a:srgbClr val="FF0000"/>
                </a:solidFill>
              </a:rPr>
              <a:t> </a:t>
            </a:r>
            <a:r>
              <a:rPr lang="en" sz="1300"/>
              <a:t>and then </a:t>
            </a:r>
            <a:r>
              <a:rPr lang="en" sz="1300" b="1" i="1">
                <a:solidFill>
                  <a:srgbClr val="FF0000"/>
                </a:solidFill>
              </a:rPr>
              <a:t>name</a:t>
            </a:r>
            <a:r>
              <a:rPr lang="en" sz="1300"/>
              <a:t>.</a:t>
            </a:r>
            <a:endParaRPr sz="1300"/>
          </a:p>
          <a:p>
            <a:pPr marL="1371600" lvl="2" indent="-311150" algn="l" rtl="0">
              <a:spcBef>
                <a:spcPts val="0"/>
              </a:spcBef>
              <a:spcAft>
                <a:spcPts val="0"/>
              </a:spcAft>
              <a:buSzPts val="1300"/>
              <a:buChar char="■"/>
            </a:pPr>
            <a:r>
              <a:rPr lang="en" sz="1300"/>
              <a:t>Remember, </a:t>
            </a:r>
            <a:r>
              <a:rPr lang="en" sz="1300">
                <a:solidFill>
                  <a:srgbClr val="FF0000"/>
                </a:solidFill>
                <a:latin typeface="Courier New"/>
                <a:ea typeface="Courier New"/>
                <a:cs typeface="Courier New"/>
                <a:sym typeface="Courier New"/>
              </a:rPr>
              <a:t>comp.compare(fruit1,</a:t>
            </a:r>
            <a:r>
              <a:rPr lang="en" sz="1300">
                <a:solidFill>
                  <a:srgbClr val="FF0000"/>
                </a:solidFill>
                <a:latin typeface="Arial"/>
                <a:ea typeface="Arial"/>
                <a:cs typeface="Arial"/>
                <a:sym typeface="Arial"/>
              </a:rPr>
              <a:t> </a:t>
            </a:r>
            <a:r>
              <a:rPr lang="en" sz="1300">
                <a:solidFill>
                  <a:srgbClr val="FF0000"/>
                </a:solidFill>
                <a:latin typeface="Courier New"/>
                <a:ea typeface="Courier New"/>
                <a:cs typeface="Courier New"/>
                <a:sym typeface="Courier New"/>
              </a:rPr>
              <a:t>fruit2)</a:t>
            </a:r>
            <a:r>
              <a:rPr lang="en" sz="1300"/>
              <a:t> should return an integer that is </a:t>
            </a:r>
            <a:r>
              <a:rPr lang="en" sz="1300">
                <a:solidFill>
                  <a:srgbClr val="FF0000"/>
                </a:solidFill>
                <a:latin typeface="Courier New"/>
                <a:ea typeface="Courier New"/>
                <a:cs typeface="Courier New"/>
                <a:sym typeface="Courier New"/>
              </a:rPr>
              <a:t>&lt;0</a:t>
            </a:r>
            <a:r>
              <a:rPr lang="en" sz="1300"/>
              <a:t> if </a:t>
            </a:r>
            <a:r>
              <a:rPr lang="en" sz="1300">
                <a:latin typeface="Courier New"/>
                <a:ea typeface="Courier New"/>
                <a:cs typeface="Courier New"/>
                <a:sym typeface="Courier New"/>
              </a:rPr>
              <a:t>fruit1</a:t>
            </a:r>
            <a:r>
              <a:rPr lang="en" sz="1300"/>
              <a:t> is first, </a:t>
            </a:r>
            <a:r>
              <a:rPr lang="en" sz="1300">
                <a:solidFill>
                  <a:srgbClr val="FF0000"/>
                </a:solidFill>
                <a:latin typeface="Courier New"/>
                <a:ea typeface="Courier New"/>
                <a:cs typeface="Courier New"/>
                <a:sym typeface="Courier New"/>
              </a:rPr>
              <a:t>0</a:t>
            </a:r>
            <a:r>
              <a:rPr lang="en" sz="1300"/>
              <a:t> if they are equal, and </a:t>
            </a:r>
            <a:r>
              <a:rPr lang="en" sz="1300">
                <a:solidFill>
                  <a:srgbClr val="FF0000"/>
                </a:solidFill>
                <a:latin typeface="Courier New"/>
                <a:ea typeface="Courier New"/>
                <a:cs typeface="Courier New"/>
                <a:sym typeface="Courier New"/>
              </a:rPr>
              <a:t>&gt;0</a:t>
            </a:r>
            <a:r>
              <a:rPr lang="en" sz="1300"/>
              <a:t> if </a:t>
            </a:r>
            <a:r>
              <a:rPr lang="en" sz="1300">
                <a:latin typeface="Courier New"/>
                <a:ea typeface="Courier New"/>
                <a:cs typeface="Courier New"/>
                <a:sym typeface="Courier New"/>
              </a:rPr>
              <a:t>fruit1</a:t>
            </a:r>
            <a:r>
              <a:rPr lang="en" sz="1300"/>
              <a:t> is second.</a:t>
            </a:r>
            <a:endParaRPr sz="1300"/>
          </a:p>
          <a:p>
            <a:pPr marL="457200" lvl="0" indent="-323850" algn="l" rtl="0">
              <a:spcBef>
                <a:spcPts val="0"/>
              </a:spcBef>
              <a:spcAft>
                <a:spcPts val="0"/>
              </a:spcAft>
              <a:buSzPts val="1500"/>
              <a:buChar char="●"/>
            </a:pPr>
            <a:r>
              <a:rPr lang="en" sz="1500"/>
              <a:t>Add a </a:t>
            </a:r>
            <a:r>
              <a:rPr lang="en" sz="1500">
                <a:latin typeface="Courier New"/>
                <a:ea typeface="Courier New"/>
                <a:cs typeface="Courier New"/>
                <a:sym typeface="Courier New"/>
              </a:rPr>
              <a:t>main</a:t>
            </a:r>
            <a:r>
              <a:rPr lang="en" sz="1500"/>
              <a:t> method with the appropriate signature.</a:t>
            </a:r>
            <a:endParaRPr sz="1500"/>
          </a:p>
          <a:p>
            <a:pPr marL="914400" lvl="1" indent="-311150" algn="l" rtl="0">
              <a:spcBef>
                <a:spcPts val="0"/>
              </a:spcBef>
              <a:spcAft>
                <a:spcPts val="0"/>
              </a:spcAft>
              <a:buSzPts val="1300"/>
              <a:buChar char="○"/>
            </a:pPr>
            <a:r>
              <a:rPr lang="en" sz="1300"/>
              <a:t>Create a Java </a:t>
            </a:r>
            <a:r>
              <a:rPr lang="en" sz="1300">
                <a:latin typeface="Courier New"/>
                <a:ea typeface="Courier New"/>
                <a:cs typeface="Courier New"/>
                <a:sym typeface="Courier New"/>
              </a:rPr>
              <a:t>List</a:t>
            </a:r>
            <a:r>
              <a:rPr lang="en" sz="1300"/>
              <a:t> that contains at least 3 different fruit. Print if, use the </a:t>
            </a:r>
            <a:r>
              <a:rPr lang="en" sz="1300">
                <a:latin typeface="Courier New"/>
                <a:ea typeface="Courier New"/>
                <a:cs typeface="Courier New"/>
                <a:sym typeface="Courier New"/>
              </a:rPr>
              <a:t>FruitComparator</a:t>
            </a:r>
            <a:r>
              <a:rPr lang="en" sz="1300"/>
              <a:t> to sort it, and then print it again.</a:t>
            </a:r>
            <a:endParaRPr sz="1300"/>
          </a:p>
        </p:txBody>
      </p:sp>
      <p:sp>
        <p:nvSpPr>
          <p:cNvPr id="1446" name="Google Shape;1446;p11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Fruit Comparator</a:t>
            </a:r>
            <a:endParaRPr/>
          </a:p>
        </p:txBody>
      </p:sp>
      <p:sp>
        <p:nvSpPr>
          <p:cNvPr id="1447" name="Google Shape;1447;p11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6.14</a:t>
            </a:r>
            <a:endParaRPr u="sng"/>
          </a:p>
        </p:txBody>
      </p:sp>
      <p:sp>
        <p:nvSpPr>
          <p:cNvPr id="1448" name="Google Shape;1448;p112"/>
          <p:cNvSpPr txBox="1"/>
          <p:nvPr/>
        </p:nvSpPr>
        <p:spPr>
          <a:xfrm>
            <a:off x="83125" y="3347200"/>
            <a:ext cx="3011400" cy="1708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AlienComp</a:t>
            </a:r>
            <a:r>
              <a:rPr lang="en" sz="900">
                <a:latin typeface="Consolas"/>
                <a:ea typeface="Consolas"/>
                <a:cs typeface="Consolas"/>
                <a:sym typeface="Consolas"/>
              </a:rPr>
              <a:t> </a:t>
            </a:r>
            <a:endParaRPr sz="900">
              <a:latin typeface="Consolas"/>
              <a:ea typeface="Consolas"/>
              <a:cs typeface="Consolas"/>
              <a:sym typeface="Consolas"/>
            </a:endParaRPr>
          </a:p>
          <a:p>
            <a:pPr marL="0" lvl="0" indent="457200" algn="l" rtl="0">
              <a:lnSpc>
                <a:spcPct val="100000"/>
              </a:lnSpc>
              <a:spcBef>
                <a:spcPts val="0"/>
              </a:spcBef>
              <a:spcAft>
                <a:spcPts val="0"/>
              </a:spcAft>
              <a:buNone/>
            </a:pPr>
            <a:r>
              <a:rPr lang="en" sz="900">
                <a:solidFill>
                  <a:srgbClr val="0000FF"/>
                </a:solidFill>
                <a:latin typeface="Consolas"/>
                <a:ea typeface="Consolas"/>
                <a:cs typeface="Consolas"/>
                <a:sym typeface="Consolas"/>
              </a:rPr>
              <a:t>implements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Comparator</a:t>
            </a:r>
            <a:r>
              <a:rPr lang="en" sz="900">
                <a:latin typeface="Consolas"/>
                <a:ea typeface="Consolas"/>
                <a:cs typeface="Consolas"/>
                <a:sym typeface="Consolas"/>
              </a:rPr>
              <a:t>&lt;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&gt; {</a:t>
            </a:r>
            <a:endParaRPr sz="900">
              <a:latin typeface="Consolas"/>
              <a:ea typeface="Consolas"/>
              <a:cs typeface="Consolas"/>
              <a:sym typeface="Consolas"/>
            </a:endParaRPr>
          </a:p>
          <a:p>
            <a:pPr marL="0" lvl="0" indent="0" algn="l" rtl="0">
              <a:spcBef>
                <a:spcPts val="0"/>
              </a:spcBef>
              <a:spcAft>
                <a:spcPts val="0"/>
              </a:spcAft>
              <a:buNone/>
            </a:pP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Override</a:t>
            </a:r>
            <a:endParaRPr sz="9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compare</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Alien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o2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getSymbol</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sym1</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marL="457200" lvl="0" indent="457200" algn="l" rtl="0">
              <a:lnSpc>
                <a:spcPct val="100000"/>
              </a:lnSpc>
              <a:spcBef>
                <a:spcPts val="0"/>
              </a:spcBef>
              <a:spcAft>
                <a:spcPts val="0"/>
              </a:spcAft>
              <a:buNone/>
            </a:pPr>
            <a:r>
              <a:rPr lang="en" sz="900">
                <a:solidFill>
                  <a:srgbClr val="795E26"/>
                </a:solidFill>
                <a:latin typeface="Consolas"/>
                <a:ea typeface="Consolas"/>
                <a:cs typeface="Consolas"/>
                <a:sym typeface="Consolas"/>
              </a:rPr>
              <a:t>compareTo</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sym2</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toLowerCase</a:t>
            </a:r>
            <a:r>
              <a:rPr lang="en" sz="900">
                <a:latin typeface="Consolas"/>
                <a:ea typeface="Consolas"/>
                <a:cs typeface="Consolas"/>
                <a:sym typeface="Consolas"/>
              </a:rPr>
              <a:t>());</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    } </a:t>
            </a:r>
            <a:endParaRPr sz="900">
              <a:latin typeface="Consolas"/>
              <a:ea typeface="Consolas"/>
              <a:cs typeface="Consolas"/>
              <a:sym typeface="Consolas"/>
            </a:endParaRPr>
          </a:p>
          <a:p>
            <a:pPr marL="0" lvl="0" indent="0" algn="l" rtl="0">
              <a:lnSpc>
                <a:spcPct val="100000"/>
              </a:lnSpc>
              <a:spcBef>
                <a:spcPts val="0"/>
              </a:spcBef>
              <a:spcAft>
                <a:spcPts val="0"/>
              </a:spcAft>
              <a:buNone/>
            </a:pPr>
            <a:r>
              <a:rPr lang="en" sz="900">
                <a:latin typeface="Consolas"/>
                <a:ea typeface="Consolas"/>
                <a:cs typeface="Consolas"/>
                <a:sym typeface="Consolas"/>
              </a:rPr>
              <a:t>}</a:t>
            </a:r>
            <a:endParaRPr sz="900">
              <a:solidFill>
                <a:srgbClr val="4A86E8"/>
              </a:solidFill>
              <a:latin typeface="Consolas"/>
              <a:ea typeface="Consolas"/>
              <a:cs typeface="Consolas"/>
              <a:sym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452"/>
        <p:cNvGrpSpPr/>
        <p:nvPr/>
      </p:nvGrpSpPr>
      <p:grpSpPr>
        <a:xfrm>
          <a:off x="0" y="0"/>
          <a:ext cx="0" cy="0"/>
          <a:chOff x="0" y="0"/>
          <a:chExt cx="0" cy="0"/>
        </a:xfrm>
      </p:grpSpPr>
      <p:sp>
        <p:nvSpPr>
          <p:cNvPr id="1453" name="Google Shape;1453;p113"/>
          <p:cNvSpPr txBox="1">
            <a:spLocks noGrp="1"/>
          </p:cNvSpPr>
          <p:nvPr>
            <p:ph type="title"/>
          </p:nvPr>
        </p:nvSpPr>
        <p:spPr>
          <a:xfrm>
            <a:off x="51123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Heaps</a:t>
            </a:r>
            <a:endParaRPr/>
          </a:p>
        </p:txBody>
      </p:sp>
      <p:sp>
        <p:nvSpPr>
          <p:cNvPr id="1454" name="Google Shape;1454;p113"/>
          <p:cNvSpPr txBox="1">
            <a:spLocks noGrp="1"/>
          </p:cNvSpPr>
          <p:nvPr>
            <p:ph type="body" idx="1"/>
          </p:nvPr>
        </p:nvSpPr>
        <p:spPr>
          <a:xfrm>
            <a:off x="301275" y="119925"/>
            <a:ext cx="4477500" cy="4869000"/>
          </a:xfrm>
          <a:prstGeom prst="rect">
            <a:avLst/>
          </a:prstGeom>
        </p:spPr>
        <p:txBody>
          <a:bodyPr spcFirstLastPara="1" wrap="square" lIns="91425" tIns="91425" rIns="91425" bIns="91425" anchor="ctr" anchorCtr="0">
            <a:spAutoFit/>
          </a:bodyPr>
          <a:lstStyle/>
          <a:p>
            <a:pPr marL="457200" marR="0" lvl="0" indent="-311150" algn="l" rtl="0">
              <a:lnSpc>
                <a:spcPct val="100000"/>
              </a:lnSpc>
              <a:spcBef>
                <a:spcPts val="0"/>
              </a:spcBef>
              <a:spcAft>
                <a:spcPts val="0"/>
              </a:spcAft>
              <a:buSzPts val="1300"/>
              <a:buFont typeface="Arial"/>
              <a:buChar char="●"/>
            </a:pPr>
            <a:r>
              <a:rPr lang="en" dirty="0">
                <a:highlight>
                  <a:srgbClr val="FFFF00"/>
                </a:highlight>
              </a:rPr>
              <a:t>A </a:t>
            </a:r>
            <a:r>
              <a:rPr lang="en" b="1" i="1" dirty="0">
                <a:solidFill>
                  <a:srgbClr val="FF0000"/>
                </a:solidFill>
                <a:highlight>
                  <a:srgbClr val="FFFF00"/>
                </a:highlight>
              </a:rPr>
              <a:t>heap</a:t>
            </a:r>
            <a:r>
              <a:rPr lang="en" dirty="0">
                <a:highlight>
                  <a:srgbClr val="FFFF00"/>
                </a:highlight>
              </a:rPr>
              <a:t> is a</a:t>
            </a:r>
            <a:r>
              <a:rPr lang="en" dirty="0">
                <a:solidFill>
                  <a:srgbClr val="FF0000"/>
                </a:solidFill>
                <a:highlight>
                  <a:srgbClr val="FFFF00"/>
                </a:highlight>
              </a:rPr>
              <a:t> </a:t>
            </a:r>
            <a:r>
              <a:rPr lang="en" b="1" i="1" dirty="0">
                <a:solidFill>
                  <a:srgbClr val="FF0000"/>
                </a:solidFill>
                <a:highlight>
                  <a:srgbClr val="FFFF00"/>
                </a:highlight>
              </a:rPr>
              <a:t>another kind</a:t>
            </a:r>
            <a:r>
              <a:rPr lang="en" dirty="0">
                <a:highlight>
                  <a:srgbClr val="FFFF00"/>
                </a:highlight>
              </a:rPr>
              <a:t> of binary tree that is similar to a binary search tree.</a:t>
            </a:r>
            <a:endParaRPr dirty="0">
              <a:highlight>
                <a:srgbClr val="FFFF00"/>
              </a:highlight>
            </a:endParaRPr>
          </a:p>
          <a:p>
            <a:pPr marL="457200" marR="0" lvl="0" indent="-311150" algn="l" rtl="0">
              <a:lnSpc>
                <a:spcPct val="100000"/>
              </a:lnSpc>
              <a:spcBef>
                <a:spcPts val="1000"/>
              </a:spcBef>
              <a:spcAft>
                <a:spcPts val="0"/>
              </a:spcAft>
              <a:buSzPts val="1300"/>
              <a:buChar char="●"/>
            </a:pPr>
            <a:r>
              <a:rPr lang="en" dirty="0"/>
              <a:t>Each node in the heap has a value that is an </a:t>
            </a:r>
            <a:r>
              <a:rPr lang="en" b="1" i="1" dirty="0">
                <a:solidFill>
                  <a:srgbClr val="FF0000"/>
                </a:solidFill>
                <a:highlight>
                  <a:srgbClr val="FFFF00"/>
                </a:highlight>
              </a:rPr>
              <a:t>equal or lower priority</a:t>
            </a:r>
            <a:r>
              <a:rPr lang="en" dirty="0">
                <a:highlight>
                  <a:srgbClr val="FFFF00"/>
                </a:highlight>
              </a:rPr>
              <a:t> </a:t>
            </a:r>
            <a:r>
              <a:rPr lang="en" dirty="0"/>
              <a:t>than the value of its </a:t>
            </a:r>
            <a:r>
              <a:rPr lang="en" b="1" i="1" dirty="0">
                <a:solidFill>
                  <a:srgbClr val="FF0000"/>
                </a:solidFill>
              </a:rPr>
              <a:t>parent</a:t>
            </a:r>
            <a:r>
              <a:rPr lang="en" dirty="0"/>
              <a:t>.</a:t>
            </a:r>
            <a:endParaRPr dirty="0"/>
          </a:p>
          <a:p>
            <a:pPr marL="914400" marR="0" lvl="1" indent="-298450" algn="l" rtl="0">
              <a:lnSpc>
                <a:spcPct val="100000"/>
              </a:lnSpc>
              <a:spcBef>
                <a:spcPts val="0"/>
              </a:spcBef>
              <a:spcAft>
                <a:spcPts val="0"/>
              </a:spcAft>
              <a:buSzPts val="1100"/>
              <a:buChar char="○"/>
            </a:pPr>
            <a:r>
              <a:rPr lang="en" dirty="0"/>
              <a:t>The exception is the </a:t>
            </a:r>
            <a:r>
              <a:rPr lang="en" dirty="0">
                <a:solidFill>
                  <a:srgbClr val="FF0000"/>
                </a:solidFill>
                <a:highlight>
                  <a:srgbClr val="FFFF00"/>
                </a:highlight>
              </a:rPr>
              <a:t>root</a:t>
            </a:r>
            <a:r>
              <a:rPr lang="en" dirty="0"/>
              <a:t>, which has no parent and always contains the </a:t>
            </a:r>
            <a:r>
              <a:rPr lang="en" b="1" i="1" dirty="0">
                <a:solidFill>
                  <a:srgbClr val="FF0000"/>
                </a:solidFill>
                <a:highlight>
                  <a:srgbClr val="FFFF00"/>
                </a:highlight>
              </a:rPr>
              <a:t>highest priority</a:t>
            </a:r>
            <a:r>
              <a:rPr lang="en" dirty="0">
                <a:solidFill>
                  <a:srgbClr val="E06666"/>
                </a:solidFill>
                <a:highlight>
                  <a:srgbClr val="FFFF00"/>
                </a:highlight>
              </a:rPr>
              <a:t> </a:t>
            </a:r>
            <a:r>
              <a:rPr lang="en" dirty="0"/>
              <a:t>value.</a:t>
            </a:r>
            <a:endParaRPr dirty="0"/>
          </a:p>
          <a:p>
            <a:pPr marL="457200" marR="0" lvl="0" indent="-311150" algn="l" rtl="0">
              <a:lnSpc>
                <a:spcPct val="100000"/>
              </a:lnSpc>
              <a:spcBef>
                <a:spcPts val="1000"/>
              </a:spcBef>
              <a:spcAft>
                <a:spcPts val="0"/>
              </a:spcAft>
              <a:buSzPts val="1300"/>
              <a:buChar char="●"/>
            </a:pPr>
            <a:r>
              <a:rPr lang="en" dirty="0"/>
              <a:t>The </a:t>
            </a:r>
            <a:r>
              <a:rPr lang="en" b="1" i="1" dirty="0">
                <a:solidFill>
                  <a:srgbClr val="FF0000"/>
                </a:solidFill>
              </a:rPr>
              <a:t>horizontal</a:t>
            </a:r>
            <a:r>
              <a:rPr lang="en" dirty="0">
                <a:solidFill>
                  <a:srgbClr val="FF0000"/>
                </a:solidFill>
              </a:rPr>
              <a:t> </a:t>
            </a:r>
            <a:r>
              <a:rPr lang="en" dirty="0"/>
              <a:t>order of the nodes (i.e. from left to right) is </a:t>
            </a:r>
            <a:r>
              <a:rPr lang="en" b="1" i="1" dirty="0">
                <a:solidFill>
                  <a:srgbClr val="FF0000"/>
                </a:solidFill>
              </a:rPr>
              <a:t>arbitrary</a:t>
            </a:r>
            <a:r>
              <a:rPr lang="en" dirty="0"/>
              <a:t>.</a:t>
            </a:r>
            <a:endParaRPr dirty="0"/>
          </a:p>
          <a:p>
            <a:pPr marL="914400" marR="0" lvl="1" indent="-298450" algn="l" rtl="0">
              <a:lnSpc>
                <a:spcPct val="100000"/>
              </a:lnSpc>
              <a:spcBef>
                <a:spcPts val="0"/>
              </a:spcBef>
              <a:spcAft>
                <a:spcPts val="0"/>
              </a:spcAft>
              <a:buSzPts val="1100"/>
              <a:buChar char="○"/>
            </a:pPr>
            <a:r>
              <a:rPr lang="en" dirty="0"/>
              <a:t>In other words, </a:t>
            </a:r>
            <a:r>
              <a:rPr lang="en" dirty="0">
                <a:highlight>
                  <a:srgbClr val="FFFF00"/>
                </a:highlight>
              </a:rPr>
              <a:t>there is no horizontal relationship </a:t>
            </a:r>
            <a:r>
              <a:rPr lang="en" dirty="0"/>
              <a:t>between nodes; the left</a:t>
            </a:r>
            <a:r>
              <a:rPr lang="en" dirty="0">
                <a:solidFill>
                  <a:srgbClr val="FF0000"/>
                </a:solidFill>
              </a:rPr>
              <a:t> </a:t>
            </a:r>
            <a:r>
              <a:rPr lang="en" b="1" i="1" dirty="0">
                <a:solidFill>
                  <a:srgbClr val="FF0000"/>
                </a:solidFill>
              </a:rPr>
              <a:t>or</a:t>
            </a:r>
            <a:r>
              <a:rPr lang="en" dirty="0">
                <a:solidFill>
                  <a:srgbClr val="E06666"/>
                </a:solidFill>
              </a:rPr>
              <a:t> </a:t>
            </a:r>
            <a:r>
              <a:rPr lang="en" dirty="0"/>
              <a:t>the right child may be higher priority.</a:t>
            </a:r>
            <a:endParaRPr dirty="0"/>
          </a:p>
          <a:p>
            <a:pPr marL="457200" marR="0" lvl="0" indent="-311150" algn="l" rtl="0">
              <a:lnSpc>
                <a:spcPct val="100000"/>
              </a:lnSpc>
              <a:spcBef>
                <a:spcPts val="1000"/>
              </a:spcBef>
              <a:spcAft>
                <a:spcPts val="0"/>
              </a:spcAft>
              <a:buSzPts val="1300"/>
              <a:buChar char="●"/>
            </a:pPr>
            <a:r>
              <a:rPr lang="en" b="1" i="1" dirty="0">
                <a:solidFill>
                  <a:srgbClr val="FF0000"/>
                </a:solidFill>
              </a:rPr>
              <a:t>Priority</a:t>
            </a:r>
            <a:r>
              <a:rPr lang="en" dirty="0">
                <a:solidFill>
                  <a:srgbClr val="FF0000"/>
                </a:solidFill>
              </a:rPr>
              <a:t> </a:t>
            </a:r>
            <a:r>
              <a:rPr lang="en" dirty="0"/>
              <a:t>is determined by the specific problem statement.</a:t>
            </a:r>
            <a:endParaRPr dirty="0"/>
          </a:p>
          <a:p>
            <a:pPr marL="914400" marR="0" lvl="1" indent="-298450" algn="l" rtl="0">
              <a:lnSpc>
                <a:spcPct val="100000"/>
              </a:lnSpc>
              <a:spcBef>
                <a:spcPts val="0"/>
              </a:spcBef>
              <a:spcAft>
                <a:spcPts val="0"/>
              </a:spcAft>
              <a:buSzPts val="1100"/>
              <a:buChar char="○"/>
            </a:pPr>
            <a:r>
              <a:rPr lang="en" dirty="0"/>
              <a:t>It is up to the programmer to decide what "highest priority" means, especially when dealing with non-numerical data.</a:t>
            </a:r>
            <a:endParaRPr dirty="0"/>
          </a:p>
          <a:p>
            <a:pPr marL="457200" marR="0" lvl="0" indent="-311150" algn="l" rtl="0">
              <a:lnSpc>
                <a:spcPct val="100000"/>
              </a:lnSpc>
              <a:spcBef>
                <a:spcPts val="1000"/>
              </a:spcBef>
              <a:spcAft>
                <a:spcPts val="0"/>
              </a:spcAft>
              <a:buSzPts val="1300"/>
              <a:buChar char="●"/>
            </a:pPr>
            <a:r>
              <a:rPr lang="en" dirty="0"/>
              <a:t>A heap can be organized in one of two ways.</a:t>
            </a:r>
            <a:endParaRPr dirty="0"/>
          </a:p>
          <a:p>
            <a:pPr marL="914400" marR="0" lvl="1" indent="-298450" algn="l" rtl="0">
              <a:lnSpc>
                <a:spcPct val="100000"/>
              </a:lnSpc>
              <a:spcBef>
                <a:spcPts val="0"/>
              </a:spcBef>
              <a:spcAft>
                <a:spcPts val="0"/>
              </a:spcAft>
              <a:buSzPts val="1100"/>
              <a:buChar char="○"/>
            </a:pPr>
            <a:r>
              <a:rPr lang="en" dirty="0"/>
              <a:t>A</a:t>
            </a:r>
            <a:r>
              <a:rPr lang="en" dirty="0">
                <a:solidFill>
                  <a:srgbClr val="FF0000"/>
                </a:solidFill>
              </a:rPr>
              <a:t> </a:t>
            </a:r>
            <a:r>
              <a:rPr lang="en" b="1" i="1" dirty="0">
                <a:solidFill>
                  <a:srgbClr val="FF0000"/>
                </a:solidFill>
              </a:rPr>
              <a:t>min-heap</a:t>
            </a:r>
            <a:r>
              <a:rPr lang="en" dirty="0"/>
              <a:t> organizes values from </a:t>
            </a:r>
            <a:r>
              <a:rPr lang="en" b="1" i="1" dirty="0">
                <a:solidFill>
                  <a:srgbClr val="FF0000"/>
                </a:solidFill>
              </a:rPr>
              <a:t>smallest to largest</a:t>
            </a:r>
            <a:r>
              <a:rPr lang="en" dirty="0"/>
              <a:t>, and so the root will always have the </a:t>
            </a:r>
            <a:r>
              <a:rPr lang="en" b="1" i="1" dirty="0">
                <a:solidFill>
                  <a:srgbClr val="FF0000"/>
                </a:solidFill>
              </a:rPr>
              <a:t>smallest value</a:t>
            </a:r>
            <a:r>
              <a:rPr lang="en" dirty="0"/>
              <a:t> in the heap.</a:t>
            </a:r>
            <a:endParaRPr dirty="0"/>
          </a:p>
          <a:p>
            <a:pPr marL="914400" marR="0" lvl="1" indent="-298450" algn="l" rtl="0">
              <a:lnSpc>
                <a:spcPct val="100000"/>
              </a:lnSpc>
              <a:spcBef>
                <a:spcPts val="0"/>
              </a:spcBef>
              <a:spcAft>
                <a:spcPts val="0"/>
              </a:spcAft>
              <a:buSzPts val="1100"/>
              <a:buChar char="○"/>
            </a:pPr>
            <a:r>
              <a:rPr lang="en" dirty="0"/>
              <a:t>A </a:t>
            </a:r>
            <a:r>
              <a:rPr lang="en" b="1" i="1" dirty="0">
                <a:solidFill>
                  <a:srgbClr val="FF0000"/>
                </a:solidFill>
              </a:rPr>
              <a:t>max-heap</a:t>
            </a:r>
            <a:r>
              <a:rPr lang="en" dirty="0"/>
              <a:t> organizes values from </a:t>
            </a:r>
            <a:r>
              <a:rPr lang="en" b="1" i="1" dirty="0">
                <a:solidFill>
                  <a:srgbClr val="FF0000"/>
                </a:solidFill>
              </a:rPr>
              <a:t>largest to smallest</a:t>
            </a:r>
            <a:r>
              <a:rPr lang="en" dirty="0"/>
              <a:t>, and so the root will always have the </a:t>
            </a:r>
            <a:r>
              <a:rPr lang="en" b="1" i="1" dirty="0"/>
              <a:t> </a:t>
            </a:r>
            <a:r>
              <a:rPr lang="en" b="1" i="1" dirty="0">
                <a:solidFill>
                  <a:srgbClr val="FF0000"/>
                </a:solidFill>
              </a:rPr>
              <a:t>largest</a:t>
            </a:r>
            <a:r>
              <a:rPr lang="en" dirty="0"/>
              <a:t> value in the heap.</a:t>
            </a:r>
            <a:endParaRPr dirty="0"/>
          </a:p>
        </p:txBody>
      </p:sp>
      <p:sp>
        <p:nvSpPr>
          <p:cNvPr id="1455" name="Google Shape;1455;p113"/>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47</a:t>
            </a:fld>
            <a:endParaRPr/>
          </a:p>
        </p:txBody>
      </p:sp>
      <p:sp>
        <p:nvSpPr>
          <p:cNvPr id="1456" name="Google Shape;1456;p113"/>
          <p:cNvSpPr txBox="1"/>
          <p:nvPr/>
        </p:nvSpPr>
        <p:spPr>
          <a:xfrm>
            <a:off x="5272175" y="2322725"/>
            <a:ext cx="3452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 example of a </a:t>
            </a:r>
            <a:r>
              <a:rPr lang="en" sz="1200" b="1" i="1">
                <a:solidFill>
                  <a:srgbClr val="FF0000"/>
                </a:solidFill>
              </a:rPr>
              <a:t>min-heap</a:t>
            </a:r>
            <a:r>
              <a:rPr lang="en" sz="1200"/>
              <a:t>. Notice that there is no </a:t>
            </a:r>
            <a:r>
              <a:rPr lang="en" sz="1200" b="1" i="1">
                <a:solidFill>
                  <a:srgbClr val="FF0000"/>
                </a:solidFill>
              </a:rPr>
              <a:t>horizontal</a:t>
            </a:r>
            <a:r>
              <a:rPr lang="en" sz="1200">
                <a:solidFill>
                  <a:srgbClr val="FF0000"/>
                </a:solidFill>
              </a:rPr>
              <a:t> </a:t>
            </a:r>
            <a:r>
              <a:rPr lang="en" sz="1200"/>
              <a:t>relationship between nodes.</a:t>
            </a:r>
            <a:endParaRPr sz="1200"/>
          </a:p>
        </p:txBody>
      </p:sp>
      <p:sp>
        <p:nvSpPr>
          <p:cNvPr id="1457" name="Google Shape;1457;p113"/>
          <p:cNvSpPr txBox="1"/>
          <p:nvPr/>
        </p:nvSpPr>
        <p:spPr>
          <a:xfrm>
            <a:off x="5272175" y="4570775"/>
            <a:ext cx="3452700" cy="34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An example of a </a:t>
            </a:r>
            <a:r>
              <a:rPr lang="en" sz="1200" b="1" i="1">
                <a:solidFill>
                  <a:srgbClr val="FF0000"/>
                </a:solidFill>
              </a:rPr>
              <a:t>max-heap</a:t>
            </a:r>
            <a:r>
              <a:rPr lang="en" sz="1200"/>
              <a:t>.</a:t>
            </a:r>
            <a:endParaRPr sz="1200"/>
          </a:p>
        </p:txBody>
      </p:sp>
      <p:grpSp>
        <p:nvGrpSpPr>
          <p:cNvPr id="1458" name="Google Shape;1458;p113"/>
          <p:cNvGrpSpPr/>
          <p:nvPr/>
        </p:nvGrpSpPr>
        <p:grpSpPr>
          <a:xfrm>
            <a:off x="5564515" y="738572"/>
            <a:ext cx="2935593" cy="1450074"/>
            <a:chOff x="5883063" y="563800"/>
            <a:chExt cx="3101525" cy="1532200"/>
          </a:xfrm>
        </p:grpSpPr>
        <p:sp>
          <p:nvSpPr>
            <p:cNvPr id="1459" name="Google Shape;1459;p113"/>
            <p:cNvSpPr/>
            <p:nvPr/>
          </p:nvSpPr>
          <p:spPr>
            <a:xfrm>
              <a:off x="7198925" y="5638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1460" name="Google Shape;1460;p113"/>
            <p:cNvSpPr/>
            <p:nvPr/>
          </p:nvSpPr>
          <p:spPr>
            <a:xfrm>
              <a:off x="6222213" y="10558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1461" name="Google Shape;1461;p113"/>
            <p:cNvSpPr/>
            <p:nvPr/>
          </p:nvSpPr>
          <p:spPr>
            <a:xfrm>
              <a:off x="8175625" y="10558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cxnSp>
          <p:nvCxnSpPr>
            <p:cNvPr id="1462" name="Google Shape;1462;p113"/>
            <p:cNvCxnSpPr>
              <a:stCxn id="1459" idx="2"/>
              <a:endCxn id="1460" idx="0"/>
            </p:cNvCxnSpPr>
            <p:nvPr/>
          </p:nvCxnSpPr>
          <p:spPr>
            <a:xfrm flipH="1">
              <a:off x="6418925" y="760600"/>
              <a:ext cx="780000" cy="295200"/>
            </a:xfrm>
            <a:prstGeom prst="curvedConnector2">
              <a:avLst/>
            </a:prstGeom>
            <a:noFill/>
            <a:ln w="19050" cap="flat" cmpd="sng">
              <a:solidFill>
                <a:srgbClr val="F3F3F3"/>
              </a:solidFill>
              <a:prstDash val="solid"/>
              <a:round/>
              <a:headEnd type="none" w="med" len="med"/>
              <a:tailEnd type="none" w="med" len="med"/>
            </a:ln>
          </p:spPr>
        </p:cxnSp>
        <p:cxnSp>
          <p:nvCxnSpPr>
            <p:cNvPr id="1463" name="Google Shape;1463;p113"/>
            <p:cNvCxnSpPr>
              <a:stCxn id="1459" idx="6"/>
              <a:endCxn id="1461" idx="0"/>
            </p:cNvCxnSpPr>
            <p:nvPr/>
          </p:nvCxnSpPr>
          <p:spPr>
            <a:xfrm>
              <a:off x="7592525" y="760600"/>
              <a:ext cx="780000" cy="295200"/>
            </a:xfrm>
            <a:prstGeom prst="curvedConnector2">
              <a:avLst/>
            </a:prstGeom>
            <a:noFill/>
            <a:ln w="19050" cap="flat" cmpd="sng">
              <a:solidFill>
                <a:srgbClr val="F3F3F3"/>
              </a:solidFill>
              <a:prstDash val="solid"/>
              <a:round/>
              <a:headEnd type="none" w="med" len="med"/>
              <a:tailEnd type="none" w="med" len="med"/>
            </a:ln>
          </p:spPr>
        </p:cxnSp>
        <p:sp>
          <p:nvSpPr>
            <p:cNvPr id="1464" name="Google Shape;1464;p113"/>
            <p:cNvSpPr/>
            <p:nvPr/>
          </p:nvSpPr>
          <p:spPr>
            <a:xfrm>
              <a:off x="5883063"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sp>
          <p:nvSpPr>
            <p:cNvPr id="1465" name="Google Shape;1465;p113"/>
            <p:cNvSpPr/>
            <p:nvPr/>
          </p:nvSpPr>
          <p:spPr>
            <a:xfrm>
              <a:off x="6937238"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1466" name="Google Shape;1466;p113"/>
            <p:cNvSpPr/>
            <p:nvPr/>
          </p:nvSpPr>
          <p:spPr>
            <a:xfrm>
              <a:off x="7460613"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t>5</a:t>
              </a:r>
              <a:endParaRPr sz="900"/>
            </a:p>
          </p:txBody>
        </p:sp>
        <p:sp>
          <p:nvSpPr>
            <p:cNvPr id="1467" name="Google Shape;1467;p113"/>
            <p:cNvSpPr/>
            <p:nvPr/>
          </p:nvSpPr>
          <p:spPr>
            <a:xfrm>
              <a:off x="8590988"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cxnSp>
          <p:nvCxnSpPr>
            <p:cNvPr id="1468" name="Google Shape;1468;p113"/>
            <p:cNvCxnSpPr>
              <a:endCxn id="1465" idx="0"/>
            </p:cNvCxnSpPr>
            <p:nvPr/>
          </p:nvCxnSpPr>
          <p:spPr>
            <a:xfrm>
              <a:off x="6615938" y="1252700"/>
              <a:ext cx="518100" cy="449700"/>
            </a:xfrm>
            <a:prstGeom prst="curvedConnector2">
              <a:avLst/>
            </a:prstGeom>
            <a:noFill/>
            <a:ln w="19050" cap="flat" cmpd="sng">
              <a:solidFill>
                <a:srgbClr val="F3F3F3"/>
              </a:solidFill>
              <a:prstDash val="solid"/>
              <a:round/>
              <a:headEnd type="none" w="med" len="med"/>
              <a:tailEnd type="none" w="med" len="med"/>
            </a:ln>
          </p:spPr>
        </p:cxnSp>
        <p:cxnSp>
          <p:nvCxnSpPr>
            <p:cNvPr id="1469" name="Google Shape;1469;p113"/>
            <p:cNvCxnSpPr>
              <a:stCxn id="1460" idx="2"/>
              <a:endCxn id="1464" idx="0"/>
            </p:cNvCxnSpPr>
            <p:nvPr/>
          </p:nvCxnSpPr>
          <p:spPr>
            <a:xfrm flipH="1">
              <a:off x="6079713" y="1252600"/>
              <a:ext cx="142500" cy="449700"/>
            </a:xfrm>
            <a:prstGeom prst="curvedConnector2">
              <a:avLst/>
            </a:prstGeom>
            <a:noFill/>
            <a:ln w="19050" cap="flat" cmpd="sng">
              <a:solidFill>
                <a:srgbClr val="F3F3F3"/>
              </a:solidFill>
              <a:prstDash val="solid"/>
              <a:round/>
              <a:headEnd type="none" w="med" len="med"/>
              <a:tailEnd type="none" w="med" len="med"/>
            </a:ln>
          </p:spPr>
        </p:cxnSp>
        <p:cxnSp>
          <p:nvCxnSpPr>
            <p:cNvPr id="1470" name="Google Shape;1470;p113"/>
            <p:cNvCxnSpPr>
              <a:stCxn id="1461" idx="2"/>
              <a:endCxn id="1466" idx="0"/>
            </p:cNvCxnSpPr>
            <p:nvPr/>
          </p:nvCxnSpPr>
          <p:spPr>
            <a:xfrm flipH="1">
              <a:off x="7657525" y="1252600"/>
              <a:ext cx="518100" cy="449700"/>
            </a:xfrm>
            <a:prstGeom prst="curvedConnector2">
              <a:avLst/>
            </a:prstGeom>
            <a:noFill/>
            <a:ln w="19050" cap="flat" cmpd="sng">
              <a:solidFill>
                <a:srgbClr val="F3F3F3"/>
              </a:solidFill>
              <a:prstDash val="solid"/>
              <a:round/>
              <a:headEnd type="none" w="med" len="med"/>
              <a:tailEnd type="none" w="med" len="med"/>
            </a:ln>
          </p:spPr>
        </p:cxnSp>
        <p:cxnSp>
          <p:nvCxnSpPr>
            <p:cNvPr id="1471" name="Google Shape;1471;p113"/>
            <p:cNvCxnSpPr>
              <a:stCxn id="1461" idx="6"/>
              <a:endCxn id="1467" idx="0"/>
            </p:cNvCxnSpPr>
            <p:nvPr/>
          </p:nvCxnSpPr>
          <p:spPr>
            <a:xfrm>
              <a:off x="8569225" y="1252600"/>
              <a:ext cx="218700" cy="449700"/>
            </a:xfrm>
            <a:prstGeom prst="curvedConnector2">
              <a:avLst/>
            </a:prstGeom>
            <a:noFill/>
            <a:ln w="19050" cap="flat" cmpd="sng">
              <a:solidFill>
                <a:srgbClr val="F3F3F3"/>
              </a:solidFill>
              <a:prstDash val="solid"/>
              <a:round/>
              <a:headEnd type="none" w="med" len="med"/>
              <a:tailEnd type="none" w="med" len="med"/>
            </a:ln>
          </p:spPr>
        </p:cxnSp>
      </p:grpSp>
      <p:grpSp>
        <p:nvGrpSpPr>
          <p:cNvPr id="1472" name="Google Shape;1472;p113"/>
          <p:cNvGrpSpPr/>
          <p:nvPr/>
        </p:nvGrpSpPr>
        <p:grpSpPr>
          <a:xfrm>
            <a:off x="5564515" y="2982436"/>
            <a:ext cx="2935593" cy="1450074"/>
            <a:chOff x="5883063" y="563800"/>
            <a:chExt cx="3101525" cy="1532200"/>
          </a:xfrm>
        </p:grpSpPr>
        <p:sp>
          <p:nvSpPr>
            <p:cNvPr id="1473" name="Google Shape;1473;p113"/>
            <p:cNvSpPr/>
            <p:nvPr/>
          </p:nvSpPr>
          <p:spPr>
            <a:xfrm>
              <a:off x="7198925" y="5638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sp>
          <p:nvSpPr>
            <p:cNvPr id="1474" name="Google Shape;1474;p113"/>
            <p:cNvSpPr/>
            <p:nvPr/>
          </p:nvSpPr>
          <p:spPr>
            <a:xfrm>
              <a:off x="6222213" y="10558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9</a:t>
              </a:r>
              <a:endParaRPr sz="1000"/>
            </a:p>
          </p:txBody>
        </p:sp>
        <p:sp>
          <p:nvSpPr>
            <p:cNvPr id="1475" name="Google Shape;1475;p113"/>
            <p:cNvSpPr/>
            <p:nvPr/>
          </p:nvSpPr>
          <p:spPr>
            <a:xfrm>
              <a:off x="8175625" y="10558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cxnSp>
          <p:nvCxnSpPr>
            <p:cNvPr id="1476" name="Google Shape;1476;p113"/>
            <p:cNvCxnSpPr>
              <a:stCxn id="1473" idx="2"/>
              <a:endCxn id="1474" idx="0"/>
            </p:cNvCxnSpPr>
            <p:nvPr/>
          </p:nvCxnSpPr>
          <p:spPr>
            <a:xfrm flipH="1">
              <a:off x="6418925" y="760600"/>
              <a:ext cx="780000" cy="295200"/>
            </a:xfrm>
            <a:prstGeom prst="curvedConnector2">
              <a:avLst/>
            </a:prstGeom>
            <a:noFill/>
            <a:ln w="19050" cap="flat" cmpd="sng">
              <a:solidFill>
                <a:srgbClr val="F3F3F3"/>
              </a:solidFill>
              <a:prstDash val="solid"/>
              <a:round/>
              <a:headEnd type="none" w="med" len="med"/>
              <a:tailEnd type="none" w="med" len="med"/>
            </a:ln>
          </p:spPr>
        </p:cxnSp>
        <p:cxnSp>
          <p:nvCxnSpPr>
            <p:cNvPr id="1477" name="Google Shape;1477;p113"/>
            <p:cNvCxnSpPr>
              <a:stCxn id="1473" idx="6"/>
              <a:endCxn id="1475" idx="0"/>
            </p:cNvCxnSpPr>
            <p:nvPr/>
          </p:nvCxnSpPr>
          <p:spPr>
            <a:xfrm>
              <a:off x="7592525" y="760600"/>
              <a:ext cx="780000" cy="295200"/>
            </a:xfrm>
            <a:prstGeom prst="curvedConnector2">
              <a:avLst/>
            </a:prstGeom>
            <a:noFill/>
            <a:ln w="19050" cap="flat" cmpd="sng">
              <a:solidFill>
                <a:srgbClr val="F3F3F3"/>
              </a:solidFill>
              <a:prstDash val="solid"/>
              <a:round/>
              <a:headEnd type="none" w="med" len="med"/>
              <a:tailEnd type="none" w="med" len="med"/>
            </a:ln>
          </p:spPr>
        </p:cxnSp>
        <p:sp>
          <p:nvSpPr>
            <p:cNvPr id="1478" name="Google Shape;1478;p113"/>
            <p:cNvSpPr/>
            <p:nvPr/>
          </p:nvSpPr>
          <p:spPr>
            <a:xfrm>
              <a:off x="5883063"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a:t>
              </a:r>
              <a:endParaRPr sz="1000"/>
            </a:p>
          </p:txBody>
        </p:sp>
        <p:sp>
          <p:nvSpPr>
            <p:cNvPr id="1479" name="Google Shape;1479;p113"/>
            <p:cNvSpPr/>
            <p:nvPr/>
          </p:nvSpPr>
          <p:spPr>
            <a:xfrm>
              <a:off x="6937238"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3</a:t>
              </a:r>
              <a:endParaRPr sz="1000"/>
            </a:p>
          </p:txBody>
        </p:sp>
        <p:sp>
          <p:nvSpPr>
            <p:cNvPr id="1480" name="Google Shape;1480;p113"/>
            <p:cNvSpPr/>
            <p:nvPr/>
          </p:nvSpPr>
          <p:spPr>
            <a:xfrm>
              <a:off x="7460613"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t>5</a:t>
              </a:r>
              <a:endParaRPr sz="900"/>
            </a:p>
          </p:txBody>
        </p:sp>
        <p:sp>
          <p:nvSpPr>
            <p:cNvPr id="1481" name="Google Shape;1481;p113"/>
            <p:cNvSpPr/>
            <p:nvPr/>
          </p:nvSpPr>
          <p:spPr>
            <a:xfrm>
              <a:off x="8590988" y="1702400"/>
              <a:ext cx="393600" cy="3936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a:t>
              </a:r>
              <a:endParaRPr sz="1000"/>
            </a:p>
          </p:txBody>
        </p:sp>
        <p:cxnSp>
          <p:nvCxnSpPr>
            <p:cNvPr id="1482" name="Google Shape;1482;p113"/>
            <p:cNvCxnSpPr>
              <a:endCxn id="1479" idx="0"/>
            </p:cNvCxnSpPr>
            <p:nvPr/>
          </p:nvCxnSpPr>
          <p:spPr>
            <a:xfrm>
              <a:off x="6615938" y="1252700"/>
              <a:ext cx="518100" cy="449700"/>
            </a:xfrm>
            <a:prstGeom prst="curvedConnector2">
              <a:avLst/>
            </a:prstGeom>
            <a:noFill/>
            <a:ln w="19050" cap="flat" cmpd="sng">
              <a:solidFill>
                <a:srgbClr val="F3F3F3"/>
              </a:solidFill>
              <a:prstDash val="solid"/>
              <a:round/>
              <a:headEnd type="none" w="med" len="med"/>
              <a:tailEnd type="none" w="med" len="med"/>
            </a:ln>
          </p:spPr>
        </p:cxnSp>
        <p:cxnSp>
          <p:nvCxnSpPr>
            <p:cNvPr id="1483" name="Google Shape;1483;p113"/>
            <p:cNvCxnSpPr>
              <a:stCxn id="1474" idx="2"/>
              <a:endCxn id="1478" idx="0"/>
            </p:cNvCxnSpPr>
            <p:nvPr/>
          </p:nvCxnSpPr>
          <p:spPr>
            <a:xfrm flipH="1">
              <a:off x="6079713" y="1252600"/>
              <a:ext cx="142500" cy="449700"/>
            </a:xfrm>
            <a:prstGeom prst="curvedConnector2">
              <a:avLst/>
            </a:prstGeom>
            <a:noFill/>
            <a:ln w="19050" cap="flat" cmpd="sng">
              <a:solidFill>
                <a:srgbClr val="F3F3F3"/>
              </a:solidFill>
              <a:prstDash val="solid"/>
              <a:round/>
              <a:headEnd type="none" w="med" len="med"/>
              <a:tailEnd type="none" w="med" len="med"/>
            </a:ln>
          </p:spPr>
        </p:cxnSp>
        <p:cxnSp>
          <p:nvCxnSpPr>
            <p:cNvPr id="1484" name="Google Shape;1484;p113"/>
            <p:cNvCxnSpPr>
              <a:stCxn id="1475" idx="2"/>
              <a:endCxn id="1480" idx="0"/>
            </p:cNvCxnSpPr>
            <p:nvPr/>
          </p:nvCxnSpPr>
          <p:spPr>
            <a:xfrm flipH="1">
              <a:off x="7657525" y="1252600"/>
              <a:ext cx="518100" cy="449700"/>
            </a:xfrm>
            <a:prstGeom prst="curvedConnector2">
              <a:avLst/>
            </a:prstGeom>
            <a:noFill/>
            <a:ln w="19050" cap="flat" cmpd="sng">
              <a:solidFill>
                <a:srgbClr val="F3F3F3"/>
              </a:solidFill>
              <a:prstDash val="solid"/>
              <a:round/>
              <a:headEnd type="none" w="med" len="med"/>
              <a:tailEnd type="none" w="med" len="med"/>
            </a:ln>
          </p:spPr>
        </p:cxnSp>
        <p:cxnSp>
          <p:nvCxnSpPr>
            <p:cNvPr id="1485" name="Google Shape;1485;p113"/>
            <p:cNvCxnSpPr>
              <a:stCxn id="1475" idx="6"/>
              <a:endCxn id="1481" idx="0"/>
            </p:cNvCxnSpPr>
            <p:nvPr/>
          </p:nvCxnSpPr>
          <p:spPr>
            <a:xfrm>
              <a:off x="8569225" y="1252600"/>
              <a:ext cx="218700" cy="449700"/>
            </a:xfrm>
            <a:prstGeom prst="curvedConnector2">
              <a:avLst/>
            </a:prstGeom>
            <a:noFill/>
            <a:ln w="19050" cap="flat" cmpd="sng">
              <a:solidFill>
                <a:srgbClr val="F3F3F3"/>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5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5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5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5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5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5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5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56"/>
                                        </p:tgtEl>
                                        <p:attrNameLst>
                                          <p:attrName>style.visibility</p:attrName>
                                        </p:attrNameLst>
                                      </p:cBhvr>
                                      <p:to>
                                        <p:strVal val="visible"/>
                                      </p:to>
                                    </p:set>
                                    <p:animEffect transition="in" filter="fade">
                                      <p:cBhvr>
                                        <p:cTn id="47" dur="1000"/>
                                        <p:tgtEl>
                                          <p:spTgt spid="1456"/>
                                        </p:tgtEl>
                                      </p:cBhvr>
                                    </p:animEffect>
                                  </p:childTnLst>
                                </p:cTn>
                              </p:par>
                              <p:par>
                                <p:cTn id="48" presetID="10" presetClass="entr" presetSubtype="0" fill="hold" nodeType="withEffect">
                                  <p:stCondLst>
                                    <p:cond delay="0"/>
                                  </p:stCondLst>
                                  <p:childTnLst>
                                    <p:set>
                                      <p:cBhvr>
                                        <p:cTn id="49" dur="1" fill="hold">
                                          <p:stCondLst>
                                            <p:cond delay="0"/>
                                          </p:stCondLst>
                                        </p:cTn>
                                        <p:tgtEl>
                                          <p:spTgt spid="1458"/>
                                        </p:tgtEl>
                                        <p:attrNameLst>
                                          <p:attrName>style.visibility</p:attrName>
                                        </p:attrNameLst>
                                      </p:cBhvr>
                                      <p:to>
                                        <p:strVal val="visible"/>
                                      </p:to>
                                    </p:set>
                                    <p:animEffect transition="in" filter="fade">
                                      <p:cBhvr>
                                        <p:cTn id="50" dur="1000"/>
                                        <p:tgtEl>
                                          <p:spTgt spid="145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57"/>
                                        </p:tgtEl>
                                        <p:attrNameLst>
                                          <p:attrName>style.visibility</p:attrName>
                                        </p:attrNameLst>
                                      </p:cBhvr>
                                      <p:to>
                                        <p:strVal val="visible"/>
                                      </p:to>
                                    </p:set>
                                    <p:animEffect transition="in" filter="fade">
                                      <p:cBhvr>
                                        <p:cTn id="55" dur="1000"/>
                                        <p:tgtEl>
                                          <p:spTgt spid="1457"/>
                                        </p:tgtEl>
                                      </p:cBhvr>
                                    </p:animEffect>
                                  </p:childTnLst>
                                </p:cTn>
                              </p:par>
                              <p:par>
                                <p:cTn id="56" presetID="10" presetClass="entr" presetSubtype="0" fill="hold" nodeType="withEffect">
                                  <p:stCondLst>
                                    <p:cond delay="0"/>
                                  </p:stCondLst>
                                  <p:childTnLst>
                                    <p:set>
                                      <p:cBhvr>
                                        <p:cTn id="57" dur="1" fill="hold">
                                          <p:stCondLst>
                                            <p:cond delay="0"/>
                                          </p:stCondLst>
                                        </p:cTn>
                                        <p:tgtEl>
                                          <p:spTgt spid="1472"/>
                                        </p:tgtEl>
                                        <p:attrNameLst>
                                          <p:attrName>style.visibility</p:attrName>
                                        </p:attrNameLst>
                                      </p:cBhvr>
                                      <p:to>
                                        <p:strVal val="visible"/>
                                      </p:to>
                                    </p:set>
                                    <p:animEffect transition="in" filter="fade">
                                      <p:cBhvr>
                                        <p:cTn id="58" dur="1000"/>
                                        <p:tgtEl>
                                          <p:spTgt spid="1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489"/>
        <p:cNvGrpSpPr/>
        <p:nvPr/>
      </p:nvGrpSpPr>
      <p:grpSpPr>
        <a:xfrm>
          <a:off x="0" y="0"/>
          <a:ext cx="0" cy="0"/>
          <a:chOff x="0" y="0"/>
          <a:chExt cx="0" cy="0"/>
        </a:xfrm>
      </p:grpSpPr>
      <p:pic>
        <p:nvPicPr>
          <p:cNvPr id="1490" name="Google Shape;1490;p114"/>
          <p:cNvPicPr preferRelativeResize="0"/>
          <p:nvPr/>
        </p:nvPicPr>
        <p:blipFill>
          <a:blip r:embed="rId3">
            <a:alphaModFix/>
          </a:blip>
          <a:stretch>
            <a:fillRect/>
          </a:stretch>
        </p:blipFill>
        <p:spPr>
          <a:xfrm>
            <a:off x="350999" y="1698323"/>
            <a:ext cx="2922000" cy="2658757"/>
          </a:xfrm>
          <a:prstGeom prst="rect">
            <a:avLst/>
          </a:prstGeom>
          <a:noFill/>
          <a:ln>
            <a:noFill/>
          </a:ln>
        </p:spPr>
      </p:pic>
      <p:sp>
        <p:nvSpPr>
          <p:cNvPr id="1491" name="Google Shape;1491;p114"/>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There is more than one possible way to implement a heap! Like all Abstract Data Types (ADTs), the definition of a </a:t>
            </a:r>
            <a:r>
              <a:rPr lang="en" i="1"/>
              <a:t>heap</a:t>
            </a:r>
            <a:r>
              <a:rPr lang="en"/>
              <a:t> tells us </a:t>
            </a:r>
            <a:r>
              <a:rPr lang="en" i="1"/>
              <a:t>what</a:t>
            </a:r>
            <a:r>
              <a:rPr lang="en"/>
              <a:t> a heap can do, but not </a:t>
            </a:r>
            <a:r>
              <a:rPr lang="en" i="1"/>
              <a:t>how</a:t>
            </a:r>
            <a:r>
              <a:rPr lang="en"/>
              <a:t> it does it. Let's define a Java interface that defines the essential behavior that a heap provides.</a:t>
            </a:r>
            <a:endParaRPr/>
          </a:p>
        </p:txBody>
      </p:sp>
      <p:sp>
        <p:nvSpPr>
          <p:cNvPr id="1492" name="Google Shape;1492;p1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1493" name="Google Shape;1493;p114"/>
          <p:cNvSpPr txBox="1">
            <a:spLocks noGrp="1"/>
          </p:cNvSpPr>
          <p:nvPr>
            <p:ph type="body" idx="2"/>
          </p:nvPr>
        </p:nvSpPr>
        <p:spPr>
          <a:xfrm>
            <a:off x="3309200" y="1814150"/>
            <a:ext cx="5474700" cy="21831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dirty="0"/>
              <a:t>Create a "</a:t>
            </a:r>
            <a:r>
              <a:rPr lang="en" sz="1800" dirty="0">
                <a:solidFill>
                  <a:srgbClr val="FF0000"/>
                </a:solidFill>
                <a:latin typeface="Courier New"/>
                <a:ea typeface="Courier New"/>
                <a:cs typeface="Courier New"/>
                <a:sym typeface="Courier New"/>
              </a:rPr>
              <a:t>heaps</a:t>
            </a:r>
            <a:r>
              <a:rPr lang="en" sz="1800" dirty="0"/>
              <a:t>" package, and then use the UML diagram to the left to implement a Heap abstract data type.</a:t>
            </a:r>
            <a:endParaRPr sz="1600" dirty="0"/>
          </a:p>
          <a:p>
            <a:pPr marL="457200" lvl="0" indent="-342900" algn="l" rtl="0">
              <a:spcBef>
                <a:spcPts val="1000"/>
              </a:spcBef>
              <a:spcAft>
                <a:spcPts val="0"/>
              </a:spcAft>
              <a:buSzPts val="1800"/>
              <a:buChar char="●"/>
            </a:pPr>
            <a:r>
              <a:rPr lang="en" sz="1800" dirty="0"/>
              <a:t>When you are finished, verify that you do not have any problems in your project and push your code.</a:t>
            </a:r>
            <a:endParaRPr sz="1800" dirty="0"/>
          </a:p>
        </p:txBody>
      </p:sp>
      <p:sp>
        <p:nvSpPr>
          <p:cNvPr id="1494" name="Google Shape;1494;p11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Heap Abstract Data Type (ADT)</a:t>
            </a:r>
            <a:endParaRPr/>
          </a:p>
        </p:txBody>
      </p:sp>
      <p:sp>
        <p:nvSpPr>
          <p:cNvPr id="1495" name="Google Shape;1495;p11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6.15</a:t>
            </a:r>
            <a:endParaRPr/>
          </a:p>
        </p:txBody>
      </p:sp>
      <p:sp>
        <p:nvSpPr>
          <p:cNvPr id="1496" name="Google Shape;1496;p114"/>
          <p:cNvSpPr txBox="1">
            <a:spLocks noGrp="1"/>
          </p:cNvSpPr>
          <p:nvPr>
            <p:ph type="body" idx="4"/>
          </p:nvPr>
        </p:nvSpPr>
        <p:spPr>
          <a:xfrm>
            <a:off x="351000" y="4476675"/>
            <a:ext cx="29220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heap only provides basic operations to </a:t>
            </a:r>
            <a:r>
              <a:rPr lang="en">
                <a:latin typeface="Courier New"/>
                <a:ea typeface="Courier New"/>
                <a:cs typeface="Courier New"/>
                <a:sym typeface="Courier New"/>
              </a:rPr>
              <a:t>add</a:t>
            </a:r>
            <a:r>
              <a:rPr lang="en"/>
              <a:t> and </a:t>
            </a:r>
            <a:r>
              <a:rPr lang="en">
                <a:latin typeface="Courier New"/>
                <a:ea typeface="Courier New"/>
                <a:cs typeface="Courier New"/>
                <a:sym typeface="Courier New"/>
              </a:rPr>
              <a:t>remove</a:t>
            </a:r>
            <a:r>
              <a:rPr lang="en"/>
              <a:t> values.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00"/>
        <p:cNvGrpSpPr/>
        <p:nvPr/>
      </p:nvGrpSpPr>
      <p:grpSpPr>
        <a:xfrm>
          <a:off x="0" y="0"/>
          <a:ext cx="0" cy="0"/>
          <a:chOff x="0" y="0"/>
          <a:chExt cx="0" cy="0"/>
        </a:xfrm>
      </p:grpSpPr>
      <p:sp>
        <p:nvSpPr>
          <p:cNvPr id="1501" name="Google Shape;1501;p115"/>
          <p:cNvSpPr txBox="1">
            <a:spLocks noGrp="1"/>
          </p:cNvSpPr>
          <p:nvPr>
            <p:ph type="title"/>
          </p:nvPr>
        </p:nvSpPr>
        <p:spPr>
          <a:xfrm>
            <a:off x="51885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Heap Overlay</a:t>
            </a:r>
            <a:endParaRPr/>
          </a:p>
        </p:txBody>
      </p:sp>
      <p:sp>
        <p:nvSpPr>
          <p:cNvPr id="1502" name="Google Shape;1502;p115"/>
          <p:cNvSpPr txBox="1">
            <a:spLocks noGrp="1"/>
          </p:cNvSpPr>
          <p:nvPr>
            <p:ph type="body" idx="1"/>
          </p:nvPr>
        </p:nvSpPr>
        <p:spPr>
          <a:xfrm>
            <a:off x="237975" y="196125"/>
            <a:ext cx="4526400" cy="4710000"/>
          </a:xfrm>
          <a:prstGeom prst="rect">
            <a:avLst/>
          </a:prstGeom>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dirty="0"/>
              <a:t>Like many data structures, a heap can be implemented in more than one way.</a:t>
            </a:r>
            <a:endParaRPr dirty="0"/>
          </a:p>
          <a:p>
            <a:pPr marL="914400" lvl="1" indent="-298450" algn="l" rtl="0">
              <a:lnSpc>
                <a:spcPct val="100000"/>
              </a:lnSpc>
              <a:spcBef>
                <a:spcPts val="0"/>
              </a:spcBef>
              <a:spcAft>
                <a:spcPts val="0"/>
              </a:spcAft>
              <a:buSzPts val="1100"/>
              <a:buChar char="○"/>
            </a:pPr>
            <a:r>
              <a:rPr lang="en" dirty="0"/>
              <a:t>One obvious way would be to try to implement a heap using </a:t>
            </a:r>
            <a:r>
              <a:rPr lang="en" b="1" i="1" dirty="0">
                <a:solidFill>
                  <a:srgbClr val="FF0000"/>
                </a:solidFill>
              </a:rPr>
              <a:t>binary nodes</a:t>
            </a:r>
            <a:r>
              <a:rPr lang="en" dirty="0"/>
              <a:t>.</a:t>
            </a:r>
            <a:endParaRPr dirty="0"/>
          </a:p>
          <a:p>
            <a:pPr marL="914400" lvl="1" indent="-298450" algn="l" rtl="0">
              <a:lnSpc>
                <a:spcPct val="100000"/>
              </a:lnSpc>
              <a:spcBef>
                <a:spcPts val="0"/>
              </a:spcBef>
              <a:spcAft>
                <a:spcPts val="0"/>
              </a:spcAft>
              <a:buSzPts val="1100"/>
              <a:buChar char="○"/>
            </a:pPr>
            <a:r>
              <a:rPr lang="en" dirty="0"/>
              <a:t>But perhaps there is a way to implement a heap using an </a:t>
            </a:r>
            <a:r>
              <a:rPr lang="en" b="1" i="1" dirty="0">
                <a:solidFill>
                  <a:srgbClr val="FF0000"/>
                </a:solidFill>
              </a:rPr>
              <a:t>array</a:t>
            </a:r>
            <a:r>
              <a:rPr lang="en" dirty="0"/>
              <a:t>?</a:t>
            </a:r>
            <a:endParaRPr dirty="0"/>
          </a:p>
          <a:p>
            <a:pPr marL="457200" lvl="0" indent="-311150" algn="l" rtl="0">
              <a:lnSpc>
                <a:spcPct val="100000"/>
              </a:lnSpc>
              <a:spcBef>
                <a:spcPts val="1000"/>
              </a:spcBef>
              <a:spcAft>
                <a:spcPts val="0"/>
              </a:spcAft>
              <a:buSzPts val="1300"/>
              <a:buChar char="●"/>
            </a:pPr>
            <a:r>
              <a:rPr lang="en" dirty="0"/>
              <a:t>The heap can be created using an </a:t>
            </a:r>
            <a:r>
              <a:rPr lang="en" b="1" i="1" dirty="0">
                <a:solidFill>
                  <a:srgbClr val="FF0000"/>
                </a:solidFill>
              </a:rPr>
              <a:t>overlay</a:t>
            </a:r>
            <a:r>
              <a:rPr lang="en" dirty="0">
                <a:solidFill>
                  <a:srgbClr val="FF0000"/>
                </a:solidFill>
              </a:rPr>
              <a:t> </a:t>
            </a:r>
            <a:r>
              <a:rPr lang="en" dirty="0"/>
              <a:t>on an array by adhering to the following rules assuming an array of size </a:t>
            </a:r>
            <a:r>
              <a:rPr lang="en" b="1" i="1" dirty="0">
                <a:solidFill>
                  <a:srgbClr val="FF0000"/>
                </a:solidFill>
              </a:rPr>
              <a:t>N</a:t>
            </a:r>
            <a:r>
              <a:rPr lang="en" dirty="0">
                <a:solidFill>
                  <a:srgbClr val="FF0000"/>
                </a:solidFill>
              </a:rPr>
              <a:t> </a:t>
            </a:r>
            <a:r>
              <a:rPr lang="en" dirty="0"/>
              <a:t>with indices ranging from </a:t>
            </a:r>
            <a:r>
              <a:rPr lang="en" b="1" i="1" dirty="0">
                <a:solidFill>
                  <a:srgbClr val="FF0000"/>
                </a:solidFill>
              </a:rPr>
              <a:t>0 to N-1</a:t>
            </a:r>
            <a:r>
              <a:rPr lang="en" dirty="0"/>
              <a:t>.</a:t>
            </a:r>
            <a:endParaRPr dirty="0"/>
          </a:p>
          <a:p>
            <a:pPr marL="914400" lvl="1" indent="-298450" algn="l" rtl="0">
              <a:lnSpc>
                <a:spcPct val="100000"/>
              </a:lnSpc>
              <a:spcBef>
                <a:spcPts val="0"/>
              </a:spcBef>
              <a:spcAft>
                <a:spcPts val="0"/>
              </a:spcAft>
              <a:buSzPts val="1100"/>
              <a:buChar char="○"/>
            </a:pPr>
            <a:r>
              <a:rPr lang="en" dirty="0"/>
              <a:t>The root of the heap is at </a:t>
            </a:r>
            <a:r>
              <a:rPr lang="en" b="1" i="1" dirty="0">
                <a:solidFill>
                  <a:srgbClr val="FF0000"/>
                </a:solidFill>
                <a:highlight>
                  <a:srgbClr val="FFFF00"/>
                </a:highlight>
              </a:rPr>
              <a:t>index 0</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Let </a:t>
            </a:r>
            <a:r>
              <a:rPr lang="en" b="1" i="1" dirty="0">
                <a:solidFill>
                  <a:srgbClr val="FF0000"/>
                </a:solidFill>
              </a:rPr>
              <a:t>k</a:t>
            </a:r>
            <a:r>
              <a:rPr lang="en" dirty="0"/>
              <a:t> be the index of a node in the tree where </a:t>
            </a:r>
            <a:r>
              <a:rPr lang="en" b="1" i="1" dirty="0">
                <a:solidFill>
                  <a:srgbClr val="FF0000"/>
                </a:solidFill>
              </a:rPr>
              <a:t>0 ≤ k &lt; N</a:t>
            </a:r>
            <a:r>
              <a:rPr lang="en" dirty="0"/>
              <a:t>.</a:t>
            </a:r>
            <a:endParaRPr dirty="0"/>
          </a:p>
          <a:p>
            <a:pPr marL="914400" lvl="1" indent="-298450" algn="l" rtl="0">
              <a:lnSpc>
                <a:spcPct val="100000"/>
              </a:lnSpc>
              <a:spcBef>
                <a:spcPts val="0"/>
              </a:spcBef>
              <a:spcAft>
                <a:spcPts val="0"/>
              </a:spcAft>
              <a:buSzPts val="1100"/>
              <a:buChar char="○"/>
            </a:pPr>
            <a:r>
              <a:rPr lang="en" dirty="0"/>
              <a:t>The </a:t>
            </a:r>
            <a:r>
              <a:rPr lang="en" b="1" i="1" dirty="0">
                <a:solidFill>
                  <a:srgbClr val="FF0000"/>
                </a:solidFill>
              </a:rPr>
              <a:t>left</a:t>
            </a:r>
            <a:r>
              <a:rPr lang="en" dirty="0">
                <a:solidFill>
                  <a:srgbClr val="FF0000"/>
                </a:solidFill>
              </a:rPr>
              <a:t> </a:t>
            </a:r>
            <a:r>
              <a:rPr lang="en" dirty="0"/>
              <a:t>child of node </a:t>
            </a:r>
            <a:r>
              <a:rPr lang="en" i="1" dirty="0"/>
              <a:t>k</a:t>
            </a:r>
            <a:r>
              <a:rPr lang="en" dirty="0"/>
              <a:t> is located at </a:t>
            </a:r>
            <a:r>
              <a:rPr lang="en" dirty="0">
                <a:highlight>
                  <a:srgbClr val="FFFF00"/>
                </a:highlight>
              </a:rPr>
              <a:t>index </a:t>
            </a:r>
            <a:r>
              <a:rPr lang="en" b="1" i="1" dirty="0">
                <a:solidFill>
                  <a:srgbClr val="FF0000"/>
                </a:solidFill>
                <a:highlight>
                  <a:srgbClr val="FFFF00"/>
                </a:highlight>
              </a:rPr>
              <a:t>2k+1</a:t>
            </a:r>
            <a:r>
              <a:rPr lang="en" dirty="0">
                <a:highlight>
                  <a:srgbClr val="FFFF00"/>
                </a:highlight>
              </a:rPr>
              <a:t>.</a:t>
            </a:r>
            <a:endParaRPr i="1" dirty="0">
              <a:highlight>
                <a:srgbClr val="FFFF00"/>
              </a:highlight>
            </a:endParaRPr>
          </a:p>
          <a:p>
            <a:pPr marL="914400" lvl="1" indent="-298450" algn="l" rtl="0">
              <a:lnSpc>
                <a:spcPct val="100000"/>
              </a:lnSpc>
              <a:spcBef>
                <a:spcPts val="0"/>
              </a:spcBef>
              <a:spcAft>
                <a:spcPts val="0"/>
              </a:spcAft>
              <a:buSzPts val="1100"/>
              <a:buChar char="○"/>
            </a:pPr>
            <a:r>
              <a:rPr lang="en" dirty="0"/>
              <a:t>The </a:t>
            </a:r>
            <a:r>
              <a:rPr lang="en" b="1" i="1" dirty="0">
                <a:solidFill>
                  <a:srgbClr val="FF0000"/>
                </a:solidFill>
              </a:rPr>
              <a:t>right</a:t>
            </a:r>
            <a:r>
              <a:rPr lang="en" dirty="0">
                <a:solidFill>
                  <a:srgbClr val="FF0000"/>
                </a:solidFill>
              </a:rPr>
              <a:t> </a:t>
            </a:r>
            <a:r>
              <a:rPr lang="en" dirty="0"/>
              <a:t>child of node </a:t>
            </a:r>
            <a:r>
              <a:rPr lang="en" i="1" dirty="0"/>
              <a:t>k</a:t>
            </a:r>
            <a:r>
              <a:rPr lang="en" dirty="0"/>
              <a:t> is located </a:t>
            </a:r>
            <a:r>
              <a:rPr lang="en" dirty="0">
                <a:highlight>
                  <a:srgbClr val="FFFF00"/>
                </a:highlight>
              </a:rPr>
              <a:t>at index</a:t>
            </a:r>
            <a:r>
              <a:rPr lang="en" dirty="0">
                <a:solidFill>
                  <a:srgbClr val="FF0000"/>
                </a:solidFill>
                <a:highlight>
                  <a:srgbClr val="FFFF00"/>
                </a:highlight>
              </a:rPr>
              <a:t> </a:t>
            </a:r>
            <a:r>
              <a:rPr lang="en" b="1" i="1" dirty="0">
                <a:solidFill>
                  <a:srgbClr val="FF0000"/>
                </a:solidFill>
                <a:highlight>
                  <a:srgbClr val="FFFF00"/>
                </a:highlight>
              </a:rPr>
              <a:t>2k+2</a:t>
            </a:r>
            <a:r>
              <a:rPr lang="en" dirty="0">
                <a:highlight>
                  <a:srgbClr val="FFFF00"/>
                </a:highlight>
              </a:rPr>
              <a:t>.</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For example:</a:t>
            </a:r>
            <a:endParaRPr dirty="0"/>
          </a:p>
          <a:p>
            <a:pPr marL="914400" lvl="1" indent="-298450" algn="l" rtl="0">
              <a:lnSpc>
                <a:spcPct val="100000"/>
              </a:lnSpc>
              <a:spcBef>
                <a:spcPts val="0"/>
              </a:spcBef>
              <a:spcAft>
                <a:spcPts val="0"/>
              </a:spcAft>
              <a:buSzPts val="1100"/>
              <a:buChar char="○"/>
            </a:pPr>
            <a:r>
              <a:rPr lang="en" dirty="0"/>
              <a:t>If </a:t>
            </a:r>
            <a:r>
              <a:rPr lang="en" b="1" i="1" dirty="0">
                <a:solidFill>
                  <a:srgbClr val="FF0000"/>
                </a:solidFill>
              </a:rPr>
              <a:t>k</a:t>
            </a:r>
            <a:r>
              <a:rPr lang="en" dirty="0"/>
              <a:t> is </a:t>
            </a:r>
            <a:r>
              <a:rPr lang="en" dirty="0">
                <a:solidFill>
                  <a:srgbClr val="FF0000"/>
                </a:solidFill>
                <a:latin typeface="Courier New"/>
                <a:ea typeface="Courier New"/>
                <a:cs typeface="Courier New"/>
                <a:sym typeface="Courier New"/>
              </a:rPr>
              <a:t>0</a:t>
            </a:r>
            <a:r>
              <a:rPr lang="en" dirty="0"/>
              <a:t>, its left child is at </a:t>
            </a:r>
            <a:r>
              <a:rPr lang="en" b="1" i="1" dirty="0">
                <a:solidFill>
                  <a:srgbClr val="FF0000"/>
                </a:solidFill>
              </a:rPr>
              <a:t>2*</a:t>
            </a:r>
            <a:r>
              <a:rPr lang="en" b="1" i="1" u="sng" dirty="0">
                <a:solidFill>
                  <a:srgbClr val="FF0000"/>
                </a:solidFill>
              </a:rPr>
              <a:t>0</a:t>
            </a:r>
            <a:r>
              <a:rPr lang="en" b="1" i="1" dirty="0">
                <a:solidFill>
                  <a:srgbClr val="FF0000"/>
                </a:solidFill>
              </a:rPr>
              <a:t>+1 = 1</a:t>
            </a:r>
            <a:r>
              <a:rPr lang="en" dirty="0"/>
              <a:t>, and its right child is at </a:t>
            </a:r>
            <a:r>
              <a:rPr lang="en" b="1" i="1" dirty="0">
                <a:solidFill>
                  <a:srgbClr val="FF0000"/>
                </a:solidFill>
              </a:rPr>
              <a:t>2*</a:t>
            </a:r>
            <a:r>
              <a:rPr lang="en" b="1" i="1" u="sng" dirty="0">
                <a:solidFill>
                  <a:srgbClr val="FF0000"/>
                </a:solidFill>
              </a:rPr>
              <a:t>0</a:t>
            </a:r>
            <a:r>
              <a:rPr lang="en" b="1" i="1" dirty="0">
                <a:solidFill>
                  <a:srgbClr val="FF0000"/>
                </a:solidFill>
              </a:rPr>
              <a:t>+2 = 2</a:t>
            </a:r>
            <a:r>
              <a:rPr lang="en" dirty="0"/>
              <a:t>.</a:t>
            </a:r>
            <a:endParaRPr dirty="0"/>
          </a:p>
          <a:p>
            <a:pPr marL="914400" lvl="1" indent="-298450" algn="l" rtl="0">
              <a:lnSpc>
                <a:spcPct val="100000"/>
              </a:lnSpc>
              <a:spcBef>
                <a:spcPts val="0"/>
              </a:spcBef>
              <a:spcAft>
                <a:spcPts val="0"/>
              </a:spcAft>
              <a:buSzPts val="1100"/>
              <a:buChar char="○"/>
            </a:pPr>
            <a:r>
              <a:rPr lang="en" dirty="0"/>
              <a:t>If </a:t>
            </a:r>
            <a:r>
              <a:rPr lang="en" b="1" i="1" dirty="0">
                <a:solidFill>
                  <a:srgbClr val="FF0000"/>
                </a:solidFill>
              </a:rPr>
              <a:t>k</a:t>
            </a:r>
            <a:r>
              <a:rPr lang="en" dirty="0"/>
              <a:t> is </a:t>
            </a:r>
            <a:r>
              <a:rPr lang="en" dirty="0">
                <a:solidFill>
                  <a:srgbClr val="FF0000"/>
                </a:solidFill>
                <a:latin typeface="Courier New"/>
                <a:ea typeface="Courier New"/>
                <a:cs typeface="Courier New"/>
                <a:sym typeface="Courier New"/>
              </a:rPr>
              <a:t>11</a:t>
            </a:r>
            <a:r>
              <a:rPr lang="en" dirty="0"/>
              <a:t>, it's left child is at </a:t>
            </a:r>
            <a:r>
              <a:rPr lang="en" b="1" i="1" dirty="0">
                <a:solidFill>
                  <a:srgbClr val="FF0000"/>
                </a:solidFill>
              </a:rPr>
              <a:t>2*</a:t>
            </a:r>
            <a:r>
              <a:rPr lang="en" b="1" i="1" u="sng" dirty="0">
                <a:solidFill>
                  <a:srgbClr val="FF0000"/>
                </a:solidFill>
              </a:rPr>
              <a:t>11</a:t>
            </a:r>
            <a:r>
              <a:rPr lang="en" b="1" i="1" dirty="0">
                <a:solidFill>
                  <a:srgbClr val="FF0000"/>
                </a:solidFill>
              </a:rPr>
              <a:t>+1 = 23</a:t>
            </a:r>
            <a:r>
              <a:rPr lang="en" dirty="0"/>
              <a:t>, and its right child is at </a:t>
            </a:r>
            <a:r>
              <a:rPr lang="en" b="1" i="1" dirty="0">
                <a:solidFill>
                  <a:srgbClr val="FF0000"/>
                </a:solidFill>
              </a:rPr>
              <a:t>2*</a:t>
            </a:r>
            <a:r>
              <a:rPr lang="en" b="1" i="1" u="sng" dirty="0">
                <a:solidFill>
                  <a:srgbClr val="FF0000"/>
                </a:solidFill>
              </a:rPr>
              <a:t>11</a:t>
            </a:r>
            <a:r>
              <a:rPr lang="en" b="1" i="1" dirty="0">
                <a:solidFill>
                  <a:srgbClr val="FF0000"/>
                </a:solidFill>
              </a:rPr>
              <a:t>+2 = 24</a:t>
            </a:r>
            <a:r>
              <a:rPr lang="en" dirty="0"/>
              <a:t>.</a:t>
            </a:r>
            <a:endParaRPr dirty="0"/>
          </a:p>
          <a:p>
            <a:pPr marL="457200" lvl="0" indent="-311150" algn="l" rtl="0">
              <a:lnSpc>
                <a:spcPct val="100000"/>
              </a:lnSpc>
              <a:spcBef>
                <a:spcPts val="1000"/>
              </a:spcBef>
              <a:spcAft>
                <a:spcPts val="0"/>
              </a:spcAft>
              <a:buSzPts val="1300"/>
              <a:buChar char="●"/>
            </a:pPr>
            <a:r>
              <a:rPr lang="en" dirty="0"/>
              <a:t>Like other array-based data structures, one challenge is </a:t>
            </a:r>
            <a:r>
              <a:rPr lang="en" b="1" i="1" dirty="0">
                <a:solidFill>
                  <a:srgbClr val="FF0000"/>
                </a:solidFill>
                <a:highlight>
                  <a:srgbClr val="FFFF00"/>
                </a:highlight>
              </a:rPr>
              <a:t>growing the array</a:t>
            </a:r>
            <a:r>
              <a:rPr lang="en" dirty="0">
                <a:highlight>
                  <a:srgbClr val="FFFF00"/>
                </a:highlight>
              </a:rPr>
              <a:t> </a:t>
            </a:r>
            <a:r>
              <a:rPr lang="en" dirty="0"/>
              <a:t>then it has filled up with values.</a:t>
            </a:r>
            <a:endParaRPr dirty="0"/>
          </a:p>
          <a:p>
            <a:pPr marL="914400" lvl="1" indent="-298450" algn="l" rtl="0">
              <a:lnSpc>
                <a:spcPct val="100000"/>
              </a:lnSpc>
              <a:spcBef>
                <a:spcPts val="0"/>
              </a:spcBef>
              <a:spcAft>
                <a:spcPts val="0"/>
              </a:spcAft>
              <a:buSzPts val="1100"/>
              <a:buChar char="○"/>
            </a:pPr>
            <a:r>
              <a:rPr lang="en" dirty="0"/>
              <a:t>This is easier than some other data structures, because the values can be copied into the same indices in a larger array, just like an array list.</a:t>
            </a:r>
            <a:endParaRPr dirty="0"/>
          </a:p>
        </p:txBody>
      </p:sp>
      <p:sp>
        <p:nvSpPr>
          <p:cNvPr id="1503" name="Google Shape;1503;p115"/>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49</a:t>
            </a:fld>
            <a:endParaRPr/>
          </a:p>
        </p:txBody>
      </p:sp>
      <p:grpSp>
        <p:nvGrpSpPr>
          <p:cNvPr id="1504" name="Google Shape;1504;p115"/>
          <p:cNvGrpSpPr/>
          <p:nvPr/>
        </p:nvGrpSpPr>
        <p:grpSpPr>
          <a:xfrm>
            <a:off x="5245771" y="1305598"/>
            <a:ext cx="3573085" cy="2243758"/>
            <a:chOff x="5779144" y="1229395"/>
            <a:chExt cx="2989029" cy="1876993"/>
          </a:xfrm>
        </p:grpSpPr>
        <p:grpSp>
          <p:nvGrpSpPr>
            <p:cNvPr id="1505" name="Google Shape;1505;p115"/>
            <p:cNvGrpSpPr/>
            <p:nvPr/>
          </p:nvGrpSpPr>
          <p:grpSpPr>
            <a:xfrm>
              <a:off x="7237000" y="1229395"/>
              <a:ext cx="330000" cy="310800"/>
              <a:chOff x="1979200" y="1534195"/>
              <a:chExt cx="330000" cy="310800"/>
            </a:xfrm>
          </p:grpSpPr>
          <p:sp>
            <p:nvSpPr>
              <p:cNvPr id="1506" name="Google Shape;1506;p115"/>
              <p:cNvSpPr/>
              <p:nvPr/>
            </p:nvSpPr>
            <p:spPr>
              <a:xfrm>
                <a:off x="1988796" y="1534195"/>
                <a:ext cx="310800" cy="310800"/>
              </a:xfrm>
              <a:prstGeom prst="ellipse">
                <a:avLst/>
              </a:prstGeom>
              <a:solidFill>
                <a:srgbClr val="B6D7A8"/>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115"/>
              <p:cNvSpPr txBox="1"/>
              <p:nvPr/>
            </p:nvSpPr>
            <p:spPr>
              <a:xfrm>
                <a:off x="1979200" y="15433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grpSp>
        <p:grpSp>
          <p:nvGrpSpPr>
            <p:cNvPr id="1508" name="Google Shape;1508;p115"/>
            <p:cNvGrpSpPr/>
            <p:nvPr/>
          </p:nvGrpSpPr>
          <p:grpSpPr>
            <a:xfrm>
              <a:off x="6658292" y="1384795"/>
              <a:ext cx="588305" cy="707618"/>
              <a:chOff x="1019492" y="1384795"/>
              <a:chExt cx="588305" cy="707618"/>
            </a:xfrm>
          </p:grpSpPr>
          <p:cxnSp>
            <p:nvCxnSpPr>
              <p:cNvPr id="1509" name="Google Shape;1509;p115"/>
              <p:cNvCxnSpPr>
                <a:stCxn id="1506" idx="2"/>
                <a:endCxn id="1510" idx="0"/>
              </p:cNvCxnSpPr>
              <p:nvPr/>
            </p:nvCxnSpPr>
            <p:spPr>
              <a:xfrm flipH="1">
                <a:off x="1179096" y="1384795"/>
                <a:ext cx="428700" cy="395100"/>
              </a:xfrm>
              <a:prstGeom prst="curvedConnector2">
                <a:avLst/>
              </a:prstGeom>
              <a:noFill/>
              <a:ln w="19050" cap="flat" cmpd="sng">
                <a:solidFill>
                  <a:schemeClr val="accent2"/>
                </a:solidFill>
                <a:prstDash val="solid"/>
                <a:round/>
                <a:headEnd type="none" w="med" len="med"/>
                <a:tailEnd type="none" w="med" len="med"/>
              </a:ln>
            </p:spPr>
          </p:cxnSp>
          <p:grpSp>
            <p:nvGrpSpPr>
              <p:cNvPr id="1511" name="Google Shape;1511;p115"/>
              <p:cNvGrpSpPr/>
              <p:nvPr/>
            </p:nvGrpSpPr>
            <p:grpSpPr>
              <a:xfrm>
                <a:off x="1019492" y="1779967"/>
                <a:ext cx="330000" cy="312446"/>
                <a:chOff x="1400492" y="2084767"/>
                <a:chExt cx="330000" cy="312446"/>
              </a:xfrm>
            </p:grpSpPr>
            <p:sp>
              <p:nvSpPr>
                <p:cNvPr id="1510" name="Google Shape;1510;p115"/>
                <p:cNvSpPr/>
                <p:nvPr/>
              </p:nvSpPr>
              <p:spPr>
                <a:xfrm>
                  <a:off x="1404638" y="2084767"/>
                  <a:ext cx="310800" cy="310800"/>
                </a:xfrm>
                <a:prstGeom prst="ellipse">
                  <a:avLst/>
                </a:prstGeom>
                <a:solidFill>
                  <a:srgbClr val="9FC5E8"/>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115"/>
                <p:cNvSpPr txBox="1"/>
                <p:nvPr/>
              </p:nvSpPr>
              <p:spPr>
                <a:xfrm>
                  <a:off x="1400492" y="2104713"/>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10</a:t>
                  </a:r>
                  <a:endParaRPr sz="1000"/>
                </a:p>
              </p:txBody>
            </p:sp>
          </p:grpSp>
        </p:grpSp>
        <p:grpSp>
          <p:nvGrpSpPr>
            <p:cNvPr id="1513" name="Google Shape;1513;p115"/>
            <p:cNvGrpSpPr/>
            <p:nvPr/>
          </p:nvGrpSpPr>
          <p:grpSpPr>
            <a:xfrm>
              <a:off x="7557396" y="1384795"/>
              <a:ext cx="775009" cy="669188"/>
              <a:chOff x="1918596" y="1384795"/>
              <a:chExt cx="775009" cy="669188"/>
            </a:xfrm>
          </p:grpSpPr>
          <p:cxnSp>
            <p:nvCxnSpPr>
              <p:cNvPr id="1514" name="Google Shape;1514;p115"/>
              <p:cNvCxnSpPr>
                <a:stCxn id="1506" idx="6"/>
                <a:endCxn id="1515" idx="0"/>
              </p:cNvCxnSpPr>
              <p:nvPr/>
            </p:nvCxnSpPr>
            <p:spPr>
              <a:xfrm>
                <a:off x="1918596" y="1384795"/>
                <a:ext cx="609900" cy="358500"/>
              </a:xfrm>
              <a:prstGeom prst="curvedConnector2">
                <a:avLst/>
              </a:prstGeom>
              <a:noFill/>
              <a:ln w="19050" cap="flat" cmpd="sng">
                <a:solidFill>
                  <a:schemeClr val="accent2"/>
                </a:solidFill>
                <a:prstDash val="solid"/>
                <a:round/>
                <a:headEnd type="none" w="med" len="med"/>
                <a:tailEnd type="none" w="med" len="med"/>
              </a:ln>
            </p:spPr>
          </p:cxnSp>
          <p:grpSp>
            <p:nvGrpSpPr>
              <p:cNvPr id="1516" name="Google Shape;1516;p115"/>
              <p:cNvGrpSpPr/>
              <p:nvPr/>
            </p:nvGrpSpPr>
            <p:grpSpPr>
              <a:xfrm>
                <a:off x="2363606" y="1743183"/>
                <a:ext cx="330000" cy="310800"/>
                <a:chOff x="2744606" y="2047983"/>
                <a:chExt cx="330000" cy="310800"/>
              </a:xfrm>
            </p:grpSpPr>
            <p:sp>
              <p:nvSpPr>
                <p:cNvPr id="1515" name="Google Shape;1515;p115"/>
                <p:cNvSpPr/>
                <p:nvPr/>
              </p:nvSpPr>
              <p:spPr>
                <a:xfrm>
                  <a:off x="2754202" y="2047983"/>
                  <a:ext cx="310800" cy="310800"/>
                </a:xfrm>
                <a:prstGeom prst="ellipse">
                  <a:avLst/>
                </a:prstGeom>
                <a:solidFill>
                  <a:srgbClr val="9FC5E8"/>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115"/>
                <p:cNvSpPr txBox="1"/>
                <p:nvPr/>
              </p:nvSpPr>
              <p:spPr>
                <a:xfrm>
                  <a:off x="2744606" y="20571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21</a:t>
                  </a:r>
                  <a:endParaRPr sz="1000"/>
                </a:p>
              </p:txBody>
            </p:sp>
          </p:grpSp>
        </p:grpSp>
        <p:grpSp>
          <p:nvGrpSpPr>
            <p:cNvPr id="1518" name="Google Shape;1518;p115"/>
            <p:cNvGrpSpPr/>
            <p:nvPr/>
          </p:nvGrpSpPr>
          <p:grpSpPr>
            <a:xfrm>
              <a:off x="6205987" y="1935367"/>
              <a:ext cx="456451" cy="708074"/>
              <a:chOff x="567187" y="1935367"/>
              <a:chExt cx="456451" cy="708074"/>
            </a:xfrm>
          </p:grpSpPr>
          <p:cxnSp>
            <p:nvCxnSpPr>
              <p:cNvPr id="1519" name="Google Shape;1519;p115"/>
              <p:cNvCxnSpPr>
                <a:stCxn id="1510" idx="2"/>
                <a:endCxn id="1520" idx="0"/>
              </p:cNvCxnSpPr>
              <p:nvPr/>
            </p:nvCxnSpPr>
            <p:spPr>
              <a:xfrm flipH="1">
                <a:off x="732038" y="1935367"/>
                <a:ext cx="291600" cy="397200"/>
              </a:xfrm>
              <a:prstGeom prst="curvedConnector2">
                <a:avLst/>
              </a:prstGeom>
              <a:noFill/>
              <a:ln w="19050" cap="flat" cmpd="sng">
                <a:solidFill>
                  <a:schemeClr val="accent2"/>
                </a:solidFill>
                <a:prstDash val="solid"/>
                <a:round/>
                <a:headEnd type="none" w="med" len="med"/>
                <a:tailEnd type="none" w="med" len="med"/>
              </a:ln>
            </p:spPr>
          </p:cxnSp>
          <p:grpSp>
            <p:nvGrpSpPr>
              <p:cNvPr id="1521" name="Google Shape;1521;p115"/>
              <p:cNvGrpSpPr/>
              <p:nvPr/>
            </p:nvGrpSpPr>
            <p:grpSpPr>
              <a:xfrm>
                <a:off x="567187" y="2332641"/>
                <a:ext cx="330000" cy="310800"/>
                <a:chOff x="948187" y="2637441"/>
                <a:chExt cx="330000" cy="310800"/>
              </a:xfrm>
            </p:grpSpPr>
            <p:sp>
              <p:nvSpPr>
                <p:cNvPr id="1520" name="Google Shape;1520;p115"/>
                <p:cNvSpPr/>
                <p:nvPr/>
              </p:nvSpPr>
              <p:spPr>
                <a:xfrm>
                  <a:off x="957783" y="2637441"/>
                  <a:ext cx="310800" cy="310800"/>
                </a:xfrm>
                <a:prstGeom prst="ellipse">
                  <a:avLst/>
                </a:prstGeom>
                <a:solidFill>
                  <a:srgbClr val="FFE5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115"/>
                <p:cNvSpPr txBox="1"/>
                <p:nvPr/>
              </p:nvSpPr>
              <p:spPr>
                <a:xfrm>
                  <a:off x="948187" y="26466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50</a:t>
                  </a:r>
                  <a:endParaRPr sz="1000"/>
                </a:p>
              </p:txBody>
            </p:sp>
          </p:grpSp>
        </p:grpSp>
        <p:grpSp>
          <p:nvGrpSpPr>
            <p:cNvPr id="1523" name="Google Shape;1523;p115"/>
            <p:cNvGrpSpPr/>
            <p:nvPr/>
          </p:nvGrpSpPr>
          <p:grpSpPr>
            <a:xfrm>
              <a:off x="6973238" y="1935367"/>
              <a:ext cx="430021" cy="708074"/>
              <a:chOff x="1334438" y="1935367"/>
              <a:chExt cx="430021" cy="708074"/>
            </a:xfrm>
          </p:grpSpPr>
          <p:cxnSp>
            <p:nvCxnSpPr>
              <p:cNvPr id="1524" name="Google Shape;1524;p115"/>
              <p:cNvCxnSpPr>
                <a:stCxn id="1510" idx="6"/>
                <a:endCxn id="1525" idx="0"/>
              </p:cNvCxnSpPr>
              <p:nvPr/>
            </p:nvCxnSpPr>
            <p:spPr>
              <a:xfrm>
                <a:off x="1334438" y="1935367"/>
                <a:ext cx="259800" cy="397200"/>
              </a:xfrm>
              <a:prstGeom prst="curvedConnector2">
                <a:avLst/>
              </a:prstGeom>
              <a:noFill/>
              <a:ln w="19050" cap="flat" cmpd="sng">
                <a:solidFill>
                  <a:schemeClr val="accent2"/>
                </a:solidFill>
                <a:prstDash val="solid"/>
                <a:round/>
                <a:headEnd type="none" w="med" len="med"/>
                <a:tailEnd type="none" w="med" len="med"/>
              </a:ln>
            </p:spPr>
          </p:cxnSp>
          <p:grpSp>
            <p:nvGrpSpPr>
              <p:cNvPr id="1526" name="Google Shape;1526;p115"/>
              <p:cNvGrpSpPr/>
              <p:nvPr/>
            </p:nvGrpSpPr>
            <p:grpSpPr>
              <a:xfrm>
                <a:off x="1434458" y="2332641"/>
                <a:ext cx="330000" cy="310800"/>
                <a:chOff x="1815458" y="2637441"/>
                <a:chExt cx="330000" cy="310800"/>
              </a:xfrm>
            </p:grpSpPr>
            <p:sp>
              <p:nvSpPr>
                <p:cNvPr id="1525" name="Google Shape;1525;p115"/>
                <p:cNvSpPr/>
                <p:nvPr/>
              </p:nvSpPr>
              <p:spPr>
                <a:xfrm>
                  <a:off x="1819876" y="2637441"/>
                  <a:ext cx="310800" cy="310800"/>
                </a:xfrm>
                <a:prstGeom prst="ellipse">
                  <a:avLst/>
                </a:prstGeom>
                <a:solidFill>
                  <a:srgbClr val="FFE5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115"/>
                <p:cNvSpPr txBox="1"/>
                <p:nvPr/>
              </p:nvSpPr>
              <p:spPr>
                <a:xfrm>
                  <a:off x="1815458" y="26466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60</a:t>
                  </a:r>
                  <a:endParaRPr sz="1000"/>
                </a:p>
              </p:txBody>
            </p:sp>
          </p:grpSp>
        </p:grpSp>
        <p:grpSp>
          <p:nvGrpSpPr>
            <p:cNvPr id="1528" name="Google Shape;1528;p115"/>
            <p:cNvGrpSpPr/>
            <p:nvPr/>
          </p:nvGrpSpPr>
          <p:grpSpPr>
            <a:xfrm>
              <a:off x="7623766" y="1898583"/>
              <a:ext cx="1144406" cy="744857"/>
              <a:chOff x="1984966" y="1898583"/>
              <a:chExt cx="1144406" cy="744857"/>
            </a:xfrm>
          </p:grpSpPr>
          <p:grpSp>
            <p:nvGrpSpPr>
              <p:cNvPr id="1529" name="Google Shape;1529;p115"/>
              <p:cNvGrpSpPr/>
              <p:nvPr/>
            </p:nvGrpSpPr>
            <p:grpSpPr>
              <a:xfrm>
                <a:off x="2140402" y="1898583"/>
                <a:ext cx="824100" cy="434100"/>
                <a:chOff x="2140402" y="1898583"/>
                <a:chExt cx="824100" cy="434100"/>
              </a:xfrm>
            </p:grpSpPr>
            <p:cxnSp>
              <p:nvCxnSpPr>
                <p:cNvPr id="1530" name="Google Shape;1530;p115"/>
                <p:cNvCxnSpPr>
                  <a:stCxn id="1515" idx="2"/>
                  <a:endCxn id="1531" idx="0"/>
                </p:cNvCxnSpPr>
                <p:nvPr/>
              </p:nvCxnSpPr>
              <p:spPr>
                <a:xfrm flipH="1">
                  <a:off x="2140402" y="1898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1532" name="Google Shape;1532;p115"/>
                <p:cNvCxnSpPr>
                  <a:stCxn id="1515" idx="6"/>
                  <a:endCxn id="1533" idx="0"/>
                </p:cNvCxnSpPr>
                <p:nvPr/>
              </p:nvCxnSpPr>
              <p:spPr>
                <a:xfrm>
                  <a:off x="2684002" y="1898583"/>
                  <a:ext cx="280500" cy="434100"/>
                </a:xfrm>
                <a:prstGeom prst="curvedConnector2">
                  <a:avLst/>
                </a:prstGeom>
                <a:noFill/>
                <a:ln w="19050" cap="flat" cmpd="sng">
                  <a:solidFill>
                    <a:schemeClr val="accent2"/>
                  </a:solidFill>
                  <a:prstDash val="solid"/>
                  <a:round/>
                  <a:headEnd type="none" w="med" len="med"/>
                  <a:tailEnd type="none" w="med" len="med"/>
                </a:ln>
              </p:spPr>
            </p:cxnSp>
          </p:grpSp>
          <p:grpSp>
            <p:nvGrpSpPr>
              <p:cNvPr id="1534" name="Google Shape;1534;p115"/>
              <p:cNvGrpSpPr/>
              <p:nvPr/>
            </p:nvGrpSpPr>
            <p:grpSpPr>
              <a:xfrm>
                <a:off x="1984966" y="2332641"/>
                <a:ext cx="1144406" cy="310800"/>
                <a:chOff x="1984966" y="2332641"/>
                <a:chExt cx="1144406" cy="310800"/>
              </a:xfrm>
            </p:grpSpPr>
            <p:grpSp>
              <p:nvGrpSpPr>
                <p:cNvPr id="1535" name="Google Shape;1535;p115"/>
                <p:cNvGrpSpPr/>
                <p:nvPr/>
              </p:nvGrpSpPr>
              <p:grpSpPr>
                <a:xfrm>
                  <a:off x="1984966" y="2332641"/>
                  <a:ext cx="330000" cy="310800"/>
                  <a:chOff x="2365966" y="2637441"/>
                  <a:chExt cx="330000" cy="310800"/>
                </a:xfrm>
              </p:grpSpPr>
              <p:sp>
                <p:nvSpPr>
                  <p:cNvPr id="1531" name="Google Shape;1531;p115"/>
                  <p:cNvSpPr/>
                  <p:nvPr/>
                </p:nvSpPr>
                <p:spPr>
                  <a:xfrm>
                    <a:off x="2366003" y="2637441"/>
                    <a:ext cx="310800" cy="310800"/>
                  </a:xfrm>
                  <a:prstGeom prst="ellipse">
                    <a:avLst/>
                  </a:prstGeom>
                  <a:solidFill>
                    <a:srgbClr val="EA99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115"/>
                  <p:cNvSpPr txBox="1"/>
                  <p:nvPr/>
                </p:nvSpPr>
                <p:spPr>
                  <a:xfrm>
                    <a:off x="2365966" y="264660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43</a:t>
                    </a:r>
                    <a:endParaRPr sz="1000"/>
                  </a:p>
                </p:txBody>
              </p:sp>
            </p:grpSp>
            <p:grpSp>
              <p:nvGrpSpPr>
                <p:cNvPr id="1537" name="Google Shape;1537;p115"/>
                <p:cNvGrpSpPr/>
                <p:nvPr/>
              </p:nvGrpSpPr>
              <p:grpSpPr>
                <a:xfrm>
                  <a:off x="2799372" y="2332641"/>
                  <a:ext cx="330000" cy="310800"/>
                  <a:chOff x="3180372" y="2637441"/>
                  <a:chExt cx="330000" cy="310800"/>
                </a:xfrm>
              </p:grpSpPr>
              <p:sp>
                <p:nvSpPr>
                  <p:cNvPr id="1533" name="Google Shape;1533;p115"/>
                  <p:cNvSpPr/>
                  <p:nvPr/>
                </p:nvSpPr>
                <p:spPr>
                  <a:xfrm>
                    <a:off x="3189956" y="2637441"/>
                    <a:ext cx="310800" cy="310800"/>
                  </a:xfrm>
                  <a:prstGeom prst="ellipse">
                    <a:avLst/>
                  </a:prstGeom>
                  <a:solidFill>
                    <a:srgbClr val="EA99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115"/>
                  <p:cNvSpPr txBox="1"/>
                  <p:nvPr/>
                </p:nvSpPr>
                <p:spPr>
                  <a:xfrm>
                    <a:off x="3180372" y="264660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24</a:t>
                    </a:r>
                    <a:endParaRPr sz="1000"/>
                  </a:p>
                </p:txBody>
              </p:sp>
            </p:grpSp>
          </p:grpSp>
        </p:grpSp>
        <p:grpSp>
          <p:nvGrpSpPr>
            <p:cNvPr id="1539" name="Google Shape;1539;p115"/>
            <p:cNvGrpSpPr/>
            <p:nvPr/>
          </p:nvGrpSpPr>
          <p:grpSpPr>
            <a:xfrm>
              <a:off x="6526383" y="2488041"/>
              <a:ext cx="491272" cy="618348"/>
              <a:chOff x="887583" y="2488041"/>
              <a:chExt cx="491272" cy="618348"/>
            </a:xfrm>
          </p:grpSpPr>
          <p:cxnSp>
            <p:nvCxnSpPr>
              <p:cNvPr id="1540" name="Google Shape;1540;p115"/>
              <p:cNvCxnSpPr>
                <a:stCxn id="1520" idx="6"/>
                <a:endCxn id="1541" idx="0"/>
              </p:cNvCxnSpPr>
              <p:nvPr/>
            </p:nvCxnSpPr>
            <p:spPr>
              <a:xfrm>
                <a:off x="887583" y="2488041"/>
                <a:ext cx="326400" cy="307500"/>
              </a:xfrm>
              <a:prstGeom prst="curvedConnector2">
                <a:avLst/>
              </a:prstGeom>
              <a:noFill/>
              <a:ln w="19050" cap="flat" cmpd="sng">
                <a:solidFill>
                  <a:schemeClr val="accent2"/>
                </a:solidFill>
                <a:prstDash val="solid"/>
                <a:round/>
                <a:headEnd type="none" w="med" len="med"/>
                <a:tailEnd type="none" w="med" len="med"/>
              </a:ln>
            </p:spPr>
          </p:cxnSp>
          <p:grpSp>
            <p:nvGrpSpPr>
              <p:cNvPr id="1542" name="Google Shape;1542;p115"/>
              <p:cNvGrpSpPr/>
              <p:nvPr/>
            </p:nvGrpSpPr>
            <p:grpSpPr>
              <a:xfrm>
                <a:off x="1048855" y="2795589"/>
                <a:ext cx="330000" cy="310800"/>
                <a:chOff x="1429855" y="3100389"/>
                <a:chExt cx="330000" cy="310800"/>
              </a:xfrm>
            </p:grpSpPr>
            <p:sp>
              <p:nvSpPr>
                <p:cNvPr id="1541" name="Google Shape;1541;p115"/>
                <p:cNvSpPr/>
                <p:nvPr/>
              </p:nvSpPr>
              <p:spPr>
                <a:xfrm>
                  <a:off x="1439451" y="3100389"/>
                  <a:ext cx="310800" cy="310800"/>
                </a:xfrm>
                <a:prstGeom prst="ellipse">
                  <a:avLst/>
                </a:prstGeom>
                <a:solidFill>
                  <a:srgbClr val="F6B26B"/>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115"/>
                <p:cNvSpPr txBox="1"/>
                <p:nvPr/>
              </p:nvSpPr>
              <p:spPr>
                <a:xfrm>
                  <a:off x="1429855" y="31095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grpSp>
        </p:grpSp>
        <p:grpSp>
          <p:nvGrpSpPr>
            <p:cNvPr id="1544" name="Google Shape;1544;p115"/>
            <p:cNvGrpSpPr/>
            <p:nvPr/>
          </p:nvGrpSpPr>
          <p:grpSpPr>
            <a:xfrm>
              <a:off x="5779144" y="2488041"/>
              <a:ext cx="436439" cy="618348"/>
              <a:chOff x="140344" y="2488041"/>
              <a:chExt cx="436439" cy="618348"/>
            </a:xfrm>
          </p:grpSpPr>
          <p:cxnSp>
            <p:nvCxnSpPr>
              <p:cNvPr id="1545" name="Google Shape;1545;p115"/>
              <p:cNvCxnSpPr>
                <a:stCxn id="1520" idx="2"/>
                <a:endCxn id="1546" idx="0"/>
              </p:cNvCxnSpPr>
              <p:nvPr/>
            </p:nvCxnSpPr>
            <p:spPr>
              <a:xfrm flipH="1">
                <a:off x="305283" y="2488041"/>
                <a:ext cx="271500" cy="307500"/>
              </a:xfrm>
              <a:prstGeom prst="curvedConnector2">
                <a:avLst/>
              </a:prstGeom>
              <a:noFill/>
              <a:ln w="19050" cap="flat" cmpd="sng">
                <a:solidFill>
                  <a:schemeClr val="accent2"/>
                </a:solidFill>
                <a:prstDash val="solid"/>
                <a:round/>
                <a:headEnd type="none" w="med" len="med"/>
                <a:tailEnd type="none" w="med" len="med"/>
              </a:ln>
            </p:spPr>
          </p:cxnSp>
          <p:grpSp>
            <p:nvGrpSpPr>
              <p:cNvPr id="1547" name="Google Shape;1547;p115"/>
              <p:cNvGrpSpPr/>
              <p:nvPr/>
            </p:nvGrpSpPr>
            <p:grpSpPr>
              <a:xfrm>
                <a:off x="140344" y="2795589"/>
                <a:ext cx="330000" cy="310800"/>
                <a:chOff x="521344" y="3100389"/>
                <a:chExt cx="330000" cy="310800"/>
              </a:xfrm>
            </p:grpSpPr>
            <p:sp>
              <p:nvSpPr>
                <p:cNvPr id="1546" name="Google Shape;1546;p115"/>
                <p:cNvSpPr/>
                <p:nvPr/>
              </p:nvSpPr>
              <p:spPr>
                <a:xfrm>
                  <a:off x="530940" y="3100389"/>
                  <a:ext cx="310800" cy="310800"/>
                </a:xfrm>
                <a:prstGeom prst="ellipse">
                  <a:avLst/>
                </a:prstGeom>
                <a:solidFill>
                  <a:srgbClr val="F6B26B"/>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115"/>
                <p:cNvSpPr txBox="1"/>
                <p:nvPr/>
              </p:nvSpPr>
              <p:spPr>
                <a:xfrm>
                  <a:off x="521344" y="31095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68</a:t>
                  </a:r>
                  <a:endParaRPr sz="1000"/>
                </a:p>
              </p:txBody>
            </p:sp>
          </p:grpSp>
        </p:grpSp>
      </p:grpSp>
      <p:sp>
        <p:nvSpPr>
          <p:cNvPr id="1549" name="Google Shape;1549;p115"/>
          <p:cNvSpPr txBox="1">
            <a:spLocks noGrp="1"/>
          </p:cNvSpPr>
          <p:nvPr>
            <p:ph type="body" idx="3"/>
          </p:nvPr>
        </p:nvSpPr>
        <p:spPr>
          <a:xfrm>
            <a:off x="5188525" y="3841375"/>
            <a:ext cx="3706500" cy="6150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Let's look at an example of how this heap would be overlaid onto an array.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0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0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0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0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0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0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0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0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0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50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0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549"/>
                                        </p:tgtEl>
                                        <p:attrNameLst>
                                          <p:attrName>style.visibility</p:attrName>
                                        </p:attrNameLst>
                                      </p:cBhvr>
                                      <p:to>
                                        <p:strVal val="visible"/>
                                      </p:to>
                                    </p:set>
                                    <p:animEffect transition="in" filter="fade">
                                      <p:cBhvr>
                                        <p:cTn id="59" dur="1000"/>
                                        <p:tgtEl>
                                          <p:spTgt spid="1549"/>
                                        </p:tgtEl>
                                      </p:cBhvr>
                                    </p:animEffect>
                                  </p:childTnLst>
                                </p:cTn>
                              </p:par>
                              <p:par>
                                <p:cTn id="60" presetID="10" presetClass="entr" presetSubtype="0" fill="hold" nodeType="withEffect">
                                  <p:stCondLst>
                                    <p:cond delay="0"/>
                                  </p:stCondLst>
                                  <p:childTnLst>
                                    <p:set>
                                      <p:cBhvr>
                                        <p:cTn id="61" dur="1" fill="hold">
                                          <p:stCondLst>
                                            <p:cond delay="0"/>
                                          </p:stCondLst>
                                        </p:cTn>
                                        <p:tgtEl>
                                          <p:spTgt spid="1504"/>
                                        </p:tgtEl>
                                        <p:attrNameLst>
                                          <p:attrName>style.visibility</p:attrName>
                                        </p:attrNameLst>
                                      </p:cBhvr>
                                      <p:to>
                                        <p:strVal val="visible"/>
                                      </p:to>
                                    </p:set>
                                    <p:animEffect transition="in" filter="fade">
                                      <p:cBhvr>
                                        <p:cTn id="62" dur="1000"/>
                                        <p:tgtEl>
                                          <p:spTgt spid="1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553"/>
        <p:cNvGrpSpPr/>
        <p:nvPr/>
      </p:nvGrpSpPr>
      <p:grpSpPr>
        <a:xfrm>
          <a:off x="0" y="0"/>
          <a:ext cx="0" cy="0"/>
          <a:chOff x="0" y="0"/>
          <a:chExt cx="0" cy="0"/>
        </a:xfrm>
      </p:grpSpPr>
      <p:sp>
        <p:nvSpPr>
          <p:cNvPr id="1554" name="Google Shape;1554;p11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Array-Based Heap</a:t>
            </a:r>
            <a:endParaRPr/>
          </a:p>
        </p:txBody>
      </p:sp>
      <p:sp>
        <p:nvSpPr>
          <p:cNvPr id="1555" name="Google Shape;1555;p116"/>
          <p:cNvSpPr/>
          <p:nvPr/>
        </p:nvSpPr>
        <p:spPr>
          <a:xfrm>
            <a:off x="3974025" y="1451800"/>
            <a:ext cx="477000" cy="4770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a:t>
            </a:r>
            <a:endParaRPr/>
          </a:p>
        </p:txBody>
      </p:sp>
      <p:grpSp>
        <p:nvGrpSpPr>
          <p:cNvPr id="1556" name="Google Shape;1556;p116"/>
          <p:cNvGrpSpPr/>
          <p:nvPr/>
        </p:nvGrpSpPr>
        <p:grpSpPr>
          <a:xfrm>
            <a:off x="4451025" y="1451800"/>
            <a:ext cx="954000" cy="477000"/>
            <a:chOff x="4679625" y="1375600"/>
            <a:chExt cx="954000" cy="477000"/>
          </a:xfrm>
        </p:grpSpPr>
        <p:sp>
          <p:nvSpPr>
            <p:cNvPr id="1557" name="Google Shape;1557;p116"/>
            <p:cNvSpPr/>
            <p:nvPr/>
          </p:nvSpPr>
          <p:spPr>
            <a:xfrm>
              <a:off x="4679625" y="1375600"/>
              <a:ext cx="477000" cy="477000"/>
            </a:xfrm>
            <a:prstGeom prst="rect">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10</a:t>
              </a:r>
              <a:endParaRPr/>
            </a:p>
          </p:txBody>
        </p:sp>
        <p:sp>
          <p:nvSpPr>
            <p:cNvPr id="1558" name="Google Shape;1558;p116"/>
            <p:cNvSpPr/>
            <p:nvPr/>
          </p:nvSpPr>
          <p:spPr>
            <a:xfrm>
              <a:off x="5156625" y="1375600"/>
              <a:ext cx="477000" cy="477000"/>
            </a:xfrm>
            <a:prstGeom prst="rect">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21</a:t>
              </a:r>
              <a:endParaRPr/>
            </a:p>
          </p:txBody>
        </p:sp>
      </p:grpSp>
      <p:grpSp>
        <p:nvGrpSpPr>
          <p:cNvPr id="1559" name="Google Shape;1559;p116"/>
          <p:cNvGrpSpPr/>
          <p:nvPr/>
        </p:nvGrpSpPr>
        <p:grpSpPr>
          <a:xfrm>
            <a:off x="5405025" y="1451800"/>
            <a:ext cx="954000" cy="477000"/>
            <a:chOff x="5633625" y="1375600"/>
            <a:chExt cx="954000" cy="477000"/>
          </a:xfrm>
        </p:grpSpPr>
        <p:sp>
          <p:nvSpPr>
            <p:cNvPr id="1560" name="Google Shape;1560;p116"/>
            <p:cNvSpPr/>
            <p:nvPr/>
          </p:nvSpPr>
          <p:spPr>
            <a:xfrm>
              <a:off x="5633625" y="1375600"/>
              <a:ext cx="477000" cy="4770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50</a:t>
              </a:r>
              <a:endParaRPr/>
            </a:p>
          </p:txBody>
        </p:sp>
        <p:sp>
          <p:nvSpPr>
            <p:cNvPr id="1561" name="Google Shape;1561;p116"/>
            <p:cNvSpPr/>
            <p:nvPr/>
          </p:nvSpPr>
          <p:spPr>
            <a:xfrm>
              <a:off x="6110625" y="1375600"/>
              <a:ext cx="477000" cy="477000"/>
            </a:xfrm>
            <a:prstGeom prst="rect">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60</a:t>
              </a:r>
              <a:endParaRPr/>
            </a:p>
          </p:txBody>
        </p:sp>
      </p:grpSp>
      <p:grpSp>
        <p:nvGrpSpPr>
          <p:cNvPr id="1562" name="Google Shape;1562;p116"/>
          <p:cNvGrpSpPr/>
          <p:nvPr/>
        </p:nvGrpSpPr>
        <p:grpSpPr>
          <a:xfrm>
            <a:off x="1598200" y="1381795"/>
            <a:ext cx="330000" cy="310800"/>
            <a:chOff x="1979200" y="1534195"/>
            <a:chExt cx="330000" cy="310800"/>
          </a:xfrm>
        </p:grpSpPr>
        <p:sp>
          <p:nvSpPr>
            <p:cNvPr id="1563" name="Google Shape;1563;p116"/>
            <p:cNvSpPr/>
            <p:nvPr/>
          </p:nvSpPr>
          <p:spPr>
            <a:xfrm>
              <a:off x="1988796" y="1534195"/>
              <a:ext cx="310800" cy="310800"/>
            </a:xfrm>
            <a:prstGeom prst="ellipse">
              <a:avLst/>
            </a:prstGeom>
            <a:solidFill>
              <a:srgbClr val="B6D7A8"/>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116"/>
            <p:cNvSpPr txBox="1"/>
            <p:nvPr/>
          </p:nvSpPr>
          <p:spPr>
            <a:xfrm>
              <a:off x="1979200" y="15433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grpSp>
      <p:grpSp>
        <p:nvGrpSpPr>
          <p:cNvPr id="1565" name="Google Shape;1565;p116"/>
          <p:cNvGrpSpPr/>
          <p:nvPr/>
        </p:nvGrpSpPr>
        <p:grpSpPr>
          <a:xfrm>
            <a:off x="1019492" y="1537195"/>
            <a:ext cx="588305" cy="707618"/>
            <a:chOff x="1019492" y="1384795"/>
            <a:chExt cx="588305" cy="707618"/>
          </a:xfrm>
        </p:grpSpPr>
        <p:cxnSp>
          <p:nvCxnSpPr>
            <p:cNvPr id="1566" name="Google Shape;1566;p116"/>
            <p:cNvCxnSpPr>
              <a:stCxn id="1563" idx="2"/>
              <a:endCxn id="1567" idx="0"/>
            </p:cNvCxnSpPr>
            <p:nvPr/>
          </p:nvCxnSpPr>
          <p:spPr>
            <a:xfrm flipH="1">
              <a:off x="1179096" y="1384795"/>
              <a:ext cx="428700" cy="395100"/>
            </a:xfrm>
            <a:prstGeom prst="curvedConnector2">
              <a:avLst/>
            </a:prstGeom>
            <a:noFill/>
            <a:ln w="19050" cap="flat" cmpd="sng">
              <a:solidFill>
                <a:schemeClr val="accent2"/>
              </a:solidFill>
              <a:prstDash val="solid"/>
              <a:round/>
              <a:headEnd type="none" w="med" len="med"/>
              <a:tailEnd type="none" w="med" len="med"/>
            </a:ln>
          </p:spPr>
        </p:cxnSp>
        <p:grpSp>
          <p:nvGrpSpPr>
            <p:cNvPr id="1568" name="Google Shape;1568;p116"/>
            <p:cNvGrpSpPr/>
            <p:nvPr/>
          </p:nvGrpSpPr>
          <p:grpSpPr>
            <a:xfrm>
              <a:off x="1019492" y="1779967"/>
              <a:ext cx="330000" cy="312446"/>
              <a:chOff x="1400492" y="2084767"/>
              <a:chExt cx="330000" cy="312446"/>
            </a:xfrm>
          </p:grpSpPr>
          <p:sp>
            <p:nvSpPr>
              <p:cNvPr id="1567" name="Google Shape;1567;p116"/>
              <p:cNvSpPr/>
              <p:nvPr/>
            </p:nvSpPr>
            <p:spPr>
              <a:xfrm>
                <a:off x="1404638" y="2084767"/>
                <a:ext cx="310800" cy="310800"/>
              </a:xfrm>
              <a:prstGeom prst="ellipse">
                <a:avLst/>
              </a:prstGeom>
              <a:solidFill>
                <a:srgbClr val="9FC5E8"/>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116"/>
              <p:cNvSpPr txBox="1"/>
              <p:nvPr/>
            </p:nvSpPr>
            <p:spPr>
              <a:xfrm>
                <a:off x="1400492" y="2104713"/>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10</a:t>
                </a:r>
                <a:endParaRPr sz="1000"/>
              </a:p>
            </p:txBody>
          </p:sp>
        </p:grpSp>
      </p:grpSp>
      <p:grpSp>
        <p:nvGrpSpPr>
          <p:cNvPr id="1570" name="Google Shape;1570;p116"/>
          <p:cNvGrpSpPr/>
          <p:nvPr/>
        </p:nvGrpSpPr>
        <p:grpSpPr>
          <a:xfrm>
            <a:off x="1918596" y="1537195"/>
            <a:ext cx="775009" cy="669188"/>
            <a:chOff x="1918596" y="1384795"/>
            <a:chExt cx="775009" cy="669188"/>
          </a:xfrm>
        </p:grpSpPr>
        <p:cxnSp>
          <p:nvCxnSpPr>
            <p:cNvPr id="1571" name="Google Shape;1571;p116"/>
            <p:cNvCxnSpPr>
              <a:stCxn id="1563" idx="6"/>
              <a:endCxn id="1572" idx="0"/>
            </p:cNvCxnSpPr>
            <p:nvPr/>
          </p:nvCxnSpPr>
          <p:spPr>
            <a:xfrm>
              <a:off x="1918596" y="1384795"/>
              <a:ext cx="609900" cy="358500"/>
            </a:xfrm>
            <a:prstGeom prst="curvedConnector2">
              <a:avLst/>
            </a:prstGeom>
            <a:noFill/>
            <a:ln w="19050" cap="flat" cmpd="sng">
              <a:solidFill>
                <a:schemeClr val="accent2"/>
              </a:solidFill>
              <a:prstDash val="solid"/>
              <a:round/>
              <a:headEnd type="none" w="med" len="med"/>
              <a:tailEnd type="none" w="med" len="med"/>
            </a:ln>
          </p:spPr>
        </p:cxnSp>
        <p:grpSp>
          <p:nvGrpSpPr>
            <p:cNvPr id="1573" name="Google Shape;1573;p116"/>
            <p:cNvGrpSpPr/>
            <p:nvPr/>
          </p:nvGrpSpPr>
          <p:grpSpPr>
            <a:xfrm>
              <a:off x="2363606" y="1743183"/>
              <a:ext cx="330000" cy="310800"/>
              <a:chOff x="2744606" y="2047983"/>
              <a:chExt cx="330000" cy="310800"/>
            </a:xfrm>
          </p:grpSpPr>
          <p:sp>
            <p:nvSpPr>
              <p:cNvPr id="1572" name="Google Shape;1572;p116"/>
              <p:cNvSpPr/>
              <p:nvPr/>
            </p:nvSpPr>
            <p:spPr>
              <a:xfrm>
                <a:off x="2754202" y="2047983"/>
                <a:ext cx="310800" cy="310800"/>
              </a:xfrm>
              <a:prstGeom prst="ellipse">
                <a:avLst/>
              </a:prstGeom>
              <a:solidFill>
                <a:srgbClr val="9FC5E8"/>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116"/>
              <p:cNvSpPr txBox="1"/>
              <p:nvPr/>
            </p:nvSpPr>
            <p:spPr>
              <a:xfrm>
                <a:off x="2744606" y="20571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21</a:t>
                </a:r>
                <a:endParaRPr sz="1000"/>
              </a:p>
            </p:txBody>
          </p:sp>
        </p:grpSp>
      </p:grpSp>
      <p:grpSp>
        <p:nvGrpSpPr>
          <p:cNvPr id="1575" name="Google Shape;1575;p116"/>
          <p:cNvGrpSpPr/>
          <p:nvPr/>
        </p:nvGrpSpPr>
        <p:grpSpPr>
          <a:xfrm>
            <a:off x="567187" y="2087767"/>
            <a:ext cx="456451" cy="708074"/>
            <a:chOff x="567187" y="1935367"/>
            <a:chExt cx="456451" cy="708074"/>
          </a:xfrm>
        </p:grpSpPr>
        <p:cxnSp>
          <p:nvCxnSpPr>
            <p:cNvPr id="1576" name="Google Shape;1576;p116"/>
            <p:cNvCxnSpPr>
              <a:stCxn id="1567" idx="2"/>
              <a:endCxn id="1577" idx="0"/>
            </p:cNvCxnSpPr>
            <p:nvPr/>
          </p:nvCxnSpPr>
          <p:spPr>
            <a:xfrm flipH="1">
              <a:off x="732038" y="1935367"/>
              <a:ext cx="291600" cy="397200"/>
            </a:xfrm>
            <a:prstGeom prst="curvedConnector2">
              <a:avLst/>
            </a:prstGeom>
            <a:noFill/>
            <a:ln w="19050" cap="flat" cmpd="sng">
              <a:solidFill>
                <a:schemeClr val="accent2"/>
              </a:solidFill>
              <a:prstDash val="solid"/>
              <a:round/>
              <a:headEnd type="none" w="med" len="med"/>
              <a:tailEnd type="none" w="med" len="med"/>
            </a:ln>
          </p:spPr>
        </p:cxnSp>
        <p:grpSp>
          <p:nvGrpSpPr>
            <p:cNvPr id="1578" name="Google Shape;1578;p116"/>
            <p:cNvGrpSpPr/>
            <p:nvPr/>
          </p:nvGrpSpPr>
          <p:grpSpPr>
            <a:xfrm>
              <a:off x="567187" y="2332641"/>
              <a:ext cx="330000" cy="310800"/>
              <a:chOff x="948187" y="2637441"/>
              <a:chExt cx="330000" cy="310800"/>
            </a:xfrm>
          </p:grpSpPr>
          <p:sp>
            <p:nvSpPr>
              <p:cNvPr id="1577" name="Google Shape;1577;p116"/>
              <p:cNvSpPr/>
              <p:nvPr/>
            </p:nvSpPr>
            <p:spPr>
              <a:xfrm>
                <a:off x="957783" y="2637441"/>
                <a:ext cx="310800" cy="310800"/>
              </a:xfrm>
              <a:prstGeom prst="ellipse">
                <a:avLst/>
              </a:prstGeom>
              <a:solidFill>
                <a:srgbClr val="FFE5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116"/>
              <p:cNvSpPr txBox="1"/>
              <p:nvPr/>
            </p:nvSpPr>
            <p:spPr>
              <a:xfrm>
                <a:off x="948187" y="26466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50</a:t>
                </a:r>
                <a:endParaRPr sz="1000"/>
              </a:p>
            </p:txBody>
          </p:sp>
        </p:grpSp>
      </p:grpSp>
      <p:grpSp>
        <p:nvGrpSpPr>
          <p:cNvPr id="1580" name="Google Shape;1580;p116"/>
          <p:cNvGrpSpPr/>
          <p:nvPr/>
        </p:nvGrpSpPr>
        <p:grpSpPr>
          <a:xfrm>
            <a:off x="1334438" y="2087767"/>
            <a:ext cx="430021" cy="708074"/>
            <a:chOff x="1334438" y="1935367"/>
            <a:chExt cx="430021" cy="708074"/>
          </a:xfrm>
        </p:grpSpPr>
        <p:cxnSp>
          <p:nvCxnSpPr>
            <p:cNvPr id="1581" name="Google Shape;1581;p116"/>
            <p:cNvCxnSpPr>
              <a:stCxn id="1567" idx="6"/>
              <a:endCxn id="1582" idx="0"/>
            </p:cNvCxnSpPr>
            <p:nvPr/>
          </p:nvCxnSpPr>
          <p:spPr>
            <a:xfrm>
              <a:off x="1334438" y="1935367"/>
              <a:ext cx="259800" cy="397200"/>
            </a:xfrm>
            <a:prstGeom prst="curvedConnector2">
              <a:avLst/>
            </a:prstGeom>
            <a:noFill/>
            <a:ln w="19050" cap="flat" cmpd="sng">
              <a:solidFill>
                <a:schemeClr val="accent2"/>
              </a:solidFill>
              <a:prstDash val="solid"/>
              <a:round/>
              <a:headEnd type="none" w="med" len="med"/>
              <a:tailEnd type="none" w="med" len="med"/>
            </a:ln>
          </p:spPr>
        </p:cxnSp>
        <p:grpSp>
          <p:nvGrpSpPr>
            <p:cNvPr id="1583" name="Google Shape;1583;p116"/>
            <p:cNvGrpSpPr/>
            <p:nvPr/>
          </p:nvGrpSpPr>
          <p:grpSpPr>
            <a:xfrm>
              <a:off x="1434458" y="2332641"/>
              <a:ext cx="330000" cy="310800"/>
              <a:chOff x="1815458" y="2637441"/>
              <a:chExt cx="330000" cy="310800"/>
            </a:xfrm>
          </p:grpSpPr>
          <p:sp>
            <p:nvSpPr>
              <p:cNvPr id="1582" name="Google Shape;1582;p116"/>
              <p:cNvSpPr/>
              <p:nvPr/>
            </p:nvSpPr>
            <p:spPr>
              <a:xfrm>
                <a:off x="1819876" y="2637441"/>
                <a:ext cx="310800" cy="310800"/>
              </a:xfrm>
              <a:prstGeom prst="ellipse">
                <a:avLst/>
              </a:prstGeom>
              <a:solidFill>
                <a:srgbClr val="FFE5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116"/>
              <p:cNvSpPr txBox="1"/>
              <p:nvPr/>
            </p:nvSpPr>
            <p:spPr>
              <a:xfrm>
                <a:off x="1815458" y="26466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60</a:t>
                </a:r>
                <a:endParaRPr sz="1000"/>
              </a:p>
            </p:txBody>
          </p:sp>
        </p:grpSp>
      </p:grpSp>
      <p:grpSp>
        <p:nvGrpSpPr>
          <p:cNvPr id="1585" name="Google Shape;1585;p116"/>
          <p:cNvGrpSpPr/>
          <p:nvPr/>
        </p:nvGrpSpPr>
        <p:grpSpPr>
          <a:xfrm>
            <a:off x="1984966" y="2050983"/>
            <a:ext cx="1144406" cy="744857"/>
            <a:chOff x="1984966" y="1898583"/>
            <a:chExt cx="1144406" cy="744857"/>
          </a:xfrm>
        </p:grpSpPr>
        <p:grpSp>
          <p:nvGrpSpPr>
            <p:cNvPr id="1586" name="Google Shape;1586;p116"/>
            <p:cNvGrpSpPr/>
            <p:nvPr/>
          </p:nvGrpSpPr>
          <p:grpSpPr>
            <a:xfrm>
              <a:off x="2140402" y="1898583"/>
              <a:ext cx="824100" cy="434100"/>
              <a:chOff x="2140402" y="1898583"/>
              <a:chExt cx="824100" cy="434100"/>
            </a:xfrm>
          </p:grpSpPr>
          <p:cxnSp>
            <p:nvCxnSpPr>
              <p:cNvPr id="1587" name="Google Shape;1587;p116"/>
              <p:cNvCxnSpPr>
                <a:stCxn id="1572" idx="2"/>
                <a:endCxn id="1588" idx="0"/>
              </p:cNvCxnSpPr>
              <p:nvPr/>
            </p:nvCxnSpPr>
            <p:spPr>
              <a:xfrm flipH="1">
                <a:off x="2140402" y="1898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1589" name="Google Shape;1589;p116"/>
              <p:cNvCxnSpPr>
                <a:stCxn id="1572" idx="6"/>
                <a:endCxn id="1590" idx="0"/>
              </p:cNvCxnSpPr>
              <p:nvPr/>
            </p:nvCxnSpPr>
            <p:spPr>
              <a:xfrm>
                <a:off x="2684002" y="1898583"/>
                <a:ext cx="280500" cy="434100"/>
              </a:xfrm>
              <a:prstGeom prst="curvedConnector2">
                <a:avLst/>
              </a:prstGeom>
              <a:noFill/>
              <a:ln w="19050" cap="flat" cmpd="sng">
                <a:solidFill>
                  <a:schemeClr val="accent2"/>
                </a:solidFill>
                <a:prstDash val="solid"/>
                <a:round/>
                <a:headEnd type="none" w="med" len="med"/>
                <a:tailEnd type="none" w="med" len="med"/>
              </a:ln>
            </p:spPr>
          </p:cxnSp>
        </p:grpSp>
        <p:grpSp>
          <p:nvGrpSpPr>
            <p:cNvPr id="1591" name="Google Shape;1591;p116"/>
            <p:cNvGrpSpPr/>
            <p:nvPr/>
          </p:nvGrpSpPr>
          <p:grpSpPr>
            <a:xfrm>
              <a:off x="1984966" y="2332641"/>
              <a:ext cx="1144406" cy="310800"/>
              <a:chOff x="1984966" y="2332641"/>
              <a:chExt cx="1144406" cy="310800"/>
            </a:xfrm>
          </p:grpSpPr>
          <p:grpSp>
            <p:nvGrpSpPr>
              <p:cNvPr id="1592" name="Google Shape;1592;p116"/>
              <p:cNvGrpSpPr/>
              <p:nvPr/>
            </p:nvGrpSpPr>
            <p:grpSpPr>
              <a:xfrm>
                <a:off x="1984966" y="2332641"/>
                <a:ext cx="330000" cy="310800"/>
                <a:chOff x="2365966" y="2637441"/>
                <a:chExt cx="330000" cy="310800"/>
              </a:xfrm>
            </p:grpSpPr>
            <p:sp>
              <p:nvSpPr>
                <p:cNvPr id="1588" name="Google Shape;1588;p116"/>
                <p:cNvSpPr/>
                <p:nvPr/>
              </p:nvSpPr>
              <p:spPr>
                <a:xfrm>
                  <a:off x="2366003" y="2637441"/>
                  <a:ext cx="310800" cy="310800"/>
                </a:xfrm>
                <a:prstGeom prst="ellipse">
                  <a:avLst/>
                </a:prstGeom>
                <a:solidFill>
                  <a:srgbClr val="EA99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116"/>
                <p:cNvSpPr txBox="1"/>
                <p:nvPr/>
              </p:nvSpPr>
              <p:spPr>
                <a:xfrm>
                  <a:off x="2365966" y="264660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43</a:t>
                  </a:r>
                  <a:endParaRPr sz="1000"/>
                </a:p>
              </p:txBody>
            </p:sp>
          </p:grpSp>
          <p:grpSp>
            <p:nvGrpSpPr>
              <p:cNvPr id="1594" name="Google Shape;1594;p116"/>
              <p:cNvGrpSpPr/>
              <p:nvPr/>
            </p:nvGrpSpPr>
            <p:grpSpPr>
              <a:xfrm>
                <a:off x="2799372" y="2332641"/>
                <a:ext cx="330000" cy="310800"/>
                <a:chOff x="3180372" y="2637441"/>
                <a:chExt cx="330000" cy="310800"/>
              </a:xfrm>
            </p:grpSpPr>
            <p:sp>
              <p:nvSpPr>
                <p:cNvPr id="1590" name="Google Shape;1590;p116"/>
                <p:cNvSpPr/>
                <p:nvPr/>
              </p:nvSpPr>
              <p:spPr>
                <a:xfrm>
                  <a:off x="3189956" y="2637441"/>
                  <a:ext cx="310800" cy="310800"/>
                </a:xfrm>
                <a:prstGeom prst="ellipse">
                  <a:avLst/>
                </a:prstGeom>
                <a:solidFill>
                  <a:srgbClr val="EA999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116"/>
                <p:cNvSpPr txBox="1"/>
                <p:nvPr/>
              </p:nvSpPr>
              <p:spPr>
                <a:xfrm>
                  <a:off x="3180372" y="264660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24</a:t>
                  </a:r>
                  <a:endParaRPr sz="1000"/>
                </a:p>
              </p:txBody>
            </p:sp>
          </p:grpSp>
        </p:grpSp>
      </p:grpSp>
      <p:grpSp>
        <p:nvGrpSpPr>
          <p:cNvPr id="1596" name="Google Shape;1596;p116"/>
          <p:cNvGrpSpPr/>
          <p:nvPr/>
        </p:nvGrpSpPr>
        <p:grpSpPr>
          <a:xfrm>
            <a:off x="887583" y="2640441"/>
            <a:ext cx="491272" cy="618348"/>
            <a:chOff x="887583" y="2488041"/>
            <a:chExt cx="491272" cy="618348"/>
          </a:xfrm>
        </p:grpSpPr>
        <p:cxnSp>
          <p:nvCxnSpPr>
            <p:cNvPr id="1597" name="Google Shape;1597;p116"/>
            <p:cNvCxnSpPr>
              <a:stCxn id="1577" idx="6"/>
              <a:endCxn id="1598" idx="0"/>
            </p:cNvCxnSpPr>
            <p:nvPr/>
          </p:nvCxnSpPr>
          <p:spPr>
            <a:xfrm>
              <a:off x="887583" y="2488041"/>
              <a:ext cx="326400" cy="307500"/>
            </a:xfrm>
            <a:prstGeom prst="curvedConnector2">
              <a:avLst/>
            </a:prstGeom>
            <a:noFill/>
            <a:ln w="19050" cap="flat" cmpd="sng">
              <a:solidFill>
                <a:schemeClr val="accent2"/>
              </a:solidFill>
              <a:prstDash val="solid"/>
              <a:round/>
              <a:headEnd type="none" w="med" len="med"/>
              <a:tailEnd type="none" w="med" len="med"/>
            </a:ln>
          </p:spPr>
        </p:cxnSp>
        <p:grpSp>
          <p:nvGrpSpPr>
            <p:cNvPr id="1599" name="Google Shape;1599;p116"/>
            <p:cNvGrpSpPr/>
            <p:nvPr/>
          </p:nvGrpSpPr>
          <p:grpSpPr>
            <a:xfrm>
              <a:off x="1048855" y="2795589"/>
              <a:ext cx="330000" cy="310800"/>
              <a:chOff x="1429855" y="3100389"/>
              <a:chExt cx="330000" cy="310800"/>
            </a:xfrm>
          </p:grpSpPr>
          <p:sp>
            <p:nvSpPr>
              <p:cNvPr id="1598" name="Google Shape;1598;p116"/>
              <p:cNvSpPr/>
              <p:nvPr/>
            </p:nvSpPr>
            <p:spPr>
              <a:xfrm>
                <a:off x="1439451" y="3100389"/>
                <a:ext cx="310800" cy="310800"/>
              </a:xfrm>
              <a:prstGeom prst="ellipse">
                <a:avLst/>
              </a:prstGeom>
              <a:solidFill>
                <a:srgbClr val="F6B26B"/>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116"/>
              <p:cNvSpPr txBox="1"/>
              <p:nvPr/>
            </p:nvSpPr>
            <p:spPr>
              <a:xfrm>
                <a:off x="1429855" y="31095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grpSp>
      </p:grpSp>
      <p:grpSp>
        <p:nvGrpSpPr>
          <p:cNvPr id="1601" name="Google Shape;1601;p116"/>
          <p:cNvGrpSpPr/>
          <p:nvPr/>
        </p:nvGrpSpPr>
        <p:grpSpPr>
          <a:xfrm>
            <a:off x="140344" y="2640441"/>
            <a:ext cx="436439" cy="618348"/>
            <a:chOff x="140344" y="2488041"/>
            <a:chExt cx="436439" cy="618348"/>
          </a:xfrm>
        </p:grpSpPr>
        <p:cxnSp>
          <p:nvCxnSpPr>
            <p:cNvPr id="1602" name="Google Shape;1602;p116"/>
            <p:cNvCxnSpPr>
              <a:stCxn id="1577" idx="2"/>
              <a:endCxn id="1603" idx="0"/>
            </p:cNvCxnSpPr>
            <p:nvPr/>
          </p:nvCxnSpPr>
          <p:spPr>
            <a:xfrm flipH="1">
              <a:off x="305283" y="2488041"/>
              <a:ext cx="271500" cy="307500"/>
            </a:xfrm>
            <a:prstGeom prst="curvedConnector2">
              <a:avLst/>
            </a:prstGeom>
            <a:noFill/>
            <a:ln w="19050" cap="flat" cmpd="sng">
              <a:solidFill>
                <a:schemeClr val="accent2"/>
              </a:solidFill>
              <a:prstDash val="solid"/>
              <a:round/>
              <a:headEnd type="none" w="med" len="med"/>
              <a:tailEnd type="none" w="med" len="med"/>
            </a:ln>
          </p:spPr>
        </p:cxnSp>
        <p:grpSp>
          <p:nvGrpSpPr>
            <p:cNvPr id="1604" name="Google Shape;1604;p116"/>
            <p:cNvGrpSpPr/>
            <p:nvPr/>
          </p:nvGrpSpPr>
          <p:grpSpPr>
            <a:xfrm>
              <a:off x="140344" y="2795589"/>
              <a:ext cx="330000" cy="310800"/>
              <a:chOff x="521344" y="3100389"/>
              <a:chExt cx="330000" cy="310800"/>
            </a:xfrm>
          </p:grpSpPr>
          <p:sp>
            <p:nvSpPr>
              <p:cNvPr id="1603" name="Google Shape;1603;p116"/>
              <p:cNvSpPr/>
              <p:nvPr/>
            </p:nvSpPr>
            <p:spPr>
              <a:xfrm>
                <a:off x="530940" y="3100389"/>
                <a:ext cx="310800" cy="310800"/>
              </a:xfrm>
              <a:prstGeom prst="ellipse">
                <a:avLst/>
              </a:prstGeom>
              <a:solidFill>
                <a:srgbClr val="F6B26B"/>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116"/>
              <p:cNvSpPr txBox="1"/>
              <p:nvPr/>
            </p:nvSpPr>
            <p:spPr>
              <a:xfrm>
                <a:off x="521344" y="31095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68</a:t>
                </a:r>
                <a:endParaRPr sz="1000"/>
              </a:p>
            </p:txBody>
          </p:sp>
        </p:grpSp>
      </p:grpSp>
      <p:grpSp>
        <p:nvGrpSpPr>
          <p:cNvPr id="1606" name="Google Shape;1606;p116"/>
          <p:cNvGrpSpPr/>
          <p:nvPr/>
        </p:nvGrpSpPr>
        <p:grpSpPr>
          <a:xfrm>
            <a:off x="2379225" y="1928688"/>
            <a:ext cx="1833300" cy="1567500"/>
            <a:chOff x="2379225" y="1833200"/>
            <a:chExt cx="1833300" cy="1567500"/>
          </a:xfrm>
        </p:grpSpPr>
        <p:sp>
          <p:nvSpPr>
            <p:cNvPr id="1607" name="Google Shape;1607;p116"/>
            <p:cNvSpPr txBox="1"/>
            <p:nvPr/>
          </p:nvSpPr>
          <p:spPr>
            <a:xfrm>
              <a:off x="2379225" y="2795900"/>
              <a:ext cx="1767000" cy="604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The root is in the first index (0) within the array. Let this be k.</a:t>
              </a:r>
              <a:endParaRPr sz="1200"/>
            </a:p>
          </p:txBody>
        </p:sp>
        <p:cxnSp>
          <p:nvCxnSpPr>
            <p:cNvPr id="1608" name="Google Shape;1608;p116"/>
            <p:cNvCxnSpPr>
              <a:stCxn id="1607" idx="0"/>
              <a:endCxn id="1555" idx="2"/>
            </p:cNvCxnSpPr>
            <p:nvPr/>
          </p:nvCxnSpPr>
          <p:spPr>
            <a:xfrm rot="-5400000">
              <a:off x="3256275" y="1839650"/>
              <a:ext cx="962700" cy="949800"/>
            </a:xfrm>
            <a:prstGeom prst="bentConnector3">
              <a:avLst>
                <a:gd name="adj1" fmla="val 49994"/>
              </a:avLst>
            </a:prstGeom>
            <a:noFill/>
            <a:ln w="19050" cap="flat" cmpd="sng">
              <a:solidFill>
                <a:srgbClr val="FF0000"/>
              </a:solidFill>
              <a:prstDash val="solid"/>
              <a:round/>
              <a:headEnd type="none" w="med" len="med"/>
              <a:tailEnd type="triangle" w="med" len="med"/>
            </a:ln>
          </p:spPr>
        </p:cxnSp>
      </p:grpSp>
      <p:grpSp>
        <p:nvGrpSpPr>
          <p:cNvPr id="1609" name="Google Shape;1609;p116"/>
          <p:cNvGrpSpPr/>
          <p:nvPr/>
        </p:nvGrpSpPr>
        <p:grpSpPr>
          <a:xfrm>
            <a:off x="6359025" y="1451800"/>
            <a:ext cx="954000" cy="477000"/>
            <a:chOff x="6359025" y="1375600"/>
            <a:chExt cx="954000" cy="477000"/>
          </a:xfrm>
        </p:grpSpPr>
        <p:sp>
          <p:nvSpPr>
            <p:cNvPr id="1610" name="Google Shape;1610;p116"/>
            <p:cNvSpPr/>
            <p:nvPr/>
          </p:nvSpPr>
          <p:spPr>
            <a:xfrm>
              <a:off x="6359025" y="1375600"/>
              <a:ext cx="477000" cy="477000"/>
            </a:xfrm>
            <a:prstGeom prst="rect">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43</a:t>
              </a:r>
              <a:endParaRPr/>
            </a:p>
          </p:txBody>
        </p:sp>
        <p:sp>
          <p:nvSpPr>
            <p:cNvPr id="1611" name="Google Shape;1611;p116"/>
            <p:cNvSpPr/>
            <p:nvPr/>
          </p:nvSpPr>
          <p:spPr>
            <a:xfrm>
              <a:off x="6836025" y="1375600"/>
              <a:ext cx="477000" cy="477000"/>
            </a:xfrm>
            <a:prstGeom prst="rect">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24</a:t>
              </a:r>
              <a:endParaRPr/>
            </a:p>
          </p:txBody>
        </p:sp>
      </p:grpSp>
      <p:grpSp>
        <p:nvGrpSpPr>
          <p:cNvPr id="1612" name="Google Shape;1612;p116"/>
          <p:cNvGrpSpPr/>
          <p:nvPr/>
        </p:nvGrpSpPr>
        <p:grpSpPr>
          <a:xfrm>
            <a:off x="7313025" y="1451800"/>
            <a:ext cx="954000" cy="477000"/>
            <a:chOff x="7313025" y="1375600"/>
            <a:chExt cx="954000" cy="477000"/>
          </a:xfrm>
        </p:grpSpPr>
        <p:sp>
          <p:nvSpPr>
            <p:cNvPr id="1613" name="Google Shape;1613;p116"/>
            <p:cNvSpPr/>
            <p:nvPr/>
          </p:nvSpPr>
          <p:spPr>
            <a:xfrm>
              <a:off x="7313025" y="1375600"/>
              <a:ext cx="477000" cy="4770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68</a:t>
              </a:r>
              <a:endParaRPr/>
            </a:p>
          </p:txBody>
        </p:sp>
        <p:sp>
          <p:nvSpPr>
            <p:cNvPr id="1614" name="Google Shape;1614;p116"/>
            <p:cNvSpPr/>
            <p:nvPr/>
          </p:nvSpPr>
          <p:spPr>
            <a:xfrm>
              <a:off x="7790025" y="1375600"/>
              <a:ext cx="477000" cy="477000"/>
            </a:xfrm>
            <a:prstGeom prst="rect">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66</a:t>
              </a:r>
              <a:endParaRPr/>
            </a:p>
          </p:txBody>
        </p:sp>
      </p:grpSp>
      <p:grpSp>
        <p:nvGrpSpPr>
          <p:cNvPr id="1615" name="Google Shape;1615;p116"/>
          <p:cNvGrpSpPr/>
          <p:nvPr/>
        </p:nvGrpSpPr>
        <p:grpSpPr>
          <a:xfrm>
            <a:off x="3418675" y="1928750"/>
            <a:ext cx="1767000" cy="2364000"/>
            <a:chOff x="3418675" y="1852550"/>
            <a:chExt cx="1767000" cy="2364000"/>
          </a:xfrm>
        </p:grpSpPr>
        <p:sp>
          <p:nvSpPr>
            <p:cNvPr id="1616" name="Google Shape;1616;p116"/>
            <p:cNvSpPr txBox="1"/>
            <p:nvPr/>
          </p:nvSpPr>
          <p:spPr>
            <a:xfrm>
              <a:off x="3418675" y="3559550"/>
              <a:ext cx="1767000" cy="657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The children of the root are in index </a:t>
              </a:r>
              <a:r>
                <a:rPr lang="en" sz="1200" i="1"/>
                <a:t>2k+1</a:t>
              </a:r>
              <a:r>
                <a:rPr lang="en" sz="1200"/>
                <a:t> (1) and </a:t>
              </a:r>
              <a:r>
                <a:rPr lang="en" sz="1200" i="1"/>
                <a:t>2k+2</a:t>
              </a:r>
              <a:r>
                <a:rPr lang="en" sz="1200"/>
                <a:t> (2).</a:t>
              </a:r>
              <a:endParaRPr sz="1200"/>
            </a:p>
          </p:txBody>
        </p:sp>
        <p:grpSp>
          <p:nvGrpSpPr>
            <p:cNvPr id="1617" name="Google Shape;1617;p116"/>
            <p:cNvGrpSpPr/>
            <p:nvPr/>
          </p:nvGrpSpPr>
          <p:grpSpPr>
            <a:xfrm>
              <a:off x="4302175" y="1852550"/>
              <a:ext cx="864300" cy="1707000"/>
              <a:chOff x="4530775" y="2004950"/>
              <a:chExt cx="864300" cy="1707000"/>
            </a:xfrm>
          </p:grpSpPr>
          <p:cxnSp>
            <p:nvCxnSpPr>
              <p:cNvPr id="1618" name="Google Shape;1618;p116"/>
              <p:cNvCxnSpPr>
                <a:stCxn id="1616" idx="0"/>
                <a:endCxn id="1557" idx="2"/>
              </p:cNvCxnSpPr>
              <p:nvPr/>
            </p:nvCxnSpPr>
            <p:spPr>
              <a:xfrm rot="-5400000">
                <a:off x="3870925" y="2664800"/>
                <a:ext cx="1707000" cy="387300"/>
              </a:xfrm>
              <a:prstGeom prst="bentConnector3">
                <a:avLst>
                  <a:gd name="adj1" fmla="val 49999"/>
                </a:avLst>
              </a:prstGeom>
              <a:noFill/>
              <a:ln w="19050" cap="flat" cmpd="sng">
                <a:solidFill>
                  <a:srgbClr val="FF0000"/>
                </a:solidFill>
                <a:prstDash val="solid"/>
                <a:round/>
                <a:headEnd type="none" w="med" len="med"/>
                <a:tailEnd type="triangle" w="med" len="med"/>
              </a:ln>
            </p:spPr>
          </p:cxnSp>
          <p:cxnSp>
            <p:nvCxnSpPr>
              <p:cNvPr id="1619" name="Google Shape;1619;p116"/>
              <p:cNvCxnSpPr>
                <a:stCxn id="1616" idx="0"/>
                <a:endCxn id="1558" idx="2"/>
              </p:cNvCxnSpPr>
              <p:nvPr/>
            </p:nvCxnSpPr>
            <p:spPr>
              <a:xfrm rot="-5400000">
                <a:off x="4109425" y="2426300"/>
                <a:ext cx="1707000" cy="864300"/>
              </a:xfrm>
              <a:prstGeom prst="bentConnector3">
                <a:avLst>
                  <a:gd name="adj1" fmla="val 49999"/>
                </a:avLst>
              </a:prstGeom>
              <a:noFill/>
              <a:ln w="19050" cap="flat" cmpd="sng">
                <a:solidFill>
                  <a:srgbClr val="FF0000"/>
                </a:solidFill>
                <a:prstDash val="solid"/>
                <a:round/>
                <a:headEnd type="none" w="med" len="med"/>
                <a:tailEnd type="triangle" w="med" len="med"/>
              </a:ln>
            </p:spPr>
          </p:cxnSp>
        </p:grpSp>
      </p:grpSp>
      <p:sp>
        <p:nvSpPr>
          <p:cNvPr id="1620" name="Google Shape;1620;p116"/>
          <p:cNvSpPr txBox="1"/>
          <p:nvPr/>
        </p:nvSpPr>
        <p:spPr>
          <a:xfrm>
            <a:off x="3418675" y="4420200"/>
            <a:ext cx="1767000" cy="477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Let </a:t>
            </a:r>
            <a:r>
              <a:rPr lang="en" sz="1200" i="1"/>
              <a:t>k</a:t>
            </a:r>
            <a:r>
              <a:rPr lang="en" sz="1200"/>
              <a:t> now be the index of the left child: 1.</a:t>
            </a:r>
            <a:endParaRPr sz="1200"/>
          </a:p>
        </p:txBody>
      </p:sp>
      <p:grpSp>
        <p:nvGrpSpPr>
          <p:cNvPr id="1621" name="Google Shape;1621;p116"/>
          <p:cNvGrpSpPr/>
          <p:nvPr/>
        </p:nvGrpSpPr>
        <p:grpSpPr>
          <a:xfrm>
            <a:off x="5322425" y="1928750"/>
            <a:ext cx="1767000" cy="2364000"/>
            <a:chOff x="5322425" y="1852550"/>
            <a:chExt cx="1767000" cy="2364000"/>
          </a:xfrm>
        </p:grpSpPr>
        <p:sp>
          <p:nvSpPr>
            <p:cNvPr id="1622" name="Google Shape;1622;p116"/>
            <p:cNvSpPr txBox="1"/>
            <p:nvPr/>
          </p:nvSpPr>
          <p:spPr>
            <a:xfrm>
              <a:off x="5322425" y="3559550"/>
              <a:ext cx="1767000" cy="657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The children of the left child are at </a:t>
              </a:r>
              <a:r>
                <a:rPr lang="en" sz="1200" i="1"/>
                <a:t>2k+1</a:t>
              </a:r>
              <a:r>
                <a:rPr lang="en" sz="1200"/>
                <a:t> (3) and </a:t>
              </a:r>
              <a:r>
                <a:rPr lang="en" sz="1200" i="1"/>
                <a:t>2k+2</a:t>
              </a:r>
              <a:r>
                <a:rPr lang="en" sz="1200"/>
                <a:t> (4).</a:t>
              </a:r>
              <a:endParaRPr sz="1200"/>
            </a:p>
          </p:txBody>
        </p:sp>
        <p:grpSp>
          <p:nvGrpSpPr>
            <p:cNvPr id="1623" name="Google Shape;1623;p116"/>
            <p:cNvGrpSpPr/>
            <p:nvPr/>
          </p:nvGrpSpPr>
          <p:grpSpPr>
            <a:xfrm>
              <a:off x="5643425" y="1852550"/>
              <a:ext cx="562500" cy="1707000"/>
              <a:chOff x="5872025" y="1852550"/>
              <a:chExt cx="562500" cy="1707000"/>
            </a:xfrm>
          </p:grpSpPr>
          <p:cxnSp>
            <p:nvCxnSpPr>
              <p:cNvPr id="1624" name="Google Shape;1624;p116"/>
              <p:cNvCxnSpPr>
                <a:stCxn id="1622" idx="0"/>
                <a:endCxn id="1560" idx="2"/>
              </p:cNvCxnSpPr>
              <p:nvPr/>
            </p:nvCxnSpPr>
            <p:spPr>
              <a:xfrm rot="5400000" flipH="1">
                <a:off x="5299775" y="2424800"/>
                <a:ext cx="1707000" cy="562500"/>
              </a:xfrm>
              <a:prstGeom prst="bentConnector3">
                <a:avLst>
                  <a:gd name="adj1" fmla="val 49999"/>
                </a:avLst>
              </a:prstGeom>
              <a:noFill/>
              <a:ln w="19050" cap="flat" cmpd="sng">
                <a:solidFill>
                  <a:srgbClr val="FF0000"/>
                </a:solidFill>
                <a:prstDash val="solid"/>
                <a:round/>
                <a:headEnd type="none" w="med" len="med"/>
                <a:tailEnd type="triangle" w="med" len="med"/>
              </a:ln>
            </p:spPr>
          </p:cxnSp>
          <p:cxnSp>
            <p:nvCxnSpPr>
              <p:cNvPr id="1625" name="Google Shape;1625;p116"/>
              <p:cNvCxnSpPr>
                <a:stCxn id="1622" idx="0"/>
                <a:endCxn id="1561" idx="2"/>
              </p:cNvCxnSpPr>
              <p:nvPr/>
            </p:nvCxnSpPr>
            <p:spPr>
              <a:xfrm rot="5400000" flipH="1">
                <a:off x="5538275" y="2663300"/>
                <a:ext cx="1707000" cy="85500"/>
              </a:xfrm>
              <a:prstGeom prst="bentConnector3">
                <a:avLst>
                  <a:gd name="adj1" fmla="val 49999"/>
                </a:avLst>
              </a:prstGeom>
              <a:noFill/>
              <a:ln w="19050" cap="flat" cmpd="sng">
                <a:solidFill>
                  <a:srgbClr val="FF0000"/>
                </a:solidFill>
                <a:prstDash val="solid"/>
                <a:round/>
                <a:headEnd type="none" w="med" len="med"/>
                <a:tailEnd type="triangle" w="med" len="med"/>
              </a:ln>
            </p:spPr>
          </p:cxnSp>
        </p:grpSp>
      </p:grpSp>
      <p:sp>
        <p:nvSpPr>
          <p:cNvPr id="1626" name="Google Shape;1626;p116"/>
          <p:cNvSpPr txBox="1"/>
          <p:nvPr/>
        </p:nvSpPr>
        <p:spPr>
          <a:xfrm>
            <a:off x="5322425" y="4420200"/>
            <a:ext cx="1767000" cy="528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Now let k be the index of </a:t>
            </a:r>
            <a:r>
              <a:rPr lang="en" sz="1200" i="1"/>
              <a:t>this</a:t>
            </a:r>
            <a:r>
              <a:rPr lang="en" sz="1200"/>
              <a:t> left child: 3.</a:t>
            </a:r>
            <a:endParaRPr sz="1200"/>
          </a:p>
        </p:txBody>
      </p:sp>
      <p:grpSp>
        <p:nvGrpSpPr>
          <p:cNvPr id="1627" name="Google Shape;1627;p116"/>
          <p:cNvGrpSpPr/>
          <p:nvPr/>
        </p:nvGrpSpPr>
        <p:grpSpPr>
          <a:xfrm>
            <a:off x="7226175" y="1928750"/>
            <a:ext cx="1767000" cy="2364000"/>
            <a:chOff x="7226175" y="1852550"/>
            <a:chExt cx="1767000" cy="2364000"/>
          </a:xfrm>
        </p:grpSpPr>
        <p:sp>
          <p:nvSpPr>
            <p:cNvPr id="1628" name="Google Shape;1628;p116"/>
            <p:cNvSpPr txBox="1"/>
            <p:nvPr/>
          </p:nvSpPr>
          <p:spPr>
            <a:xfrm>
              <a:off x="7226175" y="3559550"/>
              <a:ext cx="1767000" cy="657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The children of the left child are at </a:t>
              </a:r>
              <a:r>
                <a:rPr lang="en" sz="1200" i="1"/>
                <a:t>2k+1</a:t>
              </a:r>
              <a:r>
                <a:rPr lang="en" sz="1200"/>
                <a:t> (7) and </a:t>
              </a:r>
              <a:r>
                <a:rPr lang="en" sz="1200" i="1"/>
                <a:t>2k+2</a:t>
              </a:r>
              <a:r>
                <a:rPr lang="en" sz="1200"/>
                <a:t> (8).</a:t>
              </a:r>
              <a:endParaRPr sz="1200"/>
            </a:p>
          </p:txBody>
        </p:sp>
        <p:grpSp>
          <p:nvGrpSpPr>
            <p:cNvPr id="1629" name="Google Shape;1629;p116"/>
            <p:cNvGrpSpPr/>
            <p:nvPr/>
          </p:nvGrpSpPr>
          <p:grpSpPr>
            <a:xfrm>
              <a:off x="7551375" y="1852550"/>
              <a:ext cx="558300" cy="1707000"/>
              <a:chOff x="7551375" y="1852550"/>
              <a:chExt cx="558300" cy="1707000"/>
            </a:xfrm>
          </p:grpSpPr>
          <p:cxnSp>
            <p:nvCxnSpPr>
              <p:cNvPr id="1630" name="Google Shape;1630;p116"/>
              <p:cNvCxnSpPr>
                <a:stCxn id="1628" idx="0"/>
                <a:endCxn id="1613" idx="2"/>
              </p:cNvCxnSpPr>
              <p:nvPr/>
            </p:nvCxnSpPr>
            <p:spPr>
              <a:xfrm rot="5400000" flipH="1">
                <a:off x="6977025" y="2426900"/>
                <a:ext cx="1707000" cy="558300"/>
              </a:xfrm>
              <a:prstGeom prst="bentConnector3">
                <a:avLst>
                  <a:gd name="adj1" fmla="val 49999"/>
                </a:avLst>
              </a:prstGeom>
              <a:noFill/>
              <a:ln w="19050" cap="flat" cmpd="sng">
                <a:solidFill>
                  <a:srgbClr val="FF0000"/>
                </a:solidFill>
                <a:prstDash val="solid"/>
                <a:round/>
                <a:headEnd type="none" w="med" len="med"/>
                <a:tailEnd type="triangle" w="med" len="med"/>
              </a:ln>
            </p:spPr>
          </p:cxnSp>
          <p:cxnSp>
            <p:nvCxnSpPr>
              <p:cNvPr id="1631" name="Google Shape;1631;p116"/>
              <p:cNvCxnSpPr>
                <a:stCxn id="1628" idx="0"/>
                <a:endCxn id="1614" idx="2"/>
              </p:cNvCxnSpPr>
              <p:nvPr/>
            </p:nvCxnSpPr>
            <p:spPr>
              <a:xfrm rot="5400000" flipH="1">
                <a:off x="7215675" y="2665550"/>
                <a:ext cx="1707000" cy="81000"/>
              </a:xfrm>
              <a:prstGeom prst="bentConnector3">
                <a:avLst>
                  <a:gd name="adj1" fmla="val 49999"/>
                </a:avLst>
              </a:prstGeom>
              <a:noFill/>
              <a:ln w="19050" cap="flat" cmpd="sng">
                <a:solidFill>
                  <a:srgbClr val="FF0000"/>
                </a:solidFill>
                <a:prstDash val="solid"/>
                <a:round/>
                <a:headEnd type="none" w="med" len="med"/>
                <a:tailEnd type="triangle" w="med" len="med"/>
              </a:ln>
            </p:spPr>
          </p:cxnSp>
        </p:grpSp>
      </p:grpSp>
      <p:sp>
        <p:nvSpPr>
          <p:cNvPr id="1632" name="Google Shape;1632;p1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62"/>
                                        </p:tgtEl>
                                        <p:attrNameLst>
                                          <p:attrName>style.visibility</p:attrName>
                                        </p:attrNameLst>
                                      </p:cBhvr>
                                      <p:to>
                                        <p:strVal val="visible"/>
                                      </p:to>
                                    </p:set>
                                    <p:animEffect transition="in" filter="fade">
                                      <p:cBhvr>
                                        <p:cTn id="7" dur="1000"/>
                                        <p:tgtEl>
                                          <p:spTgt spid="156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606"/>
                                        </p:tgtEl>
                                        <p:attrNameLst>
                                          <p:attrName>style.visibility</p:attrName>
                                        </p:attrNameLst>
                                      </p:cBhvr>
                                      <p:to>
                                        <p:strVal val="visible"/>
                                      </p:to>
                                    </p:set>
                                    <p:animEffect transition="in" filter="fade">
                                      <p:cBhvr>
                                        <p:cTn id="11" dur="1000"/>
                                        <p:tgtEl>
                                          <p:spTgt spid="1606"/>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555"/>
                                        </p:tgtEl>
                                        <p:attrNameLst>
                                          <p:attrName>style.visibility</p:attrName>
                                        </p:attrNameLst>
                                      </p:cBhvr>
                                      <p:to>
                                        <p:strVal val="visible"/>
                                      </p:to>
                                    </p:set>
                                    <p:animEffect transition="in" filter="fade">
                                      <p:cBhvr>
                                        <p:cTn id="15" dur="1000"/>
                                        <p:tgtEl>
                                          <p:spTgt spid="155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65"/>
                                        </p:tgtEl>
                                        <p:attrNameLst>
                                          <p:attrName>style.visibility</p:attrName>
                                        </p:attrNameLst>
                                      </p:cBhvr>
                                      <p:to>
                                        <p:strVal val="visible"/>
                                      </p:to>
                                    </p:set>
                                    <p:animEffect transition="in" filter="fade">
                                      <p:cBhvr>
                                        <p:cTn id="20" dur="1000"/>
                                        <p:tgtEl>
                                          <p:spTgt spid="1565"/>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1570"/>
                                        </p:tgtEl>
                                        <p:attrNameLst>
                                          <p:attrName>style.visibility</p:attrName>
                                        </p:attrNameLst>
                                      </p:cBhvr>
                                      <p:to>
                                        <p:strVal val="visible"/>
                                      </p:to>
                                    </p:set>
                                    <p:animEffect transition="in" filter="fade">
                                      <p:cBhvr>
                                        <p:cTn id="24" dur="1000"/>
                                        <p:tgtEl>
                                          <p:spTgt spid="1570"/>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1615"/>
                                        </p:tgtEl>
                                        <p:attrNameLst>
                                          <p:attrName>style.visibility</p:attrName>
                                        </p:attrNameLst>
                                      </p:cBhvr>
                                      <p:to>
                                        <p:strVal val="visible"/>
                                      </p:to>
                                    </p:set>
                                    <p:animEffect transition="in" filter="fade">
                                      <p:cBhvr>
                                        <p:cTn id="28" dur="1000"/>
                                        <p:tgtEl>
                                          <p:spTgt spid="1615"/>
                                        </p:tgtEl>
                                      </p:cBhvr>
                                    </p:animEffect>
                                  </p:childTnLst>
                                </p:cTn>
                              </p:par>
                            </p:childTnLst>
                          </p:cTn>
                        </p:par>
                        <p:par>
                          <p:cTn id="29" fill="hold">
                            <p:stCondLst>
                              <p:cond delay="3000"/>
                            </p:stCondLst>
                            <p:childTnLst>
                              <p:par>
                                <p:cTn id="30" presetID="10" presetClass="entr" presetSubtype="0" fill="hold" nodeType="afterEffect">
                                  <p:stCondLst>
                                    <p:cond delay="0"/>
                                  </p:stCondLst>
                                  <p:childTnLst>
                                    <p:set>
                                      <p:cBhvr>
                                        <p:cTn id="31" dur="1" fill="hold">
                                          <p:stCondLst>
                                            <p:cond delay="0"/>
                                          </p:stCondLst>
                                        </p:cTn>
                                        <p:tgtEl>
                                          <p:spTgt spid="1556"/>
                                        </p:tgtEl>
                                        <p:attrNameLst>
                                          <p:attrName>style.visibility</p:attrName>
                                        </p:attrNameLst>
                                      </p:cBhvr>
                                      <p:to>
                                        <p:strVal val="visible"/>
                                      </p:to>
                                    </p:set>
                                    <p:animEffect transition="in" filter="fade">
                                      <p:cBhvr>
                                        <p:cTn id="32" dur="1000"/>
                                        <p:tgtEl>
                                          <p:spTgt spid="155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20"/>
                                        </p:tgtEl>
                                        <p:attrNameLst>
                                          <p:attrName>style.visibility</p:attrName>
                                        </p:attrNameLst>
                                      </p:cBhvr>
                                      <p:to>
                                        <p:strVal val="visible"/>
                                      </p:to>
                                    </p:set>
                                    <p:animEffect transition="in" filter="fade">
                                      <p:cBhvr>
                                        <p:cTn id="37" dur="1000"/>
                                        <p:tgtEl>
                                          <p:spTgt spid="162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75"/>
                                        </p:tgtEl>
                                        <p:attrNameLst>
                                          <p:attrName>style.visibility</p:attrName>
                                        </p:attrNameLst>
                                      </p:cBhvr>
                                      <p:to>
                                        <p:strVal val="visible"/>
                                      </p:to>
                                    </p:set>
                                    <p:animEffect transition="in" filter="fade">
                                      <p:cBhvr>
                                        <p:cTn id="42" dur="1000"/>
                                        <p:tgtEl>
                                          <p:spTgt spid="1575"/>
                                        </p:tgtEl>
                                      </p:cBhvr>
                                    </p:animEffect>
                                  </p:childTnLst>
                                </p:cTn>
                              </p:par>
                            </p:childTnLst>
                          </p:cTn>
                        </p:par>
                        <p:par>
                          <p:cTn id="43" fill="hold">
                            <p:stCondLst>
                              <p:cond delay="1000"/>
                            </p:stCondLst>
                            <p:childTnLst>
                              <p:par>
                                <p:cTn id="44" presetID="10" presetClass="entr" presetSubtype="0" fill="hold" nodeType="afterEffect">
                                  <p:stCondLst>
                                    <p:cond delay="0"/>
                                  </p:stCondLst>
                                  <p:childTnLst>
                                    <p:set>
                                      <p:cBhvr>
                                        <p:cTn id="45" dur="1" fill="hold">
                                          <p:stCondLst>
                                            <p:cond delay="0"/>
                                          </p:stCondLst>
                                        </p:cTn>
                                        <p:tgtEl>
                                          <p:spTgt spid="1580"/>
                                        </p:tgtEl>
                                        <p:attrNameLst>
                                          <p:attrName>style.visibility</p:attrName>
                                        </p:attrNameLst>
                                      </p:cBhvr>
                                      <p:to>
                                        <p:strVal val="visible"/>
                                      </p:to>
                                    </p:set>
                                    <p:animEffect transition="in" filter="fade">
                                      <p:cBhvr>
                                        <p:cTn id="46" dur="1000"/>
                                        <p:tgtEl>
                                          <p:spTgt spid="1580"/>
                                        </p:tgtEl>
                                      </p:cBhvr>
                                    </p:animEffect>
                                  </p:childTnLst>
                                </p:cTn>
                              </p:par>
                            </p:childTnLst>
                          </p:cTn>
                        </p:par>
                        <p:par>
                          <p:cTn id="47" fill="hold">
                            <p:stCondLst>
                              <p:cond delay="2000"/>
                            </p:stCondLst>
                            <p:childTnLst>
                              <p:par>
                                <p:cTn id="48" presetID="10" presetClass="entr" presetSubtype="0" fill="hold" nodeType="afterEffect">
                                  <p:stCondLst>
                                    <p:cond delay="0"/>
                                  </p:stCondLst>
                                  <p:childTnLst>
                                    <p:set>
                                      <p:cBhvr>
                                        <p:cTn id="49" dur="1" fill="hold">
                                          <p:stCondLst>
                                            <p:cond delay="0"/>
                                          </p:stCondLst>
                                        </p:cTn>
                                        <p:tgtEl>
                                          <p:spTgt spid="1621"/>
                                        </p:tgtEl>
                                        <p:attrNameLst>
                                          <p:attrName>style.visibility</p:attrName>
                                        </p:attrNameLst>
                                      </p:cBhvr>
                                      <p:to>
                                        <p:strVal val="visible"/>
                                      </p:to>
                                    </p:set>
                                    <p:animEffect transition="in" filter="fade">
                                      <p:cBhvr>
                                        <p:cTn id="50" dur="1000"/>
                                        <p:tgtEl>
                                          <p:spTgt spid="1621"/>
                                        </p:tgtEl>
                                      </p:cBhvr>
                                    </p:animEffect>
                                  </p:childTnLst>
                                </p:cTn>
                              </p:par>
                            </p:childTnLst>
                          </p:cTn>
                        </p:par>
                        <p:par>
                          <p:cTn id="51" fill="hold">
                            <p:stCondLst>
                              <p:cond delay="3000"/>
                            </p:stCondLst>
                            <p:childTnLst>
                              <p:par>
                                <p:cTn id="52" presetID="10" presetClass="entr" presetSubtype="0" fill="hold" nodeType="afterEffect">
                                  <p:stCondLst>
                                    <p:cond delay="0"/>
                                  </p:stCondLst>
                                  <p:childTnLst>
                                    <p:set>
                                      <p:cBhvr>
                                        <p:cTn id="53" dur="1" fill="hold">
                                          <p:stCondLst>
                                            <p:cond delay="0"/>
                                          </p:stCondLst>
                                        </p:cTn>
                                        <p:tgtEl>
                                          <p:spTgt spid="1559"/>
                                        </p:tgtEl>
                                        <p:attrNameLst>
                                          <p:attrName>style.visibility</p:attrName>
                                        </p:attrNameLst>
                                      </p:cBhvr>
                                      <p:to>
                                        <p:strVal val="visible"/>
                                      </p:to>
                                    </p:set>
                                    <p:animEffect transition="in" filter="fade">
                                      <p:cBhvr>
                                        <p:cTn id="54" dur="1000"/>
                                        <p:tgtEl>
                                          <p:spTgt spid="155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585"/>
                                        </p:tgtEl>
                                        <p:attrNameLst>
                                          <p:attrName>style.visibility</p:attrName>
                                        </p:attrNameLst>
                                      </p:cBhvr>
                                      <p:to>
                                        <p:strVal val="visible"/>
                                      </p:to>
                                    </p:set>
                                    <p:animEffect transition="in" filter="fade">
                                      <p:cBhvr>
                                        <p:cTn id="59" dur="1000"/>
                                        <p:tgtEl>
                                          <p:spTgt spid="1585"/>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1609"/>
                                        </p:tgtEl>
                                        <p:attrNameLst>
                                          <p:attrName>style.visibility</p:attrName>
                                        </p:attrNameLst>
                                      </p:cBhvr>
                                      <p:to>
                                        <p:strVal val="visible"/>
                                      </p:to>
                                    </p:set>
                                    <p:animEffect transition="in" filter="fade">
                                      <p:cBhvr>
                                        <p:cTn id="63" dur="1000"/>
                                        <p:tgtEl>
                                          <p:spTgt spid="1609"/>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626"/>
                                        </p:tgtEl>
                                        <p:attrNameLst>
                                          <p:attrName>style.visibility</p:attrName>
                                        </p:attrNameLst>
                                      </p:cBhvr>
                                      <p:to>
                                        <p:strVal val="visible"/>
                                      </p:to>
                                    </p:set>
                                    <p:animEffect transition="in" filter="fade">
                                      <p:cBhvr>
                                        <p:cTn id="68" dur="1000"/>
                                        <p:tgtEl>
                                          <p:spTgt spid="1626"/>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601"/>
                                        </p:tgtEl>
                                        <p:attrNameLst>
                                          <p:attrName>style.visibility</p:attrName>
                                        </p:attrNameLst>
                                      </p:cBhvr>
                                      <p:to>
                                        <p:strVal val="visible"/>
                                      </p:to>
                                    </p:set>
                                    <p:animEffect transition="in" filter="fade">
                                      <p:cBhvr>
                                        <p:cTn id="73" dur="1000"/>
                                        <p:tgtEl>
                                          <p:spTgt spid="1601"/>
                                        </p:tgtEl>
                                      </p:cBhvr>
                                    </p:animEffect>
                                  </p:childTnLst>
                                </p:cTn>
                              </p:par>
                            </p:childTnLst>
                          </p:cTn>
                        </p:par>
                        <p:par>
                          <p:cTn id="74" fill="hold">
                            <p:stCondLst>
                              <p:cond delay="1000"/>
                            </p:stCondLst>
                            <p:childTnLst>
                              <p:par>
                                <p:cTn id="75" presetID="10" presetClass="entr" presetSubtype="0" fill="hold" nodeType="afterEffect">
                                  <p:stCondLst>
                                    <p:cond delay="0"/>
                                  </p:stCondLst>
                                  <p:childTnLst>
                                    <p:set>
                                      <p:cBhvr>
                                        <p:cTn id="76" dur="1" fill="hold">
                                          <p:stCondLst>
                                            <p:cond delay="0"/>
                                          </p:stCondLst>
                                        </p:cTn>
                                        <p:tgtEl>
                                          <p:spTgt spid="1596"/>
                                        </p:tgtEl>
                                        <p:attrNameLst>
                                          <p:attrName>style.visibility</p:attrName>
                                        </p:attrNameLst>
                                      </p:cBhvr>
                                      <p:to>
                                        <p:strVal val="visible"/>
                                      </p:to>
                                    </p:set>
                                    <p:animEffect transition="in" filter="fade">
                                      <p:cBhvr>
                                        <p:cTn id="77" dur="1000"/>
                                        <p:tgtEl>
                                          <p:spTgt spid="1596"/>
                                        </p:tgtEl>
                                      </p:cBhvr>
                                    </p:animEffect>
                                  </p:childTnLst>
                                </p:cTn>
                              </p:par>
                            </p:childTnLst>
                          </p:cTn>
                        </p:par>
                        <p:par>
                          <p:cTn id="78" fill="hold">
                            <p:stCondLst>
                              <p:cond delay="2000"/>
                            </p:stCondLst>
                            <p:childTnLst>
                              <p:par>
                                <p:cTn id="79" presetID="10" presetClass="entr" presetSubtype="0" fill="hold" nodeType="afterEffect">
                                  <p:stCondLst>
                                    <p:cond delay="0"/>
                                  </p:stCondLst>
                                  <p:childTnLst>
                                    <p:set>
                                      <p:cBhvr>
                                        <p:cTn id="80" dur="1" fill="hold">
                                          <p:stCondLst>
                                            <p:cond delay="0"/>
                                          </p:stCondLst>
                                        </p:cTn>
                                        <p:tgtEl>
                                          <p:spTgt spid="1627"/>
                                        </p:tgtEl>
                                        <p:attrNameLst>
                                          <p:attrName>style.visibility</p:attrName>
                                        </p:attrNameLst>
                                      </p:cBhvr>
                                      <p:to>
                                        <p:strVal val="visible"/>
                                      </p:to>
                                    </p:set>
                                    <p:animEffect transition="in" filter="fade">
                                      <p:cBhvr>
                                        <p:cTn id="81" dur="1000"/>
                                        <p:tgtEl>
                                          <p:spTgt spid="1627"/>
                                        </p:tgtEl>
                                      </p:cBhvr>
                                    </p:animEffect>
                                  </p:childTnLst>
                                </p:cTn>
                              </p:par>
                            </p:childTnLst>
                          </p:cTn>
                        </p:par>
                        <p:par>
                          <p:cTn id="82" fill="hold">
                            <p:stCondLst>
                              <p:cond delay="3000"/>
                            </p:stCondLst>
                            <p:childTnLst>
                              <p:par>
                                <p:cTn id="83" presetID="10" presetClass="entr" presetSubtype="0" fill="hold" nodeType="afterEffect">
                                  <p:stCondLst>
                                    <p:cond delay="0"/>
                                  </p:stCondLst>
                                  <p:childTnLst>
                                    <p:set>
                                      <p:cBhvr>
                                        <p:cTn id="84" dur="1" fill="hold">
                                          <p:stCondLst>
                                            <p:cond delay="0"/>
                                          </p:stCondLst>
                                        </p:cTn>
                                        <p:tgtEl>
                                          <p:spTgt spid="1612"/>
                                        </p:tgtEl>
                                        <p:attrNameLst>
                                          <p:attrName>style.visibility</p:attrName>
                                        </p:attrNameLst>
                                      </p:cBhvr>
                                      <p:to>
                                        <p:strVal val="visible"/>
                                      </p:to>
                                    </p:set>
                                    <p:animEffect transition="in" filter="fade">
                                      <p:cBhvr>
                                        <p:cTn id="85" dur="1000"/>
                                        <p:tgtEl>
                                          <p:spTgt spid="1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636"/>
        <p:cNvGrpSpPr/>
        <p:nvPr/>
      </p:nvGrpSpPr>
      <p:grpSpPr>
        <a:xfrm>
          <a:off x="0" y="0"/>
          <a:ext cx="0" cy="0"/>
          <a:chOff x="0" y="0"/>
          <a:chExt cx="0" cy="0"/>
        </a:xfrm>
      </p:grpSpPr>
      <p:sp>
        <p:nvSpPr>
          <p:cNvPr id="1637" name="Google Shape;1637;p117"/>
          <p:cNvSpPr txBox="1">
            <a:spLocks noGrp="1"/>
          </p:cNvSpPr>
          <p:nvPr>
            <p:ph type="body" idx="2"/>
          </p:nvPr>
        </p:nvSpPr>
        <p:spPr>
          <a:xfrm>
            <a:off x="2195300" y="1632125"/>
            <a:ext cx="6821700" cy="2730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Using the UML to the left as a guide, begin your array-based implementation of a heap by creating a new Java class named "</a:t>
            </a:r>
            <a:r>
              <a:rPr lang="en" dirty="0">
                <a:solidFill>
                  <a:srgbClr val="FF0000"/>
                </a:solidFill>
                <a:latin typeface="Courier New"/>
                <a:ea typeface="Courier New"/>
                <a:cs typeface="Courier New"/>
                <a:sym typeface="Courier New"/>
              </a:rPr>
              <a:t>ArrayHeap</a:t>
            </a:r>
            <a:r>
              <a:rPr lang="en" dirty="0"/>
              <a:t>" inside the </a:t>
            </a:r>
            <a:r>
              <a:rPr lang="en" dirty="0">
                <a:latin typeface="Courier New"/>
                <a:ea typeface="Courier New"/>
                <a:cs typeface="Courier New"/>
                <a:sym typeface="Courier New"/>
              </a:rPr>
              <a:t>heaps</a:t>
            </a:r>
            <a:r>
              <a:rPr lang="en" dirty="0"/>
              <a:t> package.</a:t>
            </a:r>
            <a:endParaRPr dirty="0"/>
          </a:p>
          <a:p>
            <a:pPr marL="914400" lvl="1" indent="-298450" algn="l" rtl="0">
              <a:spcBef>
                <a:spcPts val="0"/>
              </a:spcBef>
              <a:spcAft>
                <a:spcPts val="0"/>
              </a:spcAft>
              <a:buSzPts val="1100"/>
              <a:buChar char="○"/>
            </a:pPr>
            <a:r>
              <a:rPr lang="en" dirty="0"/>
              <a:t>In the </a:t>
            </a:r>
            <a:r>
              <a:rPr lang="en" b="1" i="1" dirty="0">
                <a:solidFill>
                  <a:srgbClr val="FF0000"/>
                </a:solidFill>
              </a:rPr>
              <a:t>constructor</a:t>
            </a:r>
            <a:r>
              <a:rPr lang="en" dirty="0"/>
              <a:t>:</a:t>
            </a:r>
            <a:endParaRPr dirty="0"/>
          </a:p>
          <a:p>
            <a:pPr marL="1371600" lvl="2" indent="-298450" algn="l" rtl="0">
              <a:spcBef>
                <a:spcPts val="0"/>
              </a:spcBef>
              <a:spcAft>
                <a:spcPts val="0"/>
              </a:spcAft>
              <a:buSzPts val="1100"/>
              <a:buChar char="■"/>
            </a:pPr>
            <a:r>
              <a:rPr lang="en" dirty="0"/>
              <a:t>Initialize the </a:t>
            </a:r>
            <a:r>
              <a:rPr lang="en" dirty="0">
                <a:latin typeface="Courier New"/>
                <a:ea typeface="Courier New"/>
                <a:cs typeface="Courier New"/>
                <a:sym typeface="Courier New"/>
              </a:rPr>
              <a:t>array</a:t>
            </a:r>
            <a:r>
              <a:rPr lang="en" dirty="0"/>
              <a:t> to a capacity of </a:t>
            </a:r>
            <a:r>
              <a:rPr lang="en" dirty="0">
                <a:latin typeface="Courier New"/>
                <a:ea typeface="Courier New"/>
                <a:cs typeface="Courier New"/>
                <a:sym typeface="Courier New"/>
              </a:rPr>
              <a:t>3</a:t>
            </a:r>
            <a:r>
              <a:rPr lang="en" dirty="0"/>
              <a:t>.</a:t>
            </a:r>
            <a:endParaRPr dirty="0"/>
          </a:p>
          <a:p>
            <a:pPr marL="1371600" lvl="2" indent="-298450" algn="l" rtl="0">
              <a:spcBef>
                <a:spcPts val="0"/>
              </a:spcBef>
              <a:spcAft>
                <a:spcPts val="0"/>
              </a:spcAft>
              <a:buSzPts val="1100"/>
              <a:buChar char="■"/>
            </a:pPr>
            <a:r>
              <a:rPr lang="en" dirty="0"/>
              <a:t>Set the </a:t>
            </a:r>
            <a:r>
              <a:rPr lang="en" dirty="0">
                <a:latin typeface="Courier New"/>
                <a:ea typeface="Courier New"/>
                <a:cs typeface="Courier New"/>
                <a:sym typeface="Courier New"/>
              </a:rPr>
              <a:t>size</a:t>
            </a:r>
            <a:r>
              <a:rPr lang="en" dirty="0"/>
              <a:t> to </a:t>
            </a:r>
            <a:r>
              <a:rPr lang="en" dirty="0">
                <a:latin typeface="Courier New"/>
                <a:ea typeface="Courier New"/>
                <a:cs typeface="Courier New"/>
                <a:sym typeface="Courier New"/>
              </a:rPr>
              <a:t>0</a:t>
            </a:r>
            <a:r>
              <a:rPr lang="en" dirty="0"/>
              <a:t>.</a:t>
            </a:r>
            <a:endParaRPr dirty="0"/>
          </a:p>
          <a:p>
            <a:pPr marL="914400" lvl="1" indent="-298450" algn="l" rtl="0">
              <a:spcBef>
                <a:spcPts val="0"/>
              </a:spcBef>
              <a:spcAft>
                <a:spcPts val="0"/>
              </a:spcAft>
              <a:buSzPts val="1100"/>
              <a:buChar char="○"/>
            </a:pPr>
            <a:r>
              <a:rPr lang="en" dirty="0"/>
              <a:t>Add a </a:t>
            </a:r>
            <a:r>
              <a:rPr lang="en" dirty="0">
                <a:solidFill>
                  <a:srgbClr val="FF0000"/>
                </a:solidFill>
                <a:latin typeface="Courier New"/>
                <a:ea typeface="Courier New"/>
                <a:cs typeface="Courier New"/>
                <a:sym typeface="Courier New"/>
              </a:rPr>
              <a:t>toString()</a:t>
            </a:r>
            <a:r>
              <a:rPr lang="en" dirty="0"/>
              <a:t> in the format </a:t>
            </a:r>
            <a:r>
              <a:rPr lang="en" dirty="0">
                <a:solidFill>
                  <a:srgbClr val="FF0000"/>
                </a:solidFill>
                <a:latin typeface="Courier New"/>
                <a:ea typeface="Courier New"/>
                <a:cs typeface="Courier New"/>
                <a:sym typeface="Courier New"/>
              </a:rPr>
              <a:t>"&lt;size&gt;, &lt;array&gt;"</a:t>
            </a:r>
            <a:r>
              <a:rPr lang="en" dirty="0"/>
              <a:t> </a:t>
            </a:r>
            <a:endParaRPr dirty="0"/>
          </a:p>
          <a:p>
            <a:pPr marL="1371600" lvl="2" indent="-298450" algn="l" rtl="0">
              <a:spcBef>
                <a:spcPts val="0"/>
              </a:spcBef>
              <a:spcAft>
                <a:spcPts val="0"/>
              </a:spcAft>
              <a:buSzPts val="1100"/>
              <a:buChar char="■"/>
            </a:pPr>
            <a:r>
              <a:rPr lang="en" dirty="0"/>
              <a:t>For example: </a:t>
            </a:r>
            <a:r>
              <a:rPr lang="en" dirty="0">
                <a:solidFill>
                  <a:srgbClr val="FF0000"/>
                </a:solidFill>
                <a:latin typeface="Courier New"/>
                <a:ea typeface="Courier New"/>
                <a:cs typeface="Courier New"/>
                <a:sym typeface="Courier New"/>
              </a:rPr>
              <a:t>"0, [0, 0, 0]"</a:t>
            </a:r>
            <a:endParaRPr dirty="0">
              <a:solidFill>
                <a:srgbClr val="FF0000"/>
              </a:solidFill>
              <a:latin typeface="Courier New"/>
              <a:ea typeface="Courier New"/>
              <a:cs typeface="Courier New"/>
              <a:sym typeface="Courier New"/>
            </a:endParaRPr>
          </a:p>
          <a:p>
            <a:pPr marL="1371600" lvl="2" indent="-298450" algn="l" rtl="0">
              <a:spcBef>
                <a:spcPts val="0"/>
              </a:spcBef>
              <a:spcAft>
                <a:spcPts val="0"/>
              </a:spcAft>
              <a:buSzPts val="1100"/>
              <a:buChar char="■"/>
            </a:pPr>
            <a:r>
              <a:rPr lang="en" b="1" i="1" dirty="0">
                <a:solidFill>
                  <a:srgbClr val="FF0000"/>
                </a:solidFill>
              </a:rPr>
              <a:t>Hint</a:t>
            </a:r>
            <a:r>
              <a:rPr lang="en" b="1" i="1" dirty="0"/>
              <a:t>:</a:t>
            </a:r>
            <a:r>
              <a:rPr lang="en" dirty="0"/>
              <a:t> use </a:t>
            </a:r>
            <a:r>
              <a:rPr lang="en" dirty="0">
                <a:latin typeface="Courier New"/>
                <a:ea typeface="Courier New"/>
                <a:cs typeface="Courier New"/>
                <a:sym typeface="Courier New"/>
              </a:rPr>
              <a:t>Arrays.toString().</a:t>
            </a:r>
            <a:endParaRPr dirty="0"/>
          </a:p>
          <a:p>
            <a:pPr marL="914400" lvl="1" indent="-298450" algn="l" rtl="0">
              <a:spcBef>
                <a:spcPts val="0"/>
              </a:spcBef>
              <a:spcAft>
                <a:spcPts val="0"/>
              </a:spcAft>
              <a:buSzPts val="1100"/>
              <a:buChar char="○"/>
            </a:pPr>
            <a:r>
              <a:rPr lang="en" dirty="0"/>
              <a:t>Implement the </a:t>
            </a:r>
            <a:r>
              <a:rPr lang="en" dirty="0">
                <a:solidFill>
                  <a:srgbClr val="FF0000"/>
                </a:solidFill>
                <a:latin typeface="Courier New"/>
                <a:ea typeface="Courier New"/>
                <a:cs typeface="Courier New"/>
                <a:sym typeface="Courier New"/>
              </a:rPr>
              <a:t>size()</a:t>
            </a:r>
            <a:r>
              <a:rPr lang="en" dirty="0"/>
              <a:t> method.</a:t>
            </a:r>
            <a:endParaRPr dirty="0"/>
          </a:p>
          <a:p>
            <a:pPr marL="914400" lvl="1" indent="-298450" algn="l" rtl="0">
              <a:spcBef>
                <a:spcPts val="0"/>
              </a:spcBef>
              <a:spcAft>
                <a:spcPts val="0"/>
              </a:spcAft>
              <a:buSzPts val="1100"/>
              <a:buChar char="○"/>
            </a:pPr>
            <a:r>
              <a:rPr lang="en" dirty="0"/>
              <a:t>Stub out the remaining methods.</a:t>
            </a:r>
            <a:endParaRPr dirty="0"/>
          </a:p>
          <a:p>
            <a:pPr marL="457200" lvl="0" indent="-311150" algn="l" rtl="0">
              <a:spcBef>
                <a:spcPts val="1000"/>
              </a:spcBef>
              <a:spcAft>
                <a:spcPts val="0"/>
              </a:spcAft>
              <a:buSzPts val="1300"/>
              <a:buChar char="●"/>
            </a:pPr>
            <a:r>
              <a:rPr lang="en" dirty="0"/>
              <a:t>Add a </a:t>
            </a:r>
            <a:r>
              <a:rPr lang="en" dirty="0">
                <a:solidFill>
                  <a:srgbClr val="FF0000"/>
                </a:solidFill>
                <a:latin typeface="Courier New"/>
                <a:ea typeface="Courier New"/>
                <a:cs typeface="Courier New"/>
                <a:sym typeface="Courier New"/>
              </a:rPr>
              <a:t>main</a:t>
            </a:r>
            <a:r>
              <a:rPr lang="en" dirty="0"/>
              <a:t> method to the class.</a:t>
            </a:r>
            <a:endParaRPr dirty="0"/>
          </a:p>
          <a:p>
            <a:pPr marL="914400" lvl="1" indent="-298450" algn="l" rtl="0">
              <a:spcBef>
                <a:spcPts val="0"/>
              </a:spcBef>
              <a:spcAft>
                <a:spcPts val="0"/>
              </a:spcAft>
              <a:buSzPts val="1100"/>
              <a:buChar char="○"/>
            </a:pPr>
            <a:r>
              <a:rPr lang="en" dirty="0"/>
              <a:t>Create an instance of the </a:t>
            </a:r>
            <a:r>
              <a:rPr lang="en" dirty="0">
                <a:latin typeface="Courier New"/>
                <a:ea typeface="Courier New"/>
                <a:cs typeface="Courier New"/>
                <a:sym typeface="Courier New"/>
              </a:rPr>
              <a:t>ArrayHeap</a:t>
            </a:r>
            <a:r>
              <a:rPr lang="en" dirty="0"/>
              <a:t> and print its </a:t>
            </a:r>
            <a:r>
              <a:rPr lang="en" dirty="0">
                <a:latin typeface="Courier New"/>
                <a:ea typeface="Courier New"/>
                <a:cs typeface="Courier New"/>
                <a:sym typeface="Courier New"/>
              </a:rPr>
              <a:t>size</a:t>
            </a:r>
            <a:r>
              <a:rPr lang="en" dirty="0"/>
              <a:t> to standard output.</a:t>
            </a:r>
            <a:endParaRPr dirty="0"/>
          </a:p>
        </p:txBody>
      </p:sp>
      <p:sp>
        <p:nvSpPr>
          <p:cNvPr id="1638" name="Google Shape;1638;p117"/>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Unlike the other trees that we have implemented in this unit, we will not implement the heap using nodes. Instead, we will implement our first heap as an </a:t>
            </a:r>
            <a:r>
              <a:rPr lang="en" b="1" i="1" dirty="0">
                <a:solidFill>
                  <a:srgbClr val="FF0000"/>
                </a:solidFill>
              </a:rPr>
              <a:t>overlay</a:t>
            </a:r>
            <a:r>
              <a:rPr lang="en" dirty="0">
                <a:solidFill>
                  <a:srgbClr val="FF0000"/>
                </a:solidFill>
              </a:rPr>
              <a:t> </a:t>
            </a:r>
            <a:r>
              <a:rPr lang="en" dirty="0"/>
              <a:t>on top of an array. </a:t>
            </a:r>
            <a:endParaRPr dirty="0"/>
          </a:p>
        </p:txBody>
      </p:sp>
      <p:sp>
        <p:nvSpPr>
          <p:cNvPr id="1639" name="Google Shape;1639;p1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1640" name="Google Shape;1640;p11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Array-Based Heap</a:t>
            </a:r>
            <a:endParaRPr/>
          </a:p>
        </p:txBody>
      </p:sp>
      <p:sp>
        <p:nvSpPr>
          <p:cNvPr id="1641" name="Google Shape;1641;p11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6.16</a:t>
            </a:r>
            <a:endParaRPr/>
          </a:p>
        </p:txBody>
      </p:sp>
      <p:pic>
        <p:nvPicPr>
          <p:cNvPr id="1642" name="Google Shape;1642;p117"/>
          <p:cNvPicPr preferRelativeResize="0"/>
          <p:nvPr/>
        </p:nvPicPr>
        <p:blipFill>
          <a:blip r:embed="rId3">
            <a:alphaModFix/>
          </a:blip>
          <a:stretch>
            <a:fillRect/>
          </a:stretch>
        </p:blipFill>
        <p:spPr>
          <a:xfrm>
            <a:off x="270350" y="1445925"/>
            <a:ext cx="1971802" cy="34171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646"/>
        <p:cNvGrpSpPr/>
        <p:nvPr/>
      </p:nvGrpSpPr>
      <p:grpSpPr>
        <a:xfrm>
          <a:off x="0" y="0"/>
          <a:ext cx="0" cy="0"/>
          <a:chOff x="0" y="0"/>
          <a:chExt cx="0" cy="0"/>
        </a:xfrm>
      </p:grpSpPr>
      <p:sp>
        <p:nvSpPr>
          <p:cNvPr id="1647" name="Google Shape;1647;p11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Adding to a Heap</a:t>
            </a:r>
            <a:endParaRPr/>
          </a:p>
        </p:txBody>
      </p:sp>
      <p:sp>
        <p:nvSpPr>
          <p:cNvPr id="1648" name="Google Shape;1648;p118"/>
          <p:cNvSpPr txBox="1"/>
          <p:nvPr/>
        </p:nvSpPr>
        <p:spPr>
          <a:xfrm>
            <a:off x="642725" y="1401175"/>
            <a:ext cx="3089100" cy="57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The first node added to the heap becomes the </a:t>
            </a:r>
            <a:r>
              <a:rPr lang="en" b="1" i="1">
                <a:solidFill>
                  <a:srgbClr val="FF0000"/>
                </a:solidFill>
              </a:rPr>
              <a:t>root</a:t>
            </a:r>
            <a:r>
              <a:rPr lang="en"/>
              <a:t>.</a:t>
            </a:r>
            <a:endParaRPr/>
          </a:p>
        </p:txBody>
      </p:sp>
      <p:sp>
        <p:nvSpPr>
          <p:cNvPr id="1649" name="Google Shape;1649;p118"/>
          <p:cNvSpPr txBox="1"/>
          <p:nvPr/>
        </p:nvSpPr>
        <p:spPr>
          <a:xfrm>
            <a:off x="641900" y="2674675"/>
            <a:ext cx="3089100" cy="779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Each subsequent node is added to the </a:t>
            </a:r>
            <a:r>
              <a:rPr lang="en" b="1" i="1">
                <a:solidFill>
                  <a:srgbClr val="FF0000"/>
                </a:solidFill>
              </a:rPr>
              <a:t>leftmost</a:t>
            </a:r>
            <a:r>
              <a:rPr lang="en">
                <a:solidFill>
                  <a:srgbClr val="FF0000"/>
                </a:solidFill>
              </a:rPr>
              <a:t> </a:t>
            </a:r>
            <a:r>
              <a:rPr lang="en"/>
              <a:t>open position in the </a:t>
            </a:r>
            <a:r>
              <a:rPr lang="en" b="1" i="1">
                <a:solidFill>
                  <a:srgbClr val="FF0000"/>
                </a:solidFill>
              </a:rPr>
              <a:t>bottom</a:t>
            </a:r>
            <a:r>
              <a:rPr lang="en">
                <a:solidFill>
                  <a:srgbClr val="FF0000"/>
                </a:solidFill>
              </a:rPr>
              <a:t> </a:t>
            </a:r>
            <a:r>
              <a:rPr lang="en"/>
              <a:t>level of the tree.</a:t>
            </a:r>
            <a:endParaRPr/>
          </a:p>
        </p:txBody>
      </p:sp>
      <p:sp>
        <p:nvSpPr>
          <p:cNvPr id="1650" name="Google Shape;1650;p118"/>
          <p:cNvSpPr txBox="1"/>
          <p:nvPr/>
        </p:nvSpPr>
        <p:spPr>
          <a:xfrm>
            <a:off x="4497679" y="1393600"/>
            <a:ext cx="40371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If a newly added node has a higher priority than it’s parent, the values are </a:t>
            </a:r>
            <a:r>
              <a:rPr lang="en" b="1" i="1">
                <a:solidFill>
                  <a:srgbClr val="FF0000"/>
                </a:solidFill>
              </a:rPr>
              <a:t>swapped</a:t>
            </a:r>
            <a:r>
              <a:rPr lang="en"/>
              <a:t>.</a:t>
            </a:r>
            <a:endParaRPr/>
          </a:p>
        </p:txBody>
      </p:sp>
      <p:sp>
        <p:nvSpPr>
          <p:cNvPr id="1651" name="Google Shape;1651;p118"/>
          <p:cNvSpPr txBox="1"/>
          <p:nvPr/>
        </p:nvSpPr>
        <p:spPr>
          <a:xfrm>
            <a:off x="4495800" y="4335350"/>
            <a:ext cx="4037100" cy="61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a:t>The swaps continue until the value is in the correct priority position. This is called </a:t>
            </a:r>
            <a:r>
              <a:rPr lang="en" b="1" i="1">
                <a:solidFill>
                  <a:srgbClr val="FF0000"/>
                </a:solidFill>
              </a:rPr>
              <a:t>sifting up</a:t>
            </a:r>
            <a:r>
              <a:rPr lang="en"/>
              <a:t>.</a:t>
            </a:r>
            <a:endParaRPr/>
          </a:p>
        </p:txBody>
      </p:sp>
      <p:sp>
        <p:nvSpPr>
          <p:cNvPr id="1652" name="Google Shape;1652;p1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grpSp>
        <p:nvGrpSpPr>
          <p:cNvPr id="1653" name="Google Shape;1653;p118"/>
          <p:cNvGrpSpPr/>
          <p:nvPr/>
        </p:nvGrpSpPr>
        <p:grpSpPr>
          <a:xfrm>
            <a:off x="1929735" y="2151002"/>
            <a:ext cx="354519" cy="333866"/>
            <a:chOff x="1763190" y="2234700"/>
            <a:chExt cx="530400" cy="499500"/>
          </a:xfrm>
        </p:grpSpPr>
        <p:sp>
          <p:nvSpPr>
            <p:cNvPr id="1654" name="Google Shape;1654;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656" name="Google Shape;1656;p118"/>
          <p:cNvGrpSpPr/>
          <p:nvPr/>
        </p:nvGrpSpPr>
        <p:grpSpPr>
          <a:xfrm>
            <a:off x="641910" y="3611502"/>
            <a:ext cx="354519" cy="333866"/>
            <a:chOff x="1763190" y="2234700"/>
            <a:chExt cx="530400" cy="499500"/>
          </a:xfrm>
        </p:grpSpPr>
        <p:sp>
          <p:nvSpPr>
            <p:cNvPr id="1657" name="Google Shape;1657;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659" name="Google Shape;1659;p118"/>
          <p:cNvGrpSpPr/>
          <p:nvPr/>
        </p:nvGrpSpPr>
        <p:grpSpPr>
          <a:xfrm>
            <a:off x="260910" y="3778435"/>
            <a:ext cx="381000" cy="700333"/>
            <a:chOff x="260910" y="3473635"/>
            <a:chExt cx="381000" cy="700333"/>
          </a:xfrm>
        </p:grpSpPr>
        <p:grpSp>
          <p:nvGrpSpPr>
            <p:cNvPr id="1660" name="Google Shape;1660;p118"/>
            <p:cNvGrpSpPr/>
            <p:nvPr/>
          </p:nvGrpSpPr>
          <p:grpSpPr>
            <a:xfrm>
              <a:off x="260910" y="3840102"/>
              <a:ext cx="354519" cy="333866"/>
              <a:chOff x="1763190" y="2234700"/>
              <a:chExt cx="530400" cy="499500"/>
            </a:xfrm>
          </p:grpSpPr>
          <p:sp>
            <p:nvSpPr>
              <p:cNvPr id="1661" name="Google Shape;1661;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663" name="Google Shape;1663;p118"/>
            <p:cNvCxnSpPr>
              <a:stCxn id="1658" idx="1"/>
              <a:endCxn id="1662"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nvGrpSpPr>
          <p:cNvPr id="1664" name="Google Shape;1664;p118"/>
          <p:cNvGrpSpPr/>
          <p:nvPr/>
        </p:nvGrpSpPr>
        <p:grpSpPr>
          <a:xfrm>
            <a:off x="1251510" y="3611502"/>
            <a:ext cx="735519" cy="867266"/>
            <a:chOff x="1251510" y="3306702"/>
            <a:chExt cx="735519" cy="867266"/>
          </a:xfrm>
        </p:grpSpPr>
        <p:grpSp>
          <p:nvGrpSpPr>
            <p:cNvPr id="1665" name="Google Shape;1665;p118"/>
            <p:cNvGrpSpPr/>
            <p:nvPr/>
          </p:nvGrpSpPr>
          <p:grpSpPr>
            <a:xfrm>
              <a:off x="1632510" y="3306702"/>
              <a:ext cx="354519" cy="333866"/>
              <a:chOff x="1763190" y="2234700"/>
              <a:chExt cx="530400" cy="499500"/>
            </a:xfrm>
          </p:grpSpPr>
          <p:sp>
            <p:nvSpPr>
              <p:cNvPr id="1666" name="Google Shape;1666;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668" name="Google Shape;1668;p118"/>
            <p:cNvGrpSpPr/>
            <p:nvPr/>
          </p:nvGrpSpPr>
          <p:grpSpPr>
            <a:xfrm>
              <a:off x="1251510" y="3473635"/>
              <a:ext cx="381000" cy="700333"/>
              <a:chOff x="260910" y="3473635"/>
              <a:chExt cx="381000" cy="700333"/>
            </a:xfrm>
          </p:grpSpPr>
          <p:grpSp>
            <p:nvGrpSpPr>
              <p:cNvPr id="1669" name="Google Shape;1669;p118"/>
              <p:cNvGrpSpPr/>
              <p:nvPr/>
            </p:nvGrpSpPr>
            <p:grpSpPr>
              <a:xfrm>
                <a:off x="260910" y="3840102"/>
                <a:ext cx="354519" cy="333866"/>
                <a:chOff x="1763190" y="2234700"/>
                <a:chExt cx="530400" cy="499500"/>
              </a:xfrm>
            </p:grpSpPr>
            <p:sp>
              <p:nvSpPr>
                <p:cNvPr id="1670" name="Google Shape;1670;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672" name="Google Shape;1672;p118"/>
              <p:cNvCxnSpPr>
                <a:stCxn id="1667" idx="1"/>
                <a:endCxn id="1671"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673" name="Google Shape;1673;p118"/>
          <p:cNvGrpSpPr/>
          <p:nvPr/>
        </p:nvGrpSpPr>
        <p:grpSpPr>
          <a:xfrm>
            <a:off x="1987029" y="3778435"/>
            <a:ext cx="377513" cy="700333"/>
            <a:chOff x="1987029" y="3473635"/>
            <a:chExt cx="377513" cy="700333"/>
          </a:xfrm>
        </p:grpSpPr>
        <p:grpSp>
          <p:nvGrpSpPr>
            <p:cNvPr id="1674" name="Google Shape;1674;p118"/>
            <p:cNvGrpSpPr/>
            <p:nvPr/>
          </p:nvGrpSpPr>
          <p:grpSpPr>
            <a:xfrm>
              <a:off x="2010023" y="3840102"/>
              <a:ext cx="354519" cy="333866"/>
              <a:chOff x="1763190" y="2234700"/>
              <a:chExt cx="530400" cy="499500"/>
            </a:xfrm>
          </p:grpSpPr>
          <p:sp>
            <p:nvSpPr>
              <p:cNvPr id="1675" name="Google Shape;1675;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677" name="Google Shape;1677;p118"/>
            <p:cNvCxnSpPr>
              <a:stCxn id="1667" idx="3"/>
              <a:endCxn id="1676"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nvGrpSpPr>
          <p:cNvPr id="1678" name="Google Shape;1678;p118"/>
          <p:cNvGrpSpPr/>
          <p:nvPr/>
        </p:nvGrpSpPr>
        <p:grpSpPr>
          <a:xfrm>
            <a:off x="2775510" y="3611502"/>
            <a:ext cx="1113032" cy="867266"/>
            <a:chOff x="2775510" y="3306702"/>
            <a:chExt cx="1113032" cy="867266"/>
          </a:xfrm>
        </p:grpSpPr>
        <p:grpSp>
          <p:nvGrpSpPr>
            <p:cNvPr id="1679" name="Google Shape;1679;p118"/>
            <p:cNvGrpSpPr/>
            <p:nvPr/>
          </p:nvGrpSpPr>
          <p:grpSpPr>
            <a:xfrm>
              <a:off x="2775510" y="3306702"/>
              <a:ext cx="735519" cy="867266"/>
              <a:chOff x="1251510" y="3306702"/>
              <a:chExt cx="735519" cy="867266"/>
            </a:xfrm>
          </p:grpSpPr>
          <p:grpSp>
            <p:nvGrpSpPr>
              <p:cNvPr id="1680" name="Google Shape;1680;p118"/>
              <p:cNvGrpSpPr/>
              <p:nvPr/>
            </p:nvGrpSpPr>
            <p:grpSpPr>
              <a:xfrm>
                <a:off x="1632510" y="3306702"/>
                <a:ext cx="354519" cy="333866"/>
                <a:chOff x="1763190" y="2234700"/>
                <a:chExt cx="530400" cy="499500"/>
              </a:xfrm>
            </p:grpSpPr>
            <p:sp>
              <p:nvSpPr>
                <p:cNvPr id="1681" name="Google Shape;1681;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683" name="Google Shape;1683;p118"/>
              <p:cNvGrpSpPr/>
              <p:nvPr/>
            </p:nvGrpSpPr>
            <p:grpSpPr>
              <a:xfrm>
                <a:off x="1251510" y="3473635"/>
                <a:ext cx="381000" cy="700333"/>
                <a:chOff x="260910" y="3473635"/>
                <a:chExt cx="381000" cy="700333"/>
              </a:xfrm>
            </p:grpSpPr>
            <p:grpSp>
              <p:nvGrpSpPr>
                <p:cNvPr id="1684" name="Google Shape;1684;p118"/>
                <p:cNvGrpSpPr/>
                <p:nvPr/>
              </p:nvGrpSpPr>
              <p:grpSpPr>
                <a:xfrm>
                  <a:off x="260910" y="3840102"/>
                  <a:ext cx="354519" cy="333866"/>
                  <a:chOff x="1763190" y="2234700"/>
                  <a:chExt cx="530400" cy="499500"/>
                </a:xfrm>
              </p:grpSpPr>
              <p:sp>
                <p:nvSpPr>
                  <p:cNvPr id="1685" name="Google Shape;1685;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687" name="Google Shape;1687;p118"/>
                <p:cNvCxnSpPr>
                  <a:stCxn id="1682" idx="1"/>
                  <a:endCxn id="1686"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688" name="Google Shape;1688;p118"/>
            <p:cNvGrpSpPr/>
            <p:nvPr/>
          </p:nvGrpSpPr>
          <p:grpSpPr>
            <a:xfrm>
              <a:off x="3511029" y="3473635"/>
              <a:ext cx="377513" cy="700333"/>
              <a:chOff x="1987029" y="3473635"/>
              <a:chExt cx="377513" cy="700333"/>
            </a:xfrm>
          </p:grpSpPr>
          <p:grpSp>
            <p:nvGrpSpPr>
              <p:cNvPr id="1689" name="Google Shape;1689;p118"/>
              <p:cNvGrpSpPr/>
              <p:nvPr/>
            </p:nvGrpSpPr>
            <p:grpSpPr>
              <a:xfrm>
                <a:off x="2010023" y="3840102"/>
                <a:ext cx="354519" cy="333866"/>
                <a:chOff x="1763190" y="2234700"/>
                <a:chExt cx="530400" cy="499500"/>
              </a:xfrm>
            </p:grpSpPr>
            <p:sp>
              <p:nvSpPr>
                <p:cNvPr id="1690" name="Google Shape;1690;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692" name="Google Shape;1692;p118"/>
              <p:cNvCxnSpPr>
                <a:stCxn id="1682" idx="3"/>
                <a:endCxn id="1691"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693" name="Google Shape;1693;p118"/>
          <p:cNvGrpSpPr/>
          <p:nvPr/>
        </p:nvGrpSpPr>
        <p:grpSpPr>
          <a:xfrm>
            <a:off x="2420985" y="4311835"/>
            <a:ext cx="354525" cy="725133"/>
            <a:chOff x="2420985" y="4007035"/>
            <a:chExt cx="354525" cy="725133"/>
          </a:xfrm>
        </p:grpSpPr>
        <p:grpSp>
          <p:nvGrpSpPr>
            <p:cNvPr id="1694" name="Google Shape;1694;p118"/>
            <p:cNvGrpSpPr/>
            <p:nvPr/>
          </p:nvGrpSpPr>
          <p:grpSpPr>
            <a:xfrm>
              <a:off x="2420985" y="4398302"/>
              <a:ext cx="354519" cy="333866"/>
              <a:chOff x="1763190" y="2234700"/>
              <a:chExt cx="530400" cy="499500"/>
            </a:xfrm>
          </p:grpSpPr>
          <p:sp>
            <p:nvSpPr>
              <p:cNvPr id="1695" name="Google Shape;1695;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73</a:t>
                </a:r>
                <a:endParaRPr sz="1200"/>
              </a:p>
            </p:txBody>
          </p:sp>
        </p:grpSp>
        <p:cxnSp>
          <p:nvCxnSpPr>
            <p:cNvPr id="1697" name="Google Shape;1697;p118"/>
            <p:cNvCxnSpPr>
              <a:stCxn id="1686" idx="1"/>
              <a:endCxn id="1696" idx="0"/>
            </p:cNvCxnSpPr>
            <p:nvPr/>
          </p:nvCxnSpPr>
          <p:spPr>
            <a:xfrm flipH="1">
              <a:off x="2598210" y="4007035"/>
              <a:ext cx="177300" cy="405600"/>
            </a:xfrm>
            <a:prstGeom prst="curvedConnector2">
              <a:avLst/>
            </a:prstGeom>
            <a:noFill/>
            <a:ln w="19050" cap="flat" cmpd="sng">
              <a:solidFill>
                <a:schemeClr val="accent2"/>
              </a:solidFill>
              <a:prstDash val="solid"/>
              <a:round/>
              <a:headEnd type="none" w="med" len="med"/>
              <a:tailEnd type="none" w="med" len="med"/>
            </a:ln>
          </p:spPr>
        </p:cxnSp>
      </p:grpSp>
      <p:grpSp>
        <p:nvGrpSpPr>
          <p:cNvPr id="1698" name="Google Shape;1698;p118"/>
          <p:cNvGrpSpPr/>
          <p:nvPr/>
        </p:nvGrpSpPr>
        <p:grpSpPr>
          <a:xfrm>
            <a:off x="4325985" y="2163702"/>
            <a:ext cx="1467557" cy="1425466"/>
            <a:chOff x="4249785" y="944502"/>
            <a:chExt cx="1467557" cy="1425466"/>
          </a:xfrm>
        </p:grpSpPr>
        <p:grpSp>
          <p:nvGrpSpPr>
            <p:cNvPr id="1699" name="Google Shape;1699;p118"/>
            <p:cNvGrpSpPr/>
            <p:nvPr/>
          </p:nvGrpSpPr>
          <p:grpSpPr>
            <a:xfrm>
              <a:off x="4604310" y="944502"/>
              <a:ext cx="1113032" cy="867266"/>
              <a:chOff x="2775510" y="3306702"/>
              <a:chExt cx="1113032" cy="867266"/>
            </a:xfrm>
          </p:grpSpPr>
          <p:grpSp>
            <p:nvGrpSpPr>
              <p:cNvPr id="1700" name="Google Shape;1700;p118"/>
              <p:cNvGrpSpPr/>
              <p:nvPr/>
            </p:nvGrpSpPr>
            <p:grpSpPr>
              <a:xfrm>
                <a:off x="2775510" y="3306702"/>
                <a:ext cx="735519" cy="867266"/>
                <a:chOff x="1251510" y="3306702"/>
                <a:chExt cx="735519" cy="867266"/>
              </a:xfrm>
            </p:grpSpPr>
            <p:grpSp>
              <p:nvGrpSpPr>
                <p:cNvPr id="1701" name="Google Shape;1701;p118"/>
                <p:cNvGrpSpPr/>
                <p:nvPr/>
              </p:nvGrpSpPr>
              <p:grpSpPr>
                <a:xfrm>
                  <a:off x="1632510" y="3306702"/>
                  <a:ext cx="354519" cy="333866"/>
                  <a:chOff x="1763190" y="2234700"/>
                  <a:chExt cx="530400" cy="499500"/>
                </a:xfrm>
              </p:grpSpPr>
              <p:sp>
                <p:nvSpPr>
                  <p:cNvPr id="1702" name="Google Shape;1702;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704" name="Google Shape;1704;p118"/>
                <p:cNvGrpSpPr/>
                <p:nvPr/>
              </p:nvGrpSpPr>
              <p:grpSpPr>
                <a:xfrm>
                  <a:off x="1251510" y="3473635"/>
                  <a:ext cx="381000" cy="700333"/>
                  <a:chOff x="260910" y="3473635"/>
                  <a:chExt cx="381000" cy="700333"/>
                </a:xfrm>
              </p:grpSpPr>
              <p:grpSp>
                <p:nvGrpSpPr>
                  <p:cNvPr id="1705" name="Google Shape;1705;p118"/>
                  <p:cNvGrpSpPr/>
                  <p:nvPr/>
                </p:nvGrpSpPr>
                <p:grpSpPr>
                  <a:xfrm>
                    <a:off x="260910" y="3840102"/>
                    <a:ext cx="354519" cy="333866"/>
                    <a:chOff x="1763190" y="2234700"/>
                    <a:chExt cx="530400" cy="499500"/>
                  </a:xfrm>
                </p:grpSpPr>
                <p:sp>
                  <p:nvSpPr>
                    <p:cNvPr id="1706" name="Google Shape;1706;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708" name="Google Shape;1708;p118"/>
                  <p:cNvCxnSpPr>
                    <a:stCxn id="1703" idx="1"/>
                    <a:endCxn id="1707"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09" name="Google Shape;1709;p118"/>
              <p:cNvGrpSpPr/>
              <p:nvPr/>
            </p:nvGrpSpPr>
            <p:grpSpPr>
              <a:xfrm>
                <a:off x="3511029" y="3473635"/>
                <a:ext cx="377513" cy="700333"/>
                <a:chOff x="1987029" y="3473635"/>
                <a:chExt cx="377513" cy="700333"/>
              </a:xfrm>
            </p:grpSpPr>
            <p:grpSp>
              <p:nvGrpSpPr>
                <p:cNvPr id="1710" name="Google Shape;1710;p118"/>
                <p:cNvGrpSpPr/>
                <p:nvPr/>
              </p:nvGrpSpPr>
              <p:grpSpPr>
                <a:xfrm>
                  <a:off x="2010023" y="3840102"/>
                  <a:ext cx="354519" cy="333866"/>
                  <a:chOff x="1763190" y="2234700"/>
                  <a:chExt cx="530400" cy="499500"/>
                </a:xfrm>
              </p:grpSpPr>
              <p:sp>
                <p:nvSpPr>
                  <p:cNvPr id="1711" name="Google Shape;1711;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713" name="Google Shape;1713;p118"/>
                <p:cNvCxnSpPr>
                  <a:stCxn id="1703" idx="3"/>
                  <a:endCxn id="1712"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14" name="Google Shape;1714;p118"/>
            <p:cNvGrpSpPr/>
            <p:nvPr/>
          </p:nvGrpSpPr>
          <p:grpSpPr>
            <a:xfrm>
              <a:off x="4249785" y="1644835"/>
              <a:ext cx="354525" cy="725133"/>
              <a:chOff x="2420985" y="4007035"/>
              <a:chExt cx="354525" cy="725133"/>
            </a:xfrm>
          </p:grpSpPr>
          <p:grpSp>
            <p:nvGrpSpPr>
              <p:cNvPr id="1715" name="Google Shape;1715;p118"/>
              <p:cNvGrpSpPr/>
              <p:nvPr/>
            </p:nvGrpSpPr>
            <p:grpSpPr>
              <a:xfrm>
                <a:off x="2420985" y="4398302"/>
                <a:ext cx="354519" cy="333866"/>
                <a:chOff x="1763190" y="2234700"/>
                <a:chExt cx="530400" cy="499500"/>
              </a:xfrm>
            </p:grpSpPr>
            <p:sp>
              <p:nvSpPr>
                <p:cNvPr id="1716" name="Google Shape;1716;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73</a:t>
                  </a:r>
                  <a:endParaRPr sz="1200"/>
                </a:p>
              </p:txBody>
            </p:sp>
          </p:grpSp>
          <p:cxnSp>
            <p:nvCxnSpPr>
              <p:cNvPr id="1718" name="Google Shape;1718;p118"/>
              <p:cNvCxnSpPr>
                <a:stCxn id="1707" idx="1"/>
                <a:endCxn id="1717" idx="0"/>
              </p:cNvCxnSpPr>
              <p:nvPr/>
            </p:nvCxnSpPr>
            <p:spPr>
              <a:xfrm flipH="1">
                <a:off x="2598210" y="4007035"/>
                <a:ext cx="177300" cy="4056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19" name="Google Shape;1719;p118"/>
          <p:cNvGrpSpPr/>
          <p:nvPr/>
        </p:nvGrpSpPr>
        <p:grpSpPr>
          <a:xfrm>
            <a:off x="5035029" y="2864035"/>
            <a:ext cx="393503" cy="739358"/>
            <a:chOff x="4958829" y="1644835"/>
            <a:chExt cx="393503" cy="739358"/>
          </a:xfrm>
        </p:grpSpPr>
        <p:grpSp>
          <p:nvGrpSpPr>
            <p:cNvPr id="1720" name="Google Shape;1720;p118"/>
            <p:cNvGrpSpPr/>
            <p:nvPr/>
          </p:nvGrpSpPr>
          <p:grpSpPr>
            <a:xfrm>
              <a:off x="4997813" y="2050327"/>
              <a:ext cx="354519" cy="333866"/>
              <a:chOff x="1763190" y="2234700"/>
              <a:chExt cx="530400" cy="499500"/>
            </a:xfrm>
          </p:grpSpPr>
          <p:sp>
            <p:nvSpPr>
              <p:cNvPr id="1721" name="Google Shape;1721;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10</a:t>
                </a:r>
                <a:endParaRPr sz="1200"/>
              </a:p>
            </p:txBody>
          </p:sp>
        </p:grpSp>
        <p:cxnSp>
          <p:nvCxnSpPr>
            <p:cNvPr id="1723" name="Google Shape;1723;p118"/>
            <p:cNvCxnSpPr>
              <a:stCxn id="1707" idx="3"/>
              <a:endCxn id="1722" idx="0"/>
            </p:cNvCxnSpPr>
            <p:nvPr/>
          </p:nvCxnSpPr>
          <p:spPr>
            <a:xfrm>
              <a:off x="4958829" y="1644835"/>
              <a:ext cx="216300" cy="420000"/>
            </a:xfrm>
            <a:prstGeom prst="curvedConnector2">
              <a:avLst/>
            </a:prstGeom>
            <a:noFill/>
            <a:ln w="19050" cap="flat" cmpd="sng">
              <a:solidFill>
                <a:schemeClr val="accent2"/>
              </a:solidFill>
              <a:prstDash val="solid"/>
              <a:round/>
              <a:headEnd type="none" w="med" len="med"/>
              <a:tailEnd type="none" w="med" len="med"/>
            </a:ln>
          </p:spPr>
        </p:cxnSp>
      </p:grpSp>
      <p:grpSp>
        <p:nvGrpSpPr>
          <p:cNvPr id="1724" name="Google Shape;1724;p118"/>
          <p:cNvGrpSpPr/>
          <p:nvPr/>
        </p:nvGrpSpPr>
        <p:grpSpPr>
          <a:xfrm>
            <a:off x="5849985" y="2392302"/>
            <a:ext cx="1467557" cy="1439691"/>
            <a:chOff x="5468985" y="1477902"/>
            <a:chExt cx="1467557" cy="1439691"/>
          </a:xfrm>
        </p:grpSpPr>
        <p:grpSp>
          <p:nvGrpSpPr>
            <p:cNvPr id="1725" name="Google Shape;1725;p118"/>
            <p:cNvGrpSpPr/>
            <p:nvPr/>
          </p:nvGrpSpPr>
          <p:grpSpPr>
            <a:xfrm>
              <a:off x="5468985" y="1477902"/>
              <a:ext cx="1467557" cy="1425466"/>
              <a:chOff x="4249785" y="944502"/>
              <a:chExt cx="1467557" cy="1425466"/>
            </a:xfrm>
          </p:grpSpPr>
          <p:grpSp>
            <p:nvGrpSpPr>
              <p:cNvPr id="1726" name="Google Shape;1726;p118"/>
              <p:cNvGrpSpPr/>
              <p:nvPr/>
            </p:nvGrpSpPr>
            <p:grpSpPr>
              <a:xfrm>
                <a:off x="4604310" y="944502"/>
                <a:ext cx="1113032" cy="867266"/>
                <a:chOff x="2775510" y="3306702"/>
                <a:chExt cx="1113032" cy="867266"/>
              </a:xfrm>
            </p:grpSpPr>
            <p:grpSp>
              <p:nvGrpSpPr>
                <p:cNvPr id="1727" name="Google Shape;1727;p118"/>
                <p:cNvGrpSpPr/>
                <p:nvPr/>
              </p:nvGrpSpPr>
              <p:grpSpPr>
                <a:xfrm>
                  <a:off x="2775510" y="3306702"/>
                  <a:ext cx="735519" cy="867266"/>
                  <a:chOff x="1251510" y="3306702"/>
                  <a:chExt cx="735519" cy="867266"/>
                </a:xfrm>
              </p:grpSpPr>
              <p:grpSp>
                <p:nvGrpSpPr>
                  <p:cNvPr id="1728" name="Google Shape;1728;p118"/>
                  <p:cNvGrpSpPr/>
                  <p:nvPr/>
                </p:nvGrpSpPr>
                <p:grpSpPr>
                  <a:xfrm>
                    <a:off x="1632510" y="3306702"/>
                    <a:ext cx="354519" cy="333866"/>
                    <a:chOff x="1763190" y="2234700"/>
                    <a:chExt cx="530400" cy="499500"/>
                  </a:xfrm>
                </p:grpSpPr>
                <p:sp>
                  <p:nvSpPr>
                    <p:cNvPr id="1729" name="Google Shape;1729;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731" name="Google Shape;1731;p118"/>
                  <p:cNvGrpSpPr/>
                  <p:nvPr/>
                </p:nvGrpSpPr>
                <p:grpSpPr>
                  <a:xfrm>
                    <a:off x="1251510" y="3473635"/>
                    <a:ext cx="381000" cy="700333"/>
                    <a:chOff x="260910" y="3473635"/>
                    <a:chExt cx="381000" cy="700333"/>
                  </a:xfrm>
                </p:grpSpPr>
                <p:grpSp>
                  <p:nvGrpSpPr>
                    <p:cNvPr id="1732" name="Google Shape;1732;p118"/>
                    <p:cNvGrpSpPr/>
                    <p:nvPr/>
                  </p:nvGrpSpPr>
                  <p:grpSpPr>
                    <a:xfrm>
                      <a:off x="260910" y="3840102"/>
                      <a:ext cx="354519" cy="333866"/>
                      <a:chOff x="1763190" y="2234700"/>
                      <a:chExt cx="530400" cy="499500"/>
                    </a:xfrm>
                  </p:grpSpPr>
                  <p:sp>
                    <p:nvSpPr>
                      <p:cNvPr id="1733" name="Google Shape;1733;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FF0000"/>
                            </a:solidFill>
                          </a:rPr>
                          <a:t>10</a:t>
                        </a:r>
                        <a:endParaRPr sz="1200" b="1">
                          <a:solidFill>
                            <a:srgbClr val="FF0000"/>
                          </a:solidFill>
                        </a:endParaRPr>
                      </a:p>
                    </p:txBody>
                  </p:sp>
                </p:grpSp>
                <p:cxnSp>
                  <p:nvCxnSpPr>
                    <p:cNvPr id="1735" name="Google Shape;1735;p118"/>
                    <p:cNvCxnSpPr>
                      <a:stCxn id="1730" idx="1"/>
                      <a:endCxn id="1734"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36" name="Google Shape;1736;p118"/>
                <p:cNvGrpSpPr/>
                <p:nvPr/>
              </p:nvGrpSpPr>
              <p:grpSpPr>
                <a:xfrm>
                  <a:off x="3511029" y="3473635"/>
                  <a:ext cx="377513" cy="700333"/>
                  <a:chOff x="1987029" y="3473635"/>
                  <a:chExt cx="377513" cy="700333"/>
                </a:xfrm>
              </p:grpSpPr>
              <p:grpSp>
                <p:nvGrpSpPr>
                  <p:cNvPr id="1737" name="Google Shape;1737;p118"/>
                  <p:cNvGrpSpPr/>
                  <p:nvPr/>
                </p:nvGrpSpPr>
                <p:grpSpPr>
                  <a:xfrm>
                    <a:off x="2010023" y="3840102"/>
                    <a:ext cx="354519" cy="333866"/>
                    <a:chOff x="1763190" y="2234700"/>
                    <a:chExt cx="530400" cy="499500"/>
                  </a:xfrm>
                </p:grpSpPr>
                <p:sp>
                  <p:nvSpPr>
                    <p:cNvPr id="1738" name="Google Shape;1738;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740" name="Google Shape;1740;p118"/>
                  <p:cNvCxnSpPr>
                    <a:stCxn id="1730" idx="3"/>
                    <a:endCxn id="1739"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41" name="Google Shape;1741;p118"/>
              <p:cNvGrpSpPr/>
              <p:nvPr/>
            </p:nvGrpSpPr>
            <p:grpSpPr>
              <a:xfrm>
                <a:off x="4249785" y="1644835"/>
                <a:ext cx="354525" cy="725133"/>
                <a:chOff x="2420985" y="4007035"/>
                <a:chExt cx="354525" cy="725133"/>
              </a:xfrm>
            </p:grpSpPr>
            <p:grpSp>
              <p:nvGrpSpPr>
                <p:cNvPr id="1742" name="Google Shape;1742;p118"/>
                <p:cNvGrpSpPr/>
                <p:nvPr/>
              </p:nvGrpSpPr>
              <p:grpSpPr>
                <a:xfrm>
                  <a:off x="2420985" y="4398302"/>
                  <a:ext cx="354519" cy="333866"/>
                  <a:chOff x="1763190" y="2234700"/>
                  <a:chExt cx="530400" cy="499500"/>
                </a:xfrm>
              </p:grpSpPr>
              <p:sp>
                <p:nvSpPr>
                  <p:cNvPr id="1743" name="Google Shape;1743;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73</a:t>
                    </a:r>
                    <a:endParaRPr sz="1200"/>
                  </a:p>
                </p:txBody>
              </p:sp>
            </p:grpSp>
            <p:cxnSp>
              <p:nvCxnSpPr>
                <p:cNvPr id="1745" name="Google Shape;1745;p118"/>
                <p:cNvCxnSpPr>
                  <a:stCxn id="1734" idx="1"/>
                  <a:endCxn id="1744" idx="0"/>
                </p:cNvCxnSpPr>
                <p:nvPr/>
              </p:nvCxnSpPr>
              <p:spPr>
                <a:xfrm flipH="1">
                  <a:off x="2598210" y="4007035"/>
                  <a:ext cx="177300" cy="4056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46" name="Google Shape;1746;p118"/>
            <p:cNvGrpSpPr/>
            <p:nvPr/>
          </p:nvGrpSpPr>
          <p:grpSpPr>
            <a:xfrm>
              <a:off x="6178029" y="2178235"/>
              <a:ext cx="393503" cy="739358"/>
              <a:chOff x="4958829" y="1644835"/>
              <a:chExt cx="393503" cy="739358"/>
            </a:xfrm>
          </p:grpSpPr>
          <p:grpSp>
            <p:nvGrpSpPr>
              <p:cNvPr id="1747" name="Google Shape;1747;p118"/>
              <p:cNvGrpSpPr/>
              <p:nvPr/>
            </p:nvGrpSpPr>
            <p:grpSpPr>
              <a:xfrm>
                <a:off x="4997813" y="2050327"/>
                <a:ext cx="354519" cy="333866"/>
                <a:chOff x="1763190" y="2234700"/>
                <a:chExt cx="530400" cy="499500"/>
              </a:xfrm>
            </p:grpSpPr>
            <p:sp>
              <p:nvSpPr>
                <p:cNvPr id="1748" name="Google Shape;1748;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750" name="Google Shape;1750;p118"/>
              <p:cNvCxnSpPr>
                <a:stCxn id="1734" idx="3"/>
                <a:endCxn id="1749" idx="0"/>
              </p:cNvCxnSpPr>
              <p:nvPr/>
            </p:nvCxnSpPr>
            <p:spPr>
              <a:xfrm>
                <a:off x="4958829" y="1644835"/>
                <a:ext cx="216300" cy="420000"/>
              </a:xfrm>
              <a:prstGeom prst="curvedConnector2">
                <a:avLst/>
              </a:prstGeom>
              <a:noFill/>
              <a:ln w="19050" cap="flat" cmpd="sng">
                <a:solidFill>
                  <a:schemeClr val="accent2"/>
                </a:solidFill>
                <a:prstDash val="solid"/>
                <a:round/>
                <a:headEnd type="none" w="med" len="med"/>
                <a:tailEnd type="none" w="med" len="med"/>
              </a:ln>
            </p:spPr>
          </p:cxnSp>
        </p:grpSp>
        <p:cxnSp>
          <p:nvCxnSpPr>
            <p:cNvPr id="1751" name="Google Shape;1751;p118"/>
            <p:cNvCxnSpPr>
              <a:stCxn id="1734" idx="2"/>
              <a:endCxn id="1749" idx="1"/>
            </p:cNvCxnSpPr>
            <p:nvPr/>
          </p:nvCxnSpPr>
          <p:spPr>
            <a:xfrm rot="-5400000" flipH="1">
              <a:off x="5898920" y="2432581"/>
              <a:ext cx="420000" cy="216300"/>
            </a:xfrm>
            <a:prstGeom prst="curvedConnector2">
              <a:avLst/>
            </a:prstGeom>
            <a:noFill/>
            <a:ln w="19050" cap="flat" cmpd="sng">
              <a:solidFill>
                <a:srgbClr val="FF0000"/>
              </a:solidFill>
              <a:prstDash val="dash"/>
              <a:round/>
              <a:headEnd type="stealth" w="med" len="med"/>
              <a:tailEnd type="none" w="med" len="med"/>
            </a:ln>
          </p:spPr>
        </p:cxnSp>
      </p:grpSp>
      <p:grpSp>
        <p:nvGrpSpPr>
          <p:cNvPr id="1752" name="Google Shape;1752;p118"/>
          <p:cNvGrpSpPr/>
          <p:nvPr/>
        </p:nvGrpSpPr>
        <p:grpSpPr>
          <a:xfrm>
            <a:off x="7297785" y="2773302"/>
            <a:ext cx="1467557" cy="1439691"/>
            <a:chOff x="5468985" y="1477902"/>
            <a:chExt cx="1467557" cy="1439691"/>
          </a:xfrm>
        </p:grpSpPr>
        <p:grpSp>
          <p:nvGrpSpPr>
            <p:cNvPr id="1753" name="Google Shape;1753;p118"/>
            <p:cNvGrpSpPr/>
            <p:nvPr/>
          </p:nvGrpSpPr>
          <p:grpSpPr>
            <a:xfrm>
              <a:off x="5468985" y="1477902"/>
              <a:ext cx="1467557" cy="1425466"/>
              <a:chOff x="4249785" y="944502"/>
              <a:chExt cx="1467557" cy="1425466"/>
            </a:xfrm>
          </p:grpSpPr>
          <p:grpSp>
            <p:nvGrpSpPr>
              <p:cNvPr id="1754" name="Google Shape;1754;p118"/>
              <p:cNvGrpSpPr/>
              <p:nvPr/>
            </p:nvGrpSpPr>
            <p:grpSpPr>
              <a:xfrm>
                <a:off x="4604310" y="944502"/>
                <a:ext cx="1113032" cy="867266"/>
                <a:chOff x="2775510" y="3306702"/>
                <a:chExt cx="1113032" cy="867266"/>
              </a:xfrm>
            </p:grpSpPr>
            <p:grpSp>
              <p:nvGrpSpPr>
                <p:cNvPr id="1755" name="Google Shape;1755;p118"/>
                <p:cNvGrpSpPr/>
                <p:nvPr/>
              </p:nvGrpSpPr>
              <p:grpSpPr>
                <a:xfrm>
                  <a:off x="2775510" y="3306702"/>
                  <a:ext cx="735519" cy="867266"/>
                  <a:chOff x="1251510" y="3306702"/>
                  <a:chExt cx="735519" cy="867266"/>
                </a:xfrm>
              </p:grpSpPr>
              <p:grpSp>
                <p:nvGrpSpPr>
                  <p:cNvPr id="1756" name="Google Shape;1756;p118"/>
                  <p:cNvGrpSpPr/>
                  <p:nvPr/>
                </p:nvGrpSpPr>
                <p:grpSpPr>
                  <a:xfrm>
                    <a:off x="1632510" y="3306702"/>
                    <a:ext cx="354519" cy="333866"/>
                    <a:chOff x="1763190" y="2234700"/>
                    <a:chExt cx="530400" cy="499500"/>
                  </a:xfrm>
                </p:grpSpPr>
                <p:sp>
                  <p:nvSpPr>
                    <p:cNvPr id="1757" name="Google Shape;1757;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FF0000"/>
                          </a:solidFill>
                        </a:rPr>
                        <a:t>10</a:t>
                      </a:r>
                      <a:endParaRPr sz="1200" b="1">
                        <a:solidFill>
                          <a:srgbClr val="FF0000"/>
                        </a:solidFill>
                      </a:endParaRPr>
                    </a:p>
                  </p:txBody>
                </p:sp>
              </p:grpSp>
              <p:grpSp>
                <p:nvGrpSpPr>
                  <p:cNvPr id="1759" name="Google Shape;1759;p118"/>
                  <p:cNvGrpSpPr/>
                  <p:nvPr/>
                </p:nvGrpSpPr>
                <p:grpSpPr>
                  <a:xfrm>
                    <a:off x="1251510" y="3473635"/>
                    <a:ext cx="381000" cy="700333"/>
                    <a:chOff x="260910" y="3473635"/>
                    <a:chExt cx="381000" cy="700333"/>
                  </a:xfrm>
                </p:grpSpPr>
                <p:grpSp>
                  <p:nvGrpSpPr>
                    <p:cNvPr id="1760" name="Google Shape;1760;p118"/>
                    <p:cNvGrpSpPr/>
                    <p:nvPr/>
                  </p:nvGrpSpPr>
                  <p:grpSpPr>
                    <a:xfrm>
                      <a:off x="260910" y="3840102"/>
                      <a:ext cx="354519" cy="333866"/>
                      <a:chOff x="1763190" y="2234700"/>
                      <a:chExt cx="530400" cy="499500"/>
                    </a:xfrm>
                  </p:grpSpPr>
                  <p:sp>
                    <p:nvSpPr>
                      <p:cNvPr id="1761" name="Google Shape;1761;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cxnSp>
                  <p:nvCxnSpPr>
                    <p:cNvPr id="1763" name="Google Shape;1763;p118"/>
                    <p:cNvCxnSpPr>
                      <a:stCxn id="1758" idx="1"/>
                      <a:endCxn id="1762"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64" name="Google Shape;1764;p118"/>
                <p:cNvGrpSpPr/>
                <p:nvPr/>
              </p:nvGrpSpPr>
              <p:grpSpPr>
                <a:xfrm>
                  <a:off x="3511029" y="3473635"/>
                  <a:ext cx="377513" cy="700333"/>
                  <a:chOff x="1987029" y="3473635"/>
                  <a:chExt cx="377513" cy="700333"/>
                </a:xfrm>
              </p:grpSpPr>
              <p:grpSp>
                <p:nvGrpSpPr>
                  <p:cNvPr id="1765" name="Google Shape;1765;p118"/>
                  <p:cNvGrpSpPr/>
                  <p:nvPr/>
                </p:nvGrpSpPr>
                <p:grpSpPr>
                  <a:xfrm>
                    <a:off x="2010023" y="3840102"/>
                    <a:ext cx="354519" cy="333866"/>
                    <a:chOff x="1763190" y="2234700"/>
                    <a:chExt cx="530400" cy="499500"/>
                  </a:xfrm>
                </p:grpSpPr>
                <p:sp>
                  <p:nvSpPr>
                    <p:cNvPr id="1766" name="Google Shape;1766;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768" name="Google Shape;1768;p118"/>
                  <p:cNvCxnSpPr>
                    <a:stCxn id="1758" idx="3"/>
                    <a:endCxn id="1767"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69" name="Google Shape;1769;p118"/>
              <p:cNvGrpSpPr/>
              <p:nvPr/>
            </p:nvGrpSpPr>
            <p:grpSpPr>
              <a:xfrm>
                <a:off x="4249785" y="1644835"/>
                <a:ext cx="354525" cy="725133"/>
                <a:chOff x="2420985" y="4007035"/>
                <a:chExt cx="354525" cy="725133"/>
              </a:xfrm>
            </p:grpSpPr>
            <p:grpSp>
              <p:nvGrpSpPr>
                <p:cNvPr id="1770" name="Google Shape;1770;p118"/>
                <p:cNvGrpSpPr/>
                <p:nvPr/>
              </p:nvGrpSpPr>
              <p:grpSpPr>
                <a:xfrm>
                  <a:off x="2420985" y="4398302"/>
                  <a:ext cx="354519" cy="333866"/>
                  <a:chOff x="1763190" y="2234700"/>
                  <a:chExt cx="530400" cy="499500"/>
                </a:xfrm>
              </p:grpSpPr>
              <p:sp>
                <p:nvSpPr>
                  <p:cNvPr id="1771" name="Google Shape;1771;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73</a:t>
                    </a:r>
                    <a:endParaRPr sz="1200"/>
                  </a:p>
                </p:txBody>
              </p:sp>
            </p:grpSp>
            <p:cxnSp>
              <p:nvCxnSpPr>
                <p:cNvPr id="1773" name="Google Shape;1773;p118"/>
                <p:cNvCxnSpPr>
                  <a:stCxn id="1762" idx="1"/>
                  <a:endCxn id="1772" idx="0"/>
                </p:cNvCxnSpPr>
                <p:nvPr/>
              </p:nvCxnSpPr>
              <p:spPr>
                <a:xfrm flipH="1">
                  <a:off x="2598210" y="4007035"/>
                  <a:ext cx="177300" cy="4056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774" name="Google Shape;1774;p118"/>
            <p:cNvGrpSpPr/>
            <p:nvPr/>
          </p:nvGrpSpPr>
          <p:grpSpPr>
            <a:xfrm>
              <a:off x="6178029" y="2178235"/>
              <a:ext cx="393503" cy="739358"/>
              <a:chOff x="4958829" y="1644835"/>
              <a:chExt cx="393503" cy="739358"/>
            </a:xfrm>
          </p:grpSpPr>
          <p:grpSp>
            <p:nvGrpSpPr>
              <p:cNvPr id="1775" name="Google Shape;1775;p118"/>
              <p:cNvGrpSpPr/>
              <p:nvPr/>
            </p:nvGrpSpPr>
            <p:grpSpPr>
              <a:xfrm>
                <a:off x="4997813" y="2050327"/>
                <a:ext cx="354519" cy="333866"/>
                <a:chOff x="1763190" y="2234700"/>
                <a:chExt cx="530400" cy="499500"/>
              </a:xfrm>
            </p:grpSpPr>
            <p:sp>
              <p:nvSpPr>
                <p:cNvPr id="1776" name="Google Shape;1776;p118"/>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118"/>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778" name="Google Shape;1778;p118"/>
              <p:cNvCxnSpPr>
                <a:stCxn id="1762" idx="3"/>
                <a:endCxn id="1777" idx="0"/>
              </p:cNvCxnSpPr>
              <p:nvPr/>
            </p:nvCxnSpPr>
            <p:spPr>
              <a:xfrm>
                <a:off x="4958829" y="1644835"/>
                <a:ext cx="216300" cy="420000"/>
              </a:xfrm>
              <a:prstGeom prst="curvedConnector2">
                <a:avLst/>
              </a:prstGeom>
              <a:noFill/>
              <a:ln w="19050" cap="flat" cmpd="sng">
                <a:solidFill>
                  <a:schemeClr val="accent2"/>
                </a:solidFill>
                <a:prstDash val="solid"/>
                <a:round/>
                <a:headEnd type="none" w="med" len="med"/>
                <a:tailEnd type="none" w="med" len="med"/>
              </a:ln>
            </p:spPr>
          </p:cxnSp>
        </p:grpSp>
        <p:cxnSp>
          <p:nvCxnSpPr>
            <p:cNvPr id="1779" name="Google Shape;1779;p118"/>
            <p:cNvCxnSpPr>
              <a:stCxn id="1762" idx="3"/>
              <a:endCxn id="1758" idx="2"/>
            </p:cNvCxnSpPr>
            <p:nvPr/>
          </p:nvCxnSpPr>
          <p:spPr>
            <a:xfrm rot="10800000" flipH="1">
              <a:off x="6178029" y="1797235"/>
              <a:ext cx="203700" cy="381000"/>
            </a:xfrm>
            <a:prstGeom prst="curvedConnector2">
              <a:avLst/>
            </a:prstGeom>
            <a:noFill/>
            <a:ln w="19050" cap="flat" cmpd="sng">
              <a:solidFill>
                <a:srgbClr val="FF0000"/>
              </a:solidFill>
              <a:prstDash val="dash"/>
              <a:round/>
              <a:headEnd type="none" w="med" len="med"/>
              <a:tailEnd type="stealth"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8"/>
                                        </p:tgtEl>
                                        <p:attrNameLst>
                                          <p:attrName>style.visibility</p:attrName>
                                        </p:attrNameLst>
                                      </p:cBhvr>
                                      <p:to>
                                        <p:strVal val="visible"/>
                                      </p:to>
                                    </p:set>
                                    <p:animEffect transition="in" filter="fade">
                                      <p:cBhvr>
                                        <p:cTn id="7" dur="1000"/>
                                        <p:tgtEl>
                                          <p:spTgt spid="1648"/>
                                        </p:tgtEl>
                                      </p:cBhvr>
                                    </p:animEffect>
                                  </p:childTnLst>
                                </p:cTn>
                              </p:par>
                              <p:par>
                                <p:cTn id="8" presetID="10" presetClass="entr" presetSubtype="0" fill="hold" nodeType="withEffect">
                                  <p:stCondLst>
                                    <p:cond delay="0"/>
                                  </p:stCondLst>
                                  <p:childTnLst>
                                    <p:set>
                                      <p:cBhvr>
                                        <p:cTn id="9" dur="1" fill="hold">
                                          <p:stCondLst>
                                            <p:cond delay="0"/>
                                          </p:stCondLst>
                                        </p:cTn>
                                        <p:tgtEl>
                                          <p:spTgt spid="1653"/>
                                        </p:tgtEl>
                                        <p:attrNameLst>
                                          <p:attrName>style.visibility</p:attrName>
                                        </p:attrNameLst>
                                      </p:cBhvr>
                                      <p:to>
                                        <p:strVal val="visible"/>
                                      </p:to>
                                    </p:set>
                                    <p:animEffect transition="in" filter="fade">
                                      <p:cBhvr>
                                        <p:cTn id="10" dur="1000"/>
                                        <p:tgtEl>
                                          <p:spTgt spid="165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49"/>
                                        </p:tgtEl>
                                        <p:attrNameLst>
                                          <p:attrName>style.visibility</p:attrName>
                                        </p:attrNameLst>
                                      </p:cBhvr>
                                      <p:to>
                                        <p:strVal val="visible"/>
                                      </p:to>
                                    </p:set>
                                    <p:animEffect transition="in" filter="fade">
                                      <p:cBhvr>
                                        <p:cTn id="15" dur="1000"/>
                                        <p:tgtEl>
                                          <p:spTgt spid="1649"/>
                                        </p:tgtEl>
                                      </p:cBhvr>
                                    </p:animEffect>
                                  </p:childTnLst>
                                </p:cTn>
                              </p:par>
                              <p:par>
                                <p:cTn id="16" presetID="10" presetClass="entr" presetSubtype="0" fill="hold" nodeType="withEffect">
                                  <p:stCondLst>
                                    <p:cond delay="0"/>
                                  </p:stCondLst>
                                  <p:childTnLst>
                                    <p:set>
                                      <p:cBhvr>
                                        <p:cTn id="17" dur="1" fill="hold">
                                          <p:stCondLst>
                                            <p:cond delay="0"/>
                                          </p:stCondLst>
                                        </p:cTn>
                                        <p:tgtEl>
                                          <p:spTgt spid="1656"/>
                                        </p:tgtEl>
                                        <p:attrNameLst>
                                          <p:attrName>style.visibility</p:attrName>
                                        </p:attrNameLst>
                                      </p:cBhvr>
                                      <p:to>
                                        <p:strVal val="visible"/>
                                      </p:to>
                                    </p:set>
                                    <p:animEffect transition="in" filter="fade">
                                      <p:cBhvr>
                                        <p:cTn id="18" dur="1000"/>
                                        <p:tgtEl>
                                          <p:spTgt spid="1656"/>
                                        </p:tgtEl>
                                      </p:cBhvr>
                                    </p:animEffect>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1659"/>
                                        </p:tgtEl>
                                        <p:attrNameLst>
                                          <p:attrName>style.visibility</p:attrName>
                                        </p:attrNameLst>
                                      </p:cBhvr>
                                      <p:to>
                                        <p:strVal val="visible"/>
                                      </p:to>
                                    </p:set>
                                    <p:animEffect transition="in" filter="fade">
                                      <p:cBhvr>
                                        <p:cTn id="22" dur="1000"/>
                                        <p:tgtEl>
                                          <p:spTgt spid="165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64"/>
                                        </p:tgtEl>
                                        <p:attrNameLst>
                                          <p:attrName>style.visibility</p:attrName>
                                        </p:attrNameLst>
                                      </p:cBhvr>
                                      <p:to>
                                        <p:strVal val="visible"/>
                                      </p:to>
                                    </p:set>
                                    <p:animEffect transition="in" filter="fade">
                                      <p:cBhvr>
                                        <p:cTn id="27" dur="1000"/>
                                        <p:tgtEl>
                                          <p:spTgt spid="1664"/>
                                        </p:tgtEl>
                                      </p:cBhvr>
                                    </p:animEffect>
                                  </p:childTnLst>
                                </p:cTn>
                              </p:par>
                            </p:childTnLst>
                          </p:cTn>
                        </p:par>
                        <p:par>
                          <p:cTn id="28" fill="hold">
                            <p:stCondLst>
                              <p:cond delay="1000"/>
                            </p:stCondLst>
                            <p:childTnLst>
                              <p:par>
                                <p:cTn id="29" presetID="10" presetClass="entr" presetSubtype="0" fill="hold" nodeType="afterEffect">
                                  <p:stCondLst>
                                    <p:cond delay="0"/>
                                  </p:stCondLst>
                                  <p:childTnLst>
                                    <p:set>
                                      <p:cBhvr>
                                        <p:cTn id="30" dur="1" fill="hold">
                                          <p:stCondLst>
                                            <p:cond delay="0"/>
                                          </p:stCondLst>
                                        </p:cTn>
                                        <p:tgtEl>
                                          <p:spTgt spid="1673"/>
                                        </p:tgtEl>
                                        <p:attrNameLst>
                                          <p:attrName>style.visibility</p:attrName>
                                        </p:attrNameLst>
                                      </p:cBhvr>
                                      <p:to>
                                        <p:strVal val="visible"/>
                                      </p:to>
                                    </p:set>
                                    <p:animEffect transition="in" filter="fade">
                                      <p:cBhvr>
                                        <p:cTn id="31" dur="1000"/>
                                        <p:tgtEl>
                                          <p:spTgt spid="167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678"/>
                                        </p:tgtEl>
                                        <p:attrNameLst>
                                          <p:attrName>style.visibility</p:attrName>
                                        </p:attrNameLst>
                                      </p:cBhvr>
                                      <p:to>
                                        <p:strVal val="visible"/>
                                      </p:to>
                                    </p:set>
                                    <p:animEffect transition="in" filter="fade">
                                      <p:cBhvr>
                                        <p:cTn id="36" dur="1000"/>
                                        <p:tgtEl>
                                          <p:spTgt spid="1678"/>
                                        </p:tgtEl>
                                      </p:cBhvr>
                                    </p:animEffect>
                                  </p:childTnLst>
                                </p:cTn>
                              </p:par>
                            </p:childTnLst>
                          </p:cTn>
                        </p:par>
                        <p:par>
                          <p:cTn id="37" fill="hold">
                            <p:stCondLst>
                              <p:cond delay="1000"/>
                            </p:stCondLst>
                            <p:childTnLst>
                              <p:par>
                                <p:cTn id="38" presetID="10" presetClass="entr" presetSubtype="0" fill="hold" nodeType="afterEffect">
                                  <p:stCondLst>
                                    <p:cond delay="0"/>
                                  </p:stCondLst>
                                  <p:childTnLst>
                                    <p:set>
                                      <p:cBhvr>
                                        <p:cTn id="39" dur="1" fill="hold">
                                          <p:stCondLst>
                                            <p:cond delay="0"/>
                                          </p:stCondLst>
                                        </p:cTn>
                                        <p:tgtEl>
                                          <p:spTgt spid="1693"/>
                                        </p:tgtEl>
                                        <p:attrNameLst>
                                          <p:attrName>style.visibility</p:attrName>
                                        </p:attrNameLst>
                                      </p:cBhvr>
                                      <p:to>
                                        <p:strVal val="visible"/>
                                      </p:to>
                                    </p:set>
                                    <p:animEffect transition="in" filter="fade">
                                      <p:cBhvr>
                                        <p:cTn id="40" dur="1000"/>
                                        <p:tgtEl>
                                          <p:spTgt spid="169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650"/>
                                        </p:tgtEl>
                                        <p:attrNameLst>
                                          <p:attrName>style.visibility</p:attrName>
                                        </p:attrNameLst>
                                      </p:cBhvr>
                                      <p:to>
                                        <p:strVal val="visible"/>
                                      </p:to>
                                    </p:set>
                                    <p:animEffect transition="in" filter="fade">
                                      <p:cBhvr>
                                        <p:cTn id="45" dur="1000"/>
                                        <p:tgtEl>
                                          <p:spTgt spid="1650"/>
                                        </p:tgtEl>
                                      </p:cBhvr>
                                    </p:animEffect>
                                  </p:childTnLst>
                                </p:cTn>
                              </p:par>
                            </p:childTnLst>
                          </p:cTn>
                        </p:par>
                        <p:par>
                          <p:cTn id="46" fill="hold">
                            <p:stCondLst>
                              <p:cond delay="1000"/>
                            </p:stCondLst>
                            <p:childTnLst>
                              <p:par>
                                <p:cTn id="47" presetID="10" presetClass="entr" presetSubtype="0" fill="hold" nodeType="afterEffect">
                                  <p:stCondLst>
                                    <p:cond delay="0"/>
                                  </p:stCondLst>
                                  <p:childTnLst>
                                    <p:set>
                                      <p:cBhvr>
                                        <p:cTn id="48" dur="1" fill="hold">
                                          <p:stCondLst>
                                            <p:cond delay="0"/>
                                          </p:stCondLst>
                                        </p:cTn>
                                        <p:tgtEl>
                                          <p:spTgt spid="1698"/>
                                        </p:tgtEl>
                                        <p:attrNameLst>
                                          <p:attrName>style.visibility</p:attrName>
                                        </p:attrNameLst>
                                      </p:cBhvr>
                                      <p:to>
                                        <p:strVal val="visible"/>
                                      </p:to>
                                    </p:set>
                                    <p:animEffect transition="in" filter="fade">
                                      <p:cBhvr>
                                        <p:cTn id="49" dur="1000"/>
                                        <p:tgtEl>
                                          <p:spTgt spid="1698"/>
                                        </p:tgtEl>
                                      </p:cBhvr>
                                    </p:animEffect>
                                  </p:childTnLst>
                                </p:cTn>
                              </p:par>
                            </p:childTnLst>
                          </p:cTn>
                        </p:par>
                        <p:par>
                          <p:cTn id="50" fill="hold">
                            <p:stCondLst>
                              <p:cond delay="2000"/>
                            </p:stCondLst>
                            <p:childTnLst>
                              <p:par>
                                <p:cTn id="51" presetID="10" presetClass="entr" presetSubtype="0" fill="hold" nodeType="afterEffect">
                                  <p:stCondLst>
                                    <p:cond delay="0"/>
                                  </p:stCondLst>
                                  <p:childTnLst>
                                    <p:set>
                                      <p:cBhvr>
                                        <p:cTn id="52" dur="1" fill="hold">
                                          <p:stCondLst>
                                            <p:cond delay="0"/>
                                          </p:stCondLst>
                                        </p:cTn>
                                        <p:tgtEl>
                                          <p:spTgt spid="1719"/>
                                        </p:tgtEl>
                                        <p:attrNameLst>
                                          <p:attrName>style.visibility</p:attrName>
                                        </p:attrNameLst>
                                      </p:cBhvr>
                                      <p:to>
                                        <p:strVal val="visible"/>
                                      </p:to>
                                    </p:set>
                                    <p:animEffect transition="in" filter="fade">
                                      <p:cBhvr>
                                        <p:cTn id="53" dur="1000"/>
                                        <p:tgtEl>
                                          <p:spTgt spid="1719"/>
                                        </p:tgtEl>
                                      </p:cBhvr>
                                    </p:animEffect>
                                  </p:childTnLst>
                                </p:cTn>
                              </p:par>
                            </p:childTnLst>
                          </p:cTn>
                        </p:par>
                        <p:par>
                          <p:cTn id="54" fill="hold">
                            <p:stCondLst>
                              <p:cond delay="3000"/>
                            </p:stCondLst>
                            <p:childTnLst>
                              <p:par>
                                <p:cTn id="55" presetID="10" presetClass="entr" presetSubtype="0" fill="hold" nodeType="afterEffect">
                                  <p:stCondLst>
                                    <p:cond delay="0"/>
                                  </p:stCondLst>
                                  <p:childTnLst>
                                    <p:set>
                                      <p:cBhvr>
                                        <p:cTn id="56" dur="1" fill="hold">
                                          <p:stCondLst>
                                            <p:cond delay="0"/>
                                          </p:stCondLst>
                                        </p:cTn>
                                        <p:tgtEl>
                                          <p:spTgt spid="1724"/>
                                        </p:tgtEl>
                                        <p:attrNameLst>
                                          <p:attrName>style.visibility</p:attrName>
                                        </p:attrNameLst>
                                      </p:cBhvr>
                                      <p:to>
                                        <p:strVal val="visible"/>
                                      </p:to>
                                    </p:set>
                                    <p:animEffect transition="in" filter="fade">
                                      <p:cBhvr>
                                        <p:cTn id="57" dur="1000"/>
                                        <p:tgtEl>
                                          <p:spTgt spid="172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651"/>
                                        </p:tgtEl>
                                        <p:attrNameLst>
                                          <p:attrName>style.visibility</p:attrName>
                                        </p:attrNameLst>
                                      </p:cBhvr>
                                      <p:to>
                                        <p:strVal val="visible"/>
                                      </p:to>
                                    </p:set>
                                    <p:animEffect transition="in" filter="fade">
                                      <p:cBhvr>
                                        <p:cTn id="62" dur="1000"/>
                                        <p:tgtEl>
                                          <p:spTgt spid="1651"/>
                                        </p:tgtEl>
                                      </p:cBhvr>
                                    </p:animEffect>
                                  </p:childTnLst>
                                </p:cTn>
                              </p:par>
                            </p:childTnLst>
                          </p:cTn>
                        </p:par>
                        <p:par>
                          <p:cTn id="63" fill="hold">
                            <p:stCondLst>
                              <p:cond delay="1000"/>
                            </p:stCondLst>
                            <p:childTnLst>
                              <p:par>
                                <p:cTn id="64" presetID="10" presetClass="entr" presetSubtype="0" fill="hold" nodeType="afterEffect">
                                  <p:stCondLst>
                                    <p:cond delay="0"/>
                                  </p:stCondLst>
                                  <p:childTnLst>
                                    <p:set>
                                      <p:cBhvr>
                                        <p:cTn id="65" dur="1" fill="hold">
                                          <p:stCondLst>
                                            <p:cond delay="0"/>
                                          </p:stCondLst>
                                        </p:cTn>
                                        <p:tgtEl>
                                          <p:spTgt spid="1752"/>
                                        </p:tgtEl>
                                        <p:attrNameLst>
                                          <p:attrName>style.visibility</p:attrName>
                                        </p:attrNameLst>
                                      </p:cBhvr>
                                      <p:to>
                                        <p:strVal val="visible"/>
                                      </p:to>
                                    </p:set>
                                    <p:animEffect transition="in" filter="fade">
                                      <p:cBhvr>
                                        <p:cTn id="66" dur="1000"/>
                                        <p:tgtEl>
                                          <p:spTgt spid="1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783"/>
        <p:cNvGrpSpPr/>
        <p:nvPr/>
      </p:nvGrpSpPr>
      <p:grpSpPr>
        <a:xfrm>
          <a:off x="0" y="0"/>
          <a:ext cx="0" cy="0"/>
          <a:chOff x="0" y="0"/>
          <a:chExt cx="0" cy="0"/>
        </a:xfrm>
      </p:grpSpPr>
      <p:sp>
        <p:nvSpPr>
          <p:cNvPr id="1784" name="Google Shape;1784;p11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first few steps of adding a new value to a heap is exactly the same as appending a value to an </a:t>
            </a:r>
            <a:r>
              <a:rPr lang="en">
                <a:latin typeface="Courier New"/>
                <a:ea typeface="Courier New"/>
                <a:cs typeface="Courier New"/>
                <a:sym typeface="Courier New"/>
              </a:rPr>
              <a:t>ArrayList</a:t>
            </a:r>
            <a:r>
              <a:rPr lang="en"/>
              <a:t>. Let's focus on that part first, before we worry about </a:t>
            </a:r>
            <a:r>
              <a:rPr lang="en" i="1"/>
              <a:t>sifting up</a:t>
            </a:r>
            <a:r>
              <a:rPr lang="en"/>
              <a:t>.</a:t>
            </a:r>
            <a:endParaRPr/>
          </a:p>
        </p:txBody>
      </p:sp>
      <p:sp>
        <p:nvSpPr>
          <p:cNvPr id="1785" name="Google Shape;1785;p1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1786" name="Google Shape;1786;p119"/>
          <p:cNvSpPr txBox="1">
            <a:spLocks noGrp="1"/>
          </p:cNvSpPr>
          <p:nvPr>
            <p:ph type="body" idx="2"/>
          </p:nvPr>
        </p:nvSpPr>
        <p:spPr>
          <a:xfrm>
            <a:off x="3126875" y="1398913"/>
            <a:ext cx="5646900" cy="36108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the </a:t>
            </a:r>
            <a:r>
              <a:rPr lang="en" sz="1500" dirty="0">
                <a:latin typeface="Courier New"/>
                <a:ea typeface="Courier New"/>
                <a:cs typeface="Courier New"/>
                <a:sym typeface="Courier New"/>
              </a:rPr>
              <a:t>ArrayHeap</a:t>
            </a:r>
            <a:r>
              <a:rPr lang="en" sz="1500" dirty="0"/>
              <a:t> class and navigate to the </a:t>
            </a:r>
            <a:r>
              <a:rPr lang="en" sz="1500" dirty="0">
                <a:solidFill>
                  <a:srgbClr val="FF0000"/>
                </a:solidFill>
                <a:latin typeface="Courier New"/>
                <a:ea typeface="Courier New"/>
                <a:cs typeface="Courier New"/>
                <a:sym typeface="Courier New"/>
              </a:rPr>
              <a:t>add</a:t>
            </a:r>
            <a:r>
              <a:rPr lang="en" sz="1500" dirty="0">
                <a:solidFill>
                  <a:srgbClr val="FF0000"/>
                </a:solidFill>
              </a:rPr>
              <a:t> </a:t>
            </a:r>
            <a:r>
              <a:rPr lang="en" sz="1500" dirty="0"/>
              <a:t>method.</a:t>
            </a:r>
            <a:endParaRPr sz="1500" dirty="0"/>
          </a:p>
          <a:p>
            <a:pPr marL="914400" lvl="1" indent="-311150" algn="l" rtl="0">
              <a:spcBef>
                <a:spcPts val="0"/>
              </a:spcBef>
              <a:spcAft>
                <a:spcPts val="0"/>
              </a:spcAft>
              <a:buSzPts val="1300"/>
              <a:buChar char="○"/>
            </a:pPr>
            <a:r>
              <a:rPr lang="en" sz="1300" dirty="0"/>
              <a:t>Values are always </a:t>
            </a:r>
            <a:r>
              <a:rPr lang="en" sz="1300" dirty="0">
                <a:highlight>
                  <a:srgbClr val="FFFF00"/>
                </a:highlight>
              </a:rPr>
              <a:t>initially added to </a:t>
            </a:r>
            <a:r>
              <a:rPr lang="en" sz="1300" b="1" i="1" dirty="0">
                <a:solidFill>
                  <a:srgbClr val="FF0000"/>
                </a:solidFill>
                <a:highlight>
                  <a:srgbClr val="FFFF00"/>
                </a:highlight>
              </a:rPr>
              <a:t>leftmost-open position</a:t>
            </a:r>
            <a:r>
              <a:rPr lang="en" sz="1300" dirty="0">
                <a:highlight>
                  <a:srgbClr val="FFFF00"/>
                </a:highlight>
              </a:rPr>
              <a:t> </a:t>
            </a:r>
            <a:r>
              <a:rPr lang="en" sz="1300" dirty="0"/>
              <a:t>on the bottom of the heap. The good news is that this is the </a:t>
            </a:r>
            <a:r>
              <a:rPr lang="en" sz="1300" b="1" i="1" dirty="0">
                <a:solidFill>
                  <a:srgbClr val="FF0000"/>
                </a:solidFill>
              </a:rPr>
              <a:t>index to which </a:t>
            </a:r>
            <a:r>
              <a:rPr lang="en" sz="1300" i="1" dirty="0">
                <a:solidFill>
                  <a:srgbClr val="FF0000"/>
                </a:solidFill>
                <a:latin typeface="Courier New"/>
                <a:ea typeface="Courier New"/>
                <a:cs typeface="Courier New"/>
                <a:sym typeface="Courier New"/>
              </a:rPr>
              <a:t>size</a:t>
            </a:r>
            <a:r>
              <a:rPr lang="en" sz="1300" b="1" i="1" dirty="0">
                <a:solidFill>
                  <a:srgbClr val="FF0000"/>
                </a:solidFill>
              </a:rPr>
              <a:t> refers</a:t>
            </a:r>
            <a:r>
              <a:rPr lang="en" sz="1300" dirty="0"/>
              <a:t>!</a:t>
            </a:r>
            <a:endParaRPr sz="1300" dirty="0"/>
          </a:p>
          <a:p>
            <a:pPr marL="914400" lvl="1" indent="-311150" algn="l" rtl="0">
              <a:spcBef>
                <a:spcPts val="0"/>
              </a:spcBef>
              <a:spcAft>
                <a:spcPts val="0"/>
              </a:spcAft>
              <a:buSzPts val="1300"/>
              <a:buChar char="○"/>
            </a:pPr>
            <a:r>
              <a:rPr lang="en" sz="1300" dirty="0"/>
              <a:t>First, check to see if </a:t>
            </a:r>
            <a:r>
              <a:rPr lang="en" sz="1300" dirty="0">
                <a:latin typeface="Courier New"/>
                <a:ea typeface="Courier New"/>
                <a:cs typeface="Courier New"/>
                <a:sym typeface="Courier New"/>
              </a:rPr>
              <a:t>size</a:t>
            </a:r>
            <a:r>
              <a:rPr lang="en" sz="1300" dirty="0"/>
              <a:t> is equal to the length of the </a:t>
            </a:r>
            <a:r>
              <a:rPr lang="en" sz="1300" dirty="0">
                <a:latin typeface="Courier New"/>
                <a:ea typeface="Courier New"/>
                <a:cs typeface="Courier New"/>
                <a:sym typeface="Courier New"/>
              </a:rPr>
              <a:t>array</a:t>
            </a:r>
            <a:r>
              <a:rPr lang="en" sz="1300" dirty="0"/>
              <a:t>; if so, use </a:t>
            </a:r>
            <a:r>
              <a:rPr lang="en" sz="1300" dirty="0">
                <a:solidFill>
                  <a:srgbClr val="FF0000"/>
                </a:solidFill>
                <a:latin typeface="Courier New"/>
                <a:ea typeface="Courier New"/>
                <a:cs typeface="Courier New"/>
                <a:sym typeface="Courier New"/>
              </a:rPr>
              <a:t>Arrays.copyOf(original, newSize)</a:t>
            </a:r>
            <a:r>
              <a:rPr lang="en" sz="1300" dirty="0"/>
              <a:t> to create a bigger copy of the array.</a:t>
            </a:r>
            <a:endParaRPr sz="1300" dirty="0"/>
          </a:p>
          <a:p>
            <a:pPr marL="914400" lvl="1" indent="-311150" algn="l" rtl="0">
              <a:spcBef>
                <a:spcPts val="0"/>
              </a:spcBef>
              <a:spcAft>
                <a:spcPts val="0"/>
              </a:spcAft>
              <a:buSzPts val="1300"/>
              <a:buChar char="○"/>
            </a:pPr>
            <a:r>
              <a:rPr lang="en" sz="1300" dirty="0"/>
              <a:t>Next, put the new value in the correct location in the </a:t>
            </a:r>
            <a:r>
              <a:rPr lang="en" sz="1300" dirty="0">
                <a:latin typeface="Courier New"/>
                <a:ea typeface="Courier New"/>
                <a:cs typeface="Courier New"/>
                <a:sym typeface="Courier New"/>
              </a:rPr>
              <a:t>array</a:t>
            </a:r>
            <a:r>
              <a:rPr lang="en" sz="1300" dirty="0"/>
              <a:t>.</a:t>
            </a:r>
            <a:endParaRPr sz="1300" dirty="0"/>
          </a:p>
          <a:p>
            <a:pPr marL="914400" lvl="1" indent="-311150" algn="l" rtl="0">
              <a:spcBef>
                <a:spcPts val="0"/>
              </a:spcBef>
              <a:spcAft>
                <a:spcPts val="0"/>
              </a:spcAft>
              <a:buSzPts val="1300"/>
              <a:buChar char="○"/>
            </a:pPr>
            <a:r>
              <a:rPr lang="en" sz="1300" dirty="0"/>
              <a:t>Don't forget to </a:t>
            </a:r>
            <a:r>
              <a:rPr lang="en" sz="1300" b="1" i="1" dirty="0">
                <a:solidFill>
                  <a:srgbClr val="FF0000"/>
                </a:solidFill>
              </a:rPr>
              <a:t>increment </a:t>
            </a:r>
            <a:r>
              <a:rPr lang="en" sz="1300" dirty="0">
                <a:solidFill>
                  <a:srgbClr val="FF0000"/>
                </a:solidFill>
                <a:latin typeface="Courier New"/>
                <a:ea typeface="Courier New"/>
                <a:cs typeface="Courier New"/>
                <a:sym typeface="Courier New"/>
              </a:rPr>
              <a:t>size</a:t>
            </a:r>
            <a:r>
              <a:rPr lang="en" sz="1300" dirty="0"/>
              <a:t>!</a:t>
            </a:r>
            <a:endParaRPr sz="1300" dirty="0"/>
          </a:p>
          <a:p>
            <a:pPr marL="457200" lvl="0" indent="-323850" algn="l" rtl="0">
              <a:spcBef>
                <a:spcPts val="1000"/>
              </a:spcBef>
              <a:spcAft>
                <a:spcPts val="0"/>
              </a:spcAft>
              <a:buSzPts val="1500"/>
              <a:buChar char="●"/>
            </a:pPr>
            <a:r>
              <a:rPr lang="en" sz="1500" dirty="0"/>
              <a:t>Update your </a:t>
            </a:r>
            <a:r>
              <a:rPr lang="en" sz="1500" dirty="0">
                <a:latin typeface="Courier New"/>
                <a:ea typeface="Courier New"/>
                <a:cs typeface="Courier New"/>
                <a:sym typeface="Courier New"/>
              </a:rPr>
              <a:t>main</a:t>
            </a:r>
            <a:r>
              <a:rPr lang="en" sz="1500" dirty="0"/>
              <a:t> method.</a:t>
            </a:r>
            <a:endParaRPr sz="1500" dirty="0"/>
          </a:p>
          <a:p>
            <a:pPr marL="914400" lvl="1" indent="-311150" algn="l" rtl="0">
              <a:spcBef>
                <a:spcPts val="0"/>
              </a:spcBef>
              <a:spcAft>
                <a:spcPts val="0"/>
              </a:spcAft>
              <a:buSzPts val="1300"/>
              <a:buChar char="○"/>
            </a:pPr>
            <a:r>
              <a:rPr lang="en" sz="1300" dirty="0"/>
              <a:t>Verify that you are able to add </a:t>
            </a:r>
            <a:r>
              <a:rPr lang="en" sz="1300" b="1" i="1" dirty="0">
                <a:solidFill>
                  <a:srgbClr val="FF0000"/>
                </a:solidFill>
              </a:rPr>
              <a:t>4 or more</a:t>
            </a:r>
            <a:r>
              <a:rPr lang="en" sz="1300" dirty="0"/>
              <a:t> values to the heap.</a:t>
            </a:r>
            <a:endParaRPr sz="1300" dirty="0"/>
          </a:p>
          <a:p>
            <a:pPr marL="914400" lvl="1" indent="-311150" algn="l" rtl="0">
              <a:spcBef>
                <a:spcPts val="0"/>
              </a:spcBef>
              <a:spcAft>
                <a:spcPts val="0"/>
              </a:spcAft>
              <a:buSzPts val="1300"/>
              <a:buChar char="○"/>
            </a:pPr>
            <a:r>
              <a:rPr lang="en" sz="1300" dirty="0"/>
              <a:t>Print the the heap. You should notice that the values are in the array, but not in the correct order.</a:t>
            </a:r>
            <a:endParaRPr sz="1300" dirty="0"/>
          </a:p>
        </p:txBody>
      </p:sp>
      <p:sp>
        <p:nvSpPr>
          <p:cNvPr id="1787" name="Google Shape;1787;p11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Adding to the Heap</a:t>
            </a:r>
            <a:endParaRPr/>
          </a:p>
        </p:txBody>
      </p:sp>
      <p:sp>
        <p:nvSpPr>
          <p:cNvPr id="1788" name="Google Shape;1788;p11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6.17</a:t>
            </a:r>
            <a:endParaRPr/>
          </a:p>
        </p:txBody>
      </p:sp>
      <p:graphicFrame>
        <p:nvGraphicFramePr>
          <p:cNvPr id="1789" name="Google Shape;1789;p119"/>
          <p:cNvGraphicFramePr/>
          <p:nvPr/>
        </p:nvGraphicFramePr>
        <p:xfrm>
          <a:off x="259078" y="2317925"/>
          <a:ext cx="2679950" cy="792420"/>
        </p:xfrm>
        <a:graphic>
          <a:graphicData uri="http://schemas.openxmlformats.org/drawingml/2006/table">
            <a:tbl>
              <a:tblPr>
                <a:noFill/>
                <a:tableStyleId>{24C44263-8FF7-4D16-B4B7-C5B571B8A48A}</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396200">
                <a:tc>
                  <a:txBody>
                    <a:bodyPr/>
                    <a:lstStyle/>
                    <a:p>
                      <a:pPr marL="0" lvl="0" indent="0" algn="ctr" rtl="0">
                        <a:spcBef>
                          <a:spcPts val="0"/>
                        </a:spcBef>
                        <a:spcAft>
                          <a:spcPts val="0"/>
                        </a:spcAft>
                        <a:buNone/>
                      </a:pPr>
                      <a:r>
                        <a:rPr lang="en">
                          <a:latin typeface="Consolas"/>
                          <a:ea typeface="Consolas"/>
                          <a:cs typeface="Consolas"/>
                          <a:sym typeface="Consolas"/>
                        </a:rPr>
                        <a:t>5</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4CCCC"/>
                    </a:solidFill>
                  </a:tcPr>
                </a:tc>
                <a:extLst>
                  <a:ext uri="{0D108BD9-81ED-4DB2-BD59-A6C34878D82A}">
                    <a16:rowId xmlns:a16="http://schemas.microsoft.com/office/drawing/2014/main" val="10000"/>
                  </a:ext>
                </a:extLst>
              </a:tr>
              <a:tr h="396200">
                <a:tc>
                  <a:txBody>
                    <a:bodyPr/>
                    <a:lstStyle/>
                    <a:p>
                      <a:pPr marL="0" lvl="0" indent="0" algn="ctr" rtl="0">
                        <a:spcBef>
                          <a:spcPts val="0"/>
                        </a:spcBef>
                        <a:spcAft>
                          <a:spcPts val="0"/>
                        </a:spcAft>
                        <a:buNone/>
                      </a:pPr>
                      <a:r>
                        <a:rPr lang="en">
                          <a:latin typeface="Consolas"/>
                          <a:ea typeface="Consolas"/>
                          <a:cs typeface="Consolas"/>
                          <a:sym typeface="Consolas"/>
                        </a:rPr>
                        <a:t>0</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1</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2</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3</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4</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5</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Consolas"/>
                          <a:ea typeface="Consolas"/>
                          <a:cs typeface="Consolas"/>
                          <a:sym typeface="Consolas"/>
                        </a:rPr>
                        <a:t>6</a:t>
                      </a:r>
                      <a:endParaRPr>
                        <a:latin typeface="Consolas"/>
                        <a:ea typeface="Consolas"/>
                        <a:cs typeface="Consolas"/>
                        <a:sym typeface="Consola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790" name="Google Shape;1790;p119"/>
          <p:cNvSpPr txBox="1"/>
          <p:nvPr/>
        </p:nvSpPr>
        <p:spPr>
          <a:xfrm>
            <a:off x="214153" y="3064225"/>
            <a:ext cx="1620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onsolas"/>
                <a:ea typeface="Consolas"/>
                <a:cs typeface="Consolas"/>
                <a:sym typeface="Consolas"/>
              </a:rPr>
              <a:t>size = 3</a:t>
            </a:r>
            <a:endParaRPr>
              <a:latin typeface="Consolas"/>
              <a:ea typeface="Consolas"/>
              <a:cs typeface="Consolas"/>
              <a:sym typeface="Consolas"/>
            </a:endParaRPr>
          </a:p>
        </p:txBody>
      </p:sp>
      <p:sp>
        <p:nvSpPr>
          <p:cNvPr id="1791" name="Google Shape;1791;p119"/>
          <p:cNvSpPr txBox="1"/>
          <p:nvPr/>
        </p:nvSpPr>
        <p:spPr>
          <a:xfrm>
            <a:off x="220175" y="1655233"/>
            <a:ext cx="2751000" cy="57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t>Remember that Java fills </a:t>
            </a:r>
            <a:r>
              <a:rPr lang="en" sz="1200">
                <a:latin typeface="Courier New"/>
                <a:ea typeface="Courier New"/>
                <a:cs typeface="Courier New"/>
                <a:sym typeface="Courier New"/>
              </a:rPr>
              <a:t>int</a:t>
            </a:r>
            <a:r>
              <a:rPr lang="en" sz="1200"/>
              <a:t> arrays with </a:t>
            </a:r>
            <a:r>
              <a:rPr lang="en" sz="1200">
                <a:solidFill>
                  <a:srgbClr val="FF0000"/>
                </a:solidFill>
                <a:latin typeface="Courier New"/>
                <a:ea typeface="Courier New"/>
                <a:cs typeface="Courier New"/>
                <a:sym typeface="Courier New"/>
              </a:rPr>
              <a:t>0</a:t>
            </a:r>
            <a:r>
              <a:rPr lang="en" sz="1200"/>
              <a:t>s by default.</a:t>
            </a:r>
            <a:endParaRPr sz="1200"/>
          </a:p>
        </p:txBody>
      </p:sp>
      <p:sp>
        <p:nvSpPr>
          <p:cNvPr id="1792" name="Google Shape;1792;p119"/>
          <p:cNvSpPr txBox="1"/>
          <p:nvPr/>
        </p:nvSpPr>
        <p:spPr>
          <a:xfrm>
            <a:off x="220175" y="3496891"/>
            <a:ext cx="27510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next value added to this heap will go into the index to which </a:t>
            </a:r>
            <a:r>
              <a:rPr lang="en" sz="1200">
                <a:solidFill>
                  <a:srgbClr val="FF0000"/>
                </a:solidFill>
                <a:latin typeface="Courier New"/>
                <a:ea typeface="Courier New"/>
                <a:cs typeface="Courier New"/>
                <a:sym typeface="Courier New"/>
              </a:rPr>
              <a:t>size</a:t>
            </a:r>
            <a:r>
              <a:rPr lang="en" sz="1200"/>
              <a:t> refers (</a:t>
            </a:r>
            <a:r>
              <a:rPr lang="en" sz="1200" b="1">
                <a:solidFill>
                  <a:srgbClr val="FF0000"/>
                </a:solidFill>
              </a:rPr>
              <a:t>3</a:t>
            </a:r>
            <a:r>
              <a:rPr lang="en" sz="1200"/>
              <a:t>).</a:t>
            </a:r>
            <a:endParaRPr sz="1200"/>
          </a:p>
        </p:txBody>
      </p:sp>
      <p:sp>
        <p:nvSpPr>
          <p:cNvPr id="1793" name="Google Shape;1793;p119"/>
          <p:cNvSpPr/>
          <p:nvPr/>
        </p:nvSpPr>
        <p:spPr>
          <a:xfrm>
            <a:off x="1113300" y="2644650"/>
            <a:ext cx="430775" cy="637325"/>
          </a:xfrm>
          <a:custGeom>
            <a:avLst/>
            <a:gdLst/>
            <a:ahLst/>
            <a:cxnLst/>
            <a:rect l="l" t="t" r="r" b="b"/>
            <a:pathLst>
              <a:path w="17231" h="25493" extrusionOk="0">
                <a:moveTo>
                  <a:pt x="0" y="25461"/>
                </a:moveTo>
                <a:cubicBezTo>
                  <a:pt x="2143" y="24947"/>
                  <a:pt x="9987" y="26619"/>
                  <a:pt x="12859" y="22375"/>
                </a:cubicBezTo>
                <a:cubicBezTo>
                  <a:pt x="15731" y="18132"/>
                  <a:pt x="16502" y="3729"/>
                  <a:pt x="17231"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797"/>
        <p:cNvGrpSpPr/>
        <p:nvPr/>
      </p:nvGrpSpPr>
      <p:grpSpPr>
        <a:xfrm>
          <a:off x="0" y="0"/>
          <a:ext cx="0" cy="0"/>
          <a:chOff x="0" y="0"/>
          <a:chExt cx="0" cy="0"/>
        </a:xfrm>
      </p:grpSpPr>
      <p:sp>
        <p:nvSpPr>
          <p:cNvPr id="1798" name="Google Shape;1798;p12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Unless we are very lucky, newly added values in a heap are not likely to be in the correct position. The new values will need to be </a:t>
            </a:r>
            <a:r>
              <a:rPr lang="en" i="1">
                <a:solidFill>
                  <a:srgbClr val="FF0000"/>
                </a:solidFill>
              </a:rPr>
              <a:t>sifted up</a:t>
            </a:r>
            <a:r>
              <a:rPr lang="en"/>
              <a:t> into the heap until they are in the correct position, i.e. a higher priority than </a:t>
            </a:r>
            <a:r>
              <a:rPr lang="en" i="1"/>
              <a:t>both</a:t>
            </a:r>
            <a:r>
              <a:rPr lang="en"/>
              <a:t> of the children. Let's take a crack at implementing the algorithm now!</a:t>
            </a:r>
            <a:endParaRPr/>
          </a:p>
        </p:txBody>
      </p:sp>
      <p:sp>
        <p:nvSpPr>
          <p:cNvPr id="1799" name="Google Shape;1799;p1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sp>
        <p:nvSpPr>
          <p:cNvPr id="1800" name="Google Shape;1800;p120"/>
          <p:cNvSpPr txBox="1">
            <a:spLocks noGrp="1"/>
          </p:cNvSpPr>
          <p:nvPr>
            <p:ph type="body" idx="2"/>
          </p:nvPr>
        </p:nvSpPr>
        <p:spPr>
          <a:xfrm>
            <a:off x="3346650" y="1814150"/>
            <a:ext cx="5579400" cy="3128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Sifting requires that we </a:t>
            </a:r>
            <a:r>
              <a:rPr lang="en" b="1" i="1" dirty="0">
                <a:solidFill>
                  <a:srgbClr val="FF0000"/>
                </a:solidFill>
              </a:rPr>
              <a:t>swap</a:t>
            </a:r>
            <a:r>
              <a:rPr lang="en" dirty="0"/>
              <a:t> values at two different indices in an array. Open the </a:t>
            </a:r>
            <a:r>
              <a:rPr lang="en" dirty="0">
                <a:latin typeface="Courier New"/>
                <a:ea typeface="Courier New"/>
                <a:cs typeface="Courier New"/>
                <a:sym typeface="Courier New"/>
              </a:rPr>
              <a:t>ArrayHeap</a:t>
            </a:r>
            <a:r>
              <a:rPr lang="en" dirty="0"/>
              <a:t> class and define a new </a:t>
            </a:r>
            <a:r>
              <a:rPr lang="en" dirty="0">
                <a:solidFill>
                  <a:srgbClr val="FF0000"/>
                </a:solidFill>
                <a:latin typeface="Courier New"/>
                <a:ea typeface="Courier New"/>
                <a:cs typeface="Courier New"/>
                <a:sym typeface="Courier New"/>
              </a:rPr>
              <a:t>private</a:t>
            </a:r>
            <a:r>
              <a:rPr lang="en" dirty="0"/>
              <a:t> helper method named "</a:t>
            </a:r>
            <a:r>
              <a:rPr lang="en" dirty="0">
                <a:solidFill>
                  <a:srgbClr val="FF0000"/>
                </a:solidFill>
                <a:latin typeface="Courier New"/>
                <a:ea typeface="Courier New"/>
                <a:cs typeface="Courier New"/>
                <a:sym typeface="Courier New"/>
              </a:rPr>
              <a:t>swap</a:t>
            </a:r>
            <a:r>
              <a:rPr lang="en" dirty="0"/>
              <a:t>" that declares parameters for two indices </a:t>
            </a:r>
            <a:r>
              <a:rPr lang="en" dirty="0">
                <a:solidFill>
                  <a:srgbClr val="FF0000"/>
                </a:solidFill>
                <a:latin typeface="Courier New"/>
                <a:ea typeface="Courier New"/>
                <a:cs typeface="Courier New"/>
                <a:sym typeface="Courier New"/>
              </a:rPr>
              <a:t>a</a:t>
            </a:r>
            <a:r>
              <a:rPr lang="en" dirty="0"/>
              <a:t> and </a:t>
            </a:r>
            <a:r>
              <a:rPr lang="en" dirty="0">
                <a:solidFill>
                  <a:srgbClr val="FF0000"/>
                </a:solidFill>
                <a:latin typeface="Courier New"/>
                <a:ea typeface="Courier New"/>
                <a:cs typeface="Courier New"/>
                <a:sym typeface="Courier New"/>
              </a:rPr>
              <a:t>b</a:t>
            </a:r>
            <a:r>
              <a:rPr lang="en" dirty="0"/>
              <a:t>.</a:t>
            </a:r>
            <a:endParaRPr dirty="0"/>
          </a:p>
          <a:p>
            <a:pPr marL="1371600" lvl="2" indent="-298450" algn="l" rtl="0">
              <a:spcBef>
                <a:spcPts val="0"/>
              </a:spcBef>
              <a:spcAft>
                <a:spcPts val="0"/>
              </a:spcAft>
              <a:buSzPts val="1100"/>
              <a:buChar char="■"/>
            </a:pPr>
            <a:r>
              <a:rPr lang="en" dirty="0">
                <a:highlight>
                  <a:srgbClr val="FFFF00"/>
                </a:highlight>
              </a:rPr>
              <a:t>If </a:t>
            </a:r>
            <a:r>
              <a:rPr lang="en" dirty="0">
                <a:solidFill>
                  <a:srgbClr val="FF0000"/>
                </a:solidFill>
                <a:highlight>
                  <a:srgbClr val="FFFF00"/>
                </a:highlight>
                <a:latin typeface="Courier New"/>
                <a:ea typeface="Courier New"/>
                <a:cs typeface="Courier New"/>
                <a:sym typeface="Courier New"/>
              </a:rPr>
              <a:t>a</a:t>
            </a:r>
            <a:r>
              <a:rPr lang="en" dirty="0">
                <a:highlight>
                  <a:srgbClr val="FFFF00"/>
                </a:highlight>
              </a:rPr>
              <a:t> </a:t>
            </a:r>
            <a:r>
              <a:rPr lang="en" b="1" i="1" dirty="0">
                <a:solidFill>
                  <a:srgbClr val="FF0000"/>
                </a:solidFill>
                <a:highlight>
                  <a:srgbClr val="FFFF00"/>
                </a:highlight>
              </a:rPr>
              <a:t>and</a:t>
            </a:r>
            <a:r>
              <a:rPr lang="en" dirty="0">
                <a:solidFill>
                  <a:srgbClr val="FF0000"/>
                </a:solidFill>
                <a:highlight>
                  <a:srgbClr val="FFFF00"/>
                </a:highlight>
              </a:rPr>
              <a:t> </a:t>
            </a:r>
            <a:r>
              <a:rPr lang="en" dirty="0">
                <a:solidFill>
                  <a:srgbClr val="FF0000"/>
                </a:solidFill>
                <a:highlight>
                  <a:srgbClr val="FFFF00"/>
                </a:highlight>
                <a:latin typeface="Courier New"/>
                <a:ea typeface="Courier New"/>
                <a:cs typeface="Courier New"/>
                <a:sym typeface="Courier New"/>
              </a:rPr>
              <a:t>b</a:t>
            </a:r>
            <a:r>
              <a:rPr lang="en" dirty="0">
                <a:solidFill>
                  <a:srgbClr val="FF0000"/>
                </a:solidFill>
                <a:highlight>
                  <a:srgbClr val="FFFF00"/>
                </a:highlight>
              </a:rPr>
              <a:t> </a:t>
            </a:r>
            <a:r>
              <a:rPr lang="en" b="1" i="1" dirty="0">
                <a:solidFill>
                  <a:srgbClr val="FF0000"/>
                </a:solidFill>
                <a:highlight>
                  <a:srgbClr val="FFFF00"/>
                </a:highlight>
              </a:rPr>
              <a:t>are not equal</a:t>
            </a:r>
            <a:r>
              <a:rPr lang="en" dirty="0">
                <a:highlight>
                  <a:srgbClr val="FFFF00"/>
                </a:highlight>
              </a:rPr>
              <a:t>, </a:t>
            </a:r>
            <a:r>
              <a:rPr lang="en" b="1" i="1" dirty="0">
                <a:solidFill>
                  <a:srgbClr val="FF0000"/>
                </a:solidFill>
                <a:highlight>
                  <a:srgbClr val="FFFF00"/>
                </a:highlight>
              </a:rPr>
              <a:t>swap</a:t>
            </a:r>
            <a:r>
              <a:rPr lang="en" dirty="0">
                <a:solidFill>
                  <a:srgbClr val="FF0000"/>
                </a:solidFill>
                <a:highlight>
                  <a:srgbClr val="FFFF00"/>
                </a:highlight>
              </a:rPr>
              <a:t> </a:t>
            </a:r>
            <a:r>
              <a:rPr lang="en" dirty="0"/>
              <a:t>the values at the specified indices.</a:t>
            </a:r>
            <a:endParaRPr dirty="0"/>
          </a:p>
          <a:p>
            <a:pPr marL="457200" lvl="0" indent="-311150" algn="l" rtl="0">
              <a:spcBef>
                <a:spcPts val="0"/>
              </a:spcBef>
              <a:spcAft>
                <a:spcPts val="0"/>
              </a:spcAft>
              <a:buSzPts val="1300"/>
              <a:buChar char="●"/>
            </a:pPr>
            <a:r>
              <a:rPr lang="en" dirty="0"/>
              <a:t>Next, implement the algorithm to sift up in your add method </a:t>
            </a:r>
            <a:r>
              <a:rPr lang="en" b="1" i="1" dirty="0">
                <a:solidFill>
                  <a:srgbClr val="FF0000"/>
                </a:solidFill>
              </a:rPr>
              <a:t>before</a:t>
            </a:r>
            <a:r>
              <a:rPr lang="en" dirty="0">
                <a:solidFill>
                  <a:srgbClr val="FF0000"/>
                </a:solidFill>
              </a:rPr>
              <a:t> </a:t>
            </a:r>
            <a:r>
              <a:rPr lang="en" dirty="0"/>
              <a:t>you increment </a:t>
            </a:r>
            <a:r>
              <a:rPr lang="en" dirty="0">
                <a:solidFill>
                  <a:srgbClr val="FF0000"/>
                </a:solidFill>
                <a:latin typeface="Courier New"/>
                <a:ea typeface="Courier New"/>
                <a:cs typeface="Courier New"/>
                <a:sym typeface="Courier New"/>
              </a:rPr>
              <a:t>size</a:t>
            </a:r>
            <a:r>
              <a:rPr lang="en" dirty="0"/>
              <a:t>:</a:t>
            </a:r>
            <a:endParaRPr dirty="0"/>
          </a:p>
          <a:p>
            <a:pPr marL="914400" lvl="1" indent="-298450" algn="l" rtl="0">
              <a:spcBef>
                <a:spcPts val="0"/>
              </a:spcBef>
              <a:spcAft>
                <a:spcPts val="0"/>
              </a:spcAft>
              <a:buSzPts val="1100"/>
              <a:buChar char="○"/>
            </a:pPr>
            <a:r>
              <a:rPr lang="en" dirty="0"/>
              <a:t>Set the </a:t>
            </a:r>
            <a:r>
              <a:rPr lang="en" dirty="0">
                <a:solidFill>
                  <a:srgbClr val="FF0000"/>
                </a:solidFill>
                <a:latin typeface="Courier New"/>
                <a:ea typeface="Courier New"/>
                <a:cs typeface="Courier New"/>
                <a:sym typeface="Courier New"/>
              </a:rPr>
              <a:t>child</a:t>
            </a:r>
            <a:r>
              <a:rPr lang="en" dirty="0">
                <a:solidFill>
                  <a:srgbClr val="FF0000"/>
                </a:solidFill>
              </a:rPr>
              <a:t> </a:t>
            </a:r>
            <a:r>
              <a:rPr lang="en" dirty="0"/>
              <a:t>index equal to </a:t>
            </a:r>
            <a:r>
              <a:rPr lang="en" dirty="0">
                <a:solidFill>
                  <a:srgbClr val="FF0000"/>
                </a:solidFill>
                <a:latin typeface="Courier New"/>
                <a:ea typeface="Courier New"/>
                <a:cs typeface="Courier New"/>
                <a:sym typeface="Courier New"/>
              </a:rPr>
              <a:t>size</a:t>
            </a:r>
            <a:r>
              <a:rPr lang="en" dirty="0"/>
              <a:t>.</a:t>
            </a:r>
            <a:endParaRPr dirty="0"/>
          </a:p>
          <a:p>
            <a:pPr marL="914400" lvl="1" indent="-298450" algn="l" rtl="0">
              <a:spcBef>
                <a:spcPts val="0"/>
              </a:spcBef>
              <a:spcAft>
                <a:spcPts val="0"/>
              </a:spcAft>
              <a:buSzPts val="1100"/>
              <a:buChar char="○"/>
            </a:pPr>
            <a:r>
              <a:rPr lang="en" dirty="0"/>
              <a:t>Set the </a:t>
            </a:r>
            <a:r>
              <a:rPr lang="en" dirty="0">
                <a:solidFill>
                  <a:srgbClr val="FF0000"/>
                </a:solidFill>
                <a:latin typeface="Courier New"/>
                <a:ea typeface="Courier New"/>
                <a:cs typeface="Courier New"/>
                <a:sym typeface="Courier New"/>
              </a:rPr>
              <a:t>parent</a:t>
            </a:r>
            <a:r>
              <a:rPr lang="en" dirty="0">
                <a:solidFill>
                  <a:srgbClr val="FF0000"/>
                </a:solidFill>
              </a:rPr>
              <a:t> </a:t>
            </a:r>
            <a:r>
              <a:rPr lang="en" dirty="0"/>
              <a:t>index equal to </a:t>
            </a:r>
            <a:r>
              <a:rPr lang="en" dirty="0">
                <a:solidFill>
                  <a:srgbClr val="FF0000"/>
                </a:solidFill>
                <a:latin typeface="Courier New"/>
                <a:ea typeface="Courier New"/>
                <a:cs typeface="Courier New"/>
                <a:sym typeface="Courier New"/>
              </a:rPr>
              <a:t>(child - 1) / 2</a:t>
            </a:r>
            <a:r>
              <a:rPr lang="en" dirty="0"/>
              <a:t>.</a:t>
            </a:r>
            <a:endParaRPr dirty="0"/>
          </a:p>
          <a:p>
            <a:pPr marL="914400" lvl="1" indent="-298450" algn="l" rtl="0">
              <a:spcBef>
                <a:spcPts val="0"/>
              </a:spcBef>
              <a:spcAft>
                <a:spcPts val="0"/>
              </a:spcAft>
              <a:buSzPts val="1100"/>
              <a:buChar char="○"/>
            </a:pPr>
            <a:r>
              <a:rPr lang="en" dirty="0"/>
              <a:t>As long as </a:t>
            </a:r>
            <a:r>
              <a:rPr lang="en" dirty="0">
                <a:solidFill>
                  <a:srgbClr val="FF0000"/>
                </a:solidFill>
                <a:latin typeface="Courier New"/>
                <a:ea typeface="Courier New"/>
                <a:cs typeface="Courier New"/>
                <a:sym typeface="Courier New"/>
              </a:rPr>
              <a:t>array[parent] &gt; array[child]</a:t>
            </a:r>
            <a:r>
              <a:rPr lang="en" dirty="0"/>
              <a:t>:</a:t>
            </a:r>
            <a:endParaRPr dirty="0"/>
          </a:p>
          <a:p>
            <a:pPr marL="1371600" lvl="2" indent="-298450" algn="l" rtl="0">
              <a:spcBef>
                <a:spcPts val="0"/>
              </a:spcBef>
              <a:spcAft>
                <a:spcPts val="0"/>
              </a:spcAft>
              <a:buSzPts val="1100"/>
              <a:buChar char="■"/>
            </a:pPr>
            <a:r>
              <a:rPr lang="en" b="1" i="1" dirty="0">
                <a:solidFill>
                  <a:srgbClr val="FF0000"/>
                </a:solidFill>
              </a:rPr>
              <a:t>Swap </a:t>
            </a:r>
            <a:r>
              <a:rPr lang="en" dirty="0"/>
              <a:t>the values.</a:t>
            </a:r>
            <a:endParaRPr dirty="0"/>
          </a:p>
          <a:p>
            <a:pPr marL="1371600" lvl="2" indent="-298450" algn="l" rtl="0">
              <a:spcBef>
                <a:spcPts val="0"/>
              </a:spcBef>
              <a:spcAft>
                <a:spcPts val="0"/>
              </a:spcAft>
              <a:buSzPts val="1100"/>
              <a:buChar char="■"/>
            </a:pPr>
            <a:r>
              <a:rPr lang="en" dirty="0"/>
              <a:t>Set </a:t>
            </a:r>
            <a:r>
              <a:rPr lang="en" dirty="0">
                <a:solidFill>
                  <a:srgbClr val="FF0000"/>
                </a:solidFill>
                <a:latin typeface="Courier New"/>
                <a:ea typeface="Courier New"/>
                <a:cs typeface="Courier New"/>
                <a:sym typeface="Courier New"/>
              </a:rPr>
              <a:t>child</a:t>
            </a:r>
            <a:r>
              <a:rPr lang="en" dirty="0">
                <a:solidFill>
                  <a:srgbClr val="FF0000"/>
                </a:solidFill>
              </a:rPr>
              <a:t> </a:t>
            </a:r>
            <a:r>
              <a:rPr lang="en" dirty="0"/>
              <a:t>equal to </a:t>
            </a:r>
            <a:r>
              <a:rPr lang="en" dirty="0">
                <a:solidFill>
                  <a:srgbClr val="FF0000"/>
                </a:solidFill>
                <a:latin typeface="Courier New"/>
                <a:ea typeface="Courier New"/>
                <a:cs typeface="Courier New"/>
                <a:sym typeface="Courier New"/>
              </a:rPr>
              <a:t>parent</a:t>
            </a:r>
            <a:r>
              <a:rPr lang="en" dirty="0"/>
              <a:t>.</a:t>
            </a:r>
            <a:endParaRPr dirty="0"/>
          </a:p>
          <a:p>
            <a:pPr marL="1371600" lvl="2" indent="-298450" algn="l" rtl="0">
              <a:spcBef>
                <a:spcPts val="0"/>
              </a:spcBef>
              <a:spcAft>
                <a:spcPts val="0"/>
              </a:spcAft>
              <a:buSzPts val="1100"/>
              <a:buChar char="■"/>
            </a:pPr>
            <a:r>
              <a:rPr lang="en" dirty="0"/>
              <a:t>Set </a:t>
            </a:r>
            <a:r>
              <a:rPr lang="en" dirty="0">
                <a:solidFill>
                  <a:srgbClr val="FF0000"/>
                </a:solidFill>
                <a:latin typeface="Courier New"/>
                <a:ea typeface="Courier New"/>
                <a:cs typeface="Courier New"/>
                <a:sym typeface="Courier New"/>
              </a:rPr>
              <a:t>parent</a:t>
            </a:r>
            <a:r>
              <a:rPr lang="en" dirty="0">
                <a:solidFill>
                  <a:srgbClr val="FF0000"/>
                </a:solidFill>
              </a:rPr>
              <a:t> </a:t>
            </a:r>
            <a:r>
              <a:rPr lang="en" dirty="0"/>
              <a:t>equal to </a:t>
            </a:r>
            <a:r>
              <a:rPr lang="en" dirty="0">
                <a:solidFill>
                  <a:srgbClr val="FF0000"/>
                </a:solidFill>
                <a:latin typeface="Courier New"/>
                <a:ea typeface="Courier New"/>
                <a:cs typeface="Courier New"/>
                <a:sym typeface="Courier New"/>
              </a:rPr>
              <a:t>(child - 1) / 2</a:t>
            </a:r>
            <a:r>
              <a:rPr lang="en" dirty="0"/>
              <a:t>.</a:t>
            </a:r>
            <a:endParaRPr dirty="0"/>
          </a:p>
          <a:p>
            <a:pPr marL="457200" lvl="0" indent="-311150" algn="l" rtl="0">
              <a:spcBef>
                <a:spcPts val="0"/>
              </a:spcBef>
              <a:spcAft>
                <a:spcPts val="0"/>
              </a:spcAft>
              <a:buSzPts val="1300"/>
              <a:buChar char="●"/>
            </a:pPr>
            <a:r>
              <a:rPr lang="en" b="1" i="1" dirty="0">
                <a:solidFill>
                  <a:srgbClr val="FF0000"/>
                </a:solidFill>
              </a:rPr>
              <a:t>Run </a:t>
            </a:r>
            <a:r>
              <a:rPr lang="en" dirty="0">
                <a:latin typeface="Courier New"/>
                <a:ea typeface="Courier New"/>
                <a:cs typeface="Courier New"/>
                <a:sym typeface="Courier New"/>
              </a:rPr>
              <a:t>main</a:t>
            </a:r>
            <a:r>
              <a:rPr lang="en" dirty="0"/>
              <a:t> to verify that the values are being sifted up.</a:t>
            </a:r>
            <a:endParaRPr dirty="0"/>
          </a:p>
        </p:txBody>
      </p:sp>
      <p:sp>
        <p:nvSpPr>
          <p:cNvPr id="1801" name="Google Shape;1801;p12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Sifting Up</a:t>
            </a:r>
            <a:endParaRPr/>
          </a:p>
        </p:txBody>
      </p:sp>
      <p:sp>
        <p:nvSpPr>
          <p:cNvPr id="1802" name="Google Shape;1802;p12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6.18</a:t>
            </a:r>
            <a:endParaRPr/>
          </a:p>
        </p:txBody>
      </p:sp>
      <p:sp>
        <p:nvSpPr>
          <p:cNvPr id="1803" name="Google Shape;1803;p120"/>
          <p:cNvSpPr txBox="1"/>
          <p:nvPr/>
        </p:nvSpPr>
        <p:spPr>
          <a:xfrm>
            <a:off x="296375" y="3954091"/>
            <a:ext cx="27510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 value added to the bottom of the heap may not be in the correct place and needs to </a:t>
            </a:r>
            <a:r>
              <a:rPr lang="en" sz="1200" b="1" i="1">
                <a:solidFill>
                  <a:srgbClr val="FF0000"/>
                </a:solidFill>
              </a:rPr>
              <a:t>sift up</a:t>
            </a:r>
            <a:r>
              <a:rPr lang="en" sz="1200"/>
              <a:t> to the correct location.</a:t>
            </a:r>
            <a:endParaRPr sz="1200"/>
          </a:p>
        </p:txBody>
      </p:sp>
      <p:grpSp>
        <p:nvGrpSpPr>
          <p:cNvPr id="1804" name="Google Shape;1804;p120"/>
          <p:cNvGrpSpPr/>
          <p:nvPr/>
        </p:nvGrpSpPr>
        <p:grpSpPr>
          <a:xfrm>
            <a:off x="211185" y="1858902"/>
            <a:ext cx="1467557" cy="1439691"/>
            <a:chOff x="5468985" y="1477902"/>
            <a:chExt cx="1467557" cy="1439691"/>
          </a:xfrm>
        </p:grpSpPr>
        <p:grpSp>
          <p:nvGrpSpPr>
            <p:cNvPr id="1805" name="Google Shape;1805;p120"/>
            <p:cNvGrpSpPr/>
            <p:nvPr/>
          </p:nvGrpSpPr>
          <p:grpSpPr>
            <a:xfrm>
              <a:off x="5468985" y="1477902"/>
              <a:ext cx="1467557" cy="1425466"/>
              <a:chOff x="4249785" y="944502"/>
              <a:chExt cx="1467557" cy="1425466"/>
            </a:xfrm>
          </p:grpSpPr>
          <p:grpSp>
            <p:nvGrpSpPr>
              <p:cNvPr id="1806" name="Google Shape;1806;p120"/>
              <p:cNvGrpSpPr/>
              <p:nvPr/>
            </p:nvGrpSpPr>
            <p:grpSpPr>
              <a:xfrm>
                <a:off x="4604310" y="944502"/>
                <a:ext cx="1113032" cy="867266"/>
                <a:chOff x="2775510" y="3306702"/>
                <a:chExt cx="1113032" cy="867266"/>
              </a:xfrm>
            </p:grpSpPr>
            <p:grpSp>
              <p:nvGrpSpPr>
                <p:cNvPr id="1807" name="Google Shape;1807;p120"/>
                <p:cNvGrpSpPr/>
                <p:nvPr/>
              </p:nvGrpSpPr>
              <p:grpSpPr>
                <a:xfrm>
                  <a:off x="2775510" y="3306702"/>
                  <a:ext cx="735519" cy="867266"/>
                  <a:chOff x="1251510" y="3306702"/>
                  <a:chExt cx="735519" cy="867266"/>
                </a:xfrm>
              </p:grpSpPr>
              <p:grpSp>
                <p:nvGrpSpPr>
                  <p:cNvPr id="1808" name="Google Shape;1808;p120"/>
                  <p:cNvGrpSpPr/>
                  <p:nvPr/>
                </p:nvGrpSpPr>
                <p:grpSpPr>
                  <a:xfrm>
                    <a:off x="1632510" y="3306702"/>
                    <a:ext cx="354519" cy="333866"/>
                    <a:chOff x="1763190" y="2234700"/>
                    <a:chExt cx="530400" cy="499500"/>
                  </a:xfrm>
                </p:grpSpPr>
                <p:sp>
                  <p:nvSpPr>
                    <p:cNvPr id="1809" name="Google Shape;1809;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grpSp>
                <p:nvGrpSpPr>
                  <p:cNvPr id="1811" name="Google Shape;1811;p120"/>
                  <p:cNvGrpSpPr/>
                  <p:nvPr/>
                </p:nvGrpSpPr>
                <p:grpSpPr>
                  <a:xfrm>
                    <a:off x="1251510" y="3473635"/>
                    <a:ext cx="381000" cy="700333"/>
                    <a:chOff x="260910" y="3473635"/>
                    <a:chExt cx="381000" cy="700333"/>
                  </a:xfrm>
                </p:grpSpPr>
                <p:grpSp>
                  <p:nvGrpSpPr>
                    <p:cNvPr id="1812" name="Google Shape;1812;p120"/>
                    <p:cNvGrpSpPr/>
                    <p:nvPr/>
                  </p:nvGrpSpPr>
                  <p:grpSpPr>
                    <a:xfrm>
                      <a:off x="260910" y="3840102"/>
                      <a:ext cx="354519" cy="333866"/>
                      <a:chOff x="1763190" y="2234700"/>
                      <a:chExt cx="530400" cy="499500"/>
                    </a:xfrm>
                  </p:grpSpPr>
                  <p:sp>
                    <p:nvSpPr>
                      <p:cNvPr id="1813" name="Google Shape;1813;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FF0000"/>
                            </a:solidFill>
                          </a:rPr>
                          <a:t>10</a:t>
                        </a:r>
                        <a:endParaRPr sz="1200" b="1">
                          <a:solidFill>
                            <a:srgbClr val="FF0000"/>
                          </a:solidFill>
                        </a:endParaRPr>
                      </a:p>
                    </p:txBody>
                  </p:sp>
                </p:grpSp>
                <p:cxnSp>
                  <p:nvCxnSpPr>
                    <p:cNvPr id="1815" name="Google Shape;1815;p120"/>
                    <p:cNvCxnSpPr>
                      <a:stCxn id="1810" idx="1"/>
                      <a:endCxn id="1814"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816" name="Google Shape;1816;p120"/>
                <p:cNvGrpSpPr/>
                <p:nvPr/>
              </p:nvGrpSpPr>
              <p:grpSpPr>
                <a:xfrm>
                  <a:off x="3511029" y="3473635"/>
                  <a:ext cx="377513" cy="700333"/>
                  <a:chOff x="1987029" y="3473635"/>
                  <a:chExt cx="377513" cy="700333"/>
                </a:xfrm>
              </p:grpSpPr>
              <p:grpSp>
                <p:nvGrpSpPr>
                  <p:cNvPr id="1817" name="Google Shape;1817;p120"/>
                  <p:cNvGrpSpPr/>
                  <p:nvPr/>
                </p:nvGrpSpPr>
                <p:grpSpPr>
                  <a:xfrm>
                    <a:off x="2010023" y="3840102"/>
                    <a:ext cx="354519" cy="333866"/>
                    <a:chOff x="1763190" y="2234700"/>
                    <a:chExt cx="530400" cy="499500"/>
                  </a:xfrm>
                </p:grpSpPr>
                <p:sp>
                  <p:nvSpPr>
                    <p:cNvPr id="1818" name="Google Shape;1818;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820" name="Google Shape;1820;p120"/>
                  <p:cNvCxnSpPr>
                    <a:stCxn id="1810" idx="3"/>
                    <a:endCxn id="1819"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821" name="Google Shape;1821;p120"/>
              <p:cNvGrpSpPr/>
              <p:nvPr/>
            </p:nvGrpSpPr>
            <p:grpSpPr>
              <a:xfrm>
                <a:off x="4249785" y="1644835"/>
                <a:ext cx="354525" cy="725133"/>
                <a:chOff x="2420985" y="4007035"/>
                <a:chExt cx="354525" cy="725133"/>
              </a:xfrm>
            </p:grpSpPr>
            <p:grpSp>
              <p:nvGrpSpPr>
                <p:cNvPr id="1822" name="Google Shape;1822;p120"/>
                <p:cNvGrpSpPr/>
                <p:nvPr/>
              </p:nvGrpSpPr>
              <p:grpSpPr>
                <a:xfrm>
                  <a:off x="2420985" y="4398302"/>
                  <a:ext cx="354519" cy="333866"/>
                  <a:chOff x="1763190" y="2234700"/>
                  <a:chExt cx="530400" cy="499500"/>
                </a:xfrm>
              </p:grpSpPr>
              <p:sp>
                <p:nvSpPr>
                  <p:cNvPr id="1823" name="Google Shape;1823;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73</a:t>
                    </a:r>
                    <a:endParaRPr sz="1200"/>
                  </a:p>
                </p:txBody>
              </p:sp>
            </p:grpSp>
            <p:cxnSp>
              <p:nvCxnSpPr>
                <p:cNvPr id="1825" name="Google Shape;1825;p120"/>
                <p:cNvCxnSpPr>
                  <a:stCxn id="1814" idx="1"/>
                  <a:endCxn id="1824" idx="0"/>
                </p:cNvCxnSpPr>
                <p:nvPr/>
              </p:nvCxnSpPr>
              <p:spPr>
                <a:xfrm flipH="1">
                  <a:off x="2598210" y="4007035"/>
                  <a:ext cx="177300" cy="4056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826" name="Google Shape;1826;p120"/>
            <p:cNvGrpSpPr/>
            <p:nvPr/>
          </p:nvGrpSpPr>
          <p:grpSpPr>
            <a:xfrm>
              <a:off x="6178029" y="2178235"/>
              <a:ext cx="393503" cy="739358"/>
              <a:chOff x="4958829" y="1644835"/>
              <a:chExt cx="393503" cy="739358"/>
            </a:xfrm>
          </p:grpSpPr>
          <p:grpSp>
            <p:nvGrpSpPr>
              <p:cNvPr id="1827" name="Google Shape;1827;p120"/>
              <p:cNvGrpSpPr/>
              <p:nvPr/>
            </p:nvGrpSpPr>
            <p:grpSpPr>
              <a:xfrm>
                <a:off x="4997813" y="2050327"/>
                <a:ext cx="354519" cy="333866"/>
                <a:chOff x="1763190" y="2234700"/>
                <a:chExt cx="530400" cy="499500"/>
              </a:xfrm>
            </p:grpSpPr>
            <p:sp>
              <p:nvSpPr>
                <p:cNvPr id="1828" name="Google Shape;1828;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830" name="Google Shape;1830;p120"/>
              <p:cNvCxnSpPr>
                <a:stCxn id="1814" idx="3"/>
                <a:endCxn id="1829" idx="0"/>
              </p:cNvCxnSpPr>
              <p:nvPr/>
            </p:nvCxnSpPr>
            <p:spPr>
              <a:xfrm>
                <a:off x="4958829" y="1644835"/>
                <a:ext cx="216300" cy="420000"/>
              </a:xfrm>
              <a:prstGeom prst="curvedConnector2">
                <a:avLst/>
              </a:prstGeom>
              <a:noFill/>
              <a:ln w="19050" cap="flat" cmpd="sng">
                <a:solidFill>
                  <a:schemeClr val="accent2"/>
                </a:solidFill>
                <a:prstDash val="solid"/>
                <a:round/>
                <a:headEnd type="none" w="med" len="med"/>
                <a:tailEnd type="none" w="med" len="med"/>
              </a:ln>
            </p:spPr>
          </p:cxnSp>
        </p:grpSp>
        <p:cxnSp>
          <p:nvCxnSpPr>
            <p:cNvPr id="1831" name="Google Shape;1831;p120"/>
            <p:cNvCxnSpPr>
              <a:stCxn id="1814" idx="2"/>
              <a:endCxn id="1829" idx="1"/>
            </p:cNvCxnSpPr>
            <p:nvPr/>
          </p:nvCxnSpPr>
          <p:spPr>
            <a:xfrm rot="-5400000" flipH="1">
              <a:off x="5898920" y="2432581"/>
              <a:ext cx="420000" cy="216300"/>
            </a:xfrm>
            <a:prstGeom prst="curvedConnector2">
              <a:avLst/>
            </a:prstGeom>
            <a:noFill/>
            <a:ln w="19050" cap="flat" cmpd="sng">
              <a:solidFill>
                <a:srgbClr val="FF0000"/>
              </a:solidFill>
              <a:prstDash val="dash"/>
              <a:round/>
              <a:headEnd type="stealth" w="med" len="med"/>
              <a:tailEnd type="none" w="med" len="med"/>
            </a:ln>
          </p:spPr>
        </p:cxnSp>
      </p:grpSp>
      <p:grpSp>
        <p:nvGrpSpPr>
          <p:cNvPr id="1832" name="Google Shape;1832;p120"/>
          <p:cNvGrpSpPr/>
          <p:nvPr/>
        </p:nvGrpSpPr>
        <p:grpSpPr>
          <a:xfrm>
            <a:off x="1658985" y="2239902"/>
            <a:ext cx="1467557" cy="1439691"/>
            <a:chOff x="5468985" y="1477902"/>
            <a:chExt cx="1467557" cy="1439691"/>
          </a:xfrm>
        </p:grpSpPr>
        <p:grpSp>
          <p:nvGrpSpPr>
            <p:cNvPr id="1833" name="Google Shape;1833;p120"/>
            <p:cNvGrpSpPr/>
            <p:nvPr/>
          </p:nvGrpSpPr>
          <p:grpSpPr>
            <a:xfrm>
              <a:off x="5468985" y="1477902"/>
              <a:ext cx="1467557" cy="1425466"/>
              <a:chOff x="4249785" y="944502"/>
              <a:chExt cx="1467557" cy="1425466"/>
            </a:xfrm>
          </p:grpSpPr>
          <p:grpSp>
            <p:nvGrpSpPr>
              <p:cNvPr id="1834" name="Google Shape;1834;p120"/>
              <p:cNvGrpSpPr/>
              <p:nvPr/>
            </p:nvGrpSpPr>
            <p:grpSpPr>
              <a:xfrm>
                <a:off x="4604310" y="944502"/>
                <a:ext cx="1113032" cy="867266"/>
                <a:chOff x="2775510" y="3306702"/>
                <a:chExt cx="1113032" cy="867266"/>
              </a:xfrm>
            </p:grpSpPr>
            <p:grpSp>
              <p:nvGrpSpPr>
                <p:cNvPr id="1835" name="Google Shape;1835;p120"/>
                <p:cNvGrpSpPr/>
                <p:nvPr/>
              </p:nvGrpSpPr>
              <p:grpSpPr>
                <a:xfrm>
                  <a:off x="2775510" y="3306702"/>
                  <a:ext cx="735519" cy="867266"/>
                  <a:chOff x="1251510" y="3306702"/>
                  <a:chExt cx="735519" cy="867266"/>
                </a:xfrm>
              </p:grpSpPr>
              <p:grpSp>
                <p:nvGrpSpPr>
                  <p:cNvPr id="1836" name="Google Shape;1836;p120"/>
                  <p:cNvGrpSpPr/>
                  <p:nvPr/>
                </p:nvGrpSpPr>
                <p:grpSpPr>
                  <a:xfrm>
                    <a:off x="1632510" y="3306702"/>
                    <a:ext cx="354519" cy="333866"/>
                    <a:chOff x="1763190" y="2234700"/>
                    <a:chExt cx="530400" cy="499500"/>
                  </a:xfrm>
                </p:grpSpPr>
                <p:sp>
                  <p:nvSpPr>
                    <p:cNvPr id="1837" name="Google Shape;1837;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rgbClr val="FF0000"/>
                          </a:solidFill>
                        </a:rPr>
                        <a:t>10</a:t>
                      </a:r>
                      <a:endParaRPr sz="1200" b="1">
                        <a:solidFill>
                          <a:srgbClr val="FF0000"/>
                        </a:solidFill>
                      </a:endParaRPr>
                    </a:p>
                  </p:txBody>
                </p:sp>
              </p:grpSp>
              <p:grpSp>
                <p:nvGrpSpPr>
                  <p:cNvPr id="1839" name="Google Shape;1839;p120"/>
                  <p:cNvGrpSpPr/>
                  <p:nvPr/>
                </p:nvGrpSpPr>
                <p:grpSpPr>
                  <a:xfrm>
                    <a:off x="1251510" y="3473635"/>
                    <a:ext cx="381000" cy="700333"/>
                    <a:chOff x="260910" y="3473635"/>
                    <a:chExt cx="381000" cy="700333"/>
                  </a:xfrm>
                </p:grpSpPr>
                <p:grpSp>
                  <p:nvGrpSpPr>
                    <p:cNvPr id="1840" name="Google Shape;1840;p120"/>
                    <p:cNvGrpSpPr/>
                    <p:nvPr/>
                  </p:nvGrpSpPr>
                  <p:grpSpPr>
                    <a:xfrm>
                      <a:off x="260910" y="3840102"/>
                      <a:ext cx="354519" cy="333866"/>
                      <a:chOff x="1763190" y="2234700"/>
                      <a:chExt cx="530400" cy="499500"/>
                    </a:xfrm>
                  </p:grpSpPr>
                  <p:sp>
                    <p:nvSpPr>
                      <p:cNvPr id="1841" name="Google Shape;1841;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24</a:t>
                        </a:r>
                        <a:endParaRPr sz="1200"/>
                      </a:p>
                    </p:txBody>
                  </p:sp>
                </p:grpSp>
                <p:cxnSp>
                  <p:nvCxnSpPr>
                    <p:cNvPr id="1843" name="Google Shape;1843;p120"/>
                    <p:cNvCxnSpPr>
                      <a:stCxn id="1838" idx="1"/>
                      <a:endCxn id="1842" idx="0"/>
                    </p:cNvCxnSpPr>
                    <p:nvPr/>
                  </p:nvCxnSpPr>
                  <p:spPr>
                    <a:xfrm flipH="1">
                      <a:off x="438210" y="3473635"/>
                      <a:ext cx="2037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844" name="Google Shape;1844;p120"/>
                <p:cNvGrpSpPr/>
                <p:nvPr/>
              </p:nvGrpSpPr>
              <p:grpSpPr>
                <a:xfrm>
                  <a:off x="3511029" y="3473635"/>
                  <a:ext cx="377513" cy="700333"/>
                  <a:chOff x="1987029" y="3473635"/>
                  <a:chExt cx="377513" cy="700333"/>
                </a:xfrm>
              </p:grpSpPr>
              <p:grpSp>
                <p:nvGrpSpPr>
                  <p:cNvPr id="1845" name="Google Shape;1845;p120"/>
                  <p:cNvGrpSpPr/>
                  <p:nvPr/>
                </p:nvGrpSpPr>
                <p:grpSpPr>
                  <a:xfrm>
                    <a:off x="2010023" y="3840102"/>
                    <a:ext cx="354519" cy="333866"/>
                    <a:chOff x="1763190" y="2234700"/>
                    <a:chExt cx="530400" cy="499500"/>
                  </a:xfrm>
                </p:grpSpPr>
                <p:sp>
                  <p:nvSpPr>
                    <p:cNvPr id="1846" name="Google Shape;1846;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68</a:t>
                      </a:r>
                      <a:endParaRPr sz="1200"/>
                    </a:p>
                  </p:txBody>
                </p:sp>
              </p:grpSp>
              <p:cxnSp>
                <p:nvCxnSpPr>
                  <p:cNvPr id="1848" name="Google Shape;1848;p120"/>
                  <p:cNvCxnSpPr>
                    <a:stCxn id="1838" idx="3"/>
                    <a:endCxn id="1847" idx="0"/>
                  </p:cNvCxnSpPr>
                  <p:nvPr/>
                </p:nvCxnSpPr>
                <p:spPr>
                  <a:xfrm>
                    <a:off x="1987029" y="3473635"/>
                    <a:ext cx="200400" cy="3810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849" name="Google Shape;1849;p120"/>
              <p:cNvGrpSpPr/>
              <p:nvPr/>
            </p:nvGrpSpPr>
            <p:grpSpPr>
              <a:xfrm>
                <a:off x="4249785" y="1644835"/>
                <a:ext cx="354525" cy="725133"/>
                <a:chOff x="2420985" y="4007035"/>
                <a:chExt cx="354525" cy="725133"/>
              </a:xfrm>
            </p:grpSpPr>
            <p:grpSp>
              <p:nvGrpSpPr>
                <p:cNvPr id="1850" name="Google Shape;1850;p120"/>
                <p:cNvGrpSpPr/>
                <p:nvPr/>
              </p:nvGrpSpPr>
              <p:grpSpPr>
                <a:xfrm>
                  <a:off x="2420985" y="4398302"/>
                  <a:ext cx="354519" cy="333866"/>
                  <a:chOff x="1763190" y="2234700"/>
                  <a:chExt cx="530400" cy="499500"/>
                </a:xfrm>
              </p:grpSpPr>
              <p:sp>
                <p:nvSpPr>
                  <p:cNvPr id="1851" name="Google Shape;1851;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73</a:t>
                    </a:r>
                    <a:endParaRPr sz="1200"/>
                  </a:p>
                </p:txBody>
              </p:sp>
            </p:grpSp>
            <p:cxnSp>
              <p:nvCxnSpPr>
                <p:cNvPr id="1853" name="Google Shape;1853;p120"/>
                <p:cNvCxnSpPr>
                  <a:stCxn id="1842" idx="1"/>
                  <a:endCxn id="1852" idx="0"/>
                </p:cNvCxnSpPr>
                <p:nvPr/>
              </p:nvCxnSpPr>
              <p:spPr>
                <a:xfrm flipH="1">
                  <a:off x="2598210" y="4007035"/>
                  <a:ext cx="177300" cy="405600"/>
                </a:xfrm>
                <a:prstGeom prst="curvedConnector2">
                  <a:avLst/>
                </a:prstGeom>
                <a:noFill/>
                <a:ln w="19050" cap="flat" cmpd="sng">
                  <a:solidFill>
                    <a:schemeClr val="accent2"/>
                  </a:solidFill>
                  <a:prstDash val="solid"/>
                  <a:round/>
                  <a:headEnd type="none" w="med" len="med"/>
                  <a:tailEnd type="none" w="med" len="med"/>
                </a:ln>
              </p:spPr>
            </p:cxnSp>
          </p:grpSp>
        </p:grpSp>
        <p:grpSp>
          <p:nvGrpSpPr>
            <p:cNvPr id="1854" name="Google Shape;1854;p120"/>
            <p:cNvGrpSpPr/>
            <p:nvPr/>
          </p:nvGrpSpPr>
          <p:grpSpPr>
            <a:xfrm>
              <a:off x="6178029" y="2178235"/>
              <a:ext cx="393503" cy="739358"/>
              <a:chOff x="4958829" y="1644835"/>
              <a:chExt cx="393503" cy="739358"/>
            </a:xfrm>
          </p:grpSpPr>
          <p:grpSp>
            <p:nvGrpSpPr>
              <p:cNvPr id="1855" name="Google Shape;1855;p120"/>
              <p:cNvGrpSpPr/>
              <p:nvPr/>
            </p:nvGrpSpPr>
            <p:grpSpPr>
              <a:xfrm>
                <a:off x="4997813" y="2050327"/>
                <a:ext cx="354519" cy="333866"/>
                <a:chOff x="1763190" y="2234700"/>
                <a:chExt cx="530400" cy="499500"/>
              </a:xfrm>
            </p:grpSpPr>
            <p:sp>
              <p:nvSpPr>
                <p:cNvPr id="1856" name="Google Shape;1856;p120"/>
                <p:cNvSpPr/>
                <p:nvPr/>
              </p:nvSpPr>
              <p:spPr>
                <a:xfrm>
                  <a:off x="1775525" y="2234700"/>
                  <a:ext cx="499500" cy="499500"/>
                </a:xfrm>
                <a:prstGeom prst="ellipse">
                  <a:avLst/>
                </a:prstGeom>
                <a:solidFill>
                  <a:srgbClr val="F9CB9C"/>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120"/>
                <p:cNvSpPr txBox="1"/>
                <p:nvPr/>
              </p:nvSpPr>
              <p:spPr>
                <a:xfrm>
                  <a:off x="1763190" y="2256300"/>
                  <a:ext cx="530400" cy="45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60</a:t>
                  </a:r>
                  <a:endParaRPr sz="1200"/>
                </a:p>
              </p:txBody>
            </p:sp>
          </p:grpSp>
          <p:cxnSp>
            <p:nvCxnSpPr>
              <p:cNvPr id="1858" name="Google Shape;1858;p120"/>
              <p:cNvCxnSpPr>
                <a:stCxn id="1842" idx="3"/>
                <a:endCxn id="1857" idx="0"/>
              </p:cNvCxnSpPr>
              <p:nvPr/>
            </p:nvCxnSpPr>
            <p:spPr>
              <a:xfrm>
                <a:off x="4958829" y="1644835"/>
                <a:ext cx="216300" cy="420000"/>
              </a:xfrm>
              <a:prstGeom prst="curvedConnector2">
                <a:avLst/>
              </a:prstGeom>
              <a:noFill/>
              <a:ln w="19050" cap="flat" cmpd="sng">
                <a:solidFill>
                  <a:schemeClr val="accent2"/>
                </a:solidFill>
                <a:prstDash val="solid"/>
                <a:round/>
                <a:headEnd type="none" w="med" len="med"/>
                <a:tailEnd type="none" w="med" len="med"/>
              </a:ln>
            </p:spPr>
          </p:cxnSp>
        </p:grpSp>
        <p:cxnSp>
          <p:nvCxnSpPr>
            <p:cNvPr id="1859" name="Google Shape;1859;p120"/>
            <p:cNvCxnSpPr>
              <a:stCxn id="1842" idx="3"/>
              <a:endCxn id="1838" idx="2"/>
            </p:cNvCxnSpPr>
            <p:nvPr/>
          </p:nvCxnSpPr>
          <p:spPr>
            <a:xfrm rot="10800000" flipH="1">
              <a:off x="6178029" y="1797235"/>
              <a:ext cx="203700" cy="381000"/>
            </a:xfrm>
            <a:prstGeom prst="curvedConnector2">
              <a:avLst/>
            </a:prstGeom>
            <a:noFill/>
            <a:ln w="19050" cap="flat" cmpd="sng">
              <a:solidFill>
                <a:srgbClr val="FF0000"/>
              </a:solidFill>
              <a:prstDash val="dash"/>
              <a:round/>
              <a:headEnd type="none" w="med" len="med"/>
              <a:tailEnd type="stealth" w="med" len="med"/>
            </a:ln>
          </p:spPr>
        </p:cxn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863"/>
        <p:cNvGrpSpPr/>
        <p:nvPr/>
      </p:nvGrpSpPr>
      <p:grpSpPr>
        <a:xfrm>
          <a:off x="0" y="0"/>
          <a:ext cx="0" cy="0"/>
          <a:chOff x="0" y="0"/>
          <a:chExt cx="0" cy="0"/>
        </a:xfrm>
      </p:grpSpPr>
      <p:grpSp>
        <p:nvGrpSpPr>
          <p:cNvPr id="1864" name="Google Shape;1864;p121"/>
          <p:cNvGrpSpPr/>
          <p:nvPr/>
        </p:nvGrpSpPr>
        <p:grpSpPr>
          <a:xfrm>
            <a:off x="292744" y="2524795"/>
            <a:ext cx="2989016" cy="1876993"/>
            <a:chOff x="292744" y="2372395"/>
            <a:chExt cx="2989016" cy="1876993"/>
          </a:xfrm>
        </p:grpSpPr>
        <p:sp>
          <p:nvSpPr>
            <p:cNvPr id="1865" name="Google Shape;1865;p121"/>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121"/>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121"/>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121"/>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121"/>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121"/>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121"/>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121"/>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121"/>
            <p:cNvSpPr/>
            <p:nvPr/>
          </p:nvSpPr>
          <p:spPr>
            <a:xfrm>
              <a:off x="1210851"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121"/>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7</a:t>
              </a:r>
              <a:endParaRPr sz="1000"/>
            </a:p>
          </p:txBody>
        </p:sp>
        <p:sp>
          <p:nvSpPr>
            <p:cNvPr id="1875" name="Google Shape;1875;p121"/>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10</a:t>
              </a:r>
              <a:endParaRPr sz="1000"/>
            </a:p>
          </p:txBody>
        </p:sp>
        <p:sp>
          <p:nvSpPr>
            <p:cNvPr id="1876" name="Google Shape;1876;p121"/>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21</a:t>
              </a:r>
              <a:endParaRPr sz="1000"/>
            </a:p>
          </p:txBody>
        </p:sp>
        <p:sp>
          <p:nvSpPr>
            <p:cNvPr id="1877" name="Google Shape;1877;p121"/>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60</a:t>
              </a:r>
              <a:endParaRPr sz="1000"/>
            </a:p>
          </p:txBody>
        </p:sp>
        <p:sp>
          <p:nvSpPr>
            <p:cNvPr id="1878" name="Google Shape;1878;p121"/>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50</a:t>
              </a:r>
              <a:endParaRPr sz="1000"/>
            </a:p>
          </p:txBody>
        </p:sp>
        <p:sp>
          <p:nvSpPr>
            <p:cNvPr id="1879" name="Google Shape;1879;p121"/>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43</a:t>
              </a:r>
              <a:endParaRPr sz="1000"/>
            </a:p>
          </p:txBody>
        </p:sp>
        <p:sp>
          <p:nvSpPr>
            <p:cNvPr id="1880" name="Google Shape;1880;p121"/>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24</a:t>
              </a:r>
              <a:endParaRPr sz="1000"/>
            </a:p>
          </p:txBody>
        </p:sp>
        <p:sp>
          <p:nvSpPr>
            <p:cNvPr id="1881" name="Google Shape;1881;p121"/>
            <p:cNvSpPr txBox="1"/>
            <p:nvPr/>
          </p:nvSpPr>
          <p:spPr>
            <a:xfrm>
              <a:off x="1201255"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882" name="Google Shape;1882;p121"/>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68</a:t>
              </a:r>
              <a:endParaRPr sz="1000"/>
            </a:p>
          </p:txBody>
        </p:sp>
        <p:cxnSp>
          <p:nvCxnSpPr>
            <p:cNvPr id="1883" name="Google Shape;1883;p121"/>
            <p:cNvCxnSpPr>
              <a:stCxn id="1865" idx="2"/>
              <a:endCxn id="1867"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1884" name="Google Shape;1884;p121"/>
            <p:cNvCxnSpPr>
              <a:stCxn id="1865" idx="6"/>
              <a:endCxn id="1866"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1885" name="Google Shape;1885;p121"/>
            <p:cNvCxnSpPr>
              <a:stCxn id="1867" idx="6"/>
              <a:endCxn id="1869"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1886" name="Google Shape;1886;p121"/>
            <p:cNvCxnSpPr>
              <a:stCxn id="1867" idx="2"/>
              <a:endCxn id="1868"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1887" name="Google Shape;1887;p121"/>
            <p:cNvCxnSpPr>
              <a:stCxn id="1868" idx="2"/>
              <a:endCxn id="1872"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1888" name="Google Shape;1888;p121"/>
            <p:cNvCxnSpPr>
              <a:stCxn id="1866" idx="2"/>
              <a:endCxn id="1870"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1889" name="Google Shape;1889;p121"/>
            <p:cNvCxnSpPr>
              <a:stCxn id="1866" idx="6"/>
              <a:endCxn id="1871"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cxnSp>
          <p:nvCxnSpPr>
            <p:cNvPr id="1890" name="Google Shape;1890;p121"/>
            <p:cNvCxnSpPr>
              <a:stCxn id="1868" idx="6"/>
              <a:endCxn id="1873" idx="0"/>
            </p:cNvCxnSpPr>
            <p:nvPr/>
          </p:nvCxnSpPr>
          <p:spPr>
            <a:xfrm>
              <a:off x="1039983" y="3631041"/>
              <a:ext cx="326400" cy="307500"/>
            </a:xfrm>
            <a:prstGeom prst="curvedConnector2">
              <a:avLst/>
            </a:prstGeom>
            <a:noFill/>
            <a:ln w="19050" cap="flat" cmpd="sng">
              <a:solidFill>
                <a:schemeClr val="accent2"/>
              </a:solidFill>
              <a:prstDash val="solid"/>
              <a:round/>
              <a:headEnd type="none" w="med" len="med"/>
              <a:tailEnd type="none" w="med" len="med"/>
            </a:ln>
          </p:spPr>
        </p:cxnSp>
      </p:grpSp>
      <p:sp>
        <p:nvSpPr>
          <p:cNvPr id="1891" name="Google Shape;1891;p12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Removing From the Heap</a:t>
            </a:r>
            <a:endParaRPr/>
          </a:p>
        </p:txBody>
      </p:sp>
      <p:sp>
        <p:nvSpPr>
          <p:cNvPr id="1892" name="Google Shape;1892;p121"/>
          <p:cNvSpPr txBox="1"/>
          <p:nvPr/>
        </p:nvSpPr>
        <p:spPr>
          <a:xfrm>
            <a:off x="237800" y="1420800"/>
            <a:ext cx="30891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root always contains the </a:t>
            </a:r>
            <a:r>
              <a:rPr lang="en" sz="1200" b="1" i="1">
                <a:solidFill>
                  <a:srgbClr val="FF0000"/>
                </a:solidFill>
              </a:rPr>
              <a:t>highest priority</a:t>
            </a:r>
            <a:r>
              <a:rPr lang="en" sz="1200"/>
              <a:t> value, and so the root is always the value </a:t>
            </a:r>
            <a:r>
              <a:rPr lang="en" sz="1200" b="1" i="1">
                <a:solidFill>
                  <a:srgbClr val="FF0000"/>
                </a:solidFill>
              </a:rPr>
              <a:t>removed</a:t>
            </a:r>
            <a:r>
              <a:rPr lang="en" sz="1200">
                <a:solidFill>
                  <a:srgbClr val="FF0000"/>
                </a:solidFill>
              </a:rPr>
              <a:t> </a:t>
            </a:r>
            <a:r>
              <a:rPr lang="en" sz="1200"/>
              <a:t>from the heap.</a:t>
            </a:r>
            <a:endParaRPr sz="1200"/>
          </a:p>
        </p:txBody>
      </p:sp>
      <p:sp>
        <p:nvSpPr>
          <p:cNvPr id="1893" name="Google Shape;1893;p121"/>
          <p:cNvSpPr txBox="1"/>
          <p:nvPr/>
        </p:nvSpPr>
        <p:spPr>
          <a:xfrm>
            <a:off x="5511200" y="1407075"/>
            <a:ext cx="308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Next, </a:t>
            </a:r>
            <a:r>
              <a:rPr lang="en" sz="1200" b="1" i="1">
                <a:solidFill>
                  <a:srgbClr val="FF0000"/>
                </a:solidFill>
              </a:rPr>
              <a:t>copy</a:t>
            </a:r>
            <a:r>
              <a:rPr lang="en" sz="1200">
                <a:solidFill>
                  <a:srgbClr val="FF0000"/>
                </a:solidFill>
              </a:rPr>
              <a:t> </a:t>
            </a:r>
            <a:r>
              <a:rPr lang="en" sz="1200"/>
              <a:t>the value from the </a:t>
            </a:r>
            <a:r>
              <a:rPr lang="en" sz="1200" b="1" i="1">
                <a:solidFill>
                  <a:srgbClr val="FF0000"/>
                </a:solidFill>
              </a:rPr>
              <a:t>rightmost</a:t>
            </a:r>
            <a:r>
              <a:rPr lang="en" sz="1200">
                <a:solidFill>
                  <a:srgbClr val="FF0000"/>
                </a:solidFill>
              </a:rPr>
              <a:t> </a:t>
            </a:r>
            <a:r>
              <a:rPr lang="en" sz="1200"/>
              <a:t>node in the </a:t>
            </a:r>
            <a:r>
              <a:rPr lang="en" sz="1200" b="1" i="1">
                <a:solidFill>
                  <a:srgbClr val="FF0000"/>
                </a:solidFill>
              </a:rPr>
              <a:t>bottom</a:t>
            </a:r>
            <a:r>
              <a:rPr lang="en" sz="1200">
                <a:solidFill>
                  <a:srgbClr val="FF0000"/>
                </a:solidFill>
              </a:rPr>
              <a:t> </a:t>
            </a:r>
            <a:r>
              <a:rPr lang="en" sz="1200"/>
              <a:t>level to the root...</a:t>
            </a:r>
            <a:endParaRPr sz="1200"/>
          </a:p>
        </p:txBody>
      </p:sp>
      <p:sp>
        <p:nvSpPr>
          <p:cNvPr id="1894" name="Google Shape;1894;p121"/>
          <p:cNvSpPr txBox="1"/>
          <p:nvPr/>
        </p:nvSpPr>
        <p:spPr>
          <a:xfrm>
            <a:off x="4954525" y="4424975"/>
            <a:ext cx="30891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...and then </a:t>
            </a:r>
            <a:r>
              <a:rPr lang="en" sz="1200" b="1" i="1">
                <a:solidFill>
                  <a:srgbClr val="FF0000"/>
                </a:solidFill>
              </a:rPr>
              <a:t>remove</a:t>
            </a:r>
            <a:r>
              <a:rPr lang="en" sz="1200">
                <a:solidFill>
                  <a:srgbClr val="FF0000"/>
                </a:solidFill>
              </a:rPr>
              <a:t> </a:t>
            </a:r>
            <a:r>
              <a:rPr lang="en" sz="1200"/>
              <a:t>that rightmost node from the bottom level (set it to 0).</a:t>
            </a:r>
            <a:endParaRPr sz="1200"/>
          </a:p>
        </p:txBody>
      </p:sp>
      <p:sp>
        <p:nvSpPr>
          <p:cNvPr id="1895" name="Google Shape;1895;p1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sp>
        <p:nvSpPr>
          <p:cNvPr id="1896" name="Google Shape;1896;p121"/>
          <p:cNvSpPr/>
          <p:nvPr/>
        </p:nvSpPr>
        <p:spPr>
          <a:xfrm>
            <a:off x="1589498" y="2346625"/>
            <a:ext cx="661500" cy="669900"/>
          </a:xfrm>
          <a:prstGeom prst="ellipse">
            <a:avLst/>
          </a:prstGeom>
          <a:noFill/>
          <a:ln w="28575" cap="flat" cmpd="sng">
            <a:solidFill>
              <a:srgbClr val="E0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7" name="Google Shape;1897;p121"/>
          <p:cNvGrpSpPr/>
          <p:nvPr/>
        </p:nvGrpSpPr>
        <p:grpSpPr>
          <a:xfrm>
            <a:off x="3493144" y="1915195"/>
            <a:ext cx="2989016" cy="1876993"/>
            <a:chOff x="292744" y="2372395"/>
            <a:chExt cx="2989016" cy="1876993"/>
          </a:xfrm>
        </p:grpSpPr>
        <p:sp>
          <p:nvSpPr>
            <p:cNvPr id="1898" name="Google Shape;1898;p121"/>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121"/>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121"/>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121"/>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121"/>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121"/>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121"/>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121"/>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121"/>
            <p:cNvSpPr/>
            <p:nvPr/>
          </p:nvSpPr>
          <p:spPr>
            <a:xfrm>
              <a:off x="1210851"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121"/>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908" name="Google Shape;1908;p121"/>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10</a:t>
              </a:r>
              <a:endParaRPr sz="1000"/>
            </a:p>
          </p:txBody>
        </p:sp>
        <p:sp>
          <p:nvSpPr>
            <p:cNvPr id="1909" name="Google Shape;1909;p121"/>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21</a:t>
              </a:r>
              <a:endParaRPr sz="1000"/>
            </a:p>
          </p:txBody>
        </p:sp>
        <p:sp>
          <p:nvSpPr>
            <p:cNvPr id="1910" name="Google Shape;1910;p121"/>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60</a:t>
              </a:r>
              <a:endParaRPr sz="1000"/>
            </a:p>
          </p:txBody>
        </p:sp>
        <p:sp>
          <p:nvSpPr>
            <p:cNvPr id="1911" name="Google Shape;1911;p121"/>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50</a:t>
              </a:r>
              <a:endParaRPr sz="1000"/>
            </a:p>
          </p:txBody>
        </p:sp>
        <p:sp>
          <p:nvSpPr>
            <p:cNvPr id="1912" name="Google Shape;1912;p121"/>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43</a:t>
              </a:r>
              <a:endParaRPr sz="1000"/>
            </a:p>
          </p:txBody>
        </p:sp>
        <p:sp>
          <p:nvSpPr>
            <p:cNvPr id="1913" name="Google Shape;1913;p121"/>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24</a:t>
              </a:r>
              <a:endParaRPr sz="1000"/>
            </a:p>
          </p:txBody>
        </p:sp>
        <p:sp>
          <p:nvSpPr>
            <p:cNvPr id="1914" name="Google Shape;1914;p121"/>
            <p:cNvSpPr txBox="1"/>
            <p:nvPr/>
          </p:nvSpPr>
          <p:spPr>
            <a:xfrm>
              <a:off x="1201255"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915" name="Google Shape;1915;p121"/>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68</a:t>
              </a:r>
              <a:endParaRPr sz="1000"/>
            </a:p>
          </p:txBody>
        </p:sp>
        <p:cxnSp>
          <p:nvCxnSpPr>
            <p:cNvPr id="1916" name="Google Shape;1916;p121"/>
            <p:cNvCxnSpPr>
              <a:stCxn id="1898" idx="2"/>
              <a:endCxn id="1900"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1917" name="Google Shape;1917;p121"/>
            <p:cNvCxnSpPr>
              <a:stCxn id="1898" idx="6"/>
              <a:endCxn id="1899"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1918" name="Google Shape;1918;p121"/>
            <p:cNvCxnSpPr>
              <a:stCxn id="1900" idx="6"/>
              <a:endCxn id="1902"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1919" name="Google Shape;1919;p121"/>
            <p:cNvCxnSpPr>
              <a:stCxn id="1900" idx="2"/>
              <a:endCxn id="1901"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1920" name="Google Shape;1920;p121"/>
            <p:cNvCxnSpPr>
              <a:stCxn id="1901" idx="2"/>
              <a:endCxn id="1905"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1921" name="Google Shape;1921;p121"/>
            <p:cNvCxnSpPr>
              <a:stCxn id="1899" idx="2"/>
              <a:endCxn id="1903"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1922" name="Google Shape;1922;p121"/>
            <p:cNvCxnSpPr>
              <a:stCxn id="1899" idx="6"/>
              <a:endCxn id="1904"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cxnSp>
          <p:nvCxnSpPr>
            <p:cNvPr id="1923" name="Google Shape;1923;p121"/>
            <p:cNvCxnSpPr>
              <a:stCxn id="1901" idx="6"/>
              <a:endCxn id="1906" idx="0"/>
            </p:cNvCxnSpPr>
            <p:nvPr/>
          </p:nvCxnSpPr>
          <p:spPr>
            <a:xfrm>
              <a:off x="1039983" y="3631041"/>
              <a:ext cx="326400" cy="307500"/>
            </a:xfrm>
            <a:prstGeom prst="curvedConnector2">
              <a:avLst/>
            </a:prstGeom>
            <a:noFill/>
            <a:ln w="19050" cap="flat" cmpd="sng">
              <a:solidFill>
                <a:schemeClr val="accent2"/>
              </a:solidFill>
              <a:prstDash val="solid"/>
              <a:round/>
              <a:headEnd type="none" w="med" len="med"/>
              <a:tailEnd type="none" w="med" len="med"/>
            </a:ln>
          </p:spPr>
        </p:cxnSp>
      </p:grpSp>
      <p:sp>
        <p:nvSpPr>
          <p:cNvPr id="1924" name="Google Shape;1924;p121"/>
          <p:cNvSpPr/>
          <p:nvPr/>
        </p:nvSpPr>
        <p:spPr>
          <a:xfrm>
            <a:off x="4730450" y="2233075"/>
            <a:ext cx="556075" cy="1419600"/>
          </a:xfrm>
          <a:custGeom>
            <a:avLst/>
            <a:gdLst/>
            <a:ahLst/>
            <a:cxnLst/>
            <a:rect l="l" t="t" r="r" b="b"/>
            <a:pathLst>
              <a:path w="22243" h="56784" extrusionOk="0">
                <a:moveTo>
                  <a:pt x="0" y="56784"/>
                </a:moveTo>
                <a:cubicBezTo>
                  <a:pt x="2880" y="55458"/>
                  <a:pt x="13579" y="54681"/>
                  <a:pt x="17282" y="48829"/>
                </a:cubicBezTo>
                <a:cubicBezTo>
                  <a:pt x="20985" y="42977"/>
                  <a:pt x="22129" y="29809"/>
                  <a:pt x="22220" y="21671"/>
                </a:cubicBezTo>
                <a:cubicBezTo>
                  <a:pt x="22312" y="13533"/>
                  <a:pt x="18563" y="3612"/>
                  <a:pt x="17831" y="0"/>
                </a:cubicBezTo>
              </a:path>
            </a:pathLst>
          </a:custGeom>
          <a:noFill/>
          <a:ln w="28575" cap="flat" cmpd="sng">
            <a:solidFill>
              <a:srgbClr val="E06666"/>
            </a:solidFill>
            <a:prstDash val="dash"/>
            <a:round/>
            <a:headEnd type="none" w="med" len="med"/>
            <a:tailEnd type="stealth" w="med" len="med"/>
          </a:ln>
        </p:spPr>
        <p:txBody>
          <a:bodyPr/>
          <a:lstStyle/>
          <a:p>
            <a:endParaRPr lang="en-US"/>
          </a:p>
        </p:txBody>
      </p:sp>
      <p:grpSp>
        <p:nvGrpSpPr>
          <p:cNvPr id="1925" name="Google Shape;1925;p121"/>
          <p:cNvGrpSpPr/>
          <p:nvPr/>
        </p:nvGrpSpPr>
        <p:grpSpPr>
          <a:xfrm>
            <a:off x="5875918" y="2448595"/>
            <a:ext cx="2989016" cy="1876993"/>
            <a:chOff x="292744" y="2372395"/>
            <a:chExt cx="2989016" cy="1876993"/>
          </a:xfrm>
        </p:grpSpPr>
        <p:sp>
          <p:nvSpPr>
            <p:cNvPr id="1926" name="Google Shape;1926;p121"/>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121"/>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121"/>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121"/>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121"/>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121"/>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121"/>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121"/>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121"/>
            <p:cNvSpPr/>
            <p:nvPr/>
          </p:nvSpPr>
          <p:spPr>
            <a:xfrm>
              <a:off x="1210851"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121"/>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936" name="Google Shape;1936;p121"/>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10</a:t>
              </a:r>
              <a:endParaRPr sz="1000"/>
            </a:p>
          </p:txBody>
        </p:sp>
        <p:sp>
          <p:nvSpPr>
            <p:cNvPr id="1937" name="Google Shape;1937;p121"/>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21</a:t>
              </a:r>
              <a:endParaRPr sz="1000"/>
            </a:p>
          </p:txBody>
        </p:sp>
        <p:sp>
          <p:nvSpPr>
            <p:cNvPr id="1938" name="Google Shape;1938;p121"/>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60</a:t>
              </a:r>
              <a:endParaRPr sz="1000"/>
            </a:p>
          </p:txBody>
        </p:sp>
        <p:sp>
          <p:nvSpPr>
            <p:cNvPr id="1939" name="Google Shape;1939;p121"/>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50</a:t>
              </a:r>
              <a:endParaRPr sz="1000"/>
            </a:p>
          </p:txBody>
        </p:sp>
        <p:sp>
          <p:nvSpPr>
            <p:cNvPr id="1940" name="Google Shape;1940;p121"/>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43</a:t>
              </a:r>
              <a:endParaRPr sz="1000"/>
            </a:p>
          </p:txBody>
        </p:sp>
        <p:sp>
          <p:nvSpPr>
            <p:cNvPr id="1941" name="Google Shape;1941;p121"/>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24</a:t>
              </a:r>
              <a:endParaRPr sz="1000"/>
            </a:p>
          </p:txBody>
        </p:sp>
        <p:sp>
          <p:nvSpPr>
            <p:cNvPr id="1942" name="Google Shape;1942;p121"/>
            <p:cNvSpPr txBox="1"/>
            <p:nvPr/>
          </p:nvSpPr>
          <p:spPr>
            <a:xfrm>
              <a:off x="1201255"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943" name="Google Shape;1943;p121"/>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68</a:t>
              </a:r>
              <a:endParaRPr sz="1000"/>
            </a:p>
          </p:txBody>
        </p:sp>
        <p:cxnSp>
          <p:nvCxnSpPr>
            <p:cNvPr id="1944" name="Google Shape;1944;p121"/>
            <p:cNvCxnSpPr>
              <a:stCxn id="1926" idx="2"/>
              <a:endCxn id="1928"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1945" name="Google Shape;1945;p121"/>
            <p:cNvCxnSpPr>
              <a:stCxn id="1926" idx="6"/>
              <a:endCxn id="1927"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1946" name="Google Shape;1946;p121"/>
            <p:cNvCxnSpPr>
              <a:stCxn id="1928" idx="6"/>
              <a:endCxn id="1930"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1947" name="Google Shape;1947;p121"/>
            <p:cNvCxnSpPr>
              <a:stCxn id="1928" idx="2"/>
              <a:endCxn id="1929"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1948" name="Google Shape;1948;p121"/>
            <p:cNvCxnSpPr>
              <a:stCxn id="1929" idx="2"/>
              <a:endCxn id="1933"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1949" name="Google Shape;1949;p121"/>
            <p:cNvCxnSpPr>
              <a:stCxn id="1927" idx="2"/>
              <a:endCxn id="1931"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1950" name="Google Shape;1950;p121"/>
            <p:cNvCxnSpPr>
              <a:stCxn id="1927" idx="6"/>
              <a:endCxn id="1932"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cxnSp>
          <p:nvCxnSpPr>
            <p:cNvPr id="1951" name="Google Shape;1951;p121"/>
            <p:cNvCxnSpPr>
              <a:stCxn id="1929" idx="6"/>
              <a:endCxn id="1934" idx="0"/>
            </p:cNvCxnSpPr>
            <p:nvPr/>
          </p:nvCxnSpPr>
          <p:spPr>
            <a:xfrm>
              <a:off x="1039983" y="3631041"/>
              <a:ext cx="326400" cy="307500"/>
            </a:xfrm>
            <a:prstGeom prst="curvedConnector2">
              <a:avLst/>
            </a:prstGeom>
            <a:noFill/>
            <a:ln w="19050" cap="flat" cmpd="sng">
              <a:solidFill>
                <a:schemeClr val="accent2"/>
              </a:solidFill>
              <a:prstDash val="solid"/>
              <a:round/>
              <a:headEnd type="none" w="med" len="med"/>
              <a:tailEnd type="none" w="med" len="med"/>
            </a:ln>
          </p:spPr>
        </p:cxnSp>
      </p:grpSp>
      <p:sp>
        <p:nvSpPr>
          <p:cNvPr id="1952" name="Google Shape;1952;p121"/>
          <p:cNvSpPr/>
          <p:nvPr/>
        </p:nvSpPr>
        <p:spPr>
          <a:xfrm>
            <a:off x="6713175" y="3943000"/>
            <a:ext cx="482100" cy="482100"/>
          </a:xfrm>
          <a:prstGeom prst="mathMultiply">
            <a:avLst>
              <a:gd name="adj1" fmla="val 23520"/>
            </a:avLst>
          </a:prstGeom>
          <a:solidFill>
            <a:srgbClr val="FF0000"/>
          </a:solid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92"/>
                                        </p:tgtEl>
                                        <p:attrNameLst>
                                          <p:attrName>style.visibility</p:attrName>
                                        </p:attrNameLst>
                                      </p:cBhvr>
                                      <p:to>
                                        <p:strVal val="visible"/>
                                      </p:to>
                                    </p:set>
                                    <p:animEffect transition="in" filter="fade">
                                      <p:cBhvr>
                                        <p:cTn id="7" dur="1000"/>
                                        <p:tgtEl>
                                          <p:spTgt spid="1892"/>
                                        </p:tgtEl>
                                      </p:cBhvr>
                                    </p:animEffect>
                                  </p:childTnLst>
                                </p:cTn>
                              </p:par>
                              <p:par>
                                <p:cTn id="8" presetID="10" presetClass="entr" presetSubtype="0" fill="hold" nodeType="withEffect">
                                  <p:stCondLst>
                                    <p:cond delay="0"/>
                                  </p:stCondLst>
                                  <p:childTnLst>
                                    <p:set>
                                      <p:cBhvr>
                                        <p:cTn id="9" dur="1" fill="hold">
                                          <p:stCondLst>
                                            <p:cond delay="0"/>
                                          </p:stCondLst>
                                        </p:cTn>
                                        <p:tgtEl>
                                          <p:spTgt spid="1864"/>
                                        </p:tgtEl>
                                        <p:attrNameLst>
                                          <p:attrName>style.visibility</p:attrName>
                                        </p:attrNameLst>
                                      </p:cBhvr>
                                      <p:to>
                                        <p:strVal val="visible"/>
                                      </p:to>
                                    </p:set>
                                    <p:animEffect transition="in" filter="fade">
                                      <p:cBhvr>
                                        <p:cTn id="10" dur="1000"/>
                                        <p:tgtEl>
                                          <p:spTgt spid="1864"/>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1896"/>
                                        </p:tgtEl>
                                        <p:attrNameLst>
                                          <p:attrName>style.visibility</p:attrName>
                                        </p:attrNameLst>
                                      </p:cBhvr>
                                      <p:to>
                                        <p:strVal val="visible"/>
                                      </p:to>
                                    </p:set>
                                    <p:animEffect transition="in" filter="fade">
                                      <p:cBhvr>
                                        <p:cTn id="14" dur="1000"/>
                                        <p:tgtEl>
                                          <p:spTgt spid="189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893"/>
                                        </p:tgtEl>
                                        <p:attrNameLst>
                                          <p:attrName>style.visibility</p:attrName>
                                        </p:attrNameLst>
                                      </p:cBhvr>
                                      <p:to>
                                        <p:strVal val="visible"/>
                                      </p:to>
                                    </p:set>
                                    <p:animEffect transition="in" filter="fade">
                                      <p:cBhvr>
                                        <p:cTn id="19" dur="1000"/>
                                        <p:tgtEl>
                                          <p:spTgt spid="1893"/>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897"/>
                                        </p:tgtEl>
                                        <p:attrNameLst>
                                          <p:attrName>style.visibility</p:attrName>
                                        </p:attrNameLst>
                                      </p:cBhvr>
                                      <p:to>
                                        <p:strVal val="visible"/>
                                      </p:to>
                                    </p:set>
                                    <p:animEffect transition="in" filter="fade">
                                      <p:cBhvr>
                                        <p:cTn id="23" dur="1000"/>
                                        <p:tgtEl>
                                          <p:spTgt spid="1897"/>
                                        </p:tgtEl>
                                      </p:cBhvr>
                                    </p:animEffect>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1924"/>
                                        </p:tgtEl>
                                        <p:attrNameLst>
                                          <p:attrName>style.visibility</p:attrName>
                                        </p:attrNameLst>
                                      </p:cBhvr>
                                      <p:to>
                                        <p:strVal val="visible"/>
                                      </p:to>
                                    </p:set>
                                    <p:animEffect transition="in" filter="fade">
                                      <p:cBhvr>
                                        <p:cTn id="27" dur="1000"/>
                                        <p:tgtEl>
                                          <p:spTgt spid="19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94"/>
                                        </p:tgtEl>
                                        <p:attrNameLst>
                                          <p:attrName>style.visibility</p:attrName>
                                        </p:attrNameLst>
                                      </p:cBhvr>
                                      <p:to>
                                        <p:strVal val="visible"/>
                                      </p:to>
                                    </p:set>
                                    <p:animEffect transition="in" filter="fade">
                                      <p:cBhvr>
                                        <p:cTn id="32" dur="1000"/>
                                        <p:tgtEl>
                                          <p:spTgt spid="1894"/>
                                        </p:tgtEl>
                                      </p:cBhvr>
                                    </p:animEffect>
                                  </p:childTnLst>
                                </p:cTn>
                              </p:par>
                              <p:par>
                                <p:cTn id="33" presetID="10" presetClass="entr" presetSubtype="0" fill="hold" nodeType="withEffect">
                                  <p:stCondLst>
                                    <p:cond delay="0"/>
                                  </p:stCondLst>
                                  <p:childTnLst>
                                    <p:set>
                                      <p:cBhvr>
                                        <p:cTn id="34" dur="1" fill="hold">
                                          <p:stCondLst>
                                            <p:cond delay="0"/>
                                          </p:stCondLst>
                                        </p:cTn>
                                        <p:tgtEl>
                                          <p:spTgt spid="1925"/>
                                        </p:tgtEl>
                                        <p:attrNameLst>
                                          <p:attrName>style.visibility</p:attrName>
                                        </p:attrNameLst>
                                      </p:cBhvr>
                                      <p:to>
                                        <p:strVal val="visible"/>
                                      </p:to>
                                    </p:set>
                                    <p:animEffect transition="in" filter="fade">
                                      <p:cBhvr>
                                        <p:cTn id="35" dur="1000"/>
                                        <p:tgtEl>
                                          <p:spTgt spid="1925"/>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1952"/>
                                        </p:tgtEl>
                                        <p:attrNameLst>
                                          <p:attrName>style.visibility</p:attrName>
                                        </p:attrNameLst>
                                      </p:cBhvr>
                                      <p:to>
                                        <p:strVal val="visible"/>
                                      </p:to>
                                    </p:set>
                                    <p:animEffect transition="in" filter="fade">
                                      <p:cBhvr>
                                        <p:cTn id="39" dur="1000"/>
                                        <p:tgtEl>
                                          <p:spTgt spid="19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956"/>
        <p:cNvGrpSpPr/>
        <p:nvPr/>
      </p:nvGrpSpPr>
      <p:grpSpPr>
        <a:xfrm>
          <a:off x="0" y="0"/>
          <a:ext cx="0" cy="0"/>
          <a:chOff x="0" y="0"/>
          <a:chExt cx="0" cy="0"/>
        </a:xfrm>
      </p:grpSpPr>
      <p:sp>
        <p:nvSpPr>
          <p:cNvPr id="1957" name="Google Shape;1957;p122"/>
          <p:cNvSpPr txBox="1">
            <a:spLocks noGrp="1"/>
          </p:cNvSpPr>
          <p:nvPr>
            <p:ph type="body" idx="1"/>
          </p:nvPr>
        </p:nvSpPr>
        <p:spPr>
          <a:xfrm>
            <a:off x="65250" y="6554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a:t>The highest priority value is always the next to be removed from the heap. Let's begin implementing the algorithm now by focusing on the first few steps, which are fairly straightforward.</a:t>
            </a:r>
            <a:endParaRPr/>
          </a:p>
        </p:txBody>
      </p:sp>
      <p:sp>
        <p:nvSpPr>
          <p:cNvPr id="1958" name="Google Shape;1958;p1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
        <p:nvSpPr>
          <p:cNvPr id="1959" name="Google Shape;1959;p122"/>
          <p:cNvSpPr txBox="1">
            <a:spLocks noGrp="1"/>
          </p:cNvSpPr>
          <p:nvPr>
            <p:ph type="body" idx="2"/>
          </p:nvPr>
        </p:nvSpPr>
        <p:spPr>
          <a:xfrm>
            <a:off x="3286750" y="1645325"/>
            <a:ext cx="5661900" cy="2796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ArrayHeap</a:t>
            </a:r>
            <a:r>
              <a:rPr lang="en" dirty="0"/>
              <a:t> class and navigate to the </a:t>
            </a:r>
            <a:r>
              <a:rPr lang="en" dirty="0">
                <a:latin typeface="Courier New"/>
                <a:ea typeface="Courier New"/>
                <a:cs typeface="Courier New"/>
                <a:sym typeface="Courier New"/>
              </a:rPr>
              <a:t>remove()</a:t>
            </a:r>
            <a:r>
              <a:rPr lang="en" dirty="0"/>
              <a:t> method. The first few steps are fairly straightforward.</a:t>
            </a:r>
            <a:endParaRPr dirty="0"/>
          </a:p>
          <a:p>
            <a:pPr marL="914400" lvl="1" indent="-298450" algn="l" rtl="0">
              <a:spcBef>
                <a:spcPts val="0"/>
              </a:spcBef>
              <a:spcAft>
                <a:spcPts val="0"/>
              </a:spcAft>
              <a:buSzPts val="1100"/>
              <a:buChar char="○"/>
            </a:pPr>
            <a:r>
              <a:rPr lang="en" b="1" i="1" dirty="0">
                <a:solidFill>
                  <a:srgbClr val="FF0000"/>
                </a:solidFill>
              </a:rPr>
              <a:t>Save</a:t>
            </a:r>
            <a:r>
              <a:rPr lang="en" dirty="0">
                <a:solidFill>
                  <a:srgbClr val="FF0000"/>
                </a:solidFill>
              </a:rPr>
              <a:t> </a:t>
            </a:r>
            <a:r>
              <a:rPr lang="en" dirty="0"/>
              <a:t>the value at </a:t>
            </a:r>
            <a:r>
              <a:rPr lang="en" dirty="0">
                <a:solidFill>
                  <a:srgbClr val="FF0000"/>
                </a:solidFill>
              </a:rPr>
              <a:t>index </a:t>
            </a:r>
            <a:r>
              <a:rPr lang="en" dirty="0">
                <a:solidFill>
                  <a:srgbClr val="FF0000"/>
                </a:solidFill>
                <a:latin typeface="Courier New"/>
                <a:ea typeface="Courier New"/>
                <a:cs typeface="Courier New"/>
                <a:sym typeface="Courier New"/>
              </a:rPr>
              <a:t>0</a:t>
            </a:r>
            <a:r>
              <a:rPr lang="en" dirty="0"/>
              <a:t> in a temporary variable.</a:t>
            </a:r>
            <a:endParaRPr dirty="0"/>
          </a:p>
          <a:p>
            <a:pPr marL="914400" lvl="1" indent="-298450" algn="l" rtl="0">
              <a:spcBef>
                <a:spcPts val="0"/>
              </a:spcBef>
              <a:spcAft>
                <a:spcPts val="0"/>
              </a:spcAft>
              <a:buSzPts val="1100"/>
              <a:buChar char="○"/>
            </a:pPr>
            <a:r>
              <a:rPr lang="en" b="1" i="1" dirty="0">
                <a:solidFill>
                  <a:srgbClr val="FF0000"/>
                </a:solidFill>
              </a:rPr>
              <a:t>Copy </a:t>
            </a:r>
            <a:r>
              <a:rPr lang="en" dirty="0"/>
              <a:t>the value in rightmost position in the bottom of the tree into index 0.</a:t>
            </a:r>
            <a:endParaRPr dirty="0"/>
          </a:p>
          <a:p>
            <a:pPr marL="1371600" lvl="2" indent="-298450" algn="l" rtl="0">
              <a:spcBef>
                <a:spcPts val="0"/>
              </a:spcBef>
              <a:spcAft>
                <a:spcPts val="0"/>
              </a:spcAft>
              <a:buSzPts val="1100"/>
              <a:buChar char="■"/>
            </a:pPr>
            <a:r>
              <a:rPr lang="en" b="1" i="1" dirty="0">
                <a:solidFill>
                  <a:srgbClr val="FF0000"/>
                </a:solidFill>
              </a:rPr>
              <a:t>Hint</a:t>
            </a:r>
            <a:r>
              <a:rPr lang="en" dirty="0"/>
              <a:t>: it will be at the last index that a value was added to the heap.</a:t>
            </a:r>
            <a:endParaRPr dirty="0"/>
          </a:p>
          <a:p>
            <a:pPr marL="1371600" lvl="2" indent="-298450" algn="l" rtl="0">
              <a:spcBef>
                <a:spcPts val="0"/>
              </a:spcBef>
              <a:spcAft>
                <a:spcPts val="0"/>
              </a:spcAft>
              <a:buSzPts val="1100"/>
              <a:buChar char="■"/>
            </a:pPr>
            <a:r>
              <a:rPr lang="en" dirty="0"/>
              <a:t>Be sure to set the value at that index to </a:t>
            </a:r>
            <a:r>
              <a:rPr lang="en" dirty="0">
                <a:latin typeface="Courier New"/>
                <a:ea typeface="Courier New"/>
                <a:cs typeface="Courier New"/>
                <a:sym typeface="Courier New"/>
              </a:rPr>
              <a:t>0</a:t>
            </a:r>
            <a:r>
              <a:rPr lang="en" dirty="0"/>
              <a:t> after swapping.</a:t>
            </a:r>
            <a:endParaRPr dirty="0"/>
          </a:p>
          <a:p>
            <a:pPr marL="914400" lvl="1" indent="-298450" algn="l" rtl="0">
              <a:spcBef>
                <a:spcPts val="0"/>
              </a:spcBef>
              <a:spcAft>
                <a:spcPts val="0"/>
              </a:spcAft>
              <a:buSzPts val="1100"/>
              <a:buChar char="○"/>
            </a:pPr>
            <a:r>
              <a:rPr lang="en" dirty="0"/>
              <a:t>Don't forget to </a:t>
            </a:r>
            <a:r>
              <a:rPr lang="en" b="1" i="1" dirty="0">
                <a:solidFill>
                  <a:srgbClr val="FF0000"/>
                </a:solidFill>
              </a:rPr>
              <a:t>decrement</a:t>
            </a:r>
            <a:r>
              <a:rPr lang="en" dirty="0">
                <a:solidFill>
                  <a:srgbClr val="FF0000"/>
                </a:solidFill>
              </a:rPr>
              <a:t> </a:t>
            </a:r>
            <a:r>
              <a:rPr lang="en" dirty="0">
                <a:solidFill>
                  <a:srgbClr val="FF0000"/>
                </a:solidFill>
                <a:latin typeface="Courier New"/>
                <a:ea typeface="Courier New"/>
                <a:cs typeface="Courier New"/>
                <a:sym typeface="Courier New"/>
              </a:rPr>
              <a:t>size</a:t>
            </a:r>
            <a:r>
              <a:rPr lang="en" dirty="0"/>
              <a:t>!</a:t>
            </a:r>
            <a:endParaRPr dirty="0"/>
          </a:p>
          <a:p>
            <a:pPr marL="914400" lvl="1" indent="-298450" algn="l" rtl="0">
              <a:spcBef>
                <a:spcPts val="0"/>
              </a:spcBef>
              <a:spcAft>
                <a:spcPts val="0"/>
              </a:spcAft>
              <a:buSzPts val="1100"/>
              <a:buChar char="○"/>
            </a:pPr>
            <a:r>
              <a:rPr lang="en" b="1" i="1" dirty="0">
                <a:solidFill>
                  <a:srgbClr val="FF0000"/>
                </a:solidFill>
              </a:rPr>
              <a:t>Return</a:t>
            </a:r>
            <a:r>
              <a:rPr lang="en" dirty="0">
                <a:solidFill>
                  <a:srgbClr val="FF0000"/>
                </a:solidFill>
              </a:rPr>
              <a:t> </a:t>
            </a:r>
            <a:r>
              <a:rPr lang="en" dirty="0"/>
              <a:t>the temporary value.</a:t>
            </a:r>
            <a:endParaRPr dirty="0"/>
          </a:p>
          <a:p>
            <a:pPr marL="457200" lvl="0" indent="-311150" algn="l" rtl="0">
              <a:spcBef>
                <a:spcPts val="0"/>
              </a:spcBef>
              <a:spcAft>
                <a:spcPts val="0"/>
              </a:spcAft>
              <a:buSzPts val="1300"/>
              <a:buChar char="●"/>
            </a:pPr>
            <a:r>
              <a:rPr lang="en" dirty="0"/>
              <a:t>Update the </a:t>
            </a:r>
            <a:r>
              <a:rPr lang="en" dirty="0">
                <a:latin typeface="Courier New"/>
                <a:ea typeface="Courier New"/>
                <a:cs typeface="Courier New"/>
                <a:sym typeface="Courier New"/>
              </a:rPr>
              <a:t>main</a:t>
            </a:r>
            <a:r>
              <a:rPr lang="en" dirty="0"/>
              <a:t> to </a:t>
            </a:r>
            <a:r>
              <a:rPr lang="en" b="1" i="1" dirty="0">
                <a:solidFill>
                  <a:srgbClr val="FF0000"/>
                </a:solidFill>
              </a:rPr>
              <a:t>remove and print</a:t>
            </a:r>
            <a:r>
              <a:rPr lang="en" dirty="0"/>
              <a:t> a few values (and the heap).</a:t>
            </a:r>
            <a:endParaRPr dirty="0"/>
          </a:p>
          <a:p>
            <a:pPr marL="914400" lvl="1" indent="-298450" algn="l" rtl="0">
              <a:spcBef>
                <a:spcPts val="0"/>
              </a:spcBef>
              <a:spcAft>
                <a:spcPts val="0"/>
              </a:spcAft>
              <a:buSzPts val="1100"/>
              <a:buChar char="○"/>
            </a:pPr>
            <a:r>
              <a:rPr lang="en" dirty="0"/>
              <a:t>The </a:t>
            </a:r>
            <a:r>
              <a:rPr lang="en" b="1" i="1" dirty="0">
                <a:solidFill>
                  <a:srgbClr val="FF0000"/>
                </a:solidFill>
              </a:rPr>
              <a:t>first</a:t>
            </a:r>
            <a:r>
              <a:rPr lang="en" dirty="0">
                <a:solidFill>
                  <a:srgbClr val="FF0000"/>
                </a:solidFill>
              </a:rPr>
              <a:t> </a:t>
            </a:r>
            <a:r>
              <a:rPr lang="en" dirty="0"/>
              <a:t>value should be the highest priority (i.e. lowest value), but the </a:t>
            </a:r>
            <a:r>
              <a:rPr lang="en" dirty="0">
                <a:highlight>
                  <a:srgbClr val="FFFF00"/>
                </a:highlight>
              </a:rPr>
              <a:t>next value(s) that you remove probably will not be in the correct priority order.</a:t>
            </a:r>
            <a:endParaRPr dirty="0">
              <a:highlight>
                <a:srgbClr val="FFFF00"/>
              </a:highlight>
            </a:endParaRPr>
          </a:p>
          <a:p>
            <a:pPr marL="914400" lvl="1" indent="-298450" algn="l" rtl="0">
              <a:spcBef>
                <a:spcPts val="0"/>
              </a:spcBef>
              <a:spcAft>
                <a:spcPts val="0"/>
              </a:spcAft>
              <a:buSzPts val="1100"/>
              <a:buChar char="○"/>
            </a:pPr>
            <a:r>
              <a:rPr lang="en" dirty="0"/>
              <a:t>This is because the value swapped into index </a:t>
            </a:r>
            <a:r>
              <a:rPr lang="en" dirty="0">
                <a:latin typeface="Courier New"/>
                <a:ea typeface="Courier New"/>
                <a:cs typeface="Courier New"/>
                <a:sym typeface="Courier New"/>
              </a:rPr>
              <a:t>0</a:t>
            </a:r>
            <a:r>
              <a:rPr lang="en" dirty="0"/>
              <a:t> is not yet </a:t>
            </a:r>
            <a:r>
              <a:rPr lang="en" b="1" i="1" dirty="0">
                <a:solidFill>
                  <a:srgbClr val="FF0000"/>
                </a:solidFill>
              </a:rPr>
              <a:t>sifted down</a:t>
            </a:r>
            <a:r>
              <a:rPr lang="en" dirty="0"/>
              <a:t>. </a:t>
            </a:r>
            <a:endParaRPr dirty="0"/>
          </a:p>
        </p:txBody>
      </p:sp>
      <p:sp>
        <p:nvSpPr>
          <p:cNvPr id="1960" name="Google Shape;1960;p12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Removing From a Heap</a:t>
            </a:r>
            <a:endParaRPr/>
          </a:p>
        </p:txBody>
      </p:sp>
      <p:sp>
        <p:nvSpPr>
          <p:cNvPr id="1961" name="Google Shape;1961;p12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6.19</a:t>
            </a:r>
            <a:endParaRPr/>
          </a:p>
        </p:txBody>
      </p:sp>
      <p:grpSp>
        <p:nvGrpSpPr>
          <p:cNvPr id="1962" name="Google Shape;1962;p122"/>
          <p:cNvGrpSpPr/>
          <p:nvPr/>
        </p:nvGrpSpPr>
        <p:grpSpPr>
          <a:xfrm>
            <a:off x="140344" y="1534195"/>
            <a:ext cx="2989016" cy="1876993"/>
            <a:chOff x="292744" y="2372395"/>
            <a:chExt cx="2989016" cy="1876993"/>
          </a:xfrm>
        </p:grpSpPr>
        <p:sp>
          <p:nvSpPr>
            <p:cNvPr id="1963" name="Google Shape;1963;p122"/>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122"/>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122"/>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122"/>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122"/>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122"/>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122"/>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122"/>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122"/>
            <p:cNvSpPr/>
            <p:nvPr/>
          </p:nvSpPr>
          <p:spPr>
            <a:xfrm>
              <a:off x="1210851"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122"/>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973" name="Google Shape;1973;p122"/>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10</a:t>
              </a:r>
              <a:endParaRPr sz="1000"/>
            </a:p>
          </p:txBody>
        </p:sp>
        <p:sp>
          <p:nvSpPr>
            <p:cNvPr id="1974" name="Google Shape;1974;p122"/>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21</a:t>
              </a:r>
              <a:endParaRPr sz="1000"/>
            </a:p>
          </p:txBody>
        </p:sp>
        <p:sp>
          <p:nvSpPr>
            <p:cNvPr id="1975" name="Google Shape;1975;p122"/>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60</a:t>
              </a:r>
              <a:endParaRPr sz="1000"/>
            </a:p>
          </p:txBody>
        </p:sp>
        <p:sp>
          <p:nvSpPr>
            <p:cNvPr id="1976" name="Google Shape;1976;p122"/>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50</a:t>
              </a:r>
              <a:endParaRPr sz="1000"/>
            </a:p>
          </p:txBody>
        </p:sp>
        <p:sp>
          <p:nvSpPr>
            <p:cNvPr id="1977" name="Google Shape;1977;p122"/>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43</a:t>
              </a:r>
              <a:endParaRPr sz="1000"/>
            </a:p>
          </p:txBody>
        </p:sp>
        <p:sp>
          <p:nvSpPr>
            <p:cNvPr id="1978" name="Google Shape;1978;p122"/>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24</a:t>
              </a:r>
              <a:endParaRPr sz="1000"/>
            </a:p>
          </p:txBody>
        </p:sp>
        <p:sp>
          <p:nvSpPr>
            <p:cNvPr id="1979" name="Google Shape;1979;p122"/>
            <p:cNvSpPr txBox="1"/>
            <p:nvPr/>
          </p:nvSpPr>
          <p:spPr>
            <a:xfrm>
              <a:off x="1201255"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66</a:t>
              </a:r>
              <a:endParaRPr sz="1000"/>
            </a:p>
          </p:txBody>
        </p:sp>
        <p:sp>
          <p:nvSpPr>
            <p:cNvPr id="1980" name="Google Shape;1980;p122"/>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68</a:t>
              </a:r>
              <a:endParaRPr sz="1000"/>
            </a:p>
          </p:txBody>
        </p:sp>
        <p:cxnSp>
          <p:nvCxnSpPr>
            <p:cNvPr id="1981" name="Google Shape;1981;p122"/>
            <p:cNvCxnSpPr>
              <a:stCxn id="1963" idx="2"/>
              <a:endCxn id="1965"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1982" name="Google Shape;1982;p122"/>
            <p:cNvCxnSpPr>
              <a:stCxn id="1963" idx="6"/>
              <a:endCxn id="1964"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1983" name="Google Shape;1983;p122"/>
            <p:cNvCxnSpPr>
              <a:stCxn id="1965" idx="6"/>
              <a:endCxn id="1967"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1984" name="Google Shape;1984;p122"/>
            <p:cNvCxnSpPr>
              <a:stCxn id="1965" idx="2"/>
              <a:endCxn id="1966"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1985" name="Google Shape;1985;p122"/>
            <p:cNvCxnSpPr>
              <a:stCxn id="1966" idx="2"/>
              <a:endCxn id="1970"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1986" name="Google Shape;1986;p122"/>
            <p:cNvCxnSpPr>
              <a:stCxn id="1964" idx="2"/>
              <a:endCxn id="1968"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1987" name="Google Shape;1987;p122"/>
            <p:cNvCxnSpPr>
              <a:stCxn id="1964" idx="6"/>
              <a:endCxn id="1969"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cxnSp>
          <p:nvCxnSpPr>
            <p:cNvPr id="1988" name="Google Shape;1988;p122"/>
            <p:cNvCxnSpPr>
              <a:stCxn id="1966" idx="6"/>
              <a:endCxn id="1971" idx="0"/>
            </p:cNvCxnSpPr>
            <p:nvPr/>
          </p:nvCxnSpPr>
          <p:spPr>
            <a:xfrm>
              <a:off x="1039983" y="3631041"/>
              <a:ext cx="326400" cy="307500"/>
            </a:xfrm>
            <a:prstGeom prst="curvedConnector2">
              <a:avLst/>
            </a:prstGeom>
            <a:noFill/>
            <a:ln w="19050" cap="flat" cmpd="sng">
              <a:solidFill>
                <a:schemeClr val="accent2"/>
              </a:solidFill>
              <a:prstDash val="solid"/>
              <a:round/>
              <a:headEnd type="none" w="med" len="med"/>
              <a:tailEnd type="none" w="med" len="med"/>
            </a:ln>
          </p:spPr>
        </p:cxnSp>
      </p:grpSp>
      <p:sp>
        <p:nvSpPr>
          <p:cNvPr id="1989" name="Google Shape;1989;p122"/>
          <p:cNvSpPr/>
          <p:nvPr/>
        </p:nvSpPr>
        <p:spPr>
          <a:xfrm>
            <a:off x="1377650" y="1852075"/>
            <a:ext cx="556075" cy="1419600"/>
          </a:xfrm>
          <a:custGeom>
            <a:avLst/>
            <a:gdLst/>
            <a:ahLst/>
            <a:cxnLst/>
            <a:rect l="l" t="t" r="r" b="b"/>
            <a:pathLst>
              <a:path w="22243" h="56784" extrusionOk="0">
                <a:moveTo>
                  <a:pt x="0" y="56784"/>
                </a:moveTo>
                <a:cubicBezTo>
                  <a:pt x="2880" y="55458"/>
                  <a:pt x="13579" y="54681"/>
                  <a:pt x="17282" y="48829"/>
                </a:cubicBezTo>
                <a:cubicBezTo>
                  <a:pt x="20985" y="42977"/>
                  <a:pt x="22129" y="29809"/>
                  <a:pt x="22220" y="21671"/>
                </a:cubicBezTo>
                <a:cubicBezTo>
                  <a:pt x="22312" y="13533"/>
                  <a:pt x="18563" y="3612"/>
                  <a:pt x="17831" y="0"/>
                </a:cubicBezTo>
              </a:path>
            </a:pathLst>
          </a:custGeom>
          <a:noFill/>
          <a:ln w="28575" cap="flat" cmpd="sng">
            <a:solidFill>
              <a:srgbClr val="E06666"/>
            </a:solidFill>
            <a:prstDash val="dash"/>
            <a:round/>
            <a:headEnd type="none" w="med" len="med"/>
            <a:tailEnd type="stealth" w="med" len="med"/>
          </a:ln>
        </p:spPr>
        <p:txBody>
          <a:bodyPr/>
          <a:lstStyle/>
          <a:p>
            <a:endParaRPr lang="en-US"/>
          </a:p>
        </p:txBody>
      </p:sp>
      <p:sp>
        <p:nvSpPr>
          <p:cNvPr id="1990" name="Google Shape;1990;p122"/>
          <p:cNvSpPr txBox="1"/>
          <p:nvPr/>
        </p:nvSpPr>
        <p:spPr>
          <a:xfrm>
            <a:off x="180650" y="3593325"/>
            <a:ext cx="2948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Once finished, you will be doing </a:t>
            </a:r>
            <a:r>
              <a:rPr lang="en" sz="1200" b="1" i="1">
                <a:solidFill>
                  <a:srgbClr val="FF0000"/>
                </a:solidFill>
              </a:rPr>
              <a:t>most</a:t>
            </a:r>
            <a:r>
              <a:rPr lang="en" sz="1200">
                <a:solidFill>
                  <a:srgbClr val="FF0000"/>
                </a:solidFill>
              </a:rPr>
              <a:t> </a:t>
            </a:r>
            <a:r>
              <a:rPr lang="en" sz="1200"/>
              <a:t>of the work of removing.</a:t>
            </a:r>
            <a:endParaRPr sz="1200"/>
          </a:p>
        </p:txBody>
      </p:sp>
      <p:sp>
        <p:nvSpPr>
          <p:cNvPr id="1991" name="Google Shape;1991;p122"/>
          <p:cNvSpPr txBox="1"/>
          <p:nvPr/>
        </p:nvSpPr>
        <p:spPr>
          <a:xfrm>
            <a:off x="180650" y="4259837"/>
            <a:ext cx="29487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next step is to </a:t>
            </a:r>
            <a:r>
              <a:rPr lang="en" sz="1200" b="1" i="1">
                <a:solidFill>
                  <a:srgbClr val="FF0000"/>
                </a:solidFill>
              </a:rPr>
              <a:t>sift</a:t>
            </a:r>
            <a:r>
              <a:rPr lang="en" sz="1200">
                <a:solidFill>
                  <a:srgbClr val="FF0000"/>
                </a:solidFill>
              </a:rPr>
              <a:t> </a:t>
            </a:r>
            <a:r>
              <a:rPr lang="en" sz="1200"/>
              <a:t>the value swapped into index 0</a:t>
            </a:r>
            <a:r>
              <a:rPr lang="en" sz="1200" b="1" i="1"/>
              <a:t> </a:t>
            </a:r>
            <a:r>
              <a:rPr lang="en" sz="1200" b="1" i="1">
                <a:solidFill>
                  <a:srgbClr val="FF0000"/>
                </a:solidFill>
              </a:rPr>
              <a:t>down</a:t>
            </a:r>
            <a:r>
              <a:rPr lang="en" sz="1200">
                <a:solidFill>
                  <a:srgbClr val="FF0000"/>
                </a:solidFill>
              </a:rPr>
              <a:t> </a:t>
            </a:r>
            <a:r>
              <a:rPr lang="en" sz="1200"/>
              <a:t>into the correct position in the heap.</a:t>
            </a:r>
            <a:endParaRPr sz="12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995"/>
        <p:cNvGrpSpPr/>
        <p:nvPr/>
      </p:nvGrpSpPr>
      <p:grpSpPr>
        <a:xfrm>
          <a:off x="0" y="0"/>
          <a:ext cx="0" cy="0"/>
          <a:chOff x="0" y="0"/>
          <a:chExt cx="0" cy="0"/>
        </a:xfrm>
      </p:grpSpPr>
      <p:sp>
        <p:nvSpPr>
          <p:cNvPr id="1996" name="Google Shape;1996;p12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Removing From a Heap: Part 2</a:t>
            </a:r>
            <a:endParaRPr/>
          </a:p>
        </p:txBody>
      </p:sp>
      <p:sp>
        <p:nvSpPr>
          <p:cNvPr id="1997" name="Google Shape;1997;p123"/>
          <p:cNvSpPr txBox="1"/>
          <p:nvPr/>
        </p:nvSpPr>
        <p:spPr>
          <a:xfrm>
            <a:off x="346025" y="1512025"/>
            <a:ext cx="24420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Now the value in the root needs to be </a:t>
            </a:r>
            <a:r>
              <a:rPr lang="en" sz="1200" b="1" i="1">
                <a:solidFill>
                  <a:srgbClr val="FF0000"/>
                </a:solidFill>
              </a:rPr>
              <a:t>sifted down</a:t>
            </a:r>
            <a:r>
              <a:rPr lang="en" sz="1200"/>
              <a:t> to its proper position in the heap.</a:t>
            </a:r>
            <a:endParaRPr sz="1200"/>
          </a:p>
        </p:txBody>
      </p:sp>
      <p:sp>
        <p:nvSpPr>
          <p:cNvPr id="1998" name="Google Shape;1998;p123"/>
          <p:cNvSpPr txBox="1"/>
          <p:nvPr/>
        </p:nvSpPr>
        <p:spPr>
          <a:xfrm>
            <a:off x="3351025" y="1748400"/>
            <a:ext cx="24420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Compare its value to both children and, if it is not </a:t>
            </a:r>
            <a:r>
              <a:rPr lang="en" sz="1200" b="1" i="1">
                <a:solidFill>
                  <a:srgbClr val="FF0000"/>
                </a:solidFill>
              </a:rPr>
              <a:t>higher priority</a:t>
            </a:r>
            <a:r>
              <a:rPr lang="en" sz="1200"/>
              <a:t> than both, </a:t>
            </a:r>
            <a:r>
              <a:rPr lang="en" sz="1200" b="1" i="1">
                <a:solidFill>
                  <a:srgbClr val="FF0000"/>
                </a:solidFill>
              </a:rPr>
              <a:t>swap</a:t>
            </a:r>
            <a:r>
              <a:rPr lang="en" sz="1200">
                <a:solidFill>
                  <a:srgbClr val="FF0000"/>
                </a:solidFill>
              </a:rPr>
              <a:t> </a:t>
            </a:r>
            <a:r>
              <a:rPr lang="en" sz="1200"/>
              <a:t>it’s value with the </a:t>
            </a:r>
            <a:r>
              <a:rPr lang="en" sz="1200" b="1" i="1">
                <a:solidFill>
                  <a:srgbClr val="FF0000"/>
                </a:solidFill>
              </a:rPr>
              <a:t>higher priority</a:t>
            </a:r>
            <a:r>
              <a:rPr lang="en" sz="1200">
                <a:solidFill>
                  <a:srgbClr val="FF0000"/>
                </a:solidFill>
              </a:rPr>
              <a:t> </a:t>
            </a:r>
            <a:r>
              <a:rPr lang="en" sz="1200"/>
              <a:t>of the two.</a:t>
            </a:r>
            <a:endParaRPr sz="1200"/>
          </a:p>
        </p:txBody>
      </p:sp>
      <p:sp>
        <p:nvSpPr>
          <p:cNvPr id="1999" name="Google Shape;1999;p123"/>
          <p:cNvSpPr txBox="1"/>
          <p:nvPr/>
        </p:nvSpPr>
        <p:spPr>
          <a:xfrm>
            <a:off x="6296500" y="2460263"/>
            <a:ext cx="24420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b="1" i="1">
                <a:solidFill>
                  <a:srgbClr val="FF0000"/>
                </a:solidFill>
              </a:rPr>
              <a:t>Repeat </a:t>
            </a:r>
            <a:r>
              <a:rPr lang="en" sz="1200"/>
              <a:t>this until the value is lower priority than its parent. </a:t>
            </a:r>
            <a:endParaRPr sz="1200"/>
          </a:p>
        </p:txBody>
      </p:sp>
      <p:sp>
        <p:nvSpPr>
          <p:cNvPr id="2000" name="Google Shape;2000;p1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57</a:t>
            </a:fld>
            <a:endParaRPr/>
          </a:p>
        </p:txBody>
      </p:sp>
      <p:grpSp>
        <p:nvGrpSpPr>
          <p:cNvPr id="2001" name="Google Shape;2001;p123"/>
          <p:cNvGrpSpPr/>
          <p:nvPr/>
        </p:nvGrpSpPr>
        <p:grpSpPr>
          <a:xfrm>
            <a:off x="264934" y="2526422"/>
            <a:ext cx="2705359" cy="1698866"/>
            <a:chOff x="292744" y="2372395"/>
            <a:chExt cx="2989016" cy="1876993"/>
          </a:xfrm>
        </p:grpSpPr>
        <p:sp>
          <p:nvSpPr>
            <p:cNvPr id="2002" name="Google Shape;2002;p123"/>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123"/>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123"/>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123"/>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123"/>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123"/>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123"/>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123"/>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123"/>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66</a:t>
              </a:r>
              <a:endParaRPr sz="800"/>
            </a:p>
          </p:txBody>
        </p:sp>
        <p:sp>
          <p:nvSpPr>
            <p:cNvPr id="2011" name="Google Shape;2011;p123"/>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10</a:t>
              </a:r>
              <a:endParaRPr sz="800"/>
            </a:p>
          </p:txBody>
        </p:sp>
        <p:sp>
          <p:nvSpPr>
            <p:cNvPr id="2012" name="Google Shape;2012;p123"/>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21</a:t>
              </a:r>
              <a:endParaRPr sz="800"/>
            </a:p>
          </p:txBody>
        </p:sp>
        <p:sp>
          <p:nvSpPr>
            <p:cNvPr id="2013" name="Google Shape;2013;p123"/>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60</a:t>
              </a:r>
              <a:endParaRPr sz="800"/>
            </a:p>
          </p:txBody>
        </p:sp>
        <p:sp>
          <p:nvSpPr>
            <p:cNvPr id="2014" name="Google Shape;2014;p123"/>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50</a:t>
              </a:r>
              <a:endParaRPr sz="800"/>
            </a:p>
          </p:txBody>
        </p:sp>
        <p:sp>
          <p:nvSpPr>
            <p:cNvPr id="2015" name="Google Shape;2015;p123"/>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43</a:t>
              </a:r>
              <a:endParaRPr sz="800"/>
            </a:p>
          </p:txBody>
        </p:sp>
        <p:sp>
          <p:nvSpPr>
            <p:cNvPr id="2016" name="Google Shape;2016;p123"/>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24</a:t>
              </a:r>
              <a:endParaRPr sz="800"/>
            </a:p>
          </p:txBody>
        </p:sp>
        <p:sp>
          <p:nvSpPr>
            <p:cNvPr id="2017" name="Google Shape;2017;p123"/>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68</a:t>
              </a:r>
              <a:endParaRPr sz="800"/>
            </a:p>
          </p:txBody>
        </p:sp>
        <p:cxnSp>
          <p:nvCxnSpPr>
            <p:cNvPr id="2018" name="Google Shape;2018;p123"/>
            <p:cNvCxnSpPr>
              <a:stCxn id="2002" idx="2"/>
              <a:endCxn id="2004"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2019" name="Google Shape;2019;p123"/>
            <p:cNvCxnSpPr>
              <a:stCxn id="2002" idx="6"/>
              <a:endCxn id="2003"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2020" name="Google Shape;2020;p123"/>
            <p:cNvCxnSpPr>
              <a:stCxn id="2004" idx="6"/>
              <a:endCxn id="2006"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2021" name="Google Shape;2021;p123"/>
            <p:cNvCxnSpPr>
              <a:stCxn id="2004" idx="2"/>
              <a:endCxn id="2005"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2022" name="Google Shape;2022;p123"/>
            <p:cNvCxnSpPr>
              <a:stCxn id="2005" idx="2"/>
              <a:endCxn id="2009"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2023" name="Google Shape;2023;p123"/>
            <p:cNvCxnSpPr>
              <a:stCxn id="2003" idx="2"/>
              <a:endCxn id="2007"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2024" name="Google Shape;2024;p123"/>
            <p:cNvCxnSpPr>
              <a:stCxn id="2003" idx="6"/>
              <a:endCxn id="2008"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grpSp>
      <p:grpSp>
        <p:nvGrpSpPr>
          <p:cNvPr id="2025" name="Google Shape;2025;p123"/>
          <p:cNvGrpSpPr/>
          <p:nvPr/>
        </p:nvGrpSpPr>
        <p:grpSpPr>
          <a:xfrm>
            <a:off x="3219347" y="2983622"/>
            <a:ext cx="2705359" cy="1698866"/>
            <a:chOff x="292744" y="2372395"/>
            <a:chExt cx="2989016" cy="1876993"/>
          </a:xfrm>
        </p:grpSpPr>
        <p:sp>
          <p:nvSpPr>
            <p:cNvPr id="2026" name="Google Shape;2026;p123"/>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123"/>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123"/>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123"/>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123"/>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123"/>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123"/>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123"/>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123"/>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10</a:t>
              </a:r>
              <a:endParaRPr sz="800"/>
            </a:p>
          </p:txBody>
        </p:sp>
        <p:sp>
          <p:nvSpPr>
            <p:cNvPr id="2035" name="Google Shape;2035;p123"/>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66</a:t>
              </a:r>
              <a:endParaRPr sz="800"/>
            </a:p>
          </p:txBody>
        </p:sp>
        <p:sp>
          <p:nvSpPr>
            <p:cNvPr id="2036" name="Google Shape;2036;p123"/>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21</a:t>
              </a:r>
              <a:endParaRPr sz="800"/>
            </a:p>
          </p:txBody>
        </p:sp>
        <p:sp>
          <p:nvSpPr>
            <p:cNvPr id="2037" name="Google Shape;2037;p123"/>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60</a:t>
              </a:r>
              <a:endParaRPr sz="800"/>
            </a:p>
          </p:txBody>
        </p:sp>
        <p:sp>
          <p:nvSpPr>
            <p:cNvPr id="2038" name="Google Shape;2038;p123"/>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50</a:t>
              </a:r>
              <a:endParaRPr sz="800"/>
            </a:p>
          </p:txBody>
        </p:sp>
        <p:sp>
          <p:nvSpPr>
            <p:cNvPr id="2039" name="Google Shape;2039;p123"/>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43</a:t>
              </a:r>
              <a:endParaRPr sz="800"/>
            </a:p>
          </p:txBody>
        </p:sp>
        <p:sp>
          <p:nvSpPr>
            <p:cNvPr id="2040" name="Google Shape;2040;p123"/>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24</a:t>
              </a:r>
              <a:endParaRPr sz="800"/>
            </a:p>
          </p:txBody>
        </p:sp>
        <p:sp>
          <p:nvSpPr>
            <p:cNvPr id="2041" name="Google Shape;2041;p123"/>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68</a:t>
              </a:r>
              <a:endParaRPr sz="800"/>
            </a:p>
          </p:txBody>
        </p:sp>
        <p:cxnSp>
          <p:nvCxnSpPr>
            <p:cNvPr id="2042" name="Google Shape;2042;p123"/>
            <p:cNvCxnSpPr>
              <a:stCxn id="2026" idx="2"/>
              <a:endCxn id="2028"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2043" name="Google Shape;2043;p123"/>
            <p:cNvCxnSpPr>
              <a:stCxn id="2026" idx="6"/>
              <a:endCxn id="2027"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2044" name="Google Shape;2044;p123"/>
            <p:cNvCxnSpPr>
              <a:stCxn id="2028" idx="6"/>
              <a:endCxn id="2030"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2045" name="Google Shape;2045;p123"/>
            <p:cNvCxnSpPr>
              <a:stCxn id="2028" idx="2"/>
              <a:endCxn id="2029"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2046" name="Google Shape;2046;p123"/>
            <p:cNvCxnSpPr>
              <a:stCxn id="2029" idx="2"/>
              <a:endCxn id="2033"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2047" name="Google Shape;2047;p123"/>
            <p:cNvCxnSpPr>
              <a:stCxn id="2027" idx="2"/>
              <a:endCxn id="2031"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2048" name="Google Shape;2048;p123"/>
            <p:cNvCxnSpPr>
              <a:stCxn id="2027" idx="6"/>
              <a:endCxn id="2032"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grpSp>
      <p:cxnSp>
        <p:nvCxnSpPr>
          <p:cNvPr id="2049" name="Google Shape;2049;p123"/>
          <p:cNvCxnSpPr>
            <a:stCxn id="2034" idx="2"/>
            <a:endCxn id="2035" idx="3"/>
          </p:cNvCxnSpPr>
          <p:nvPr/>
        </p:nvCxnSpPr>
        <p:spPr>
          <a:xfrm rot="5400000">
            <a:off x="4315444" y="3249930"/>
            <a:ext cx="366000" cy="379500"/>
          </a:xfrm>
          <a:prstGeom prst="curvedConnector2">
            <a:avLst/>
          </a:prstGeom>
          <a:noFill/>
          <a:ln w="19050" cap="flat" cmpd="sng">
            <a:solidFill>
              <a:srgbClr val="E06666"/>
            </a:solidFill>
            <a:prstDash val="dash"/>
            <a:round/>
            <a:headEnd type="stealth" w="med" len="med"/>
            <a:tailEnd type="stealth" w="med" len="med"/>
          </a:ln>
        </p:spPr>
      </p:cxnSp>
      <p:grpSp>
        <p:nvGrpSpPr>
          <p:cNvPr id="2050" name="Google Shape;2050;p123"/>
          <p:cNvGrpSpPr/>
          <p:nvPr/>
        </p:nvGrpSpPr>
        <p:grpSpPr>
          <a:xfrm>
            <a:off x="6132334" y="3322620"/>
            <a:ext cx="2705359" cy="1698866"/>
            <a:chOff x="292744" y="2372395"/>
            <a:chExt cx="2989016" cy="1876993"/>
          </a:xfrm>
        </p:grpSpPr>
        <p:sp>
          <p:nvSpPr>
            <p:cNvPr id="2051" name="Google Shape;2051;p123"/>
            <p:cNvSpPr/>
            <p:nvPr/>
          </p:nvSpPr>
          <p:spPr>
            <a:xfrm>
              <a:off x="1760196" y="2372395"/>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123"/>
            <p:cNvSpPr/>
            <p:nvPr/>
          </p:nvSpPr>
          <p:spPr>
            <a:xfrm>
              <a:off x="2525602" y="2886183"/>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123"/>
            <p:cNvSpPr/>
            <p:nvPr/>
          </p:nvSpPr>
          <p:spPr>
            <a:xfrm>
              <a:off x="1176038" y="2922967"/>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123"/>
            <p:cNvSpPr/>
            <p:nvPr/>
          </p:nvSpPr>
          <p:spPr>
            <a:xfrm>
              <a:off x="72918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123"/>
            <p:cNvSpPr/>
            <p:nvPr/>
          </p:nvSpPr>
          <p:spPr>
            <a:xfrm>
              <a:off x="159127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123"/>
            <p:cNvSpPr/>
            <p:nvPr/>
          </p:nvSpPr>
          <p:spPr>
            <a:xfrm>
              <a:off x="2137403"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123"/>
            <p:cNvSpPr/>
            <p:nvPr/>
          </p:nvSpPr>
          <p:spPr>
            <a:xfrm>
              <a:off x="2961356" y="3475641"/>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123"/>
            <p:cNvSpPr/>
            <p:nvPr/>
          </p:nvSpPr>
          <p:spPr>
            <a:xfrm>
              <a:off x="302340" y="3938589"/>
              <a:ext cx="310800" cy="3108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123"/>
            <p:cNvSpPr txBox="1"/>
            <p:nvPr/>
          </p:nvSpPr>
          <p:spPr>
            <a:xfrm>
              <a:off x="1750600" y="2381584"/>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10</a:t>
              </a:r>
              <a:endParaRPr sz="800"/>
            </a:p>
          </p:txBody>
        </p:sp>
        <p:sp>
          <p:nvSpPr>
            <p:cNvPr id="2060" name="Google Shape;2060;p123"/>
            <p:cNvSpPr txBox="1"/>
            <p:nvPr/>
          </p:nvSpPr>
          <p:spPr>
            <a:xfrm>
              <a:off x="1166442" y="2932156"/>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50</a:t>
              </a:r>
              <a:endParaRPr sz="800"/>
            </a:p>
          </p:txBody>
        </p:sp>
        <p:sp>
          <p:nvSpPr>
            <p:cNvPr id="2061" name="Google Shape;2061;p123"/>
            <p:cNvSpPr txBox="1"/>
            <p:nvPr/>
          </p:nvSpPr>
          <p:spPr>
            <a:xfrm>
              <a:off x="2516006" y="2895372"/>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21</a:t>
              </a:r>
              <a:endParaRPr sz="800"/>
            </a:p>
          </p:txBody>
        </p:sp>
        <p:sp>
          <p:nvSpPr>
            <p:cNvPr id="2062" name="Google Shape;2062;p123"/>
            <p:cNvSpPr txBox="1"/>
            <p:nvPr/>
          </p:nvSpPr>
          <p:spPr>
            <a:xfrm>
              <a:off x="719587"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60</a:t>
              </a:r>
              <a:endParaRPr sz="800"/>
            </a:p>
          </p:txBody>
        </p:sp>
        <p:sp>
          <p:nvSpPr>
            <p:cNvPr id="2063" name="Google Shape;2063;p123"/>
            <p:cNvSpPr txBox="1"/>
            <p:nvPr/>
          </p:nvSpPr>
          <p:spPr>
            <a:xfrm>
              <a:off x="1586858"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66</a:t>
              </a:r>
              <a:endParaRPr sz="800"/>
            </a:p>
          </p:txBody>
        </p:sp>
        <p:sp>
          <p:nvSpPr>
            <p:cNvPr id="2064" name="Google Shape;2064;p123"/>
            <p:cNvSpPr txBox="1"/>
            <p:nvPr/>
          </p:nvSpPr>
          <p:spPr>
            <a:xfrm>
              <a:off x="2127041"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43</a:t>
              </a:r>
              <a:endParaRPr sz="800"/>
            </a:p>
          </p:txBody>
        </p:sp>
        <p:sp>
          <p:nvSpPr>
            <p:cNvPr id="2065" name="Google Shape;2065;p123"/>
            <p:cNvSpPr txBox="1"/>
            <p:nvPr/>
          </p:nvSpPr>
          <p:spPr>
            <a:xfrm>
              <a:off x="2951760" y="3484829"/>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24</a:t>
              </a:r>
              <a:endParaRPr sz="800"/>
            </a:p>
          </p:txBody>
        </p:sp>
        <p:sp>
          <p:nvSpPr>
            <p:cNvPr id="2066" name="Google Shape;2066;p123"/>
            <p:cNvSpPr txBox="1"/>
            <p:nvPr/>
          </p:nvSpPr>
          <p:spPr>
            <a:xfrm>
              <a:off x="292744" y="3947777"/>
              <a:ext cx="330000" cy="29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68</a:t>
              </a:r>
              <a:endParaRPr sz="800"/>
            </a:p>
          </p:txBody>
        </p:sp>
        <p:cxnSp>
          <p:nvCxnSpPr>
            <p:cNvPr id="2067" name="Google Shape;2067;p123"/>
            <p:cNvCxnSpPr>
              <a:stCxn id="2051" idx="2"/>
              <a:endCxn id="2053" idx="0"/>
            </p:cNvCxnSpPr>
            <p:nvPr/>
          </p:nvCxnSpPr>
          <p:spPr>
            <a:xfrm flipH="1">
              <a:off x="1331496" y="2527795"/>
              <a:ext cx="428700" cy="395100"/>
            </a:xfrm>
            <a:prstGeom prst="curvedConnector2">
              <a:avLst/>
            </a:prstGeom>
            <a:noFill/>
            <a:ln w="19050" cap="flat" cmpd="sng">
              <a:solidFill>
                <a:schemeClr val="accent2"/>
              </a:solidFill>
              <a:prstDash val="solid"/>
              <a:round/>
              <a:headEnd type="none" w="med" len="med"/>
              <a:tailEnd type="none" w="med" len="med"/>
            </a:ln>
          </p:spPr>
        </p:cxnSp>
        <p:cxnSp>
          <p:nvCxnSpPr>
            <p:cNvPr id="2068" name="Google Shape;2068;p123"/>
            <p:cNvCxnSpPr>
              <a:stCxn id="2051" idx="6"/>
              <a:endCxn id="2052" idx="0"/>
            </p:cNvCxnSpPr>
            <p:nvPr/>
          </p:nvCxnSpPr>
          <p:spPr>
            <a:xfrm>
              <a:off x="2070996" y="2527795"/>
              <a:ext cx="609900" cy="358500"/>
            </a:xfrm>
            <a:prstGeom prst="curvedConnector2">
              <a:avLst/>
            </a:prstGeom>
            <a:noFill/>
            <a:ln w="19050" cap="flat" cmpd="sng">
              <a:solidFill>
                <a:schemeClr val="accent2"/>
              </a:solidFill>
              <a:prstDash val="solid"/>
              <a:round/>
              <a:headEnd type="none" w="med" len="med"/>
              <a:tailEnd type="none" w="med" len="med"/>
            </a:ln>
          </p:spPr>
        </p:cxnSp>
        <p:cxnSp>
          <p:nvCxnSpPr>
            <p:cNvPr id="2069" name="Google Shape;2069;p123"/>
            <p:cNvCxnSpPr>
              <a:stCxn id="2053" idx="6"/>
              <a:endCxn id="2055" idx="0"/>
            </p:cNvCxnSpPr>
            <p:nvPr/>
          </p:nvCxnSpPr>
          <p:spPr>
            <a:xfrm>
              <a:off x="1486838" y="3078367"/>
              <a:ext cx="259800" cy="397200"/>
            </a:xfrm>
            <a:prstGeom prst="curvedConnector2">
              <a:avLst/>
            </a:prstGeom>
            <a:noFill/>
            <a:ln w="19050" cap="flat" cmpd="sng">
              <a:solidFill>
                <a:schemeClr val="accent2"/>
              </a:solidFill>
              <a:prstDash val="solid"/>
              <a:round/>
              <a:headEnd type="none" w="med" len="med"/>
              <a:tailEnd type="none" w="med" len="med"/>
            </a:ln>
          </p:spPr>
        </p:cxnSp>
        <p:cxnSp>
          <p:nvCxnSpPr>
            <p:cNvPr id="2070" name="Google Shape;2070;p123"/>
            <p:cNvCxnSpPr>
              <a:stCxn id="2053" idx="2"/>
              <a:endCxn id="2054" idx="0"/>
            </p:cNvCxnSpPr>
            <p:nvPr/>
          </p:nvCxnSpPr>
          <p:spPr>
            <a:xfrm flipH="1">
              <a:off x="884438" y="3078367"/>
              <a:ext cx="291600" cy="397200"/>
            </a:xfrm>
            <a:prstGeom prst="curvedConnector2">
              <a:avLst/>
            </a:prstGeom>
            <a:noFill/>
            <a:ln w="19050" cap="flat" cmpd="sng">
              <a:solidFill>
                <a:schemeClr val="accent2"/>
              </a:solidFill>
              <a:prstDash val="solid"/>
              <a:round/>
              <a:headEnd type="none" w="med" len="med"/>
              <a:tailEnd type="none" w="med" len="med"/>
            </a:ln>
          </p:spPr>
        </p:cxnSp>
        <p:cxnSp>
          <p:nvCxnSpPr>
            <p:cNvPr id="2071" name="Google Shape;2071;p123"/>
            <p:cNvCxnSpPr>
              <a:stCxn id="2054" idx="2"/>
              <a:endCxn id="2058" idx="0"/>
            </p:cNvCxnSpPr>
            <p:nvPr/>
          </p:nvCxnSpPr>
          <p:spPr>
            <a:xfrm flipH="1">
              <a:off x="457683" y="3631041"/>
              <a:ext cx="271500" cy="307500"/>
            </a:xfrm>
            <a:prstGeom prst="curvedConnector2">
              <a:avLst/>
            </a:prstGeom>
            <a:noFill/>
            <a:ln w="19050" cap="flat" cmpd="sng">
              <a:solidFill>
                <a:schemeClr val="accent2"/>
              </a:solidFill>
              <a:prstDash val="solid"/>
              <a:round/>
              <a:headEnd type="none" w="med" len="med"/>
              <a:tailEnd type="none" w="med" len="med"/>
            </a:ln>
          </p:spPr>
        </p:cxnSp>
        <p:cxnSp>
          <p:nvCxnSpPr>
            <p:cNvPr id="2072" name="Google Shape;2072;p123"/>
            <p:cNvCxnSpPr>
              <a:stCxn id="2052" idx="2"/>
              <a:endCxn id="2056" idx="0"/>
            </p:cNvCxnSpPr>
            <p:nvPr/>
          </p:nvCxnSpPr>
          <p:spPr>
            <a:xfrm flipH="1">
              <a:off x="2292802" y="3041583"/>
              <a:ext cx="232800" cy="434100"/>
            </a:xfrm>
            <a:prstGeom prst="curvedConnector2">
              <a:avLst/>
            </a:prstGeom>
            <a:noFill/>
            <a:ln w="19050" cap="flat" cmpd="sng">
              <a:solidFill>
                <a:schemeClr val="accent2"/>
              </a:solidFill>
              <a:prstDash val="solid"/>
              <a:round/>
              <a:headEnd type="none" w="med" len="med"/>
              <a:tailEnd type="none" w="med" len="med"/>
            </a:ln>
          </p:spPr>
        </p:cxnSp>
        <p:cxnSp>
          <p:nvCxnSpPr>
            <p:cNvPr id="2073" name="Google Shape;2073;p123"/>
            <p:cNvCxnSpPr>
              <a:stCxn id="2052" idx="6"/>
              <a:endCxn id="2057" idx="0"/>
            </p:cNvCxnSpPr>
            <p:nvPr/>
          </p:nvCxnSpPr>
          <p:spPr>
            <a:xfrm>
              <a:off x="2836402" y="3041583"/>
              <a:ext cx="280500" cy="434100"/>
            </a:xfrm>
            <a:prstGeom prst="curvedConnector2">
              <a:avLst/>
            </a:prstGeom>
            <a:noFill/>
            <a:ln w="19050" cap="flat" cmpd="sng">
              <a:solidFill>
                <a:schemeClr val="accent2"/>
              </a:solidFill>
              <a:prstDash val="solid"/>
              <a:round/>
              <a:headEnd type="none" w="med" len="med"/>
              <a:tailEnd type="none" w="med" len="med"/>
            </a:ln>
          </p:spPr>
        </p:cxnSp>
      </p:grpSp>
      <p:cxnSp>
        <p:nvCxnSpPr>
          <p:cNvPr id="2074" name="Google Shape;2074;p123"/>
          <p:cNvCxnSpPr>
            <a:stCxn id="2060" idx="2"/>
            <a:endCxn id="2063" idx="1"/>
          </p:cNvCxnSpPr>
          <p:nvPr/>
        </p:nvCxnSpPr>
        <p:spPr>
          <a:xfrm rot="-5400000" flipH="1">
            <a:off x="7004210" y="4162251"/>
            <a:ext cx="367800" cy="231300"/>
          </a:xfrm>
          <a:prstGeom prst="curvedConnector2">
            <a:avLst/>
          </a:prstGeom>
          <a:noFill/>
          <a:ln w="19050" cap="flat" cmpd="sng">
            <a:solidFill>
              <a:srgbClr val="E06666"/>
            </a:solidFill>
            <a:prstDash val="dash"/>
            <a:round/>
            <a:headEnd type="stealth"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97"/>
                                        </p:tgtEl>
                                        <p:attrNameLst>
                                          <p:attrName>style.visibility</p:attrName>
                                        </p:attrNameLst>
                                      </p:cBhvr>
                                      <p:to>
                                        <p:strVal val="visible"/>
                                      </p:to>
                                    </p:set>
                                    <p:animEffect transition="in" filter="fade">
                                      <p:cBhvr>
                                        <p:cTn id="7" dur="1000"/>
                                        <p:tgtEl>
                                          <p:spTgt spid="1997"/>
                                        </p:tgtEl>
                                      </p:cBhvr>
                                    </p:animEffect>
                                  </p:childTnLst>
                                </p:cTn>
                              </p:par>
                              <p:par>
                                <p:cTn id="8" presetID="10" presetClass="entr" presetSubtype="0" fill="hold" nodeType="withEffect">
                                  <p:stCondLst>
                                    <p:cond delay="0"/>
                                  </p:stCondLst>
                                  <p:childTnLst>
                                    <p:set>
                                      <p:cBhvr>
                                        <p:cTn id="9" dur="1" fill="hold">
                                          <p:stCondLst>
                                            <p:cond delay="0"/>
                                          </p:stCondLst>
                                        </p:cTn>
                                        <p:tgtEl>
                                          <p:spTgt spid="2001"/>
                                        </p:tgtEl>
                                        <p:attrNameLst>
                                          <p:attrName>style.visibility</p:attrName>
                                        </p:attrNameLst>
                                      </p:cBhvr>
                                      <p:to>
                                        <p:strVal val="visible"/>
                                      </p:to>
                                    </p:set>
                                    <p:animEffect transition="in" filter="fade">
                                      <p:cBhvr>
                                        <p:cTn id="10" dur="1000"/>
                                        <p:tgtEl>
                                          <p:spTgt spid="200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98"/>
                                        </p:tgtEl>
                                        <p:attrNameLst>
                                          <p:attrName>style.visibility</p:attrName>
                                        </p:attrNameLst>
                                      </p:cBhvr>
                                      <p:to>
                                        <p:strVal val="visible"/>
                                      </p:to>
                                    </p:set>
                                    <p:animEffect transition="in" filter="fade">
                                      <p:cBhvr>
                                        <p:cTn id="15" dur="1000"/>
                                        <p:tgtEl>
                                          <p:spTgt spid="1998"/>
                                        </p:tgtEl>
                                      </p:cBhvr>
                                    </p:animEffect>
                                  </p:childTnLst>
                                </p:cTn>
                              </p:par>
                              <p:par>
                                <p:cTn id="16" presetID="10" presetClass="entr" presetSubtype="0" fill="hold" nodeType="withEffect">
                                  <p:stCondLst>
                                    <p:cond delay="0"/>
                                  </p:stCondLst>
                                  <p:childTnLst>
                                    <p:set>
                                      <p:cBhvr>
                                        <p:cTn id="17" dur="1" fill="hold">
                                          <p:stCondLst>
                                            <p:cond delay="0"/>
                                          </p:stCondLst>
                                        </p:cTn>
                                        <p:tgtEl>
                                          <p:spTgt spid="2025"/>
                                        </p:tgtEl>
                                        <p:attrNameLst>
                                          <p:attrName>style.visibility</p:attrName>
                                        </p:attrNameLst>
                                      </p:cBhvr>
                                      <p:to>
                                        <p:strVal val="visible"/>
                                      </p:to>
                                    </p:set>
                                    <p:animEffect transition="in" filter="fade">
                                      <p:cBhvr>
                                        <p:cTn id="18" dur="1000"/>
                                        <p:tgtEl>
                                          <p:spTgt spid="2025"/>
                                        </p:tgtEl>
                                      </p:cBhvr>
                                    </p:animEffect>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2049"/>
                                        </p:tgtEl>
                                        <p:attrNameLst>
                                          <p:attrName>style.visibility</p:attrName>
                                        </p:attrNameLst>
                                      </p:cBhvr>
                                      <p:to>
                                        <p:strVal val="visible"/>
                                      </p:to>
                                    </p:set>
                                    <p:animEffect transition="in" filter="fade">
                                      <p:cBhvr>
                                        <p:cTn id="22" dur="1000"/>
                                        <p:tgtEl>
                                          <p:spTgt spid="204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99"/>
                                        </p:tgtEl>
                                        <p:attrNameLst>
                                          <p:attrName>style.visibility</p:attrName>
                                        </p:attrNameLst>
                                      </p:cBhvr>
                                      <p:to>
                                        <p:strVal val="visible"/>
                                      </p:to>
                                    </p:set>
                                    <p:animEffect transition="in" filter="fade">
                                      <p:cBhvr>
                                        <p:cTn id="27" dur="1000"/>
                                        <p:tgtEl>
                                          <p:spTgt spid="1999"/>
                                        </p:tgtEl>
                                      </p:cBhvr>
                                    </p:animEffect>
                                  </p:childTnLst>
                                </p:cTn>
                              </p:par>
                              <p:par>
                                <p:cTn id="28" presetID="10" presetClass="entr" presetSubtype="0" fill="hold" nodeType="withEffect">
                                  <p:stCondLst>
                                    <p:cond delay="0"/>
                                  </p:stCondLst>
                                  <p:childTnLst>
                                    <p:set>
                                      <p:cBhvr>
                                        <p:cTn id="29" dur="1" fill="hold">
                                          <p:stCondLst>
                                            <p:cond delay="0"/>
                                          </p:stCondLst>
                                        </p:cTn>
                                        <p:tgtEl>
                                          <p:spTgt spid="2050"/>
                                        </p:tgtEl>
                                        <p:attrNameLst>
                                          <p:attrName>style.visibility</p:attrName>
                                        </p:attrNameLst>
                                      </p:cBhvr>
                                      <p:to>
                                        <p:strVal val="visible"/>
                                      </p:to>
                                    </p:set>
                                    <p:animEffect transition="in" filter="fade">
                                      <p:cBhvr>
                                        <p:cTn id="30" dur="1000"/>
                                        <p:tgtEl>
                                          <p:spTgt spid="2050"/>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2074"/>
                                        </p:tgtEl>
                                        <p:attrNameLst>
                                          <p:attrName>style.visibility</p:attrName>
                                        </p:attrNameLst>
                                      </p:cBhvr>
                                      <p:to>
                                        <p:strVal val="visible"/>
                                      </p:to>
                                    </p:set>
                                    <p:animEffect transition="in" filter="fade">
                                      <p:cBhvr>
                                        <p:cTn id="34" dur="1000"/>
                                        <p:tgtEl>
                                          <p:spTgt spid="2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078"/>
        <p:cNvGrpSpPr/>
        <p:nvPr/>
      </p:nvGrpSpPr>
      <p:grpSpPr>
        <a:xfrm>
          <a:off x="0" y="0"/>
          <a:ext cx="0" cy="0"/>
          <a:chOff x="0" y="0"/>
          <a:chExt cx="0" cy="0"/>
        </a:xfrm>
      </p:grpSpPr>
      <p:sp>
        <p:nvSpPr>
          <p:cNvPr id="2079" name="Google Shape;2079;p124"/>
          <p:cNvSpPr txBox="1">
            <a:spLocks noGrp="1"/>
          </p:cNvSpPr>
          <p:nvPr>
            <p:ph type="body" idx="1"/>
          </p:nvPr>
        </p:nvSpPr>
        <p:spPr>
          <a:xfrm>
            <a:off x="65250" y="6554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At this point, the value that </a:t>
            </a:r>
            <a:r>
              <a:rPr lang="en" i="1"/>
              <a:t>was</a:t>
            </a:r>
            <a:r>
              <a:rPr lang="en"/>
              <a:t> in the rightmost bottom node in the tree is now at the root, meaning that it will need to be </a:t>
            </a:r>
            <a:r>
              <a:rPr lang="en" i="1"/>
              <a:t>sifted down</a:t>
            </a:r>
            <a:r>
              <a:rPr lang="en"/>
              <a:t> until it is in the correct priority position. This is more complicated than sifting up because it will need to be compared to </a:t>
            </a:r>
            <a:r>
              <a:rPr lang="en" i="1"/>
              <a:t>both</a:t>
            </a:r>
            <a:r>
              <a:rPr lang="en"/>
              <a:t> of its children and swapped with the higher priority of the two!</a:t>
            </a:r>
            <a:endParaRPr/>
          </a:p>
        </p:txBody>
      </p:sp>
      <p:sp>
        <p:nvSpPr>
          <p:cNvPr id="2080" name="Google Shape;2080;p1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58</a:t>
            </a:fld>
            <a:endParaRPr/>
          </a:p>
        </p:txBody>
      </p:sp>
      <p:sp>
        <p:nvSpPr>
          <p:cNvPr id="2081" name="Google Shape;2081;p124"/>
          <p:cNvSpPr txBox="1">
            <a:spLocks noGrp="1"/>
          </p:cNvSpPr>
          <p:nvPr>
            <p:ph type="body" idx="2"/>
          </p:nvPr>
        </p:nvSpPr>
        <p:spPr>
          <a:xfrm>
            <a:off x="3193175" y="1860725"/>
            <a:ext cx="5748000" cy="3186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The sifting algorithm is a little more complex than sifting up.</a:t>
            </a:r>
            <a:endParaRPr dirty="0"/>
          </a:p>
          <a:p>
            <a:pPr marL="914400" lvl="1" indent="-298450" algn="l" rtl="0">
              <a:spcBef>
                <a:spcPts val="0"/>
              </a:spcBef>
              <a:spcAft>
                <a:spcPts val="0"/>
              </a:spcAft>
              <a:buSzPts val="1100"/>
              <a:buChar char="○"/>
            </a:pPr>
            <a:r>
              <a:rPr lang="en" dirty="0"/>
              <a:t>The parent value needs to be compared with </a:t>
            </a:r>
            <a:r>
              <a:rPr lang="en" b="1" i="1" dirty="0">
                <a:solidFill>
                  <a:srgbClr val="FF0000"/>
                </a:solidFill>
              </a:rPr>
              <a:t>both</a:t>
            </a:r>
            <a:r>
              <a:rPr lang="en" dirty="0">
                <a:solidFill>
                  <a:srgbClr val="FF0000"/>
                </a:solidFill>
              </a:rPr>
              <a:t> </a:t>
            </a:r>
            <a:r>
              <a:rPr lang="en" dirty="0"/>
              <a:t>of its children to decide which one to swap with (if either).</a:t>
            </a:r>
            <a:endParaRPr dirty="0"/>
          </a:p>
          <a:p>
            <a:pPr marL="914400" lvl="1" indent="-298450" algn="l" rtl="0">
              <a:spcBef>
                <a:spcPts val="0"/>
              </a:spcBef>
              <a:spcAft>
                <a:spcPts val="0"/>
              </a:spcAft>
              <a:buSzPts val="1100"/>
              <a:buChar char="○"/>
            </a:pPr>
            <a:r>
              <a:rPr lang="en" dirty="0"/>
              <a:t>We also need to make sure not to swap into an index that is </a:t>
            </a:r>
            <a:r>
              <a:rPr lang="en" b="1" i="1" dirty="0">
                <a:solidFill>
                  <a:srgbClr val="FF0000"/>
                </a:solidFill>
              </a:rPr>
              <a:t>outside </a:t>
            </a:r>
            <a:r>
              <a:rPr lang="en" dirty="0"/>
              <a:t>of the heap (e.g. into an unused part of the array).</a:t>
            </a:r>
            <a:endParaRPr dirty="0"/>
          </a:p>
          <a:p>
            <a:pPr marL="457200" lvl="0" indent="-311150" algn="l" rtl="0">
              <a:spcBef>
                <a:spcPts val="0"/>
              </a:spcBef>
              <a:spcAft>
                <a:spcPts val="0"/>
              </a:spcAft>
              <a:buSzPts val="1300"/>
              <a:buChar char="●"/>
            </a:pPr>
            <a:r>
              <a:rPr lang="en" dirty="0"/>
              <a:t>Open </a:t>
            </a:r>
            <a:r>
              <a:rPr lang="en" dirty="0">
                <a:latin typeface="Courier New"/>
                <a:ea typeface="Courier New"/>
                <a:cs typeface="Courier New"/>
                <a:sym typeface="Courier New"/>
              </a:rPr>
              <a:t>ArrayHeap</a:t>
            </a:r>
            <a:r>
              <a:rPr lang="en" dirty="0"/>
              <a:t> and navigate to the remove method. Implement the </a:t>
            </a:r>
            <a:r>
              <a:rPr lang="en" b="1" i="1" dirty="0">
                <a:solidFill>
                  <a:srgbClr val="FF0000"/>
                </a:solidFill>
              </a:rPr>
              <a:t>sift down</a:t>
            </a:r>
            <a:r>
              <a:rPr lang="en" dirty="0">
                <a:solidFill>
                  <a:srgbClr val="FF0000"/>
                </a:solidFill>
              </a:rPr>
              <a:t> </a:t>
            </a:r>
            <a:r>
              <a:rPr lang="en" dirty="0"/>
              <a:t>algorithm before the method returns.</a:t>
            </a:r>
            <a:endParaRPr dirty="0"/>
          </a:p>
          <a:p>
            <a:pPr marL="914400" lvl="1" indent="-298450" algn="l" rtl="0">
              <a:spcBef>
                <a:spcPts val="0"/>
              </a:spcBef>
              <a:spcAft>
                <a:spcPts val="0"/>
              </a:spcAft>
              <a:buSzPts val="1100"/>
              <a:buChar char="○"/>
            </a:pPr>
            <a:r>
              <a:rPr lang="en" dirty="0"/>
              <a:t>Start the </a:t>
            </a:r>
            <a:r>
              <a:rPr lang="en" dirty="0">
                <a:latin typeface="Courier New"/>
                <a:ea typeface="Courier New"/>
                <a:cs typeface="Courier New"/>
                <a:sym typeface="Courier New"/>
              </a:rPr>
              <a:t>parent</a:t>
            </a:r>
            <a:r>
              <a:rPr lang="en" dirty="0"/>
              <a:t> at index at </a:t>
            </a:r>
            <a:r>
              <a:rPr lang="en" dirty="0">
                <a:latin typeface="Courier New"/>
                <a:ea typeface="Courier New"/>
                <a:cs typeface="Courier New"/>
                <a:sym typeface="Courier New"/>
              </a:rPr>
              <a:t>0</a:t>
            </a:r>
            <a:r>
              <a:rPr lang="en" dirty="0"/>
              <a:t> (the value you swapped).</a:t>
            </a:r>
            <a:endParaRPr dirty="0"/>
          </a:p>
          <a:p>
            <a:pPr marL="914400" lvl="1" indent="-298450" algn="l" rtl="0">
              <a:spcBef>
                <a:spcPts val="0"/>
              </a:spcBef>
              <a:spcAft>
                <a:spcPts val="0"/>
              </a:spcAft>
              <a:buSzPts val="1100"/>
              <a:buChar char="○"/>
            </a:pPr>
            <a:r>
              <a:rPr lang="en" dirty="0"/>
              <a:t>As long as </a:t>
            </a:r>
            <a:r>
              <a:rPr lang="en" dirty="0">
                <a:latin typeface="Courier New"/>
                <a:ea typeface="Courier New"/>
                <a:cs typeface="Courier New"/>
                <a:sym typeface="Courier New"/>
              </a:rPr>
              <a:t>parent</a:t>
            </a:r>
            <a:r>
              <a:rPr lang="en" dirty="0"/>
              <a:t> is less than </a:t>
            </a:r>
            <a:r>
              <a:rPr lang="en" dirty="0">
                <a:latin typeface="Courier New"/>
                <a:ea typeface="Courier New"/>
                <a:cs typeface="Courier New"/>
                <a:sym typeface="Courier New"/>
              </a:rPr>
              <a:t>size</a:t>
            </a:r>
            <a:r>
              <a:rPr lang="en" dirty="0"/>
              <a:t>:</a:t>
            </a:r>
            <a:endParaRPr dirty="0"/>
          </a:p>
          <a:p>
            <a:pPr marL="1371600" lvl="2" indent="-298450" algn="l" rtl="0">
              <a:spcBef>
                <a:spcPts val="0"/>
              </a:spcBef>
              <a:spcAft>
                <a:spcPts val="0"/>
              </a:spcAft>
              <a:buSzPts val="1100"/>
              <a:buChar char="■"/>
            </a:pPr>
            <a:r>
              <a:rPr lang="en" dirty="0"/>
              <a:t>Compare the parent to </a:t>
            </a:r>
            <a:r>
              <a:rPr lang="en" b="1" i="1" dirty="0">
                <a:solidFill>
                  <a:srgbClr val="FF0000"/>
                </a:solidFill>
              </a:rPr>
              <a:t>both</a:t>
            </a:r>
            <a:r>
              <a:rPr lang="en" dirty="0">
                <a:solidFill>
                  <a:srgbClr val="FF0000"/>
                </a:solidFill>
              </a:rPr>
              <a:t> </a:t>
            </a:r>
            <a:r>
              <a:rPr lang="en" dirty="0"/>
              <a:t>of its children (i.e. </a:t>
            </a:r>
            <a:r>
              <a:rPr lang="en" b="1" i="1" dirty="0">
                <a:solidFill>
                  <a:srgbClr val="FF0000"/>
                </a:solidFill>
              </a:rPr>
              <a:t>2k+1</a:t>
            </a:r>
            <a:r>
              <a:rPr lang="en" dirty="0"/>
              <a:t>, </a:t>
            </a:r>
            <a:r>
              <a:rPr lang="en" b="1" i="1" dirty="0">
                <a:solidFill>
                  <a:srgbClr val="FF0000"/>
                </a:solidFill>
              </a:rPr>
              <a:t>2k+2</a:t>
            </a:r>
            <a:r>
              <a:rPr lang="en" dirty="0"/>
              <a:t>).</a:t>
            </a:r>
            <a:endParaRPr dirty="0"/>
          </a:p>
          <a:p>
            <a:pPr marL="1828800" lvl="3" indent="-298450" algn="l" rtl="0">
              <a:spcBef>
                <a:spcPts val="0"/>
              </a:spcBef>
              <a:spcAft>
                <a:spcPts val="0"/>
              </a:spcAft>
              <a:buSzPts val="1100"/>
              <a:buChar char="●"/>
            </a:pPr>
            <a:r>
              <a:rPr lang="en" dirty="0"/>
              <a:t>Make sure that they exist!</a:t>
            </a:r>
            <a:endParaRPr dirty="0"/>
          </a:p>
          <a:p>
            <a:pPr marL="1371600" lvl="2" indent="-298450" algn="l" rtl="0">
              <a:spcBef>
                <a:spcPts val="0"/>
              </a:spcBef>
              <a:spcAft>
                <a:spcPts val="0"/>
              </a:spcAft>
              <a:buSzPts val="1100"/>
              <a:buChar char="■"/>
            </a:pPr>
            <a:r>
              <a:rPr lang="en" dirty="0"/>
              <a:t>If the </a:t>
            </a:r>
            <a:r>
              <a:rPr lang="en" dirty="0">
                <a:latin typeface="Courier New"/>
                <a:ea typeface="Courier New"/>
                <a:cs typeface="Courier New"/>
                <a:sym typeface="Courier New"/>
              </a:rPr>
              <a:t>parent</a:t>
            </a:r>
            <a:r>
              <a:rPr lang="en" dirty="0"/>
              <a:t> is not higher priority than </a:t>
            </a:r>
            <a:r>
              <a:rPr lang="en" b="1" i="1" dirty="0">
                <a:solidFill>
                  <a:srgbClr val="FF0000"/>
                </a:solidFill>
              </a:rPr>
              <a:t>both</a:t>
            </a:r>
            <a:r>
              <a:rPr lang="en" dirty="0"/>
              <a:t>:</a:t>
            </a:r>
            <a:endParaRPr dirty="0"/>
          </a:p>
          <a:p>
            <a:pPr marL="1828800" lvl="3" indent="-298450" algn="l" rtl="0">
              <a:spcBef>
                <a:spcPts val="0"/>
              </a:spcBef>
              <a:spcAft>
                <a:spcPts val="0"/>
              </a:spcAft>
              <a:buSzPts val="1100"/>
              <a:buChar char="●"/>
            </a:pPr>
            <a:r>
              <a:rPr lang="en" dirty="0"/>
              <a:t>Swap it with the higher priority of the two.</a:t>
            </a:r>
            <a:endParaRPr dirty="0"/>
          </a:p>
          <a:p>
            <a:pPr marL="1828800" lvl="3" indent="-298450" algn="l" rtl="0">
              <a:spcBef>
                <a:spcPts val="0"/>
              </a:spcBef>
              <a:spcAft>
                <a:spcPts val="0"/>
              </a:spcAft>
              <a:buSzPts val="1100"/>
              <a:buChar char="●"/>
            </a:pPr>
            <a:r>
              <a:rPr lang="en" dirty="0"/>
              <a:t>Set parent to the swap index.</a:t>
            </a:r>
            <a:endParaRPr dirty="0"/>
          </a:p>
          <a:p>
            <a:pPr marL="1371600" lvl="2" indent="-298450" algn="l" rtl="0">
              <a:spcBef>
                <a:spcPts val="0"/>
              </a:spcBef>
              <a:spcAft>
                <a:spcPts val="0"/>
              </a:spcAft>
              <a:buSzPts val="1100"/>
              <a:buChar char="■"/>
            </a:pPr>
            <a:r>
              <a:rPr lang="en" dirty="0"/>
              <a:t>Otherwise, break.</a:t>
            </a:r>
            <a:endParaRPr dirty="0"/>
          </a:p>
        </p:txBody>
      </p:sp>
      <p:sp>
        <p:nvSpPr>
          <p:cNvPr id="2082" name="Google Shape;2082;p12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Sifting Down</a:t>
            </a:r>
            <a:endParaRPr/>
          </a:p>
        </p:txBody>
      </p:sp>
      <p:sp>
        <p:nvSpPr>
          <p:cNvPr id="2083" name="Google Shape;2083;p12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6.20</a:t>
            </a:r>
            <a:endParaRPr/>
          </a:p>
        </p:txBody>
      </p:sp>
      <p:sp>
        <p:nvSpPr>
          <p:cNvPr id="2084" name="Google Shape;2084;p124"/>
          <p:cNvSpPr/>
          <p:nvPr/>
        </p:nvSpPr>
        <p:spPr>
          <a:xfrm>
            <a:off x="1602426" y="2103420"/>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124"/>
          <p:cNvSpPr/>
          <p:nvPr/>
        </p:nvSpPr>
        <p:spPr>
          <a:xfrm>
            <a:off x="2295194" y="2492250"/>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124"/>
          <p:cNvSpPr/>
          <p:nvPr/>
        </p:nvSpPr>
        <p:spPr>
          <a:xfrm>
            <a:off x="1073704" y="2525543"/>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124"/>
          <p:cNvSpPr/>
          <p:nvPr/>
        </p:nvSpPr>
        <p:spPr>
          <a:xfrm>
            <a:off x="669255" y="3101968"/>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124"/>
          <p:cNvSpPr/>
          <p:nvPr/>
        </p:nvSpPr>
        <p:spPr>
          <a:xfrm>
            <a:off x="1449536" y="3025768"/>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124"/>
          <p:cNvSpPr/>
          <p:nvPr/>
        </p:nvSpPr>
        <p:spPr>
          <a:xfrm>
            <a:off x="1943836" y="3025768"/>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124"/>
          <p:cNvSpPr/>
          <p:nvPr/>
        </p:nvSpPr>
        <p:spPr>
          <a:xfrm>
            <a:off x="2689595" y="3101968"/>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124"/>
          <p:cNvSpPr/>
          <p:nvPr/>
        </p:nvSpPr>
        <p:spPr>
          <a:xfrm>
            <a:off x="282920" y="3520982"/>
            <a:ext cx="281400" cy="281400"/>
          </a:xfrm>
          <a:prstGeom prst="ellipse">
            <a:avLst/>
          </a:prstGeom>
          <a:solidFill>
            <a:srgbClr val="F9CB9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124"/>
          <p:cNvSpPr txBox="1"/>
          <p:nvPr/>
        </p:nvSpPr>
        <p:spPr>
          <a:xfrm>
            <a:off x="1593740" y="2111737"/>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10</a:t>
            </a:r>
            <a:endParaRPr sz="800"/>
          </a:p>
        </p:txBody>
      </p:sp>
      <p:sp>
        <p:nvSpPr>
          <p:cNvPr id="2093" name="Google Shape;2093;p124"/>
          <p:cNvSpPr txBox="1"/>
          <p:nvPr/>
        </p:nvSpPr>
        <p:spPr>
          <a:xfrm>
            <a:off x="1065018" y="2533860"/>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b="1">
                <a:solidFill>
                  <a:srgbClr val="FF0000"/>
                </a:solidFill>
              </a:rPr>
              <a:t>66</a:t>
            </a:r>
            <a:endParaRPr sz="800" b="1">
              <a:solidFill>
                <a:srgbClr val="FF0000"/>
              </a:solidFill>
            </a:endParaRPr>
          </a:p>
        </p:txBody>
      </p:sp>
      <p:sp>
        <p:nvSpPr>
          <p:cNvPr id="2094" name="Google Shape;2094;p124"/>
          <p:cNvSpPr txBox="1"/>
          <p:nvPr/>
        </p:nvSpPr>
        <p:spPr>
          <a:xfrm>
            <a:off x="2286509" y="2500567"/>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21</a:t>
            </a:r>
            <a:endParaRPr sz="800"/>
          </a:p>
        </p:txBody>
      </p:sp>
      <p:sp>
        <p:nvSpPr>
          <p:cNvPr id="2095" name="Google Shape;2095;p124"/>
          <p:cNvSpPr txBox="1"/>
          <p:nvPr/>
        </p:nvSpPr>
        <p:spPr>
          <a:xfrm>
            <a:off x="660570" y="3110284"/>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60</a:t>
            </a:r>
            <a:endParaRPr sz="800"/>
          </a:p>
        </p:txBody>
      </p:sp>
      <p:sp>
        <p:nvSpPr>
          <p:cNvPr id="2096" name="Google Shape;2096;p124"/>
          <p:cNvSpPr txBox="1"/>
          <p:nvPr/>
        </p:nvSpPr>
        <p:spPr>
          <a:xfrm>
            <a:off x="1445538" y="3034084"/>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50</a:t>
            </a:r>
            <a:endParaRPr sz="800"/>
          </a:p>
        </p:txBody>
      </p:sp>
      <p:sp>
        <p:nvSpPr>
          <p:cNvPr id="2097" name="Google Shape;2097;p124"/>
          <p:cNvSpPr txBox="1"/>
          <p:nvPr/>
        </p:nvSpPr>
        <p:spPr>
          <a:xfrm>
            <a:off x="1934457" y="3034084"/>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43</a:t>
            </a:r>
            <a:endParaRPr sz="800"/>
          </a:p>
        </p:txBody>
      </p:sp>
      <p:sp>
        <p:nvSpPr>
          <p:cNvPr id="2098" name="Google Shape;2098;p124"/>
          <p:cNvSpPr txBox="1"/>
          <p:nvPr/>
        </p:nvSpPr>
        <p:spPr>
          <a:xfrm>
            <a:off x="2680910" y="3110284"/>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24</a:t>
            </a:r>
            <a:endParaRPr sz="800"/>
          </a:p>
        </p:txBody>
      </p:sp>
      <p:sp>
        <p:nvSpPr>
          <p:cNvPr id="2099" name="Google Shape;2099;p124"/>
          <p:cNvSpPr txBox="1"/>
          <p:nvPr/>
        </p:nvSpPr>
        <p:spPr>
          <a:xfrm>
            <a:off x="274234" y="3529299"/>
            <a:ext cx="298800" cy="26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68</a:t>
            </a:r>
            <a:endParaRPr sz="800"/>
          </a:p>
        </p:txBody>
      </p:sp>
      <p:cxnSp>
        <p:nvCxnSpPr>
          <p:cNvPr id="2100" name="Google Shape;2100;p124"/>
          <p:cNvCxnSpPr>
            <a:stCxn id="2084" idx="2"/>
            <a:endCxn id="2086" idx="0"/>
          </p:cNvCxnSpPr>
          <p:nvPr/>
        </p:nvCxnSpPr>
        <p:spPr>
          <a:xfrm flipH="1">
            <a:off x="1214526" y="2244120"/>
            <a:ext cx="387900" cy="281400"/>
          </a:xfrm>
          <a:prstGeom prst="curvedConnector2">
            <a:avLst/>
          </a:prstGeom>
          <a:noFill/>
          <a:ln w="19050" cap="flat" cmpd="sng">
            <a:solidFill>
              <a:schemeClr val="accent2"/>
            </a:solidFill>
            <a:prstDash val="solid"/>
            <a:round/>
            <a:headEnd type="none" w="med" len="med"/>
            <a:tailEnd type="none" w="med" len="med"/>
          </a:ln>
        </p:spPr>
      </p:cxnSp>
      <p:cxnSp>
        <p:nvCxnSpPr>
          <p:cNvPr id="2101" name="Google Shape;2101;p124"/>
          <p:cNvCxnSpPr>
            <a:stCxn id="2084" idx="6"/>
            <a:endCxn id="2085" idx="0"/>
          </p:cNvCxnSpPr>
          <p:nvPr/>
        </p:nvCxnSpPr>
        <p:spPr>
          <a:xfrm>
            <a:off x="1883826" y="2244120"/>
            <a:ext cx="552000" cy="248100"/>
          </a:xfrm>
          <a:prstGeom prst="curvedConnector2">
            <a:avLst/>
          </a:prstGeom>
          <a:noFill/>
          <a:ln w="19050" cap="flat" cmpd="sng">
            <a:solidFill>
              <a:schemeClr val="accent2"/>
            </a:solidFill>
            <a:prstDash val="solid"/>
            <a:round/>
            <a:headEnd type="none" w="med" len="med"/>
            <a:tailEnd type="none" w="med" len="med"/>
          </a:ln>
        </p:spPr>
      </p:cxnSp>
      <p:cxnSp>
        <p:nvCxnSpPr>
          <p:cNvPr id="2102" name="Google Shape;2102;p124"/>
          <p:cNvCxnSpPr>
            <a:stCxn id="2086" idx="6"/>
            <a:endCxn id="2088" idx="0"/>
          </p:cNvCxnSpPr>
          <p:nvPr/>
        </p:nvCxnSpPr>
        <p:spPr>
          <a:xfrm>
            <a:off x="1355104" y="2666243"/>
            <a:ext cx="235200" cy="359400"/>
          </a:xfrm>
          <a:prstGeom prst="curvedConnector2">
            <a:avLst/>
          </a:prstGeom>
          <a:noFill/>
          <a:ln w="19050" cap="flat" cmpd="sng">
            <a:solidFill>
              <a:schemeClr val="accent2"/>
            </a:solidFill>
            <a:prstDash val="solid"/>
            <a:round/>
            <a:headEnd type="none" w="med" len="med"/>
            <a:tailEnd type="none" w="med" len="med"/>
          </a:ln>
        </p:spPr>
      </p:cxnSp>
      <p:cxnSp>
        <p:nvCxnSpPr>
          <p:cNvPr id="2103" name="Google Shape;2103;p124"/>
          <p:cNvCxnSpPr>
            <a:stCxn id="2086" idx="2"/>
            <a:endCxn id="2087" idx="0"/>
          </p:cNvCxnSpPr>
          <p:nvPr/>
        </p:nvCxnSpPr>
        <p:spPr>
          <a:xfrm flipH="1">
            <a:off x="810004" y="2666243"/>
            <a:ext cx="263700" cy="435600"/>
          </a:xfrm>
          <a:prstGeom prst="curvedConnector2">
            <a:avLst/>
          </a:prstGeom>
          <a:noFill/>
          <a:ln w="19050" cap="flat" cmpd="sng">
            <a:solidFill>
              <a:schemeClr val="accent2"/>
            </a:solidFill>
            <a:prstDash val="solid"/>
            <a:round/>
            <a:headEnd type="none" w="med" len="med"/>
            <a:tailEnd type="none" w="med" len="med"/>
          </a:ln>
        </p:spPr>
      </p:cxnSp>
      <p:cxnSp>
        <p:nvCxnSpPr>
          <p:cNvPr id="2104" name="Google Shape;2104;p124"/>
          <p:cNvCxnSpPr>
            <a:stCxn id="2087" idx="2"/>
            <a:endCxn id="2091" idx="0"/>
          </p:cNvCxnSpPr>
          <p:nvPr/>
        </p:nvCxnSpPr>
        <p:spPr>
          <a:xfrm flipH="1">
            <a:off x="423555" y="3242668"/>
            <a:ext cx="245700" cy="278400"/>
          </a:xfrm>
          <a:prstGeom prst="curvedConnector2">
            <a:avLst/>
          </a:prstGeom>
          <a:noFill/>
          <a:ln w="19050" cap="flat" cmpd="sng">
            <a:solidFill>
              <a:schemeClr val="accent2"/>
            </a:solidFill>
            <a:prstDash val="solid"/>
            <a:round/>
            <a:headEnd type="none" w="med" len="med"/>
            <a:tailEnd type="none" w="med" len="med"/>
          </a:ln>
        </p:spPr>
      </p:cxnSp>
      <p:cxnSp>
        <p:nvCxnSpPr>
          <p:cNvPr id="2105" name="Google Shape;2105;p124"/>
          <p:cNvCxnSpPr>
            <a:stCxn id="2085" idx="2"/>
            <a:endCxn id="2089" idx="0"/>
          </p:cNvCxnSpPr>
          <p:nvPr/>
        </p:nvCxnSpPr>
        <p:spPr>
          <a:xfrm flipH="1">
            <a:off x="2084594" y="2632950"/>
            <a:ext cx="210600" cy="392700"/>
          </a:xfrm>
          <a:prstGeom prst="curvedConnector2">
            <a:avLst/>
          </a:prstGeom>
          <a:noFill/>
          <a:ln w="19050" cap="flat" cmpd="sng">
            <a:solidFill>
              <a:schemeClr val="accent2"/>
            </a:solidFill>
            <a:prstDash val="solid"/>
            <a:round/>
            <a:headEnd type="none" w="med" len="med"/>
            <a:tailEnd type="none" w="med" len="med"/>
          </a:ln>
        </p:spPr>
      </p:cxnSp>
      <p:cxnSp>
        <p:nvCxnSpPr>
          <p:cNvPr id="2106" name="Google Shape;2106;p124"/>
          <p:cNvCxnSpPr>
            <a:stCxn id="2085" idx="6"/>
            <a:endCxn id="2090" idx="0"/>
          </p:cNvCxnSpPr>
          <p:nvPr/>
        </p:nvCxnSpPr>
        <p:spPr>
          <a:xfrm>
            <a:off x="2576594" y="2632950"/>
            <a:ext cx="253800" cy="468900"/>
          </a:xfrm>
          <a:prstGeom prst="curvedConnector2">
            <a:avLst/>
          </a:prstGeom>
          <a:noFill/>
          <a:ln w="19050" cap="flat" cmpd="sng">
            <a:solidFill>
              <a:schemeClr val="accent2"/>
            </a:solidFill>
            <a:prstDash val="solid"/>
            <a:round/>
            <a:headEnd type="none" w="med" len="med"/>
            <a:tailEnd type="none" w="med" len="med"/>
          </a:ln>
        </p:spPr>
      </p:cxnSp>
      <p:cxnSp>
        <p:nvCxnSpPr>
          <p:cNvPr id="2107" name="Google Shape;2107;p124"/>
          <p:cNvCxnSpPr>
            <a:stCxn id="2092" idx="2"/>
            <a:endCxn id="2093" idx="3"/>
          </p:cNvCxnSpPr>
          <p:nvPr/>
        </p:nvCxnSpPr>
        <p:spPr>
          <a:xfrm rot="5400000">
            <a:off x="1408640" y="2331637"/>
            <a:ext cx="289800" cy="379200"/>
          </a:xfrm>
          <a:prstGeom prst="curvedConnector2">
            <a:avLst/>
          </a:prstGeom>
          <a:noFill/>
          <a:ln w="19050" cap="flat" cmpd="sng">
            <a:solidFill>
              <a:srgbClr val="FF0000"/>
            </a:solidFill>
            <a:prstDash val="dash"/>
            <a:round/>
            <a:headEnd type="none" w="med" len="med"/>
            <a:tailEnd type="stealth" w="med" len="med"/>
          </a:ln>
        </p:spPr>
      </p:cxnSp>
      <p:sp>
        <p:nvSpPr>
          <p:cNvPr id="2108" name="Google Shape;2108;p124"/>
          <p:cNvSpPr txBox="1"/>
          <p:nvPr/>
        </p:nvSpPr>
        <p:spPr>
          <a:xfrm>
            <a:off x="180650" y="3898125"/>
            <a:ext cx="29487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Once sift down is working, your heap implementation will be complete.</a:t>
            </a:r>
            <a:endParaRPr sz="12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12"/>
        <p:cNvGrpSpPr/>
        <p:nvPr/>
      </p:nvGrpSpPr>
      <p:grpSpPr>
        <a:xfrm>
          <a:off x="0" y="0"/>
          <a:ext cx="0" cy="0"/>
          <a:chOff x="0" y="0"/>
          <a:chExt cx="0" cy="0"/>
        </a:xfrm>
      </p:grpSpPr>
      <p:sp>
        <p:nvSpPr>
          <p:cNvPr id="2113" name="Google Shape;2113;p12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Heap Complexity</a:t>
            </a:r>
            <a:endParaRPr/>
          </a:p>
        </p:txBody>
      </p:sp>
      <p:sp>
        <p:nvSpPr>
          <p:cNvPr id="2114" name="Google Shape;2114;p125"/>
          <p:cNvSpPr txBox="1"/>
          <p:nvPr/>
        </p:nvSpPr>
        <p:spPr>
          <a:xfrm>
            <a:off x="548025" y="1580725"/>
            <a:ext cx="3643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Q: What is the worst case time complexity for </a:t>
            </a:r>
            <a:r>
              <a:rPr lang="en" sz="1200" b="1" i="1">
                <a:solidFill>
                  <a:srgbClr val="FF0000"/>
                </a:solidFill>
              </a:rPr>
              <a:t>adding</a:t>
            </a:r>
            <a:r>
              <a:rPr lang="en" sz="1200">
                <a:solidFill>
                  <a:srgbClr val="FF0000"/>
                </a:solidFill>
              </a:rPr>
              <a:t> </a:t>
            </a:r>
            <a:r>
              <a:rPr lang="en" sz="1200"/>
              <a:t>a new value to a heap?</a:t>
            </a:r>
            <a:endParaRPr sz="1200"/>
          </a:p>
        </p:txBody>
      </p:sp>
      <p:sp>
        <p:nvSpPr>
          <p:cNvPr id="2115" name="Google Shape;2115;p125"/>
          <p:cNvSpPr txBox="1"/>
          <p:nvPr/>
        </p:nvSpPr>
        <p:spPr>
          <a:xfrm>
            <a:off x="548025" y="2298875"/>
            <a:ext cx="364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A: We are using the </a:t>
            </a:r>
            <a:r>
              <a:rPr lang="en" sz="1200" dirty="0">
                <a:solidFill>
                  <a:srgbClr val="674EA7"/>
                </a:solidFill>
                <a:latin typeface="Consolas"/>
                <a:ea typeface="Consolas"/>
                <a:cs typeface="Consolas"/>
                <a:sym typeface="Consolas"/>
              </a:rPr>
              <a:t>size</a:t>
            </a:r>
            <a:r>
              <a:rPr lang="en" sz="1200" dirty="0"/>
              <a:t> of the heap to find the correct location, which means that adding the value to the array is </a:t>
            </a:r>
            <a:r>
              <a:rPr lang="en" sz="1200" b="1" dirty="0">
                <a:solidFill>
                  <a:srgbClr val="FF0000"/>
                </a:solidFill>
              </a:rPr>
              <a:t>O(1)</a:t>
            </a:r>
            <a:r>
              <a:rPr lang="en" sz="1200" dirty="0"/>
              <a:t>.</a:t>
            </a:r>
            <a:endParaRPr sz="1200" dirty="0"/>
          </a:p>
        </p:txBody>
      </p:sp>
      <p:sp>
        <p:nvSpPr>
          <p:cNvPr id="2116" name="Google Shape;2116;p125"/>
          <p:cNvSpPr txBox="1"/>
          <p:nvPr/>
        </p:nvSpPr>
        <p:spPr>
          <a:xfrm>
            <a:off x="548025" y="3195525"/>
            <a:ext cx="364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In the worst case a value added to the bottom of the tree is </a:t>
            </a:r>
            <a:r>
              <a:rPr lang="en" sz="1200" b="1" i="1">
                <a:solidFill>
                  <a:srgbClr val="FF0000"/>
                </a:solidFill>
              </a:rPr>
              <a:t>sifted up</a:t>
            </a:r>
            <a:r>
              <a:rPr lang="en" sz="1200"/>
              <a:t> all the way to the root of the tree. What is the complexity of that operation?</a:t>
            </a:r>
            <a:endParaRPr sz="1200"/>
          </a:p>
        </p:txBody>
      </p:sp>
      <p:sp>
        <p:nvSpPr>
          <p:cNvPr id="2117" name="Google Shape;2117;p125"/>
          <p:cNvSpPr txBox="1"/>
          <p:nvPr/>
        </p:nvSpPr>
        <p:spPr>
          <a:xfrm>
            <a:off x="548025" y="4092175"/>
            <a:ext cx="364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maximum number of swaps is determined by the height of the tree, which is log</a:t>
            </a:r>
            <a:r>
              <a:rPr lang="en" sz="1200" baseline="-25000"/>
              <a:t>2</a:t>
            </a:r>
            <a:r>
              <a:rPr lang="en" sz="1200"/>
              <a:t>N. Therefore the worst case time complexity is also </a:t>
            </a:r>
            <a:r>
              <a:rPr lang="en" sz="1200" b="1">
                <a:solidFill>
                  <a:srgbClr val="FF0000"/>
                </a:solidFill>
              </a:rPr>
              <a:t>O(log</a:t>
            </a:r>
            <a:r>
              <a:rPr lang="en" sz="1200" b="1" baseline="-25000">
                <a:solidFill>
                  <a:srgbClr val="FF0000"/>
                </a:solidFill>
              </a:rPr>
              <a:t>2</a:t>
            </a:r>
            <a:r>
              <a:rPr lang="en" sz="1200" b="1">
                <a:solidFill>
                  <a:srgbClr val="FF0000"/>
                </a:solidFill>
              </a:rPr>
              <a:t>N)</a:t>
            </a:r>
            <a:r>
              <a:rPr lang="en" sz="1200"/>
              <a:t>.</a:t>
            </a:r>
            <a:endParaRPr sz="1200"/>
          </a:p>
        </p:txBody>
      </p:sp>
      <p:sp>
        <p:nvSpPr>
          <p:cNvPr id="2118" name="Google Shape;2118;p125"/>
          <p:cNvSpPr txBox="1"/>
          <p:nvPr/>
        </p:nvSpPr>
        <p:spPr>
          <a:xfrm>
            <a:off x="4952475" y="1580725"/>
            <a:ext cx="3643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Q: What is the worst case time complexity for </a:t>
            </a:r>
            <a:r>
              <a:rPr lang="en" sz="1200" b="1" i="1" dirty="0">
                <a:solidFill>
                  <a:srgbClr val="FF0000"/>
                </a:solidFill>
              </a:rPr>
              <a:t>removing </a:t>
            </a:r>
            <a:r>
              <a:rPr lang="en" sz="1200" dirty="0"/>
              <a:t>a value from a heap?</a:t>
            </a:r>
            <a:endParaRPr sz="1200" dirty="0"/>
          </a:p>
        </p:txBody>
      </p:sp>
      <p:sp>
        <p:nvSpPr>
          <p:cNvPr id="2119" name="Google Shape;2119;p125"/>
          <p:cNvSpPr txBox="1"/>
          <p:nvPr/>
        </p:nvSpPr>
        <p:spPr>
          <a:xfrm>
            <a:off x="4952475" y="2298875"/>
            <a:ext cx="3643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A: We use the </a:t>
            </a:r>
            <a:r>
              <a:rPr lang="en" sz="1200" dirty="0">
                <a:solidFill>
                  <a:srgbClr val="674EA7"/>
                </a:solidFill>
                <a:latin typeface="Consolas"/>
                <a:ea typeface="Consolas"/>
                <a:cs typeface="Consolas"/>
                <a:sym typeface="Consolas"/>
              </a:rPr>
              <a:t>size</a:t>
            </a:r>
            <a:r>
              <a:rPr lang="en" sz="1200" dirty="0"/>
              <a:t> of the heap to find the rightmost bottom value in the tree, which is an </a:t>
            </a:r>
            <a:r>
              <a:rPr lang="en" sz="1200" b="1" dirty="0">
                <a:solidFill>
                  <a:srgbClr val="FF0000"/>
                </a:solidFill>
              </a:rPr>
              <a:t>O(1)</a:t>
            </a:r>
            <a:r>
              <a:rPr lang="en" sz="1200" dirty="0"/>
              <a:t> operation.</a:t>
            </a:r>
            <a:endParaRPr sz="1200" dirty="0"/>
          </a:p>
        </p:txBody>
      </p:sp>
      <p:sp>
        <p:nvSpPr>
          <p:cNvPr id="2120" name="Google Shape;2120;p125"/>
          <p:cNvSpPr txBox="1"/>
          <p:nvPr/>
        </p:nvSpPr>
        <p:spPr>
          <a:xfrm>
            <a:off x="4952475" y="3192090"/>
            <a:ext cx="3643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In the worst case the value copied into the root must be </a:t>
            </a:r>
            <a:r>
              <a:rPr lang="en" sz="1200" b="1" i="1" dirty="0">
                <a:solidFill>
                  <a:srgbClr val="FF0000"/>
                </a:solidFill>
              </a:rPr>
              <a:t>sifted down</a:t>
            </a:r>
            <a:r>
              <a:rPr lang="en" sz="1200" dirty="0"/>
              <a:t> all the way back to the bottom of the tree, which is again the height of the tree: log</a:t>
            </a:r>
            <a:r>
              <a:rPr lang="en" sz="1200" baseline="-25000" dirty="0"/>
              <a:t>2</a:t>
            </a:r>
            <a:r>
              <a:rPr lang="en" sz="1200" dirty="0"/>
              <a:t>N.</a:t>
            </a:r>
            <a:endParaRPr sz="1200" dirty="0"/>
          </a:p>
        </p:txBody>
      </p:sp>
      <p:sp>
        <p:nvSpPr>
          <p:cNvPr id="2121" name="Google Shape;2121;p125"/>
          <p:cNvSpPr txBox="1"/>
          <p:nvPr/>
        </p:nvSpPr>
        <p:spPr>
          <a:xfrm>
            <a:off x="4952475" y="4269825"/>
            <a:ext cx="36435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The worst case complexity of removing is  therefore </a:t>
            </a:r>
            <a:r>
              <a:rPr lang="en" sz="1200" b="1" dirty="0">
                <a:solidFill>
                  <a:srgbClr val="FF0000"/>
                </a:solidFill>
              </a:rPr>
              <a:t>O(log</a:t>
            </a:r>
            <a:r>
              <a:rPr lang="en" sz="1200" b="1" baseline="-25000" dirty="0">
                <a:solidFill>
                  <a:srgbClr val="FF0000"/>
                </a:solidFill>
              </a:rPr>
              <a:t>2</a:t>
            </a:r>
            <a:r>
              <a:rPr lang="en" sz="1200" b="1" dirty="0">
                <a:solidFill>
                  <a:srgbClr val="FF0000"/>
                </a:solidFill>
              </a:rPr>
              <a:t>N)</a:t>
            </a:r>
            <a:r>
              <a:rPr lang="en" sz="1200" dirty="0"/>
              <a:t>.</a:t>
            </a:r>
            <a:endParaRPr sz="1200" dirty="0"/>
          </a:p>
        </p:txBody>
      </p:sp>
      <p:sp>
        <p:nvSpPr>
          <p:cNvPr id="2122" name="Google Shape;2122;p1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14"/>
                                        </p:tgtEl>
                                        <p:attrNameLst>
                                          <p:attrName>style.visibility</p:attrName>
                                        </p:attrNameLst>
                                      </p:cBhvr>
                                      <p:to>
                                        <p:strVal val="visible"/>
                                      </p:to>
                                    </p:set>
                                    <p:animEffect transition="in" filter="fade">
                                      <p:cBhvr>
                                        <p:cTn id="7" dur="1000"/>
                                        <p:tgtEl>
                                          <p:spTgt spid="21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15"/>
                                        </p:tgtEl>
                                        <p:attrNameLst>
                                          <p:attrName>style.visibility</p:attrName>
                                        </p:attrNameLst>
                                      </p:cBhvr>
                                      <p:to>
                                        <p:strVal val="visible"/>
                                      </p:to>
                                    </p:set>
                                    <p:animEffect transition="in" filter="fade">
                                      <p:cBhvr>
                                        <p:cTn id="12" dur="1000"/>
                                        <p:tgtEl>
                                          <p:spTgt spid="21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16"/>
                                        </p:tgtEl>
                                        <p:attrNameLst>
                                          <p:attrName>style.visibility</p:attrName>
                                        </p:attrNameLst>
                                      </p:cBhvr>
                                      <p:to>
                                        <p:strVal val="visible"/>
                                      </p:to>
                                    </p:set>
                                    <p:animEffect transition="in" filter="fade">
                                      <p:cBhvr>
                                        <p:cTn id="17" dur="1000"/>
                                        <p:tgtEl>
                                          <p:spTgt spid="21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17"/>
                                        </p:tgtEl>
                                        <p:attrNameLst>
                                          <p:attrName>style.visibility</p:attrName>
                                        </p:attrNameLst>
                                      </p:cBhvr>
                                      <p:to>
                                        <p:strVal val="visible"/>
                                      </p:to>
                                    </p:set>
                                    <p:animEffect transition="in" filter="fade">
                                      <p:cBhvr>
                                        <p:cTn id="22" dur="1000"/>
                                        <p:tgtEl>
                                          <p:spTgt spid="21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18"/>
                                        </p:tgtEl>
                                        <p:attrNameLst>
                                          <p:attrName>style.visibility</p:attrName>
                                        </p:attrNameLst>
                                      </p:cBhvr>
                                      <p:to>
                                        <p:strVal val="visible"/>
                                      </p:to>
                                    </p:set>
                                    <p:animEffect transition="in" filter="fade">
                                      <p:cBhvr>
                                        <p:cTn id="27" dur="1000"/>
                                        <p:tgtEl>
                                          <p:spTgt spid="21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19"/>
                                        </p:tgtEl>
                                        <p:attrNameLst>
                                          <p:attrName>style.visibility</p:attrName>
                                        </p:attrNameLst>
                                      </p:cBhvr>
                                      <p:to>
                                        <p:strVal val="visible"/>
                                      </p:to>
                                    </p:set>
                                    <p:animEffect transition="in" filter="fade">
                                      <p:cBhvr>
                                        <p:cTn id="32" dur="1000"/>
                                        <p:tgtEl>
                                          <p:spTgt spid="21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20"/>
                                        </p:tgtEl>
                                        <p:attrNameLst>
                                          <p:attrName>style.visibility</p:attrName>
                                        </p:attrNameLst>
                                      </p:cBhvr>
                                      <p:to>
                                        <p:strVal val="visible"/>
                                      </p:to>
                                    </p:set>
                                    <p:animEffect transition="in" filter="fade">
                                      <p:cBhvr>
                                        <p:cTn id="37" dur="1000"/>
                                        <p:tgtEl>
                                          <p:spTgt spid="212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21"/>
                                        </p:tgtEl>
                                        <p:attrNameLst>
                                          <p:attrName>style.visibility</p:attrName>
                                        </p:attrNameLst>
                                      </p:cBhvr>
                                      <p:to>
                                        <p:strVal val="visible"/>
                                      </p:to>
                                    </p:set>
                                    <p:animEffect transition="in" filter="fade">
                                      <p:cBhvr>
                                        <p:cTn id="42" dur="1000"/>
                                        <p:tgtEl>
                                          <p:spTgt spid="2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126"/>
        <p:cNvGrpSpPr/>
        <p:nvPr/>
      </p:nvGrpSpPr>
      <p:grpSpPr>
        <a:xfrm>
          <a:off x="0" y="0"/>
          <a:ext cx="0" cy="0"/>
          <a:chOff x="0" y="0"/>
          <a:chExt cx="0" cy="0"/>
        </a:xfrm>
      </p:grpSpPr>
      <p:graphicFrame>
        <p:nvGraphicFramePr>
          <p:cNvPr id="2127" name="Google Shape;2127;p126"/>
          <p:cNvGraphicFramePr/>
          <p:nvPr/>
        </p:nvGraphicFramePr>
        <p:xfrm>
          <a:off x="-10" y="-9"/>
          <a:ext cx="9143975" cy="5143500"/>
        </p:xfrm>
        <a:graphic>
          <a:graphicData uri="http://schemas.openxmlformats.org/drawingml/2006/table">
            <a:tbl>
              <a:tblPr>
                <a:noFill/>
                <a:tableStyleId>{24C44263-8FF7-4D16-B4B7-C5B571B8A48A}</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2993350">
                <a:tc rowSpan="2">
                  <a:txBody>
                    <a:bodyPr/>
                    <a:lstStyle/>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a:txBody>
                    <a:bodyPr/>
                    <a:lstStyle/>
                    <a:p>
                      <a:pPr marL="0" lvl="0" indent="0" algn="l" rtl="0">
                        <a:spcBef>
                          <a:spcPts val="0"/>
                        </a:spcBef>
                        <a:spcAft>
                          <a:spcPts val="0"/>
                        </a:spcAft>
                        <a:buNone/>
                      </a:pPr>
                      <a:r>
                        <a:rPr lang="en" sz="1000" u="sng">
                          <a:solidFill>
                            <a:schemeClr val="hlink"/>
                          </a:solidFill>
                          <a:hlinkClick r:id="rId3"/>
                        </a:rPr>
                        <a:t>Comparable</a:t>
                      </a:r>
                      <a:endParaRPr sz="1000"/>
                    </a:p>
                    <a:p>
                      <a:pPr marL="0" lvl="0" indent="0" algn="l" rtl="0">
                        <a:spcBef>
                          <a:spcPts val="0"/>
                        </a:spcBef>
                        <a:spcAft>
                          <a:spcPts val="0"/>
                        </a:spcAft>
                        <a:buNone/>
                      </a:pPr>
                      <a:r>
                        <a:rPr lang="en" sz="1000">
                          <a:latin typeface="Courier New"/>
                          <a:ea typeface="Courier New"/>
                          <a:cs typeface="Courier New"/>
                          <a:sym typeface="Courier New"/>
                        </a:rPr>
                        <a:t>public class Code implements Comparable&lt;Code&gt;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private final int value;</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Code(int value)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this.value = value;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int compareTo(Code other)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this.value - other.value;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u="sng">
                          <a:solidFill>
                            <a:schemeClr val="hlink"/>
                          </a:solidFill>
                          <a:hlinkClick r:id="rId4"/>
                        </a:rPr>
                        <a:t>Comparator</a:t>
                      </a:r>
                      <a:endParaRPr sz="1000"/>
                    </a:p>
                    <a:p>
                      <a:pPr marL="0" lvl="0" indent="0" algn="l" rtl="0">
                        <a:spcBef>
                          <a:spcPts val="0"/>
                        </a:spcBef>
                        <a:spcAft>
                          <a:spcPts val="0"/>
                        </a:spcAft>
                        <a:buNone/>
                      </a:pPr>
                      <a:r>
                        <a:rPr lang="en" sz="1000">
                          <a:latin typeface="Courier New"/>
                          <a:ea typeface="Courier New"/>
                          <a:cs typeface="Courier New"/>
                          <a:sym typeface="Courier New"/>
                        </a:rPr>
                        <a:t>public class CodeComparator implements                                   </a:t>
                      </a:r>
                      <a:br>
                        <a:rPr lang="en" sz="1000">
                          <a:latin typeface="Courier New"/>
                          <a:ea typeface="Courier New"/>
                          <a:cs typeface="Courier New"/>
                          <a:sym typeface="Courier New"/>
                        </a:rPr>
                      </a:br>
                      <a:r>
                        <a:rPr lang="en" sz="1000">
                          <a:latin typeface="Courier New"/>
                          <a:ea typeface="Courier New"/>
                          <a:cs typeface="Courier New"/>
                          <a:sym typeface="Courier New"/>
                        </a:rPr>
                        <a:t>                         Comparator&lt;CodeComparator&gt;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int compare(Code o1, Code o2)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 reversed</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other.value - this.value;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150150">
                <a:tc vMerge="1">
                  <a:txBody>
                    <a:bodyPr/>
                    <a:lstStyle/>
                    <a:p>
                      <a:endParaRPr lang="en-US"/>
                    </a:p>
                  </a:txBody>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128" name="Google Shape;2128;p126"/>
          <p:cNvSpPr txBox="1"/>
          <p:nvPr/>
        </p:nvSpPr>
        <p:spPr>
          <a:xfrm rot="-5400000">
            <a:off x="-2378350" y="2377688"/>
            <a:ext cx="5151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6 : Data Structures II </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32"/>
        <p:cNvGrpSpPr/>
        <p:nvPr/>
      </p:nvGrpSpPr>
      <p:grpSpPr>
        <a:xfrm>
          <a:off x="0" y="0"/>
          <a:ext cx="0" cy="0"/>
          <a:chOff x="0" y="0"/>
          <a:chExt cx="0" cy="0"/>
        </a:xfrm>
      </p:grpSpPr>
      <p:sp>
        <p:nvSpPr>
          <p:cNvPr id="2133" name="Google Shape;2133;p127"/>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2134" name="Google Shape;2134;p127"/>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2135" name="Google Shape;2135;p127"/>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2136" name="Google Shape;2136;p127"/>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2137" name="Google Shape;2137;p127"/>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2138" name="Google Shape;2138;p127"/>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2139" name="Google Shape;2139;p127"/>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2140" name="Google Shape;2140;p127"/>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Binary Trees!</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value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left subtree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right subtree</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Binary Search Trees!</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Comparable</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Natural Order</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Comparator</a:t>
            </a:r>
            <a:endParaRPr sz="1500">
              <a:solidFill>
                <a:srgbClr val="FF0000"/>
              </a:solidFill>
              <a:latin typeface="Shadows Into Light"/>
              <a:ea typeface="Shadows Into Light"/>
              <a:cs typeface="Shadows Into Light"/>
              <a:sym typeface="Shadows Into Light"/>
            </a:endParaRPr>
          </a:p>
          <a:p>
            <a:pPr marL="914400" lvl="1"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Alternate Order</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Heaps</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HashSet &amp; TreeSet</a:t>
            </a:r>
            <a:endParaRPr sz="1500">
              <a:solidFill>
                <a:srgbClr val="FF0000"/>
              </a:solidFill>
              <a:latin typeface="Shadows Into Light"/>
              <a:ea typeface="Shadows Into Light"/>
              <a:cs typeface="Shadows Into Light"/>
              <a:sym typeface="Shadows Into Light"/>
            </a:endParaRPr>
          </a:p>
          <a:p>
            <a:pPr marL="457200" lvl="0" indent="-323850" algn="l" rtl="0">
              <a:lnSpc>
                <a:spcPct val="100000"/>
              </a:lnSpc>
              <a:spcBef>
                <a:spcPts val="0"/>
              </a:spcBef>
              <a:spcAft>
                <a:spcPts val="0"/>
              </a:spcAft>
              <a:buClr>
                <a:srgbClr val="FF0000"/>
              </a:buClr>
              <a:buSzPts val="1500"/>
              <a:buFont typeface="Shadows Into Light"/>
              <a:buChar char="●"/>
            </a:pPr>
            <a:r>
              <a:rPr lang="en" sz="1500">
                <a:solidFill>
                  <a:srgbClr val="FF0000"/>
                </a:solidFill>
                <a:latin typeface="Shadows Into Light"/>
                <a:ea typeface="Shadows Into Light"/>
                <a:cs typeface="Shadows Into Light"/>
                <a:sym typeface="Shadows Into Light"/>
              </a:rPr>
              <a:t>HashMap &amp; TreeMap</a:t>
            </a:r>
            <a:endParaRPr sz="1500">
              <a:solidFill>
                <a:srgbClr val="FF0000"/>
              </a:solidFill>
              <a:latin typeface="Shadows Into Light"/>
              <a:ea typeface="Shadows Into Light"/>
              <a:cs typeface="Shadows Into Light"/>
              <a:sym typeface="Shadows Into Light"/>
            </a:endParaRPr>
          </a:p>
        </p:txBody>
      </p:sp>
      <p:sp>
        <p:nvSpPr>
          <p:cNvPr id="2141" name="Google Shape;2141;p1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61</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1350</TotalTime>
  <Words>10659</Words>
  <Application>Microsoft Office PowerPoint</Application>
  <PresentationFormat>On-screen Show (16:9)</PresentationFormat>
  <Paragraphs>1237</Paragraphs>
  <Slides>61</Slides>
  <Notes>61</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61</vt:i4>
      </vt:variant>
    </vt:vector>
  </HeadingPairs>
  <TitlesOfParts>
    <vt:vector size="75" baseType="lpstr">
      <vt:lpstr>Arial</vt:lpstr>
      <vt:lpstr>Bangers</vt:lpstr>
      <vt:lpstr>Calibri</vt:lpstr>
      <vt:lpstr>Consolas</vt:lpstr>
      <vt:lpstr>Courier New</vt:lpstr>
      <vt:lpstr>Lato</vt:lpstr>
      <vt:lpstr>Merriweather</vt:lpstr>
      <vt:lpstr>Roboto</vt:lpstr>
      <vt:lpstr>Shadows Into Light</vt:lpstr>
      <vt:lpstr>Wingdings</vt:lpstr>
      <vt:lpstr>Paradigm</vt:lpstr>
      <vt:lpstr>Paradigm</vt:lpstr>
      <vt:lpstr>Paradigm</vt:lpstr>
      <vt:lpstr>Paradigm</vt:lpstr>
      <vt:lpstr>GCIS-124 Software Development &amp; Problem Solving</vt:lpstr>
      <vt:lpstr>Data Structures II</vt:lpstr>
      <vt:lpstr>Review: Abstract Data Types</vt:lpstr>
      <vt:lpstr>Gotta Catch 'em All!</vt:lpstr>
      <vt:lpstr>The Pokédex as a List</vt:lpstr>
      <vt:lpstr>The Pokédex as a Sorted List</vt:lpstr>
      <vt:lpstr>The Pokédex as a Dictionary</vt:lpstr>
      <vt:lpstr>Pokédex Options</vt:lpstr>
      <vt:lpstr>Binary Trees… What Are They Even?</vt:lpstr>
      <vt:lpstr>Parts of a Binary Tree</vt:lpstr>
      <vt:lpstr>Parts of a Binary Tree</vt:lpstr>
      <vt:lpstr>A Binary Node</vt:lpstr>
      <vt:lpstr>Printing the Pokédex</vt:lpstr>
      <vt:lpstr>Infix (in-order ) Traversal</vt:lpstr>
      <vt:lpstr>A Closer Look at Infix Traversals</vt:lpstr>
      <vt:lpstr>An Infix (in-order) Traversal</vt:lpstr>
      <vt:lpstr>Searching a Binary Tree</vt:lpstr>
      <vt:lpstr>Searching a Binary Tree</vt:lpstr>
      <vt:lpstr>Search Complexity</vt:lpstr>
      <vt:lpstr>Binary Search Trees (BSTs)</vt:lpstr>
      <vt:lpstr>Identifying Binary Search Trees</vt:lpstr>
      <vt:lpstr>A Binary Search Tree ADT</vt:lpstr>
      <vt:lpstr>A Node-Based BST</vt:lpstr>
      <vt:lpstr>Inserting into the Pokédex</vt:lpstr>
      <vt:lpstr>A Closer Look at Inserting into a BST</vt:lpstr>
      <vt:lpstr>Practice Drawing BSTs</vt:lpstr>
      <vt:lpstr>Inserting into a Binary Search Tree</vt:lpstr>
      <vt:lpstr>Available Pokémon</vt:lpstr>
      <vt:lpstr>Building Your Pokédex</vt:lpstr>
      <vt:lpstr>Searching the Pokédex</vt:lpstr>
      <vt:lpstr>A Closer Look at Searching a BST</vt:lpstr>
      <vt:lpstr>A Closer Look at Searching a BST</vt:lpstr>
      <vt:lpstr>Searching a BST</vt:lpstr>
      <vt:lpstr>Searching Your Pokédex</vt:lpstr>
      <vt:lpstr>Balance</vt:lpstr>
      <vt:lpstr>Complexity of Searching</vt:lpstr>
      <vt:lpstr>Determining Order</vt:lpstr>
      <vt:lpstr>Comparable</vt:lpstr>
      <vt:lpstr>A Closer Look at Comparable</vt:lpstr>
      <vt:lpstr>Comparable Pokémon </vt:lpstr>
      <vt:lpstr>Comparators</vt:lpstr>
      <vt:lpstr>A Closer Look at Comparator</vt:lpstr>
      <vt:lpstr>Pokémon Comparator</vt:lpstr>
      <vt:lpstr>Comparable vs. Comparator</vt:lpstr>
      <vt:lpstr>Comparable Fruit</vt:lpstr>
      <vt:lpstr>A Fruit Comparator</vt:lpstr>
      <vt:lpstr>Heaps</vt:lpstr>
      <vt:lpstr>The Heap Abstract Data Type (ADT)</vt:lpstr>
      <vt:lpstr>A Heap Overlay</vt:lpstr>
      <vt:lpstr>An Array-Based Heap</vt:lpstr>
      <vt:lpstr>An Array-Based Heap</vt:lpstr>
      <vt:lpstr>Adding to a Heap</vt:lpstr>
      <vt:lpstr>Adding to the Heap</vt:lpstr>
      <vt:lpstr>Sifting Up</vt:lpstr>
      <vt:lpstr>Removing From the Heap</vt:lpstr>
      <vt:lpstr>Removing From a Heap</vt:lpstr>
      <vt:lpstr>Removing From a Heap: Part 2</vt:lpstr>
      <vt:lpstr>Sifting Down</vt:lpstr>
      <vt:lpstr>Heap Complexity</vt:lpstr>
      <vt:lpstr>PowerPoint Presentation</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20</cp:revision>
  <dcterms:modified xsi:type="dcterms:W3CDTF">2026-02-24T20:38:12Z</dcterms:modified>
</cp:coreProperties>
</file>